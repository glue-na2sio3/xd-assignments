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3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notesSlides/notesSlide4.xml" ContentType="application/vnd.openxmlformats-officedocument.presentationml.notesSlide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302" r:id="rId2"/>
    <p:sldId id="434" r:id="rId3"/>
    <p:sldId id="257" r:id="rId4"/>
    <p:sldId id="260" r:id="rId5"/>
    <p:sldId id="421" r:id="rId6"/>
    <p:sldId id="435" r:id="rId7"/>
    <p:sldId id="390" r:id="rId8"/>
    <p:sldId id="408" r:id="rId9"/>
    <p:sldId id="425" r:id="rId10"/>
    <p:sldId id="426" r:id="rId11"/>
    <p:sldId id="427" r:id="rId12"/>
    <p:sldId id="428" r:id="rId13"/>
    <p:sldId id="436" r:id="rId14"/>
    <p:sldId id="405" r:id="rId15"/>
    <p:sldId id="406" r:id="rId16"/>
    <p:sldId id="437" r:id="rId17"/>
    <p:sldId id="440" r:id="rId18"/>
    <p:sldId id="438" r:id="rId19"/>
    <p:sldId id="439" r:id="rId20"/>
    <p:sldId id="353" r:id="rId21"/>
  </p:sldIdLst>
  <p:sldSz cx="12192000" cy="6858000"/>
  <p:notesSz cx="6858000" cy="9144000"/>
  <p:embeddedFontLst>
    <p:embeddedFont>
      <p:font typeface="楷体" panose="02010609060101010101" pitchFamily="49" charset="-122"/>
      <p:regular r:id="rId23"/>
    </p:embeddedFont>
    <p:embeddedFont>
      <p:font typeface="微软雅黑" panose="020B0503020204020204" pitchFamily="34" charset="-122"/>
      <p:regular r:id="rId24"/>
      <p:bold r:id="rId25"/>
    </p:embeddedFont>
  </p:embeddedFontLst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1" userDrawn="1">
          <p15:clr>
            <a:srgbClr val="A4A3A4"/>
          </p15:clr>
        </p15:guide>
        <p15:guide id="2" pos="75" userDrawn="1">
          <p15:clr>
            <a:srgbClr val="A4A3A4"/>
          </p15:clr>
        </p15:guide>
        <p15:guide id="3" pos="633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53C3C"/>
    <a:srgbClr val="B0252A"/>
    <a:srgbClr val="D9E1F2"/>
    <a:srgbClr val="943030"/>
    <a:srgbClr val="B63245"/>
    <a:srgbClr val="AC395A"/>
    <a:srgbClr val="9C2838"/>
    <a:srgbClr val="AB293B"/>
    <a:srgbClr val="902127"/>
    <a:srgbClr val="903F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180" autoAdjust="0"/>
    <p:restoredTop sz="70383" autoAdjust="0"/>
  </p:normalViewPr>
  <p:slideViewPr>
    <p:cSldViewPr snapToGrid="0" showGuides="1">
      <p:cViewPr varScale="1">
        <p:scale>
          <a:sx n="68" d="100"/>
          <a:sy n="68" d="100"/>
        </p:scale>
        <p:origin x="32" y="52"/>
      </p:cViewPr>
      <p:guideLst>
        <p:guide orient="horz" pos="2251"/>
        <p:guide pos="75"/>
        <p:guide pos="633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2025/12/4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图一为海口市建筑垃圾管理粗放式生态破坏</a:t>
            </a:r>
          </a:p>
          <a:p>
            <a:r>
              <a:rPr lang="zh-CN" altLang="en-US" dirty="0"/>
              <a:t>图二为磷石膏产业粗放式发展造成的生态破坏与资源流失</a:t>
            </a:r>
          </a:p>
          <a:p>
            <a:r>
              <a:rPr lang="zh-CN" altLang="en-US" dirty="0"/>
              <a:t>图三为无名洗煤矿漏天生产，粗放生产污染环境</a:t>
            </a:r>
          </a:p>
          <a:p>
            <a:r>
              <a:rPr lang="zh-CN" altLang="en-US" dirty="0"/>
              <a:t>改革开放初期，我国为快速实现经济增长，采取了粗放式的发展模式，过度依赖资源开采和要素投入。这一过程中，资源消耗总量急剧攀升，同时引发了严峻的环境污染问题：城市雾霾天气频繁出现，空气质量持续恶化；部分流域水污染严重，影响居民饮用水安全；过度开垦与不合理利用导致土地退化、水土流失等问题日益突出。生态环境的恶化不仅制约了经济的可持续发展，更直接影响到群众的生活质量与身体健康，倒逼我国必须转变发展理念，推进生态文明建设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当前全球气候变暖已成为不争的事实，</a:t>
            </a:r>
            <a:r>
              <a:rPr lang="en-US" altLang="zh-CN" dirty="0"/>
              <a:t>2024 </a:t>
            </a:r>
            <a:r>
              <a:rPr lang="zh-CN" altLang="en-US" dirty="0"/>
              <a:t>年全球平均气温较工业化前水平高出</a:t>
            </a:r>
            <a:r>
              <a:rPr lang="en-US" altLang="zh-CN" dirty="0"/>
              <a:t> 1.6 </a:t>
            </a:r>
            <a:r>
              <a:rPr lang="zh-CN" altLang="en-US" dirty="0"/>
              <a:t>摄氏度，创下历史新高，极端高温、暴雨、山火等灾害频发。温室气体浓度持续攀升，二氧化碳、甲烷等浓度均突破历史峰值，极地气候系统也受到显著影响。在此背景下，国际社会对生态环保的关注度空前提升，《巴黎协定》等国际公约推动各国承担减排责任，我国作为负责任大国，面临着日益增大的国际环保压力。参与全球生态治理、建设生态文明，既是顺应国际潮流的必然选择，也是我国展现大国担当的重要体现。</a:t>
            </a:r>
          </a:p>
          <a:p>
            <a:r>
              <a:rPr lang="zh-CN" altLang="en-US" dirty="0"/>
              <a:t>图一地球生命力报告</a:t>
            </a:r>
          </a:p>
          <a:p>
            <a:r>
              <a:rPr lang="zh-CN" altLang="en-US" dirty="0"/>
              <a:t>图二为环境受人类影响区域图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从</a:t>
            </a:r>
            <a:r>
              <a:rPr lang="en-US" altLang="zh-CN" dirty="0"/>
              <a:t>2003</a:t>
            </a:r>
            <a:r>
              <a:rPr lang="zh-CN" altLang="en-US" dirty="0"/>
              <a:t>年</a:t>
            </a:r>
            <a:r>
              <a:rPr lang="zh-CN" altLang="en-US" b="1" dirty="0"/>
              <a:t>‘千村示范’的基层实践</a:t>
            </a:r>
            <a:r>
              <a:rPr lang="zh-CN" altLang="en-US" dirty="0"/>
              <a:t>，到</a:t>
            </a:r>
            <a:r>
              <a:rPr lang="en-US" altLang="zh-CN" dirty="0"/>
              <a:t>2005</a:t>
            </a:r>
            <a:r>
              <a:rPr lang="zh-CN" altLang="en-US" dirty="0"/>
              <a:t>年凝练出</a:t>
            </a:r>
            <a:r>
              <a:rPr lang="zh-CN" altLang="en-US" b="1" dirty="0"/>
              <a:t>‘两山论断’的核心理念</a:t>
            </a:r>
            <a:r>
              <a:rPr lang="zh-CN" altLang="en-US" dirty="0"/>
              <a:t>；随后上升为党的</a:t>
            </a:r>
            <a:r>
              <a:rPr lang="zh-CN" altLang="en-US" b="1" dirty="0"/>
              <a:t>五位一体’国家战略</a:t>
            </a:r>
            <a:r>
              <a:rPr lang="zh-CN" altLang="en-US" dirty="0"/>
              <a:t>，确立了建设</a:t>
            </a:r>
            <a:r>
              <a:rPr lang="zh-CN" altLang="en-US" b="1" dirty="0"/>
              <a:t>美丽中国’的宏伟目标</a:t>
            </a:r>
            <a:r>
              <a:rPr lang="zh-CN" altLang="en-US" dirty="0"/>
              <a:t>。最终，通过持续深化部署，形成了</a:t>
            </a:r>
            <a:r>
              <a:rPr lang="zh-CN" altLang="en-US" b="1" dirty="0"/>
              <a:t>系统完整的生态文明理论体系</a:t>
            </a:r>
            <a:r>
              <a:rPr lang="zh-CN" altLang="en-US" dirty="0"/>
              <a:t>，体现了中国坚持走绿色、可持续发展道路的坚定决心。”</a:t>
            </a:r>
            <a:endParaRPr lang="zh-CN" altLang="en-US" dirty="0">
              <a:solidFill>
                <a:srgbClr val="333333"/>
              </a:solidFill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0" i="0" dirty="0">
                <a:solidFill>
                  <a:srgbClr val="4C4C4C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党的十八大以来，我们把生态文明建设作为关系中华民族永续发展的根本大计</a:t>
            </a:r>
            <a:br>
              <a:rPr lang="en-US" altLang="zh-CN" b="0" i="0" dirty="0">
                <a:solidFill>
                  <a:srgbClr val="4C4C4C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b="0" i="0" dirty="0">
                <a:solidFill>
                  <a:srgbClr val="4C4C4C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推进精准治污、科学治污、依法治污，统筹山水林田湖草沙一体化保护和系统治理，完善生态环保法律制度体系，深化生态文明体制改革，生态环境治理水平显著提高。</a:t>
            </a:r>
            <a:br>
              <a:rPr lang="en-US" altLang="zh-CN" b="0" i="0" dirty="0">
                <a:solidFill>
                  <a:srgbClr val="4C4C4C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b="0" i="0" dirty="0">
                <a:solidFill>
                  <a:srgbClr val="4C4C4C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我们坚持转变观念、压实责任，不断增强全党全国推进生态文明建设的自觉性主动性，实现由被动应对到主动作为的重大转变</a:t>
            </a:r>
            <a:br>
              <a:rPr lang="en-US" altLang="zh-CN" b="0" i="0" dirty="0">
                <a:solidFill>
                  <a:srgbClr val="4C4C4C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br>
              <a:rPr lang="en-US" altLang="zh-CN" b="0" i="0" dirty="0">
                <a:solidFill>
                  <a:srgbClr val="4C4C4C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zh-CN" altLang="en-US" b="0" i="0" dirty="0">
                <a:solidFill>
                  <a:srgbClr val="4C4C4C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共同构建地球生命共同体</a:t>
            </a:r>
            <a:endParaRPr lang="en-US" altLang="zh-CN" dirty="0"/>
          </a:p>
          <a:p>
            <a:endParaRPr lang="en-US" altLang="zh-CN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br>
              <a:rPr lang="en-US" altLang="zh-CN" dirty="0"/>
            </a:b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2023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日至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日，中共中央总书记、国家主席、中央军委主席习近平在内蒙古巴彦淖尔考察，并主持召开加强荒漠化综合防治和推进“三北”等重点生态工程建设座谈会。</a:t>
            </a:r>
            <a:b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2.</a:t>
            </a:r>
            <a:b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2023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日至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日，中共中央总书记、国家主席、中央军委主席习近平在江西考察，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日下午，习近平在长江国家文化公园九江城区段考察时，冒雨沿江堤步行察看沿岸风貌。</a:t>
            </a:r>
            <a:endParaRPr lang="en-US" altLang="zh-CN" b="0" i="0" dirty="0">
              <a:solidFill>
                <a:srgbClr val="0000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3.</a:t>
            </a:r>
          </a:p>
          <a:p>
            <a:r>
              <a:rPr lang="en-US" altLang="zh-CN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  <a:r>
              <a:rPr lang="zh-CN" altLang="en-US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9</a:t>
            </a:r>
            <a:r>
              <a:rPr lang="zh-CN" altLang="en-US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日至</a:t>
            </a:r>
            <a:r>
              <a:rPr lang="en-US" altLang="zh-CN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13</a:t>
            </a:r>
            <a:r>
              <a:rPr lang="zh-CN" altLang="en-US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日，中共中央总书记、国家主席、中央军委主席习近平在甘肃考察。这是</a:t>
            </a:r>
            <a:r>
              <a:rPr lang="en-US" altLang="zh-CN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11</a:t>
            </a:r>
            <a:r>
              <a:rPr lang="zh-CN" altLang="en-US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日下午，习近平在兰州中山桥上远眺黄河    </a:t>
            </a:r>
            <a:endParaRPr lang="en-US" altLang="zh-CN" b="0" i="0" dirty="0"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0" i="0" dirty="0"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4.</a:t>
            </a:r>
          </a:p>
          <a:p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2024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10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日至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16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日，中共中央总书记、国家主席、中央军委主席习近平在福建考察。这是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15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日下午，习近平在漳州市东山县陈城镇澳角村考察时，步行察看澳角湾海域环境和村容村貌。       </a:t>
            </a:r>
            <a:endParaRPr lang="en-US" altLang="zh-CN" b="0" i="0" dirty="0">
              <a:solidFill>
                <a:srgbClr val="0000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5.</a:t>
            </a:r>
          </a:p>
          <a:p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2025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日，党和国家领导人习近平、李强、赵乐际、王沪宁、蔡奇、丁薛祥、李希、韩正等来到北京市丰台区永定河畔参加首都义务植树活动。这是习近平同大家一起植树。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MicrosoftYaHei"/>
              </a:rPr>
              <a:t>榆林治沙带来生态空间颜色之变（网格固沙、飞播治沙、樟子松套笼栽植等一批可复制、可推广的生态治理模式）</a:t>
            </a:r>
            <a:endParaRPr lang="en-US" altLang="zh-CN" b="0" i="0" dirty="0">
              <a:solidFill>
                <a:srgbClr val="333333"/>
              </a:solidFill>
              <a:effectLst/>
              <a:latin typeface="MicrosoftYaHei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MicrosoftYaHei"/>
              </a:rPr>
              <a:t>右玉：久久为功换来春风拂绿（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YaHei"/>
              </a:rPr>
              <a:t>70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YaHei"/>
              </a:rPr>
              <a:t>多年的迎难而上、久久为功，右玉人民创造了黄土高原上的生态奇迹）</a:t>
            </a:r>
            <a:endParaRPr lang="en-US" altLang="zh-CN" b="0" i="0" dirty="0">
              <a:solidFill>
                <a:srgbClr val="333333"/>
              </a:solidFill>
              <a:effectLst/>
              <a:latin typeface="MicrosoftYaHei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MicrosoftYaHei"/>
              </a:rPr>
              <a:t>塞罕坝：勇担使命的“中国榜样”（塞罕坝林场防沙治沙的成功实践，带动了周边区域规模化造林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YaHei"/>
              </a:rPr>
              <a:t>445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YaHei"/>
              </a:rPr>
              <a:t>万亩，有力推动了“三北”防护林、太行山绿化攻坚、雄安新区千年秀林等生态工程建设）</a:t>
            </a:r>
            <a:endParaRPr lang="en-US" altLang="zh-CN" b="0" i="0" dirty="0">
              <a:solidFill>
                <a:srgbClr val="333333"/>
              </a:solidFill>
              <a:effectLst/>
              <a:latin typeface="MicrosoftYaHei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MicrosoftYaHei"/>
              </a:rPr>
              <a:t>柯柯牙：不畏艰辛在荒原建起“绿色长城”（柯柯牙工程区查明了立地类型，筛选适宜树种，采取“防风固沙林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MicrosoftYaHei"/>
              </a:rPr>
              <a:t>+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MicrosoftYaHei"/>
              </a:rPr>
              <a:t>生态经济林”配置模式，创新经济林丰产稳产综合栽培技术，构建了政府规划、部门服务、企业牵头、农户参与“以林养林”可持续经营的柯柯牙模式）</a:t>
            </a:r>
            <a:br>
              <a:rPr lang="en-US" altLang="zh-CN" b="0" i="0" dirty="0">
                <a:solidFill>
                  <a:srgbClr val="333333"/>
                </a:solidFill>
                <a:effectLst/>
                <a:latin typeface="MicrosoftYaHei"/>
              </a:rPr>
            </a:br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除了治沙，治水也交出了一份完美答卷</a:t>
            </a:r>
            <a:r>
              <a:rPr lang="en-US" altLang="zh-CN" dirty="0"/>
              <a:t>——</a:t>
            </a:r>
            <a:r>
              <a:rPr lang="zh-CN" altLang="en-US" dirty="0"/>
              <a:t>大河九曲，黄河变身。</a:t>
            </a:r>
            <a:endParaRPr lang="en-US" alt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国内生态治理具有重大而深远的意义。首先，它对国家发展具有核心战略价值，不仅推动生态文明建设、实现可持续发展，也促进经济结构的绿色转型，为高质量发展培育新的增长点。在此基础上，生态治理直接关系到民生福祉，通过显著改善人居环境，提升了公众健康与生活质量，实质上是为子孙后代守护绿水青山的宝贵财富。进一步说，它彰显了中国的大国责任与文明转型，我们通过践行</a:t>
            </a:r>
            <a:r>
              <a:rPr lang="en-US" altLang="zh-CN" dirty="0"/>
              <a:t>“</a:t>
            </a:r>
            <a:r>
              <a:rPr lang="zh-CN" altLang="en-US" dirty="0"/>
              <a:t>绿水青山就是金山银山</a:t>
            </a:r>
            <a:r>
              <a:rPr lang="en-US" altLang="zh-CN" dirty="0"/>
              <a:t>”</a:t>
            </a:r>
            <a:r>
              <a:rPr lang="zh-CN" altLang="en-US" dirty="0"/>
              <a:t>的理念，探索出一条人与自然和谐共生的现代化新路径，这也为全球、尤其是发展中国家，提供了具有参考价值的生态文明建设范例。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中国积极宣介</a:t>
            </a:r>
            <a:r>
              <a:rPr lang="en-US" altLang="zh-CN" dirty="0"/>
              <a:t>“</a:t>
            </a:r>
            <a:r>
              <a:rPr lang="zh-CN" altLang="en-US" dirty="0"/>
              <a:t>人类命运共同体</a:t>
            </a:r>
            <a:r>
              <a:rPr lang="en-US" altLang="zh-CN" dirty="0"/>
              <a:t>”</a:t>
            </a:r>
            <a:r>
              <a:rPr lang="zh-CN" altLang="en-US" dirty="0"/>
              <a:t>、</a:t>
            </a:r>
            <a:r>
              <a:rPr lang="en-US" altLang="zh-CN" dirty="0"/>
              <a:t>“</a:t>
            </a:r>
            <a:r>
              <a:rPr lang="zh-CN" altLang="en-US" dirty="0"/>
              <a:t>人与自然生命共同体</a:t>
            </a:r>
            <a:r>
              <a:rPr lang="en-US" altLang="zh-CN" dirty="0"/>
              <a:t>”</a:t>
            </a:r>
            <a:r>
              <a:rPr lang="zh-CN" altLang="en-US" dirty="0"/>
              <a:t>等理念，在国际场合系统阐述生态文明思想的核心要义。</a:t>
            </a:r>
          </a:p>
          <a:p>
            <a:r>
              <a:rPr lang="zh-CN" altLang="en-US" dirty="0"/>
              <a:t>中国推动</a:t>
            </a:r>
            <a:r>
              <a:rPr lang="en-US" altLang="zh-CN" dirty="0"/>
              <a:t>“</a:t>
            </a:r>
            <a:r>
              <a:rPr lang="zh-CN" altLang="en-US" dirty="0"/>
              <a:t>一带一路</a:t>
            </a:r>
            <a:r>
              <a:rPr lang="en-US" altLang="zh-CN" dirty="0"/>
              <a:t>”</a:t>
            </a:r>
            <a:r>
              <a:rPr lang="zh-CN" altLang="en-US" dirty="0"/>
              <a:t>绿色发展国际联盟、南南合作等平台建设，开展应对气候变化、防治荒漠化等领域的双边与多边项目合作。</a:t>
            </a:r>
          </a:p>
          <a:p>
            <a:r>
              <a:rPr lang="zh-CN" altLang="en-US" dirty="0"/>
              <a:t>中国推动中国绿色标准、技术规范与国际接轨及互认，在海外建设项目中严格执行环保标准，打造绿色标杆工程。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习近平总书记</a:t>
            </a:r>
            <a:r>
              <a:rPr lang="zh-CN" altLang="en-US" b="1" dirty="0"/>
              <a:t>生态文明理念的形成与实践轨迹</a:t>
            </a:r>
            <a:r>
              <a:rPr lang="zh-CN" altLang="en-US" dirty="0"/>
              <a:t>。它源于</a:t>
            </a:r>
            <a:r>
              <a:rPr lang="zh-CN" altLang="en-US" b="1" dirty="0"/>
              <a:t>知青时期</a:t>
            </a:r>
            <a:r>
              <a:rPr lang="zh-CN" altLang="en-US" dirty="0"/>
              <a:t>修沼气池、治沟打坝的</a:t>
            </a:r>
            <a:r>
              <a:rPr lang="zh-CN" altLang="en-US" b="1" dirty="0"/>
              <a:t>实践体悟</a:t>
            </a:r>
            <a:r>
              <a:rPr lang="zh-CN" altLang="en-US" dirty="0"/>
              <a:t>，发展于</a:t>
            </a:r>
            <a:r>
              <a:rPr lang="zh-CN" altLang="en-US" b="1" dirty="0"/>
              <a:t>福建任职时‘山水林田’的系统治理探索</a:t>
            </a:r>
            <a:r>
              <a:rPr lang="zh-CN" altLang="en-US" dirty="0"/>
              <a:t>，最终上升为新时代‘黄河流域’的重大国家战略，并以‘双碳’目标</a:t>
            </a:r>
            <a:r>
              <a:rPr lang="zh-CN" altLang="en-US" b="1" dirty="0"/>
              <a:t>成为中国对全球可持续发展做出的</a:t>
            </a:r>
            <a:r>
              <a:rPr lang="zh-CN" altLang="en-US" dirty="0"/>
              <a:t>庄严承诺，体现了理念的根植、深化与全球性实践。”</a:t>
            </a:r>
            <a:endParaRPr lang="en-US" altLang="zh-CN">
              <a:sym typeface="Wingdings" panose="05000000000000000000" pitchFamily="2" charset="2"/>
            </a:endParaRPr>
          </a:p>
          <a:p>
            <a:endParaRPr lang="en-US" altLang="zh-CN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/>
              <a:t>绿色生活方式。</a:t>
            </a:r>
            <a:br>
              <a:rPr lang="zh-CN" altLang="en-US" dirty="0"/>
            </a:br>
            <a:r>
              <a:rPr lang="zh-CN" altLang="en-US" dirty="0"/>
              <a:t>我们可以从身边做起：节约用电用水、减少一次性用品、绿色出行、垃圾分类等。这些看似微小，但累计起来对减碳减排具有真实效果。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/>
              <a:t>参与志愿行动与公共传播。</a:t>
            </a:r>
            <a:br>
              <a:rPr lang="zh-CN" altLang="en-US" dirty="0"/>
            </a:br>
            <a:r>
              <a:rPr lang="zh-CN" altLang="en-US" dirty="0"/>
              <a:t>经常组织植树、生态调研、河湖巡护等活动，大学生可以主动参与；同时可以在社交媒体上传播科学的生态文明理念，抵制谣言和错误观念。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真正的生态文明，不停留在课堂、政策或口号里，而是在我们每一个平凡的日常选择中生根发芽。</a:t>
            </a:r>
            <a:br>
              <a:rPr lang="zh-CN" altLang="en-US" dirty="0"/>
            </a:br>
            <a:r>
              <a:rPr lang="zh-CN" altLang="en-US" dirty="0"/>
              <a:t>青年越行动，未来越绿色；世界越绿色，人类越文明。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A18431-54C4-4585-82AD-D4BDE8FCC787}" type="datetimeFigureOut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4/12/2025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2E714-8771-4256-B120-A1444CD7D5F3}" type="slidenum">
              <a:rPr lang="zh-HK" alt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zh-HK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26" Type="http://schemas.openxmlformats.org/officeDocument/2006/relationships/tags" Target="../tags/tag27.xml"/><Relationship Id="rId3" Type="http://schemas.openxmlformats.org/officeDocument/2006/relationships/tags" Target="../tags/tag4.xml"/><Relationship Id="rId21" Type="http://schemas.openxmlformats.org/officeDocument/2006/relationships/tags" Target="../tags/tag22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5" Type="http://schemas.openxmlformats.org/officeDocument/2006/relationships/tags" Target="../tags/tag26.xml"/><Relationship Id="rId33" Type="http://schemas.openxmlformats.org/officeDocument/2006/relationships/image" Target="../media/image8.png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29" Type="http://schemas.openxmlformats.org/officeDocument/2006/relationships/notesSlide" Target="../notesSlides/notesSlide3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24" Type="http://schemas.openxmlformats.org/officeDocument/2006/relationships/tags" Target="../tags/tag25.xml"/><Relationship Id="rId32" Type="http://schemas.openxmlformats.org/officeDocument/2006/relationships/image" Target="../media/image7.png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23" Type="http://schemas.openxmlformats.org/officeDocument/2006/relationships/tags" Target="../tags/tag24.xml"/><Relationship Id="rId28" Type="http://schemas.openxmlformats.org/officeDocument/2006/relationships/slideLayout" Target="../slideLayouts/slideLayout7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31" Type="http://schemas.openxmlformats.org/officeDocument/2006/relationships/image" Target="../media/image6.jpeg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tags" Target="../tags/tag23.xml"/><Relationship Id="rId27" Type="http://schemas.openxmlformats.org/officeDocument/2006/relationships/tags" Target="../tags/tag28.xml"/><Relationship Id="rId30" Type="http://schemas.openxmlformats.org/officeDocument/2006/relationships/image" Target="../media/image5.png"/><Relationship Id="rId8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41.xml"/><Relationship Id="rId18" Type="http://schemas.openxmlformats.org/officeDocument/2006/relationships/tags" Target="../tags/tag46.xml"/><Relationship Id="rId26" Type="http://schemas.openxmlformats.org/officeDocument/2006/relationships/tags" Target="../tags/tag54.xml"/><Relationship Id="rId3" Type="http://schemas.openxmlformats.org/officeDocument/2006/relationships/tags" Target="../tags/tag31.xml"/><Relationship Id="rId21" Type="http://schemas.openxmlformats.org/officeDocument/2006/relationships/tags" Target="../tags/tag49.xml"/><Relationship Id="rId34" Type="http://schemas.openxmlformats.org/officeDocument/2006/relationships/image" Target="../media/image9.jpeg"/><Relationship Id="rId7" Type="http://schemas.openxmlformats.org/officeDocument/2006/relationships/tags" Target="../tags/tag35.xml"/><Relationship Id="rId12" Type="http://schemas.openxmlformats.org/officeDocument/2006/relationships/tags" Target="../tags/tag40.xml"/><Relationship Id="rId17" Type="http://schemas.openxmlformats.org/officeDocument/2006/relationships/tags" Target="../tags/tag45.xml"/><Relationship Id="rId25" Type="http://schemas.openxmlformats.org/officeDocument/2006/relationships/tags" Target="../tags/tag53.xml"/><Relationship Id="rId33" Type="http://schemas.openxmlformats.org/officeDocument/2006/relationships/notesSlide" Target="../notesSlides/notesSlide4.xml"/><Relationship Id="rId2" Type="http://schemas.openxmlformats.org/officeDocument/2006/relationships/tags" Target="../tags/tag30.xml"/><Relationship Id="rId16" Type="http://schemas.openxmlformats.org/officeDocument/2006/relationships/tags" Target="../tags/tag44.xml"/><Relationship Id="rId20" Type="http://schemas.openxmlformats.org/officeDocument/2006/relationships/tags" Target="../tags/tag48.xml"/><Relationship Id="rId29" Type="http://schemas.openxmlformats.org/officeDocument/2006/relationships/tags" Target="../tags/tag57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11" Type="http://schemas.openxmlformats.org/officeDocument/2006/relationships/tags" Target="../tags/tag39.xml"/><Relationship Id="rId24" Type="http://schemas.openxmlformats.org/officeDocument/2006/relationships/tags" Target="../tags/tag5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33.xml"/><Relationship Id="rId15" Type="http://schemas.openxmlformats.org/officeDocument/2006/relationships/tags" Target="../tags/tag43.xml"/><Relationship Id="rId23" Type="http://schemas.openxmlformats.org/officeDocument/2006/relationships/tags" Target="../tags/tag51.xml"/><Relationship Id="rId28" Type="http://schemas.openxmlformats.org/officeDocument/2006/relationships/tags" Target="../tags/tag56.xml"/><Relationship Id="rId10" Type="http://schemas.openxmlformats.org/officeDocument/2006/relationships/tags" Target="../tags/tag38.xml"/><Relationship Id="rId19" Type="http://schemas.openxmlformats.org/officeDocument/2006/relationships/tags" Target="../tags/tag47.xml"/><Relationship Id="rId31" Type="http://schemas.openxmlformats.org/officeDocument/2006/relationships/tags" Target="../tags/tag59.xml"/><Relationship Id="rId4" Type="http://schemas.openxmlformats.org/officeDocument/2006/relationships/tags" Target="../tags/tag32.xml"/><Relationship Id="rId9" Type="http://schemas.openxmlformats.org/officeDocument/2006/relationships/tags" Target="../tags/tag37.xml"/><Relationship Id="rId14" Type="http://schemas.openxmlformats.org/officeDocument/2006/relationships/tags" Target="../tags/tag42.xml"/><Relationship Id="rId22" Type="http://schemas.openxmlformats.org/officeDocument/2006/relationships/tags" Target="../tags/tag50.xml"/><Relationship Id="rId27" Type="http://schemas.openxmlformats.org/officeDocument/2006/relationships/tags" Target="../tags/tag55.xml"/><Relationship Id="rId30" Type="http://schemas.openxmlformats.org/officeDocument/2006/relationships/tags" Target="../tags/tag58.xml"/><Relationship Id="rId35" Type="http://schemas.openxmlformats.org/officeDocument/2006/relationships/image" Target="../media/image10.jpeg"/><Relationship Id="rId8" Type="http://schemas.openxmlformats.org/officeDocument/2006/relationships/tags" Target="../tags/tag3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tags" Target="../tags/tag6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61.xml"/><Relationship Id="rId1" Type="http://schemas.openxmlformats.org/officeDocument/2006/relationships/tags" Target="../tags/tag60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64.xml"/><Relationship Id="rId10" Type="http://schemas.openxmlformats.org/officeDocument/2006/relationships/image" Target="../media/image13.svg"/><Relationship Id="rId4" Type="http://schemas.openxmlformats.org/officeDocument/2006/relationships/tags" Target="../tags/tag63.xml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4.pn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jpeg"/><Relationship Id="rId3" Type="http://schemas.openxmlformats.org/officeDocument/2006/relationships/image" Target="../media/image25.jpeg"/><Relationship Id="rId7" Type="http://schemas.openxmlformats.org/officeDocument/2006/relationships/image" Target="../media/image2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10" Type="http://schemas.openxmlformats.org/officeDocument/2006/relationships/image" Target="../media/image32.jpeg"/><Relationship Id="rId4" Type="http://schemas.openxmlformats.org/officeDocument/2006/relationships/image" Target="../media/image26.jpeg"/><Relationship Id="rId9" Type="http://schemas.openxmlformats.org/officeDocument/2006/relationships/image" Target="../media/image3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72.xml"/><Relationship Id="rId13" Type="http://schemas.openxmlformats.org/officeDocument/2006/relationships/tags" Target="../tags/tag77.xml"/><Relationship Id="rId3" Type="http://schemas.openxmlformats.org/officeDocument/2006/relationships/tags" Target="../tags/tag67.xml"/><Relationship Id="rId7" Type="http://schemas.openxmlformats.org/officeDocument/2006/relationships/tags" Target="../tags/tag71.xml"/><Relationship Id="rId12" Type="http://schemas.openxmlformats.org/officeDocument/2006/relationships/tags" Target="../tags/tag76.xml"/><Relationship Id="rId2" Type="http://schemas.openxmlformats.org/officeDocument/2006/relationships/tags" Target="../tags/tag66.xml"/><Relationship Id="rId1" Type="http://schemas.openxmlformats.org/officeDocument/2006/relationships/tags" Target="../tags/tag65.xml"/><Relationship Id="rId6" Type="http://schemas.openxmlformats.org/officeDocument/2006/relationships/tags" Target="../tags/tag70.xml"/><Relationship Id="rId11" Type="http://schemas.openxmlformats.org/officeDocument/2006/relationships/tags" Target="../tags/tag75.xml"/><Relationship Id="rId5" Type="http://schemas.openxmlformats.org/officeDocument/2006/relationships/tags" Target="../tags/tag69.xml"/><Relationship Id="rId15" Type="http://schemas.openxmlformats.org/officeDocument/2006/relationships/notesSlide" Target="../notesSlides/notesSlide17.xml"/><Relationship Id="rId10" Type="http://schemas.openxmlformats.org/officeDocument/2006/relationships/tags" Target="../tags/tag74.xml"/><Relationship Id="rId4" Type="http://schemas.openxmlformats.org/officeDocument/2006/relationships/tags" Target="../tags/tag68.xml"/><Relationship Id="rId9" Type="http://schemas.openxmlformats.org/officeDocument/2006/relationships/tags" Target="../tags/tag73.xml"/><Relationship Id="rId14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9.jpeg"/><Relationship Id="rId4" Type="http://schemas.openxmlformats.org/officeDocument/2006/relationships/image" Target="../media/image48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0" y="0"/>
            <a:ext cx="12192000" cy="6858000"/>
            <a:chOff x="1523998" y="-22226"/>
            <a:chExt cx="9144001" cy="6880226"/>
          </a:xfrm>
        </p:grpSpPr>
        <p:sp>
          <p:nvSpPr>
            <p:cNvPr id="2" name="矩形 1"/>
            <p:cNvSpPr/>
            <p:nvPr/>
          </p:nvSpPr>
          <p:spPr>
            <a:xfrm>
              <a:off x="1523998" y="3207658"/>
              <a:ext cx="9144001" cy="3650342"/>
            </a:xfrm>
            <a:prstGeom prst="rect">
              <a:avLst/>
            </a:prstGeom>
            <a:solidFill>
              <a:srgbClr val="B0252A"/>
            </a:solidFill>
            <a:ln>
              <a:noFill/>
            </a:ln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pic>
          <p:nvPicPr>
            <p:cNvPr id="3" name="新校区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06" t="30647" r="17851" b="31854"/>
            <a:stretch>
              <a:fillRect/>
            </a:stretch>
          </p:blipFill>
          <p:spPr>
            <a:xfrm>
              <a:off x="1523998" y="-22226"/>
              <a:ext cx="9144001" cy="3510826"/>
            </a:xfrm>
            <a:prstGeom prst="rect">
              <a:avLst/>
            </a:prstGeom>
          </p:spPr>
        </p:pic>
      </p:grpSp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541" y="178549"/>
            <a:ext cx="2709676" cy="730306"/>
          </a:xfrm>
          <a:prstGeom prst="rect">
            <a:avLst/>
          </a:prstGeom>
        </p:spPr>
      </p:pic>
      <p:pic>
        <p:nvPicPr>
          <p:cNvPr id="8" name="图片 7" hidden="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9296" y="162011"/>
            <a:ext cx="2709676" cy="730306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40130" y="4128305"/>
            <a:ext cx="101117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cs typeface="+mn-ea"/>
                <a:sym typeface="+mn-lt"/>
              </a:rPr>
              <a:t>建设社会主义生态文明：人与自然和谐共生的中国方案 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269905" y="5157216"/>
            <a:ext cx="52629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9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组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组长：刘凯丽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组员：魏朝旭，孙长青，田栋栋，王奕璇，邓睿棋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357039" y="12526"/>
            <a:ext cx="3657600" cy="6858000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5096767" y="1551266"/>
            <a:ext cx="0" cy="363031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959346" y="1551266"/>
            <a:ext cx="2786911" cy="3143792"/>
            <a:chOff x="309210" y="1551266"/>
            <a:chExt cx="2786911" cy="3143792"/>
          </a:xfrm>
        </p:grpSpPr>
        <p:sp>
          <p:nvSpPr>
            <p:cNvPr id="35" name="文本框 34"/>
            <p:cNvSpPr txBox="1"/>
            <p:nvPr/>
          </p:nvSpPr>
          <p:spPr>
            <a:xfrm>
              <a:off x="309210" y="3679395"/>
              <a:ext cx="27869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spc="3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目录</a:t>
              </a:r>
              <a:endParaRPr lang="zh-HK" altLang="en-US" sz="60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02071" y="1551266"/>
              <a:ext cx="1801188" cy="1801188"/>
              <a:chOff x="844063" y="1551266"/>
              <a:chExt cx="1801188" cy="1801188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1197596" y="1906806"/>
                <a:ext cx="1094123" cy="1090108"/>
                <a:chOff x="1709739" y="2636838"/>
                <a:chExt cx="1590160" cy="1584325"/>
              </a:xfrm>
              <a:solidFill>
                <a:schemeClr val="bg1"/>
              </a:solidFill>
              <a:effectLst/>
            </p:grpSpPr>
            <p:sp>
              <p:nvSpPr>
                <p:cNvPr id="9" name="Freeform 6"/>
                <p:cNvSpPr/>
                <p:nvPr/>
              </p:nvSpPr>
              <p:spPr bwMode="auto">
                <a:xfrm>
                  <a:off x="1709739" y="2636838"/>
                  <a:ext cx="1468102" cy="1467130"/>
                </a:xfrm>
                <a:custGeom>
                  <a:avLst/>
                  <a:gdLst>
                    <a:gd name="T0" fmla="*/ 691 w 1276"/>
                    <a:gd name="T1" fmla="*/ 1168 h 1274"/>
                    <a:gd name="T2" fmla="*/ 662 w 1276"/>
                    <a:gd name="T3" fmla="*/ 1267 h 1274"/>
                    <a:gd name="T4" fmla="*/ 654 w 1276"/>
                    <a:gd name="T5" fmla="*/ 1273 h 1274"/>
                    <a:gd name="T6" fmla="*/ 643 w 1276"/>
                    <a:gd name="T7" fmla="*/ 1274 h 1274"/>
                    <a:gd name="T8" fmla="*/ 172 w 1276"/>
                    <a:gd name="T9" fmla="*/ 1274 h 1274"/>
                    <a:gd name="T10" fmla="*/ 81 w 1276"/>
                    <a:gd name="T11" fmla="*/ 1253 h 1274"/>
                    <a:gd name="T12" fmla="*/ 1 w 1276"/>
                    <a:gd name="T13" fmla="*/ 1113 h 1274"/>
                    <a:gd name="T14" fmla="*/ 0 w 1276"/>
                    <a:gd name="T15" fmla="*/ 892 h 1274"/>
                    <a:gd name="T16" fmla="*/ 0 w 1276"/>
                    <a:gd name="T17" fmla="*/ 170 h 1274"/>
                    <a:gd name="T18" fmla="*/ 170 w 1276"/>
                    <a:gd name="T19" fmla="*/ 0 h 1274"/>
                    <a:gd name="T20" fmla="*/ 1110 w 1276"/>
                    <a:gd name="T21" fmla="*/ 0 h 1274"/>
                    <a:gd name="T22" fmla="*/ 1273 w 1276"/>
                    <a:gd name="T23" fmla="*/ 131 h 1274"/>
                    <a:gd name="T24" fmla="*/ 1276 w 1276"/>
                    <a:gd name="T25" fmla="*/ 168 h 1274"/>
                    <a:gd name="T26" fmla="*/ 1276 w 1276"/>
                    <a:gd name="T27" fmla="*/ 629 h 1274"/>
                    <a:gd name="T28" fmla="*/ 1275 w 1276"/>
                    <a:gd name="T29" fmla="*/ 645 h 1274"/>
                    <a:gd name="T30" fmla="*/ 1171 w 1276"/>
                    <a:gd name="T31" fmla="*/ 659 h 1274"/>
                    <a:gd name="T32" fmla="*/ 1171 w 1276"/>
                    <a:gd name="T33" fmla="*/ 214 h 1274"/>
                    <a:gd name="T34" fmla="*/ 106 w 1276"/>
                    <a:gd name="T35" fmla="*/ 214 h 1274"/>
                    <a:gd name="T36" fmla="*/ 106 w 1276"/>
                    <a:gd name="T37" fmla="*/ 230 h 1274"/>
                    <a:gd name="T38" fmla="*/ 105 w 1276"/>
                    <a:gd name="T39" fmla="*/ 1102 h 1274"/>
                    <a:gd name="T40" fmla="*/ 171 w 1276"/>
                    <a:gd name="T41" fmla="*/ 1168 h 1274"/>
                    <a:gd name="T42" fmla="*/ 671 w 1276"/>
                    <a:gd name="T43" fmla="*/ 1168 h 1274"/>
                    <a:gd name="T44" fmla="*/ 691 w 1276"/>
                    <a:gd name="T45" fmla="*/ 1168 h 1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276" h="1274">
                      <a:moveTo>
                        <a:pt x="691" y="1168"/>
                      </a:moveTo>
                      <a:cubicBezTo>
                        <a:pt x="681" y="1203"/>
                        <a:pt x="672" y="1235"/>
                        <a:pt x="662" y="1267"/>
                      </a:cubicBezTo>
                      <a:cubicBezTo>
                        <a:pt x="661" y="1270"/>
                        <a:pt x="657" y="1272"/>
                        <a:pt x="654" y="1273"/>
                      </a:cubicBezTo>
                      <a:cubicBezTo>
                        <a:pt x="651" y="1274"/>
                        <a:pt x="647" y="1274"/>
                        <a:pt x="643" y="1274"/>
                      </a:cubicBezTo>
                      <a:cubicBezTo>
                        <a:pt x="486" y="1274"/>
                        <a:pt x="329" y="1273"/>
                        <a:pt x="172" y="1274"/>
                      </a:cubicBezTo>
                      <a:cubicBezTo>
                        <a:pt x="140" y="1274"/>
                        <a:pt x="109" y="1269"/>
                        <a:pt x="81" y="1253"/>
                      </a:cubicBezTo>
                      <a:cubicBezTo>
                        <a:pt x="29" y="1221"/>
                        <a:pt x="1" y="1174"/>
                        <a:pt x="1" y="1113"/>
                      </a:cubicBezTo>
                      <a:cubicBezTo>
                        <a:pt x="0" y="1039"/>
                        <a:pt x="0" y="966"/>
                        <a:pt x="0" y="892"/>
                      </a:cubicBezTo>
                      <a:cubicBezTo>
                        <a:pt x="0" y="651"/>
                        <a:pt x="0" y="411"/>
                        <a:pt x="0" y="170"/>
                      </a:cubicBezTo>
                      <a:cubicBezTo>
                        <a:pt x="0" y="68"/>
                        <a:pt x="68" y="0"/>
                        <a:pt x="170" y="0"/>
                      </a:cubicBezTo>
                      <a:cubicBezTo>
                        <a:pt x="483" y="0"/>
                        <a:pt x="797" y="0"/>
                        <a:pt x="1110" y="0"/>
                      </a:cubicBezTo>
                      <a:cubicBezTo>
                        <a:pt x="1194" y="0"/>
                        <a:pt x="1258" y="51"/>
                        <a:pt x="1273" y="131"/>
                      </a:cubicBezTo>
                      <a:cubicBezTo>
                        <a:pt x="1276" y="143"/>
                        <a:pt x="1276" y="156"/>
                        <a:pt x="1276" y="168"/>
                      </a:cubicBezTo>
                      <a:cubicBezTo>
                        <a:pt x="1276" y="322"/>
                        <a:pt x="1276" y="475"/>
                        <a:pt x="1276" y="629"/>
                      </a:cubicBezTo>
                      <a:cubicBezTo>
                        <a:pt x="1276" y="634"/>
                        <a:pt x="1276" y="638"/>
                        <a:pt x="1275" y="645"/>
                      </a:cubicBezTo>
                      <a:cubicBezTo>
                        <a:pt x="1239" y="640"/>
                        <a:pt x="1205" y="643"/>
                        <a:pt x="1171" y="659"/>
                      </a:cubicBezTo>
                      <a:cubicBezTo>
                        <a:pt x="1171" y="509"/>
                        <a:pt x="1171" y="362"/>
                        <a:pt x="1171" y="214"/>
                      </a:cubicBezTo>
                      <a:cubicBezTo>
                        <a:pt x="816" y="214"/>
                        <a:pt x="462" y="214"/>
                        <a:pt x="106" y="214"/>
                      </a:cubicBezTo>
                      <a:cubicBezTo>
                        <a:pt x="106" y="219"/>
                        <a:pt x="106" y="224"/>
                        <a:pt x="106" y="230"/>
                      </a:cubicBezTo>
                      <a:cubicBezTo>
                        <a:pt x="106" y="521"/>
                        <a:pt x="106" y="812"/>
                        <a:pt x="105" y="1102"/>
                      </a:cubicBezTo>
                      <a:cubicBezTo>
                        <a:pt x="105" y="1141"/>
                        <a:pt x="125" y="1169"/>
                        <a:pt x="171" y="1168"/>
                      </a:cubicBezTo>
                      <a:cubicBezTo>
                        <a:pt x="338" y="1167"/>
                        <a:pt x="504" y="1168"/>
                        <a:pt x="671" y="1168"/>
                      </a:cubicBezTo>
                      <a:cubicBezTo>
                        <a:pt x="677" y="1168"/>
                        <a:pt x="683" y="1168"/>
                        <a:pt x="691" y="116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0" name="Freeform 7"/>
                <p:cNvSpPr>
                  <a:spLocks noEditPoints="1"/>
                </p:cNvSpPr>
                <p:nvPr/>
              </p:nvSpPr>
              <p:spPr bwMode="auto">
                <a:xfrm>
                  <a:off x="2571440" y="3653665"/>
                  <a:ext cx="569443" cy="567498"/>
                </a:xfrm>
                <a:custGeom>
                  <a:avLst/>
                  <a:gdLst>
                    <a:gd name="T0" fmla="*/ 328 w 495"/>
                    <a:gd name="T1" fmla="*/ 1 h 493"/>
                    <a:gd name="T2" fmla="*/ 495 w 495"/>
                    <a:gd name="T3" fmla="*/ 167 h 493"/>
                    <a:gd name="T4" fmla="*/ 427 w 495"/>
                    <a:gd name="T5" fmla="*/ 236 h 493"/>
                    <a:gd name="T6" fmla="*/ 240 w 495"/>
                    <a:gd name="T7" fmla="*/ 421 h 493"/>
                    <a:gd name="T8" fmla="*/ 216 w 495"/>
                    <a:gd name="T9" fmla="*/ 436 h 493"/>
                    <a:gd name="T10" fmla="*/ 40 w 495"/>
                    <a:gd name="T11" fmla="*/ 488 h 493"/>
                    <a:gd name="T12" fmla="*/ 9 w 495"/>
                    <a:gd name="T13" fmla="*/ 484 h 493"/>
                    <a:gd name="T14" fmla="*/ 6 w 495"/>
                    <a:gd name="T15" fmla="*/ 454 h 493"/>
                    <a:gd name="T16" fmla="*/ 58 w 495"/>
                    <a:gd name="T17" fmla="*/ 276 h 493"/>
                    <a:gd name="T18" fmla="*/ 67 w 495"/>
                    <a:gd name="T19" fmla="*/ 259 h 493"/>
                    <a:gd name="T20" fmla="*/ 327 w 495"/>
                    <a:gd name="T21" fmla="*/ 1 h 493"/>
                    <a:gd name="T22" fmla="*/ 328 w 495"/>
                    <a:gd name="T23" fmla="*/ 1 h 493"/>
                    <a:gd name="T24" fmla="*/ 102 w 495"/>
                    <a:gd name="T25" fmla="*/ 292 h 493"/>
                    <a:gd name="T26" fmla="*/ 72 w 495"/>
                    <a:gd name="T27" fmla="*/ 396 h 493"/>
                    <a:gd name="T28" fmla="*/ 74 w 495"/>
                    <a:gd name="T29" fmla="*/ 405 h 493"/>
                    <a:gd name="T30" fmla="*/ 113 w 495"/>
                    <a:gd name="T31" fmla="*/ 418 h 493"/>
                    <a:gd name="T32" fmla="*/ 148 w 495"/>
                    <a:gd name="T33" fmla="*/ 408 h 493"/>
                    <a:gd name="T34" fmla="*/ 200 w 495"/>
                    <a:gd name="T35" fmla="*/ 393 h 493"/>
                    <a:gd name="T36" fmla="*/ 185 w 495"/>
                    <a:gd name="T37" fmla="*/ 316 h 493"/>
                    <a:gd name="T38" fmla="*/ 178 w 495"/>
                    <a:gd name="T39" fmla="*/ 308 h 493"/>
                    <a:gd name="T40" fmla="*/ 102 w 495"/>
                    <a:gd name="T41" fmla="*/ 292 h 4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495" h="493">
                      <a:moveTo>
                        <a:pt x="328" y="1"/>
                      </a:moveTo>
                      <a:cubicBezTo>
                        <a:pt x="384" y="56"/>
                        <a:pt x="439" y="112"/>
                        <a:pt x="495" y="167"/>
                      </a:cubicBezTo>
                      <a:cubicBezTo>
                        <a:pt x="473" y="190"/>
                        <a:pt x="450" y="213"/>
                        <a:pt x="427" y="236"/>
                      </a:cubicBezTo>
                      <a:cubicBezTo>
                        <a:pt x="365" y="298"/>
                        <a:pt x="303" y="360"/>
                        <a:pt x="240" y="421"/>
                      </a:cubicBezTo>
                      <a:cubicBezTo>
                        <a:pt x="233" y="428"/>
                        <a:pt x="225" y="433"/>
                        <a:pt x="216" y="436"/>
                      </a:cubicBezTo>
                      <a:cubicBezTo>
                        <a:pt x="157" y="454"/>
                        <a:pt x="98" y="471"/>
                        <a:pt x="40" y="488"/>
                      </a:cubicBezTo>
                      <a:cubicBezTo>
                        <a:pt x="28" y="492"/>
                        <a:pt x="18" y="493"/>
                        <a:pt x="9" y="484"/>
                      </a:cubicBezTo>
                      <a:cubicBezTo>
                        <a:pt x="0" y="475"/>
                        <a:pt x="3" y="464"/>
                        <a:pt x="6" y="454"/>
                      </a:cubicBezTo>
                      <a:cubicBezTo>
                        <a:pt x="23" y="395"/>
                        <a:pt x="40" y="335"/>
                        <a:pt x="58" y="276"/>
                      </a:cubicBezTo>
                      <a:cubicBezTo>
                        <a:pt x="60" y="270"/>
                        <a:pt x="63" y="264"/>
                        <a:pt x="67" y="259"/>
                      </a:cubicBezTo>
                      <a:cubicBezTo>
                        <a:pt x="154" y="173"/>
                        <a:pt x="240" y="87"/>
                        <a:pt x="327" y="1"/>
                      </a:cubicBezTo>
                      <a:cubicBezTo>
                        <a:pt x="328" y="1"/>
                        <a:pt x="329" y="0"/>
                        <a:pt x="328" y="1"/>
                      </a:cubicBezTo>
                      <a:close/>
                      <a:moveTo>
                        <a:pt x="102" y="292"/>
                      </a:moveTo>
                      <a:cubicBezTo>
                        <a:pt x="91" y="327"/>
                        <a:pt x="81" y="362"/>
                        <a:pt x="72" y="396"/>
                      </a:cubicBezTo>
                      <a:cubicBezTo>
                        <a:pt x="71" y="399"/>
                        <a:pt x="72" y="403"/>
                        <a:pt x="74" y="405"/>
                      </a:cubicBezTo>
                      <a:cubicBezTo>
                        <a:pt x="87" y="423"/>
                        <a:pt x="92" y="425"/>
                        <a:pt x="113" y="418"/>
                      </a:cubicBezTo>
                      <a:cubicBezTo>
                        <a:pt x="125" y="415"/>
                        <a:pt x="136" y="411"/>
                        <a:pt x="148" y="408"/>
                      </a:cubicBezTo>
                      <a:cubicBezTo>
                        <a:pt x="165" y="403"/>
                        <a:pt x="182" y="398"/>
                        <a:pt x="200" y="393"/>
                      </a:cubicBezTo>
                      <a:cubicBezTo>
                        <a:pt x="195" y="365"/>
                        <a:pt x="190" y="341"/>
                        <a:pt x="185" y="316"/>
                      </a:cubicBezTo>
                      <a:cubicBezTo>
                        <a:pt x="185" y="313"/>
                        <a:pt x="181" y="309"/>
                        <a:pt x="178" y="308"/>
                      </a:cubicBezTo>
                      <a:cubicBezTo>
                        <a:pt x="153" y="302"/>
                        <a:pt x="128" y="297"/>
                        <a:pt x="102" y="2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Freeform 8"/>
                <p:cNvSpPr/>
                <p:nvPr/>
              </p:nvSpPr>
              <p:spPr bwMode="auto">
                <a:xfrm>
                  <a:off x="2262162" y="3371619"/>
                  <a:ext cx="608346" cy="119627"/>
                </a:xfrm>
                <a:custGeom>
                  <a:avLst/>
                  <a:gdLst>
                    <a:gd name="T0" fmla="*/ 0 w 529"/>
                    <a:gd name="T1" fmla="*/ 104 h 104"/>
                    <a:gd name="T2" fmla="*/ 0 w 529"/>
                    <a:gd name="T3" fmla="*/ 0 h 104"/>
                    <a:gd name="T4" fmla="*/ 529 w 529"/>
                    <a:gd name="T5" fmla="*/ 0 h 104"/>
                    <a:gd name="T6" fmla="*/ 529 w 529"/>
                    <a:gd name="T7" fmla="*/ 104 h 104"/>
                    <a:gd name="T8" fmla="*/ 0 w 529"/>
                    <a:gd name="T9" fmla="*/ 104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9" h="104">
                      <a:moveTo>
                        <a:pt x="0" y="104"/>
                      </a:moveTo>
                      <a:cubicBezTo>
                        <a:pt x="0" y="69"/>
                        <a:pt x="0" y="35"/>
                        <a:pt x="0" y="0"/>
                      </a:cubicBezTo>
                      <a:cubicBezTo>
                        <a:pt x="177" y="0"/>
                        <a:pt x="352" y="0"/>
                        <a:pt x="529" y="0"/>
                      </a:cubicBezTo>
                      <a:cubicBezTo>
                        <a:pt x="529" y="35"/>
                        <a:pt x="529" y="69"/>
                        <a:pt x="529" y="104"/>
                      </a:cubicBezTo>
                      <a:cubicBezTo>
                        <a:pt x="353" y="104"/>
                        <a:pt x="177" y="104"/>
                        <a:pt x="0" y="10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Freeform 9"/>
                <p:cNvSpPr/>
                <p:nvPr/>
              </p:nvSpPr>
              <p:spPr bwMode="auto">
                <a:xfrm>
                  <a:off x="2263134" y="3127502"/>
                  <a:ext cx="607373" cy="119627"/>
                </a:xfrm>
                <a:custGeom>
                  <a:avLst/>
                  <a:gdLst>
                    <a:gd name="T0" fmla="*/ 528 w 528"/>
                    <a:gd name="T1" fmla="*/ 0 h 104"/>
                    <a:gd name="T2" fmla="*/ 528 w 528"/>
                    <a:gd name="T3" fmla="*/ 104 h 104"/>
                    <a:gd name="T4" fmla="*/ 0 w 528"/>
                    <a:gd name="T5" fmla="*/ 104 h 104"/>
                    <a:gd name="T6" fmla="*/ 0 w 528"/>
                    <a:gd name="T7" fmla="*/ 0 h 104"/>
                    <a:gd name="T8" fmla="*/ 528 w 528"/>
                    <a:gd name="T9" fmla="*/ 0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8" h="104">
                      <a:moveTo>
                        <a:pt x="528" y="0"/>
                      </a:moveTo>
                      <a:cubicBezTo>
                        <a:pt x="528" y="35"/>
                        <a:pt x="528" y="69"/>
                        <a:pt x="528" y="104"/>
                      </a:cubicBezTo>
                      <a:cubicBezTo>
                        <a:pt x="352" y="104"/>
                        <a:pt x="177" y="104"/>
                        <a:pt x="0" y="104"/>
                      </a:cubicBezTo>
                      <a:cubicBezTo>
                        <a:pt x="0" y="70"/>
                        <a:pt x="0" y="36"/>
                        <a:pt x="0" y="0"/>
                      </a:cubicBezTo>
                      <a:cubicBezTo>
                        <a:pt x="176" y="0"/>
                        <a:pt x="352" y="0"/>
                        <a:pt x="5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Freeform 10"/>
                <p:cNvSpPr/>
                <p:nvPr/>
              </p:nvSpPr>
              <p:spPr bwMode="auto">
                <a:xfrm>
                  <a:off x="2263134" y="3615735"/>
                  <a:ext cx="549991" cy="120599"/>
                </a:xfrm>
                <a:custGeom>
                  <a:avLst/>
                  <a:gdLst>
                    <a:gd name="T0" fmla="*/ 0 w 478"/>
                    <a:gd name="T1" fmla="*/ 0 h 105"/>
                    <a:gd name="T2" fmla="*/ 478 w 478"/>
                    <a:gd name="T3" fmla="*/ 0 h 105"/>
                    <a:gd name="T4" fmla="*/ 472 w 478"/>
                    <a:gd name="T5" fmla="*/ 8 h 105"/>
                    <a:gd name="T6" fmla="*/ 383 w 478"/>
                    <a:gd name="T7" fmla="*/ 97 h 105"/>
                    <a:gd name="T8" fmla="*/ 366 w 478"/>
                    <a:gd name="T9" fmla="*/ 104 h 105"/>
                    <a:gd name="T10" fmla="*/ 8 w 478"/>
                    <a:gd name="T11" fmla="*/ 105 h 105"/>
                    <a:gd name="T12" fmla="*/ 0 w 478"/>
                    <a:gd name="T13" fmla="*/ 104 h 105"/>
                    <a:gd name="T14" fmla="*/ 0 w 478"/>
                    <a:gd name="T15" fmla="*/ 0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78" h="105">
                      <a:moveTo>
                        <a:pt x="0" y="0"/>
                      </a:moveTo>
                      <a:cubicBezTo>
                        <a:pt x="159" y="0"/>
                        <a:pt x="318" y="0"/>
                        <a:pt x="478" y="0"/>
                      </a:cubicBezTo>
                      <a:cubicBezTo>
                        <a:pt x="476" y="3"/>
                        <a:pt x="474" y="6"/>
                        <a:pt x="472" y="8"/>
                      </a:cubicBezTo>
                      <a:cubicBezTo>
                        <a:pt x="443" y="38"/>
                        <a:pt x="413" y="68"/>
                        <a:pt x="383" y="97"/>
                      </a:cubicBezTo>
                      <a:cubicBezTo>
                        <a:pt x="379" y="101"/>
                        <a:pt x="372" y="104"/>
                        <a:pt x="366" y="104"/>
                      </a:cubicBezTo>
                      <a:cubicBezTo>
                        <a:pt x="247" y="105"/>
                        <a:pt x="127" y="105"/>
                        <a:pt x="8" y="105"/>
                      </a:cubicBezTo>
                      <a:cubicBezTo>
                        <a:pt x="6" y="105"/>
                        <a:pt x="3" y="104"/>
                        <a:pt x="0" y="104"/>
                      </a:cubicBezTo>
                      <a:cubicBezTo>
                        <a:pt x="0" y="69"/>
                        <a:pt x="0" y="35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Freeform 11"/>
                <p:cNvSpPr/>
                <p:nvPr/>
              </p:nvSpPr>
              <p:spPr bwMode="auto">
                <a:xfrm>
                  <a:off x="3016880" y="3492218"/>
                  <a:ext cx="283019" cy="281074"/>
                </a:xfrm>
                <a:custGeom>
                  <a:avLst/>
                  <a:gdLst>
                    <a:gd name="T0" fmla="*/ 0 w 246"/>
                    <a:gd name="T1" fmla="*/ 87 h 244"/>
                    <a:gd name="T2" fmla="*/ 66 w 246"/>
                    <a:gd name="T3" fmla="*/ 20 h 244"/>
                    <a:gd name="T4" fmla="*/ 139 w 246"/>
                    <a:gd name="T5" fmla="*/ 20 h 244"/>
                    <a:gd name="T6" fmla="*/ 225 w 246"/>
                    <a:gd name="T7" fmla="*/ 106 h 244"/>
                    <a:gd name="T8" fmla="*/ 227 w 246"/>
                    <a:gd name="T9" fmla="*/ 178 h 244"/>
                    <a:gd name="T10" fmla="*/ 159 w 246"/>
                    <a:gd name="T11" fmla="*/ 244 h 244"/>
                    <a:gd name="T12" fmla="*/ 0 w 246"/>
                    <a:gd name="T13" fmla="*/ 87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6" h="244">
                      <a:moveTo>
                        <a:pt x="0" y="87"/>
                      </a:moveTo>
                      <a:cubicBezTo>
                        <a:pt x="22" y="64"/>
                        <a:pt x="43" y="41"/>
                        <a:pt x="66" y="20"/>
                      </a:cubicBezTo>
                      <a:cubicBezTo>
                        <a:pt x="87" y="1"/>
                        <a:pt x="118" y="0"/>
                        <a:pt x="139" y="20"/>
                      </a:cubicBezTo>
                      <a:cubicBezTo>
                        <a:pt x="169" y="48"/>
                        <a:pt x="198" y="76"/>
                        <a:pt x="225" y="106"/>
                      </a:cubicBezTo>
                      <a:cubicBezTo>
                        <a:pt x="245" y="127"/>
                        <a:pt x="246" y="158"/>
                        <a:pt x="227" y="178"/>
                      </a:cubicBezTo>
                      <a:cubicBezTo>
                        <a:pt x="205" y="202"/>
                        <a:pt x="181" y="223"/>
                        <a:pt x="159" y="244"/>
                      </a:cubicBezTo>
                      <a:cubicBezTo>
                        <a:pt x="107" y="193"/>
                        <a:pt x="54" y="140"/>
                        <a:pt x="0" y="8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Freeform 12"/>
                <p:cNvSpPr/>
                <p:nvPr/>
              </p:nvSpPr>
              <p:spPr bwMode="auto">
                <a:xfrm>
                  <a:off x="2017073" y="3372591"/>
                  <a:ext cx="119627" cy="117682"/>
                </a:xfrm>
                <a:custGeom>
                  <a:avLst/>
                  <a:gdLst>
                    <a:gd name="T0" fmla="*/ 0 w 104"/>
                    <a:gd name="T1" fmla="*/ 102 h 102"/>
                    <a:gd name="T2" fmla="*/ 0 w 104"/>
                    <a:gd name="T3" fmla="*/ 0 h 102"/>
                    <a:gd name="T4" fmla="*/ 104 w 104"/>
                    <a:gd name="T5" fmla="*/ 0 h 102"/>
                    <a:gd name="T6" fmla="*/ 104 w 104"/>
                    <a:gd name="T7" fmla="*/ 102 h 102"/>
                    <a:gd name="T8" fmla="*/ 0 w 104"/>
                    <a:gd name="T9" fmla="*/ 102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102">
                      <a:moveTo>
                        <a:pt x="0" y="102"/>
                      </a:moveTo>
                      <a:cubicBezTo>
                        <a:pt x="0" y="68"/>
                        <a:pt x="0" y="34"/>
                        <a:pt x="0" y="0"/>
                      </a:cubicBezTo>
                      <a:cubicBezTo>
                        <a:pt x="35" y="0"/>
                        <a:pt x="69" y="0"/>
                        <a:pt x="104" y="0"/>
                      </a:cubicBezTo>
                      <a:cubicBezTo>
                        <a:pt x="104" y="34"/>
                        <a:pt x="104" y="67"/>
                        <a:pt x="104" y="102"/>
                      </a:cubicBezTo>
                      <a:cubicBezTo>
                        <a:pt x="70" y="102"/>
                        <a:pt x="36" y="102"/>
                        <a:pt x="0" y="10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Freeform 13"/>
                <p:cNvSpPr/>
                <p:nvPr/>
              </p:nvSpPr>
              <p:spPr bwMode="auto">
                <a:xfrm>
                  <a:off x="2018045" y="3128475"/>
                  <a:ext cx="118654" cy="118654"/>
                </a:xfrm>
                <a:custGeom>
                  <a:avLst/>
                  <a:gdLst>
                    <a:gd name="T0" fmla="*/ 103 w 103"/>
                    <a:gd name="T1" fmla="*/ 103 h 103"/>
                    <a:gd name="T2" fmla="*/ 0 w 103"/>
                    <a:gd name="T3" fmla="*/ 103 h 103"/>
                    <a:gd name="T4" fmla="*/ 0 w 103"/>
                    <a:gd name="T5" fmla="*/ 0 h 103"/>
                    <a:gd name="T6" fmla="*/ 103 w 103"/>
                    <a:gd name="T7" fmla="*/ 0 h 103"/>
                    <a:gd name="T8" fmla="*/ 103 w 103"/>
                    <a:gd name="T9" fmla="*/ 103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3" h="103">
                      <a:moveTo>
                        <a:pt x="103" y="103"/>
                      </a:moveTo>
                      <a:cubicBezTo>
                        <a:pt x="68" y="103"/>
                        <a:pt x="34" y="103"/>
                        <a:pt x="0" y="103"/>
                      </a:cubicBezTo>
                      <a:cubicBezTo>
                        <a:pt x="0" y="68"/>
                        <a:pt x="0" y="35"/>
                        <a:pt x="0" y="0"/>
                      </a:cubicBezTo>
                      <a:cubicBezTo>
                        <a:pt x="34" y="0"/>
                        <a:pt x="68" y="0"/>
                        <a:pt x="103" y="0"/>
                      </a:cubicBezTo>
                      <a:cubicBezTo>
                        <a:pt x="103" y="34"/>
                        <a:pt x="103" y="68"/>
                        <a:pt x="103" y="1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2018045" y="3616708"/>
                  <a:ext cx="118654" cy="118654"/>
                </a:xfrm>
                <a:custGeom>
                  <a:avLst/>
                  <a:gdLst>
                    <a:gd name="T0" fmla="*/ 103 w 103"/>
                    <a:gd name="T1" fmla="*/ 103 h 103"/>
                    <a:gd name="T2" fmla="*/ 0 w 103"/>
                    <a:gd name="T3" fmla="*/ 103 h 103"/>
                    <a:gd name="T4" fmla="*/ 0 w 103"/>
                    <a:gd name="T5" fmla="*/ 0 h 103"/>
                    <a:gd name="T6" fmla="*/ 103 w 103"/>
                    <a:gd name="T7" fmla="*/ 0 h 103"/>
                    <a:gd name="T8" fmla="*/ 103 w 103"/>
                    <a:gd name="T9" fmla="*/ 103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3" h="103">
                      <a:moveTo>
                        <a:pt x="103" y="103"/>
                      </a:moveTo>
                      <a:cubicBezTo>
                        <a:pt x="68" y="103"/>
                        <a:pt x="35" y="103"/>
                        <a:pt x="0" y="103"/>
                      </a:cubicBezTo>
                      <a:cubicBezTo>
                        <a:pt x="0" y="68"/>
                        <a:pt x="0" y="35"/>
                        <a:pt x="0" y="0"/>
                      </a:cubicBezTo>
                      <a:cubicBezTo>
                        <a:pt x="34" y="0"/>
                        <a:pt x="68" y="0"/>
                        <a:pt x="103" y="0"/>
                      </a:cubicBezTo>
                      <a:cubicBezTo>
                        <a:pt x="103" y="33"/>
                        <a:pt x="103" y="67"/>
                        <a:pt x="103" y="1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" name="椭圆 1"/>
              <p:cNvSpPr/>
              <p:nvPr/>
            </p:nvSpPr>
            <p:spPr>
              <a:xfrm>
                <a:off x="844063" y="1551266"/>
                <a:ext cx="1801188" cy="1801188"/>
              </a:xfrm>
              <a:prstGeom prst="ellipse">
                <a:avLst/>
              </a:prstGeom>
              <a:noFill/>
              <a:ln w="666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9" name="文本框 28"/>
          <p:cNvSpPr txBox="1"/>
          <p:nvPr/>
        </p:nvSpPr>
        <p:spPr>
          <a:xfrm>
            <a:off x="2205775" y="4734443"/>
            <a:ext cx="2294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CONTANTS</a:t>
            </a:r>
            <a:endParaRPr lang="zh-HK" altLang="en-US" sz="1600" b="1" spc="3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09807" y="1454576"/>
            <a:ext cx="4264660" cy="1874509"/>
            <a:chOff x="5633682" y="816896"/>
            <a:chExt cx="4264660" cy="1874509"/>
          </a:xfrm>
        </p:grpSpPr>
        <p:sp>
          <p:nvSpPr>
            <p:cNvPr id="30" name="文本框 29"/>
            <p:cNvSpPr txBox="1"/>
            <p:nvPr/>
          </p:nvSpPr>
          <p:spPr>
            <a:xfrm>
              <a:off x="5633682" y="1727475"/>
              <a:ext cx="4264660" cy="9639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spc="300" dirty="0">
                  <a:solidFill>
                    <a:prstClr val="black"/>
                  </a:solidFill>
                  <a:cs typeface="+mn-ea"/>
                  <a:sym typeface="+mn-lt"/>
                </a:rPr>
                <a:t>02/</a:t>
              </a:r>
              <a:r>
                <a:rPr lang="zh-CN" altLang="en-US" sz="2400" spc="300" dirty="0">
                  <a:cs typeface="+mn-ea"/>
                  <a:sym typeface="+mn-lt"/>
                </a:rPr>
                <a:t>绿韵中国，生态新章</a:t>
              </a:r>
              <a:endParaRPr lang="en-US" altLang="zh-CN" sz="2400" spc="300" dirty="0"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786673" y="816896"/>
              <a:ext cx="3952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spc="300" dirty="0">
                  <a:solidFill>
                    <a:prstClr val="black"/>
                  </a:solidFill>
                  <a:cs typeface="+mn-ea"/>
                  <a:sym typeface="+mn-lt"/>
                </a:rPr>
                <a:t>01/</a:t>
              </a:r>
              <a:r>
                <a:rPr lang="zh-CN" altLang="en-US" sz="2400" spc="300" dirty="0">
                  <a:solidFill>
                    <a:srgbClr val="FF0000"/>
                  </a:solidFill>
                  <a:cs typeface="+mn-ea"/>
                  <a:sym typeface="+mn-lt"/>
                </a:rPr>
                <a:t>历史背景，政策提出 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167547" y="3329085"/>
            <a:ext cx="414337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en-US" altLang="zh-CN" sz="2400" spc="300" dirty="0">
                <a:solidFill>
                  <a:prstClr val="black"/>
                </a:solidFill>
                <a:cs typeface="+mn-ea"/>
                <a:sym typeface="+mn-lt"/>
              </a:rPr>
              <a:t>03/</a:t>
            </a:r>
            <a:r>
              <a:rPr lang="zh-CN" altLang="en-US" sz="2400" spc="300" dirty="0">
                <a:cs typeface="+mn-ea"/>
                <a:sym typeface="+mn-lt"/>
              </a:rPr>
              <a:t>共建全球，影响深远</a:t>
            </a:r>
            <a:endParaRPr lang="en-US" altLang="zh-CN" sz="2400" spc="300" dirty="0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67546" y="4293015"/>
            <a:ext cx="414337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en-US" altLang="zh-CN" sz="2400" spc="300" dirty="0">
                <a:solidFill>
                  <a:prstClr val="black"/>
                </a:solidFill>
                <a:cs typeface="+mn-ea"/>
                <a:sym typeface="+mn-lt"/>
              </a:rPr>
              <a:t>04/</a:t>
            </a:r>
            <a:r>
              <a:rPr lang="zh-CN" altLang="en-US" sz="2400" spc="300" dirty="0">
                <a:solidFill>
                  <a:prstClr val="black"/>
                </a:solidFill>
                <a:cs typeface="+mn-ea"/>
                <a:sym typeface="+mn-lt"/>
              </a:rPr>
              <a:t>生态新论，时代新程</a:t>
            </a:r>
            <a:endParaRPr lang="en-US" altLang="zh-CN" sz="2400" spc="300" dirty="0">
              <a:solidFill>
                <a:prstClr val="black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6" grpId="0"/>
      <p:bldP spid="1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-635" y="-14605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897949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426460" y="100965"/>
            <a:ext cx="1193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粗放发展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7519826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/>
          <p:cNvGrpSpPr/>
          <p:nvPr/>
        </p:nvGrpSpPr>
        <p:grpSpPr>
          <a:xfrm>
            <a:off x="5380994" y="60960"/>
            <a:ext cx="1836420" cy="629920"/>
            <a:chOff x="-20135" y="-3151"/>
            <a:chExt cx="1764892" cy="629495"/>
          </a:xfrm>
        </p:grpSpPr>
        <p:sp>
          <p:nvSpPr>
            <p:cNvPr id="51" name="矩形 50"/>
            <p:cNvSpPr/>
            <p:nvPr/>
          </p:nvSpPr>
          <p:spPr>
            <a:xfrm>
              <a:off x="0" y="-3151"/>
              <a:ext cx="1511494" cy="557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-20135" y="105995"/>
              <a:ext cx="1764892" cy="5203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spc="300" dirty="0">
                  <a:solidFill>
                    <a:prstClr val="black"/>
                  </a:solidFill>
                  <a:cs typeface="+mn-ea"/>
                  <a:sym typeface="+mn-lt"/>
                </a:rPr>
                <a:t>国内发展形势</a:t>
              </a:r>
            </a:p>
          </p:txBody>
        </p:sp>
      </p:grpSp>
      <p:sp>
        <p:nvSpPr>
          <p:cNvPr id="53" name="等腰三角形 52"/>
          <p:cNvSpPr/>
          <p:nvPr/>
        </p:nvSpPr>
        <p:spPr>
          <a:xfrm flipH="1" flipV="1">
            <a:off x="6974840" y="52768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397521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876540" y="100965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生态告急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3107884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59080" y="193484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  <a:buClrTx/>
              <a:buSzTx/>
              <a:buFontTx/>
            </a:pPr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粗放</a:t>
            </a: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发展——</a:t>
            </a:r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生态</a:t>
            </a: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告急</a:t>
            </a:r>
          </a:p>
        </p:txBody>
      </p:sp>
      <p:grpSp>
        <p:nvGrpSpPr>
          <p:cNvPr id="27" name="组合 26"/>
          <p:cNvGrpSpPr/>
          <p:nvPr>
            <p:custDataLst>
              <p:tags r:id="rId1"/>
            </p:custDataLst>
          </p:nvPr>
        </p:nvGrpSpPr>
        <p:grpSpPr>
          <a:xfrm>
            <a:off x="113665" y="1659255"/>
            <a:ext cx="5288280" cy="149225"/>
            <a:chOff x="2690" y="5849"/>
            <a:chExt cx="12634" cy="120"/>
          </a:xfrm>
        </p:grpSpPr>
        <p:sp>
          <p:nvSpPr>
            <p:cNvPr id="28" name="Shape 9"/>
            <p:cNvSpPr/>
            <p:nvPr>
              <p:custDataLst>
                <p:tags r:id="rId24"/>
              </p:custDataLst>
            </p:nvPr>
          </p:nvSpPr>
          <p:spPr>
            <a:xfrm>
              <a:off x="2690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B0252A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Shape 10"/>
            <p:cNvSpPr/>
            <p:nvPr>
              <p:custDataLst>
                <p:tags r:id="rId25"/>
              </p:custDataLst>
            </p:nvPr>
          </p:nvSpPr>
          <p:spPr>
            <a:xfrm>
              <a:off x="5732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FFD6D6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Shape 11"/>
            <p:cNvSpPr/>
            <p:nvPr>
              <p:custDataLst>
                <p:tags r:id="rId26"/>
              </p:custDataLst>
            </p:nvPr>
          </p:nvSpPr>
          <p:spPr>
            <a:xfrm>
              <a:off x="8831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B0252A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Shape 12"/>
            <p:cNvSpPr/>
            <p:nvPr>
              <p:custDataLst>
                <p:tags r:id="rId27"/>
              </p:custDataLst>
            </p:nvPr>
          </p:nvSpPr>
          <p:spPr>
            <a:xfrm>
              <a:off x="11888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FFD6D6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387544" y="690880"/>
            <a:ext cx="4510405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266700">
              <a:spcBef>
                <a:spcPts val="500"/>
              </a:spcBef>
              <a:spcAft>
                <a:spcPts val="500"/>
              </a:spcAft>
              <a:buClrTx/>
              <a:buSzTx/>
              <a:buFontTx/>
            </a:pPr>
            <a:r>
              <a:rPr lang="zh-CN" altLang="en-US" sz="5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国内发展形势</a:t>
            </a:r>
          </a:p>
        </p:txBody>
      </p:sp>
      <p:pic>
        <p:nvPicPr>
          <p:cNvPr id="25" name="图片 24"/>
          <p:cNvPicPr/>
          <p:nvPr/>
        </p:nvPicPr>
        <p:blipFill>
          <a:blip r:embed="rId30"/>
          <a:stretch>
            <a:fillRect/>
          </a:stretch>
        </p:blipFill>
        <p:spPr>
          <a:xfrm>
            <a:off x="130801" y="2817495"/>
            <a:ext cx="2316480" cy="1671320"/>
          </a:xfrm>
          <a:prstGeom prst="rect">
            <a:avLst/>
          </a:prstGeom>
        </p:spPr>
      </p:pic>
      <p:pic>
        <p:nvPicPr>
          <p:cNvPr id="26" name="图片 25"/>
          <p:cNvPicPr/>
          <p:nvPr/>
        </p:nvPicPr>
        <p:blipFill>
          <a:blip r:embed="rId31"/>
          <a:srcRect l="18419" r="7821" b="11506"/>
          <a:stretch>
            <a:fillRect/>
          </a:stretch>
        </p:blipFill>
        <p:spPr>
          <a:xfrm>
            <a:off x="8365997" y="5145824"/>
            <a:ext cx="3101468" cy="1679792"/>
          </a:xfrm>
          <a:prstGeom prst="rect">
            <a:avLst/>
          </a:prstGeom>
        </p:spPr>
      </p:pic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1595126" y="2119736"/>
            <a:ext cx="8918171" cy="4759854"/>
            <a:chOff x="2298" y="2780"/>
            <a:chExt cx="14044" cy="7496"/>
          </a:xfrm>
        </p:grpSpPr>
        <p:grpSp>
          <p:nvGrpSpPr>
            <p:cNvPr id="5" name="组合 4"/>
            <p:cNvGrpSpPr/>
            <p:nvPr>
              <p:custDataLst>
                <p:tags r:id="rId3"/>
              </p:custDataLst>
            </p:nvPr>
          </p:nvGrpSpPr>
          <p:grpSpPr>
            <a:xfrm>
              <a:off x="2298" y="6258"/>
              <a:ext cx="3514" cy="1451"/>
              <a:chOff x="2804" y="7140"/>
              <a:chExt cx="3585" cy="1450"/>
            </a:xfrm>
          </p:grpSpPr>
          <p:sp>
            <p:nvSpPr>
              <p:cNvPr id="80" name="TextBox 36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2804" y="7865"/>
                <a:ext cx="3585" cy="7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 defTabSz="457200"/>
                <a:r>
                  <a:rPr lang="zh-CN" altLang="en-US" sz="2400" b="1" spc="50" dirty="0">
                    <a:cs typeface="+mn-ea"/>
                    <a:sym typeface="+mn-lt"/>
                  </a:rPr>
                  <a:t>粗放发展模式</a:t>
                </a:r>
              </a:p>
            </p:txBody>
          </p:sp>
          <p:sp>
            <p:nvSpPr>
              <p:cNvPr id="82" name="TextBox 35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3306" y="7140"/>
                <a:ext cx="2580" cy="725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 defTabSz="457200"/>
                <a:r>
                  <a:rPr lang="en-US" sz="2400" b="1" spc="50" dirty="0">
                    <a:solidFill>
                      <a:srgbClr val="C00000"/>
                    </a:solidFill>
                    <a:cs typeface="+mn-ea"/>
                    <a:sym typeface="+mn-lt"/>
                  </a:rPr>
                  <a:t>01</a:t>
                </a:r>
              </a:p>
            </p:txBody>
          </p:sp>
        </p:grpSp>
        <p:grpSp>
          <p:nvGrpSpPr>
            <p:cNvPr id="112" name="组合 111"/>
            <p:cNvGrpSpPr/>
            <p:nvPr>
              <p:custDataLst>
                <p:tags r:id="rId4"/>
              </p:custDataLst>
            </p:nvPr>
          </p:nvGrpSpPr>
          <p:grpSpPr>
            <a:xfrm>
              <a:off x="6384" y="4335"/>
              <a:ext cx="6304" cy="5941"/>
              <a:chOff x="3942188" y="2785286"/>
              <a:chExt cx="4130315" cy="4103916"/>
            </a:xfrm>
            <a:solidFill>
              <a:srgbClr val="C00000"/>
            </a:solidFill>
          </p:grpSpPr>
          <p:sp>
            <p:nvSpPr>
              <p:cNvPr id="113" name="圆角右箭头 41"/>
              <p:cNvSpPr/>
              <p:nvPr>
                <p:custDataLst>
                  <p:tags r:id="rId17"/>
                </p:custDataLst>
              </p:nvPr>
            </p:nvSpPr>
            <p:spPr>
              <a:xfrm>
                <a:off x="6296939" y="3290454"/>
                <a:ext cx="1367389" cy="3598747"/>
              </a:xfrm>
              <a:prstGeom prst="bentArrow">
                <a:avLst>
                  <a:gd name="adj1" fmla="val 25000"/>
                  <a:gd name="adj2" fmla="val 25000"/>
                  <a:gd name="adj3" fmla="val 25000"/>
                  <a:gd name="adj4" fmla="val 75000"/>
                </a:avLst>
              </a:prstGeom>
              <a:grpFill/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200000"/>
                  </a:lnSpc>
                  <a:spcBef>
                    <a:spcPct val="20000"/>
                  </a:spcBef>
                </a:pPr>
                <a:endParaRPr lang="zh-CN" altLang="en-US" sz="20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4" name="圆角右箭头 52"/>
              <p:cNvSpPr/>
              <p:nvPr>
                <p:custDataLst>
                  <p:tags r:id="rId18"/>
                </p:custDataLst>
              </p:nvPr>
            </p:nvSpPr>
            <p:spPr>
              <a:xfrm flipH="1">
                <a:off x="4353764" y="3290454"/>
                <a:ext cx="1367389" cy="3598747"/>
              </a:xfrm>
              <a:prstGeom prst="bentArrow">
                <a:avLst>
                  <a:gd name="adj1" fmla="val 25000"/>
                  <a:gd name="adj2" fmla="val 25000"/>
                  <a:gd name="adj3" fmla="val 25000"/>
                  <a:gd name="adj4" fmla="val 75000"/>
                </a:avLst>
              </a:prstGeom>
              <a:grpFill/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200000"/>
                  </a:lnSpc>
                  <a:spcBef>
                    <a:spcPct val="20000"/>
                  </a:spcBef>
                </a:pPr>
                <a:endParaRPr lang="zh-CN" altLang="en-US" sz="20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5" name="圆角右箭头 61"/>
              <p:cNvSpPr/>
              <p:nvPr>
                <p:custDataLst>
                  <p:tags r:id="rId19"/>
                </p:custDataLst>
              </p:nvPr>
            </p:nvSpPr>
            <p:spPr>
              <a:xfrm>
                <a:off x="6711918" y="4365318"/>
                <a:ext cx="1360585" cy="2523884"/>
              </a:xfrm>
              <a:prstGeom prst="bentArrow">
                <a:avLst>
                  <a:gd name="adj1" fmla="val 25000"/>
                  <a:gd name="adj2" fmla="val 25000"/>
                  <a:gd name="adj3" fmla="val 25000"/>
                  <a:gd name="adj4" fmla="val 75000"/>
                </a:avLst>
              </a:prstGeom>
              <a:grpFill/>
              <a:ln>
                <a:noFill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200000"/>
                  </a:lnSpc>
                  <a:spcBef>
                    <a:spcPct val="20000"/>
                  </a:spcBef>
                </a:pPr>
                <a:endParaRPr lang="zh-CN" altLang="en-US" sz="20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6" name="圆角右箭头 83"/>
              <p:cNvSpPr/>
              <p:nvPr>
                <p:custDataLst>
                  <p:tags r:id="rId20"/>
                </p:custDataLst>
              </p:nvPr>
            </p:nvSpPr>
            <p:spPr>
              <a:xfrm flipH="1">
                <a:off x="3942188" y="4365318"/>
                <a:ext cx="1360585" cy="2523884"/>
              </a:xfrm>
              <a:prstGeom prst="bentArrow">
                <a:avLst>
                  <a:gd name="adj1" fmla="val 25000"/>
                  <a:gd name="adj2" fmla="val 25000"/>
                  <a:gd name="adj3" fmla="val 25000"/>
                  <a:gd name="adj4" fmla="val 75000"/>
                </a:avLst>
              </a:prstGeom>
              <a:grp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200000"/>
                  </a:lnSpc>
                  <a:spcBef>
                    <a:spcPct val="20000"/>
                  </a:spcBef>
                </a:pPr>
                <a:endParaRPr lang="zh-CN" altLang="en-US" sz="20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17" name="上箭头 45"/>
              <p:cNvSpPr/>
              <p:nvPr>
                <p:custDataLst>
                  <p:tags r:id="rId21"/>
                </p:custDataLst>
              </p:nvPr>
            </p:nvSpPr>
            <p:spPr>
              <a:xfrm>
                <a:off x="5677875" y="2785286"/>
                <a:ext cx="693899" cy="4103915"/>
              </a:xfrm>
              <a:prstGeom prst="upArrow">
                <a:avLst/>
              </a:prstGeom>
              <a:grpFill/>
              <a:ln>
                <a:noFill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vert="horz" wrap="square" lIns="91440" tIns="45720" rIns="91440" bIns="45720" numCol="1" anchor="t" anchorCtr="0" compatLnSpc="1"/>
              <a:lstStyle/>
              <a:p>
                <a:pPr algn="ctr">
                  <a:lnSpc>
                    <a:spcPct val="200000"/>
                  </a:lnSpc>
                  <a:spcBef>
                    <a:spcPct val="20000"/>
                  </a:spcBef>
                </a:pPr>
                <a:endParaRPr lang="zh-CN" altLang="en-US" sz="2000" dirty="0">
                  <a:solidFill>
                    <a:schemeClr val="tx2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14" name="组合 13"/>
            <p:cNvGrpSpPr/>
            <p:nvPr>
              <p:custDataLst>
                <p:tags r:id="rId5"/>
              </p:custDataLst>
            </p:nvPr>
          </p:nvGrpSpPr>
          <p:grpSpPr>
            <a:xfrm>
              <a:off x="3437" y="4335"/>
              <a:ext cx="3514" cy="1451"/>
              <a:chOff x="2853" y="7140"/>
              <a:chExt cx="3585" cy="1450"/>
            </a:xfrm>
          </p:grpSpPr>
          <p:sp>
            <p:nvSpPr>
              <p:cNvPr id="6" name="TextBox 36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2853" y="7865"/>
                <a:ext cx="3585" cy="7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 defTabSz="457200"/>
                <a:r>
                  <a:rPr lang="zh-CN" altLang="en-US" sz="2400" b="1" spc="50" dirty="0">
                    <a:cs typeface="+mn-ea"/>
                    <a:sym typeface="+mn-lt"/>
                  </a:rPr>
                  <a:t>资源消耗攀升</a:t>
                </a:r>
              </a:p>
            </p:txBody>
          </p:sp>
          <p:sp>
            <p:nvSpPr>
              <p:cNvPr id="16" name="TextBox 35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3260" y="7140"/>
                <a:ext cx="2580" cy="725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 defTabSz="457200"/>
                <a:r>
                  <a:rPr lang="en-US" sz="2400" b="1" spc="50" dirty="0">
                    <a:solidFill>
                      <a:srgbClr val="C00000"/>
                    </a:solidFill>
                    <a:cs typeface="+mn-ea"/>
                    <a:sym typeface="+mn-lt"/>
                  </a:rPr>
                  <a:t>02</a:t>
                </a:r>
              </a:p>
            </p:txBody>
          </p:sp>
        </p:grpSp>
        <p:grpSp>
          <p:nvGrpSpPr>
            <p:cNvPr id="17" name="组合 16"/>
            <p:cNvGrpSpPr/>
            <p:nvPr>
              <p:custDataLst>
                <p:tags r:id="rId6"/>
              </p:custDataLst>
            </p:nvPr>
          </p:nvGrpSpPr>
          <p:grpSpPr>
            <a:xfrm>
              <a:off x="7771" y="2780"/>
              <a:ext cx="3514" cy="1382"/>
              <a:chOff x="2653" y="7382"/>
              <a:chExt cx="3585" cy="1381"/>
            </a:xfrm>
          </p:grpSpPr>
          <p:sp>
            <p:nvSpPr>
              <p:cNvPr id="18" name="TextBox 36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2653" y="8038"/>
                <a:ext cx="3585" cy="7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 defTabSz="457200"/>
                <a:r>
                  <a:rPr lang="zh-CN" altLang="en-US" sz="2400" b="1" spc="50" dirty="0">
                    <a:cs typeface="+mn-ea"/>
                    <a:sym typeface="+mn-lt"/>
                  </a:rPr>
                  <a:t>环境污染问题</a:t>
                </a:r>
              </a:p>
            </p:txBody>
          </p:sp>
          <p:sp>
            <p:nvSpPr>
              <p:cNvPr id="19" name="TextBox 35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3185" y="7382"/>
                <a:ext cx="2580" cy="725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 defTabSz="457200"/>
                <a:r>
                  <a:rPr lang="en-US" sz="2400" b="1" spc="50" dirty="0">
                    <a:solidFill>
                      <a:srgbClr val="C00000"/>
                    </a:solidFill>
                    <a:cs typeface="+mn-ea"/>
                    <a:sym typeface="+mn-lt"/>
                  </a:rPr>
                  <a:t>03</a:t>
                </a:r>
              </a:p>
            </p:txBody>
          </p:sp>
        </p:grpSp>
        <p:grpSp>
          <p:nvGrpSpPr>
            <p:cNvPr id="7" name="组合 6"/>
            <p:cNvGrpSpPr/>
            <p:nvPr>
              <p:custDataLst>
                <p:tags r:id="rId7"/>
              </p:custDataLst>
            </p:nvPr>
          </p:nvGrpSpPr>
          <p:grpSpPr>
            <a:xfrm>
              <a:off x="11628" y="4371"/>
              <a:ext cx="4361" cy="1327"/>
              <a:chOff x="2701" y="6966"/>
              <a:chExt cx="4449" cy="1326"/>
            </a:xfrm>
          </p:grpSpPr>
          <p:sp>
            <p:nvSpPr>
              <p:cNvPr id="8" name="TextBox 36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2701" y="7567"/>
                <a:ext cx="4449" cy="7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 defTabSz="457200"/>
                <a:r>
                  <a:rPr lang="zh-CN" altLang="en-US" sz="2400" b="1" spc="50" dirty="0">
                    <a:cs typeface="+mn-ea"/>
                    <a:sym typeface="+mn-lt"/>
                  </a:rPr>
                  <a:t>土地退化凸显</a:t>
                </a:r>
              </a:p>
            </p:txBody>
          </p:sp>
          <p:sp>
            <p:nvSpPr>
              <p:cNvPr id="22" name="TextBox 35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3146" y="6966"/>
                <a:ext cx="2580" cy="725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 defTabSz="457200"/>
                <a:r>
                  <a:rPr lang="en-US" sz="2400" b="1" spc="50" dirty="0">
                    <a:solidFill>
                      <a:srgbClr val="C00000"/>
                    </a:solidFill>
                    <a:cs typeface="+mn-ea"/>
                    <a:sym typeface="+mn-lt"/>
                  </a:rPr>
                  <a:t>04</a:t>
                </a:r>
              </a:p>
            </p:txBody>
          </p:sp>
        </p:grpSp>
        <p:grpSp>
          <p:nvGrpSpPr>
            <p:cNvPr id="23" name="组合 22"/>
            <p:cNvGrpSpPr/>
            <p:nvPr>
              <p:custDataLst>
                <p:tags r:id="rId8"/>
              </p:custDataLst>
            </p:nvPr>
          </p:nvGrpSpPr>
          <p:grpSpPr>
            <a:xfrm>
              <a:off x="12828" y="6259"/>
              <a:ext cx="3514" cy="1215"/>
              <a:chOff x="2415" y="6887"/>
              <a:chExt cx="3585" cy="1214"/>
            </a:xfrm>
          </p:grpSpPr>
          <p:sp>
            <p:nvSpPr>
              <p:cNvPr id="24" name="TextBox 36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2415" y="7376"/>
                <a:ext cx="3585" cy="72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algn="ctr" defTabSz="457200"/>
                <a:r>
                  <a:rPr lang="zh-CN" altLang="en-US" sz="2400" b="1" spc="50" dirty="0">
                    <a:cs typeface="+mn-ea"/>
                    <a:sym typeface="+mn-lt"/>
                  </a:rPr>
                  <a:t>生态倒逼理念</a:t>
                </a:r>
              </a:p>
            </p:txBody>
          </p:sp>
          <p:sp>
            <p:nvSpPr>
              <p:cNvPr id="9" name="TextBox 3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2801" y="6887"/>
                <a:ext cx="2580" cy="725"/>
              </a:xfrm>
              <a:prstGeom prst="rect">
                <a:avLst/>
              </a:prstGeom>
              <a:noFill/>
            </p:spPr>
            <p:txBody>
              <a:bodyPr wrap="square" rtlCol="0" anchor="b">
                <a:spAutoFit/>
              </a:bodyPr>
              <a:lstStyle/>
              <a:p>
                <a:pPr algn="ctr" defTabSz="457200"/>
                <a:r>
                  <a:rPr lang="en-US" sz="2400" b="1" spc="50" dirty="0">
                    <a:solidFill>
                      <a:srgbClr val="C00000"/>
                    </a:solidFill>
                    <a:cs typeface="+mn-ea"/>
                    <a:sym typeface="+mn-lt"/>
                  </a:rPr>
                  <a:t>05</a:t>
                </a:r>
              </a:p>
            </p:txBody>
          </p:sp>
        </p:grpSp>
      </p:grpSp>
      <p:pic>
        <p:nvPicPr>
          <p:cNvPr id="11" name="图片 10"/>
          <p:cNvPicPr/>
          <p:nvPr/>
        </p:nvPicPr>
        <p:blipFill>
          <a:blip r:embed="rId32"/>
          <a:stretch>
            <a:fillRect/>
          </a:stretch>
        </p:blipFill>
        <p:spPr>
          <a:xfrm>
            <a:off x="-635" y="5305425"/>
            <a:ext cx="3464560" cy="1508125"/>
          </a:xfrm>
          <a:prstGeom prst="rect">
            <a:avLst/>
          </a:prstGeom>
        </p:spPr>
      </p:pic>
      <p:pic>
        <p:nvPicPr>
          <p:cNvPr id="32" name="图片 31"/>
          <p:cNvPicPr/>
          <p:nvPr/>
        </p:nvPicPr>
        <p:blipFill>
          <a:blip r:embed="rId33"/>
          <a:stretch>
            <a:fillRect/>
          </a:stretch>
        </p:blipFill>
        <p:spPr>
          <a:xfrm>
            <a:off x="8607789" y="769950"/>
            <a:ext cx="2889920" cy="2462251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-635" y="-14605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897949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426460" y="100965"/>
            <a:ext cx="1193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全球变暖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7519826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/>
          <p:cNvGrpSpPr/>
          <p:nvPr/>
        </p:nvGrpSpPr>
        <p:grpSpPr>
          <a:xfrm>
            <a:off x="5380994" y="60960"/>
            <a:ext cx="1836420" cy="629920"/>
            <a:chOff x="-20135" y="-3151"/>
            <a:chExt cx="1764892" cy="629495"/>
          </a:xfrm>
        </p:grpSpPr>
        <p:sp>
          <p:nvSpPr>
            <p:cNvPr id="51" name="矩形 50"/>
            <p:cNvSpPr/>
            <p:nvPr/>
          </p:nvSpPr>
          <p:spPr>
            <a:xfrm>
              <a:off x="0" y="-3151"/>
              <a:ext cx="1511494" cy="557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-20135" y="105995"/>
              <a:ext cx="1764892" cy="5203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spc="300" dirty="0">
                  <a:solidFill>
                    <a:prstClr val="black"/>
                  </a:solidFill>
                  <a:cs typeface="+mn-ea"/>
                  <a:sym typeface="+mn-lt"/>
                </a:rPr>
                <a:t>国外发展形势</a:t>
              </a:r>
            </a:p>
          </p:txBody>
        </p:sp>
      </p:grpSp>
      <p:sp>
        <p:nvSpPr>
          <p:cNvPr id="53" name="等腰三角形 52"/>
          <p:cNvSpPr/>
          <p:nvPr/>
        </p:nvSpPr>
        <p:spPr>
          <a:xfrm flipH="1" flipV="1">
            <a:off x="6974840" y="52768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397521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876540" y="100965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共担重任</a:t>
            </a:r>
          </a:p>
        </p:txBody>
      </p:sp>
      <p:cxnSp>
        <p:nvCxnSpPr>
          <p:cNvPr id="2" name="直接连接符 1"/>
          <p:cNvCxnSpPr/>
          <p:nvPr/>
        </p:nvCxnSpPr>
        <p:spPr>
          <a:xfrm>
            <a:off x="3107884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31850" y="1934845"/>
            <a:ext cx="6096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 defTabSz="266700">
              <a:spcBef>
                <a:spcPts val="500"/>
              </a:spcBef>
              <a:spcAft>
                <a:spcPts val="500"/>
              </a:spcAft>
              <a:buClrTx/>
              <a:buSzTx/>
              <a:buFontTx/>
            </a:pPr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全球</a:t>
            </a: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变暖——</a:t>
            </a:r>
            <a:r>
              <a:rPr lang="zh-CN" altLang="en-US" sz="40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共担</a:t>
            </a:r>
            <a:r>
              <a:rPr lang="zh-CN" altLang="en-US" sz="28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重任</a:t>
            </a:r>
          </a:p>
        </p:txBody>
      </p:sp>
      <p:grpSp>
        <p:nvGrpSpPr>
          <p:cNvPr id="27" name="组合 26"/>
          <p:cNvGrpSpPr/>
          <p:nvPr>
            <p:custDataLst>
              <p:tags r:id="rId1"/>
            </p:custDataLst>
          </p:nvPr>
        </p:nvGrpSpPr>
        <p:grpSpPr>
          <a:xfrm>
            <a:off x="113665" y="1659255"/>
            <a:ext cx="6369685" cy="149225"/>
            <a:chOff x="2690" y="5849"/>
            <a:chExt cx="12634" cy="120"/>
          </a:xfrm>
        </p:grpSpPr>
        <p:sp>
          <p:nvSpPr>
            <p:cNvPr id="28" name="Shape 9"/>
            <p:cNvSpPr/>
            <p:nvPr>
              <p:custDataLst>
                <p:tags r:id="rId28"/>
              </p:custDataLst>
            </p:nvPr>
          </p:nvSpPr>
          <p:spPr>
            <a:xfrm>
              <a:off x="2690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B0252A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Shape 10"/>
            <p:cNvSpPr/>
            <p:nvPr>
              <p:custDataLst>
                <p:tags r:id="rId29"/>
              </p:custDataLst>
            </p:nvPr>
          </p:nvSpPr>
          <p:spPr>
            <a:xfrm>
              <a:off x="5732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FFD6D6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Shape 11"/>
            <p:cNvSpPr/>
            <p:nvPr>
              <p:custDataLst>
                <p:tags r:id="rId30"/>
              </p:custDataLst>
            </p:nvPr>
          </p:nvSpPr>
          <p:spPr>
            <a:xfrm>
              <a:off x="8831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B0252A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Shape 12"/>
            <p:cNvSpPr/>
            <p:nvPr>
              <p:custDataLst>
                <p:tags r:id="rId31"/>
              </p:custDataLst>
            </p:nvPr>
          </p:nvSpPr>
          <p:spPr>
            <a:xfrm>
              <a:off x="11888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FFD6D6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782320" y="826135"/>
            <a:ext cx="4510405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266700">
              <a:spcBef>
                <a:spcPts val="500"/>
              </a:spcBef>
              <a:spcAft>
                <a:spcPts val="500"/>
              </a:spcAft>
              <a:buClrTx/>
              <a:buSzTx/>
              <a:buFontTx/>
            </a:pPr>
            <a:r>
              <a:rPr lang="zh-CN" altLang="en-US" sz="5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国外发展形势</a:t>
            </a:r>
          </a:p>
        </p:txBody>
      </p:sp>
      <p:pic>
        <p:nvPicPr>
          <p:cNvPr id="6" name="图片 5"/>
          <p:cNvPicPr/>
          <p:nvPr/>
        </p:nvPicPr>
        <p:blipFill>
          <a:blip r:embed="rId34"/>
          <a:stretch>
            <a:fillRect/>
          </a:stretch>
        </p:blipFill>
        <p:spPr>
          <a:xfrm>
            <a:off x="9064625" y="3492500"/>
            <a:ext cx="2994660" cy="304736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5"/>
          <a:stretch>
            <a:fillRect/>
          </a:stretch>
        </p:blipFill>
        <p:spPr>
          <a:xfrm>
            <a:off x="7082155" y="581660"/>
            <a:ext cx="4550410" cy="2124075"/>
          </a:xfrm>
          <a:prstGeom prst="rect">
            <a:avLst/>
          </a:prstGeom>
        </p:spPr>
      </p:pic>
      <p:grpSp>
        <p:nvGrpSpPr>
          <p:cNvPr id="8" name="组合 7"/>
          <p:cNvGrpSpPr/>
          <p:nvPr>
            <p:custDataLst>
              <p:tags r:id="rId2"/>
            </p:custDataLst>
          </p:nvPr>
        </p:nvGrpSpPr>
        <p:grpSpPr>
          <a:xfrm>
            <a:off x="97469" y="2245995"/>
            <a:ext cx="8911590" cy="4954905"/>
            <a:chOff x="2479" y="1990"/>
            <a:chExt cx="14034" cy="7803"/>
          </a:xfrm>
        </p:grpSpPr>
        <p:sp>
          <p:nvSpPr>
            <p:cNvPr id="70" name="任意多边形 26"/>
            <p:cNvSpPr/>
            <p:nvPr>
              <p:custDataLst>
                <p:tags r:id="rId3"/>
              </p:custDataLst>
            </p:nvPr>
          </p:nvSpPr>
          <p:spPr>
            <a:xfrm rot="18900000">
              <a:off x="4033" y="1990"/>
              <a:ext cx="11169" cy="7803"/>
            </a:xfrm>
            <a:custGeom>
              <a:avLst/>
              <a:gdLst>
                <a:gd name="connsiteX0" fmla="*/ 7587321 w 7691321"/>
                <a:gd name="connsiteY0" fmla="*/ 4766931 h 5373084"/>
                <a:gd name="connsiteX1" fmla="*/ 7691321 w 7691321"/>
                <a:gd name="connsiteY1" fmla="*/ 5018008 h 5373084"/>
                <a:gd name="connsiteX2" fmla="*/ 7691320 w 7691321"/>
                <a:gd name="connsiteY2" fmla="*/ 5018008 h 5373084"/>
                <a:gd name="connsiteX3" fmla="*/ 7336244 w 7691321"/>
                <a:gd name="connsiteY3" fmla="*/ 5373084 h 5373084"/>
                <a:gd name="connsiteX4" fmla="*/ 5018008 w 7691321"/>
                <a:gd name="connsiteY4" fmla="*/ 5373083 h 5373084"/>
                <a:gd name="connsiteX5" fmla="*/ 4766931 w 7691321"/>
                <a:gd name="connsiteY5" fmla="*/ 5269083 h 5373084"/>
                <a:gd name="connsiteX6" fmla="*/ 4762547 w 7691321"/>
                <a:gd name="connsiteY6" fmla="*/ 5263771 h 5373084"/>
                <a:gd name="connsiteX7" fmla="*/ 4757230 w 7691321"/>
                <a:gd name="connsiteY7" fmla="*/ 5259383 h 5373084"/>
                <a:gd name="connsiteX8" fmla="*/ 4653231 w 7691321"/>
                <a:gd name="connsiteY8" fmla="*/ 5008306 h 5373084"/>
                <a:gd name="connsiteX9" fmla="*/ 4653232 w 7691321"/>
                <a:gd name="connsiteY9" fmla="*/ 3041618 h 5373084"/>
                <a:gd name="connsiteX10" fmla="*/ 2686542 w 7691321"/>
                <a:gd name="connsiteY10" fmla="*/ 3041617 h 5373084"/>
                <a:gd name="connsiteX11" fmla="*/ 2435466 w 7691321"/>
                <a:gd name="connsiteY11" fmla="*/ 2937618 h 5373084"/>
                <a:gd name="connsiteX12" fmla="*/ 2431081 w 7691321"/>
                <a:gd name="connsiteY12" fmla="*/ 2932304 h 5373084"/>
                <a:gd name="connsiteX13" fmla="*/ 2425764 w 7691321"/>
                <a:gd name="connsiteY13" fmla="*/ 2927917 h 5373084"/>
                <a:gd name="connsiteX14" fmla="*/ 2321765 w 7691321"/>
                <a:gd name="connsiteY14" fmla="*/ 2676840 h 5373084"/>
                <a:gd name="connsiteX15" fmla="*/ 2321766 w 7691321"/>
                <a:gd name="connsiteY15" fmla="*/ 710152 h 5373084"/>
                <a:gd name="connsiteX16" fmla="*/ 355076 w 7691321"/>
                <a:gd name="connsiteY16" fmla="*/ 710151 h 5373084"/>
                <a:gd name="connsiteX17" fmla="*/ 0 w 7691321"/>
                <a:gd name="connsiteY17" fmla="*/ 355075 h 5373084"/>
                <a:gd name="connsiteX18" fmla="*/ 0 w 7691321"/>
                <a:gd name="connsiteY18" fmla="*/ 355076 h 5373084"/>
                <a:gd name="connsiteX19" fmla="*/ 355076 w 7691321"/>
                <a:gd name="connsiteY19" fmla="*/ 0 h 5373084"/>
                <a:gd name="connsiteX20" fmla="*/ 2673313 w 7691321"/>
                <a:gd name="connsiteY20" fmla="*/ 0 h 5373084"/>
                <a:gd name="connsiteX21" fmla="*/ 2924390 w 7691321"/>
                <a:gd name="connsiteY21" fmla="*/ 103999 h 5373084"/>
                <a:gd name="connsiteX22" fmla="*/ 2925987 w 7691321"/>
                <a:gd name="connsiteY22" fmla="*/ 105936 h 5373084"/>
                <a:gd name="connsiteX23" fmla="*/ 2927917 w 7691321"/>
                <a:gd name="connsiteY23" fmla="*/ 107528 h 5373084"/>
                <a:gd name="connsiteX24" fmla="*/ 3031917 w 7691321"/>
                <a:gd name="connsiteY24" fmla="*/ 358605 h 5373084"/>
                <a:gd name="connsiteX25" fmla="*/ 3031916 w 7691321"/>
                <a:gd name="connsiteY25" fmla="*/ 2331466 h 5373084"/>
                <a:gd name="connsiteX26" fmla="*/ 5004779 w 7691321"/>
                <a:gd name="connsiteY26" fmla="*/ 2331466 h 5373084"/>
                <a:gd name="connsiteX27" fmla="*/ 5255856 w 7691321"/>
                <a:gd name="connsiteY27" fmla="*/ 2435466 h 5373084"/>
                <a:gd name="connsiteX28" fmla="*/ 5257453 w 7691321"/>
                <a:gd name="connsiteY28" fmla="*/ 2437402 h 5373084"/>
                <a:gd name="connsiteX29" fmla="*/ 5259383 w 7691321"/>
                <a:gd name="connsiteY29" fmla="*/ 2438994 h 5373084"/>
                <a:gd name="connsiteX30" fmla="*/ 5363383 w 7691321"/>
                <a:gd name="connsiteY30" fmla="*/ 2690071 h 5373084"/>
                <a:gd name="connsiteX31" fmla="*/ 5363383 w 7691321"/>
                <a:gd name="connsiteY31" fmla="*/ 4662932 h 5373084"/>
                <a:gd name="connsiteX32" fmla="*/ 7336245 w 7691321"/>
                <a:gd name="connsiteY32" fmla="*/ 4662932 h 5373084"/>
                <a:gd name="connsiteX33" fmla="*/ 7587321 w 7691321"/>
                <a:gd name="connsiteY33" fmla="*/ 4766931 h 5373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7691321" h="5373084">
                  <a:moveTo>
                    <a:pt x="7587321" y="4766931"/>
                  </a:moveTo>
                  <a:cubicBezTo>
                    <a:pt x="7651577" y="4831187"/>
                    <a:pt x="7691321" y="4919956"/>
                    <a:pt x="7691321" y="5018008"/>
                  </a:cubicBezTo>
                  <a:lnTo>
                    <a:pt x="7691320" y="5018008"/>
                  </a:lnTo>
                  <a:cubicBezTo>
                    <a:pt x="7691320" y="5214111"/>
                    <a:pt x="7532347" y="5373084"/>
                    <a:pt x="7336244" y="5373084"/>
                  </a:cubicBezTo>
                  <a:lnTo>
                    <a:pt x="5018008" y="5373083"/>
                  </a:lnTo>
                  <a:cubicBezTo>
                    <a:pt x="4919956" y="5373083"/>
                    <a:pt x="4831187" y="5333339"/>
                    <a:pt x="4766931" y="5269083"/>
                  </a:cubicBezTo>
                  <a:lnTo>
                    <a:pt x="4762547" y="5263771"/>
                  </a:lnTo>
                  <a:lnTo>
                    <a:pt x="4757230" y="5259383"/>
                  </a:lnTo>
                  <a:cubicBezTo>
                    <a:pt x="4692974" y="5195127"/>
                    <a:pt x="4653231" y="5106358"/>
                    <a:pt x="4653231" y="5008306"/>
                  </a:cubicBezTo>
                  <a:lnTo>
                    <a:pt x="4653232" y="3041618"/>
                  </a:lnTo>
                  <a:lnTo>
                    <a:pt x="2686542" y="3041617"/>
                  </a:lnTo>
                  <a:cubicBezTo>
                    <a:pt x="2588491" y="3041618"/>
                    <a:pt x="2499722" y="3001874"/>
                    <a:pt x="2435466" y="2937618"/>
                  </a:cubicBezTo>
                  <a:lnTo>
                    <a:pt x="2431081" y="2932304"/>
                  </a:lnTo>
                  <a:lnTo>
                    <a:pt x="2425764" y="2927917"/>
                  </a:lnTo>
                  <a:cubicBezTo>
                    <a:pt x="2361508" y="2863661"/>
                    <a:pt x="2321765" y="2774892"/>
                    <a:pt x="2321765" y="2676840"/>
                  </a:cubicBezTo>
                  <a:lnTo>
                    <a:pt x="2321766" y="710152"/>
                  </a:lnTo>
                  <a:lnTo>
                    <a:pt x="355076" y="710151"/>
                  </a:lnTo>
                  <a:cubicBezTo>
                    <a:pt x="158973" y="710151"/>
                    <a:pt x="0" y="551178"/>
                    <a:pt x="0" y="355075"/>
                  </a:cubicBezTo>
                  <a:lnTo>
                    <a:pt x="0" y="355076"/>
                  </a:lnTo>
                  <a:cubicBezTo>
                    <a:pt x="0" y="158973"/>
                    <a:pt x="158973" y="0"/>
                    <a:pt x="355076" y="0"/>
                  </a:cubicBezTo>
                  <a:lnTo>
                    <a:pt x="2673313" y="0"/>
                  </a:lnTo>
                  <a:cubicBezTo>
                    <a:pt x="2771365" y="0"/>
                    <a:pt x="2860134" y="39743"/>
                    <a:pt x="2924390" y="103999"/>
                  </a:cubicBezTo>
                  <a:lnTo>
                    <a:pt x="2925987" y="105936"/>
                  </a:lnTo>
                  <a:lnTo>
                    <a:pt x="2927917" y="107528"/>
                  </a:lnTo>
                  <a:cubicBezTo>
                    <a:pt x="2992173" y="171784"/>
                    <a:pt x="3031916" y="260553"/>
                    <a:pt x="3031917" y="358605"/>
                  </a:cubicBezTo>
                  <a:lnTo>
                    <a:pt x="3031916" y="2331466"/>
                  </a:lnTo>
                  <a:lnTo>
                    <a:pt x="5004779" y="2331466"/>
                  </a:lnTo>
                  <a:cubicBezTo>
                    <a:pt x="5102831" y="2331466"/>
                    <a:pt x="5191600" y="2371210"/>
                    <a:pt x="5255856" y="2435466"/>
                  </a:cubicBezTo>
                  <a:lnTo>
                    <a:pt x="5257453" y="2437402"/>
                  </a:lnTo>
                  <a:lnTo>
                    <a:pt x="5259383" y="2438994"/>
                  </a:lnTo>
                  <a:cubicBezTo>
                    <a:pt x="5323640" y="2503250"/>
                    <a:pt x="5363383" y="2592019"/>
                    <a:pt x="5363383" y="2690071"/>
                  </a:cubicBezTo>
                  <a:lnTo>
                    <a:pt x="5363383" y="4662932"/>
                  </a:lnTo>
                  <a:lnTo>
                    <a:pt x="7336245" y="4662932"/>
                  </a:lnTo>
                  <a:cubicBezTo>
                    <a:pt x="7434296" y="4662931"/>
                    <a:pt x="7523065" y="4702675"/>
                    <a:pt x="7587321" y="4766931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  <p:grpSp>
          <p:nvGrpSpPr>
            <p:cNvPr id="42" name="组合 41"/>
            <p:cNvGrpSpPr/>
            <p:nvPr>
              <p:custDataLst>
                <p:tags r:id="rId4"/>
              </p:custDataLst>
            </p:nvPr>
          </p:nvGrpSpPr>
          <p:grpSpPr>
            <a:xfrm>
              <a:off x="2993" y="6646"/>
              <a:ext cx="1322" cy="835"/>
              <a:chOff x="1017622" y="3087917"/>
              <a:chExt cx="682862" cy="431075"/>
            </a:xfrm>
            <a:solidFill>
              <a:srgbClr val="FF0000"/>
            </a:solidFill>
          </p:grpSpPr>
          <p:sp>
            <p:nvSpPr>
              <p:cNvPr id="43" name="椭圆 42"/>
              <p:cNvSpPr/>
              <p:nvPr>
                <p:custDataLst>
                  <p:tags r:id="rId26"/>
                </p:custDataLst>
              </p:nvPr>
            </p:nvSpPr>
            <p:spPr>
              <a:xfrm>
                <a:off x="1129573" y="3087917"/>
                <a:ext cx="431075" cy="4310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44" name="矩形 43"/>
              <p:cNvSpPr/>
              <p:nvPr>
                <p:custDataLst>
                  <p:tags r:id="rId27"/>
                </p:custDataLst>
              </p:nvPr>
            </p:nvSpPr>
            <p:spPr>
              <a:xfrm>
                <a:off x="1017622" y="3153412"/>
                <a:ext cx="682862" cy="2809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lIns="68580" tIns="34290" rIns="68580" bIns="3429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cs typeface="+mn-ea"/>
                    <a:sym typeface="+mn-lt"/>
                  </a:rPr>
                  <a:t>01</a:t>
                </a:r>
              </a:p>
            </p:txBody>
          </p:sp>
        </p:grpSp>
        <p:grpSp>
          <p:nvGrpSpPr>
            <p:cNvPr id="3" name="组合 2"/>
            <p:cNvGrpSpPr/>
            <p:nvPr>
              <p:custDataLst>
                <p:tags r:id="rId5"/>
              </p:custDataLst>
            </p:nvPr>
          </p:nvGrpSpPr>
          <p:grpSpPr>
            <a:xfrm>
              <a:off x="7765" y="6646"/>
              <a:ext cx="1322" cy="835"/>
              <a:chOff x="3482253" y="3087917"/>
              <a:chExt cx="682862" cy="431075"/>
            </a:xfrm>
          </p:grpSpPr>
          <p:sp>
            <p:nvSpPr>
              <p:cNvPr id="9" name="椭圆 8"/>
              <p:cNvSpPr/>
              <p:nvPr>
                <p:custDataLst>
                  <p:tags r:id="rId24"/>
                </p:custDataLst>
              </p:nvPr>
            </p:nvSpPr>
            <p:spPr>
              <a:xfrm>
                <a:off x="3602083" y="3087917"/>
                <a:ext cx="431075" cy="43107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3"/>
              </a:lnRef>
              <a:fillRef idx="3">
                <a:schemeClr val="accent3"/>
              </a:fillRef>
              <a:effectRef idx="2">
                <a:schemeClr val="accent3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0" name="矩形 9"/>
              <p:cNvSpPr/>
              <p:nvPr>
                <p:custDataLst>
                  <p:tags r:id="rId25"/>
                </p:custDataLst>
              </p:nvPr>
            </p:nvSpPr>
            <p:spPr>
              <a:xfrm>
                <a:off x="3482253" y="3153412"/>
                <a:ext cx="682862" cy="2809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0000"/>
                    </a:solidFill>
                  </a14:hiddenFill>
                </a:ext>
              </a:extLst>
            </p:spPr>
            <p:txBody>
              <a:bodyPr wrap="square" lIns="68580" tIns="34290" rIns="68580" bIns="3429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cs typeface="+mn-ea"/>
                    <a:sym typeface="+mn-lt"/>
                  </a:rPr>
                  <a:t>03</a:t>
                </a:r>
              </a:p>
            </p:txBody>
          </p:sp>
        </p:grpSp>
        <p:grpSp>
          <p:nvGrpSpPr>
            <p:cNvPr id="11" name="组合 10"/>
            <p:cNvGrpSpPr/>
            <p:nvPr>
              <p:custDataLst>
                <p:tags r:id="rId6"/>
              </p:custDataLst>
            </p:nvPr>
          </p:nvGrpSpPr>
          <p:grpSpPr>
            <a:xfrm>
              <a:off x="12537" y="6646"/>
              <a:ext cx="1322" cy="835"/>
              <a:chOff x="5946882" y="3087917"/>
              <a:chExt cx="682862" cy="431075"/>
            </a:xfrm>
          </p:grpSpPr>
          <p:sp>
            <p:nvSpPr>
              <p:cNvPr id="13" name="椭圆 12"/>
              <p:cNvSpPr/>
              <p:nvPr>
                <p:custDataLst>
                  <p:tags r:id="rId22"/>
                </p:custDataLst>
              </p:nvPr>
            </p:nvSpPr>
            <p:spPr>
              <a:xfrm>
                <a:off x="6074230" y="3087917"/>
                <a:ext cx="431075" cy="431075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5"/>
              </a:lnRef>
              <a:fillRef idx="3">
                <a:schemeClr val="accent5"/>
              </a:fillRef>
              <a:effectRef idx="2">
                <a:schemeClr val="accent5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14" name="矩形 13"/>
              <p:cNvSpPr/>
              <p:nvPr>
                <p:custDataLst>
                  <p:tags r:id="rId23"/>
                </p:custDataLst>
              </p:nvPr>
            </p:nvSpPr>
            <p:spPr>
              <a:xfrm>
                <a:off x="5946882" y="3153412"/>
                <a:ext cx="682862" cy="280954"/>
              </a:xfrm>
              <a:prstGeom prst="rect">
                <a:avLst/>
              </a:prstGeom>
            </p:spPr>
            <p:txBody>
              <a:bodyPr wrap="square" lIns="68580" tIns="34290" rIns="68580" bIns="3429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cs typeface="+mn-ea"/>
                    <a:sym typeface="+mn-lt"/>
                  </a:rPr>
                  <a:t>05</a:t>
                </a:r>
              </a:p>
            </p:txBody>
          </p:sp>
        </p:grpSp>
        <p:grpSp>
          <p:nvGrpSpPr>
            <p:cNvPr id="16" name="组合 15"/>
            <p:cNvGrpSpPr/>
            <p:nvPr>
              <p:custDataLst>
                <p:tags r:id="rId7"/>
              </p:custDataLst>
            </p:nvPr>
          </p:nvGrpSpPr>
          <p:grpSpPr>
            <a:xfrm>
              <a:off x="14886" y="4338"/>
              <a:ext cx="1322" cy="835"/>
              <a:chOff x="7160013" y="1895930"/>
              <a:chExt cx="682862" cy="431075"/>
            </a:xfrm>
            <a:solidFill>
              <a:srgbClr val="FF0000"/>
            </a:solidFill>
          </p:grpSpPr>
          <p:sp>
            <p:nvSpPr>
              <p:cNvPr id="56" name="椭圆 55"/>
              <p:cNvSpPr/>
              <p:nvPr>
                <p:custDataLst>
                  <p:tags r:id="rId20"/>
                </p:custDataLst>
              </p:nvPr>
            </p:nvSpPr>
            <p:spPr>
              <a:xfrm>
                <a:off x="7298872" y="1895930"/>
                <a:ext cx="431075" cy="4310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1">
                <a:schemeClr val="accent6"/>
              </a:lnRef>
              <a:fillRef idx="3">
                <a:schemeClr val="accent6"/>
              </a:fillRef>
              <a:effectRef idx="2">
                <a:schemeClr val="accent6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57" name="矩形 56"/>
              <p:cNvSpPr/>
              <p:nvPr>
                <p:custDataLst>
                  <p:tags r:id="rId21"/>
                </p:custDataLst>
              </p:nvPr>
            </p:nvSpPr>
            <p:spPr>
              <a:xfrm>
                <a:off x="7160013" y="1955347"/>
                <a:ext cx="682862" cy="2809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lIns="68580" tIns="34290" rIns="68580" bIns="3429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cs typeface="+mn-ea"/>
                    <a:sym typeface="+mn-lt"/>
                  </a:rPr>
                  <a:t>06</a:t>
                </a:r>
              </a:p>
            </p:txBody>
          </p:sp>
        </p:grpSp>
        <p:grpSp>
          <p:nvGrpSpPr>
            <p:cNvPr id="58" name="组合 57"/>
            <p:cNvGrpSpPr/>
            <p:nvPr>
              <p:custDataLst>
                <p:tags r:id="rId8"/>
              </p:custDataLst>
            </p:nvPr>
          </p:nvGrpSpPr>
          <p:grpSpPr>
            <a:xfrm>
              <a:off x="10124" y="4338"/>
              <a:ext cx="1322" cy="835"/>
              <a:chOff x="4700415" y="1895931"/>
              <a:chExt cx="682862" cy="431075"/>
            </a:xfrm>
            <a:solidFill>
              <a:srgbClr val="FF0000"/>
            </a:solidFill>
          </p:grpSpPr>
          <p:sp>
            <p:nvSpPr>
              <p:cNvPr id="59" name="椭圆 58"/>
              <p:cNvSpPr/>
              <p:nvPr>
                <p:custDataLst>
                  <p:tags r:id="rId18"/>
                </p:custDataLst>
              </p:nvPr>
            </p:nvSpPr>
            <p:spPr>
              <a:xfrm>
                <a:off x="4826726" y="1895931"/>
                <a:ext cx="431075" cy="4310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1">
                <a:schemeClr val="accent4"/>
              </a:lnRef>
              <a:fillRef idx="3">
                <a:schemeClr val="accent4"/>
              </a:fillRef>
              <a:effectRef idx="2">
                <a:schemeClr val="accent4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0" name="矩形 59"/>
              <p:cNvSpPr/>
              <p:nvPr>
                <p:custDataLst>
                  <p:tags r:id="rId19"/>
                </p:custDataLst>
              </p:nvPr>
            </p:nvSpPr>
            <p:spPr>
              <a:xfrm>
                <a:off x="4700415" y="1955348"/>
                <a:ext cx="682862" cy="2809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lIns="68580" tIns="34290" rIns="68580" bIns="3429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cs typeface="+mn-ea"/>
                    <a:sym typeface="+mn-lt"/>
                  </a:rPr>
                  <a:t>04</a:t>
                </a:r>
              </a:p>
            </p:txBody>
          </p:sp>
        </p:grpSp>
        <p:grpSp>
          <p:nvGrpSpPr>
            <p:cNvPr id="61" name="组合 60"/>
            <p:cNvGrpSpPr/>
            <p:nvPr>
              <p:custDataLst>
                <p:tags r:id="rId9"/>
              </p:custDataLst>
            </p:nvPr>
          </p:nvGrpSpPr>
          <p:grpSpPr>
            <a:xfrm>
              <a:off x="5363" y="4338"/>
              <a:ext cx="1322" cy="835"/>
              <a:chOff x="2241749" y="1895930"/>
              <a:chExt cx="682862" cy="431075"/>
            </a:xfrm>
            <a:solidFill>
              <a:srgbClr val="FF0000"/>
            </a:solidFill>
          </p:grpSpPr>
          <p:sp>
            <p:nvSpPr>
              <p:cNvPr id="62" name="椭圆 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2367643" y="1895930"/>
                <a:ext cx="431075" cy="431075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1">
                <a:schemeClr val="accent2"/>
              </a:lnRef>
              <a:fillRef idx="3">
                <a:schemeClr val="accent2"/>
              </a:fillRef>
              <a:effectRef idx="2">
                <a:schemeClr val="accent2"/>
              </a:effectRef>
              <a:fontRef idx="minor">
                <a:schemeClr val="lt1"/>
              </a:fontRef>
            </p:style>
            <p:txBody>
              <a:bodyPr lIns="68580" tIns="34290" rIns="68580" bIns="34290" rtlCol="0" anchor="ctr"/>
              <a:lstStyle/>
              <a:p>
                <a:pPr algn="ctr"/>
                <a:endParaRPr lang="zh-CN" altLang="en-US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 62"/>
              <p:cNvSpPr/>
              <p:nvPr>
                <p:custDataLst>
                  <p:tags r:id="rId17"/>
                </p:custDataLst>
              </p:nvPr>
            </p:nvSpPr>
            <p:spPr>
              <a:xfrm>
                <a:off x="2241749" y="1955187"/>
                <a:ext cx="682862" cy="2809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grpFill/>
                  </a14:hiddenFill>
                </a:ext>
              </a:extLst>
            </p:spPr>
            <p:txBody>
              <a:bodyPr wrap="square" lIns="68580" tIns="34290" rIns="68580" bIns="34290">
                <a:spAutoFit/>
              </a:bodyPr>
              <a:lstStyle/>
              <a:p>
                <a:pPr algn="ctr"/>
                <a:r>
                  <a:rPr lang="en-US" altLang="zh-CN" b="1" dirty="0">
                    <a:solidFill>
                      <a:schemeClr val="bg1"/>
                    </a:solidFill>
                    <a:cs typeface="+mn-ea"/>
                    <a:sym typeface="+mn-lt"/>
                  </a:rPr>
                  <a:t>02</a:t>
                </a:r>
              </a:p>
            </p:txBody>
          </p:sp>
        </p:grpSp>
        <p:sp>
          <p:nvSpPr>
            <p:cNvPr id="64" name="TextBox 58"/>
            <p:cNvSpPr txBox="1"/>
            <p:nvPr>
              <p:custDataLst>
                <p:tags r:id="rId10"/>
              </p:custDataLst>
            </p:nvPr>
          </p:nvSpPr>
          <p:spPr>
            <a:xfrm>
              <a:off x="2479" y="7608"/>
              <a:ext cx="3483" cy="1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全球气候变暖已成事实</a:t>
              </a:r>
            </a:p>
          </p:txBody>
        </p:sp>
        <p:sp>
          <p:nvSpPr>
            <p:cNvPr id="17" name="TextBox 58"/>
            <p:cNvSpPr txBox="1"/>
            <p:nvPr>
              <p:custDataLst>
                <p:tags r:id="rId11"/>
              </p:custDataLst>
            </p:nvPr>
          </p:nvSpPr>
          <p:spPr>
            <a:xfrm>
              <a:off x="9450" y="2755"/>
              <a:ext cx="3417" cy="1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国际社会关注度提高</a:t>
              </a:r>
            </a:p>
          </p:txBody>
        </p:sp>
        <p:sp>
          <p:nvSpPr>
            <p:cNvPr id="18" name="TextBox 58"/>
            <p:cNvSpPr txBox="1"/>
            <p:nvPr>
              <p:custDataLst>
                <p:tags r:id="rId12"/>
              </p:custDataLst>
            </p:nvPr>
          </p:nvSpPr>
          <p:spPr>
            <a:xfrm>
              <a:off x="4515" y="2799"/>
              <a:ext cx="3309" cy="1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温室气体浓度逐渐升高</a:t>
              </a:r>
            </a:p>
          </p:txBody>
        </p:sp>
        <p:sp>
          <p:nvSpPr>
            <p:cNvPr id="19" name="TextBox 58"/>
            <p:cNvSpPr txBox="1"/>
            <p:nvPr>
              <p:custDataLst>
                <p:tags r:id="rId13"/>
              </p:custDataLst>
            </p:nvPr>
          </p:nvSpPr>
          <p:spPr>
            <a:xfrm>
              <a:off x="11878" y="7684"/>
              <a:ext cx="2850" cy="1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我国面临国际生态压力</a:t>
              </a:r>
            </a:p>
          </p:txBody>
        </p:sp>
        <p:sp>
          <p:nvSpPr>
            <p:cNvPr id="20" name="TextBox 58"/>
            <p:cNvSpPr txBox="1"/>
            <p:nvPr>
              <p:custDataLst>
                <p:tags r:id="rId14"/>
              </p:custDataLst>
            </p:nvPr>
          </p:nvSpPr>
          <p:spPr>
            <a:xfrm>
              <a:off x="7241" y="7679"/>
              <a:ext cx="2980" cy="1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zh-CN" altLang="en-US" sz="2400" b="1" dirty="0">
                  <a:cs typeface="+mn-ea"/>
                  <a:sym typeface="+mn-lt"/>
                </a:rPr>
                <a:t>极地气候生态受到影响</a:t>
              </a:r>
              <a:endParaRPr lang="zh-CN" altLang="en-US" sz="2400" b="1" dirty="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21" name="TextBox 58"/>
            <p:cNvSpPr txBox="1"/>
            <p:nvPr>
              <p:custDataLst>
                <p:tags r:id="rId15"/>
              </p:custDataLst>
            </p:nvPr>
          </p:nvSpPr>
          <p:spPr>
            <a:xfrm>
              <a:off x="14142" y="2769"/>
              <a:ext cx="2371" cy="1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 defTabSz="457200">
                <a:lnSpc>
                  <a:spcPct val="120000"/>
                </a:lnSpc>
                <a:spcBef>
                  <a:spcPts val="600"/>
                </a:spcBef>
              </a:pPr>
              <a:r>
                <a:rPr lang="zh-CN" altLang="en-US" sz="2400" b="1" dirty="0">
                  <a:solidFill>
                    <a:schemeClr val="tx1"/>
                  </a:solidFill>
                  <a:cs typeface="+mn-ea"/>
                  <a:sym typeface="+mn-lt"/>
                </a:rPr>
                <a:t>生态环境命运与共</a:t>
              </a:r>
            </a:p>
          </p:txBody>
        </p:sp>
      </p:grpSp>
    </p:spTree>
  </p:cSld>
  <p:clrMapOvr>
    <a:masterClrMapping/>
  </p:clrMapOvr>
  <p:transition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 descr="图片包含 游戏机&#10;&#10;描述已自动生成">
            <a:extLst>
              <a:ext uri="{FF2B5EF4-FFF2-40B4-BE49-F238E27FC236}">
                <a16:creationId xmlns:a16="http://schemas.microsoft.com/office/drawing/2014/main" id="{67B2F649-7DB6-48CC-F54B-EFA62710AF8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18" y="3434204"/>
            <a:ext cx="12192318" cy="3456439"/>
          </a:xfrm>
          <a:prstGeom prst="rect">
            <a:avLst/>
          </a:prstGeom>
        </p:spPr>
      </p:pic>
      <p:cxnSp>
        <p:nvCxnSpPr>
          <p:cNvPr id="49" name="直接连接符 48"/>
          <p:cNvCxnSpPr/>
          <p:nvPr/>
        </p:nvCxnSpPr>
        <p:spPr>
          <a:xfrm>
            <a:off x="7519826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等腰三角形 52"/>
          <p:cNvSpPr/>
          <p:nvPr/>
        </p:nvSpPr>
        <p:spPr>
          <a:xfrm flipH="1" flipV="1">
            <a:off x="6974840" y="52768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7" name="Text 2"/>
          <p:cNvSpPr/>
          <p:nvPr/>
        </p:nvSpPr>
        <p:spPr>
          <a:xfrm>
            <a:off x="10462528" y="7371769"/>
            <a:ext cx="2967355" cy="166814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endParaRPr lang="en-US" sz="1500" dirty="0">
              <a:cs typeface="+mn-ea"/>
              <a:sym typeface="+mn-lt"/>
            </a:endParaRPr>
          </a:p>
        </p:txBody>
      </p:sp>
      <p:sp>
        <p:nvSpPr>
          <p:cNvPr id="8" name="Text 3"/>
          <p:cNvSpPr/>
          <p:nvPr/>
        </p:nvSpPr>
        <p:spPr>
          <a:xfrm>
            <a:off x="1253752" y="6427372"/>
            <a:ext cx="2499995" cy="44767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>
              <a:lnSpc>
                <a:spcPct val="115000"/>
              </a:lnSpc>
              <a:spcBef>
                <a:spcPts val="375"/>
              </a:spcBef>
              <a:buNone/>
            </a:pPr>
            <a:endParaRPr lang="en-US" b="1" dirty="0">
              <a:solidFill>
                <a:srgbClr val="616161"/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D6D7BBC-3C80-4B29-8930-400C944771DF}"/>
              </a:ext>
            </a:extLst>
          </p:cNvPr>
          <p:cNvSpPr txBox="1"/>
          <p:nvPr/>
        </p:nvSpPr>
        <p:spPr>
          <a:xfrm>
            <a:off x="163743" y="632121"/>
            <a:ext cx="35138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spc="300" dirty="0">
                <a:solidFill>
                  <a:prstClr val="black"/>
                </a:solidFill>
                <a:cs typeface="+mn-ea"/>
                <a:sym typeface="+mn-lt"/>
              </a:rPr>
              <a:t>理论发展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D51C2E9-3931-499B-8D35-F575262C9D8F}"/>
              </a:ext>
            </a:extLst>
          </p:cNvPr>
          <p:cNvSpPr txBox="1"/>
          <p:nvPr/>
        </p:nvSpPr>
        <p:spPr>
          <a:xfrm>
            <a:off x="284214" y="3374406"/>
            <a:ext cx="19563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 b="1" spc="300" dirty="0">
                <a:cs typeface="+mn-ea"/>
                <a:sym typeface="+mn-lt"/>
              </a:rPr>
              <a:t>2003</a:t>
            </a:r>
            <a:r>
              <a:rPr lang="zh-CN" altLang="en-US" sz="2400" b="1" spc="300" dirty="0">
                <a:cs typeface="+mn-ea"/>
                <a:sym typeface="+mn-lt"/>
              </a:rPr>
              <a:t>年</a:t>
            </a:r>
            <a:endParaRPr lang="en-US" altLang="zh-CN" sz="2400" b="1" spc="300" dirty="0">
              <a:cs typeface="+mn-ea"/>
              <a:sym typeface="+mn-lt"/>
            </a:endParaRPr>
          </a:p>
          <a:p>
            <a:pPr algn="ctr"/>
            <a:r>
              <a:rPr lang="zh-CN" altLang="en-US" sz="2400" b="1" spc="300" dirty="0">
                <a:cs typeface="+mn-ea"/>
                <a:sym typeface="+mn-lt"/>
              </a:rPr>
              <a:t>千万工程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8E7839-C360-D328-ED25-0A56218BCA3F}"/>
              </a:ext>
            </a:extLst>
          </p:cNvPr>
          <p:cNvSpPr/>
          <p:nvPr/>
        </p:nvSpPr>
        <p:spPr>
          <a:xfrm>
            <a:off x="-318" y="4037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43AB6317-77A4-4FF2-E6C1-221AB9B30E8F}"/>
              </a:ext>
            </a:extLst>
          </p:cNvPr>
          <p:cNvCxnSpPr/>
          <p:nvPr/>
        </p:nvCxnSpPr>
        <p:spPr>
          <a:xfrm>
            <a:off x="5109086" y="122089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7">
            <a:extLst>
              <a:ext uri="{FF2B5EF4-FFF2-40B4-BE49-F238E27FC236}">
                <a16:creationId xmlns:a16="http://schemas.microsoft.com/office/drawing/2014/main" id="{A53F853E-CB84-095D-5178-EF33261462DC}"/>
              </a:ext>
            </a:extLst>
          </p:cNvPr>
          <p:cNvSpPr txBox="1"/>
          <p:nvPr/>
        </p:nvSpPr>
        <p:spPr>
          <a:xfrm>
            <a:off x="3680142" y="121522"/>
            <a:ext cx="119316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理论演进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3359B3D-A1AE-5AEC-1483-253522E90E0E}"/>
              </a:ext>
            </a:extLst>
          </p:cNvPr>
          <p:cNvCxnSpPr/>
          <p:nvPr/>
        </p:nvCxnSpPr>
        <p:spPr>
          <a:xfrm>
            <a:off x="6874348" y="121454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>
            <a:extLst>
              <a:ext uri="{FF2B5EF4-FFF2-40B4-BE49-F238E27FC236}">
                <a16:creationId xmlns:a16="http://schemas.microsoft.com/office/drawing/2014/main" id="{C3201DB8-A5BD-0531-9C60-4E5A62356591}"/>
              </a:ext>
            </a:extLst>
          </p:cNvPr>
          <p:cNvSpPr/>
          <p:nvPr/>
        </p:nvSpPr>
        <p:spPr>
          <a:xfrm flipH="1" flipV="1">
            <a:off x="6984428" y="560307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6618272-DEB9-E32E-FC81-9C34933CC579}"/>
              </a:ext>
            </a:extLst>
          </p:cNvPr>
          <p:cNvCxnSpPr/>
          <p:nvPr/>
        </p:nvCxnSpPr>
        <p:spPr>
          <a:xfrm>
            <a:off x="9321003" y="122089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0BF55FFA-D338-9817-1699-DC56CF4E903E}"/>
              </a:ext>
            </a:extLst>
          </p:cNvPr>
          <p:cNvCxnSpPr/>
          <p:nvPr/>
        </p:nvCxnSpPr>
        <p:spPr>
          <a:xfrm>
            <a:off x="3360296" y="122089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50D32C-C877-9C52-4F66-3E10345C4173}"/>
              </a:ext>
            </a:extLst>
          </p:cNvPr>
          <p:cNvGrpSpPr/>
          <p:nvPr/>
        </p:nvGrpSpPr>
        <p:grpSpPr>
          <a:xfrm>
            <a:off x="5402262" y="66912"/>
            <a:ext cx="1572752" cy="557530"/>
            <a:chOff x="0" y="-3151"/>
            <a:chExt cx="1511494" cy="557154"/>
          </a:xfrm>
        </p:grpSpPr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DF3FCDDC-11CE-9610-9277-CEB4D34FD3D4}"/>
                </a:ext>
              </a:extLst>
            </p:cNvPr>
            <p:cNvSpPr/>
            <p:nvPr/>
          </p:nvSpPr>
          <p:spPr>
            <a:xfrm>
              <a:off x="0" y="-3151"/>
              <a:ext cx="1511494" cy="557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4">
              <a:extLst>
                <a:ext uri="{FF2B5EF4-FFF2-40B4-BE49-F238E27FC236}">
                  <a16:creationId xmlns:a16="http://schemas.microsoft.com/office/drawing/2014/main" id="{0ABB72E8-1BE0-3115-D9D6-403144605A4F}"/>
                </a:ext>
              </a:extLst>
            </p:cNvPr>
            <p:cNvSpPr txBox="1"/>
            <p:nvPr/>
          </p:nvSpPr>
          <p:spPr>
            <a:xfrm>
              <a:off x="234029" y="105959"/>
              <a:ext cx="1268083" cy="44737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600" spc="300" dirty="0">
                  <a:solidFill>
                    <a:prstClr val="black"/>
                  </a:solidFill>
                  <a:cs typeface="+mn-ea"/>
                  <a:sym typeface="+mn-lt"/>
                </a:rPr>
                <a:t>理论发展</a:t>
              </a:r>
            </a:p>
          </p:txBody>
        </p:sp>
      </p:grp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911EE8B-4F4F-0914-355B-94ED1598BD69}"/>
              </a:ext>
            </a:extLst>
          </p:cNvPr>
          <p:cNvCxnSpPr/>
          <p:nvPr/>
        </p:nvCxnSpPr>
        <p:spPr>
          <a:xfrm>
            <a:off x="7393649" y="86275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7">
            <a:extLst>
              <a:ext uri="{FF2B5EF4-FFF2-40B4-BE49-F238E27FC236}">
                <a16:creationId xmlns:a16="http://schemas.microsoft.com/office/drawing/2014/main" id="{FCD797B4-522F-AE7D-7634-E57261E3802F}"/>
              </a:ext>
            </a:extLst>
          </p:cNvPr>
          <p:cNvSpPr txBox="1"/>
          <p:nvPr/>
        </p:nvSpPr>
        <p:spPr>
          <a:xfrm>
            <a:off x="7750363" y="86343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与时俱进</a:t>
            </a:r>
            <a:endParaRPr lang="en-US" altLang="zh-CN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5304FD1-394C-C532-D331-C2ECC2E99240}"/>
              </a:ext>
            </a:extLst>
          </p:cNvPr>
          <p:cNvGrpSpPr/>
          <p:nvPr/>
        </p:nvGrpSpPr>
        <p:grpSpPr>
          <a:xfrm>
            <a:off x="691566" y="2782901"/>
            <a:ext cx="11166041" cy="2093358"/>
            <a:chOff x="654550" y="2473157"/>
            <a:chExt cx="11166041" cy="2093358"/>
          </a:xfrm>
        </p:grpSpPr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E99C770-F90E-4223-BC48-78FD075B8F40}"/>
                </a:ext>
              </a:extLst>
            </p:cNvPr>
            <p:cNvSpPr txBox="1"/>
            <p:nvPr/>
          </p:nvSpPr>
          <p:spPr>
            <a:xfrm>
              <a:off x="654550" y="2489860"/>
              <a:ext cx="841875" cy="830997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  <p:txBody>
            <a:bodyPr wrap="square">
              <a:spAutoFit/>
            </a:bodyPr>
            <a:lstStyle/>
            <a:p>
              <a:r>
                <a:rPr lang="en-US" altLang="zh-CN" sz="4800" dirty="0">
                  <a:ln w="0"/>
                  <a:solidFill>
                    <a:srgbClr val="C00000"/>
                  </a:solidFill>
                  <a:effectLst>
                    <a:reflection blurRad="6350" stA="53000" endA="300" endPos="35500" dir="5400000" sy="-90000" algn="bl" rotWithShape="0"/>
                  </a:effectLst>
                  <a:cs typeface="+mn-ea"/>
                  <a:sym typeface="+mn-lt"/>
                </a:rPr>
                <a:t>01</a:t>
              </a:r>
              <a:endParaRPr lang="zh-CN" altLang="en-US" sz="4800" dirty="0">
                <a:ln w="0"/>
                <a:solidFill>
                  <a:srgbClr val="C00000"/>
                </a:solidFill>
                <a:effectLst>
                  <a:reflection blurRad="6350" stA="53000" endA="300" endPos="35500" dir="5400000" sy="-90000" algn="bl" rotWithShape="0"/>
                </a:effectLst>
                <a:cs typeface="+mn-ea"/>
                <a:sym typeface="+mn-lt"/>
              </a:endParaRPr>
            </a:p>
          </p:txBody>
        </p:sp>
        <p:pic>
          <p:nvPicPr>
            <p:cNvPr id="24" name="图形 23" descr="箭头: 轻微弯曲 纯色填充">
              <a:extLst>
                <a:ext uri="{FF2B5EF4-FFF2-40B4-BE49-F238E27FC236}">
                  <a16:creationId xmlns:a16="http://schemas.microsoft.com/office/drawing/2014/main" id="{42B660E7-147E-4A9B-99B1-D9DB8069CFF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645910" y="2507339"/>
              <a:ext cx="1164020" cy="914400"/>
            </a:xfrm>
            <a:prstGeom prst="rect">
              <a:avLst/>
            </a:prstGeom>
          </p:spPr>
        </p:pic>
        <p:pic>
          <p:nvPicPr>
            <p:cNvPr id="42" name="图形 41" descr="箭头: 轻微弯曲 纯色填充">
              <a:extLst>
                <a:ext uri="{FF2B5EF4-FFF2-40B4-BE49-F238E27FC236}">
                  <a16:creationId xmlns:a16="http://schemas.microsoft.com/office/drawing/2014/main" id="{4640E109-8857-4BEE-9902-C101D5213B4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6323418" y="2497243"/>
              <a:ext cx="1164020" cy="914400"/>
            </a:xfrm>
            <a:prstGeom prst="rect">
              <a:avLst/>
            </a:prstGeom>
          </p:spPr>
        </p:pic>
        <p:pic>
          <p:nvPicPr>
            <p:cNvPr id="43" name="图形 42" descr="箭头: 轻微弯曲 纯色填充">
              <a:extLst>
                <a:ext uri="{FF2B5EF4-FFF2-40B4-BE49-F238E27FC236}">
                  <a16:creationId xmlns:a16="http://schemas.microsoft.com/office/drawing/2014/main" id="{5A825A86-0B79-4ACE-9E2B-D93CBD09EA79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917476" y="2505193"/>
              <a:ext cx="1164020" cy="914400"/>
            </a:xfrm>
            <a:prstGeom prst="rect">
              <a:avLst/>
            </a:prstGeom>
          </p:spPr>
        </p:pic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9B8993AD-05D9-4C98-BA49-A89764909D90}"/>
                </a:ext>
              </a:extLst>
            </p:cNvPr>
            <p:cNvSpPr txBox="1"/>
            <p:nvPr/>
          </p:nvSpPr>
          <p:spPr>
            <a:xfrm>
              <a:off x="2409128" y="3409568"/>
              <a:ext cx="179699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400" b="1" spc="300" dirty="0">
                  <a:cs typeface="+mn-ea"/>
                  <a:sym typeface="+mn-lt"/>
                </a:rPr>
                <a:t>2005</a:t>
              </a:r>
              <a:r>
                <a:rPr lang="zh-CN" altLang="en-US" sz="2400" b="1" spc="300" dirty="0">
                  <a:cs typeface="+mn-ea"/>
                  <a:sym typeface="+mn-lt"/>
                </a:rPr>
                <a:t>年</a:t>
              </a:r>
              <a:endParaRPr lang="en-US" altLang="zh-CN" sz="2400" b="1" spc="300" dirty="0">
                <a:cs typeface="+mn-ea"/>
                <a:sym typeface="+mn-lt"/>
              </a:endParaRPr>
            </a:p>
            <a:p>
              <a:pPr algn="ctr"/>
              <a:r>
                <a:rPr lang="zh-CN" altLang="en-US" sz="2400" b="1" spc="300" dirty="0">
                  <a:cs typeface="+mn-ea"/>
                  <a:sym typeface="+mn-lt"/>
                </a:rPr>
                <a:t>两山论断</a:t>
              </a: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A1CCF8C9-491B-4667-BAF5-8E6FEE770ADF}"/>
                </a:ext>
              </a:extLst>
            </p:cNvPr>
            <p:cNvSpPr txBox="1"/>
            <p:nvPr/>
          </p:nvSpPr>
          <p:spPr>
            <a:xfrm>
              <a:off x="2959415" y="2497243"/>
              <a:ext cx="841875" cy="830997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4800">
                  <a:ln w="0"/>
                  <a:solidFill>
                    <a:srgbClr val="C00000"/>
                  </a:solidFill>
                  <a:effectLst>
                    <a:reflection blurRad="6350" stA="53000" endA="300" endPos="35500" dir="5400000" sy="-90000" algn="bl" rotWithShape="0"/>
                  </a:effectLst>
                </a:defRPr>
              </a:lvl1pPr>
            </a:lstStyle>
            <a:p>
              <a:r>
                <a:rPr lang="en-US" altLang="zh-CN" dirty="0">
                  <a:cs typeface="+mn-ea"/>
                  <a:sym typeface="+mn-lt"/>
                </a:rPr>
                <a:t>02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DDF90B8B-E2AB-4C6D-9834-28631C53722B}"/>
                </a:ext>
              </a:extLst>
            </p:cNvPr>
            <p:cNvSpPr txBox="1"/>
            <p:nvPr/>
          </p:nvSpPr>
          <p:spPr>
            <a:xfrm>
              <a:off x="4621791" y="3353562"/>
              <a:ext cx="2494806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spc="300" dirty="0">
                  <a:cs typeface="+mn-ea"/>
                  <a:sym typeface="+mn-lt"/>
                </a:rPr>
                <a:t>    十八大</a:t>
              </a:r>
              <a:endParaRPr lang="en-US" altLang="zh-CN" sz="2400" b="1" spc="300" dirty="0">
                <a:cs typeface="+mn-ea"/>
                <a:sym typeface="+mn-lt"/>
              </a:endParaRPr>
            </a:p>
            <a:p>
              <a:r>
                <a:rPr lang="zh-CN" altLang="en-US" sz="2400" b="1" spc="300" dirty="0">
                  <a:cs typeface="+mn-ea"/>
                  <a:sym typeface="+mn-lt"/>
                </a:rPr>
                <a:t>五位一体布局</a:t>
              </a:r>
            </a:p>
          </p:txBody>
        </p:sp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D31557A6-DAF7-4FDC-9CA1-0B36D43C7099}"/>
                </a:ext>
              </a:extLst>
            </p:cNvPr>
            <p:cNvSpPr txBox="1"/>
            <p:nvPr/>
          </p:nvSpPr>
          <p:spPr>
            <a:xfrm>
              <a:off x="5345406" y="2505193"/>
              <a:ext cx="841875" cy="830997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4800">
                  <a:ln w="0"/>
                  <a:solidFill>
                    <a:srgbClr val="C00000"/>
                  </a:solidFill>
                  <a:effectLst>
                    <a:reflection blurRad="6350" stA="53000" endA="300" endPos="35500" dir="5400000" sy="-90000" algn="bl" rotWithShape="0"/>
                  </a:effectLst>
                </a:defRPr>
              </a:lvl1pPr>
            </a:lstStyle>
            <a:p>
              <a:r>
                <a:rPr lang="en-US" altLang="zh-CN" dirty="0">
                  <a:cs typeface="+mn-ea"/>
                  <a:sym typeface="+mn-lt"/>
                </a:rPr>
                <a:t>03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BE3F73C8-F013-47C4-B4E4-E2D0329CF628}"/>
                </a:ext>
              </a:extLst>
            </p:cNvPr>
            <p:cNvSpPr txBox="1"/>
            <p:nvPr/>
          </p:nvSpPr>
          <p:spPr>
            <a:xfrm>
              <a:off x="7007698" y="3374406"/>
              <a:ext cx="2284428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spc="300" dirty="0">
                  <a:cs typeface="+mn-ea"/>
                  <a:sym typeface="+mn-lt"/>
                </a:rPr>
                <a:t>   十九大</a:t>
              </a:r>
              <a:endParaRPr lang="en-US" altLang="zh-CN" sz="2400" b="1" spc="300" dirty="0">
                <a:cs typeface="+mn-ea"/>
                <a:sym typeface="+mn-lt"/>
              </a:endParaRPr>
            </a:p>
            <a:p>
              <a:r>
                <a:rPr lang="zh-CN" altLang="en-US" sz="2400" b="1" spc="300" dirty="0">
                  <a:cs typeface="+mn-ea"/>
                  <a:sym typeface="+mn-lt"/>
                </a:rPr>
                <a:t>美丽中国目标</a:t>
              </a: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537A58C6-B726-4DDA-AB1A-BC50F522A625}"/>
                </a:ext>
              </a:extLst>
            </p:cNvPr>
            <p:cNvSpPr txBox="1"/>
            <p:nvPr/>
          </p:nvSpPr>
          <p:spPr>
            <a:xfrm>
              <a:off x="7633941" y="2473157"/>
              <a:ext cx="841875" cy="830997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4800">
                  <a:ln w="0"/>
                  <a:solidFill>
                    <a:srgbClr val="C00000"/>
                  </a:solidFill>
                  <a:effectLst>
                    <a:reflection blurRad="6350" stA="53000" endA="300" endPos="35500" dir="5400000" sy="-90000" algn="bl" rotWithShape="0"/>
                  </a:effectLst>
                </a:defRPr>
              </a:lvl1pPr>
            </a:lstStyle>
            <a:p>
              <a:r>
                <a:rPr lang="en-US" altLang="zh-CN" dirty="0">
                  <a:cs typeface="+mn-ea"/>
                  <a:sym typeface="+mn-lt"/>
                </a:rPr>
                <a:t>04</a:t>
              </a:r>
              <a:endParaRPr lang="zh-CN" altLang="en-US" dirty="0">
                <a:cs typeface="+mn-ea"/>
                <a:sym typeface="+mn-lt"/>
              </a:endParaRPr>
            </a:p>
          </p:txBody>
        </p:sp>
        <p:pic>
          <p:nvPicPr>
            <p:cNvPr id="21" name="图形 20" descr="箭头: 轻微弯曲 纯色填充">
              <a:extLst>
                <a:ext uri="{FF2B5EF4-FFF2-40B4-BE49-F238E27FC236}">
                  <a16:creationId xmlns:a16="http://schemas.microsoft.com/office/drawing/2014/main" id="{D919FDCE-C1DC-43EB-54A0-E81C2715D97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670162" y="2495168"/>
              <a:ext cx="1164020" cy="914400"/>
            </a:xfrm>
            <a:prstGeom prst="rect">
              <a:avLst/>
            </a:prstGeom>
          </p:spPr>
        </p:pic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D6F1FF9-EC35-7295-289B-48925FF574E8}"/>
                </a:ext>
              </a:extLst>
            </p:cNvPr>
            <p:cNvSpPr txBox="1"/>
            <p:nvPr/>
          </p:nvSpPr>
          <p:spPr>
            <a:xfrm>
              <a:off x="10164916" y="2505193"/>
              <a:ext cx="841875" cy="830997"/>
            </a:xfrm>
            <a:prstGeom prst="rect">
              <a:avLst/>
            </a:prstGeom>
            <a:noFill/>
            <a:effectLst>
              <a:reflection blurRad="6350" stA="52000" endA="300" endPos="35000" dir="5400000" sy="-100000" algn="bl" rotWithShape="0"/>
            </a:effec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defRPr sz="4800">
                  <a:ln w="0"/>
                  <a:solidFill>
                    <a:srgbClr val="C00000"/>
                  </a:solidFill>
                  <a:effectLst>
                    <a:reflection blurRad="6350" stA="53000" endA="300" endPos="35500" dir="5400000" sy="-90000" algn="bl" rotWithShape="0"/>
                  </a:effectLst>
                </a:defRPr>
              </a:lvl1pPr>
            </a:lstStyle>
            <a:p>
              <a:r>
                <a:rPr lang="en-US" altLang="zh-CN" dirty="0">
                  <a:cs typeface="+mn-ea"/>
                  <a:sym typeface="+mn-lt"/>
                </a:rPr>
                <a:t>05</a:t>
              </a:r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E9F955F9-0C27-C46A-1A02-131BB764E517}"/>
                </a:ext>
              </a:extLst>
            </p:cNvPr>
            <p:cNvSpPr txBox="1"/>
            <p:nvPr/>
          </p:nvSpPr>
          <p:spPr>
            <a:xfrm>
              <a:off x="9479447" y="3366186"/>
              <a:ext cx="2341144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spc="300" dirty="0">
                  <a:cs typeface="+mn-ea"/>
                  <a:sym typeface="+mn-lt"/>
                </a:rPr>
                <a:t>后续会议深化部署形成系统完整理论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5D1B04A1-F3A2-CC10-1492-4B1972B459EF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13982" y="1571463"/>
            <a:ext cx="5288280" cy="149225"/>
            <a:chOff x="2690" y="5849"/>
            <a:chExt cx="12634" cy="120"/>
          </a:xfrm>
        </p:grpSpPr>
        <p:sp>
          <p:nvSpPr>
            <p:cNvPr id="55" name="Shape 9">
              <a:extLst>
                <a:ext uri="{FF2B5EF4-FFF2-40B4-BE49-F238E27FC236}">
                  <a16:creationId xmlns:a16="http://schemas.microsoft.com/office/drawing/2014/main" id="{A19B6795-DD4C-0455-8DC1-FD3691AE3993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2690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B0252A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Shape 10">
              <a:extLst>
                <a:ext uri="{FF2B5EF4-FFF2-40B4-BE49-F238E27FC236}">
                  <a16:creationId xmlns:a16="http://schemas.microsoft.com/office/drawing/2014/main" id="{5D89781E-790E-6435-85A4-69C560E28AA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5732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FFD6D6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Shape 11">
              <a:extLst>
                <a:ext uri="{FF2B5EF4-FFF2-40B4-BE49-F238E27FC236}">
                  <a16:creationId xmlns:a16="http://schemas.microsoft.com/office/drawing/2014/main" id="{624BD122-EBB0-5C59-5E31-20AEC48BB313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831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B0252A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Shape 12">
              <a:extLst>
                <a:ext uri="{FF2B5EF4-FFF2-40B4-BE49-F238E27FC236}">
                  <a16:creationId xmlns:a16="http://schemas.microsoft.com/office/drawing/2014/main" id="{9D90EE50-616A-1B88-7E1B-DB965D28172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1888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FFD6D6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482009" y="22096"/>
            <a:ext cx="3657600" cy="6858000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5096767" y="1551266"/>
            <a:ext cx="0" cy="363031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959346" y="1551266"/>
            <a:ext cx="2786911" cy="3143792"/>
            <a:chOff x="309210" y="1551266"/>
            <a:chExt cx="2786911" cy="3143792"/>
          </a:xfrm>
        </p:grpSpPr>
        <p:sp>
          <p:nvSpPr>
            <p:cNvPr id="35" name="文本框 34"/>
            <p:cNvSpPr txBox="1"/>
            <p:nvPr/>
          </p:nvSpPr>
          <p:spPr>
            <a:xfrm>
              <a:off x="309210" y="3679395"/>
              <a:ext cx="27869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spc="3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目录</a:t>
              </a:r>
              <a:endParaRPr lang="zh-HK" altLang="en-US" sz="60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02071" y="1551266"/>
              <a:ext cx="1801188" cy="1801188"/>
              <a:chOff x="844063" y="1551266"/>
              <a:chExt cx="1801188" cy="1801188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1197596" y="1906806"/>
                <a:ext cx="1094123" cy="1090108"/>
                <a:chOff x="1709739" y="2636838"/>
                <a:chExt cx="1590160" cy="1584325"/>
              </a:xfrm>
              <a:solidFill>
                <a:schemeClr val="bg1"/>
              </a:solidFill>
              <a:effectLst/>
            </p:grpSpPr>
            <p:sp>
              <p:nvSpPr>
                <p:cNvPr id="9" name="Freeform 6"/>
                <p:cNvSpPr/>
                <p:nvPr/>
              </p:nvSpPr>
              <p:spPr bwMode="auto">
                <a:xfrm>
                  <a:off x="1709739" y="2636838"/>
                  <a:ext cx="1468102" cy="1467130"/>
                </a:xfrm>
                <a:custGeom>
                  <a:avLst/>
                  <a:gdLst>
                    <a:gd name="T0" fmla="*/ 691 w 1276"/>
                    <a:gd name="T1" fmla="*/ 1168 h 1274"/>
                    <a:gd name="T2" fmla="*/ 662 w 1276"/>
                    <a:gd name="T3" fmla="*/ 1267 h 1274"/>
                    <a:gd name="T4" fmla="*/ 654 w 1276"/>
                    <a:gd name="T5" fmla="*/ 1273 h 1274"/>
                    <a:gd name="T6" fmla="*/ 643 w 1276"/>
                    <a:gd name="T7" fmla="*/ 1274 h 1274"/>
                    <a:gd name="T8" fmla="*/ 172 w 1276"/>
                    <a:gd name="T9" fmla="*/ 1274 h 1274"/>
                    <a:gd name="T10" fmla="*/ 81 w 1276"/>
                    <a:gd name="T11" fmla="*/ 1253 h 1274"/>
                    <a:gd name="T12" fmla="*/ 1 w 1276"/>
                    <a:gd name="T13" fmla="*/ 1113 h 1274"/>
                    <a:gd name="T14" fmla="*/ 0 w 1276"/>
                    <a:gd name="T15" fmla="*/ 892 h 1274"/>
                    <a:gd name="T16" fmla="*/ 0 w 1276"/>
                    <a:gd name="T17" fmla="*/ 170 h 1274"/>
                    <a:gd name="T18" fmla="*/ 170 w 1276"/>
                    <a:gd name="T19" fmla="*/ 0 h 1274"/>
                    <a:gd name="T20" fmla="*/ 1110 w 1276"/>
                    <a:gd name="T21" fmla="*/ 0 h 1274"/>
                    <a:gd name="T22" fmla="*/ 1273 w 1276"/>
                    <a:gd name="T23" fmla="*/ 131 h 1274"/>
                    <a:gd name="T24" fmla="*/ 1276 w 1276"/>
                    <a:gd name="T25" fmla="*/ 168 h 1274"/>
                    <a:gd name="T26" fmla="*/ 1276 w 1276"/>
                    <a:gd name="T27" fmla="*/ 629 h 1274"/>
                    <a:gd name="T28" fmla="*/ 1275 w 1276"/>
                    <a:gd name="T29" fmla="*/ 645 h 1274"/>
                    <a:gd name="T30" fmla="*/ 1171 w 1276"/>
                    <a:gd name="T31" fmla="*/ 659 h 1274"/>
                    <a:gd name="T32" fmla="*/ 1171 w 1276"/>
                    <a:gd name="T33" fmla="*/ 214 h 1274"/>
                    <a:gd name="T34" fmla="*/ 106 w 1276"/>
                    <a:gd name="T35" fmla="*/ 214 h 1274"/>
                    <a:gd name="T36" fmla="*/ 106 w 1276"/>
                    <a:gd name="T37" fmla="*/ 230 h 1274"/>
                    <a:gd name="T38" fmla="*/ 105 w 1276"/>
                    <a:gd name="T39" fmla="*/ 1102 h 1274"/>
                    <a:gd name="T40" fmla="*/ 171 w 1276"/>
                    <a:gd name="T41" fmla="*/ 1168 h 1274"/>
                    <a:gd name="T42" fmla="*/ 671 w 1276"/>
                    <a:gd name="T43" fmla="*/ 1168 h 1274"/>
                    <a:gd name="T44" fmla="*/ 691 w 1276"/>
                    <a:gd name="T45" fmla="*/ 1168 h 1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276" h="1274">
                      <a:moveTo>
                        <a:pt x="691" y="1168"/>
                      </a:moveTo>
                      <a:cubicBezTo>
                        <a:pt x="681" y="1203"/>
                        <a:pt x="672" y="1235"/>
                        <a:pt x="662" y="1267"/>
                      </a:cubicBezTo>
                      <a:cubicBezTo>
                        <a:pt x="661" y="1270"/>
                        <a:pt x="657" y="1272"/>
                        <a:pt x="654" y="1273"/>
                      </a:cubicBezTo>
                      <a:cubicBezTo>
                        <a:pt x="651" y="1274"/>
                        <a:pt x="647" y="1274"/>
                        <a:pt x="643" y="1274"/>
                      </a:cubicBezTo>
                      <a:cubicBezTo>
                        <a:pt x="486" y="1274"/>
                        <a:pt x="329" y="1273"/>
                        <a:pt x="172" y="1274"/>
                      </a:cubicBezTo>
                      <a:cubicBezTo>
                        <a:pt x="140" y="1274"/>
                        <a:pt x="109" y="1269"/>
                        <a:pt x="81" y="1253"/>
                      </a:cubicBezTo>
                      <a:cubicBezTo>
                        <a:pt x="29" y="1221"/>
                        <a:pt x="1" y="1174"/>
                        <a:pt x="1" y="1113"/>
                      </a:cubicBezTo>
                      <a:cubicBezTo>
                        <a:pt x="0" y="1039"/>
                        <a:pt x="0" y="966"/>
                        <a:pt x="0" y="892"/>
                      </a:cubicBezTo>
                      <a:cubicBezTo>
                        <a:pt x="0" y="651"/>
                        <a:pt x="0" y="411"/>
                        <a:pt x="0" y="170"/>
                      </a:cubicBezTo>
                      <a:cubicBezTo>
                        <a:pt x="0" y="68"/>
                        <a:pt x="68" y="0"/>
                        <a:pt x="170" y="0"/>
                      </a:cubicBezTo>
                      <a:cubicBezTo>
                        <a:pt x="483" y="0"/>
                        <a:pt x="797" y="0"/>
                        <a:pt x="1110" y="0"/>
                      </a:cubicBezTo>
                      <a:cubicBezTo>
                        <a:pt x="1194" y="0"/>
                        <a:pt x="1258" y="51"/>
                        <a:pt x="1273" y="131"/>
                      </a:cubicBezTo>
                      <a:cubicBezTo>
                        <a:pt x="1276" y="143"/>
                        <a:pt x="1276" y="156"/>
                        <a:pt x="1276" y="168"/>
                      </a:cubicBezTo>
                      <a:cubicBezTo>
                        <a:pt x="1276" y="322"/>
                        <a:pt x="1276" y="475"/>
                        <a:pt x="1276" y="629"/>
                      </a:cubicBezTo>
                      <a:cubicBezTo>
                        <a:pt x="1276" y="634"/>
                        <a:pt x="1276" y="638"/>
                        <a:pt x="1275" y="645"/>
                      </a:cubicBezTo>
                      <a:cubicBezTo>
                        <a:pt x="1239" y="640"/>
                        <a:pt x="1205" y="643"/>
                        <a:pt x="1171" y="659"/>
                      </a:cubicBezTo>
                      <a:cubicBezTo>
                        <a:pt x="1171" y="509"/>
                        <a:pt x="1171" y="362"/>
                        <a:pt x="1171" y="214"/>
                      </a:cubicBezTo>
                      <a:cubicBezTo>
                        <a:pt x="816" y="214"/>
                        <a:pt x="462" y="214"/>
                        <a:pt x="106" y="214"/>
                      </a:cubicBezTo>
                      <a:cubicBezTo>
                        <a:pt x="106" y="219"/>
                        <a:pt x="106" y="224"/>
                        <a:pt x="106" y="230"/>
                      </a:cubicBezTo>
                      <a:cubicBezTo>
                        <a:pt x="106" y="521"/>
                        <a:pt x="106" y="812"/>
                        <a:pt x="105" y="1102"/>
                      </a:cubicBezTo>
                      <a:cubicBezTo>
                        <a:pt x="105" y="1141"/>
                        <a:pt x="125" y="1169"/>
                        <a:pt x="171" y="1168"/>
                      </a:cubicBezTo>
                      <a:cubicBezTo>
                        <a:pt x="338" y="1167"/>
                        <a:pt x="504" y="1168"/>
                        <a:pt x="671" y="1168"/>
                      </a:cubicBezTo>
                      <a:cubicBezTo>
                        <a:pt x="677" y="1168"/>
                        <a:pt x="683" y="1168"/>
                        <a:pt x="691" y="116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0" name="Freeform 7"/>
                <p:cNvSpPr>
                  <a:spLocks noEditPoints="1"/>
                </p:cNvSpPr>
                <p:nvPr/>
              </p:nvSpPr>
              <p:spPr bwMode="auto">
                <a:xfrm>
                  <a:off x="2571440" y="3653665"/>
                  <a:ext cx="569443" cy="567498"/>
                </a:xfrm>
                <a:custGeom>
                  <a:avLst/>
                  <a:gdLst>
                    <a:gd name="T0" fmla="*/ 328 w 495"/>
                    <a:gd name="T1" fmla="*/ 1 h 493"/>
                    <a:gd name="T2" fmla="*/ 495 w 495"/>
                    <a:gd name="T3" fmla="*/ 167 h 493"/>
                    <a:gd name="T4" fmla="*/ 427 w 495"/>
                    <a:gd name="T5" fmla="*/ 236 h 493"/>
                    <a:gd name="T6" fmla="*/ 240 w 495"/>
                    <a:gd name="T7" fmla="*/ 421 h 493"/>
                    <a:gd name="T8" fmla="*/ 216 w 495"/>
                    <a:gd name="T9" fmla="*/ 436 h 493"/>
                    <a:gd name="T10" fmla="*/ 40 w 495"/>
                    <a:gd name="T11" fmla="*/ 488 h 493"/>
                    <a:gd name="T12" fmla="*/ 9 w 495"/>
                    <a:gd name="T13" fmla="*/ 484 h 493"/>
                    <a:gd name="T14" fmla="*/ 6 w 495"/>
                    <a:gd name="T15" fmla="*/ 454 h 493"/>
                    <a:gd name="T16" fmla="*/ 58 w 495"/>
                    <a:gd name="T17" fmla="*/ 276 h 493"/>
                    <a:gd name="T18" fmla="*/ 67 w 495"/>
                    <a:gd name="T19" fmla="*/ 259 h 493"/>
                    <a:gd name="T20" fmla="*/ 327 w 495"/>
                    <a:gd name="T21" fmla="*/ 1 h 493"/>
                    <a:gd name="T22" fmla="*/ 328 w 495"/>
                    <a:gd name="T23" fmla="*/ 1 h 493"/>
                    <a:gd name="T24" fmla="*/ 102 w 495"/>
                    <a:gd name="T25" fmla="*/ 292 h 493"/>
                    <a:gd name="T26" fmla="*/ 72 w 495"/>
                    <a:gd name="T27" fmla="*/ 396 h 493"/>
                    <a:gd name="T28" fmla="*/ 74 w 495"/>
                    <a:gd name="T29" fmla="*/ 405 h 493"/>
                    <a:gd name="T30" fmla="*/ 113 w 495"/>
                    <a:gd name="T31" fmla="*/ 418 h 493"/>
                    <a:gd name="T32" fmla="*/ 148 w 495"/>
                    <a:gd name="T33" fmla="*/ 408 h 493"/>
                    <a:gd name="T34" fmla="*/ 200 w 495"/>
                    <a:gd name="T35" fmla="*/ 393 h 493"/>
                    <a:gd name="T36" fmla="*/ 185 w 495"/>
                    <a:gd name="T37" fmla="*/ 316 h 493"/>
                    <a:gd name="T38" fmla="*/ 178 w 495"/>
                    <a:gd name="T39" fmla="*/ 308 h 493"/>
                    <a:gd name="T40" fmla="*/ 102 w 495"/>
                    <a:gd name="T41" fmla="*/ 292 h 4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495" h="493">
                      <a:moveTo>
                        <a:pt x="328" y="1"/>
                      </a:moveTo>
                      <a:cubicBezTo>
                        <a:pt x="384" y="56"/>
                        <a:pt x="439" y="112"/>
                        <a:pt x="495" y="167"/>
                      </a:cubicBezTo>
                      <a:cubicBezTo>
                        <a:pt x="473" y="190"/>
                        <a:pt x="450" y="213"/>
                        <a:pt x="427" y="236"/>
                      </a:cubicBezTo>
                      <a:cubicBezTo>
                        <a:pt x="365" y="298"/>
                        <a:pt x="303" y="360"/>
                        <a:pt x="240" y="421"/>
                      </a:cubicBezTo>
                      <a:cubicBezTo>
                        <a:pt x="233" y="428"/>
                        <a:pt x="225" y="433"/>
                        <a:pt x="216" y="436"/>
                      </a:cubicBezTo>
                      <a:cubicBezTo>
                        <a:pt x="157" y="454"/>
                        <a:pt x="98" y="471"/>
                        <a:pt x="40" y="488"/>
                      </a:cubicBezTo>
                      <a:cubicBezTo>
                        <a:pt x="28" y="492"/>
                        <a:pt x="18" y="493"/>
                        <a:pt x="9" y="484"/>
                      </a:cubicBezTo>
                      <a:cubicBezTo>
                        <a:pt x="0" y="475"/>
                        <a:pt x="3" y="464"/>
                        <a:pt x="6" y="454"/>
                      </a:cubicBezTo>
                      <a:cubicBezTo>
                        <a:pt x="23" y="395"/>
                        <a:pt x="40" y="335"/>
                        <a:pt x="58" y="276"/>
                      </a:cubicBezTo>
                      <a:cubicBezTo>
                        <a:pt x="60" y="270"/>
                        <a:pt x="63" y="264"/>
                        <a:pt x="67" y="259"/>
                      </a:cubicBezTo>
                      <a:cubicBezTo>
                        <a:pt x="154" y="173"/>
                        <a:pt x="240" y="87"/>
                        <a:pt x="327" y="1"/>
                      </a:cubicBezTo>
                      <a:cubicBezTo>
                        <a:pt x="328" y="1"/>
                        <a:pt x="329" y="0"/>
                        <a:pt x="328" y="1"/>
                      </a:cubicBezTo>
                      <a:close/>
                      <a:moveTo>
                        <a:pt x="102" y="292"/>
                      </a:moveTo>
                      <a:cubicBezTo>
                        <a:pt x="91" y="327"/>
                        <a:pt x="81" y="362"/>
                        <a:pt x="72" y="396"/>
                      </a:cubicBezTo>
                      <a:cubicBezTo>
                        <a:pt x="71" y="399"/>
                        <a:pt x="72" y="403"/>
                        <a:pt x="74" y="405"/>
                      </a:cubicBezTo>
                      <a:cubicBezTo>
                        <a:pt x="87" y="423"/>
                        <a:pt x="92" y="425"/>
                        <a:pt x="113" y="418"/>
                      </a:cubicBezTo>
                      <a:cubicBezTo>
                        <a:pt x="125" y="415"/>
                        <a:pt x="136" y="411"/>
                        <a:pt x="148" y="408"/>
                      </a:cubicBezTo>
                      <a:cubicBezTo>
                        <a:pt x="165" y="403"/>
                        <a:pt x="182" y="398"/>
                        <a:pt x="200" y="393"/>
                      </a:cubicBezTo>
                      <a:cubicBezTo>
                        <a:pt x="195" y="365"/>
                        <a:pt x="190" y="341"/>
                        <a:pt x="185" y="316"/>
                      </a:cubicBezTo>
                      <a:cubicBezTo>
                        <a:pt x="185" y="313"/>
                        <a:pt x="181" y="309"/>
                        <a:pt x="178" y="308"/>
                      </a:cubicBezTo>
                      <a:cubicBezTo>
                        <a:pt x="153" y="302"/>
                        <a:pt x="128" y="297"/>
                        <a:pt x="102" y="2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Freeform 8"/>
                <p:cNvSpPr/>
                <p:nvPr/>
              </p:nvSpPr>
              <p:spPr bwMode="auto">
                <a:xfrm>
                  <a:off x="2262162" y="3371619"/>
                  <a:ext cx="608346" cy="119627"/>
                </a:xfrm>
                <a:custGeom>
                  <a:avLst/>
                  <a:gdLst>
                    <a:gd name="T0" fmla="*/ 0 w 529"/>
                    <a:gd name="T1" fmla="*/ 104 h 104"/>
                    <a:gd name="T2" fmla="*/ 0 w 529"/>
                    <a:gd name="T3" fmla="*/ 0 h 104"/>
                    <a:gd name="T4" fmla="*/ 529 w 529"/>
                    <a:gd name="T5" fmla="*/ 0 h 104"/>
                    <a:gd name="T6" fmla="*/ 529 w 529"/>
                    <a:gd name="T7" fmla="*/ 104 h 104"/>
                    <a:gd name="T8" fmla="*/ 0 w 529"/>
                    <a:gd name="T9" fmla="*/ 104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9" h="104">
                      <a:moveTo>
                        <a:pt x="0" y="104"/>
                      </a:moveTo>
                      <a:cubicBezTo>
                        <a:pt x="0" y="69"/>
                        <a:pt x="0" y="35"/>
                        <a:pt x="0" y="0"/>
                      </a:cubicBezTo>
                      <a:cubicBezTo>
                        <a:pt x="177" y="0"/>
                        <a:pt x="352" y="0"/>
                        <a:pt x="529" y="0"/>
                      </a:cubicBezTo>
                      <a:cubicBezTo>
                        <a:pt x="529" y="35"/>
                        <a:pt x="529" y="69"/>
                        <a:pt x="529" y="104"/>
                      </a:cubicBezTo>
                      <a:cubicBezTo>
                        <a:pt x="353" y="104"/>
                        <a:pt x="177" y="104"/>
                        <a:pt x="0" y="10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Freeform 9"/>
                <p:cNvSpPr/>
                <p:nvPr/>
              </p:nvSpPr>
              <p:spPr bwMode="auto">
                <a:xfrm>
                  <a:off x="2263134" y="3127502"/>
                  <a:ext cx="607373" cy="119627"/>
                </a:xfrm>
                <a:custGeom>
                  <a:avLst/>
                  <a:gdLst>
                    <a:gd name="T0" fmla="*/ 528 w 528"/>
                    <a:gd name="T1" fmla="*/ 0 h 104"/>
                    <a:gd name="T2" fmla="*/ 528 w 528"/>
                    <a:gd name="T3" fmla="*/ 104 h 104"/>
                    <a:gd name="T4" fmla="*/ 0 w 528"/>
                    <a:gd name="T5" fmla="*/ 104 h 104"/>
                    <a:gd name="T6" fmla="*/ 0 w 528"/>
                    <a:gd name="T7" fmla="*/ 0 h 104"/>
                    <a:gd name="T8" fmla="*/ 528 w 528"/>
                    <a:gd name="T9" fmla="*/ 0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8" h="104">
                      <a:moveTo>
                        <a:pt x="528" y="0"/>
                      </a:moveTo>
                      <a:cubicBezTo>
                        <a:pt x="528" y="35"/>
                        <a:pt x="528" y="69"/>
                        <a:pt x="528" y="104"/>
                      </a:cubicBezTo>
                      <a:cubicBezTo>
                        <a:pt x="352" y="104"/>
                        <a:pt x="177" y="104"/>
                        <a:pt x="0" y="104"/>
                      </a:cubicBezTo>
                      <a:cubicBezTo>
                        <a:pt x="0" y="70"/>
                        <a:pt x="0" y="36"/>
                        <a:pt x="0" y="0"/>
                      </a:cubicBezTo>
                      <a:cubicBezTo>
                        <a:pt x="176" y="0"/>
                        <a:pt x="352" y="0"/>
                        <a:pt x="5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Freeform 10"/>
                <p:cNvSpPr/>
                <p:nvPr/>
              </p:nvSpPr>
              <p:spPr bwMode="auto">
                <a:xfrm>
                  <a:off x="2263134" y="3615735"/>
                  <a:ext cx="549991" cy="120599"/>
                </a:xfrm>
                <a:custGeom>
                  <a:avLst/>
                  <a:gdLst>
                    <a:gd name="T0" fmla="*/ 0 w 478"/>
                    <a:gd name="T1" fmla="*/ 0 h 105"/>
                    <a:gd name="T2" fmla="*/ 478 w 478"/>
                    <a:gd name="T3" fmla="*/ 0 h 105"/>
                    <a:gd name="T4" fmla="*/ 472 w 478"/>
                    <a:gd name="T5" fmla="*/ 8 h 105"/>
                    <a:gd name="T6" fmla="*/ 383 w 478"/>
                    <a:gd name="T7" fmla="*/ 97 h 105"/>
                    <a:gd name="T8" fmla="*/ 366 w 478"/>
                    <a:gd name="T9" fmla="*/ 104 h 105"/>
                    <a:gd name="T10" fmla="*/ 8 w 478"/>
                    <a:gd name="T11" fmla="*/ 105 h 105"/>
                    <a:gd name="T12" fmla="*/ 0 w 478"/>
                    <a:gd name="T13" fmla="*/ 104 h 105"/>
                    <a:gd name="T14" fmla="*/ 0 w 478"/>
                    <a:gd name="T15" fmla="*/ 0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78" h="105">
                      <a:moveTo>
                        <a:pt x="0" y="0"/>
                      </a:moveTo>
                      <a:cubicBezTo>
                        <a:pt x="159" y="0"/>
                        <a:pt x="318" y="0"/>
                        <a:pt x="478" y="0"/>
                      </a:cubicBezTo>
                      <a:cubicBezTo>
                        <a:pt x="476" y="3"/>
                        <a:pt x="474" y="6"/>
                        <a:pt x="472" y="8"/>
                      </a:cubicBezTo>
                      <a:cubicBezTo>
                        <a:pt x="443" y="38"/>
                        <a:pt x="413" y="68"/>
                        <a:pt x="383" y="97"/>
                      </a:cubicBezTo>
                      <a:cubicBezTo>
                        <a:pt x="379" y="101"/>
                        <a:pt x="372" y="104"/>
                        <a:pt x="366" y="104"/>
                      </a:cubicBezTo>
                      <a:cubicBezTo>
                        <a:pt x="247" y="105"/>
                        <a:pt x="127" y="105"/>
                        <a:pt x="8" y="105"/>
                      </a:cubicBezTo>
                      <a:cubicBezTo>
                        <a:pt x="6" y="105"/>
                        <a:pt x="3" y="104"/>
                        <a:pt x="0" y="104"/>
                      </a:cubicBezTo>
                      <a:cubicBezTo>
                        <a:pt x="0" y="69"/>
                        <a:pt x="0" y="35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Freeform 11"/>
                <p:cNvSpPr/>
                <p:nvPr/>
              </p:nvSpPr>
              <p:spPr bwMode="auto">
                <a:xfrm>
                  <a:off x="3016880" y="3492218"/>
                  <a:ext cx="283019" cy="281074"/>
                </a:xfrm>
                <a:custGeom>
                  <a:avLst/>
                  <a:gdLst>
                    <a:gd name="T0" fmla="*/ 0 w 246"/>
                    <a:gd name="T1" fmla="*/ 87 h 244"/>
                    <a:gd name="T2" fmla="*/ 66 w 246"/>
                    <a:gd name="T3" fmla="*/ 20 h 244"/>
                    <a:gd name="T4" fmla="*/ 139 w 246"/>
                    <a:gd name="T5" fmla="*/ 20 h 244"/>
                    <a:gd name="T6" fmla="*/ 225 w 246"/>
                    <a:gd name="T7" fmla="*/ 106 h 244"/>
                    <a:gd name="T8" fmla="*/ 227 w 246"/>
                    <a:gd name="T9" fmla="*/ 178 h 244"/>
                    <a:gd name="T10" fmla="*/ 159 w 246"/>
                    <a:gd name="T11" fmla="*/ 244 h 244"/>
                    <a:gd name="T12" fmla="*/ 0 w 246"/>
                    <a:gd name="T13" fmla="*/ 87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6" h="244">
                      <a:moveTo>
                        <a:pt x="0" y="87"/>
                      </a:moveTo>
                      <a:cubicBezTo>
                        <a:pt x="22" y="64"/>
                        <a:pt x="43" y="41"/>
                        <a:pt x="66" y="20"/>
                      </a:cubicBezTo>
                      <a:cubicBezTo>
                        <a:pt x="87" y="1"/>
                        <a:pt x="118" y="0"/>
                        <a:pt x="139" y="20"/>
                      </a:cubicBezTo>
                      <a:cubicBezTo>
                        <a:pt x="169" y="48"/>
                        <a:pt x="198" y="76"/>
                        <a:pt x="225" y="106"/>
                      </a:cubicBezTo>
                      <a:cubicBezTo>
                        <a:pt x="245" y="127"/>
                        <a:pt x="246" y="158"/>
                        <a:pt x="227" y="178"/>
                      </a:cubicBezTo>
                      <a:cubicBezTo>
                        <a:pt x="205" y="202"/>
                        <a:pt x="181" y="223"/>
                        <a:pt x="159" y="244"/>
                      </a:cubicBezTo>
                      <a:cubicBezTo>
                        <a:pt x="107" y="193"/>
                        <a:pt x="54" y="140"/>
                        <a:pt x="0" y="8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Freeform 12"/>
                <p:cNvSpPr/>
                <p:nvPr/>
              </p:nvSpPr>
              <p:spPr bwMode="auto">
                <a:xfrm>
                  <a:off x="2017073" y="3372591"/>
                  <a:ext cx="119627" cy="117682"/>
                </a:xfrm>
                <a:custGeom>
                  <a:avLst/>
                  <a:gdLst>
                    <a:gd name="T0" fmla="*/ 0 w 104"/>
                    <a:gd name="T1" fmla="*/ 102 h 102"/>
                    <a:gd name="T2" fmla="*/ 0 w 104"/>
                    <a:gd name="T3" fmla="*/ 0 h 102"/>
                    <a:gd name="T4" fmla="*/ 104 w 104"/>
                    <a:gd name="T5" fmla="*/ 0 h 102"/>
                    <a:gd name="T6" fmla="*/ 104 w 104"/>
                    <a:gd name="T7" fmla="*/ 102 h 102"/>
                    <a:gd name="T8" fmla="*/ 0 w 104"/>
                    <a:gd name="T9" fmla="*/ 102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102">
                      <a:moveTo>
                        <a:pt x="0" y="102"/>
                      </a:moveTo>
                      <a:cubicBezTo>
                        <a:pt x="0" y="68"/>
                        <a:pt x="0" y="34"/>
                        <a:pt x="0" y="0"/>
                      </a:cubicBezTo>
                      <a:cubicBezTo>
                        <a:pt x="35" y="0"/>
                        <a:pt x="69" y="0"/>
                        <a:pt x="104" y="0"/>
                      </a:cubicBezTo>
                      <a:cubicBezTo>
                        <a:pt x="104" y="34"/>
                        <a:pt x="104" y="67"/>
                        <a:pt x="104" y="102"/>
                      </a:cubicBezTo>
                      <a:cubicBezTo>
                        <a:pt x="70" y="102"/>
                        <a:pt x="36" y="102"/>
                        <a:pt x="0" y="10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Freeform 13"/>
                <p:cNvSpPr/>
                <p:nvPr/>
              </p:nvSpPr>
              <p:spPr bwMode="auto">
                <a:xfrm>
                  <a:off x="2018045" y="3128475"/>
                  <a:ext cx="118654" cy="118654"/>
                </a:xfrm>
                <a:custGeom>
                  <a:avLst/>
                  <a:gdLst>
                    <a:gd name="T0" fmla="*/ 103 w 103"/>
                    <a:gd name="T1" fmla="*/ 103 h 103"/>
                    <a:gd name="T2" fmla="*/ 0 w 103"/>
                    <a:gd name="T3" fmla="*/ 103 h 103"/>
                    <a:gd name="T4" fmla="*/ 0 w 103"/>
                    <a:gd name="T5" fmla="*/ 0 h 103"/>
                    <a:gd name="T6" fmla="*/ 103 w 103"/>
                    <a:gd name="T7" fmla="*/ 0 h 103"/>
                    <a:gd name="T8" fmla="*/ 103 w 103"/>
                    <a:gd name="T9" fmla="*/ 103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3" h="103">
                      <a:moveTo>
                        <a:pt x="103" y="103"/>
                      </a:moveTo>
                      <a:cubicBezTo>
                        <a:pt x="68" y="103"/>
                        <a:pt x="34" y="103"/>
                        <a:pt x="0" y="103"/>
                      </a:cubicBezTo>
                      <a:cubicBezTo>
                        <a:pt x="0" y="68"/>
                        <a:pt x="0" y="35"/>
                        <a:pt x="0" y="0"/>
                      </a:cubicBezTo>
                      <a:cubicBezTo>
                        <a:pt x="34" y="0"/>
                        <a:pt x="68" y="0"/>
                        <a:pt x="103" y="0"/>
                      </a:cubicBezTo>
                      <a:cubicBezTo>
                        <a:pt x="103" y="34"/>
                        <a:pt x="103" y="68"/>
                        <a:pt x="103" y="1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2018045" y="3616708"/>
                  <a:ext cx="118654" cy="118654"/>
                </a:xfrm>
                <a:custGeom>
                  <a:avLst/>
                  <a:gdLst>
                    <a:gd name="T0" fmla="*/ 103 w 103"/>
                    <a:gd name="T1" fmla="*/ 103 h 103"/>
                    <a:gd name="T2" fmla="*/ 0 w 103"/>
                    <a:gd name="T3" fmla="*/ 103 h 103"/>
                    <a:gd name="T4" fmla="*/ 0 w 103"/>
                    <a:gd name="T5" fmla="*/ 0 h 103"/>
                    <a:gd name="T6" fmla="*/ 103 w 103"/>
                    <a:gd name="T7" fmla="*/ 0 h 103"/>
                    <a:gd name="T8" fmla="*/ 103 w 103"/>
                    <a:gd name="T9" fmla="*/ 103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3" h="103">
                      <a:moveTo>
                        <a:pt x="103" y="103"/>
                      </a:moveTo>
                      <a:cubicBezTo>
                        <a:pt x="68" y="103"/>
                        <a:pt x="35" y="103"/>
                        <a:pt x="0" y="103"/>
                      </a:cubicBezTo>
                      <a:cubicBezTo>
                        <a:pt x="0" y="68"/>
                        <a:pt x="0" y="35"/>
                        <a:pt x="0" y="0"/>
                      </a:cubicBezTo>
                      <a:cubicBezTo>
                        <a:pt x="34" y="0"/>
                        <a:pt x="68" y="0"/>
                        <a:pt x="103" y="0"/>
                      </a:cubicBezTo>
                      <a:cubicBezTo>
                        <a:pt x="103" y="33"/>
                        <a:pt x="103" y="67"/>
                        <a:pt x="103" y="1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" name="椭圆 1"/>
              <p:cNvSpPr/>
              <p:nvPr/>
            </p:nvSpPr>
            <p:spPr>
              <a:xfrm>
                <a:off x="844063" y="1551266"/>
                <a:ext cx="1801188" cy="1801188"/>
              </a:xfrm>
              <a:prstGeom prst="ellipse">
                <a:avLst/>
              </a:prstGeom>
              <a:noFill/>
              <a:ln w="666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9" name="文本框 28"/>
          <p:cNvSpPr txBox="1"/>
          <p:nvPr/>
        </p:nvSpPr>
        <p:spPr>
          <a:xfrm>
            <a:off x="2205775" y="4734443"/>
            <a:ext cx="2294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CONTANTS</a:t>
            </a:r>
            <a:endParaRPr lang="zh-HK" altLang="en-US" sz="1600" b="1" spc="3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09807" y="1454576"/>
            <a:ext cx="4264660" cy="1874509"/>
            <a:chOff x="5633682" y="816896"/>
            <a:chExt cx="4264660" cy="1874509"/>
          </a:xfrm>
        </p:grpSpPr>
        <p:sp>
          <p:nvSpPr>
            <p:cNvPr id="30" name="文本框 29"/>
            <p:cNvSpPr txBox="1"/>
            <p:nvPr/>
          </p:nvSpPr>
          <p:spPr>
            <a:xfrm>
              <a:off x="5633682" y="1727475"/>
              <a:ext cx="4264660" cy="9639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spc="300" dirty="0">
                  <a:solidFill>
                    <a:prstClr val="black"/>
                  </a:solidFill>
                  <a:cs typeface="+mn-ea"/>
                  <a:sym typeface="+mn-lt"/>
                </a:rPr>
                <a:t>02/</a:t>
              </a:r>
              <a:r>
                <a:rPr lang="zh-CN" altLang="en-US" sz="2400" spc="300" dirty="0">
                  <a:solidFill>
                    <a:srgbClr val="FF0000"/>
                  </a:solidFill>
                  <a:cs typeface="+mn-ea"/>
                  <a:sym typeface="+mn-lt"/>
                </a:rPr>
                <a:t>绿韵中国，生态新章</a:t>
              </a:r>
              <a:endParaRPr lang="en-US" altLang="zh-CN" sz="2400" spc="300" dirty="0">
                <a:solidFill>
                  <a:srgbClr val="FF0000"/>
                </a:solidFill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786673" y="816896"/>
              <a:ext cx="3952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spc="300" dirty="0">
                  <a:solidFill>
                    <a:prstClr val="black"/>
                  </a:solidFill>
                  <a:cs typeface="+mn-ea"/>
                  <a:sym typeface="+mn-lt"/>
                </a:rPr>
                <a:t>01/</a:t>
              </a:r>
              <a:r>
                <a:rPr lang="zh-CN" altLang="en-US" sz="2400" spc="300" dirty="0">
                  <a:cs typeface="+mn-ea"/>
                  <a:sym typeface="+mn-lt"/>
                </a:rPr>
                <a:t>历史背景，政策提出 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167547" y="3329085"/>
            <a:ext cx="414337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en-US" altLang="zh-CN" sz="2400" spc="300" dirty="0">
                <a:solidFill>
                  <a:prstClr val="black"/>
                </a:solidFill>
                <a:cs typeface="+mn-ea"/>
                <a:sym typeface="+mn-lt"/>
              </a:rPr>
              <a:t>03/</a:t>
            </a:r>
            <a:r>
              <a:rPr lang="zh-CN" altLang="en-US" sz="2400" spc="300" dirty="0">
                <a:cs typeface="+mn-ea"/>
                <a:sym typeface="+mn-lt"/>
              </a:rPr>
              <a:t>共建全球，影响深远</a:t>
            </a:r>
            <a:endParaRPr lang="en-US" altLang="zh-CN" sz="2400" spc="300" dirty="0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67546" y="4293015"/>
            <a:ext cx="414337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en-US" altLang="zh-CN" sz="2400" spc="300" dirty="0">
                <a:solidFill>
                  <a:prstClr val="black"/>
                </a:solidFill>
                <a:cs typeface="+mn-ea"/>
                <a:sym typeface="+mn-lt"/>
              </a:rPr>
              <a:t>04/</a:t>
            </a:r>
            <a:r>
              <a:rPr lang="zh-CN" altLang="en-US" sz="2400" spc="300" dirty="0">
                <a:solidFill>
                  <a:prstClr val="black"/>
                </a:solidFill>
                <a:cs typeface="+mn-ea"/>
                <a:sym typeface="+mn-lt"/>
              </a:rPr>
              <a:t>生态新论，时代新程</a:t>
            </a:r>
            <a:endParaRPr lang="en-US" altLang="zh-CN" sz="2400" spc="300" dirty="0">
              <a:solidFill>
                <a:prstClr val="black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6" grpId="0"/>
      <p:bldP spid="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-635" y="-14605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897949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426460" y="100965"/>
            <a:ext cx="119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政策背景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7519826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/>
          <p:cNvGrpSpPr/>
          <p:nvPr/>
        </p:nvGrpSpPr>
        <p:grpSpPr>
          <a:xfrm>
            <a:off x="5401945" y="60960"/>
            <a:ext cx="1572753" cy="557530"/>
            <a:chOff x="0" y="-3151"/>
            <a:chExt cx="1511494" cy="557154"/>
          </a:xfrm>
        </p:grpSpPr>
        <p:sp>
          <p:nvSpPr>
            <p:cNvPr id="51" name="矩形 50"/>
            <p:cNvSpPr/>
            <p:nvPr/>
          </p:nvSpPr>
          <p:spPr>
            <a:xfrm>
              <a:off x="0" y="-3151"/>
              <a:ext cx="1511494" cy="557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24259" y="-3151"/>
              <a:ext cx="1268386" cy="5203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spc="300" dirty="0">
                  <a:solidFill>
                    <a:srgbClr val="C00000"/>
                  </a:solidFill>
                  <a:cs typeface="+mn-ea"/>
                  <a:sym typeface="+mn-lt"/>
                </a:rPr>
                <a:t>绿韵中国，生态新章</a:t>
              </a:r>
              <a:endParaRPr lang="zh-CN" altLang="en-US" sz="1600" spc="300" dirty="0">
                <a:solidFill>
                  <a:prstClr val="black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3" name="等腰三角形 52"/>
          <p:cNvSpPr/>
          <p:nvPr/>
        </p:nvSpPr>
        <p:spPr>
          <a:xfrm flipH="1" flipV="1">
            <a:off x="6974840" y="52768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397521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876540" y="100965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意义瞻望</a:t>
            </a:r>
            <a:endParaRPr lang="en-US" altLang="zh-CN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107884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546735" y="878840"/>
            <a:ext cx="715010" cy="1624330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方案</a:t>
            </a:r>
          </a:p>
        </p:txBody>
      </p:sp>
      <p:sp>
        <p:nvSpPr>
          <p:cNvPr id="17" name="矩形 16"/>
          <p:cNvSpPr/>
          <p:nvPr/>
        </p:nvSpPr>
        <p:spPr>
          <a:xfrm>
            <a:off x="1427480" y="1667510"/>
            <a:ext cx="516890" cy="146367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之纲</a:t>
            </a:r>
          </a:p>
        </p:txBody>
      </p:sp>
      <p:sp>
        <p:nvSpPr>
          <p:cNvPr id="30" name="矩形 29"/>
          <p:cNvSpPr/>
          <p:nvPr/>
        </p:nvSpPr>
        <p:spPr>
          <a:xfrm>
            <a:off x="1003300" y="4113440"/>
            <a:ext cx="516890" cy="146367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生命共同体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105" y="934776"/>
            <a:ext cx="3142800" cy="51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9585" y="1024017"/>
            <a:ext cx="3142800" cy="51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9065" y="1113258"/>
            <a:ext cx="3142800" cy="5126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8545" y="1195981"/>
            <a:ext cx="3142800" cy="5144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026" y="1297388"/>
            <a:ext cx="3142800" cy="51326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斜纹 17"/>
          <p:cNvSpPr/>
          <p:nvPr/>
        </p:nvSpPr>
        <p:spPr>
          <a:xfrm rot="10800000">
            <a:off x="9630229" y="4296229"/>
            <a:ext cx="2561771" cy="2561771"/>
          </a:xfrm>
          <a:prstGeom prst="diagStripe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2084948" y="916277"/>
            <a:ext cx="7621200" cy="5086350"/>
            <a:chOff x="1870953" y="904875"/>
            <a:chExt cx="7620000" cy="5086350"/>
          </a:xfrm>
        </p:grpSpPr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70953" y="904875"/>
              <a:ext cx="7620000" cy="5086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矩形: 圆角 31"/>
            <p:cNvSpPr/>
            <p:nvPr/>
          </p:nvSpPr>
          <p:spPr>
            <a:xfrm>
              <a:off x="3774254" y="5519124"/>
              <a:ext cx="3738159" cy="441364"/>
            </a:xfrm>
            <a:prstGeom prst="roundRect">
              <a:avLst/>
            </a:prstGeom>
            <a:solidFill>
              <a:srgbClr val="B0252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0" i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习近平在内蒙古巴彦淖尔考察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46" name="矩形 45"/>
          <p:cNvSpPr/>
          <p:nvPr/>
        </p:nvSpPr>
        <p:spPr>
          <a:xfrm>
            <a:off x="-635" y="-14605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897949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426460" y="100965"/>
            <a:ext cx="119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政策背景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7519826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5401945" y="60960"/>
            <a:ext cx="1572752" cy="5575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" name="等腰三角形 52"/>
          <p:cNvSpPr/>
          <p:nvPr/>
        </p:nvSpPr>
        <p:spPr>
          <a:xfrm flipH="1" flipV="1">
            <a:off x="6974840" y="52768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397521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876540" y="100965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意义瞻望</a:t>
            </a:r>
            <a:endParaRPr lang="en-US" altLang="zh-CN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107884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635293" y="60960"/>
            <a:ext cx="1319792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spc="300" dirty="0">
                <a:solidFill>
                  <a:srgbClr val="C00000"/>
                </a:solidFill>
                <a:cs typeface="+mn-ea"/>
                <a:sym typeface="+mn-lt"/>
              </a:rPr>
              <a:t>绿韵中国，生态新章</a:t>
            </a:r>
            <a:endParaRPr lang="zh-CN" altLang="en-US" sz="1600" spc="30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46735" y="878840"/>
            <a:ext cx="715010" cy="1624330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实践</a:t>
            </a:r>
            <a:endParaRPr lang="zh-CN" altLang="en-US" sz="5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427480" y="1667510"/>
            <a:ext cx="516890" cy="146367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之证</a:t>
            </a:r>
          </a:p>
        </p:txBody>
      </p:sp>
      <p:sp>
        <p:nvSpPr>
          <p:cNvPr id="28" name="矩形 27"/>
          <p:cNvSpPr/>
          <p:nvPr/>
        </p:nvSpPr>
        <p:spPr>
          <a:xfrm>
            <a:off x="1003300" y="4113440"/>
            <a:ext cx="516890" cy="146367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一镜看中国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634858" y="1069122"/>
            <a:ext cx="7621200" cy="5087839"/>
            <a:chOff x="2466774" y="50834"/>
            <a:chExt cx="7734617" cy="5087839"/>
          </a:xfrm>
        </p:grpSpPr>
        <p:pic>
          <p:nvPicPr>
            <p:cNvPr id="4102" name="Picture 6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66774" y="50834"/>
              <a:ext cx="7734617" cy="5086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矩形: 圆角 35"/>
            <p:cNvSpPr/>
            <p:nvPr/>
          </p:nvSpPr>
          <p:spPr>
            <a:xfrm>
              <a:off x="4675590" y="4697309"/>
              <a:ext cx="3738159" cy="441364"/>
            </a:xfrm>
            <a:prstGeom prst="roundRect">
              <a:avLst/>
            </a:prstGeom>
            <a:solidFill>
              <a:srgbClr val="B0252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0" i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习近平江西考察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184768" y="1223456"/>
            <a:ext cx="7621200" cy="5086800"/>
            <a:chOff x="4432416" y="1129864"/>
            <a:chExt cx="7948125" cy="5086800"/>
          </a:xfrm>
        </p:grpSpPr>
        <p:pic>
          <p:nvPicPr>
            <p:cNvPr id="4104" name="Picture 8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32416" y="1129864"/>
              <a:ext cx="7948125" cy="5086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矩形: 圆角 39"/>
            <p:cNvSpPr/>
            <p:nvPr/>
          </p:nvSpPr>
          <p:spPr>
            <a:xfrm>
              <a:off x="6373189" y="5540971"/>
              <a:ext cx="3738159" cy="441364"/>
            </a:xfrm>
            <a:prstGeom prst="roundRect">
              <a:avLst/>
            </a:prstGeom>
            <a:solidFill>
              <a:srgbClr val="B0252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0" i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习近平</a:t>
              </a:r>
              <a:r>
                <a:rPr lang="zh-CN" altLang="en-US" dirty="0">
                  <a:cs typeface="+mn-ea"/>
                  <a:sym typeface="+mn-lt"/>
                </a:rPr>
                <a:t>甘肃</a:t>
              </a:r>
              <a:r>
                <a:rPr lang="zh-CN" altLang="en-US" b="0" i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考察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3734678" y="1376751"/>
            <a:ext cx="7620000" cy="5086350"/>
            <a:chOff x="4815294" y="885825"/>
            <a:chExt cx="7620000" cy="5086350"/>
          </a:xfrm>
        </p:grpSpPr>
        <p:pic>
          <p:nvPicPr>
            <p:cNvPr id="4108" name="Picture 1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5294" y="885825"/>
              <a:ext cx="7620000" cy="50863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3" name="矩形: 圆角 42"/>
            <p:cNvSpPr/>
            <p:nvPr/>
          </p:nvSpPr>
          <p:spPr>
            <a:xfrm>
              <a:off x="6756215" y="5488039"/>
              <a:ext cx="3738159" cy="441364"/>
            </a:xfrm>
            <a:prstGeom prst="roundRect">
              <a:avLst/>
            </a:prstGeom>
            <a:solidFill>
              <a:srgbClr val="B0252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0" i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习近平</a:t>
              </a:r>
              <a:r>
                <a:rPr lang="zh-CN" altLang="en-US" dirty="0">
                  <a:cs typeface="+mn-ea"/>
                  <a:sym typeface="+mn-lt"/>
                </a:rPr>
                <a:t>福建</a:t>
              </a:r>
              <a:r>
                <a:rPr lang="zh-CN" altLang="en-US" b="0" i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考察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6" name="斜纹 5"/>
          <p:cNvSpPr/>
          <p:nvPr/>
        </p:nvSpPr>
        <p:spPr>
          <a:xfrm rot="5400000">
            <a:off x="10173578" y="30380"/>
            <a:ext cx="2015598" cy="2015598"/>
          </a:xfrm>
          <a:prstGeom prst="diagStripe">
            <a:avLst/>
          </a:prstGeom>
          <a:gradFill flip="none" rotWithShape="1">
            <a:gsLst>
              <a:gs pos="0">
                <a:srgbClr val="B0252A">
                  <a:shade val="30000"/>
                  <a:satMod val="115000"/>
                </a:srgbClr>
              </a:gs>
              <a:gs pos="50000">
                <a:srgbClr val="B0252A">
                  <a:shade val="67500"/>
                  <a:satMod val="115000"/>
                </a:srgbClr>
              </a:gs>
              <a:gs pos="100000">
                <a:srgbClr val="B0252A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57" name="组合 56"/>
          <p:cNvGrpSpPr/>
          <p:nvPr/>
        </p:nvGrpSpPr>
        <p:grpSpPr>
          <a:xfrm>
            <a:off x="4283388" y="1529598"/>
            <a:ext cx="7620000" cy="5086800"/>
            <a:chOff x="5209124" y="1048385"/>
            <a:chExt cx="7620000" cy="5086800"/>
          </a:xfrm>
        </p:grpSpPr>
        <p:pic>
          <p:nvPicPr>
            <p:cNvPr id="58" name="Picture 1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9124" y="1048385"/>
              <a:ext cx="7620000" cy="5086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9" name="矩形: 圆角 58"/>
            <p:cNvSpPr/>
            <p:nvPr/>
          </p:nvSpPr>
          <p:spPr>
            <a:xfrm>
              <a:off x="7528441" y="5673125"/>
              <a:ext cx="3738159" cy="441364"/>
            </a:xfrm>
            <a:prstGeom prst="roundRect">
              <a:avLst/>
            </a:prstGeom>
            <a:solidFill>
              <a:srgbClr val="B0252A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b="0" i="0" dirty="0"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习近平</a:t>
              </a:r>
              <a:r>
                <a:rPr lang="zh-CN" altLang="en-US" dirty="0">
                  <a:cs typeface="+mn-ea"/>
                  <a:sym typeface="+mn-lt"/>
                </a:rPr>
                <a:t>北京植树</a:t>
              </a:r>
              <a:endParaRPr lang="zh-CN" altLang="en-US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斜纹 5"/>
          <p:cNvSpPr/>
          <p:nvPr/>
        </p:nvSpPr>
        <p:spPr>
          <a:xfrm rot="5400000">
            <a:off x="10173578" y="30380"/>
            <a:ext cx="2015598" cy="2015598"/>
          </a:xfrm>
          <a:prstGeom prst="diagStripe">
            <a:avLst/>
          </a:prstGeom>
          <a:gradFill flip="none" rotWithShape="1">
            <a:gsLst>
              <a:gs pos="0">
                <a:srgbClr val="B0252A">
                  <a:shade val="30000"/>
                  <a:satMod val="115000"/>
                </a:srgbClr>
              </a:gs>
              <a:gs pos="50000">
                <a:srgbClr val="B0252A">
                  <a:shade val="67500"/>
                  <a:satMod val="115000"/>
                </a:srgbClr>
              </a:gs>
              <a:gs pos="100000">
                <a:srgbClr val="B0252A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-635" y="-14605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897949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426460" y="100965"/>
            <a:ext cx="119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政策背景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7519826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5401945" y="60960"/>
            <a:ext cx="1572752" cy="5575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" name="等腰三角形 52"/>
          <p:cNvSpPr/>
          <p:nvPr/>
        </p:nvSpPr>
        <p:spPr>
          <a:xfrm flipH="1" flipV="1">
            <a:off x="6974840" y="52768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397521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876540" y="100965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意义瞻望</a:t>
            </a:r>
            <a:endParaRPr lang="en-US" altLang="zh-CN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107884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635293" y="60960"/>
            <a:ext cx="1319792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spc="300" dirty="0">
                <a:solidFill>
                  <a:srgbClr val="C00000"/>
                </a:solidFill>
                <a:cs typeface="+mn-ea"/>
                <a:sym typeface="+mn-lt"/>
              </a:rPr>
              <a:t>绿韵中国，生态新章</a:t>
            </a:r>
            <a:endParaRPr lang="zh-CN" altLang="en-US" sz="1600" spc="30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pic>
        <p:nvPicPr>
          <p:cNvPr id="7" name="video_和谐共生 _ 筑绿中国_0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573087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369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-635" y="-14605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897949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426460" y="100965"/>
            <a:ext cx="119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政策背景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7519826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5401945" y="60960"/>
            <a:ext cx="1572752" cy="5575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" name="等腰三角形 52"/>
          <p:cNvSpPr/>
          <p:nvPr/>
        </p:nvSpPr>
        <p:spPr>
          <a:xfrm flipH="1" flipV="1">
            <a:off x="6974840" y="52768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397521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876540" y="100965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意义瞻望</a:t>
            </a:r>
            <a:endParaRPr lang="en-US" altLang="zh-CN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107884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635293" y="60960"/>
            <a:ext cx="1319792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spc="300" dirty="0">
                <a:solidFill>
                  <a:srgbClr val="C00000"/>
                </a:solidFill>
                <a:cs typeface="+mn-ea"/>
                <a:sym typeface="+mn-lt"/>
              </a:rPr>
              <a:t>绿韵中国，生态新章</a:t>
            </a:r>
            <a:endParaRPr lang="zh-CN" altLang="en-US" sz="1600" spc="30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46735" y="878840"/>
            <a:ext cx="715010" cy="1624330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山河</a:t>
            </a:r>
          </a:p>
        </p:txBody>
      </p:sp>
      <p:sp>
        <p:nvSpPr>
          <p:cNvPr id="26" name="矩形 25"/>
          <p:cNvSpPr/>
          <p:nvPr/>
        </p:nvSpPr>
        <p:spPr>
          <a:xfrm>
            <a:off x="1427480" y="1667510"/>
            <a:ext cx="516890" cy="146367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之鉴</a:t>
            </a:r>
          </a:p>
        </p:txBody>
      </p:sp>
      <p:sp>
        <p:nvSpPr>
          <p:cNvPr id="28" name="矩形 27"/>
          <p:cNvSpPr/>
          <p:nvPr/>
        </p:nvSpPr>
        <p:spPr>
          <a:xfrm>
            <a:off x="1003300" y="4113440"/>
            <a:ext cx="516890" cy="146367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千万工程绘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369" y="734060"/>
            <a:ext cx="4322248" cy="28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6618" y="733992"/>
            <a:ext cx="5011261" cy="287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630" y="3640876"/>
            <a:ext cx="4322249" cy="2879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824" y="3618015"/>
            <a:ext cx="5011261" cy="28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001" y="745424"/>
            <a:ext cx="4322248" cy="2879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250" y="747012"/>
            <a:ext cx="5011260" cy="2879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斜纹 5"/>
          <p:cNvSpPr/>
          <p:nvPr/>
        </p:nvSpPr>
        <p:spPr>
          <a:xfrm rot="5400000">
            <a:off x="10173578" y="30380"/>
            <a:ext cx="2015598" cy="2015598"/>
          </a:xfrm>
          <a:prstGeom prst="diagStripe">
            <a:avLst/>
          </a:prstGeom>
          <a:gradFill flip="none" rotWithShape="1">
            <a:gsLst>
              <a:gs pos="0">
                <a:srgbClr val="B0252A">
                  <a:shade val="30000"/>
                  <a:satMod val="115000"/>
                </a:srgbClr>
              </a:gs>
              <a:gs pos="50000">
                <a:srgbClr val="B0252A">
                  <a:shade val="67500"/>
                  <a:satMod val="115000"/>
                </a:srgbClr>
              </a:gs>
              <a:gs pos="100000">
                <a:srgbClr val="B0252A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5136" name="Picture 16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1001" y="3622637"/>
            <a:ext cx="5001504" cy="28790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8" name="Picture 18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2334" y="3634701"/>
            <a:ext cx="4322175" cy="2892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5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-635" y="-14605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897949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426460" y="100965"/>
            <a:ext cx="119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政策背景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7519826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5401945" y="60960"/>
            <a:ext cx="1572752" cy="5575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" name="等腰三角形 52"/>
          <p:cNvSpPr/>
          <p:nvPr/>
        </p:nvSpPr>
        <p:spPr>
          <a:xfrm flipH="1" flipV="1">
            <a:off x="6974840" y="52768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397521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876540" y="100965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意义瞻望</a:t>
            </a:r>
            <a:endParaRPr lang="en-US" altLang="zh-CN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107884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635293" y="60960"/>
            <a:ext cx="1319792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spc="300" dirty="0">
                <a:solidFill>
                  <a:srgbClr val="C00000"/>
                </a:solidFill>
                <a:cs typeface="+mn-ea"/>
                <a:sym typeface="+mn-lt"/>
              </a:rPr>
              <a:t>绿韵中国，生态新章</a:t>
            </a:r>
            <a:endParaRPr lang="zh-CN" altLang="en-US" sz="1600" spc="30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46735" y="878840"/>
            <a:ext cx="715010" cy="1624330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山河</a:t>
            </a:r>
          </a:p>
        </p:txBody>
      </p:sp>
      <p:sp>
        <p:nvSpPr>
          <p:cNvPr id="26" name="矩形 25"/>
          <p:cNvSpPr/>
          <p:nvPr/>
        </p:nvSpPr>
        <p:spPr>
          <a:xfrm>
            <a:off x="1427480" y="1667510"/>
            <a:ext cx="516890" cy="146367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之鉴</a:t>
            </a:r>
          </a:p>
        </p:txBody>
      </p:sp>
      <p:sp>
        <p:nvSpPr>
          <p:cNvPr id="28" name="矩形 27"/>
          <p:cNvSpPr/>
          <p:nvPr/>
        </p:nvSpPr>
        <p:spPr>
          <a:xfrm>
            <a:off x="1003300" y="4113440"/>
            <a:ext cx="516890" cy="146367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千万工程绘</a:t>
            </a:r>
          </a:p>
        </p:txBody>
      </p:sp>
      <p:pic>
        <p:nvPicPr>
          <p:cNvPr id="6152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0126" y="846816"/>
            <a:ext cx="2987999" cy="57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4" name="Picture 10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1423" y="846816"/>
            <a:ext cx="2987999" cy="57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6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720" y="846816"/>
            <a:ext cx="2988000" cy="57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8" name="Picture 1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4018" y="846816"/>
            <a:ext cx="2988000" cy="57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2" name="Picture 1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5317" y="846816"/>
            <a:ext cx="2988000" cy="57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斜纹 5"/>
          <p:cNvSpPr/>
          <p:nvPr/>
        </p:nvSpPr>
        <p:spPr>
          <a:xfrm rot="5400000">
            <a:off x="10173578" y="30380"/>
            <a:ext cx="2015598" cy="2015598"/>
          </a:xfrm>
          <a:prstGeom prst="diagStripe">
            <a:avLst/>
          </a:prstGeom>
          <a:gradFill flip="none" rotWithShape="1">
            <a:gsLst>
              <a:gs pos="0">
                <a:srgbClr val="B0252A">
                  <a:shade val="30000"/>
                  <a:satMod val="115000"/>
                </a:srgbClr>
              </a:gs>
              <a:gs pos="50000">
                <a:srgbClr val="B0252A">
                  <a:shade val="67500"/>
                  <a:satMod val="115000"/>
                </a:srgbClr>
              </a:gs>
              <a:gs pos="100000">
                <a:srgbClr val="B0252A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1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-635" y="-14605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897949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426460" y="100965"/>
            <a:ext cx="119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政策背景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7519826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5401945" y="60960"/>
            <a:ext cx="1572752" cy="5575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3" name="等腰三角形 52"/>
          <p:cNvSpPr/>
          <p:nvPr/>
        </p:nvSpPr>
        <p:spPr>
          <a:xfrm flipH="1" flipV="1">
            <a:off x="6974840" y="52768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397521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876540" y="100965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意义瞻望</a:t>
            </a:r>
            <a:endParaRPr lang="en-US" altLang="zh-CN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107884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5635293" y="60960"/>
            <a:ext cx="1319792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spc="300" dirty="0">
                <a:solidFill>
                  <a:srgbClr val="C00000"/>
                </a:solidFill>
                <a:cs typeface="+mn-ea"/>
                <a:sym typeface="+mn-lt"/>
              </a:rPr>
              <a:t>绿韵中国，生态新章</a:t>
            </a:r>
            <a:endParaRPr lang="zh-CN" altLang="en-US" sz="1600" spc="30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46735" y="878840"/>
            <a:ext cx="715010" cy="1624330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山河</a:t>
            </a:r>
          </a:p>
        </p:txBody>
      </p:sp>
      <p:sp>
        <p:nvSpPr>
          <p:cNvPr id="26" name="矩形 25"/>
          <p:cNvSpPr/>
          <p:nvPr/>
        </p:nvSpPr>
        <p:spPr>
          <a:xfrm>
            <a:off x="1427480" y="1667510"/>
            <a:ext cx="516890" cy="146367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之鉴</a:t>
            </a:r>
            <a:endParaRPr lang="zh-CN" altLang="en-US" sz="5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1003300" y="4113440"/>
            <a:ext cx="516890" cy="146367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千万工程绘</a:t>
            </a: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119" y="733992"/>
            <a:ext cx="2988000" cy="57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515" y="733992"/>
            <a:ext cx="2988000" cy="57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5912" y="733992"/>
            <a:ext cx="2988000" cy="57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7958" y="801937"/>
            <a:ext cx="2988000" cy="57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斜纹 5"/>
          <p:cNvSpPr/>
          <p:nvPr/>
        </p:nvSpPr>
        <p:spPr>
          <a:xfrm rot="5400000">
            <a:off x="10173578" y="30380"/>
            <a:ext cx="2015598" cy="2015598"/>
          </a:xfrm>
          <a:prstGeom prst="diagStripe">
            <a:avLst/>
          </a:prstGeom>
          <a:gradFill flip="none" rotWithShape="1">
            <a:gsLst>
              <a:gs pos="0">
                <a:srgbClr val="B0252A">
                  <a:shade val="30000"/>
                  <a:satMod val="115000"/>
                </a:srgbClr>
              </a:gs>
              <a:gs pos="50000">
                <a:srgbClr val="B0252A">
                  <a:shade val="67500"/>
                  <a:satMod val="115000"/>
                </a:srgbClr>
              </a:gs>
              <a:gs pos="100000">
                <a:srgbClr val="B0252A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482009" y="22096"/>
            <a:ext cx="3657600" cy="6858000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5096767" y="1551266"/>
            <a:ext cx="0" cy="363031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959346" y="1551266"/>
            <a:ext cx="2786911" cy="3143792"/>
            <a:chOff x="309210" y="1551266"/>
            <a:chExt cx="2786911" cy="3143792"/>
          </a:xfrm>
        </p:grpSpPr>
        <p:sp>
          <p:nvSpPr>
            <p:cNvPr id="35" name="文本框 34"/>
            <p:cNvSpPr txBox="1"/>
            <p:nvPr/>
          </p:nvSpPr>
          <p:spPr>
            <a:xfrm>
              <a:off x="309210" y="3679395"/>
              <a:ext cx="27869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spc="3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目录</a:t>
              </a:r>
              <a:endParaRPr lang="zh-HK" altLang="en-US" sz="60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02071" y="1551266"/>
              <a:ext cx="1801188" cy="1801188"/>
              <a:chOff x="844063" y="1551266"/>
              <a:chExt cx="1801188" cy="1801188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1197596" y="1906806"/>
                <a:ext cx="1094123" cy="1090108"/>
                <a:chOff x="1709739" y="2636838"/>
                <a:chExt cx="1590160" cy="1584325"/>
              </a:xfrm>
              <a:solidFill>
                <a:schemeClr val="bg1"/>
              </a:solidFill>
              <a:effectLst/>
            </p:grpSpPr>
            <p:sp>
              <p:nvSpPr>
                <p:cNvPr id="9" name="Freeform 6"/>
                <p:cNvSpPr/>
                <p:nvPr/>
              </p:nvSpPr>
              <p:spPr bwMode="auto">
                <a:xfrm>
                  <a:off x="1709739" y="2636838"/>
                  <a:ext cx="1468102" cy="1467130"/>
                </a:xfrm>
                <a:custGeom>
                  <a:avLst/>
                  <a:gdLst>
                    <a:gd name="T0" fmla="*/ 691 w 1276"/>
                    <a:gd name="T1" fmla="*/ 1168 h 1274"/>
                    <a:gd name="T2" fmla="*/ 662 w 1276"/>
                    <a:gd name="T3" fmla="*/ 1267 h 1274"/>
                    <a:gd name="T4" fmla="*/ 654 w 1276"/>
                    <a:gd name="T5" fmla="*/ 1273 h 1274"/>
                    <a:gd name="T6" fmla="*/ 643 w 1276"/>
                    <a:gd name="T7" fmla="*/ 1274 h 1274"/>
                    <a:gd name="T8" fmla="*/ 172 w 1276"/>
                    <a:gd name="T9" fmla="*/ 1274 h 1274"/>
                    <a:gd name="T10" fmla="*/ 81 w 1276"/>
                    <a:gd name="T11" fmla="*/ 1253 h 1274"/>
                    <a:gd name="T12" fmla="*/ 1 w 1276"/>
                    <a:gd name="T13" fmla="*/ 1113 h 1274"/>
                    <a:gd name="T14" fmla="*/ 0 w 1276"/>
                    <a:gd name="T15" fmla="*/ 892 h 1274"/>
                    <a:gd name="T16" fmla="*/ 0 w 1276"/>
                    <a:gd name="T17" fmla="*/ 170 h 1274"/>
                    <a:gd name="T18" fmla="*/ 170 w 1276"/>
                    <a:gd name="T19" fmla="*/ 0 h 1274"/>
                    <a:gd name="T20" fmla="*/ 1110 w 1276"/>
                    <a:gd name="T21" fmla="*/ 0 h 1274"/>
                    <a:gd name="T22" fmla="*/ 1273 w 1276"/>
                    <a:gd name="T23" fmla="*/ 131 h 1274"/>
                    <a:gd name="T24" fmla="*/ 1276 w 1276"/>
                    <a:gd name="T25" fmla="*/ 168 h 1274"/>
                    <a:gd name="T26" fmla="*/ 1276 w 1276"/>
                    <a:gd name="T27" fmla="*/ 629 h 1274"/>
                    <a:gd name="T28" fmla="*/ 1275 w 1276"/>
                    <a:gd name="T29" fmla="*/ 645 h 1274"/>
                    <a:gd name="T30" fmla="*/ 1171 w 1276"/>
                    <a:gd name="T31" fmla="*/ 659 h 1274"/>
                    <a:gd name="T32" fmla="*/ 1171 w 1276"/>
                    <a:gd name="T33" fmla="*/ 214 h 1274"/>
                    <a:gd name="T34" fmla="*/ 106 w 1276"/>
                    <a:gd name="T35" fmla="*/ 214 h 1274"/>
                    <a:gd name="T36" fmla="*/ 106 w 1276"/>
                    <a:gd name="T37" fmla="*/ 230 h 1274"/>
                    <a:gd name="T38" fmla="*/ 105 w 1276"/>
                    <a:gd name="T39" fmla="*/ 1102 h 1274"/>
                    <a:gd name="T40" fmla="*/ 171 w 1276"/>
                    <a:gd name="T41" fmla="*/ 1168 h 1274"/>
                    <a:gd name="T42" fmla="*/ 671 w 1276"/>
                    <a:gd name="T43" fmla="*/ 1168 h 1274"/>
                    <a:gd name="T44" fmla="*/ 691 w 1276"/>
                    <a:gd name="T45" fmla="*/ 1168 h 1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276" h="1274">
                      <a:moveTo>
                        <a:pt x="691" y="1168"/>
                      </a:moveTo>
                      <a:cubicBezTo>
                        <a:pt x="681" y="1203"/>
                        <a:pt x="672" y="1235"/>
                        <a:pt x="662" y="1267"/>
                      </a:cubicBezTo>
                      <a:cubicBezTo>
                        <a:pt x="661" y="1270"/>
                        <a:pt x="657" y="1272"/>
                        <a:pt x="654" y="1273"/>
                      </a:cubicBezTo>
                      <a:cubicBezTo>
                        <a:pt x="651" y="1274"/>
                        <a:pt x="647" y="1274"/>
                        <a:pt x="643" y="1274"/>
                      </a:cubicBezTo>
                      <a:cubicBezTo>
                        <a:pt x="486" y="1274"/>
                        <a:pt x="329" y="1273"/>
                        <a:pt x="172" y="1274"/>
                      </a:cubicBezTo>
                      <a:cubicBezTo>
                        <a:pt x="140" y="1274"/>
                        <a:pt x="109" y="1269"/>
                        <a:pt x="81" y="1253"/>
                      </a:cubicBezTo>
                      <a:cubicBezTo>
                        <a:pt x="29" y="1221"/>
                        <a:pt x="1" y="1174"/>
                        <a:pt x="1" y="1113"/>
                      </a:cubicBezTo>
                      <a:cubicBezTo>
                        <a:pt x="0" y="1039"/>
                        <a:pt x="0" y="966"/>
                        <a:pt x="0" y="892"/>
                      </a:cubicBezTo>
                      <a:cubicBezTo>
                        <a:pt x="0" y="651"/>
                        <a:pt x="0" y="411"/>
                        <a:pt x="0" y="170"/>
                      </a:cubicBezTo>
                      <a:cubicBezTo>
                        <a:pt x="0" y="68"/>
                        <a:pt x="68" y="0"/>
                        <a:pt x="170" y="0"/>
                      </a:cubicBezTo>
                      <a:cubicBezTo>
                        <a:pt x="483" y="0"/>
                        <a:pt x="797" y="0"/>
                        <a:pt x="1110" y="0"/>
                      </a:cubicBezTo>
                      <a:cubicBezTo>
                        <a:pt x="1194" y="0"/>
                        <a:pt x="1258" y="51"/>
                        <a:pt x="1273" y="131"/>
                      </a:cubicBezTo>
                      <a:cubicBezTo>
                        <a:pt x="1276" y="143"/>
                        <a:pt x="1276" y="156"/>
                        <a:pt x="1276" y="168"/>
                      </a:cubicBezTo>
                      <a:cubicBezTo>
                        <a:pt x="1276" y="322"/>
                        <a:pt x="1276" y="475"/>
                        <a:pt x="1276" y="629"/>
                      </a:cubicBezTo>
                      <a:cubicBezTo>
                        <a:pt x="1276" y="634"/>
                        <a:pt x="1276" y="638"/>
                        <a:pt x="1275" y="645"/>
                      </a:cubicBezTo>
                      <a:cubicBezTo>
                        <a:pt x="1239" y="640"/>
                        <a:pt x="1205" y="643"/>
                        <a:pt x="1171" y="659"/>
                      </a:cubicBezTo>
                      <a:cubicBezTo>
                        <a:pt x="1171" y="509"/>
                        <a:pt x="1171" y="362"/>
                        <a:pt x="1171" y="214"/>
                      </a:cubicBezTo>
                      <a:cubicBezTo>
                        <a:pt x="816" y="214"/>
                        <a:pt x="462" y="214"/>
                        <a:pt x="106" y="214"/>
                      </a:cubicBezTo>
                      <a:cubicBezTo>
                        <a:pt x="106" y="219"/>
                        <a:pt x="106" y="224"/>
                        <a:pt x="106" y="230"/>
                      </a:cubicBezTo>
                      <a:cubicBezTo>
                        <a:pt x="106" y="521"/>
                        <a:pt x="106" y="812"/>
                        <a:pt x="105" y="1102"/>
                      </a:cubicBezTo>
                      <a:cubicBezTo>
                        <a:pt x="105" y="1141"/>
                        <a:pt x="125" y="1169"/>
                        <a:pt x="171" y="1168"/>
                      </a:cubicBezTo>
                      <a:cubicBezTo>
                        <a:pt x="338" y="1167"/>
                        <a:pt x="504" y="1168"/>
                        <a:pt x="671" y="1168"/>
                      </a:cubicBezTo>
                      <a:cubicBezTo>
                        <a:pt x="677" y="1168"/>
                        <a:pt x="683" y="1168"/>
                        <a:pt x="691" y="116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0" name="Freeform 7"/>
                <p:cNvSpPr>
                  <a:spLocks noEditPoints="1"/>
                </p:cNvSpPr>
                <p:nvPr/>
              </p:nvSpPr>
              <p:spPr bwMode="auto">
                <a:xfrm>
                  <a:off x="2571440" y="3653665"/>
                  <a:ext cx="569443" cy="567498"/>
                </a:xfrm>
                <a:custGeom>
                  <a:avLst/>
                  <a:gdLst>
                    <a:gd name="T0" fmla="*/ 328 w 495"/>
                    <a:gd name="T1" fmla="*/ 1 h 493"/>
                    <a:gd name="T2" fmla="*/ 495 w 495"/>
                    <a:gd name="T3" fmla="*/ 167 h 493"/>
                    <a:gd name="T4" fmla="*/ 427 w 495"/>
                    <a:gd name="T5" fmla="*/ 236 h 493"/>
                    <a:gd name="T6" fmla="*/ 240 w 495"/>
                    <a:gd name="T7" fmla="*/ 421 h 493"/>
                    <a:gd name="T8" fmla="*/ 216 w 495"/>
                    <a:gd name="T9" fmla="*/ 436 h 493"/>
                    <a:gd name="T10" fmla="*/ 40 w 495"/>
                    <a:gd name="T11" fmla="*/ 488 h 493"/>
                    <a:gd name="T12" fmla="*/ 9 w 495"/>
                    <a:gd name="T13" fmla="*/ 484 h 493"/>
                    <a:gd name="T14" fmla="*/ 6 w 495"/>
                    <a:gd name="T15" fmla="*/ 454 h 493"/>
                    <a:gd name="T16" fmla="*/ 58 w 495"/>
                    <a:gd name="T17" fmla="*/ 276 h 493"/>
                    <a:gd name="T18" fmla="*/ 67 w 495"/>
                    <a:gd name="T19" fmla="*/ 259 h 493"/>
                    <a:gd name="T20" fmla="*/ 327 w 495"/>
                    <a:gd name="T21" fmla="*/ 1 h 493"/>
                    <a:gd name="T22" fmla="*/ 328 w 495"/>
                    <a:gd name="T23" fmla="*/ 1 h 493"/>
                    <a:gd name="T24" fmla="*/ 102 w 495"/>
                    <a:gd name="T25" fmla="*/ 292 h 493"/>
                    <a:gd name="T26" fmla="*/ 72 w 495"/>
                    <a:gd name="T27" fmla="*/ 396 h 493"/>
                    <a:gd name="T28" fmla="*/ 74 w 495"/>
                    <a:gd name="T29" fmla="*/ 405 h 493"/>
                    <a:gd name="T30" fmla="*/ 113 w 495"/>
                    <a:gd name="T31" fmla="*/ 418 h 493"/>
                    <a:gd name="T32" fmla="*/ 148 w 495"/>
                    <a:gd name="T33" fmla="*/ 408 h 493"/>
                    <a:gd name="T34" fmla="*/ 200 w 495"/>
                    <a:gd name="T35" fmla="*/ 393 h 493"/>
                    <a:gd name="T36" fmla="*/ 185 w 495"/>
                    <a:gd name="T37" fmla="*/ 316 h 493"/>
                    <a:gd name="T38" fmla="*/ 178 w 495"/>
                    <a:gd name="T39" fmla="*/ 308 h 493"/>
                    <a:gd name="T40" fmla="*/ 102 w 495"/>
                    <a:gd name="T41" fmla="*/ 292 h 4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495" h="493">
                      <a:moveTo>
                        <a:pt x="328" y="1"/>
                      </a:moveTo>
                      <a:cubicBezTo>
                        <a:pt x="384" y="56"/>
                        <a:pt x="439" y="112"/>
                        <a:pt x="495" y="167"/>
                      </a:cubicBezTo>
                      <a:cubicBezTo>
                        <a:pt x="473" y="190"/>
                        <a:pt x="450" y="213"/>
                        <a:pt x="427" y="236"/>
                      </a:cubicBezTo>
                      <a:cubicBezTo>
                        <a:pt x="365" y="298"/>
                        <a:pt x="303" y="360"/>
                        <a:pt x="240" y="421"/>
                      </a:cubicBezTo>
                      <a:cubicBezTo>
                        <a:pt x="233" y="428"/>
                        <a:pt x="225" y="433"/>
                        <a:pt x="216" y="436"/>
                      </a:cubicBezTo>
                      <a:cubicBezTo>
                        <a:pt x="157" y="454"/>
                        <a:pt x="98" y="471"/>
                        <a:pt x="40" y="488"/>
                      </a:cubicBezTo>
                      <a:cubicBezTo>
                        <a:pt x="28" y="492"/>
                        <a:pt x="18" y="493"/>
                        <a:pt x="9" y="484"/>
                      </a:cubicBezTo>
                      <a:cubicBezTo>
                        <a:pt x="0" y="475"/>
                        <a:pt x="3" y="464"/>
                        <a:pt x="6" y="454"/>
                      </a:cubicBezTo>
                      <a:cubicBezTo>
                        <a:pt x="23" y="395"/>
                        <a:pt x="40" y="335"/>
                        <a:pt x="58" y="276"/>
                      </a:cubicBezTo>
                      <a:cubicBezTo>
                        <a:pt x="60" y="270"/>
                        <a:pt x="63" y="264"/>
                        <a:pt x="67" y="259"/>
                      </a:cubicBezTo>
                      <a:cubicBezTo>
                        <a:pt x="154" y="173"/>
                        <a:pt x="240" y="87"/>
                        <a:pt x="327" y="1"/>
                      </a:cubicBezTo>
                      <a:cubicBezTo>
                        <a:pt x="328" y="1"/>
                        <a:pt x="329" y="0"/>
                        <a:pt x="328" y="1"/>
                      </a:cubicBezTo>
                      <a:close/>
                      <a:moveTo>
                        <a:pt x="102" y="292"/>
                      </a:moveTo>
                      <a:cubicBezTo>
                        <a:pt x="91" y="327"/>
                        <a:pt x="81" y="362"/>
                        <a:pt x="72" y="396"/>
                      </a:cubicBezTo>
                      <a:cubicBezTo>
                        <a:pt x="71" y="399"/>
                        <a:pt x="72" y="403"/>
                        <a:pt x="74" y="405"/>
                      </a:cubicBezTo>
                      <a:cubicBezTo>
                        <a:pt x="87" y="423"/>
                        <a:pt x="92" y="425"/>
                        <a:pt x="113" y="418"/>
                      </a:cubicBezTo>
                      <a:cubicBezTo>
                        <a:pt x="125" y="415"/>
                        <a:pt x="136" y="411"/>
                        <a:pt x="148" y="408"/>
                      </a:cubicBezTo>
                      <a:cubicBezTo>
                        <a:pt x="165" y="403"/>
                        <a:pt x="182" y="398"/>
                        <a:pt x="200" y="393"/>
                      </a:cubicBezTo>
                      <a:cubicBezTo>
                        <a:pt x="195" y="365"/>
                        <a:pt x="190" y="341"/>
                        <a:pt x="185" y="316"/>
                      </a:cubicBezTo>
                      <a:cubicBezTo>
                        <a:pt x="185" y="313"/>
                        <a:pt x="181" y="309"/>
                        <a:pt x="178" y="308"/>
                      </a:cubicBezTo>
                      <a:cubicBezTo>
                        <a:pt x="153" y="302"/>
                        <a:pt x="128" y="297"/>
                        <a:pt x="102" y="2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Freeform 8"/>
                <p:cNvSpPr/>
                <p:nvPr/>
              </p:nvSpPr>
              <p:spPr bwMode="auto">
                <a:xfrm>
                  <a:off x="2262162" y="3371619"/>
                  <a:ext cx="608346" cy="119627"/>
                </a:xfrm>
                <a:custGeom>
                  <a:avLst/>
                  <a:gdLst>
                    <a:gd name="T0" fmla="*/ 0 w 529"/>
                    <a:gd name="T1" fmla="*/ 104 h 104"/>
                    <a:gd name="T2" fmla="*/ 0 w 529"/>
                    <a:gd name="T3" fmla="*/ 0 h 104"/>
                    <a:gd name="T4" fmla="*/ 529 w 529"/>
                    <a:gd name="T5" fmla="*/ 0 h 104"/>
                    <a:gd name="T6" fmla="*/ 529 w 529"/>
                    <a:gd name="T7" fmla="*/ 104 h 104"/>
                    <a:gd name="T8" fmla="*/ 0 w 529"/>
                    <a:gd name="T9" fmla="*/ 104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9" h="104">
                      <a:moveTo>
                        <a:pt x="0" y="104"/>
                      </a:moveTo>
                      <a:cubicBezTo>
                        <a:pt x="0" y="69"/>
                        <a:pt x="0" y="35"/>
                        <a:pt x="0" y="0"/>
                      </a:cubicBezTo>
                      <a:cubicBezTo>
                        <a:pt x="177" y="0"/>
                        <a:pt x="352" y="0"/>
                        <a:pt x="529" y="0"/>
                      </a:cubicBezTo>
                      <a:cubicBezTo>
                        <a:pt x="529" y="35"/>
                        <a:pt x="529" y="69"/>
                        <a:pt x="529" y="104"/>
                      </a:cubicBezTo>
                      <a:cubicBezTo>
                        <a:pt x="353" y="104"/>
                        <a:pt x="177" y="104"/>
                        <a:pt x="0" y="10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Freeform 9"/>
                <p:cNvSpPr/>
                <p:nvPr/>
              </p:nvSpPr>
              <p:spPr bwMode="auto">
                <a:xfrm>
                  <a:off x="2263134" y="3127502"/>
                  <a:ext cx="607373" cy="119627"/>
                </a:xfrm>
                <a:custGeom>
                  <a:avLst/>
                  <a:gdLst>
                    <a:gd name="T0" fmla="*/ 528 w 528"/>
                    <a:gd name="T1" fmla="*/ 0 h 104"/>
                    <a:gd name="T2" fmla="*/ 528 w 528"/>
                    <a:gd name="T3" fmla="*/ 104 h 104"/>
                    <a:gd name="T4" fmla="*/ 0 w 528"/>
                    <a:gd name="T5" fmla="*/ 104 h 104"/>
                    <a:gd name="T6" fmla="*/ 0 w 528"/>
                    <a:gd name="T7" fmla="*/ 0 h 104"/>
                    <a:gd name="T8" fmla="*/ 528 w 528"/>
                    <a:gd name="T9" fmla="*/ 0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8" h="104">
                      <a:moveTo>
                        <a:pt x="528" y="0"/>
                      </a:moveTo>
                      <a:cubicBezTo>
                        <a:pt x="528" y="35"/>
                        <a:pt x="528" y="69"/>
                        <a:pt x="528" y="104"/>
                      </a:cubicBezTo>
                      <a:cubicBezTo>
                        <a:pt x="352" y="104"/>
                        <a:pt x="177" y="104"/>
                        <a:pt x="0" y="104"/>
                      </a:cubicBezTo>
                      <a:cubicBezTo>
                        <a:pt x="0" y="70"/>
                        <a:pt x="0" y="36"/>
                        <a:pt x="0" y="0"/>
                      </a:cubicBezTo>
                      <a:cubicBezTo>
                        <a:pt x="176" y="0"/>
                        <a:pt x="352" y="0"/>
                        <a:pt x="5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Freeform 10"/>
                <p:cNvSpPr/>
                <p:nvPr/>
              </p:nvSpPr>
              <p:spPr bwMode="auto">
                <a:xfrm>
                  <a:off x="2263134" y="3615735"/>
                  <a:ext cx="549991" cy="120599"/>
                </a:xfrm>
                <a:custGeom>
                  <a:avLst/>
                  <a:gdLst>
                    <a:gd name="T0" fmla="*/ 0 w 478"/>
                    <a:gd name="T1" fmla="*/ 0 h 105"/>
                    <a:gd name="T2" fmla="*/ 478 w 478"/>
                    <a:gd name="T3" fmla="*/ 0 h 105"/>
                    <a:gd name="T4" fmla="*/ 472 w 478"/>
                    <a:gd name="T5" fmla="*/ 8 h 105"/>
                    <a:gd name="T6" fmla="*/ 383 w 478"/>
                    <a:gd name="T7" fmla="*/ 97 h 105"/>
                    <a:gd name="T8" fmla="*/ 366 w 478"/>
                    <a:gd name="T9" fmla="*/ 104 h 105"/>
                    <a:gd name="T10" fmla="*/ 8 w 478"/>
                    <a:gd name="T11" fmla="*/ 105 h 105"/>
                    <a:gd name="T12" fmla="*/ 0 w 478"/>
                    <a:gd name="T13" fmla="*/ 104 h 105"/>
                    <a:gd name="T14" fmla="*/ 0 w 478"/>
                    <a:gd name="T15" fmla="*/ 0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78" h="105">
                      <a:moveTo>
                        <a:pt x="0" y="0"/>
                      </a:moveTo>
                      <a:cubicBezTo>
                        <a:pt x="159" y="0"/>
                        <a:pt x="318" y="0"/>
                        <a:pt x="478" y="0"/>
                      </a:cubicBezTo>
                      <a:cubicBezTo>
                        <a:pt x="476" y="3"/>
                        <a:pt x="474" y="6"/>
                        <a:pt x="472" y="8"/>
                      </a:cubicBezTo>
                      <a:cubicBezTo>
                        <a:pt x="443" y="38"/>
                        <a:pt x="413" y="68"/>
                        <a:pt x="383" y="97"/>
                      </a:cubicBezTo>
                      <a:cubicBezTo>
                        <a:pt x="379" y="101"/>
                        <a:pt x="372" y="104"/>
                        <a:pt x="366" y="104"/>
                      </a:cubicBezTo>
                      <a:cubicBezTo>
                        <a:pt x="247" y="105"/>
                        <a:pt x="127" y="105"/>
                        <a:pt x="8" y="105"/>
                      </a:cubicBezTo>
                      <a:cubicBezTo>
                        <a:pt x="6" y="105"/>
                        <a:pt x="3" y="104"/>
                        <a:pt x="0" y="104"/>
                      </a:cubicBezTo>
                      <a:cubicBezTo>
                        <a:pt x="0" y="69"/>
                        <a:pt x="0" y="35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Freeform 11"/>
                <p:cNvSpPr/>
                <p:nvPr/>
              </p:nvSpPr>
              <p:spPr bwMode="auto">
                <a:xfrm>
                  <a:off x="3016880" y="3492218"/>
                  <a:ext cx="283019" cy="281074"/>
                </a:xfrm>
                <a:custGeom>
                  <a:avLst/>
                  <a:gdLst>
                    <a:gd name="T0" fmla="*/ 0 w 246"/>
                    <a:gd name="T1" fmla="*/ 87 h 244"/>
                    <a:gd name="T2" fmla="*/ 66 w 246"/>
                    <a:gd name="T3" fmla="*/ 20 h 244"/>
                    <a:gd name="T4" fmla="*/ 139 w 246"/>
                    <a:gd name="T5" fmla="*/ 20 h 244"/>
                    <a:gd name="T6" fmla="*/ 225 w 246"/>
                    <a:gd name="T7" fmla="*/ 106 h 244"/>
                    <a:gd name="T8" fmla="*/ 227 w 246"/>
                    <a:gd name="T9" fmla="*/ 178 h 244"/>
                    <a:gd name="T10" fmla="*/ 159 w 246"/>
                    <a:gd name="T11" fmla="*/ 244 h 244"/>
                    <a:gd name="T12" fmla="*/ 0 w 246"/>
                    <a:gd name="T13" fmla="*/ 87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6" h="244">
                      <a:moveTo>
                        <a:pt x="0" y="87"/>
                      </a:moveTo>
                      <a:cubicBezTo>
                        <a:pt x="22" y="64"/>
                        <a:pt x="43" y="41"/>
                        <a:pt x="66" y="20"/>
                      </a:cubicBezTo>
                      <a:cubicBezTo>
                        <a:pt x="87" y="1"/>
                        <a:pt x="118" y="0"/>
                        <a:pt x="139" y="20"/>
                      </a:cubicBezTo>
                      <a:cubicBezTo>
                        <a:pt x="169" y="48"/>
                        <a:pt x="198" y="76"/>
                        <a:pt x="225" y="106"/>
                      </a:cubicBezTo>
                      <a:cubicBezTo>
                        <a:pt x="245" y="127"/>
                        <a:pt x="246" y="158"/>
                        <a:pt x="227" y="178"/>
                      </a:cubicBezTo>
                      <a:cubicBezTo>
                        <a:pt x="205" y="202"/>
                        <a:pt x="181" y="223"/>
                        <a:pt x="159" y="244"/>
                      </a:cubicBezTo>
                      <a:cubicBezTo>
                        <a:pt x="107" y="193"/>
                        <a:pt x="54" y="140"/>
                        <a:pt x="0" y="8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Freeform 12"/>
                <p:cNvSpPr/>
                <p:nvPr/>
              </p:nvSpPr>
              <p:spPr bwMode="auto">
                <a:xfrm>
                  <a:off x="2017073" y="3372591"/>
                  <a:ext cx="119627" cy="117682"/>
                </a:xfrm>
                <a:custGeom>
                  <a:avLst/>
                  <a:gdLst>
                    <a:gd name="T0" fmla="*/ 0 w 104"/>
                    <a:gd name="T1" fmla="*/ 102 h 102"/>
                    <a:gd name="T2" fmla="*/ 0 w 104"/>
                    <a:gd name="T3" fmla="*/ 0 h 102"/>
                    <a:gd name="T4" fmla="*/ 104 w 104"/>
                    <a:gd name="T5" fmla="*/ 0 h 102"/>
                    <a:gd name="T6" fmla="*/ 104 w 104"/>
                    <a:gd name="T7" fmla="*/ 102 h 102"/>
                    <a:gd name="T8" fmla="*/ 0 w 104"/>
                    <a:gd name="T9" fmla="*/ 102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102">
                      <a:moveTo>
                        <a:pt x="0" y="102"/>
                      </a:moveTo>
                      <a:cubicBezTo>
                        <a:pt x="0" y="68"/>
                        <a:pt x="0" y="34"/>
                        <a:pt x="0" y="0"/>
                      </a:cubicBezTo>
                      <a:cubicBezTo>
                        <a:pt x="35" y="0"/>
                        <a:pt x="69" y="0"/>
                        <a:pt x="104" y="0"/>
                      </a:cubicBezTo>
                      <a:cubicBezTo>
                        <a:pt x="104" y="34"/>
                        <a:pt x="104" y="67"/>
                        <a:pt x="104" y="102"/>
                      </a:cubicBezTo>
                      <a:cubicBezTo>
                        <a:pt x="70" y="102"/>
                        <a:pt x="36" y="102"/>
                        <a:pt x="0" y="10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Freeform 13"/>
                <p:cNvSpPr/>
                <p:nvPr/>
              </p:nvSpPr>
              <p:spPr bwMode="auto">
                <a:xfrm>
                  <a:off x="2018045" y="3128475"/>
                  <a:ext cx="118654" cy="118654"/>
                </a:xfrm>
                <a:custGeom>
                  <a:avLst/>
                  <a:gdLst>
                    <a:gd name="T0" fmla="*/ 103 w 103"/>
                    <a:gd name="T1" fmla="*/ 103 h 103"/>
                    <a:gd name="T2" fmla="*/ 0 w 103"/>
                    <a:gd name="T3" fmla="*/ 103 h 103"/>
                    <a:gd name="T4" fmla="*/ 0 w 103"/>
                    <a:gd name="T5" fmla="*/ 0 h 103"/>
                    <a:gd name="T6" fmla="*/ 103 w 103"/>
                    <a:gd name="T7" fmla="*/ 0 h 103"/>
                    <a:gd name="T8" fmla="*/ 103 w 103"/>
                    <a:gd name="T9" fmla="*/ 103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3" h="103">
                      <a:moveTo>
                        <a:pt x="103" y="103"/>
                      </a:moveTo>
                      <a:cubicBezTo>
                        <a:pt x="68" y="103"/>
                        <a:pt x="34" y="103"/>
                        <a:pt x="0" y="103"/>
                      </a:cubicBezTo>
                      <a:cubicBezTo>
                        <a:pt x="0" y="68"/>
                        <a:pt x="0" y="35"/>
                        <a:pt x="0" y="0"/>
                      </a:cubicBezTo>
                      <a:cubicBezTo>
                        <a:pt x="34" y="0"/>
                        <a:pt x="68" y="0"/>
                        <a:pt x="103" y="0"/>
                      </a:cubicBezTo>
                      <a:cubicBezTo>
                        <a:pt x="103" y="34"/>
                        <a:pt x="103" y="68"/>
                        <a:pt x="103" y="1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2018045" y="3616708"/>
                  <a:ext cx="118654" cy="118654"/>
                </a:xfrm>
                <a:custGeom>
                  <a:avLst/>
                  <a:gdLst>
                    <a:gd name="T0" fmla="*/ 103 w 103"/>
                    <a:gd name="T1" fmla="*/ 103 h 103"/>
                    <a:gd name="T2" fmla="*/ 0 w 103"/>
                    <a:gd name="T3" fmla="*/ 103 h 103"/>
                    <a:gd name="T4" fmla="*/ 0 w 103"/>
                    <a:gd name="T5" fmla="*/ 0 h 103"/>
                    <a:gd name="T6" fmla="*/ 103 w 103"/>
                    <a:gd name="T7" fmla="*/ 0 h 103"/>
                    <a:gd name="T8" fmla="*/ 103 w 103"/>
                    <a:gd name="T9" fmla="*/ 103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3" h="103">
                      <a:moveTo>
                        <a:pt x="103" y="103"/>
                      </a:moveTo>
                      <a:cubicBezTo>
                        <a:pt x="68" y="103"/>
                        <a:pt x="35" y="103"/>
                        <a:pt x="0" y="103"/>
                      </a:cubicBezTo>
                      <a:cubicBezTo>
                        <a:pt x="0" y="68"/>
                        <a:pt x="0" y="35"/>
                        <a:pt x="0" y="0"/>
                      </a:cubicBezTo>
                      <a:cubicBezTo>
                        <a:pt x="34" y="0"/>
                        <a:pt x="68" y="0"/>
                        <a:pt x="103" y="0"/>
                      </a:cubicBezTo>
                      <a:cubicBezTo>
                        <a:pt x="103" y="33"/>
                        <a:pt x="103" y="67"/>
                        <a:pt x="103" y="1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" name="椭圆 1"/>
              <p:cNvSpPr/>
              <p:nvPr/>
            </p:nvSpPr>
            <p:spPr>
              <a:xfrm>
                <a:off x="844063" y="1551266"/>
                <a:ext cx="1801188" cy="1801188"/>
              </a:xfrm>
              <a:prstGeom prst="ellipse">
                <a:avLst/>
              </a:prstGeom>
              <a:noFill/>
              <a:ln w="666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9" name="文本框 28"/>
          <p:cNvSpPr txBox="1"/>
          <p:nvPr/>
        </p:nvSpPr>
        <p:spPr>
          <a:xfrm>
            <a:off x="2205775" y="4734443"/>
            <a:ext cx="2294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CONTANTS</a:t>
            </a:r>
            <a:endParaRPr lang="zh-HK" altLang="en-US" sz="1600" b="1" spc="3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09807" y="1454576"/>
            <a:ext cx="4264660" cy="1874509"/>
            <a:chOff x="5633682" y="816896"/>
            <a:chExt cx="4264660" cy="1874509"/>
          </a:xfrm>
        </p:grpSpPr>
        <p:sp>
          <p:nvSpPr>
            <p:cNvPr id="30" name="文本框 29"/>
            <p:cNvSpPr txBox="1"/>
            <p:nvPr/>
          </p:nvSpPr>
          <p:spPr>
            <a:xfrm>
              <a:off x="5633682" y="1727475"/>
              <a:ext cx="4264660" cy="9639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spc="300" dirty="0">
                  <a:solidFill>
                    <a:prstClr val="black"/>
                  </a:solidFill>
                  <a:cs typeface="+mn-ea"/>
                  <a:sym typeface="+mn-lt"/>
                </a:rPr>
                <a:t>02/</a:t>
              </a:r>
              <a:r>
                <a:rPr lang="zh-CN" altLang="en-US" sz="2400" spc="300" dirty="0">
                  <a:cs typeface="+mn-ea"/>
                  <a:sym typeface="+mn-lt"/>
                </a:rPr>
                <a:t>绿韵中国，生态新章</a:t>
              </a:r>
              <a:endParaRPr lang="en-US" altLang="zh-CN" sz="2400" spc="300" dirty="0"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786673" y="816896"/>
              <a:ext cx="3952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spc="300" dirty="0">
                  <a:solidFill>
                    <a:prstClr val="black"/>
                  </a:solidFill>
                  <a:cs typeface="+mn-ea"/>
                  <a:sym typeface="+mn-lt"/>
                </a:rPr>
                <a:t>01/</a:t>
              </a:r>
              <a:r>
                <a:rPr lang="zh-CN" altLang="en-US" sz="2400" spc="300" dirty="0">
                  <a:cs typeface="+mn-ea"/>
                  <a:sym typeface="+mn-lt"/>
                </a:rPr>
                <a:t>历史背景，政策提出 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167547" y="3329085"/>
            <a:ext cx="414337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en-US" altLang="zh-CN" sz="2400" spc="300" dirty="0">
                <a:solidFill>
                  <a:prstClr val="black"/>
                </a:solidFill>
                <a:cs typeface="+mn-ea"/>
                <a:sym typeface="+mn-lt"/>
              </a:rPr>
              <a:t>03/</a:t>
            </a:r>
            <a:r>
              <a:rPr lang="zh-CN" altLang="en-US" sz="2400" spc="300" dirty="0">
                <a:solidFill>
                  <a:srgbClr val="FF0000"/>
                </a:solidFill>
                <a:cs typeface="+mn-ea"/>
                <a:sym typeface="+mn-lt"/>
              </a:rPr>
              <a:t>共建全球，影响深远</a:t>
            </a:r>
            <a:endParaRPr lang="en-US" altLang="zh-CN" sz="2400" spc="300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67546" y="4293015"/>
            <a:ext cx="414337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en-US" altLang="zh-CN" sz="2400" spc="300" dirty="0">
                <a:solidFill>
                  <a:prstClr val="black"/>
                </a:solidFill>
                <a:cs typeface="+mn-ea"/>
                <a:sym typeface="+mn-lt"/>
              </a:rPr>
              <a:t>04/</a:t>
            </a:r>
            <a:r>
              <a:rPr lang="zh-CN" altLang="en-US" sz="2400" spc="300" dirty="0">
                <a:solidFill>
                  <a:prstClr val="black"/>
                </a:solidFill>
                <a:cs typeface="+mn-ea"/>
                <a:sym typeface="+mn-lt"/>
              </a:rPr>
              <a:t>生态新论，时代新程</a:t>
            </a:r>
            <a:endParaRPr lang="en-US" altLang="zh-CN" sz="2400" spc="300" dirty="0">
              <a:solidFill>
                <a:prstClr val="black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6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/>
        </p:nvSpPr>
        <p:spPr>
          <a:xfrm>
            <a:off x="6332855" y="1149350"/>
            <a:ext cx="4589145" cy="556895"/>
          </a:xfrm>
          <a:prstGeom prst="roundRect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0" y="0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5113786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684842" y="187325"/>
            <a:ext cx="119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政策背景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7354536" y="18725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7239161" y="166370"/>
            <a:ext cx="1572895" cy="5575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457601" y="282575"/>
            <a:ext cx="1614805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spc="300" dirty="0">
                <a:solidFill>
                  <a:prstClr val="black"/>
                </a:solidFill>
                <a:cs typeface="+mn-ea"/>
                <a:sym typeface="+mn-lt"/>
              </a:rPr>
              <a:t>意义瞻望</a:t>
            </a:r>
            <a:endParaRPr lang="en-US" altLang="zh-CN" sz="1600" spc="300" dirty="0">
              <a:solidFill>
                <a:prstClr val="black"/>
              </a:solidFill>
              <a:cs typeface="+mn-ea"/>
              <a:sym typeface="+mn-lt"/>
            </a:endParaRPr>
          </a:p>
          <a:p>
            <a:endParaRPr lang="zh-CN" altLang="en-US" sz="1600" spc="30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53" name="等腰三角形 52"/>
          <p:cNvSpPr/>
          <p:nvPr/>
        </p:nvSpPr>
        <p:spPr>
          <a:xfrm flipH="1" flipV="1">
            <a:off x="8818077" y="55435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6875111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5482527" y="191770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案例分析</a:t>
            </a:r>
          </a:p>
        </p:txBody>
      </p:sp>
      <p:cxnSp>
        <p:nvCxnSpPr>
          <p:cNvPr id="4" name="直接连接符 3"/>
          <p:cNvCxnSpPr/>
          <p:nvPr/>
        </p:nvCxnSpPr>
        <p:spPr>
          <a:xfrm>
            <a:off x="3364996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426667" y="1163210"/>
            <a:ext cx="4286420" cy="523220"/>
          </a:xfrm>
          <a:prstGeom prst="rect">
            <a:avLst/>
          </a:prstGeom>
          <a:noFill/>
          <a:ln>
            <a:solidFill>
              <a:srgbClr val="B0252A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国家发展，谱写历史篇章</a:t>
            </a:r>
          </a:p>
        </p:txBody>
      </p:sp>
      <p:sp>
        <p:nvSpPr>
          <p:cNvPr id="13" name="圆: 空心 12"/>
          <p:cNvSpPr/>
          <p:nvPr/>
        </p:nvSpPr>
        <p:spPr>
          <a:xfrm>
            <a:off x="10601758" y="709502"/>
            <a:ext cx="1283445" cy="1283445"/>
          </a:xfrm>
          <a:prstGeom prst="donut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4" name="斜纹 13"/>
          <p:cNvSpPr/>
          <p:nvPr/>
        </p:nvSpPr>
        <p:spPr>
          <a:xfrm rot="10800000">
            <a:off x="11104461" y="5783943"/>
            <a:ext cx="1074057" cy="1074057"/>
          </a:xfrm>
          <a:prstGeom prst="diagStripe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" name="矩形: 圆角 2"/>
          <p:cNvSpPr/>
          <p:nvPr/>
        </p:nvSpPr>
        <p:spPr>
          <a:xfrm>
            <a:off x="1187450" y="1153160"/>
            <a:ext cx="4589145" cy="556895"/>
          </a:xfrm>
          <a:prstGeom prst="roundRect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78913" y="1183025"/>
            <a:ext cx="4311015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民生福祉，增强幸福指数</a:t>
            </a:r>
          </a:p>
        </p:txBody>
      </p:sp>
      <p:sp>
        <p:nvSpPr>
          <p:cNvPr id="9" name="圆: 空心 12"/>
          <p:cNvSpPr/>
          <p:nvPr/>
        </p:nvSpPr>
        <p:spPr>
          <a:xfrm>
            <a:off x="179759" y="803317"/>
            <a:ext cx="1283445" cy="1283445"/>
          </a:xfrm>
          <a:prstGeom prst="donut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8" name="矩形: 圆角 2"/>
          <p:cNvSpPr/>
          <p:nvPr/>
        </p:nvSpPr>
        <p:spPr>
          <a:xfrm>
            <a:off x="6350434" y="3904988"/>
            <a:ext cx="4527751" cy="556895"/>
          </a:xfrm>
          <a:prstGeom prst="roundRect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426667" y="3953091"/>
            <a:ext cx="4527751" cy="523220"/>
          </a:xfrm>
          <a:prstGeom prst="rect">
            <a:avLst/>
          </a:prstGeom>
          <a:noFill/>
          <a:ln>
            <a:solidFill>
              <a:srgbClr val="B0252A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bg1"/>
                </a:solidFill>
                <a:cs typeface="+mn-ea"/>
                <a:sym typeface="+mn-lt"/>
              </a:rPr>
              <a:t>文明转型，彰显大国责任</a:t>
            </a:r>
          </a:p>
        </p:txBody>
      </p:sp>
      <p:sp>
        <p:nvSpPr>
          <p:cNvPr id="20" name="圆: 空心 12"/>
          <p:cNvSpPr/>
          <p:nvPr/>
        </p:nvSpPr>
        <p:spPr>
          <a:xfrm>
            <a:off x="10601758" y="3454028"/>
            <a:ext cx="1283445" cy="1283445"/>
          </a:xfrm>
          <a:prstGeom prst="donut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185176" y="1860550"/>
            <a:ext cx="3048587" cy="15684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+mn-ea"/>
                <a:sym typeface="+mn-lt"/>
              </a:rPr>
              <a:t>推动生态文明建设，实现可持续发展</a:t>
            </a:r>
            <a:endParaRPr lang="en-US" altLang="zh-CN" sz="2000" dirty="0">
              <a:cs typeface="+mn-ea"/>
              <a:sym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000" dirty="0">
              <a:cs typeface="+mn-ea"/>
              <a:sym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+mn-ea"/>
                <a:sym typeface="+mn-lt"/>
              </a:rPr>
              <a:t>促进经济结构绿色转型，培育新的增长点</a:t>
            </a:r>
            <a:endParaRPr lang="en-US" altLang="zh-CN" sz="2000" dirty="0">
              <a:cs typeface="+mn-ea"/>
              <a:sym typeface="+mn-lt"/>
            </a:endParaRPr>
          </a:p>
          <a:p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06208" y="1797784"/>
            <a:ext cx="3620277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+mn-ea"/>
                <a:sym typeface="+mn-lt"/>
              </a:rPr>
              <a:t>显著改善居住区环境，提升公众健康，改善生活质量</a:t>
            </a:r>
            <a:endParaRPr lang="en-US" altLang="zh-CN" sz="2000" dirty="0">
              <a:cs typeface="+mn-ea"/>
              <a:sym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000" dirty="0">
              <a:cs typeface="+mn-ea"/>
              <a:sym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+mn-ea"/>
                <a:sym typeface="+mn-lt"/>
              </a:rPr>
              <a:t>为子孙后代留下绿水青山的宝贵财富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6589829" y="4737473"/>
            <a:ext cx="454279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+mn-ea"/>
                <a:sym typeface="+mn-lt"/>
              </a:rPr>
              <a:t>践行“绿水青山就是金山银山”理念，探索现代化新路径</a:t>
            </a:r>
            <a:endParaRPr lang="en-US" altLang="zh-CN" sz="2000" dirty="0">
              <a:cs typeface="+mn-ea"/>
              <a:sym typeface="+mn-lt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endParaRPr lang="zh-CN" altLang="en-US" sz="2000" dirty="0">
              <a:cs typeface="+mn-ea"/>
              <a:sym typeface="+mn-lt"/>
            </a:endParaRPr>
          </a:p>
          <a:p>
            <a:pPr marL="342900" indent="-34290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2000" dirty="0">
                <a:cs typeface="+mn-ea"/>
                <a:sym typeface="+mn-lt"/>
              </a:rPr>
              <a:t>为全球尤其是发展中国家提供生态文明建设范例，贡献中国方案</a:t>
            </a:r>
          </a:p>
        </p:txBody>
      </p:sp>
      <p:pic>
        <p:nvPicPr>
          <p:cNvPr id="25" name="图片 24"/>
          <p:cNvPicPr/>
          <p:nvPr/>
        </p:nvPicPr>
        <p:blipFill>
          <a:blip r:embed="rId3"/>
          <a:stretch>
            <a:fillRect/>
          </a:stretch>
        </p:blipFill>
        <p:spPr>
          <a:xfrm>
            <a:off x="761745" y="3663496"/>
            <a:ext cx="4542790" cy="3006612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ransition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/>
          <p:nvPr/>
        </p:nvPicPr>
        <p:blipFill>
          <a:blip r:embed="rId3"/>
          <a:stretch>
            <a:fillRect/>
          </a:stretch>
        </p:blipFill>
        <p:spPr>
          <a:xfrm>
            <a:off x="7465297" y="4188797"/>
            <a:ext cx="4176793" cy="2471083"/>
          </a:xfrm>
          <a:prstGeom prst="rect">
            <a:avLst/>
          </a:prstGeom>
        </p:spPr>
      </p:pic>
      <p:sp>
        <p:nvSpPr>
          <p:cNvPr id="20" name="斜纹 19"/>
          <p:cNvSpPr/>
          <p:nvPr/>
        </p:nvSpPr>
        <p:spPr>
          <a:xfrm>
            <a:off x="4445" y="8255"/>
            <a:ext cx="1751965" cy="1781810"/>
          </a:xfrm>
          <a:prstGeom prst="diagStripe">
            <a:avLst>
              <a:gd name="adj" fmla="val 68004"/>
            </a:avLst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113786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684842" y="187325"/>
            <a:ext cx="119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政策背景</a:t>
            </a:r>
          </a:p>
        </p:txBody>
      </p:sp>
      <p:sp>
        <p:nvSpPr>
          <p:cNvPr id="11" name="矩形 10"/>
          <p:cNvSpPr/>
          <p:nvPr/>
        </p:nvSpPr>
        <p:spPr>
          <a:xfrm>
            <a:off x="7239161" y="166370"/>
            <a:ext cx="1572895" cy="5575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7601" y="282575"/>
            <a:ext cx="1614805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spc="300" dirty="0">
                <a:solidFill>
                  <a:prstClr val="black"/>
                </a:solidFill>
                <a:cs typeface="+mn-ea"/>
                <a:sym typeface="+mn-lt"/>
              </a:rPr>
              <a:t>意义瞻望</a:t>
            </a:r>
            <a:endParaRPr lang="en-US" altLang="zh-CN" sz="1600" spc="300" dirty="0">
              <a:solidFill>
                <a:prstClr val="black"/>
              </a:solidFill>
              <a:cs typeface="+mn-ea"/>
              <a:sym typeface="+mn-lt"/>
            </a:endParaRPr>
          </a:p>
          <a:p>
            <a:endParaRPr lang="zh-CN" altLang="en-US" sz="1600" spc="300" dirty="0">
              <a:solidFill>
                <a:prstClr val="black"/>
              </a:solidFill>
              <a:cs typeface="+mn-ea"/>
              <a:sym typeface="+mn-lt"/>
            </a:endParaRPr>
          </a:p>
        </p:txBody>
      </p:sp>
      <p:sp>
        <p:nvSpPr>
          <p:cNvPr id="13" name="等腰三角形 12"/>
          <p:cNvSpPr/>
          <p:nvPr/>
        </p:nvSpPr>
        <p:spPr>
          <a:xfrm flipH="1" flipV="1">
            <a:off x="8818077" y="55435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875111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482527" y="191770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案例分析</a:t>
            </a:r>
          </a:p>
        </p:txBody>
      </p:sp>
      <p:cxnSp>
        <p:nvCxnSpPr>
          <p:cNvPr id="21" name="直接连接符 20"/>
          <p:cNvCxnSpPr/>
          <p:nvPr/>
        </p:nvCxnSpPr>
        <p:spPr>
          <a:xfrm>
            <a:off x="3364996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斜纹 22"/>
          <p:cNvSpPr/>
          <p:nvPr/>
        </p:nvSpPr>
        <p:spPr>
          <a:xfrm rot="10800000">
            <a:off x="11119701" y="5783943"/>
            <a:ext cx="1074057" cy="1074057"/>
          </a:xfrm>
          <a:prstGeom prst="diagStripe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7239161" y="1075055"/>
            <a:ext cx="4638040" cy="2691901"/>
          </a:xfrm>
          <a:prstGeom prst="roundRect">
            <a:avLst/>
          </a:prstGeom>
          <a:solidFill>
            <a:srgbClr val="B0252A">
              <a:alpha val="20000"/>
            </a:srgbClr>
          </a:solidFill>
          <a:ln w="25400">
            <a:solidFill>
              <a:srgbClr val="AB293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indent="457200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中国提出的“碳中和”目标、国家自主贡献承诺在联合国气候变化大会 等我国在生态保护、物种保育等领域场合受到</a:t>
            </a:r>
            <a:r>
              <a:rPr lang="zh-CN" altLang="en-US" sz="2400" b="1" dirty="0">
                <a:solidFill>
                  <a:srgbClr val="C00000"/>
                </a:solidFill>
                <a:cs typeface="+mn-ea"/>
                <a:sym typeface="+mn-lt"/>
              </a:rPr>
              <a:t>广泛关注与积极评价</a:t>
            </a:r>
            <a:r>
              <a:rPr lang="zh-CN" altLang="en-US" sz="2000" i="1" dirty="0">
                <a:solidFill>
                  <a:srgbClr val="C00000"/>
                </a:solidFill>
                <a:cs typeface="+mn-ea"/>
                <a:sym typeface="+mn-lt"/>
              </a:rPr>
              <a:t>！</a:t>
            </a:r>
          </a:p>
          <a:p>
            <a:pPr indent="457200"/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众多国际非政府组织关注取得的进展，认为中国为全球生物多样性保护注入了关键动力。</a:t>
            </a:r>
          </a:p>
        </p:txBody>
      </p:sp>
      <p:sp>
        <p:nvSpPr>
          <p:cNvPr id="28" name="椭圆 27"/>
          <p:cNvSpPr/>
          <p:nvPr/>
        </p:nvSpPr>
        <p:spPr>
          <a:xfrm>
            <a:off x="614045" y="4913630"/>
            <a:ext cx="2161540" cy="1176655"/>
          </a:xfrm>
          <a:prstGeom prst="ellipse">
            <a:avLst/>
          </a:prstGeom>
          <a:solidFill>
            <a:srgbClr val="B53C3C">
              <a:alpha val="90000"/>
            </a:srgbClr>
          </a:solidFill>
          <a:ln w="25400">
            <a:solidFill>
              <a:srgbClr val="AB293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理念引领</a:t>
            </a:r>
          </a:p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贡献智慧</a:t>
            </a:r>
          </a:p>
        </p:txBody>
      </p:sp>
      <p:sp>
        <p:nvSpPr>
          <p:cNvPr id="32" name="椭圆 31"/>
          <p:cNvSpPr/>
          <p:nvPr/>
        </p:nvSpPr>
        <p:spPr>
          <a:xfrm>
            <a:off x="640080" y="3072652"/>
            <a:ext cx="2161540" cy="1200150"/>
          </a:xfrm>
          <a:prstGeom prst="ellipse">
            <a:avLst/>
          </a:prstGeom>
          <a:solidFill>
            <a:srgbClr val="B53C3C">
              <a:alpha val="90000"/>
            </a:srgbClr>
          </a:solidFill>
          <a:ln w="25400">
            <a:solidFill>
              <a:srgbClr val="AB293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务实合作搭建平台</a:t>
            </a:r>
          </a:p>
        </p:txBody>
      </p:sp>
      <p:sp>
        <p:nvSpPr>
          <p:cNvPr id="33" name="椭圆 32"/>
          <p:cNvSpPr/>
          <p:nvPr/>
        </p:nvSpPr>
        <p:spPr>
          <a:xfrm>
            <a:off x="640080" y="1296157"/>
            <a:ext cx="2161540" cy="1184910"/>
          </a:xfrm>
          <a:prstGeom prst="ellipse">
            <a:avLst/>
          </a:prstGeom>
          <a:solidFill>
            <a:srgbClr val="B53C3C">
              <a:alpha val="90000"/>
            </a:srgbClr>
          </a:solidFill>
          <a:ln w="25400">
            <a:solidFill>
              <a:srgbClr val="AB293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bg1"/>
                </a:solidFill>
                <a:cs typeface="+mn-ea"/>
                <a:sym typeface="+mn-lt"/>
              </a:rPr>
              <a:t>标准对接示范引领</a:t>
            </a:r>
          </a:p>
        </p:txBody>
      </p:sp>
      <p:sp>
        <p:nvSpPr>
          <p:cNvPr id="37" name="文本框 36"/>
          <p:cNvSpPr txBox="1"/>
          <p:nvPr/>
        </p:nvSpPr>
        <p:spPr>
          <a:xfrm>
            <a:off x="3094355" y="3134247"/>
            <a:ext cx="463804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一带一路</a:t>
            </a:r>
          </a:p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南南合作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3094355" y="1597147"/>
            <a:ext cx="30016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碳中和目标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3094355" y="4963795"/>
            <a:ext cx="436308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人类命运共同体</a:t>
            </a:r>
          </a:p>
          <a:p>
            <a:pPr marL="285750" indent="-285750" algn="l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人与自然生命共同体</a:t>
            </a:r>
          </a:p>
        </p:txBody>
      </p:sp>
      <p:sp>
        <p:nvSpPr>
          <p:cNvPr id="58" name="箭头: V 形 1"/>
          <p:cNvSpPr/>
          <p:nvPr/>
        </p:nvSpPr>
        <p:spPr>
          <a:xfrm>
            <a:off x="1136" y="6482254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9" name="箭头: V 形 4"/>
          <p:cNvSpPr/>
          <p:nvPr/>
        </p:nvSpPr>
        <p:spPr>
          <a:xfrm>
            <a:off x="436321" y="6491157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0" name="箭头: V 形 5"/>
          <p:cNvSpPr/>
          <p:nvPr/>
        </p:nvSpPr>
        <p:spPr>
          <a:xfrm>
            <a:off x="880330" y="6479675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1" name="箭头: V 形 6"/>
          <p:cNvSpPr/>
          <p:nvPr/>
        </p:nvSpPr>
        <p:spPr>
          <a:xfrm>
            <a:off x="1346090" y="6477492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2" name="箭头: V 形 8"/>
          <p:cNvSpPr/>
          <p:nvPr/>
        </p:nvSpPr>
        <p:spPr>
          <a:xfrm>
            <a:off x="1840175" y="6491157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3" name="箭头: V 形 12"/>
          <p:cNvSpPr/>
          <p:nvPr/>
        </p:nvSpPr>
        <p:spPr>
          <a:xfrm>
            <a:off x="2326403" y="6491157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9" name="箭头: V 形 1"/>
          <p:cNvSpPr/>
          <p:nvPr/>
        </p:nvSpPr>
        <p:spPr>
          <a:xfrm>
            <a:off x="2788151" y="6482254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0" name="箭头: V 形 4"/>
          <p:cNvSpPr/>
          <p:nvPr/>
        </p:nvSpPr>
        <p:spPr>
          <a:xfrm>
            <a:off x="3223336" y="6491157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1" name="箭头: V 形 5"/>
          <p:cNvSpPr/>
          <p:nvPr/>
        </p:nvSpPr>
        <p:spPr>
          <a:xfrm>
            <a:off x="3667345" y="6479675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2" name="箭头: V 形 6"/>
          <p:cNvSpPr/>
          <p:nvPr/>
        </p:nvSpPr>
        <p:spPr>
          <a:xfrm>
            <a:off x="4133105" y="6477492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3" name="箭头: V 形 8"/>
          <p:cNvSpPr/>
          <p:nvPr/>
        </p:nvSpPr>
        <p:spPr>
          <a:xfrm>
            <a:off x="4627190" y="6491157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74" name="箭头: V 形 12"/>
          <p:cNvSpPr/>
          <p:nvPr/>
        </p:nvSpPr>
        <p:spPr>
          <a:xfrm>
            <a:off x="5113418" y="6491157"/>
            <a:ext cx="486228" cy="278662"/>
          </a:xfrm>
          <a:prstGeom prst="chevron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" name="箭头: 右弧形 1"/>
          <p:cNvSpPr/>
          <p:nvPr/>
        </p:nvSpPr>
        <p:spPr>
          <a:xfrm flipV="1">
            <a:off x="5949863" y="1597147"/>
            <a:ext cx="925248" cy="3316483"/>
          </a:xfrm>
          <a:prstGeom prst="curvedLeftArrow">
            <a:avLst/>
          </a:prstGeom>
          <a:solidFill>
            <a:srgbClr val="B53C3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482009" y="22096"/>
            <a:ext cx="3657600" cy="6858000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15096767" y="1551266"/>
            <a:ext cx="0" cy="363031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1959346" y="1551266"/>
            <a:ext cx="2786911" cy="3143792"/>
            <a:chOff x="309210" y="1551266"/>
            <a:chExt cx="2786911" cy="3143792"/>
          </a:xfrm>
        </p:grpSpPr>
        <p:sp>
          <p:nvSpPr>
            <p:cNvPr id="35" name="文本框 34"/>
            <p:cNvSpPr txBox="1"/>
            <p:nvPr/>
          </p:nvSpPr>
          <p:spPr>
            <a:xfrm>
              <a:off x="309210" y="3679395"/>
              <a:ext cx="2786911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6000" b="1" spc="300" dirty="0">
                  <a:solidFill>
                    <a:prstClr val="whit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cs typeface="+mn-ea"/>
                  <a:sym typeface="+mn-lt"/>
                </a:rPr>
                <a:t>目录</a:t>
              </a:r>
              <a:endParaRPr lang="zh-HK" altLang="en-US" sz="60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02071" y="1551266"/>
              <a:ext cx="1801188" cy="1801188"/>
              <a:chOff x="844063" y="1551266"/>
              <a:chExt cx="1801188" cy="1801188"/>
            </a:xfrm>
          </p:grpSpPr>
          <p:grpSp>
            <p:nvGrpSpPr>
              <p:cNvPr id="19" name="组合 18"/>
              <p:cNvGrpSpPr/>
              <p:nvPr/>
            </p:nvGrpSpPr>
            <p:grpSpPr>
              <a:xfrm>
                <a:off x="1197596" y="1906806"/>
                <a:ext cx="1094123" cy="1090108"/>
                <a:chOff x="1709739" y="2636838"/>
                <a:chExt cx="1590160" cy="1584325"/>
              </a:xfrm>
              <a:solidFill>
                <a:schemeClr val="bg1"/>
              </a:solidFill>
              <a:effectLst/>
            </p:grpSpPr>
            <p:sp>
              <p:nvSpPr>
                <p:cNvPr id="9" name="Freeform 6"/>
                <p:cNvSpPr/>
                <p:nvPr/>
              </p:nvSpPr>
              <p:spPr bwMode="auto">
                <a:xfrm>
                  <a:off x="1709739" y="2636838"/>
                  <a:ext cx="1468102" cy="1467130"/>
                </a:xfrm>
                <a:custGeom>
                  <a:avLst/>
                  <a:gdLst>
                    <a:gd name="T0" fmla="*/ 691 w 1276"/>
                    <a:gd name="T1" fmla="*/ 1168 h 1274"/>
                    <a:gd name="T2" fmla="*/ 662 w 1276"/>
                    <a:gd name="T3" fmla="*/ 1267 h 1274"/>
                    <a:gd name="T4" fmla="*/ 654 w 1276"/>
                    <a:gd name="T5" fmla="*/ 1273 h 1274"/>
                    <a:gd name="T6" fmla="*/ 643 w 1276"/>
                    <a:gd name="T7" fmla="*/ 1274 h 1274"/>
                    <a:gd name="T8" fmla="*/ 172 w 1276"/>
                    <a:gd name="T9" fmla="*/ 1274 h 1274"/>
                    <a:gd name="T10" fmla="*/ 81 w 1276"/>
                    <a:gd name="T11" fmla="*/ 1253 h 1274"/>
                    <a:gd name="T12" fmla="*/ 1 w 1276"/>
                    <a:gd name="T13" fmla="*/ 1113 h 1274"/>
                    <a:gd name="T14" fmla="*/ 0 w 1276"/>
                    <a:gd name="T15" fmla="*/ 892 h 1274"/>
                    <a:gd name="T16" fmla="*/ 0 w 1276"/>
                    <a:gd name="T17" fmla="*/ 170 h 1274"/>
                    <a:gd name="T18" fmla="*/ 170 w 1276"/>
                    <a:gd name="T19" fmla="*/ 0 h 1274"/>
                    <a:gd name="T20" fmla="*/ 1110 w 1276"/>
                    <a:gd name="T21" fmla="*/ 0 h 1274"/>
                    <a:gd name="T22" fmla="*/ 1273 w 1276"/>
                    <a:gd name="T23" fmla="*/ 131 h 1274"/>
                    <a:gd name="T24" fmla="*/ 1276 w 1276"/>
                    <a:gd name="T25" fmla="*/ 168 h 1274"/>
                    <a:gd name="T26" fmla="*/ 1276 w 1276"/>
                    <a:gd name="T27" fmla="*/ 629 h 1274"/>
                    <a:gd name="T28" fmla="*/ 1275 w 1276"/>
                    <a:gd name="T29" fmla="*/ 645 h 1274"/>
                    <a:gd name="T30" fmla="*/ 1171 w 1276"/>
                    <a:gd name="T31" fmla="*/ 659 h 1274"/>
                    <a:gd name="T32" fmla="*/ 1171 w 1276"/>
                    <a:gd name="T33" fmla="*/ 214 h 1274"/>
                    <a:gd name="T34" fmla="*/ 106 w 1276"/>
                    <a:gd name="T35" fmla="*/ 214 h 1274"/>
                    <a:gd name="T36" fmla="*/ 106 w 1276"/>
                    <a:gd name="T37" fmla="*/ 230 h 1274"/>
                    <a:gd name="T38" fmla="*/ 105 w 1276"/>
                    <a:gd name="T39" fmla="*/ 1102 h 1274"/>
                    <a:gd name="T40" fmla="*/ 171 w 1276"/>
                    <a:gd name="T41" fmla="*/ 1168 h 1274"/>
                    <a:gd name="T42" fmla="*/ 671 w 1276"/>
                    <a:gd name="T43" fmla="*/ 1168 h 1274"/>
                    <a:gd name="T44" fmla="*/ 691 w 1276"/>
                    <a:gd name="T45" fmla="*/ 1168 h 127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</a:cxnLst>
                  <a:rect l="0" t="0" r="r" b="b"/>
                  <a:pathLst>
                    <a:path w="1276" h="1274">
                      <a:moveTo>
                        <a:pt x="691" y="1168"/>
                      </a:moveTo>
                      <a:cubicBezTo>
                        <a:pt x="681" y="1203"/>
                        <a:pt x="672" y="1235"/>
                        <a:pt x="662" y="1267"/>
                      </a:cubicBezTo>
                      <a:cubicBezTo>
                        <a:pt x="661" y="1270"/>
                        <a:pt x="657" y="1272"/>
                        <a:pt x="654" y="1273"/>
                      </a:cubicBezTo>
                      <a:cubicBezTo>
                        <a:pt x="651" y="1274"/>
                        <a:pt x="647" y="1274"/>
                        <a:pt x="643" y="1274"/>
                      </a:cubicBezTo>
                      <a:cubicBezTo>
                        <a:pt x="486" y="1274"/>
                        <a:pt x="329" y="1273"/>
                        <a:pt x="172" y="1274"/>
                      </a:cubicBezTo>
                      <a:cubicBezTo>
                        <a:pt x="140" y="1274"/>
                        <a:pt x="109" y="1269"/>
                        <a:pt x="81" y="1253"/>
                      </a:cubicBezTo>
                      <a:cubicBezTo>
                        <a:pt x="29" y="1221"/>
                        <a:pt x="1" y="1174"/>
                        <a:pt x="1" y="1113"/>
                      </a:cubicBezTo>
                      <a:cubicBezTo>
                        <a:pt x="0" y="1039"/>
                        <a:pt x="0" y="966"/>
                        <a:pt x="0" y="892"/>
                      </a:cubicBezTo>
                      <a:cubicBezTo>
                        <a:pt x="0" y="651"/>
                        <a:pt x="0" y="411"/>
                        <a:pt x="0" y="170"/>
                      </a:cubicBezTo>
                      <a:cubicBezTo>
                        <a:pt x="0" y="68"/>
                        <a:pt x="68" y="0"/>
                        <a:pt x="170" y="0"/>
                      </a:cubicBezTo>
                      <a:cubicBezTo>
                        <a:pt x="483" y="0"/>
                        <a:pt x="797" y="0"/>
                        <a:pt x="1110" y="0"/>
                      </a:cubicBezTo>
                      <a:cubicBezTo>
                        <a:pt x="1194" y="0"/>
                        <a:pt x="1258" y="51"/>
                        <a:pt x="1273" y="131"/>
                      </a:cubicBezTo>
                      <a:cubicBezTo>
                        <a:pt x="1276" y="143"/>
                        <a:pt x="1276" y="156"/>
                        <a:pt x="1276" y="168"/>
                      </a:cubicBezTo>
                      <a:cubicBezTo>
                        <a:pt x="1276" y="322"/>
                        <a:pt x="1276" y="475"/>
                        <a:pt x="1276" y="629"/>
                      </a:cubicBezTo>
                      <a:cubicBezTo>
                        <a:pt x="1276" y="634"/>
                        <a:pt x="1276" y="638"/>
                        <a:pt x="1275" y="645"/>
                      </a:cubicBezTo>
                      <a:cubicBezTo>
                        <a:pt x="1239" y="640"/>
                        <a:pt x="1205" y="643"/>
                        <a:pt x="1171" y="659"/>
                      </a:cubicBezTo>
                      <a:cubicBezTo>
                        <a:pt x="1171" y="509"/>
                        <a:pt x="1171" y="362"/>
                        <a:pt x="1171" y="214"/>
                      </a:cubicBezTo>
                      <a:cubicBezTo>
                        <a:pt x="816" y="214"/>
                        <a:pt x="462" y="214"/>
                        <a:pt x="106" y="214"/>
                      </a:cubicBezTo>
                      <a:cubicBezTo>
                        <a:pt x="106" y="219"/>
                        <a:pt x="106" y="224"/>
                        <a:pt x="106" y="230"/>
                      </a:cubicBezTo>
                      <a:cubicBezTo>
                        <a:pt x="106" y="521"/>
                        <a:pt x="106" y="812"/>
                        <a:pt x="105" y="1102"/>
                      </a:cubicBezTo>
                      <a:cubicBezTo>
                        <a:pt x="105" y="1141"/>
                        <a:pt x="125" y="1169"/>
                        <a:pt x="171" y="1168"/>
                      </a:cubicBezTo>
                      <a:cubicBezTo>
                        <a:pt x="338" y="1167"/>
                        <a:pt x="504" y="1168"/>
                        <a:pt x="671" y="1168"/>
                      </a:cubicBezTo>
                      <a:cubicBezTo>
                        <a:pt x="677" y="1168"/>
                        <a:pt x="683" y="1168"/>
                        <a:pt x="691" y="116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0" name="Freeform 7"/>
                <p:cNvSpPr>
                  <a:spLocks noEditPoints="1"/>
                </p:cNvSpPr>
                <p:nvPr/>
              </p:nvSpPr>
              <p:spPr bwMode="auto">
                <a:xfrm>
                  <a:off x="2571440" y="3653665"/>
                  <a:ext cx="569443" cy="567498"/>
                </a:xfrm>
                <a:custGeom>
                  <a:avLst/>
                  <a:gdLst>
                    <a:gd name="T0" fmla="*/ 328 w 495"/>
                    <a:gd name="T1" fmla="*/ 1 h 493"/>
                    <a:gd name="T2" fmla="*/ 495 w 495"/>
                    <a:gd name="T3" fmla="*/ 167 h 493"/>
                    <a:gd name="T4" fmla="*/ 427 w 495"/>
                    <a:gd name="T5" fmla="*/ 236 h 493"/>
                    <a:gd name="T6" fmla="*/ 240 w 495"/>
                    <a:gd name="T7" fmla="*/ 421 h 493"/>
                    <a:gd name="T8" fmla="*/ 216 w 495"/>
                    <a:gd name="T9" fmla="*/ 436 h 493"/>
                    <a:gd name="T10" fmla="*/ 40 w 495"/>
                    <a:gd name="T11" fmla="*/ 488 h 493"/>
                    <a:gd name="T12" fmla="*/ 9 w 495"/>
                    <a:gd name="T13" fmla="*/ 484 h 493"/>
                    <a:gd name="T14" fmla="*/ 6 w 495"/>
                    <a:gd name="T15" fmla="*/ 454 h 493"/>
                    <a:gd name="T16" fmla="*/ 58 w 495"/>
                    <a:gd name="T17" fmla="*/ 276 h 493"/>
                    <a:gd name="T18" fmla="*/ 67 w 495"/>
                    <a:gd name="T19" fmla="*/ 259 h 493"/>
                    <a:gd name="T20" fmla="*/ 327 w 495"/>
                    <a:gd name="T21" fmla="*/ 1 h 493"/>
                    <a:gd name="T22" fmla="*/ 328 w 495"/>
                    <a:gd name="T23" fmla="*/ 1 h 493"/>
                    <a:gd name="T24" fmla="*/ 102 w 495"/>
                    <a:gd name="T25" fmla="*/ 292 h 493"/>
                    <a:gd name="T26" fmla="*/ 72 w 495"/>
                    <a:gd name="T27" fmla="*/ 396 h 493"/>
                    <a:gd name="T28" fmla="*/ 74 w 495"/>
                    <a:gd name="T29" fmla="*/ 405 h 493"/>
                    <a:gd name="T30" fmla="*/ 113 w 495"/>
                    <a:gd name="T31" fmla="*/ 418 h 493"/>
                    <a:gd name="T32" fmla="*/ 148 w 495"/>
                    <a:gd name="T33" fmla="*/ 408 h 493"/>
                    <a:gd name="T34" fmla="*/ 200 w 495"/>
                    <a:gd name="T35" fmla="*/ 393 h 493"/>
                    <a:gd name="T36" fmla="*/ 185 w 495"/>
                    <a:gd name="T37" fmla="*/ 316 h 493"/>
                    <a:gd name="T38" fmla="*/ 178 w 495"/>
                    <a:gd name="T39" fmla="*/ 308 h 493"/>
                    <a:gd name="T40" fmla="*/ 102 w 495"/>
                    <a:gd name="T41" fmla="*/ 292 h 49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</a:cxnLst>
                  <a:rect l="0" t="0" r="r" b="b"/>
                  <a:pathLst>
                    <a:path w="495" h="493">
                      <a:moveTo>
                        <a:pt x="328" y="1"/>
                      </a:moveTo>
                      <a:cubicBezTo>
                        <a:pt x="384" y="56"/>
                        <a:pt x="439" y="112"/>
                        <a:pt x="495" y="167"/>
                      </a:cubicBezTo>
                      <a:cubicBezTo>
                        <a:pt x="473" y="190"/>
                        <a:pt x="450" y="213"/>
                        <a:pt x="427" y="236"/>
                      </a:cubicBezTo>
                      <a:cubicBezTo>
                        <a:pt x="365" y="298"/>
                        <a:pt x="303" y="360"/>
                        <a:pt x="240" y="421"/>
                      </a:cubicBezTo>
                      <a:cubicBezTo>
                        <a:pt x="233" y="428"/>
                        <a:pt x="225" y="433"/>
                        <a:pt x="216" y="436"/>
                      </a:cubicBezTo>
                      <a:cubicBezTo>
                        <a:pt x="157" y="454"/>
                        <a:pt x="98" y="471"/>
                        <a:pt x="40" y="488"/>
                      </a:cubicBezTo>
                      <a:cubicBezTo>
                        <a:pt x="28" y="492"/>
                        <a:pt x="18" y="493"/>
                        <a:pt x="9" y="484"/>
                      </a:cubicBezTo>
                      <a:cubicBezTo>
                        <a:pt x="0" y="475"/>
                        <a:pt x="3" y="464"/>
                        <a:pt x="6" y="454"/>
                      </a:cubicBezTo>
                      <a:cubicBezTo>
                        <a:pt x="23" y="395"/>
                        <a:pt x="40" y="335"/>
                        <a:pt x="58" y="276"/>
                      </a:cubicBezTo>
                      <a:cubicBezTo>
                        <a:pt x="60" y="270"/>
                        <a:pt x="63" y="264"/>
                        <a:pt x="67" y="259"/>
                      </a:cubicBezTo>
                      <a:cubicBezTo>
                        <a:pt x="154" y="173"/>
                        <a:pt x="240" y="87"/>
                        <a:pt x="327" y="1"/>
                      </a:cubicBezTo>
                      <a:cubicBezTo>
                        <a:pt x="328" y="1"/>
                        <a:pt x="329" y="0"/>
                        <a:pt x="328" y="1"/>
                      </a:cubicBezTo>
                      <a:close/>
                      <a:moveTo>
                        <a:pt x="102" y="292"/>
                      </a:moveTo>
                      <a:cubicBezTo>
                        <a:pt x="91" y="327"/>
                        <a:pt x="81" y="362"/>
                        <a:pt x="72" y="396"/>
                      </a:cubicBezTo>
                      <a:cubicBezTo>
                        <a:pt x="71" y="399"/>
                        <a:pt x="72" y="403"/>
                        <a:pt x="74" y="405"/>
                      </a:cubicBezTo>
                      <a:cubicBezTo>
                        <a:pt x="87" y="423"/>
                        <a:pt x="92" y="425"/>
                        <a:pt x="113" y="418"/>
                      </a:cubicBezTo>
                      <a:cubicBezTo>
                        <a:pt x="125" y="415"/>
                        <a:pt x="136" y="411"/>
                        <a:pt x="148" y="408"/>
                      </a:cubicBezTo>
                      <a:cubicBezTo>
                        <a:pt x="165" y="403"/>
                        <a:pt x="182" y="398"/>
                        <a:pt x="200" y="393"/>
                      </a:cubicBezTo>
                      <a:cubicBezTo>
                        <a:pt x="195" y="365"/>
                        <a:pt x="190" y="341"/>
                        <a:pt x="185" y="316"/>
                      </a:cubicBezTo>
                      <a:cubicBezTo>
                        <a:pt x="185" y="313"/>
                        <a:pt x="181" y="309"/>
                        <a:pt x="178" y="308"/>
                      </a:cubicBezTo>
                      <a:cubicBezTo>
                        <a:pt x="153" y="302"/>
                        <a:pt x="128" y="297"/>
                        <a:pt x="102" y="29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1" name="Freeform 8"/>
                <p:cNvSpPr/>
                <p:nvPr/>
              </p:nvSpPr>
              <p:spPr bwMode="auto">
                <a:xfrm>
                  <a:off x="2262162" y="3371619"/>
                  <a:ext cx="608346" cy="119627"/>
                </a:xfrm>
                <a:custGeom>
                  <a:avLst/>
                  <a:gdLst>
                    <a:gd name="T0" fmla="*/ 0 w 529"/>
                    <a:gd name="T1" fmla="*/ 104 h 104"/>
                    <a:gd name="T2" fmla="*/ 0 w 529"/>
                    <a:gd name="T3" fmla="*/ 0 h 104"/>
                    <a:gd name="T4" fmla="*/ 529 w 529"/>
                    <a:gd name="T5" fmla="*/ 0 h 104"/>
                    <a:gd name="T6" fmla="*/ 529 w 529"/>
                    <a:gd name="T7" fmla="*/ 104 h 104"/>
                    <a:gd name="T8" fmla="*/ 0 w 529"/>
                    <a:gd name="T9" fmla="*/ 104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9" h="104">
                      <a:moveTo>
                        <a:pt x="0" y="104"/>
                      </a:moveTo>
                      <a:cubicBezTo>
                        <a:pt x="0" y="69"/>
                        <a:pt x="0" y="35"/>
                        <a:pt x="0" y="0"/>
                      </a:cubicBezTo>
                      <a:cubicBezTo>
                        <a:pt x="177" y="0"/>
                        <a:pt x="352" y="0"/>
                        <a:pt x="529" y="0"/>
                      </a:cubicBezTo>
                      <a:cubicBezTo>
                        <a:pt x="529" y="35"/>
                        <a:pt x="529" y="69"/>
                        <a:pt x="529" y="104"/>
                      </a:cubicBezTo>
                      <a:cubicBezTo>
                        <a:pt x="353" y="104"/>
                        <a:pt x="177" y="104"/>
                        <a:pt x="0" y="10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2" name="Freeform 9"/>
                <p:cNvSpPr/>
                <p:nvPr/>
              </p:nvSpPr>
              <p:spPr bwMode="auto">
                <a:xfrm>
                  <a:off x="2263134" y="3127502"/>
                  <a:ext cx="607373" cy="119627"/>
                </a:xfrm>
                <a:custGeom>
                  <a:avLst/>
                  <a:gdLst>
                    <a:gd name="T0" fmla="*/ 528 w 528"/>
                    <a:gd name="T1" fmla="*/ 0 h 104"/>
                    <a:gd name="T2" fmla="*/ 528 w 528"/>
                    <a:gd name="T3" fmla="*/ 104 h 104"/>
                    <a:gd name="T4" fmla="*/ 0 w 528"/>
                    <a:gd name="T5" fmla="*/ 104 h 104"/>
                    <a:gd name="T6" fmla="*/ 0 w 528"/>
                    <a:gd name="T7" fmla="*/ 0 h 104"/>
                    <a:gd name="T8" fmla="*/ 528 w 528"/>
                    <a:gd name="T9" fmla="*/ 0 h 1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528" h="104">
                      <a:moveTo>
                        <a:pt x="528" y="0"/>
                      </a:moveTo>
                      <a:cubicBezTo>
                        <a:pt x="528" y="35"/>
                        <a:pt x="528" y="69"/>
                        <a:pt x="528" y="104"/>
                      </a:cubicBezTo>
                      <a:cubicBezTo>
                        <a:pt x="352" y="104"/>
                        <a:pt x="177" y="104"/>
                        <a:pt x="0" y="104"/>
                      </a:cubicBezTo>
                      <a:cubicBezTo>
                        <a:pt x="0" y="70"/>
                        <a:pt x="0" y="36"/>
                        <a:pt x="0" y="0"/>
                      </a:cubicBezTo>
                      <a:cubicBezTo>
                        <a:pt x="176" y="0"/>
                        <a:pt x="352" y="0"/>
                        <a:pt x="528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3" name="Freeform 10"/>
                <p:cNvSpPr/>
                <p:nvPr/>
              </p:nvSpPr>
              <p:spPr bwMode="auto">
                <a:xfrm>
                  <a:off x="2263134" y="3615735"/>
                  <a:ext cx="549991" cy="120599"/>
                </a:xfrm>
                <a:custGeom>
                  <a:avLst/>
                  <a:gdLst>
                    <a:gd name="T0" fmla="*/ 0 w 478"/>
                    <a:gd name="T1" fmla="*/ 0 h 105"/>
                    <a:gd name="T2" fmla="*/ 478 w 478"/>
                    <a:gd name="T3" fmla="*/ 0 h 105"/>
                    <a:gd name="T4" fmla="*/ 472 w 478"/>
                    <a:gd name="T5" fmla="*/ 8 h 105"/>
                    <a:gd name="T6" fmla="*/ 383 w 478"/>
                    <a:gd name="T7" fmla="*/ 97 h 105"/>
                    <a:gd name="T8" fmla="*/ 366 w 478"/>
                    <a:gd name="T9" fmla="*/ 104 h 105"/>
                    <a:gd name="T10" fmla="*/ 8 w 478"/>
                    <a:gd name="T11" fmla="*/ 105 h 105"/>
                    <a:gd name="T12" fmla="*/ 0 w 478"/>
                    <a:gd name="T13" fmla="*/ 104 h 105"/>
                    <a:gd name="T14" fmla="*/ 0 w 478"/>
                    <a:gd name="T15" fmla="*/ 0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78" h="105">
                      <a:moveTo>
                        <a:pt x="0" y="0"/>
                      </a:moveTo>
                      <a:cubicBezTo>
                        <a:pt x="159" y="0"/>
                        <a:pt x="318" y="0"/>
                        <a:pt x="478" y="0"/>
                      </a:cubicBezTo>
                      <a:cubicBezTo>
                        <a:pt x="476" y="3"/>
                        <a:pt x="474" y="6"/>
                        <a:pt x="472" y="8"/>
                      </a:cubicBezTo>
                      <a:cubicBezTo>
                        <a:pt x="443" y="38"/>
                        <a:pt x="413" y="68"/>
                        <a:pt x="383" y="97"/>
                      </a:cubicBezTo>
                      <a:cubicBezTo>
                        <a:pt x="379" y="101"/>
                        <a:pt x="372" y="104"/>
                        <a:pt x="366" y="104"/>
                      </a:cubicBezTo>
                      <a:cubicBezTo>
                        <a:pt x="247" y="105"/>
                        <a:pt x="127" y="105"/>
                        <a:pt x="8" y="105"/>
                      </a:cubicBezTo>
                      <a:cubicBezTo>
                        <a:pt x="6" y="105"/>
                        <a:pt x="3" y="104"/>
                        <a:pt x="0" y="104"/>
                      </a:cubicBezTo>
                      <a:cubicBezTo>
                        <a:pt x="0" y="69"/>
                        <a:pt x="0" y="35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4" name="Freeform 11"/>
                <p:cNvSpPr/>
                <p:nvPr/>
              </p:nvSpPr>
              <p:spPr bwMode="auto">
                <a:xfrm>
                  <a:off x="3016880" y="3492218"/>
                  <a:ext cx="283019" cy="281074"/>
                </a:xfrm>
                <a:custGeom>
                  <a:avLst/>
                  <a:gdLst>
                    <a:gd name="T0" fmla="*/ 0 w 246"/>
                    <a:gd name="T1" fmla="*/ 87 h 244"/>
                    <a:gd name="T2" fmla="*/ 66 w 246"/>
                    <a:gd name="T3" fmla="*/ 20 h 244"/>
                    <a:gd name="T4" fmla="*/ 139 w 246"/>
                    <a:gd name="T5" fmla="*/ 20 h 244"/>
                    <a:gd name="T6" fmla="*/ 225 w 246"/>
                    <a:gd name="T7" fmla="*/ 106 h 244"/>
                    <a:gd name="T8" fmla="*/ 227 w 246"/>
                    <a:gd name="T9" fmla="*/ 178 h 244"/>
                    <a:gd name="T10" fmla="*/ 159 w 246"/>
                    <a:gd name="T11" fmla="*/ 244 h 244"/>
                    <a:gd name="T12" fmla="*/ 0 w 246"/>
                    <a:gd name="T13" fmla="*/ 87 h 2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46" h="244">
                      <a:moveTo>
                        <a:pt x="0" y="87"/>
                      </a:moveTo>
                      <a:cubicBezTo>
                        <a:pt x="22" y="64"/>
                        <a:pt x="43" y="41"/>
                        <a:pt x="66" y="20"/>
                      </a:cubicBezTo>
                      <a:cubicBezTo>
                        <a:pt x="87" y="1"/>
                        <a:pt x="118" y="0"/>
                        <a:pt x="139" y="20"/>
                      </a:cubicBezTo>
                      <a:cubicBezTo>
                        <a:pt x="169" y="48"/>
                        <a:pt x="198" y="76"/>
                        <a:pt x="225" y="106"/>
                      </a:cubicBezTo>
                      <a:cubicBezTo>
                        <a:pt x="245" y="127"/>
                        <a:pt x="246" y="158"/>
                        <a:pt x="227" y="178"/>
                      </a:cubicBezTo>
                      <a:cubicBezTo>
                        <a:pt x="205" y="202"/>
                        <a:pt x="181" y="223"/>
                        <a:pt x="159" y="244"/>
                      </a:cubicBezTo>
                      <a:cubicBezTo>
                        <a:pt x="107" y="193"/>
                        <a:pt x="54" y="140"/>
                        <a:pt x="0" y="8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5" name="Freeform 12"/>
                <p:cNvSpPr/>
                <p:nvPr/>
              </p:nvSpPr>
              <p:spPr bwMode="auto">
                <a:xfrm>
                  <a:off x="2017073" y="3372591"/>
                  <a:ext cx="119627" cy="117682"/>
                </a:xfrm>
                <a:custGeom>
                  <a:avLst/>
                  <a:gdLst>
                    <a:gd name="T0" fmla="*/ 0 w 104"/>
                    <a:gd name="T1" fmla="*/ 102 h 102"/>
                    <a:gd name="T2" fmla="*/ 0 w 104"/>
                    <a:gd name="T3" fmla="*/ 0 h 102"/>
                    <a:gd name="T4" fmla="*/ 104 w 104"/>
                    <a:gd name="T5" fmla="*/ 0 h 102"/>
                    <a:gd name="T6" fmla="*/ 104 w 104"/>
                    <a:gd name="T7" fmla="*/ 102 h 102"/>
                    <a:gd name="T8" fmla="*/ 0 w 104"/>
                    <a:gd name="T9" fmla="*/ 102 h 10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4" h="102">
                      <a:moveTo>
                        <a:pt x="0" y="102"/>
                      </a:moveTo>
                      <a:cubicBezTo>
                        <a:pt x="0" y="68"/>
                        <a:pt x="0" y="34"/>
                        <a:pt x="0" y="0"/>
                      </a:cubicBezTo>
                      <a:cubicBezTo>
                        <a:pt x="35" y="0"/>
                        <a:pt x="69" y="0"/>
                        <a:pt x="104" y="0"/>
                      </a:cubicBezTo>
                      <a:cubicBezTo>
                        <a:pt x="104" y="34"/>
                        <a:pt x="104" y="67"/>
                        <a:pt x="104" y="102"/>
                      </a:cubicBezTo>
                      <a:cubicBezTo>
                        <a:pt x="70" y="102"/>
                        <a:pt x="36" y="102"/>
                        <a:pt x="0" y="102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6" name="Freeform 13"/>
                <p:cNvSpPr/>
                <p:nvPr/>
              </p:nvSpPr>
              <p:spPr bwMode="auto">
                <a:xfrm>
                  <a:off x="2018045" y="3128475"/>
                  <a:ext cx="118654" cy="118654"/>
                </a:xfrm>
                <a:custGeom>
                  <a:avLst/>
                  <a:gdLst>
                    <a:gd name="T0" fmla="*/ 103 w 103"/>
                    <a:gd name="T1" fmla="*/ 103 h 103"/>
                    <a:gd name="T2" fmla="*/ 0 w 103"/>
                    <a:gd name="T3" fmla="*/ 103 h 103"/>
                    <a:gd name="T4" fmla="*/ 0 w 103"/>
                    <a:gd name="T5" fmla="*/ 0 h 103"/>
                    <a:gd name="T6" fmla="*/ 103 w 103"/>
                    <a:gd name="T7" fmla="*/ 0 h 103"/>
                    <a:gd name="T8" fmla="*/ 103 w 103"/>
                    <a:gd name="T9" fmla="*/ 103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3" h="103">
                      <a:moveTo>
                        <a:pt x="103" y="103"/>
                      </a:moveTo>
                      <a:cubicBezTo>
                        <a:pt x="68" y="103"/>
                        <a:pt x="34" y="103"/>
                        <a:pt x="0" y="103"/>
                      </a:cubicBezTo>
                      <a:cubicBezTo>
                        <a:pt x="0" y="68"/>
                        <a:pt x="0" y="35"/>
                        <a:pt x="0" y="0"/>
                      </a:cubicBezTo>
                      <a:cubicBezTo>
                        <a:pt x="34" y="0"/>
                        <a:pt x="68" y="0"/>
                        <a:pt x="103" y="0"/>
                      </a:cubicBezTo>
                      <a:cubicBezTo>
                        <a:pt x="103" y="34"/>
                        <a:pt x="103" y="68"/>
                        <a:pt x="103" y="1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  <p:sp>
              <p:nvSpPr>
                <p:cNvPr id="17" name="Freeform 14"/>
                <p:cNvSpPr/>
                <p:nvPr/>
              </p:nvSpPr>
              <p:spPr bwMode="auto">
                <a:xfrm>
                  <a:off x="2018045" y="3616708"/>
                  <a:ext cx="118654" cy="118654"/>
                </a:xfrm>
                <a:custGeom>
                  <a:avLst/>
                  <a:gdLst>
                    <a:gd name="T0" fmla="*/ 103 w 103"/>
                    <a:gd name="T1" fmla="*/ 103 h 103"/>
                    <a:gd name="T2" fmla="*/ 0 w 103"/>
                    <a:gd name="T3" fmla="*/ 103 h 103"/>
                    <a:gd name="T4" fmla="*/ 0 w 103"/>
                    <a:gd name="T5" fmla="*/ 0 h 103"/>
                    <a:gd name="T6" fmla="*/ 103 w 103"/>
                    <a:gd name="T7" fmla="*/ 0 h 103"/>
                    <a:gd name="T8" fmla="*/ 103 w 103"/>
                    <a:gd name="T9" fmla="*/ 103 h 10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103" h="103">
                      <a:moveTo>
                        <a:pt x="103" y="103"/>
                      </a:moveTo>
                      <a:cubicBezTo>
                        <a:pt x="68" y="103"/>
                        <a:pt x="35" y="103"/>
                        <a:pt x="0" y="103"/>
                      </a:cubicBezTo>
                      <a:cubicBezTo>
                        <a:pt x="0" y="68"/>
                        <a:pt x="0" y="35"/>
                        <a:pt x="0" y="0"/>
                      </a:cubicBezTo>
                      <a:cubicBezTo>
                        <a:pt x="34" y="0"/>
                        <a:pt x="68" y="0"/>
                        <a:pt x="103" y="0"/>
                      </a:cubicBezTo>
                      <a:cubicBezTo>
                        <a:pt x="103" y="33"/>
                        <a:pt x="103" y="67"/>
                        <a:pt x="103" y="10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HK" altLang="en-US" b="1">
                    <a:solidFill>
                      <a:prstClr val="black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2" name="椭圆 1"/>
              <p:cNvSpPr/>
              <p:nvPr/>
            </p:nvSpPr>
            <p:spPr>
              <a:xfrm>
                <a:off x="844063" y="1551266"/>
                <a:ext cx="1801188" cy="1801188"/>
              </a:xfrm>
              <a:prstGeom prst="ellipse">
                <a:avLst/>
              </a:prstGeom>
              <a:noFill/>
              <a:ln w="666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prstClr val="white"/>
                  </a:solidFill>
                  <a:cs typeface="+mn-ea"/>
                  <a:sym typeface="+mn-lt"/>
                </a:endParaRPr>
              </a:p>
            </p:txBody>
          </p:sp>
        </p:grpSp>
      </p:grpSp>
      <p:sp>
        <p:nvSpPr>
          <p:cNvPr id="29" name="文本框 28"/>
          <p:cNvSpPr txBox="1"/>
          <p:nvPr/>
        </p:nvSpPr>
        <p:spPr>
          <a:xfrm>
            <a:off x="2205775" y="4734443"/>
            <a:ext cx="22940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CONTANTS</a:t>
            </a:r>
            <a:endParaRPr lang="zh-HK" altLang="en-US" sz="1600" b="1" spc="300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n-ea"/>
              <a:sym typeface="+mn-lt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109807" y="1454576"/>
            <a:ext cx="4264660" cy="1874509"/>
            <a:chOff x="5633682" y="816896"/>
            <a:chExt cx="4264660" cy="1874509"/>
          </a:xfrm>
        </p:grpSpPr>
        <p:sp>
          <p:nvSpPr>
            <p:cNvPr id="30" name="文本框 29"/>
            <p:cNvSpPr txBox="1"/>
            <p:nvPr/>
          </p:nvSpPr>
          <p:spPr>
            <a:xfrm>
              <a:off x="5633682" y="1727475"/>
              <a:ext cx="4264660" cy="96393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zh-CN" sz="2400" spc="300" dirty="0">
                  <a:solidFill>
                    <a:prstClr val="black"/>
                  </a:solidFill>
                  <a:cs typeface="+mn-ea"/>
                  <a:sym typeface="+mn-lt"/>
                </a:rPr>
                <a:t>02/</a:t>
              </a:r>
              <a:r>
                <a:rPr lang="zh-CN" altLang="en-US" sz="2400" spc="300" dirty="0">
                  <a:cs typeface="+mn-ea"/>
                  <a:sym typeface="+mn-lt"/>
                </a:rPr>
                <a:t>绿韵中国，生态新章</a:t>
              </a:r>
              <a:endParaRPr lang="en-US" altLang="zh-CN" sz="2400" spc="300" dirty="0">
                <a:cs typeface="+mn-ea"/>
                <a:sym typeface="+mn-lt"/>
              </a:endParaRP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5786673" y="816896"/>
              <a:ext cx="395287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400" spc="300" dirty="0">
                  <a:solidFill>
                    <a:prstClr val="black"/>
                  </a:solidFill>
                  <a:cs typeface="+mn-ea"/>
                  <a:sym typeface="+mn-lt"/>
                </a:rPr>
                <a:t>01/</a:t>
              </a:r>
              <a:r>
                <a:rPr lang="zh-CN" altLang="en-US" sz="2400" spc="300" dirty="0">
                  <a:cs typeface="+mn-ea"/>
                  <a:sym typeface="+mn-lt"/>
                </a:rPr>
                <a:t>历史背景，政策提出 </a:t>
              </a:r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6167547" y="3329085"/>
            <a:ext cx="414337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en-US" altLang="zh-CN" sz="2400" spc="300" dirty="0">
                <a:solidFill>
                  <a:prstClr val="black"/>
                </a:solidFill>
                <a:cs typeface="+mn-ea"/>
                <a:sym typeface="+mn-lt"/>
              </a:rPr>
              <a:t>03/</a:t>
            </a:r>
            <a:r>
              <a:rPr lang="zh-CN" altLang="en-US" sz="2400" spc="300" dirty="0">
                <a:cs typeface="+mn-ea"/>
                <a:sym typeface="+mn-lt"/>
              </a:rPr>
              <a:t>共建全球，影响深远</a:t>
            </a:r>
            <a:endParaRPr lang="en-US" altLang="zh-CN" sz="2400" spc="300" dirty="0">
              <a:cs typeface="+mn-ea"/>
              <a:sym typeface="+mn-lt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167546" y="4293015"/>
            <a:ext cx="4143375" cy="6096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buClrTx/>
              <a:buSzTx/>
              <a:buFontTx/>
            </a:pPr>
            <a:r>
              <a:rPr lang="en-US" altLang="zh-CN" sz="2400" spc="300" dirty="0">
                <a:solidFill>
                  <a:prstClr val="black"/>
                </a:solidFill>
                <a:cs typeface="+mn-ea"/>
                <a:sym typeface="+mn-lt"/>
              </a:rPr>
              <a:t>04/</a:t>
            </a:r>
            <a:r>
              <a:rPr lang="zh-CN" altLang="en-US" sz="2400" spc="300" dirty="0">
                <a:solidFill>
                  <a:srgbClr val="FF0000"/>
                </a:solidFill>
                <a:cs typeface="+mn-ea"/>
                <a:sym typeface="+mn-lt"/>
              </a:rPr>
              <a:t>生态新论，时代新程</a:t>
            </a:r>
            <a:endParaRPr lang="en-US" altLang="zh-CN" sz="2400" spc="300" dirty="0">
              <a:solidFill>
                <a:srgbClr val="FF0000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/>
      <p:bldP spid="6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/>
          <p:cNvSpPr/>
          <p:nvPr/>
        </p:nvSpPr>
        <p:spPr>
          <a:xfrm>
            <a:off x="-635" y="-14605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897949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426460" y="100965"/>
            <a:ext cx="119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躬身实践</a:t>
            </a:r>
          </a:p>
        </p:txBody>
      </p:sp>
      <p:cxnSp>
        <p:nvCxnSpPr>
          <p:cNvPr id="49" name="直接连接符 48"/>
          <p:cNvCxnSpPr/>
          <p:nvPr/>
        </p:nvCxnSpPr>
        <p:spPr>
          <a:xfrm>
            <a:off x="7519826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组合 49"/>
          <p:cNvGrpSpPr/>
          <p:nvPr/>
        </p:nvGrpSpPr>
        <p:grpSpPr>
          <a:xfrm>
            <a:off x="5401945" y="60960"/>
            <a:ext cx="1856470" cy="633095"/>
            <a:chOff x="0" y="-3151"/>
            <a:chExt cx="1784161" cy="632668"/>
          </a:xfrm>
        </p:grpSpPr>
        <p:sp>
          <p:nvSpPr>
            <p:cNvPr id="51" name="矩形 50"/>
            <p:cNvSpPr/>
            <p:nvPr/>
          </p:nvSpPr>
          <p:spPr>
            <a:xfrm>
              <a:off x="0" y="-3151"/>
              <a:ext cx="1511494" cy="5571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  <a:cs typeface="+mn-ea"/>
                <a:sym typeface="+mn-lt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232014" y="109168"/>
              <a:ext cx="1552147" cy="52034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spc="300" dirty="0">
                  <a:solidFill>
                    <a:prstClr val="black"/>
                  </a:solidFill>
                  <a:cs typeface="+mn-ea"/>
                  <a:sym typeface="+mn-lt"/>
                </a:rPr>
                <a:t>个人经历</a:t>
              </a:r>
            </a:p>
          </p:txBody>
        </p:sp>
      </p:grpSp>
      <p:sp>
        <p:nvSpPr>
          <p:cNvPr id="53" name="等腰三角形 52"/>
          <p:cNvSpPr/>
          <p:nvPr/>
        </p:nvSpPr>
        <p:spPr>
          <a:xfrm flipH="1" flipV="1">
            <a:off x="6974840" y="52768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9397521" y="10089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7876540" y="100965"/>
            <a:ext cx="117411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spc="300" dirty="0">
                <a:solidFill>
                  <a:schemeClr val="bg1"/>
                </a:solidFill>
                <a:cs typeface="+mn-ea"/>
                <a:sym typeface="+mn-lt"/>
              </a:rPr>
              <a:t>理念根植</a:t>
            </a:r>
            <a:endParaRPr lang="en-US" altLang="zh-CN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" name="直接连接符 1"/>
          <p:cNvCxnSpPr/>
          <p:nvPr/>
        </p:nvCxnSpPr>
        <p:spPr>
          <a:xfrm>
            <a:off x="3107884" y="10153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1"/>
          <p:cNvSpPr/>
          <p:nvPr>
            <p:custDataLst>
              <p:tags r:id="rId1"/>
            </p:custDataLst>
          </p:nvPr>
        </p:nvSpPr>
        <p:spPr>
          <a:xfrm>
            <a:off x="798662" y="3728876"/>
            <a:ext cx="3256566" cy="805815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375"/>
              </a:spcBef>
              <a:buNone/>
            </a:pPr>
            <a:r>
              <a:rPr lang="zh-CN" altLang="en-US" sz="2800" dirty="0">
                <a:cs typeface="+mn-ea"/>
                <a:sym typeface="+mn-lt"/>
              </a:rPr>
              <a:t>知青时期</a:t>
            </a:r>
          </a:p>
        </p:txBody>
      </p:sp>
      <p:sp>
        <p:nvSpPr>
          <p:cNvPr id="4" name="Text 2"/>
          <p:cNvSpPr/>
          <p:nvPr>
            <p:custDataLst>
              <p:tags r:id="rId2"/>
            </p:custDataLst>
          </p:nvPr>
        </p:nvSpPr>
        <p:spPr>
          <a:xfrm>
            <a:off x="2555500" y="1289552"/>
            <a:ext cx="4174067" cy="51435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375"/>
              </a:spcBef>
              <a:buNone/>
            </a:pPr>
            <a:r>
              <a:rPr lang="zh-CN" altLang="en-US" sz="2800" dirty="0">
                <a:cs typeface="+mn-ea"/>
                <a:sym typeface="+mn-lt"/>
              </a:rPr>
              <a:t>担任福建省领导期间</a:t>
            </a:r>
          </a:p>
        </p:txBody>
      </p:sp>
      <p:sp>
        <p:nvSpPr>
          <p:cNvPr id="5" name="Text 3"/>
          <p:cNvSpPr/>
          <p:nvPr>
            <p:custDataLst>
              <p:tags r:id="rId3"/>
            </p:custDataLst>
          </p:nvPr>
        </p:nvSpPr>
        <p:spPr>
          <a:xfrm>
            <a:off x="6458711" y="3707117"/>
            <a:ext cx="2599917" cy="1379576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375"/>
              </a:spcBef>
              <a:buNone/>
            </a:pPr>
            <a:r>
              <a:rPr lang="zh-CN" altLang="en-US" sz="2800" dirty="0">
                <a:cs typeface="+mn-ea"/>
                <a:sym typeface="+mn-lt"/>
              </a:rPr>
              <a:t>提出“碳达峰、碳中和” </a:t>
            </a:r>
          </a:p>
        </p:txBody>
      </p:sp>
      <p:sp>
        <p:nvSpPr>
          <p:cNvPr id="6" name="Text 4"/>
          <p:cNvSpPr/>
          <p:nvPr>
            <p:custDataLst>
              <p:tags r:id="rId4"/>
            </p:custDataLst>
          </p:nvPr>
        </p:nvSpPr>
        <p:spPr>
          <a:xfrm>
            <a:off x="7352515" y="1113642"/>
            <a:ext cx="3972983" cy="510539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 algn="ctr">
              <a:lnSpc>
                <a:spcPct val="115000"/>
              </a:lnSpc>
              <a:spcBef>
                <a:spcPts val="375"/>
              </a:spcBef>
              <a:buNone/>
            </a:pPr>
            <a:r>
              <a:rPr lang="zh-CN" altLang="en-US" sz="2800" dirty="0">
                <a:cs typeface="+mn-ea"/>
                <a:sym typeface="+mn-lt"/>
              </a:rPr>
              <a:t>推动“黄河流域生态保护和高质量发展”</a:t>
            </a:r>
            <a:endParaRPr lang="zh-CN" altLang="en-US" sz="2800" b="1" dirty="0">
              <a:cs typeface="+mn-ea"/>
              <a:sym typeface="+mn-lt"/>
            </a:endParaRPr>
          </a:p>
        </p:txBody>
      </p:sp>
      <p:sp>
        <p:nvSpPr>
          <p:cNvPr id="7" name="Text 5"/>
          <p:cNvSpPr/>
          <p:nvPr>
            <p:custDataLst>
              <p:tags r:id="rId5"/>
            </p:custDataLst>
          </p:nvPr>
        </p:nvSpPr>
        <p:spPr>
          <a:xfrm>
            <a:off x="752233" y="4396905"/>
            <a:ext cx="3613785" cy="2111197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zh-CN" altLang="en-US" dirty="0">
                <a:cs typeface="+mn-ea"/>
                <a:sym typeface="+mn-lt"/>
              </a:rPr>
              <a:t>梁家河插队期间，他带头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修沼气池</a:t>
            </a:r>
            <a:r>
              <a:rPr lang="zh-CN" altLang="en-US" dirty="0">
                <a:cs typeface="+mn-ea"/>
                <a:sym typeface="+mn-lt"/>
              </a:rPr>
              <a:t>解决村民燃料难题，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牵头治沟打坝</a:t>
            </a:r>
            <a:r>
              <a:rPr lang="zh-CN" altLang="en-US" dirty="0">
                <a:cs typeface="+mn-ea"/>
                <a:sym typeface="+mn-lt"/>
              </a:rPr>
              <a:t>改善当地农业生产条件，在黄土地上播下了生态保护的种子，形成了对 “绿水青山” 的早期体悟</a:t>
            </a:r>
            <a:endParaRPr lang="en-US" dirty="0">
              <a:cs typeface="+mn-ea"/>
              <a:sym typeface="+mn-lt"/>
            </a:endParaRPr>
          </a:p>
        </p:txBody>
      </p:sp>
      <p:sp>
        <p:nvSpPr>
          <p:cNvPr id="8" name="Text 6"/>
          <p:cNvSpPr/>
          <p:nvPr>
            <p:custDataLst>
              <p:tags r:id="rId6"/>
            </p:custDataLst>
          </p:nvPr>
        </p:nvSpPr>
        <p:spPr>
          <a:xfrm>
            <a:off x="2855277" y="1995913"/>
            <a:ext cx="3528696" cy="8763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indent="0" algn="just">
              <a:lnSpc>
                <a:spcPct val="115000"/>
              </a:lnSpc>
              <a:spcBef>
                <a:spcPts val="375"/>
              </a:spcBef>
              <a:buNone/>
            </a:pPr>
            <a:r>
              <a:rPr lang="zh-CN" altLang="en-US" dirty="0">
                <a:cs typeface="+mn-ea"/>
                <a:sym typeface="+mn-lt"/>
              </a:rPr>
              <a:t>习近平多次深入水土流失严重的长汀县调研，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推动实施系统性的“山水林田”综合治理工程。</a:t>
            </a:r>
            <a:endParaRPr lang="en-US" b="1" dirty="0">
              <a:solidFill>
                <a:srgbClr val="FF0000"/>
              </a:solidFill>
              <a:cs typeface="+mn-ea"/>
              <a:sym typeface="+mn-lt"/>
            </a:endParaRPr>
          </a:p>
        </p:txBody>
      </p:sp>
      <p:sp>
        <p:nvSpPr>
          <p:cNvPr id="9" name="Text 7"/>
          <p:cNvSpPr/>
          <p:nvPr>
            <p:custDataLst>
              <p:tags r:id="rId7"/>
            </p:custDataLst>
          </p:nvPr>
        </p:nvSpPr>
        <p:spPr>
          <a:xfrm>
            <a:off x="5990791" y="4782623"/>
            <a:ext cx="3531759" cy="8763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cs typeface="+mn-ea"/>
                <a:sym typeface="+mn-lt"/>
              </a:rPr>
              <a:t>2020</a:t>
            </a:r>
            <a:r>
              <a:rPr lang="zh-CN" altLang="en-US" dirty="0">
                <a:cs typeface="+mn-ea"/>
                <a:sym typeface="+mn-lt"/>
              </a:rPr>
              <a:t>年，习近平在联合国大会上宣布中国将力争</a:t>
            </a:r>
            <a:r>
              <a:rPr lang="en-US" altLang="zh-CN" dirty="0">
                <a:cs typeface="+mn-ea"/>
                <a:sym typeface="+mn-lt"/>
              </a:rPr>
              <a:t>2030</a:t>
            </a:r>
            <a:r>
              <a:rPr lang="zh-CN" altLang="en-US" dirty="0">
                <a:cs typeface="+mn-ea"/>
                <a:sym typeface="+mn-lt"/>
              </a:rPr>
              <a:t>年前实现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碳达峰</a:t>
            </a:r>
            <a:r>
              <a:rPr lang="zh-CN" altLang="en-US" dirty="0">
                <a:cs typeface="+mn-ea"/>
                <a:sym typeface="+mn-lt"/>
              </a:rPr>
              <a:t>、</a:t>
            </a:r>
            <a:r>
              <a:rPr lang="en-US" altLang="zh-CN" dirty="0">
                <a:cs typeface="+mn-ea"/>
                <a:sym typeface="+mn-lt"/>
              </a:rPr>
              <a:t>2060</a:t>
            </a:r>
            <a:r>
              <a:rPr lang="zh-CN" altLang="en-US" dirty="0">
                <a:cs typeface="+mn-ea"/>
                <a:sym typeface="+mn-lt"/>
              </a:rPr>
              <a:t>年前实现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碳中和</a:t>
            </a:r>
            <a:r>
              <a:rPr lang="zh-CN" altLang="en-US" dirty="0">
                <a:cs typeface="+mn-ea"/>
                <a:sym typeface="+mn-lt"/>
              </a:rPr>
              <a:t>。</a:t>
            </a:r>
          </a:p>
        </p:txBody>
      </p:sp>
      <p:sp>
        <p:nvSpPr>
          <p:cNvPr id="10" name="Text 8"/>
          <p:cNvSpPr/>
          <p:nvPr>
            <p:custDataLst>
              <p:tags r:id="rId8"/>
            </p:custDataLst>
          </p:nvPr>
        </p:nvSpPr>
        <p:spPr>
          <a:xfrm>
            <a:off x="7501565" y="2159609"/>
            <a:ext cx="3528695" cy="876300"/>
          </a:xfrm>
          <a:prstGeom prst="rect">
            <a:avLst/>
          </a:prstGeom>
          <a:noFill/>
        </p:spPr>
        <p:txBody>
          <a:bodyPr wrap="square" lIns="95250" tIns="95250" rIns="95250" bIns="95250" rtlCol="0" anchor="t">
            <a:noAutofit/>
          </a:bodyPr>
          <a:lstStyle/>
          <a:p>
            <a:pPr marL="0" algn="just">
              <a:lnSpc>
                <a:spcPct val="115000"/>
              </a:lnSpc>
              <a:spcBef>
                <a:spcPts val="375"/>
              </a:spcBef>
              <a:buClrTx/>
              <a:buSzTx/>
              <a:buFontTx/>
              <a:buNone/>
            </a:pPr>
            <a:r>
              <a:rPr lang="zh-CN" altLang="en-US" dirty="0">
                <a:cs typeface="+mn-ea"/>
                <a:sym typeface="+mn-lt"/>
              </a:rPr>
              <a:t>进入新时代后，习近平多次赴黄河流域调研，强调</a:t>
            </a:r>
            <a:r>
              <a:rPr lang="zh-CN" altLang="en-US" dirty="0">
                <a:solidFill>
                  <a:srgbClr val="FF0000"/>
                </a:solidFill>
                <a:cs typeface="+mn-ea"/>
                <a:sym typeface="+mn-lt"/>
              </a:rPr>
              <a:t>“黄河安澜是中华民族永续发展的千年大计”</a:t>
            </a:r>
            <a:r>
              <a:rPr lang="zh-CN" altLang="en-US" dirty="0">
                <a:cs typeface="+mn-ea"/>
                <a:sym typeface="+mn-lt"/>
              </a:rPr>
              <a:t>。</a:t>
            </a:r>
            <a:endParaRPr lang="en-US" dirty="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>
            <p:custDataLst>
              <p:tags r:id="rId9"/>
            </p:custDataLst>
          </p:nvPr>
        </p:nvGrpSpPr>
        <p:grpSpPr>
          <a:xfrm>
            <a:off x="914084" y="3458308"/>
            <a:ext cx="10393045" cy="173355"/>
            <a:chOff x="2690" y="5849"/>
            <a:chExt cx="12634" cy="120"/>
          </a:xfrm>
        </p:grpSpPr>
        <p:sp>
          <p:nvSpPr>
            <p:cNvPr id="11" name="Shape 9"/>
            <p:cNvSpPr/>
            <p:nvPr>
              <p:custDataLst>
                <p:tags r:id="rId10"/>
              </p:custDataLst>
            </p:nvPr>
          </p:nvSpPr>
          <p:spPr>
            <a:xfrm>
              <a:off x="2690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B0252A"/>
            </a:solidFill>
          </p:spPr>
          <p:txBody>
            <a:bodyPr/>
            <a:lstStyle/>
            <a:p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12" name="Shape 10"/>
            <p:cNvSpPr/>
            <p:nvPr>
              <p:custDataLst>
                <p:tags r:id="rId11"/>
              </p:custDataLst>
            </p:nvPr>
          </p:nvSpPr>
          <p:spPr>
            <a:xfrm>
              <a:off x="5732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FFD6D6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Shape 11"/>
            <p:cNvSpPr/>
            <p:nvPr>
              <p:custDataLst>
                <p:tags r:id="rId12"/>
              </p:custDataLst>
            </p:nvPr>
          </p:nvSpPr>
          <p:spPr>
            <a:xfrm>
              <a:off x="8831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B0252A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Shape 12"/>
            <p:cNvSpPr/>
            <p:nvPr>
              <p:custDataLst>
                <p:tags r:id="rId13"/>
              </p:custDataLst>
            </p:nvPr>
          </p:nvSpPr>
          <p:spPr>
            <a:xfrm>
              <a:off x="11888" y="5849"/>
              <a:ext cx="3437" cy="120"/>
            </a:xfrm>
            <a:custGeom>
              <a:avLst/>
              <a:gdLst/>
              <a:ahLst/>
              <a:cxnLst/>
              <a:rect l="l" t="t" r="r" b="b"/>
              <a:pathLst>
                <a:path w="2023088" h="82716">
                  <a:moveTo>
                    <a:pt x="41358" y="0"/>
                  </a:moveTo>
                  <a:lnTo>
                    <a:pt x="1981730" y="0"/>
                  </a:lnTo>
                  <a:cubicBezTo>
                    <a:pt x="2004571" y="0"/>
                    <a:pt x="2023088" y="18517"/>
                    <a:pt x="2023088" y="41358"/>
                  </a:cubicBezTo>
                  <a:lnTo>
                    <a:pt x="2023088" y="41358"/>
                  </a:lnTo>
                  <a:cubicBezTo>
                    <a:pt x="2023088" y="64199"/>
                    <a:pt x="2004571" y="82716"/>
                    <a:pt x="1981730" y="82716"/>
                  </a:cubicBezTo>
                  <a:lnTo>
                    <a:pt x="41358" y="82716"/>
                  </a:lnTo>
                  <a:cubicBezTo>
                    <a:pt x="18517" y="82716"/>
                    <a:pt x="0" y="64199"/>
                    <a:pt x="0" y="41358"/>
                  </a:cubicBezTo>
                  <a:lnTo>
                    <a:pt x="0" y="41358"/>
                  </a:lnTo>
                  <a:cubicBezTo>
                    <a:pt x="0" y="18517"/>
                    <a:pt x="18517" y="0"/>
                    <a:pt x="41358" y="0"/>
                  </a:cubicBezTo>
                  <a:close/>
                </a:path>
              </a:pathLst>
            </a:custGeom>
            <a:solidFill>
              <a:srgbClr val="FFD6D6"/>
            </a:solidFill>
          </p:spPr>
          <p:txBody>
            <a:bodyPr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6" name="矩形 15"/>
          <p:cNvSpPr/>
          <p:nvPr/>
        </p:nvSpPr>
        <p:spPr>
          <a:xfrm>
            <a:off x="556579" y="527685"/>
            <a:ext cx="715010" cy="1624330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成长</a:t>
            </a:r>
          </a:p>
        </p:txBody>
      </p:sp>
      <p:sp>
        <p:nvSpPr>
          <p:cNvPr id="17" name="矩形 16"/>
          <p:cNvSpPr/>
          <p:nvPr/>
        </p:nvSpPr>
        <p:spPr>
          <a:xfrm>
            <a:off x="1393667" y="1103223"/>
            <a:ext cx="516890" cy="1463675"/>
          </a:xfrm>
          <a:prstGeom prst="rect">
            <a:avLst/>
          </a:prstGeom>
          <a:noFill/>
          <a:ln>
            <a:noFill/>
          </a:ln>
        </p:spPr>
        <p:txBody>
          <a:bodyPr vert="eaVert" wrap="none" rtlCol="0" anchor="t">
            <a:noAutofit/>
          </a:bodyPr>
          <a:lstStyle/>
          <a:p>
            <a:pPr algn="ctr"/>
            <a:r>
              <a:rPr lang="zh-CN" altLang="en-US" sz="5400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+mn-ea"/>
                <a:sym typeface="+mn-lt"/>
              </a:rPr>
              <a:t>履历</a:t>
            </a:r>
            <a:endParaRPr lang="zh-CN" altLang="en-US" sz="5400" b="1" dirty="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cs typeface="+mn-ea"/>
              <a:sym typeface="+mn-lt"/>
            </a:endParaRPr>
          </a:p>
        </p:txBody>
      </p:sp>
      <p:sp>
        <p:nvSpPr>
          <p:cNvPr id="18" name="斜纹 17"/>
          <p:cNvSpPr/>
          <p:nvPr/>
        </p:nvSpPr>
        <p:spPr>
          <a:xfrm rot="10800000">
            <a:off x="9630229" y="4296229"/>
            <a:ext cx="2561771" cy="2561771"/>
          </a:xfrm>
          <a:prstGeom prst="diagStripe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/>
          <p:cNvSpPr/>
          <p:nvPr/>
        </p:nvSpPr>
        <p:spPr>
          <a:xfrm>
            <a:off x="3364996" y="1149180"/>
            <a:ext cx="7252204" cy="556895"/>
          </a:xfrm>
          <a:prstGeom prst="roundRect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0" y="0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5113786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3684842" y="187325"/>
            <a:ext cx="119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大学生</a:t>
            </a:r>
            <a:endParaRPr lang="zh-CN" altLang="en-US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49" name="直接连接符 48"/>
          <p:cNvCxnSpPr/>
          <p:nvPr/>
        </p:nvCxnSpPr>
        <p:spPr>
          <a:xfrm>
            <a:off x="7354536" y="187257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7239161" y="166370"/>
            <a:ext cx="1572895" cy="5575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7457601" y="282575"/>
            <a:ext cx="1614805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cs typeface="+mn-ea"/>
                <a:sym typeface="+mn-lt"/>
              </a:rPr>
              <a:t>生态文明</a:t>
            </a:r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53" name="等腰三角形 52"/>
          <p:cNvSpPr/>
          <p:nvPr/>
        </p:nvSpPr>
        <p:spPr>
          <a:xfrm flipH="1" flipV="1">
            <a:off x="8818077" y="55435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54" name="直接连接符 53"/>
          <p:cNvCxnSpPr/>
          <p:nvPr/>
        </p:nvCxnSpPr>
        <p:spPr>
          <a:xfrm>
            <a:off x="6875111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/>
          <p:cNvSpPr txBox="1"/>
          <p:nvPr/>
        </p:nvSpPr>
        <p:spPr>
          <a:xfrm>
            <a:off x="5482527" y="191770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践行</a:t>
            </a:r>
            <a:endParaRPr lang="zh-CN" altLang="en-US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3364996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364996" y="1115821"/>
            <a:ext cx="6852986" cy="584775"/>
          </a:xfrm>
          <a:prstGeom prst="rect">
            <a:avLst/>
          </a:prstGeom>
          <a:noFill/>
          <a:ln>
            <a:solidFill>
              <a:srgbClr val="B0252A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大学生应如何在日常中践行生态文明？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254647" y="1884491"/>
            <a:ext cx="5926669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绿色生活方式</a:t>
            </a:r>
            <a:endParaRPr lang="en-US" altLang="zh-CN" sz="32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节约用电用水</a:t>
            </a:r>
            <a:endParaRPr lang="en-US" altLang="zh-CN" sz="2400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绿色出行</a:t>
            </a:r>
            <a:endParaRPr lang="en-US" altLang="zh-CN" sz="2400" dirty="0">
              <a:cs typeface="+mn-ea"/>
              <a:sym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垃圾分类</a:t>
            </a:r>
            <a:endParaRPr lang="zh-CN" altLang="en-US" sz="2400" b="1" dirty="0">
              <a:cs typeface="+mn-ea"/>
              <a:sym typeface="+mn-lt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75111" y="4637331"/>
            <a:ext cx="44047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chemeClr val="accent2">
                    <a:lumMod val="75000"/>
                  </a:schemeClr>
                </a:solidFill>
                <a:cs typeface="+mn-ea"/>
                <a:sym typeface="+mn-lt"/>
              </a:rPr>
              <a:t>志愿行动与传播倡导</a:t>
            </a:r>
            <a:endParaRPr lang="en-US" altLang="zh-CN" sz="3200" dirty="0">
              <a:solidFill>
                <a:schemeClr val="accent2">
                  <a:lumMod val="75000"/>
                </a:schemeClr>
              </a:solidFill>
              <a:cs typeface="+mn-ea"/>
              <a:sym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组织植树、生态调研</a:t>
            </a:r>
            <a:endParaRPr lang="en-US" altLang="zh-CN" sz="2400" dirty="0">
              <a:cs typeface="+mn-ea"/>
              <a:sym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cs typeface="+mn-ea"/>
                <a:sym typeface="+mn-lt"/>
              </a:rPr>
              <a:t>传播科学的生态文明理念</a:t>
            </a:r>
            <a:endParaRPr lang="en-US" altLang="zh-CN" sz="2400" dirty="0">
              <a:cs typeface="+mn-ea"/>
              <a:sym typeface="+mn-lt"/>
            </a:endParaRPr>
          </a:p>
        </p:txBody>
      </p:sp>
      <p:sp>
        <p:nvSpPr>
          <p:cNvPr id="11" name="箭头: 右 10"/>
          <p:cNvSpPr/>
          <p:nvPr/>
        </p:nvSpPr>
        <p:spPr>
          <a:xfrm>
            <a:off x="6185587" y="3852875"/>
            <a:ext cx="5631543" cy="233231"/>
          </a:xfrm>
          <a:prstGeom prst="rightArrow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3" name="圆: 空心 12"/>
          <p:cNvSpPr/>
          <p:nvPr/>
        </p:nvSpPr>
        <p:spPr>
          <a:xfrm>
            <a:off x="10402624" y="766487"/>
            <a:ext cx="1283445" cy="1283445"/>
          </a:xfrm>
          <a:prstGeom prst="donut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4" name="斜纹 13"/>
          <p:cNvSpPr/>
          <p:nvPr/>
        </p:nvSpPr>
        <p:spPr>
          <a:xfrm rot="10800000">
            <a:off x="11104461" y="5783943"/>
            <a:ext cx="1074057" cy="1074057"/>
          </a:xfrm>
          <a:prstGeom prst="diagStripe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1993510" y="2473263"/>
            <a:ext cx="4180320" cy="2636658"/>
          </a:xfrm>
          <a:prstGeom prst="rect">
            <a:avLst/>
          </a:prstGeom>
        </p:spPr>
      </p:pic>
      <p:pic>
        <p:nvPicPr>
          <p:cNvPr id="1026" name="Picture 2" descr="imag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077" y="3713518"/>
            <a:ext cx="3515543" cy="2636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35" y="747467"/>
            <a:ext cx="2994280" cy="2415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斜纹 19"/>
          <p:cNvSpPr/>
          <p:nvPr/>
        </p:nvSpPr>
        <p:spPr>
          <a:xfrm>
            <a:off x="-58961" y="0"/>
            <a:ext cx="2286865" cy="2395228"/>
          </a:xfrm>
          <a:prstGeom prst="diagStripe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pic>
        <p:nvPicPr>
          <p:cNvPr id="18" name="图片 17" descr="图标&#10;&#10;AI 生成的内容可能不正确。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714465" y="3123712"/>
            <a:ext cx="2030611" cy="2277533"/>
          </a:xfrm>
          <a:prstGeom prst="rect">
            <a:avLst/>
          </a:prstGeom>
        </p:spPr>
      </p:pic>
      <p:sp>
        <p:nvSpPr>
          <p:cNvPr id="15" name="波形 14"/>
          <p:cNvSpPr/>
          <p:nvPr/>
        </p:nvSpPr>
        <p:spPr>
          <a:xfrm>
            <a:off x="6297932" y="1006475"/>
            <a:ext cx="5535480" cy="2153074"/>
          </a:xfrm>
          <a:prstGeom prst="wave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97932" y="1402806"/>
            <a:ext cx="53908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cs typeface="+mn-ea"/>
                <a:sym typeface="+mn-lt"/>
              </a:rPr>
              <a:t>共建绿色未来</a:t>
            </a:r>
            <a:endParaRPr lang="en-US" altLang="zh-CN" sz="3200" dirty="0">
              <a:solidFill>
                <a:schemeClr val="bg1"/>
              </a:solidFill>
              <a:cs typeface="+mn-ea"/>
              <a:sym typeface="+mn-lt"/>
            </a:endParaRPr>
          </a:p>
          <a:p>
            <a:r>
              <a:rPr lang="zh-CN" altLang="en-US" sz="3200" dirty="0">
                <a:solidFill>
                  <a:schemeClr val="bg1"/>
                </a:solidFill>
                <a:cs typeface="+mn-ea"/>
                <a:sym typeface="+mn-lt"/>
              </a:rPr>
              <a:t>  </a:t>
            </a:r>
            <a:r>
              <a:rPr lang="en-US" altLang="zh-CN" sz="3200" dirty="0">
                <a:solidFill>
                  <a:schemeClr val="bg1"/>
                </a:solidFill>
                <a:cs typeface="+mn-ea"/>
                <a:sym typeface="+mn-lt"/>
              </a:rPr>
              <a:t>			  </a:t>
            </a:r>
            <a:r>
              <a:rPr lang="zh-CN" altLang="en-US" sz="3200" dirty="0">
                <a:solidFill>
                  <a:schemeClr val="bg1"/>
                </a:solidFill>
                <a:cs typeface="+mn-ea"/>
                <a:sym typeface="+mn-lt"/>
              </a:rPr>
              <a:t>担地球责任</a:t>
            </a:r>
            <a:endParaRPr lang="zh-CN" altLang="en-US" sz="32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4" name="斜纹 13"/>
          <p:cNvSpPr/>
          <p:nvPr/>
        </p:nvSpPr>
        <p:spPr>
          <a:xfrm rot="10800000">
            <a:off x="10189028" y="4855029"/>
            <a:ext cx="2002971" cy="2002971"/>
          </a:xfrm>
          <a:prstGeom prst="diagStripe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0"/>
            <a:ext cx="12192635" cy="556895"/>
          </a:xfrm>
          <a:prstGeom prst="rect">
            <a:avLst/>
          </a:prstGeom>
          <a:solidFill>
            <a:srgbClr val="B0252A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113786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3684842" y="187325"/>
            <a:ext cx="11931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大学生</a:t>
            </a:r>
            <a:endParaRPr lang="zh-CN" altLang="en-US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39161" y="166370"/>
            <a:ext cx="1572895" cy="55753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57601" y="282575"/>
            <a:ext cx="1614805" cy="5207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b="1" dirty="0">
                <a:cs typeface="+mn-ea"/>
                <a:sym typeface="+mn-lt"/>
              </a:rPr>
              <a:t>生态文明</a:t>
            </a:r>
            <a:endParaRPr lang="zh-CN" altLang="en-US" sz="1600" spc="300" dirty="0">
              <a:cs typeface="+mn-ea"/>
              <a:sym typeface="+mn-lt"/>
            </a:endParaRPr>
          </a:p>
        </p:txBody>
      </p:sp>
      <p:sp>
        <p:nvSpPr>
          <p:cNvPr id="13" name="等腰三角形 12"/>
          <p:cNvSpPr/>
          <p:nvPr/>
        </p:nvSpPr>
        <p:spPr>
          <a:xfrm flipH="1" flipV="1">
            <a:off x="8818077" y="554355"/>
            <a:ext cx="107315" cy="90805"/>
          </a:xfrm>
          <a:prstGeom prst="triangle">
            <a:avLst>
              <a:gd name="adj" fmla="val 100000"/>
            </a:avLst>
          </a:prstGeom>
          <a:solidFill>
            <a:srgbClr val="871D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white"/>
              </a:solidFill>
              <a:cs typeface="+mn-ea"/>
              <a:sym typeface="+mn-lt"/>
            </a:endParaRPr>
          </a:p>
        </p:txBody>
      </p:sp>
      <p:cxnSp>
        <p:nvCxnSpPr>
          <p:cNvPr id="16" name="直接连接符 15"/>
          <p:cNvCxnSpPr/>
          <p:nvPr/>
        </p:nvCxnSpPr>
        <p:spPr>
          <a:xfrm>
            <a:off x="6875111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482527" y="191770"/>
            <a:ext cx="11741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践行</a:t>
            </a:r>
            <a:endParaRPr lang="zh-CN" altLang="en-US" sz="1600" spc="30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3364996" y="187892"/>
            <a:ext cx="0" cy="362585"/>
          </a:xfrm>
          <a:prstGeom prst="line">
            <a:avLst/>
          </a:prstGeom>
          <a:ln>
            <a:solidFill>
              <a:schemeClr val="bg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880" y="763766"/>
            <a:ext cx="4201120" cy="2153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972" y="2717725"/>
            <a:ext cx="4479636" cy="29821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471178" y="3391559"/>
            <a:ext cx="3202455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cs typeface="+mn-ea"/>
                <a:sym typeface="+mn-lt"/>
              </a:rPr>
              <a:t>每个人都是生态文明参与者</a:t>
            </a: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cs typeface="+mn-ea"/>
                <a:sym typeface="+mn-lt"/>
              </a:rPr>
              <a:t>绿色转型需要全社会共同努力</a:t>
            </a:r>
          </a:p>
          <a:p>
            <a:pPr marL="285750" marR="0" lvl="0" indent="-28575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cs typeface="+mn-ea"/>
                <a:sym typeface="+mn-lt"/>
              </a:rPr>
              <a:t>为中国、为世界贡献青年力量</a:t>
            </a:r>
            <a:endParaRPr kumimoji="0" lang="en-US" altLang="zh-CN" sz="2400" b="0" i="0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cs typeface="+mn-ea"/>
              <a:sym typeface="+mn-lt"/>
            </a:endParaRPr>
          </a:p>
        </p:txBody>
      </p:sp>
      <p:sp>
        <p:nvSpPr>
          <p:cNvPr id="36" name="矩形: 圆角 35"/>
          <p:cNvSpPr/>
          <p:nvPr/>
        </p:nvSpPr>
        <p:spPr>
          <a:xfrm>
            <a:off x="1293634" y="5998520"/>
            <a:ext cx="8955201" cy="556895"/>
          </a:xfrm>
          <a:prstGeom prst="roundRect">
            <a:avLst/>
          </a:prstGeom>
          <a:solidFill>
            <a:srgbClr val="B025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CN" altLang="en-US" sz="2800" dirty="0">
                <a:cs typeface="+mn-ea"/>
                <a:sym typeface="+mn-lt"/>
              </a:rPr>
              <a:t>青年越行动，未来越绿色；世界越绿色，人类越文明。</a:t>
            </a:r>
            <a:endParaRPr kumimoji="0" lang="zh-CN" altLang="zh-CN" sz="2800" b="0" i="0" u="none" strike="noStrike" cap="none" normalizeH="0" baseline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cs typeface="+mn-ea"/>
              <a:sym typeface="+mn-lt"/>
            </a:endParaRPr>
          </a:p>
        </p:txBody>
      </p:sp>
    </p:spTree>
  </p:cSld>
  <p:clrMapOvr>
    <a:masterClrMapping/>
  </p:clrMapOvr>
  <p:transition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601" b="6331"/>
          <a:stretch>
            <a:fillRect/>
          </a:stretch>
        </p:blipFill>
        <p:spPr>
          <a:xfrm>
            <a:off x="-18372" y="0"/>
            <a:ext cx="12191365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766" y="593839"/>
            <a:ext cx="2709676" cy="730306"/>
          </a:xfrm>
          <a:prstGeom prst="rect">
            <a:avLst/>
          </a:prstGeom>
        </p:spPr>
      </p:pic>
      <p:pic>
        <p:nvPicPr>
          <p:cNvPr id="8" name="图片 7" hidden="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9296" y="162011"/>
            <a:ext cx="2709676" cy="73030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00480" y="758267"/>
            <a:ext cx="35756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 spc="300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谢谢观看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64443" y="1865376"/>
            <a:ext cx="526298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第组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组长：刘凯丽</a:t>
            </a:r>
            <a:endParaRPr lang="en-US" altLang="zh-CN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组员：魏朝旭，孙长青，田栋栋，王奕璇，邓睿棋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WY4NzkxYzE1NzBhNTIzZDJlODQxNGRkNDhkNTQxNW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33070866143,&quot;left&quot;:103.46818897637795,&quot;top&quot;:126.90086614173228,&quot;width&quot;:739.4818110236221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33070866143,&quot;left&quot;:103.46818897637795,&quot;top&quot;:126.90086614173228,&quot;width&quot;:739.481811023622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33070866143,&quot;left&quot;:103.46818897637795,&quot;top&quot;:126.90086614173228,&quot;width&quot;:739.4818110236221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33070866143,&quot;left&quot;:103.46818897637795,&quot;top&quot;:126.90086614173228,&quot;width&quot;:739.4818110236221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33070866143,&quot;left&quot;:103.46818897637795,&quot;top&quot;:126.90086614173228,&quot;width&quot;:739.4818110236221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33070866143,&quot;left&quot;:103.46818897637795,&quot;top&quot;:126.90086614173228,&quot;width&quot;:739.4818110236221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6.90417322834656,&quot;left&quot;:103.46818897637795,&quot;top&quot;:126.9,&quot;width&quot;:739.481811023622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670.7634413530346,&quot;left&quot;:129.7812598425197,&quot;top&quot;:-40.80762618832837,&quot;width&quot;:705.8499212598426}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46.3651181102362,&quot;left&quot;:48.105354330708664,&quot;top&quot;:72.43488188976377,&quot;width&quot;:840.0946456692913}"/>
</p:tagLst>
</file>

<file path=ppt/theme/theme1.xml><?xml version="1.0" encoding="utf-8"?>
<a:theme xmlns:a="http://schemas.openxmlformats.org/drawingml/2006/main" name="3_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dabaea9b-5253-440a-a8ef-697cea2522e3">
      <a:majorFont>
        <a:latin typeface="Times New Roman"/>
        <a:ea typeface="阿里巴巴普惠体 3.0 65 Medium"/>
        <a:cs typeface=""/>
      </a:majorFont>
      <a:minorFont>
        <a:latin typeface="Times New Roman"/>
        <a:ea typeface="阿里巴巴普惠体 3.0 65 Medium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2200</Words>
  <Application>Microsoft Office PowerPoint</Application>
  <PresentationFormat>宽屏</PresentationFormat>
  <Paragraphs>220</Paragraphs>
  <Slides>20</Slides>
  <Notes>19</Notes>
  <HiddenSlides>0</HiddenSlides>
  <MMClips>1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Times New Roman</vt:lpstr>
      <vt:lpstr>MicrosoftYaHei</vt:lpstr>
      <vt:lpstr>Wingdings</vt:lpstr>
      <vt:lpstr>Calibri</vt:lpstr>
      <vt:lpstr>Arial</vt:lpstr>
      <vt:lpstr>楷体</vt:lpstr>
      <vt:lpstr>微软雅黑</vt:lpstr>
      <vt:lpstr>3_Office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sparkle L</dc:creator>
  <cp:lastModifiedBy>sparkle L</cp:lastModifiedBy>
  <cp:revision>97</cp:revision>
  <dcterms:created xsi:type="dcterms:W3CDTF">2025-12-04T03:23:08Z</dcterms:created>
  <dcterms:modified xsi:type="dcterms:W3CDTF">2025-12-04T05:01:18Z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DD2E2E8437D379419BFE30690B799997_42</vt:lpwstr>
  </property>
  <property fmtid="{D5CDD505-2E9C-101B-9397-08002B2CF9AE}" pid="3" name="KSOProductBuildVer">
    <vt:lpwstr>2052-12.8.2.21176</vt:lpwstr>
  </property>
</Properties>
</file>