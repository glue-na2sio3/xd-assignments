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5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82" y="4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今天我将为大家汇报关于生成式AI领域的前沿技术——扩散模型（Diffusion Models）的调研成果。本次汇报将深入探讨扩散模型的发展背景、核心技术、应用价值以及未来的发展趋势。希望通过这次分享，能让大家对这项革命性技术有一个全面而深入的了解。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汇报将围绕六个核心部分展开。首先，我们将回顾扩散模型诞生的研究背景，了解它为何能超越前人。接着，探讨其重要的研究意义和广泛的应用价值。然后，我们会梳理其发展历程和当前的研究现状。之后，将深入剖析其核心技术原理。最后，通过实验效果对比来验证其性能，并对未来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扩散模型出现之前，生成式AI领域主要由GAN和VAE主导。然而，GAN存在训练不稳定和模式崩溃的问题，而VAE生成的图像又常常模糊不清。随着对高质量图像生成的需求不断增长，这些局限性变得愈发突出。正是在这样的背景下，扩散模型应运而生。从2020年DDPM的提出，到2022年Stable Diffusion的开源，再到如今向多模态领域的快速发展，扩散模型迅速成为了该领域的新标杆。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扩散模型的研究意义体现在三个层面。首先，在学术上，它开创了一种新的生成建模范式，统一了多种理论，并成为性能的新标杆。其次，在应用上，它的价值巨大，从艺术创作到医疗影像，再到工业设计，都展现出革命性的潜力。然而，技术是一把双刃剑，它也带来了深度伪造、版权争议和有害内容生成等新的安全挑战，需要我们密切关注和应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回顾扩散模型的发展历程，我们可以清晰地看到三个阶段。从2013年到2019年是萌芽期，以VAE等模型为代表。2020年，随着DDPM的提出，我们进入了技术突破期。而从2022年开始，随着Latent Diffusion和Stable Diffusion的出现，技术迎来了爆发期，并迅速扩展到视频和3D等领域，至今热度不减。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扩散模型的研究领域非常广泛。这张分类法图展示了其主要的研究分支，包括算法层面的改进、与其他模型的联系、在各个领域的应用，以及未来的研究方向。从计算机视觉到自然语言处理，再到多模态生成，扩散模型正在渗透到AI的各个角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5984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在扩散模型的发展过程中，几篇里程碑式的论文起到了关键作用。2020年的DDPM奠定了基础，证明了其生成质量。2021年的Guided Diffusion增强了模型的可控性。2022年，Latent Diffusion通过在潜空间运算，极大地降低了计算成本，而DALL-E 2则将扩散模型与CLIP结合，开启了文本到图像生成的新纪元。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扩散模型的核心技术可以从DDPM的架构来理解。它包含两个过程：一个是固定的前向加噪过程，通过千步马尔可夫链将图像变为纯噪声；另一个是需要学习的反向去噪过程。模型通过训练一个U-Net网络来预测每一步的噪声，从而实现从噪声中逐步生成图像。重参数化技巧的使用，使得这个复杂的过程可以被高效地训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为了解决原始扩散模型计算成本高昂的问题，Latent Diffusion应运而生。它的核心思想是，不再在高维的像素空间，而是在一个低维的“潜空间”中进行扩散过程。这个潜空间是通过一个预训练的自编码器得到的。通过这种方式，计算量被极大地压缩，同时保留了生成高质量图像的能力。这一创新是扩散模型能够走向普及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实验效果方面，我们通常使用FID、IS等指标来评估生成模型的性能。FID分数越低，代表生成图像越逼真。从图表中可以看到，早期的DDPM在FID指标上就已经超越了当时主流的GAN模型。而随着技术的发展，特别是DiT等新架构的出现，SOTA模型的FID分数已经降至1.35，展现了惊人的生成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除了生成全新图像，扩散模型在图像编辑任务上也表现出色。这张图展示了在图像修复任务中，潜扩散模型（LDM）与其他模型的效果对比。可以看到，LDM生成的补全部分不仅内容合理，而且纹理和光照都与原图完美融合，效果远超当时的其他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最后，我们来总结一下。扩散模型凭借其卓越的生成性能、稳定的训练过程和强大的灵活性，已经成为生成式AI的核心技术。然而，它仍然面临着采样速度慢、计算资源消耗大等挑战。未来，研究将聚焦于开发更高效的采样算法、向3D和视频等更复杂的模态扩展，以及发展相应的AI生成内容检测技术，以确保其健康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我的汇报到此结束，感谢大家的聆听。如果大家有任何问题，欢迎现在提出，我们一起交流探讨。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57200" y="1460500"/>
            <a:ext cx="82296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 spc="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Diffusion Models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" y="2286000"/>
            <a:ext cx="8229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 spc="100">
                <a:solidFill>
                  <a:srgbClr val="E8F4F8"/>
                </a:solidFill>
                <a:latin typeface="Cambria"/>
                <a:ea typeface="Cambria"/>
                <a:cs typeface="Cambria"/>
                <a:sym typeface="Cambria"/>
              </a:rPr>
              <a:t>学术前沿调研 | Academic Frontier Research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4114800"/>
            <a:ext cx="8229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信息与内容安全</a:t>
            </a:r>
            <a:r>
              <a:rPr lang="en-US" sz="1200" b="0" i="0" u="none" strike="noStrike" dirty="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-US" sz="1200" b="0" i="0" u="none" strike="noStrike" dirty="0" err="1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姓名</a:t>
            </a:r>
            <a:r>
              <a:rPr lang="en-US" sz="1200" b="0" i="0" u="none" strike="noStrike" dirty="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zh-CN" altLang="en-US" sz="1200" b="0" i="0" u="none" strike="noStrike" dirty="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魏朝旭</a:t>
            </a:r>
            <a:r>
              <a:rPr lang="en-US" sz="1200" b="0" i="0" u="none" strike="noStrike" dirty="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-US" sz="1200" b="0" i="0" u="none" strike="noStrike" dirty="0" err="1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学号</a:t>
            </a:r>
            <a:r>
              <a:rPr lang="en-US" sz="1200" b="0" i="0" u="none" strike="noStrike" dirty="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: 23009201082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57200" y="1092200"/>
            <a:ext cx="4521200" cy="3479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36600" y="1188720"/>
            <a:ext cx="42418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调研方向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36600" y="1645920"/>
            <a:ext cx="42418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扩散模型</a:t>
            </a:r>
            <a:r>
              <a:rPr lang="en-US" sz="1400" b="1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 (Diffusion Models)</a:t>
            </a:r>
          </a:p>
          <a:p>
            <a:pPr marL="0" indent="0" algn="l">
              <a:lnSpc>
                <a:spcPct val="100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关键词</a:t>
            </a:r>
            <a:r>
              <a:rPr lang="en-US" sz="1200" b="0" i="0" u="none" strike="noStrike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: Denoising, Latent Space, Text-to-Image</a:t>
            </a:r>
          </a:p>
        </p:txBody>
      </p:sp>
      <p:sp>
        <p:nvSpPr>
          <p:cNvPr id="6" name="AutoShape 6"/>
          <p:cNvSpPr/>
          <p:nvPr/>
        </p:nvSpPr>
        <p:spPr>
          <a:xfrm>
            <a:off x="736600" y="2376170"/>
            <a:ext cx="42418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涉及领域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36600" y="3017520"/>
            <a:ext cx="4241800" cy="1092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20700" indent="-177800"/>
            <a:lvl2pPr marL="977900" indent="-177800"/>
            <a:lvl3pPr marL="1435100" indent="-177800"/>
            <a:lvl4pPr marL="1892300" indent="-177800"/>
            <a:lvl5pPr marL="2349500" indent="-177800"/>
            <a:lvl6pPr marL="2806700" indent="-177800"/>
            <a:lvl7pPr marL="3263900" indent="-177800"/>
            <a:lvl8pPr marL="3721100" indent="-177800"/>
            <a:lvl9pPr marL="4178300" indent="-177800"/>
          </a:lstStyle>
          <a:p>
            <a:pPr marL="342900" indent="-342900" algn="l">
              <a:lnSpc>
                <a:spcPts val="2400"/>
              </a:lnSpc>
              <a:buClr>
                <a:srgbClr val="21295C"/>
              </a:buClr>
              <a:buFont typeface="Arial"/>
              <a:buChar char="•"/>
              <a:defRPr/>
            </a:pPr>
            <a:r>
              <a:rPr lang="en-US" sz="14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生成式 AI：探索数据生成的底层逻辑与创新范式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2400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计算机视觉：革新图像生成、编辑与理解任务</a:t>
            </a:r>
          </a:p>
          <a:p>
            <a:pPr marL="342900" indent="-342900" algn="l">
              <a:lnSpc>
                <a:spcPts val="2400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内容安全检测：应对生成内容的合规性与风险管控</a:t>
            </a:r>
          </a:p>
        </p:txBody>
      </p:sp>
      <p:sp>
        <p:nvSpPr>
          <p:cNvPr id="8" name="AutoShape 8"/>
          <p:cNvSpPr/>
          <p:nvPr/>
        </p:nvSpPr>
        <p:spPr>
          <a:xfrm>
            <a:off x="5397500" y="10922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575300" y="11684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01 研究背景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397500" y="16002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75300" y="16764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02 研究意义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97500" y="21082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575300" y="21717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03 研究现状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397500" y="26035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575300" y="26797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04 核心技术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397500" y="31115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575300" y="31877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05 实验效果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397500" y="3606800"/>
            <a:ext cx="3289300" cy="40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575300" y="36830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06 总结展望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397500" y="4114800"/>
            <a:ext cx="3289300" cy="406400"/>
          </a:xfrm>
          <a:prstGeom prst="roundRect">
            <a:avLst>
              <a:gd name="adj" fmla="val 0"/>
            </a:avLst>
          </a:prstGeom>
          <a:solidFill>
            <a:srgbClr val="E8F4F8">
              <a:alpha val="5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575300" y="4191000"/>
            <a:ext cx="2882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—— 应用拓展与未来挑战 ——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591300" y="4686300"/>
            <a:ext cx="24384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Diffusion </a:t>
            </a:r>
            <a:r>
              <a:rPr lang="en-US" sz="1400" b="0" i="0" u="none" strike="noStrike" dirty="0" err="1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Models</a:t>
            </a:r>
            <a:r>
              <a:rPr lang="en-US" sz="1400" b="0" i="0" u="none" strike="noStrike" dirty="0" err="1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ngti SC"/>
                <a:sym typeface="Songti SC"/>
              </a:rPr>
              <a:t>前沿调研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altLang="zh-CN" sz="2800" b="1" i="0" u="none" strike="noStrike" spc="200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01 </a:t>
            </a:r>
            <a:r>
              <a:rPr lang="en-US" sz="2800" b="1" i="0" u="none" strike="noStrike" spc="200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研究背景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0660" y="1003300"/>
            <a:ext cx="422148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问题来源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00660" y="1371600"/>
            <a:ext cx="422148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r>
              <a:rPr lang="en-US" sz="14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GAN局限：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训练过程不稳定，极易发生模式崩溃，导致生成样本多样性严重不足</a:t>
            </a:r>
            <a:r>
              <a:rPr lang="en-US" sz="14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VAE痛点：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生成图像质量有限，因损失函数设计问题，输出结果往往存在模糊、细节缺失的情况</a:t>
            </a:r>
            <a:r>
              <a:rPr lang="en-US" sz="14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核心需求：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工业界与学术界对高质量、高多样性的图像生成需求呈爆发式增长</a:t>
            </a:r>
            <a:r>
              <a:rPr lang="en-US" sz="14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200660" y="3111500"/>
            <a:ext cx="422148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技术演进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00660" y="3479800"/>
            <a:ext cx="422148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2020 理论奠基：</a:t>
            </a:r>
            <a:r>
              <a:rPr lang="en-US" sz="14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DDPM（去噪扩散概率模型）正式提出，完善了扩散模型的数学理论框架。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2022 生态爆发：</a:t>
            </a:r>
            <a:r>
              <a:rPr lang="en-US" sz="14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Stable Diffusion开源，大幅降低算力门槛，引爆AIGC应用生态。</a:t>
            </a:r>
          </a:p>
          <a:p>
            <a:pPr marL="177800" indent="-1778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2023+ 多维拓展：</a:t>
            </a:r>
            <a:r>
              <a:rPr lang="en-US" sz="14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融合多模态大模型，向视频生成、3D内容创作等更复杂领域快速延伸。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218" r="218"/>
          <a:stretch>
            <a:fillRect/>
          </a:stretch>
        </p:blipFill>
        <p:spPr>
          <a:xfrm>
            <a:off x="4422140" y="1219200"/>
            <a:ext cx="4521200" cy="1892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422140" y="3606800"/>
            <a:ext cx="4521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扩散模型通过逐步去噪的方式生成图像，有效解决了传统生成模型的稳定性与质量痛点，现已成为生成式人工智能领域的主流技术方案，驱动着内容创作范式的革新。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22140" y="4495800"/>
            <a:ext cx="45212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生成式AI技术前沿 · 扩散模型演进之路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02 </a:t>
            </a:r>
            <a:r>
              <a:rPr lang="en-US" sz="2800" b="1" i="0" u="none" strike="noStrike" spc="200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研究意义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57200" y="1193800"/>
            <a:ext cx="25654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65A8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57200" y="1193800"/>
            <a:ext cx="2565400" cy="139700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" y="1511300"/>
            <a:ext cx="2197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学术价值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2032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新范式：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统一多种生成模型理论框架，构建全新的生成建模逻辑体系。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" y="28575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性能标杆：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在图像、语音等多个基准任务上刷新SOTA记录，确立性能新标准。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3683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扩展性强：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衍生出高效采样、模型压缩等方向，为算法优化提供广阔空间。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289300" y="1193800"/>
            <a:ext cx="25654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729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289300" y="1193800"/>
            <a:ext cx="2565400" cy="139700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79800" y="1511300"/>
            <a:ext cx="2197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应用价值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79800" y="2032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艺术创作：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支持文本生成图像与视频，辅助设计师快速实现创意可视化表达。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79800" y="28575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医疗影像：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实现医疗数据增强、图像修复与重建，助力临床诊断效率提升。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79800" y="3683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工业设计：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快速生成产品3D模型和高质量渲染图，缩短工业产品研发周期。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21400" y="1193800"/>
            <a:ext cx="2565400" cy="3200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961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21400" y="1193800"/>
            <a:ext cx="2565400" cy="139700"/>
          </a:xfrm>
          <a:prstGeom prst="roundRect">
            <a:avLst>
              <a:gd name="adj" fmla="val 0"/>
            </a:avLst>
          </a:prstGeom>
          <a:solidFill>
            <a:srgbClr val="F961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11900" y="1511300"/>
            <a:ext cx="2197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961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安全挑战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11900" y="2032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深度伪造：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技术滥用易造成虚假信息泛滥，对社会公信力与信息安全构成威胁。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11900" y="28575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版权争议：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AI生成内容的版权归属界定模糊，引发一系列知识产权法律纠纷。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11900" y="3683000"/>
            <a:ext cx="21971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有害内容：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可能被不法分子利用生成非法、暴力等有害信息，危害网络环境。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832600" y="4686300"/>
            <a:ext cx="21971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808080">
                    <a:alpha val="5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DIFFUSION MODEL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03 研究现状 — 发展历程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7700" y="1092200"/>
            <a:ext cx="78359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46100" y="3657600"/>
            <a:ext cx="2565400" cy="1092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" y="3746500"/>
            <a:ext cx="23749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萌芽期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41148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VAE / PixelCNN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" y="4394200"/>
            <a:ext cx="23749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2013-2019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289300" y="3657600"/>
            <a:ext cx="2565400" cy="1092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78200" y="3746500"/>
            <a:ext cx="23749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突破期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78200" y="41148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DDPM / Score-based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78200" y="4394200"/>
            <a:ext cx="23749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2020-2021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32500" y="3657600"/>
            <a:ext cx="2565400" cy="1092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21400" y="3746500"/>
            <a:ext cx="23749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爆发期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21400" y="4114800"/>
            <a:ext cx="23749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LDM / DALL-E / SD / DiT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21400" y="4394200"/>
            <a:ext cx="23749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2022-2026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03 研究现状 - 领域分类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922520" y="965200"/>
            <a:ext cx="38709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核心理论与关联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364480" y="1333500"/>
            <a:ext cx="3429000" cy="23215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08000" indent="-165100"/>
            <a:lvl2pPr marL="965200" indent="-165100"/>
            <a:lvl3pPr marL="1422400" indent="-165100"/>
            <a:lvl4pPr marL="1879600" indent="-165100"/>
            <a:lvl5pPr marL="2336800" indent="-165100"/>
            <a:lvl6pPr marL="2794000" indent="-165100"/>
            <a:lvl7pPr marL="3251200" indent="-165100"/>
            <a:lvl8pPr marL="3708400" indent="-165100"/>
            <a:lvl9pPr marL="4165600" indent="-165100"/>
          </a:lstStyle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Algorithms：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聚焦高效采样策略优化与似然估计方法的改进，提升模型训练与生成效率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Connections：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探索与GAN、VAE、流模型等其他生成模型的理论联系与融合路径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457200" y="3286760"/>
            <a:ext cx="420624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应用场景与未来方向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7200" y="3655060"/>
            <a:ext cx="4206240" cy="128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08000" indent="-165100"/>
            <a:lvl2pPr marL="965200" indent="-165100"/>
            <a:lvl3pPr marL="1422400" indent="-165100"/>
            <a:lvl4pPr marL="1879600" indent="-165100"/>
            <a:lvl5pPr marL="2336800" indent="-165100"/>
            <a:lvl6pPr marL="2794000" indent="-165100"/>
            <a:lvl7pPr marL="3251200" indent="-165100"/>
            <a:lvl8pPr marL="3708400" indent="-165100"/>
            <a:lvl9pPr marL="4165600" indent="-165100"/>
          </a:lstStyle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Applications：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覆盖CV、NLP及多模态生成，延伸至医疗、材料等跨学科领域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Future：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深化理论理解，挖掘潜在表示价值，拓展更通用的生成能力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33739" b="33739"/>
          <a:stretch>
            <a:fillRect/>
          </a:stretch>
        </p:blipFill>
        <p:spPr>
          <a:xfrm>
            <a:off x="19288" y="965200"/>
            <a:ext cx="5079523" cy="2125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271260" y="4163060"/>
            <a:ext cx="26289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0" i="0" u="none" strike="noStrike" dirty="0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Diffusion </a:t>
            </a:r>
            <a:r>
              <a:rPr lang="en-US" sz="1600" b="0" i="0" u="none" strike="noStrike" dirty="0" err="1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Models</a:t>
            </a:r>
            <a:r>
              <a:rPr lang="en-US" sz="1600" b="0" i="0" u="none" strike="noStrike" dirty="0" err="1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ngti SC"/>
                <a:sym typeface="Songti SC"/>
              </a:rPr>
              <a:t>领域全景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183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03 </a:t>
            </a:r>
            <a:r>
              <a:rPr lang="en-US" sz="2800" b="1" i="0" u="none" strike="noStrike" spc="200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研究现状</a:t>
            </a:r>
            <a:r>
              <a:rPr lang="en-US" sz="2800" b="1" i="0" u="none" strike="noStrike" spc="200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 — </a:t>
            </a:r>
            <a:r>
              <a:rPr lang="en-US" sz="2800" b="1" i="0" u="none" strike="noStrike" spc="200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方法对比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092200"/>
          <a:ext cx="79502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方法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年份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会议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核心思想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主要贡献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DDPM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马尔可夫链去噪过程建模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奠定扩散模型基础，图像生成质量全面超越传统GAN模型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Guided Diffusion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引入分类器引导采样策略优化生成过程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显著提升了条件生成任务的可控性，让生成结果更贴合目标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Latent Diffusion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CVPR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在图像的潜在特征空间中执行扩散与采样操作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大幅降低计算资源消耗，推动扩散模型向工业化落地发展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DALL-E 2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结合CLIP文本图像对齐与扩散模型生成能力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引爆文本到图像生成的革命，实现高语义的跨模态生成</a:t>
                      </a:r>
                      <a:endParaRPr lang="en-US" sz="1100"/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6832600" y="4686300"/>
            <a:ext cx="21971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DIFFUSION</a:t>
            </a:r>
            <a:r>
              <a:rPr lang="en-US" sz="1600" b="0" i="0" u="none" strike="noStrike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ngti SC"/>
                <a:sym typeface="Songti SC"/>
              </a:rPr>
              <a:t>调研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04 核心技术 — DDPM 架构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36600" y="990600"/>
            <a:ext cx="1282700" cy="420255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36600" y="9906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x0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231900" y="15367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36600" y="18161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36600" y="18161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x1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31900" y="23622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36600" y="26416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36600" y="26416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x2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31900" y="31877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36600" y="34544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36600" y="34544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...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31900" y="40132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36600" y="4279900"/>
            <a:ext cx="1282700" cy="420255"/>
          </a:xfrm>
          <a:prstGeom prst="roundRect">
            <a:avLst>
              <a:gd name="adj" fmla="val 0"/>
            </a:avLst>
          </a:prstGeom>
          <a:solidFill>
            <a:srgbClr val="F961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36600" y="42799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xT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6600" y="4777740"/>
            <a:ext cx="1343660" cy="2311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Forward: q(xt|xt-1)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43200" y="990600"/>
            <a:ext cx="1282700" cy="420255"/>
          </a:xfrm>
          <a:prstGeom prst="roundRect">
            <a:avLst>
              <a:gd name="adj" fmla="val 0"/>
            </a:avLst>
          </a:prstGeom>
          <a:solidFill>
            <a:srgbClr val="F961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743200" y="9906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xT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251200" y="15367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2743200" y="18161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2743200" y="18161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...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251200" y="23622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2743200" y="26416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743200" y="26416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x2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251200" y="31877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2743200" y="3454400"/>
            <a:ext cx="1282700" cy="420255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2743200" y="34544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x1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3251200" y="4013200"/>
            <a:ext cx="279400" cy="1891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2743200" y="4279900"/>
            <a:ext cx="1282700" cy="420255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2743200" y="4279900"/>
            <a:ext cx="1282700" cy="42025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x0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2743200" y="4777740"/>
            <a:ext cx="1282700" cy="2311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Reverse: p(xt-1|xt)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4749800" y="1447800"/>
            <a:ext cx="1651000" cy="1891145"/>
          </a:xfrm>
          <a:prstGeom prst="roundRect">
            <a:avLst>
              <a:gd name="adj" fmla="val 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749800" y="2184400"/>
            <a:ext cx="1651000" cy="3782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U-Net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749800" y="2730500"/>
            <a:ext cx="1651000" cy="3046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8F4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εθ(xt, t)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4152900" y="2359892"/>
            <a:ext cx="279400" cy="1470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743700" y="1073150"/>
            <a:ext cx="2286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关键设计要素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400800" y="1054099"/>
            <a:ext cx="2743200" cy="31482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马尔可夫链：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设定T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=1000步，通过固定的高斯噪声逐步加噪，最终将图像转化为纯噪声分布。</a:t>
            </a: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300" b="1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重参数化技巧：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无需存储中间变量，直接从x0推导xT，大幅简化训练目标与计算流程。</a:t>
            </a: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endParaRPr lang="en-US" sz="1300" b="0" i="0" u="none" strike="noStrike" dirty="0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/>
              <a:sym typeface="等线"/>
            </a:endParaRP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U-Net核心：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以U-Net为骨干网络，精准预测每一步的噪声残差，实现从纯噪声还原图像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6832600" y="4686300"/>
            <a:ext cx="21971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808080">
                    <a:alpha val="6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Diffusion Model Core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04 核心技术 — Latent Diffusion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310640" y="1054100"/>
            <a:ext cx="1460500" cy="546100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310640" y="10541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Input Image x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910840" y="1193800"/>
            <a:ext cx="3683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317240" y="1054100"/>
            <a:ext cx="1460500" cy="546100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317240" y="10541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VAE Encoder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17440" y="1193800"/>
            <a:ext cx="3683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336540" y="1054100"/>
            <a:ext cx="1460500" cy="546100"/>
          </a:xfrm>
          <a:prstGeom prst="roundRect">
            <a:avLst>
              <a:gd name="adj" fmla="val 0"/>
            </a:avLst>
          </a:prstGeom>
          <a:solidFill>
            <a:srgbClr val="F961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336540" y="10541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Latent z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33440" y="1701800"/>
            <a:ext cx="279400" cy="317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36540" y="2336800"/>
            <a:ext cx="1460500" cy="546100"/>
          </a:xfrm>
          <a:prstGeom prst="roundRect">
            <a:avLst>
              <a:gd name="adj" fmla="val 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336540" y="23368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U-Net + Attention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17240" y="2336800"/>
            <a:ext cx="1651000" cy="546100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317240" y="2336800"/>
            <a:ext cx="16510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Text Encoder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57140" y="2514600"/>
            <a:ext cx="2794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933440" y="2971800"/>
            <a:ext cx="279400" cy="317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336540" y="3619500"/>
            <a:ext cx="1460500" cy="546100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336540" y="36195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VAE Decoder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36740" y="3759200"/>
            <a:ext cx="368300" cy="2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1295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343140" y="3619500"/>
            <a:ext cx="1460500" cy="546100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343140" y="3619500"/>
            <a:ext cx="1460500" cy="546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Output x'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97890" y="1949450"/>
            <a:ext cx="2286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核心优势解析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57199" y="2266950"/>
            <a:ext cx="2753361" cy="2774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r>
              <a:rPr lang="en-US" sz="1300" b="1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低维潜空间：</a:t>
            </a:r>
            <a:r>
              <a:rPr lang="en-US" sz="13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运算在压缩潜空间进行，显存占用大幅减少95%以上，极大释放硬件压力。</a:t>
            </a: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条件注入机制：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通过Cross-Attention高效融合文本等条件信息，精准控制生成内容</a:t>
            </a:r>
            <a:r>
              <a:rPr lang="en-US" sz="13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endParaRPr lang="en-US" sz="1300" b="0" i="0" u="none" strike="noStrike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165100" indent="-165100" algn="l">
              <a:lnSpc>
                <a:spcPct val="108333"/>
              </a:lnSpc>
              <a:buClr>
                <a:srgbClr val="21295C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效率革命：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显著降低训练与推理成本，推动扩散模型规模化商业应用落地</a:t>
            </a:r>
            <a:r>
              <a:rPr lang="en-US" sz="13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743700" y="4686300"/>
            <a:ext cx="2286000" cy="355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88900" bIns="50800" rtlCol="0" anchor="b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Latent Diffusion </a:t>
            </a:r>
            <a:r>
              <a:rPr lang="en-US" sz="1400" b="0" i="0" u="none" strike="noStrike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架构示意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05 实验效果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0200" y="982980"/>
            <a:ext cx="4775200" cy="2628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30200" y="3776980"/>
            <a:ext cx="47752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7200" y="3878580"/>
            <a:ext cx="45212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SOTA 模型性能突破：</a:t>
            </a:r>
            <a:r>
              <a:rPr lang="en-US" sz="1200" b="0" i="0" u="none" strike="noStrike">
                <a:solidFill>
                  <a:srgbClr val="505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从 BigGAN 的 12.8 到 DiT 的 1.35，FID 指标大幅下降。DiT 架构凭借 Transformer 的全局建模能力，在生成图像的真实性与细节丰富度上达到了新高度，显著优于传统 DDPM 与 StyleGAN v2。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494020" y="718820"/>
            <a:ext cx="338328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核心评测指标体系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494020" y="1176020"/>
            <a:ext cx="338328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633720" y="1460500"/>
            <a:ext cx="797684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FID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08420" y="1277620"/>
            <a:ext cx="2359854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衡量生成分布与真实分布的距离，数值越低代表图像越逼真</a:t>
            </a:r>
            <a:r>
              <a:rPr lang="en-US" sz="12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Connector 10"/>
          <p:cNvCxnSpPr>
            <a:cxnSpLocks/>
          </p:cNvCxnSpPr>
          <p:nvPr/>
        </p:nvCxnSpPr>
        <p:spPr>
          <a:xfrm>
            <a:off x="5494020" y="2319020"/>
            <a:ext cx="3383331" cy="553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494020" y="2420620"/>
            <a:ext cx="338328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633720" y="2705100"/>
            <a:ext cx="797684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IS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08419" y="2522220"/>
            <a:ext cx="235985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Inception </a:t>
            </a:r>
            <a:r>
              <a:rPr lang="en-US" sz="12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Score，综合评估生成图像的质量和类别多样性，分数越高越好</a:t>
            </a:r>
            <a:r>
              <a:rPr lang="en-US" sz="12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>
            <a:cxnSpLocks/>
          </p:cNvCxnSpPr>
          <p:nvPr/>
        </p:nvCxnSpPr>
        <p:spPr>
          <a:xfrm>
            <a:off x="5494020" y="3563620"/>
            <a:ext cx="3383331" cy="553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5494020" y="3665220"/>
            <a:ext cx="338328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4F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633720" y="3949700"/>
            <a:ext cx="797684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CLIP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08419" y="3766820"/>
            <a:ext cx="235985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衡量文本描述与生成图像的语义对齐程度，越高代表图文一致性越强</a:t>
            </a:r>
            <a:r>
              <a:rPr lang="en-US" sz="12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05 实验效果 - 图像修复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57200" y="1003300"/>
            <a:ext cx="32893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多模型修复表现对比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57200" y="1371600"/>
            <a:ext cx="32893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08000" indent="-165100"/>
            <a:lvl2pPr marL="965200" indent="-165100"/>
            <a:lvl3pPr marL="1422400" indent="-165100"/>
            <a:lvl4pPr marL="1879600" indent="-165100"/>
            <a:lvl5pPr marL="2336800" indent="-165100"/>
            <a:lvl6pPr marL="2794000" indent="-165100"/>
            <a:lvl7pPr marL="3251200" indent="-165100"/>
            <a:lvl8pPr marL="3708400" indent="-165100"/>
            <a:lvl9pPr marL="4165600" indent="-165100"/>
          </a:lstStyle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Input：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输入图像存在明显的缺失区域或遮挡，是修复任务的基础素材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对比模型：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DALL-E与VQGAN等模型的修复结果存在边缘模糊、纹理伪影及内容逻辑不合理的问题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457200" y="3111500"/>
            <a:ext cx="32893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LDM 模型核心优势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7200" y="3479800"/>
            <a:ext cx="3406140" cy="128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>
            <a:lvl1pPr marL="508000" indent="-165100"/>
            <a:lvl2pPr marL="965200" indent="-165100"/>
            <a:lvl3pPr marL="1422400" indent="-165100"/>
            <a:lvl4pPr marL="1879600" indent="-165100"/>
            <a:lvl5pPr marL="2336800" indent="-165100"/>
            <a:lvl6pPr marL="2794000" indent="-165100"/>
            <a:lvl7pPr marL="3251200" indent="-165100"/>
            <a:lvl8pPr marL="3708400" indent="-165100"/>
            <a:lvl9pPr marL="4165600" indent="-165100"/>
          </a:lstStyle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细节丰富度：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潜扩散模型生成的补全区域纹理细腻，与原图结构衔接自然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ts val="2600"/>
              </a:lnSpc>
              <a:buClr>
                <a:srgbClr val="21295C"/>
              </a:buClr>
              <a:buSzPct val="100000"/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光影一致性：</a:t>
            </a:r>
            <a:r>
              <a:rPr lang="en-US" sz="1300" b="0" i="0" u="none" strike="noStrike" dirty="0" err="1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修复部分的光照、色彩与整体环境高度统一，无违和感</a:t>
            </a:r>
            <a:r>
              <a:rPr lang="en-US" sz="1300" b="0" i="0" u="none" strike="noStrike" dirty="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/>
                <a:sym typeface="Calibri"/>
              </a:rPr>
              <a:t>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5422" b="5422"/>
          <a:stretch>
            <a:fillRect/>
          </a:stretch>
        </p:blipFill>
        <p:spPr>
          <a:xfrm>
            <a:off x="4025900" y="1122680"/>
            <a:ext cx="45212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025900" y="3740150"/>
            <a:ext cx="476758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1016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实验结论：</a:t>
            </a:r>
            <a:r>
              <a:rPr lang="en-US" sz="1300" b="0" i="0" u="none" strike="noStrike" dirty="0" err="1">
                <a:solidFill>
                  <a:srgbClr val="505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LDM在图像修复任务中展现出远超传统生成模型的性能，能够精准补全缺失信息并保持图像的整体性与真实感</a:t>
            </a:r>
            <a:r>
              <a:rPr lang="en-US" sz="1300" b="0" i="0" u="none" strike="noStrike" dirty="0">
                <a:solidFill>
                  <a:srgbClr val="505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457200"/>
            <a:ext cx="8229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2129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06 总结展望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57200" y="1193800"/>
            <a:ext cx="2639544" cy="374396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65A8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35000" y="1422399"/>
            <a:ext cx="2260600" cy="3714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主要结论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" y="1793825"/>
            <a:ext cx="2260600" cy="27981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性能卓越：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生成质量全面超越传统GAN模型，训练过程更加稳定可控，不易出现模式崩溃问题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效率革命：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Latent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 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Diffusion架构大幅降低计算成本，让大模型训练与推理更具可行性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多模态融合：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已成为连接文本、图像、视频生成的核心通用技术，应用边界持续拓展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3289300" y="1193800"/>
            <a:ext cx="2639544" cy="374396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961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79800" y="1422399"/>
            <a:ext cx="2260600" cy="3714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961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当前挑战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79800" y="1793825"/>
            <a:ext cx="2260600" cy="27981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采样速度瓶颈：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迭代采样步骤多，生成耗时久，难以满足实时交互类应用的低延迟需求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资源消耗高昂：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大规模模型的训练与部署需要巨额算力投入，普通开发者和企业难以负担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内容安全隐患：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深度伪造技术滥用、虚假信息传播等伦理与安全问题亟待监管与技术防范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1400" y="1193800"/>
            <a:ext cx="2639544" cy="374396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729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11900" y="1422399"/>
            <a:ext cx="2260600" cy="3714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mbria"/>
                <a:sym typeface="Cambria"/>
              </a:rPr>
              <a:t>未来方向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11900" y="1793825"/>
            <a:ext cx="2260600" cy="27981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算法效率突破：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研发极速采样算法，减少生成步骤，在保证质量的前提下提升推理速度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复杂模态扩展：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从2D图像向3D建模、高分辨率视频生成、多感官融合等更复杂的场景演进。</a:t>
            </a:r>
          </a:p>
          <a:p>
            <a:pPr marL="165100" indent="-165100" algn="l">
              <a:lnSpc>
                <a:spcPct val="108333"/>
              </a:lnSpc>
              <a:buClr>
                <a:srgbClr val="000000"/>
              </a:buClr>
              <a:buFont typeface="Arial"/>
              <a:buChar char="•"/>
            </a:pPr>
            <a:r>
              <a:rPr lang="en-US" sz="1300" b="1" i="0" u="none" strike="noStrik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安全技术协同：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发展AI生成内容检测与溯源技术，构建“生成-识别-监管”的完整闭环体系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  <a:sym typeface="等线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43200" y="-1828800"/>
            <a:ext cx="4572000" cy="4572000"/>
          </a:xfrm>
          <a:prstGeom prst="ellipse">
            <a:avLst/>
          </a:prstGeom>
          <a:solidFill>
            <a:srgbClr val="065A82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C7293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7200" y="1828800"/>
            <a:ext cx="82296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 spc="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200" y="2743200"/>
            <a:ext cx="8229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感谢聆听 | Questions?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全屏显示(16:9)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微软雅黑</vt:lpstr>
      <vt:lpstr>Arial</vt:lpstr>
      <vt:lpstr>Calibri</vt:lpstr>
      <vt:lpstr>Cambria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朝旭 魏</cp:lastModifiedBy>
  <cp:revision>1</cp:revision>
  <dcterms:modified xsi:type="dcterms:W3CDTF">2026-06-25T21:30:12Z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{"Label":"1","ContentProducer":"001191110102MACQD9K64010000","ProduceID":"7655444508045446334","ReservedCode1":"","ContentPropagator":"","PropagateID":"","ReservedCode2":""}</vt:lpwstr>
  </property>
</Properties>
</file>