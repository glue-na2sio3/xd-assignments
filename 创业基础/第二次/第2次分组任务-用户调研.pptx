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docx" ContentType="application/vnd.openxmlformats-officedocument.wordprocessingml.document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  <p:sldMasterId id="2147483666" r:id="rId3"/>
  </p:sldMasterIdLst>
  <p:notesMasterIdLst>
    <p:notesMasterId r:id="rId5"/>
  </p:notesMasterIdLst>
  <p:handoutMasterIdLst>
    <p:handoutMasterId r:id="rId18"/>
  </p:handoutMasterIdLst>
  <p:sldIdLst>
    <p:sldId id="306" r:id="rId4"/>
    <p:sldId id="258" r:id="rId6"/>
    <p:sldId id="323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</p:sldIdLst>
  <p:sldSz cx="12192000" cy="6858000"/>
  <p:notesSz cx="6858000" cy="9144000"/>
  <p:embeddedFontLst>
    <p:embeddedFont>
      <p:font typeface="微软雅黑" panose="020B0503020204020204" pitchFamily="34" charset="-122"/>
      <p:regular r:id="rId22"/>
    </p:embeddedFont>
    <p:embeddedFont>
      <p:font typeface="等线" panose="02010600030101010101" charset="-122"/>
      <p:regular r:id="rId23"/>
    </p:embeddedFont>
    <p:embeddedFont>
      <p:font typeface="华文楷体" panose="02010600040101010101" pitchFamily="2" charset="-122"/>
      <p:regular r:id="rId24"/>
    </p:embeddedFont>
    <p:embeddedFont>
      <p:font typeface="Calibri Light" panose="020F0302020204030204" charset="0"/>
      <p:regular r:id="rId25"/>
      <p:italic r:id="rId26"/>
    </p:embeddedFont>
    <p:embeddedFont>
      <p:font typeface="等线 Light" panose="02010600030101010101" charset="-122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  <p:embeddedFont>
      <p:font typeface="WPS灵秀黑" charset="-122"/>
      <p:regular r:id="rId32"/>
    </p:embeddedFont>
    <p:embeddedFont>
      <p:font typeface="华文新魏" panose="02010800040101010101" charset="-122"/>
      <p:regular r:id="rId33"/>
    </p:embeddedFont>
    <p:embeddedFont>
      <p:font typeface="楷体" panose="02010609060101010101" charset="-122"/>
      <p:regular r:id="rId34"/>
    </p:embeddedFont>
  </p:embeddedFontLst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板正文" id="{74A88C6D-78C6-4E80-930D-4DCDE2FA78E2}">
          <p14:sldIdLst>
            <p14:sldId id="306"/>
            <p14:sldId id="258"/>
            <p14:sldId id="323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</p14:sldIdLst>
        </p14:section>
      </p14:sectionLst>
    </p:ext>
    <p:ext uri="{EFAFB233-063F-42B5-8137-9DF3F51BA10A}">
      <p15:sldGuideLst xmlns:p15="http://schemas.microsoft.com/office/powerpoint/2012/main">
        <p15:guide id="4" pos="7324" userDrawn="1">
          <p15:clr>
            <a:srgbClr val="A4A3A4"/>
          </p15:clr>
        </p15:guide>
        <p15:guide id="5" orient="horz" pos="274" userDrawn="1">
          <p15:clr>
            <a:srgbClr val="A4A3A4"/>
          </p15:clr>
        </p15:guide>
        <p15:guide id="6" orient="horz" pos="4045" userDrawn="1">
          <p15:clr>
            <a:srgbClr val="A4A3A4"/>
          </p15:clr>
        </p15:guide>
        <p15:guide id="7" pos="4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4F81BD"/>
    <a:srgbClr val="1D1B1C"/>
    <a:srgbClr val="AF2125"/>
    <a:srgbClr val="004181"/>
    <a:srgbClr val="DF5356"/>
    <a:srgbClr val="FFFFFF"/>
    <a:srgbClr val="7492B8"/>
    <a:srgbClr val="456DA0"/>
    <a:srgbClr val="D1DB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374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92" y="468"/>
      </p:cViewPr>
      <p:guideLst>
        <p:guide pos="7324"/>
        <p:guide orient="horz" pos="274"/>
        <p:guide orient="horz" pos="4045"/>
        <p:guide pos="4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5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gs" Target="tags/tag3.xml"/><Relationship Id="rId34" Type="http://schemas.openxmlformats.org/officeDocument/2006/relationships/font" Target="fonts/font13.fntdata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awsl3\Desktop\&#26032;&#24314;%20Microsoft%20Excel%20&#24037;&#20316;&#3492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人数</a:t>
            </a:r>
            <a:endParaRPr lang="zh-CN" alt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78237927821071"/>
          <c:y val="0.148318990056969"/>
          <c:w val="0.941280478932443"/>
          <c:h val="0.5530921693893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Sheet1!$H$3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elete val="1"/>
          </c:dLbls>
          <c:cat>
            <c:strRef>
              <c:f>Sheet1!$I$2:$P$2</c:f>
              <c:strCache>
                <c:ptCount val="8"/>
                <c:pt idx="0">
                  <c:v>被父母催婚</c:v>
                </c:pt>
                <c:pt idx="1">
                  <c:v>拓展新交友圈</c:v>
                </c:pt>
                <c:pt idx="2">
                  <c:v>偏向异性交友</c:v>
                </c:pt>
                <c:pt idx="3">
                  <c:v>偏向同性交友</c:v>
                </c:pt>
                <c:pt idx="4">
                  <c:v>单身</c:v>
                </c:pt>
                <c:pt idx="5">
                  <c:v>使用交友软件</c:v>
                </c:pt>
                <c:pt idx="6">
                  <c:v>对线上交友安全有担忧</c:v>
                </c:pt>
                <c:pt idx="7">
                  <c:v>有调侃朋友单身</c:v>
                </c:pt>
              </c:strCache>
            </c:strRef>
          </c:cat>
          <c:val>
            <c:numRef>
              <c:f>Sheet1!$I$3:$P$3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86848511"/>
        <c:axId val="1886849343"/>
      </c:barChart>
      <c:catAx>
        <c:axId val="1886848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86849343"/>
        <c:crosses val="autoZero"/>
        <c:auto val="1"/>
        <c:lblAlgn val="ctr"/>
        <c:lblOffset val="100"/>
        <c:noMultiLvlLbl val="0"/>
      </c:catAx>
      <c:valAx>
        <c:axId val="188684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86848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c77baf6-7819-4a6a-89a3-4bca7f77a0eb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98B9C-87B0-4F8A-8876-781DF9777B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2A5AA-0ADE-4A24-8106-207C0349746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080179" y="997618"/>
            <a:ext cx="4436181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932613" y="1124653"/>
            <a:ext cx="4421187" cy="2943346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2290573"/>
            <a:ext cx="12192000" cy="30942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 rot="20772240">
            <a:off x="7401365" y="1683034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9"/>
          <p:cNvSpPr>
            <a:spLocks noGrp="1"/>
          </p:cNvSpPr>
          <p:nvPr>
            <p:ph type="pic" sz="quarter" idx="15"/>
          </p:nvPr>
        </p:nvSpPr>
        <p:spPr>
          <a:xfrm rot="668217">
            <a:off x="7665854" y="3726070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85565" y="1398880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9"/>
          <p:cNvSpPr>
            <a:spLocks noGrp="1"/>
          </p:cNvSpPr>
          <p:nvPr>
            <p:ph type="pic" sz="quarter" idx="15"/>
          </p:nvPr>
        </p:nvSpPr>
        <p:spPr>
          <a:xfrm>
            <a:off x="4493965" y="1410888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9"/>
          <p:cNvSpPr>
            <a:spLocks noGrp="1"/>
          </p:cNvSpPr>
          <p:nvPr>
            <p:ph type="pic" sz="quarter" idx="16"/>
          </p:nvPr>
        </p:nvSpPr>
        <p:spPr>
          <a:xfrm>
            <a:off x="8239589" y="1386104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项横向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24221" y="148619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624220" y="358132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6148169" y="148254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6148168" y="357767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 userDrawn="1"/>
        </p:nvSpPr>
        <p:spPr>
          <a:xfrm flipH="1" flipV="1">
            <a:off x="5425531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直角三角形 17"/>
          <p:cNvSpPr/>
          <p:nvPr userDrawn="1"/>
        </p:nvSpPr>
        <p:spPr>
          <a:xfrm flipH="1" flipV="1">
            <a:off x="10962103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直角三角形 18"/>
          <p:cNvSpPr/>
          <p:nvPr userDrawn="1"/>
        </p:nvSpPr>
        <p:spPr>
          <a:xfrm flipH="1" flipV="1">
            <a:off x="5425531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直角三角形 19"/>
          <p:cNvSpPr/>
          <p:nvPr userDrawn="1"/>
        </p:nvSpPr>
        <p:spPr>
          <a:xfrm flipH="1" flipV="1">
            <a:off x="10962103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50888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62300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9"/>
          <p:cNvSpPr>
            <a:spLocks noGrp="1"/>
          </p:cNvSpPr>
          <p:nvPr>
            <p:ph type="pic" sz="quarter" idx="16"/>
          </p:nvPr>
        </p:nvSpPr>
        <p:spPr>
          <a:xfrm>
            <a:off x="6278410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7" name="图片占位符 9"/>
          <p:cNvSpPr>
            <a:spLocks noGrp="1"/>
          </p:cNvSpPr>
          <p:nvPr>
            <p:ph type="pic" sz="quarter" idx="17"/>
          </p:nvPr>
        </p:nvSpPr>
        <p:spPr>
          <a:xfrm>
            <a:off x="6289822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421373" y="284403"/>
            <a:ext cx="1154483" cy="67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XDU</a:t>
            </a:r>
            <a:endParaRPr lang="zh-CN" altLang="en-US" sz="32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+截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 userDrawn="1"/>
        </p:nvSpPr>
        <p:spPr>
          <a:xfrm>
            <a:off x="0" y="2438400"/>
            <a:ext cx="12192000" cy="2651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0640" y="1227371"/>
            <a:ext cx="6553200" cy="51893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5"/>
          </p:nvPr>
        </p:nvSpPr>
        <p:spPr>
          <a:xfrm>
            <a:off x="4094003" y="146110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6"/>
          </p:nvPr>
        </p:nvSpPr>
        <p:spPr>
          <a:xfrm>
            <a:off x="1360455" y="147126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7"/>
          </p:nvPr>
        </p:nvSpPr>
        <p:spPr>
          <a:xfrm>
            <a:off x="-1403065" y="1466132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565422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5"/>
          </p:nvPr>
        </p:nvSpPr>
        <p:spPr>
          <a:xfrm>
            <a:off x="2591276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6"/>
          </p:nvPr>
        </p:nvSpPr>
        <p:spPr>
          <a:xfrm>
            <a:off x="565422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17"/>
          </p:nvPr>
        </p:nvSpPr>
        <p:spPr>
          <a:xfrm>
            <a:off x="2591276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8"/>
          </p:nvPr>
        </p:nvSpPr>
        <p:spPr>
          <a:xfrm>
            <a:off x="565422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9"/>
          </p:nvPr>
        </p:nvSpPr>
        <p:spPr>
          <a:xfrm>
            <a:off x="2591276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480" y="1171575"/>
            <a:ext cx="6255849" cy="4558665"/>
          </a:xfrm>
          <a:prstGeom prst="rect">
            <a:avLst/>
          </a:prstGeom>
        </p:spPr>
      </p:pic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335088" y="1554163"/>
            <a:ext cx="4297362" cy="28511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 userDrawn="1"/>
        </p:nvSpPr>
        <p:spPr>
          <a:xfrm>
            <a:off x="587375" y="6030223"/>
            <a:ext cx="1444197" cy="38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solidFill>
                  <a:schemeClr val="accent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▶▶▶</a:t>
            </a:r>
            <a:endParaRPr lang="zh-CN" altLang="en-US" sz="1600" spc="100" dirty="0">
              <a:solidFill>
                <a:schemeClr val="accent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7421356" y="-2690075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7634978" y="-2781431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640991" y="381570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25674" y="493521"/>
            <a:ext cx="4627265" cy="58709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 userDrawn="1"/>
        </p:nvSpPr>
        <p:spPr>
          <a:xfrm>
            <a:off x="-6397120" y="-2781431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-6576322" y="-2782222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231" y="606743"/>
            <a:ext cx="4816257" cy="58648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横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710" y="1113896"/>
            <a:ext cx="10515600" cy="516968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u"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-1" y="136526"/>
            <a:ext cx="3071814" cy="59831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3071812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6095999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3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9120185" y="136525"/>
            <a:ext cx="3071815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纵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95301"/>
            <a:ext cx="8364310" cy="51696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460500" y="6362699"/>
            <a:ext cx="2743200" cy="365125"/>
          </a:xfrm>
        </p:spPr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864102" y="6362699"/>
            <a:ext cx="3124200" cy="365124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48704" y="6362698"/>
            <a:ext cx="2743200" cy="365125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1828800" y="1084462"/>
            <a:ext cx="59563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0" y="11151"/>
            <a:ext cx="1244600" cy="172243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0" y="1721005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4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0" y="3443443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0" y="5165881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EE87-E84D-4794-AAE5-5EBFA06D57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163-3264-45B9-8805-38B3DB57B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2A5AA-0ADE-4A24-8106-207C0349746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421373" y="284403"/>
            <a:ext cx="1154483" cy="67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XDU</a:t>
            </a:r>
            <a:endParaRPr lang="zh-CN" altLang="en-US" sz="32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 userDrawn="1"/>
        </p:nvSpPr>
        <p:spPr>
          <a:xfrm>
            <a:off x="-6397120" y="-2781431"/>
            <a:ext cx="12420862" cy="1242086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-6576322" y="-2782222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231" y="606743"/>
            <a:ext cx="4816257" cy="58648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横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710" y="1113896"/>
            <a:ext cx="10515600" cy="516968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u"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-1" y="136526"/>
            <a:ext cx="3071814" cy="59831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3071812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6095999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3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9120185" y="136525"/>
            <a:ext cx="3071815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9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11.jpe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11.jpeg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image" Target="../media/image17.wmf"/><Relationship Id="rId7" Type="http://schemas.openxmlformats.org/officeDocument/2006/relationships/oleObject" Target="../embeddings/oleObject1.bin"/><Relationship Id="rId6" Type="http://schemas.openxmlformats.org/officeDocument/2006/relationships/image" Target="../media/image16.wmf"/><Relationship Id="rId5" Type="http://schemas.openxmlformats.org/officeDocument/2006/relationships/package" Target="../embeddings/Document1.docx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1" Type="http://schemas.openxmlformats.org/officeDocument/2006/relationships/notesSlide" Target="../notesSlides/notesSlide8.xml"/><Relationship Id="rId10" Type="http://schemas.openxmlformats.org/officeDocument/2006/relationships/vmlDrawing" Target="../drawings/vmlDrawing1.v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5316638" y="0"/>
            <a:ext cx="6875362" cy="6875362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-21531" y="-20526"/>
            <a:ext cx="12213531" cy="6895887"/>
          </a:xfrm>
          <a:prstGeom prst="rect">
            <a:avLst/>
          </a:prstGeom>
          <a:gradFill>
            <a:gsLst>
              <a:gs pos="55000">
                <a:schemeClr val="accent1"/>
              </a:gs>
              <a:gs pos="100000">
                <a:schemeClr val="accent1"/>
              </a:gs>
              <a:gs pos="43000">
                <a:schemeClr val="accent1">
                  <a:alpha val="74000"/>
                </a:schemeClr>
              </a:gs>
              <a:gs pos="7000">
                <a:schemeClr val="accent1">
                  <a:alpha val="0"/>
                </a:schemeClr>
              </a:gs>
              <a:gs pos="95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35173" y="2009749"/>
            <a:ext cx="5217795" cy="2122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4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创业基础</a:t>
            </a:r>
            <a:r>
              <a:rPr lang="en-US" altLang="zh-CN" sz="4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4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实验班</a:t>
            </a:r>
            <a:endParaRPr lang="en-US" altLang="zh-CN" sz="44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ctr"/>
            <a:r>
              <a:rPr lang="zh-CN" altLang="en-US" sz="4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第</a:t>
            </a:r>
            <a:r>
              <a:rPr lang="en-US" altLang="zh-CN" sz="4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</a:t>
            </a:r>
            <a:r>
              <a:rPr lang="zh-CN" altLang="en-US" sz="4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次分组任务</a:t>
            </a:r>
            <a:endParaRPr lang="en-US" altLang="zh-CN" sz="44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ctr"/>
            <a:r>
              <a:rPr lang="zh-CN" altLang="en-US" sz="4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用户调研</a:t>
            </a:r>
            <a:endParaRPr lang="zh-CN" altLang="en-US" sz="48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69015" y="4715425"/>
            <a:ext cx="285064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Arial" panose="020B0604020202020204" pitchFamily="34" charset="0"/>
              </a:rPr>
              <a:t>➡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项目总负责人：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魏朝旭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69015" y="4289578"/>
            <a:ext cx="3144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Arial" panose="020B0604020202020204" pitchFamily="34" charset="0"/>
              </a:rPr>
              <a:t>➡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小组名称：蓝桥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9146" y="1315408"/>
            <a:ext cx="2404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alpha val="77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厚德 求真 励学 笃行</a:t>
            </a:r>
            <a:endParaRPr lang="zh-CN" altLang="en-US" b="1" dirty="0">
              <a:solidFill>
                <a:schemeClr val="bg1">
                  <a:alpha val="77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3686" y="304483"/>
            <a:ext cx="11604628" cy="6249035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9015" y="5140240"/>
            <a:ext cx="59221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Arial" panose="020B0604020202020204" pitchFamily="34" charset="0"/>
              </a:rPr>
              <a:t>➡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技术负责人：冯汝鑫，胡轩宇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869315" y="5565140"/>
            <a:ext cx="3617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Arial" panose="020B0604020202020204" pitchFamily="34" charset="0"/>
              </a:rPr>
              <a:t>➡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市场负责人：刘凯丽，刘一力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869015" y="5989870"/>
            <a:ext cx="4039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Arial" panose="020B0604020202020204" pitchFamily="34" charset="0"/>
              </a:rPr>
              <a:t>➡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设计负责人：李尚泽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1171452" y="1948240"/>
            <a:ext cx="33746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b="1" dirty="0">
                <a:solidFill>
                  <a:srgbClr val="FFF2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目  录</a:t>
            </a:r>
            <a:endParaRPr lang="zh-CN" altLang="en-US" sz="9600" b="1" dirty="0">
              <a:solidFill>
                <a:srgbClr val="FFF2C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366217" y="3632759"/>
            <a:ext cx="3061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000" dirty="0">
                <a:solidFill>
                  <a:srgbClr val="FFF2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CONTENT</a:t>
            </a:r>
            <a:endParaRPr lang="zh-CN" altLang="en-US" sz="4000" dirty="0">
              <a:solidFill>
                <a:srgbClr val="FFF2C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31350" y="852805"/>
            <a:ext cx="921385" cy="503428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zh-CN" altLang="en-US" sz="4800" b="1">
                <a:solidFill>
                  <a:srgbClr val="4F81B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壹</a:t>
            </a:r>
            <a:r>
              <a:rPr lang="en-US" altLang="zh-CN" sz="4800" b="1">
                <a:solidFill>
                  <a:srgbClr val="4F81B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4800" b="1">
                <a:solidFill>
                  <a:srgbClr val="4F81B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桌面调研简报</a:t>
            </a:r>
            <a:r>
              <a:rPr lang="en-US" altLang="zh-CN" sz="4800" b="1">
                <a:solidFill>
                  <a:srgbClr val="4F81B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</a:t>
            </a:r>
            <a:endParaRPr lang="en-US" altLang="zh-CN" sz="4800" b="1" spc="400">
              <a:solidFill>
                <a:srgbClr val="4F81B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135620" y="1421765"/>
            <a:ext cx="921385" cy="5130165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 eaLnBrk="1" fontAlgn="b" latinLnBrk="0" hangingPunct="1"/>
            <a:r>
              <a:rPr lang="zh-CN" altLang="en-US" sz="4800" b="1">
                <a:solidFill>
                  <a:srgbClr val="4F81B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贰</a:t>
            </a:r>
            <a:r>
              <a:rPr lang="en-US" altLang="zh-CN" sz="4800" b="1">
                <a:solidFill>
                  <a:srgbClr val="4F81B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4800" b="1">
                <a:solidFill>
                  <a:srgbClr val="4F81B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用户访谈简报</a:t>
            </a:r>
            <a:endParaRPr lang="en-US" altLang="zh-CN" sz="4800" b="1" spc="400">
              <a:solidFill>
                <a:srgbClr val="4F81B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25BDD-DB36-47A6-95A1-4AC16FAA9E08}" type="datetime1">
              <a:rPr lang="zh-CN" altLang="en-US" smtClean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西安电子科技大学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背景资料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642710" y="1669620"/>
            <a:ext cx="5453289" cy="51696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用户及特征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6096001" y="1669620"/>
            <a:ext cx="5453289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场景及特征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42708" y="3931375"/>
            <a:ext cx="5453289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调研目的、调研工具、调研分工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48690" y="2416175"/>
            <a:ext cx="406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18-25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岁在校学生，渴望陪伴，社恐，冲动消费，交友需求，追求性价比，收入在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1000-3000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元，单身未婚，父母催婚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等等。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87795" y="2409825"/>
            <a:ext cx="460946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选取校园中某一环境代表（如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操场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）。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地域辽阔，乐跑散步，运动搭子，氛围感良好，集体活动频繁，日常人的去处，开放便捷，心情放松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等等。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5690" y="4641215"/>
            <a:ext cx="990219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我们团队对于这类群体的需求已经有了初步判断，为了得到更详细的需求以方便我们改进创业方向。我们采取桌面调研和用户访谈的方式去进行调研，得到更多的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信息。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/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此次主要分工：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Arial" panose="020B0604020202020204" pitchFamily="34" charset="0"/>
              </a:rPr>
              <a:t>冯汝鑫和魏朝旭进行用户访谈，胡轩宇和李尚泽进行桌面调研，刘凯丽和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Arial" panose="020B0604020202020204" pitchFamily="34" charset="0"/>
              </a:rPr>
              <a:t>刘一力根据我们进一步对面向客户的需求，对小组名称，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Arial" panose="020B0604020202020204" pitchFamily="34" charset="0"/>
              </a:rPr>
              <a:t>logo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Arial" panose="020B0604020202020204" pitchFamily="34" charset="0"/>
              </a:rPr>
              <a:t>，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Arial" panose="020B0604020202020204" pitchFamily="34" charset="0"/>
              </a:rPr>
              <a:t>slogan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Arial" panose="020B0604020202020204" pitchFamily="34" charset="0"/>
              </a:rPr>
              <a:t>等加以改进和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Arial" panose="020B0604020202020204" pitchFamily="34" charset="0"/>
              </a:rPr>
              <a:t>设计。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Arial" panose="020B0604020202020204" pitchFamily="34" charset="0"/>
            </a:endParaRPr>
          </a:p>
          <a:p>
            <a:pPr indent="457200"/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行业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桌面调研</a:t>
            </a:r>
            <a:r>
              <a:rPr lang="zh-CN" altLang="en-US"/>
              <a:t>简报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p>
            <a:r>
              <a:rPr lang="zh-CN" altLang="en-US"/>
              <a:t>问卷调查</a:t>
            </a:r>
            <a:r>
              <a:rPr lang="zh-CN" altLang="en-US"/>
              <a:t>简报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p>
            <a:r>
              <a:rPr lang="zh-CN" altLang="en-US"/>
              <a:t>田野调查</a:t>
            </a:r>
            <a:r>
              <a:rPr lang="zh-CN" altLang="en-US"/>
              <a:t>简报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/>
          </p:nvPr>
        </p:nvSpPr>
        <p:spPr/>
        <p:txBody>
          <a:bodyPr/>
          <a:p>
            <a:r>
              <a:rPr lang="zh-CN" altLang="en-US"/>
              <a:t>用户访谈</a:t>
            </a:r>
            <a:r>
              <a:rPr lang="zh-CN" altLang="en-US"/>
              <a:t>简报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42620" y="200977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研究了</a:t>
            </a:r>
            <a:r>
              <a:rPr lang="en-US" altLang="zh-CN"/>
              <a:t>3</a:t>
            </a:r>
            <a:r>
              <a:rPr lang="zh-CN" altLang="en-US"/>
              <a:t>份主要相关报告：</a:t>
            </a:r>
            <a:endParaRPr lang="zh-CN" altLang="en-US"/>
          </a:p>
          <a:p>
            <a:r>
              <a:rPr lang="zh-CN" altLang="en-US"/>
              <a:t>《</a:t>
            </a:r>
            <a:r>
              <a:rPr lang="en-US" altLang="zh-CN"/>
              <a:t>2024</a:t>
            </a:r>
            <a:r>
              <a:rPr lang="zh-CN" altLang="en-US"/>
              <a:t>陌生人社交深度报告》</a:t>
            </a:r>
            <a:endParaRPr lang="zh-CN" altLang="en-US"/>
          </a:p>
          <a:p>
            <a:r>
              <a:rPr lang="zh-CN" altLang="en-US"/>
              <a:t>《</a:t>
            </a:r>
            <a:r>
              <a:rPr lang="en-US" altLang="zh-CN"/>
              <a:t>2024</a:t>
            </a:r>
            <a:r>
              <a:rPr lang="zh-CN" altLang="en-US"/>
              <a:t>年中国移动互联网半年报告》</a:t>
            </a:r>
            <a:endParaRPr lang="zh-CN" altLang="en-US"/>
          </a:p>
          <a:p>
            <a:r>
              <a:rPr lang="zh-CN" altLang="en-US"/>
              <a:t>《恋爱社交</a:t>
            </a:r>
            <a:r>
              <a:rPr lang="en-US" altLang="zh-CN"/>
              <a:t>App</a:t>
            </a:r>
            <a:r>
              <a:rPr lang="zh-CN" altLang="en-US"/>
              <a:t>产品分析报告》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040130" y="4179570"/>
            <a:ext cx="9431655" cy="2108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随着中国社会的现代化进程，单身人群逐年增多，尤其是在大城市和年轻群体中。单身人口的增多为婚恋交友市场提供了广泛的潜在用户。</a:t>
            </a:r>
            <a:r>
              <a:rPr lang="en-US" altLang="zh-CN"/>
              <a:t> </a:t>
            </a:r>
            <a:r>
              <a:rPr lang="zh-CN" altLang="en-US"/>
              <a:t>过去，中国的婚恋观念相对传统，婚姻通常由家长安排，但随着社会观念的变革，越来越多的年轻人选择自主择偶，推动了婚恋市场的发展。随着生活节奏的加快，很多人将更多的时间花费在工作和个人发展上，导致了社交圈子的缩小。线上婚恋交友平台为这些人提供了更加便捷的社交方式。</a:t>
            </a:r>
            <a:endParaRPr lang="zh-CN" altLang="en-US"/>
          </a:p>
        </p:txBody>
      </p:sp>
      <p:pic>
        <p:nvPicPr>
          <p:cNvPr id="16" name="图片 15" descr="106a1e2d2cf4c25a8f162e6db5712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7705" y="1068705"/>
            <a:ext cx="6220460" cy="2776855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/>
        </p:nvSpPr>
        <p:spPr>
          <a:xfrm>
            <a:off x="8356600" y="5839460"/>
            <a:ext cx="3250565" cy="516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>
              <a:buNone/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50150" y="1143000"/>
            <a:ext cx="476250" cy="4572000"/>
          </a:xfrm>
          <a:prstGeom prst="rect">
            <a:avLst/>
          </a:prstGeom>
        </p:spPr>
        <p:txBody>
          <a:bodyPr vert="eaVert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932160" y="1852295"/>
            <a:ext cx="793115" cy="3585845"/>
          </a:xfrm>
          <a:prstGeom prst="rect">
            <a:avLst/>
          </a:prstGeom>
        </p:spPr>
        <p:txBody>
          <a:bodyPr vert="eaVert" wrap="square"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zh-CN" altLang="en-US" sz="4000" b="1" dirty="0">
                <a:latin typeface="华文新魏" panose="02010800040101010101" charset="-122"/>
                <a:ea typeface="华文新魏" panose="02010800040101010101" charset="-122"/>
                <a:cs typeface="+mn-ea"/>
                <a:sym typeface="WPS灵秀黑" charset="-122"/>
              </a:rPr>
              <a:t>桌面调研简报</a:t>
            </a:r>
            <a:endParaRPr lang="zh-CN" altLang="en-US" sz="4000" b="1" spc="400" dirty="0">
              <a:latin typeface="华文新魏" panose="02010800040101010101" charset="-122"/>
              <a:ea typeface="华文新魏" panose="02010800040101010101" charset="-122"/>
              <a:cs typeface="+mn-ea"/>
              <a:sym typeface="WPS灵秀黑" charset="-122"/>
            </a:endParaRPr>
          </a:p>
        </p:txBody>
      </p:sp>
      <p:sp>
        <p:nvSpPr>
          <p:cNvPr id="18" name="文本占位符 3"/>
          <p:cNvSpPr>
            <a:spLocks noGrp="1"/>
          </p:cNvSpPr>
          <p:nvPr/>
        </p:nvSpPr>
        <p:spPr>
          <a:xfrm>
            <a:off x="0" y="136525"/>
            <a:ext cx="6096000" cy="59817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文本占位符 7"/>
          <p:cNvSpPr>
            <a:spLocks noGrp="1"/>
          </p:cNvSpPr>
          <p:nvPr/>
        </p:nvSpPr>
        <p:spPr>
          <a:xfrm>
            <a:off x="6096000" y="136525"/>
            <a:ext cx="6096000" cy="598170"/>
          </a:xfrm>
          <a:prstGeom prst="rect">
            <a:avLst/>
          </a:prstGeom>
          <a:solidFill>
            <a:srgbClr val="A6A6A6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行业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r>
              <a:rPr lang="zh-CN" altLang="en-US"/>
              <a:t>桌面调研</a:t>
            </a:r>
            <a:r>
              <a:rPr lang="zh-CN" altLang="en-US"/>
              <a:t>简报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p>
            <a:r>
              <a:rPr lang="zh-CN" altLang="en-US"/>
              <a:t>问卷调查</a:t>
            </a:r>
            <a:r>
              <a:rPr lang="zh-CN" altLang="en-US"/>
              <a:t>简报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p>
            <a:r>
              <a:rPr lang="zh-CN" altLang="en-US"/>
              <a:t>田野调查</a:t>
            </a:r>
            <a:r>
              <a:rPr lang="zh-CN" altLang="en-US"/>
              <a:t>简报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/>
          </p:nvPr>
        </p:nvSpPr>
        <p:spPr/>
        <p:txBody>
          <a:bodyPr/>
          <a:p>
            <a:r>
              <a:rPr lang="zh-CN" altLang="en-US"/>
              <a:t>用户访谈</a:t>
            </a:r>
            <a:r>
              <a:rPr lang="zh-CN" altLang="en-US"/>
              <a:t>简报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38200" y="1781810"/>
            <a:ext cx="5572760" cy="1495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市场规模</a:t>
            </a:r>
            <a:r>
              <a:rPr lang="zh-CN" altLang="en-US"/>
              <a:t>：主要玩家月活跃用户情况</a:t>
            </a:r>
            <a:endParaRPr lang="zh-CN" altLang="en-US"/>
          </a:p>
          <a:p>
            <a:r>
              <a:rPr lang="en-US" altLang="zh-CN"/>
              <a:t>Soul</a:t>
            </a:r>
            <a:r>
              <a:rPr lang="zh-CN" altLang="en-US"/>
              <a:t>：月活稳定在</a:t>
            </a:r>
            <a:r>
              <a:rPr lang="en-US" altLang="zh-CN"/>
              <a:t>2000</a:t>
            </a:r>
            <a:r>
              <a:rPr lang="zh-CN" altLang="en-US"/>
              <a:t>万左右</a:t>
            </a:r>
            <a:endParaRPr lang="zh-CN" altLang="en-US"/>
          </a:p>
          <a:p>
            <a:r>
              <a:rPr lang="zh-CN" altLang="en-US"/>
              <a:t>陌陌：历史最高月活达</a:t>
            </a:r>
            <a:r>
              <a:rPr lang="en-US" altLang="zh-CN"/>
              <a:t>1.153</a:t>
            </a:r>
            <a:r>
              <a:rPr lang="zh-CN" altLang="en-US"/>
              <a:t>亿（</a:t>
            </a:r>
            <a:r>
              <a:rPr lang="en-US" altLang="zh-CN"/>
              <a:t>2021</a:t>
            </a:r>
            <a:r>
              <a:rPr lang="zh-CN" altLang="en-US"/>
              <a:t>年第一季度）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11" name="图片 10" descr="af858792899a2a714db251d3431f4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00680"/>
            <a:ext cx="7168515" cy="38207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565390" y="1630680"/>
            <a:ext cx="4054475" cy="3039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用户特征</a:t>
            </a:r>
            <a:r>
              <a:rPr lang="zh-CN" altLang="en-US">
                <a:sym typeface="+mn-ea"/>
              </a:rPr>
              <a:t>：以年轻群体为主，大学生是重要用户群体</a:t>
            </a:r>
            <a:endParaRPr lang="zh-CN" altLang="en-US"/>
          </a:p>
          <a:p>
            <a:endParaRPr lang="zh-CN" altLang="en-US"/>
          </a:p>
          <a:p>
            <a:r>
              <a:rPr lang="zh-CN" altLang="en-US" b="1">
                <a:sym typeface="+mn-ea"/>
              </a:rPr>
              <a:t>市场格局</a:t>
            </a:r>
            <a:r>
              <a:rPr lang="zh-CN" altLang="en-US">
                <a:sym typeface="+mn-ea"/>
              </a:rPr>
              <a:t>：探探、</a:t>
            </a:r>
            <a:r>
              <a:rPr lang="en-US" altLang="zh-CN">
                <a:sym typeface="+mn-ea"/>
              </a:rPr>
              <a:t>Soul</a:t>
            </a:r>
            <a:r>
              <a:rPr lang="zh-CN" altLang="en-US">
                <a:sym typeface="+mn-ea"/>
              </a:rPr>
              <a:t>、陌陌各有特色</a:t>
            </a:r>
            <a:endParaRPr lang="zh-CN" altLang="en-US"/>
          </a:p>
          <a:p>
            <a:r>
              <a:rPr lang="zh-CN" altLang="en-US">
                <a:sym typeface="+mn-ea"/>
              </a:rPr>
              <a:t>探探：主打颜值交友</a:t>
            </a:r>
            <a:endParaRPr lang="zh-CN" altLang="en-US"/>
          </a:p>
          <a:p>
            <a:r>
              <a:rPr lang="en-US" altLang="zh-CN">
                <a:sym typeface="+mn-ea"/>
              </a:rPr>
              <a:t>Soul</a:t>
            </a:r>
            <a:r>
              <a:rPr lang="zh-CN" altLang="en-US">
                <a:sym typeface="+mn-ea"/>
              </a:rPr>
              <a:t>：突出性格匹配</a:t>
            </a:r>
            <a:endParaRPr lang="zh-CN" altLang="en-US"/>
          </a:p>
          <a:p>
            <a:r>
              <a:rPr lang="zh-CN" altLang="en-US">
                <a:sym typeface="+mn-ea"/>
              </a:rPr>
              <a:t>陌陌：基于地理位置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0" y="136525"/>
            <a:ext cx="6096000" cy="59817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文本占位符 7"/>
          <p:cNvSpPr>
            <a:spLocks noGrp="1"/>
          </p:cNvSpPr>
          <p:nvPr/>
        </p:nvSpPr>
        <p:spPr>
          <a:xfrm>
            <a:off x="6096000" y="136525"/>
            <a:ext cx="6096000" cy="598170"/>
          </a:xfrm>
          <a:prstGeom prst="rect">
            <a:avLst/>
          </a:prstGeom>
          <a:solidFill>
            <a:srgbClr val="A6A6A6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行业所面临的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r>
              <a:rPr lang="zh-CN" altLang="en-US"/>
              <a:t>桌面调研</a:t>
            </a:r>
            <a:r>
              <a:rPr lang="zh-CN" altLang="en-US"/>
              <a:t>简报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p>
            <a:r>
              <a:rPr lang="zh-CN" altLang="en-US">
                <a:sym typeface="+mn-ea"/>
              </a:rPr>
              <a:t>问卷调查简报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p>
            <a:r>
              <a:rPr lang="zh-CN" altLang="en-US">
                <a:sym typeface="+mn-ea"/>
              </a:rPr>
              <a:t>田野调查简报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/>
          </p:nvPr>
        </p:nvSpPr>
        <p:spPr/>
        <p:txBody>
          <a:bodyPr/>
          <a:p>
            <a:r>
              <a:rPr lang="zh-CN" altLang="en-US">
                <a:sym typeface="+mn-ea"/>
              </a:rPr>
              <a:t>用户访谈简报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32155" y="1755775"/>
            <a:ext cx="10516235" cy="4499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隐私和数据安全问题</a:t>
            </a:r>
            <a:endParaRPr lang="zh-CN" altLang="en-US" b="1"/>
          </a:p>
          <a:p>
            <a:r>
              <a:rPr lang="en-US" altLang="zh-CN"/>
              <a:t>1.</a:t>
            </a:r>
            <a:r>
              <a:rPr lang="zh-CN" altLang="en-US"/>
              <a:t>用户隐私泄露：大学生用户群体对于个人隐私和数据保护非常敏感。如果软件没有做好隐私保护措施，用户的信息（包括照片、聊天记录等）可能会被滥用或泄露，影响用户的信任和平台的声誉。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虚假信息和身份欺诈：部分用户可能在平台上发布虚假信息或冒充他人，导致其他用户受到欺骗。这种行为严重影响了平台的信任度和安全性。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b="1"/>
              <a:t>情感辅导和支持缺乏</a:t>
            </a:r>
            <a:endParaRPr lang="zh-CN" altLang="en-US" b="1"/>
          </a:p>
          <a:p>
            <a:r>
              <a:rPr lang="en-US" altLang="zh-CN"/>
              <a:t>1.</a:t>
            </a:r>
            <a:r>
              <a:rPr lang="zh-CN" altLang="en-US"/>
              <a:t>恋爱指导不足：许多大学生在恋爱中缺乏经验，遇到感情问题时无法得到有效的帮助或指导。现有的恋爱软件大多侧重于社交配对，缺乏心理咨询、情感辅导等深层次的支持。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情感挫折感：一些大学生在平台上经历的</a:t>
            </a:r>
            <a:r>
              <a:rPr lang="en-US" altLang="zh-CN"/>
              <a:t>“</a:t>
            </a:r>
            <a:r>
              <a:rPr lang="zh-CN" altLang="en-US"/>
              <a:t>失败</a:t>
            </a:r>
            <a:r>
              <a:rPr lang="en-US" altLang="zh-CN"/>
              <a:t>”</a:t>
            </a:r>
            <a:r>
              <a:rPr lang="zh-CN" altLang="en-US"/>
              <a:t>配对、冷淡回应和拒绝可能导致情感上的挫折感，甚至影响自信心和心理健康。然而，大多数恋爱平台并未提供有效的情感支持或反馈。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1" name="文本占位符 3"/>
          <p:cNvSpPr>
            <a:spLocks noGrp="1"/>
          </p:cNvSpPr>
          <p:nvPr/>
        </p:nvSpPr>
        <p:spPr>
          <a:xfrm>
            <a:off x="0" y="136525"/>
            <a:ext cx="6096000" cy="59817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文本占位符 7"/>
          <p:cNvSpPr>
            <a:spLocks noGrp="1"/>
          </p:cNvSpPr>
          <p:nvPr/>
        </p:nvSpPr>
        <p:spPr>
          <a:xfrm>
            <a:off x="6096000" y="136525"/>
            <a:ext cx="6096000" cy="598170"/>
          </a:xfrm>
          <a:prstGeom prst="rect">
            <a:avLst/>
          </a:prstGeom>
          <a:solidFill>
            <a:srgbClr val="A6A6A6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结论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r>
              <a:rPr lang="zh-CN" altLang="en-US"/>
              <a:t>桌面调研简报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p>
            <a:r>
              <a:rPr lang="zh-CN" altLang="en-US">
                <a:sym typeface="+mn-ea"/>
              </a:rPr>
              <a:t>问卷调查简报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p>
            <a:r>
              <a:rPr lang="zh-CN" altLang="en-US">
                <a:sym typeface="+mn-ea"/>
              </a:rPr>
              <a:t>田野调查简报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/>
          </p:nvPr>
        </p:nvSpPr>
        <p:spPr/>
        <p:txBody>
          <a:bodyPr/>
          <a:p>
            <a:r>
              <a:rPr lang="zh-CN" altLang="en-US">
                <a:sym typeface="+mn-ea"/>
              </a:rPr>
              <a:t>用户访谈简报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42620" y="1662430"/>
            <a:ext cx="10711180" cy="2314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监管与合规</a:t>
            </a:r>
            <a:r>
              <a:rPr lang="zh-CN" altLang="en-US"/>
              <a:t>：随着《个人信息保护法》落地，平台需平衡商业利益与用户权益，合规化运营成长期竞争力。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融合化趋势</a:t>
            </a:r>
            <a:r>
              <a:rPr lang="zh-CN" altLang="en-US"/>
              <a:t>：线上社交（直播</a:t>
            </a:r>
            <a:r>
              <a:rPr lang="en-US" altLang="zh-CN"/>
              <a:t> / </a:t>
            </a:r>
            <a:r>
              <a:rPr lang="zh-CN" altLang="en-US"/>
              <a:t>社群）与线下场景（运动</a:t>
            </a:r>
            <a:r>
              <a:rPr lang="en-US" altLang="zh-CN"/>
              <a:t> / </a:t>
            </a:r>
            <a:r>
              <a:rPr lang="zh-CN" altLang="en-US"/>
              <a:t>娱乐）深度融合，</a:t>
            </a:r>
            <a:r>
              <a:rPr lang="en-US" altLang="zh-CN"/>
              <a:t>“</a:t>
            </a:r>
            <a:r>
              <a:rPr lang="zh-CN" altLang="en-US"/>
              <a:t>低成本、高体验</a:t>
            </a:r>
            <a:r>
              <a:rPr lang="en-US" altLang="zh-CN"/>
              <a:t>” </a:t>
            </a:r>
            <a:r>
              <a:rPr lang="zh-CN" altLang="en-US"/>
              <a:t>的泛社交模式更易获年轻人青睐。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隐私问题</a:t>
            </a:r>
            <a:r>
              <a:rPr lang="zh-CN" altLang="en-US"/>
              <a:t>：信息真实性、隐私保护、服务透明度是用户选择核心，技术和模式创新是破局关键。</a:t>
            </a:r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/>
        </p:nvSpPr>
        <p:spPr>
          <a:xfrm>
            <a:off x="642710" y="3773911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发现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42620" y="4290695"/>
            <a:ext cx="10771505" cy="1233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中国人民大学报告显示：双一流高校学生明确结婚意愿</a:t>
            </a:r>
            <a:r>
              <a:rPr lang="en-US" altLang="zh-CN"/>
              <a:t> 65%</a:t>
            </a:r>
            <a:r>
              <a:rPr lang="zh-CN" altLang="en-US"/>
              <a:t>，高于普通本科</a:t>
            </a:r>
            <a:r>
              <a:rPr lang="en-US" altLang="zh-CN"/>
              <a:t>58%</a:t>
            </a:r>
            <a:r>
              <a:rPr lang="zh-CN" altLang="en-US"/>
              <a:t>和专科</a:t>
            </a:r>
            <a:r>
              <a:rPr lang="en-US" altLang="zh-CN"/>
              <a:t>52%</a:t>
            </a:r>
            <a:r>
              <a:rPr lang="zh-CN" altLang="en-US"/>
              <a:t>。打破</a:t>
            </a:r>
            <a:r>
              <a:rPr lang="en-US" altLang="zh-CN"/>
              <a:t> “</a:t>
            </a:r>
            <a:r>
              <a:rPr lang="zh-CN" altLang="en-US"/>
              <a:t>学历越高越恐婚</a:t>
            </a:r>
            <a:r>
              <a:rPr lang="en-US" altLang="zh-CN"/>
              <a:t>” </a:t>
            </a:r>
            <a:r>
              <a:rPr lang="zh-CN" altLang="en-US"/>
              <a:t>的刻板印象，高学历群体通过理性规划降低不确定性，将婚恋纳入人生发展框架。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42620" y="5047615"/>
            <a:ext cx="10772140" cy="1026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/>
              <a:t>2025 </a:t>
            </a:r>
            <a:r>
              <a:rPr lang="zh-CN" altLang="en-US"/>
              <a:t>年上海某高校调研发现，</a:t>
            </a:r>
            <a:r>
              <a:rPr lang="en-US" altLang="zh-CN"/>
              <a:t>32% </a:t>
            </a:r>
            <a:r>
              <a:rPr lang="zh-CN" altLang="en-US"/>
              <a:t>大学生参加相亲活动时会携带</a:t>
            </a:r>
            <a:r>
              <a:rPr lang="en-US" altLang="zh-CN"/>
              <a:t> 1-2 </a:t>
            </a:r>
            <a:r>
              <a:rPr lang="zh-CN" altLang="en-US"/>
              <a:t>名室友，美其名曰</a:t>
            </a:r>
            <a:r>
              <a:rPr lang="en-US" altLang="zh-CN"/>
              <a:t> “</a:t>
            </a:r>
            <a:r>
              <a:rPr lang="zh-CN" altLang="en-US"/>
              <a:t>军师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意外点：婚恋决策从私密化转向</a:t>
            </a:r>
            <a:r>
              <a:rPr lang="en-US" altLang="zh-CN"/>
              <a:t> “</a:t>
            </a:r>
            <a:r>
              <a:rPr lang="zh-CN" altLang="en-US"/>
              <a:t>群体参谋</a:t>
            </a:r>
            <a:r>
              <a:rPr lang="en-US" altLang="zh-CN"/>
              <a:t>”</a:t>
            </a:r>
            <a:r>
              <a:rPr lang="zh-CN" altLang="en-US"/>
              <a:t>，将宿舍文化渗透到情感生活，社交圈层的意见权重超过家庭。</a:t>
            </a:r>
            <a:endParaRPr lang="zh-CN" altLang="en-US"/>
          </a:p>
        </p:txBody>
      </p:sp>
      <p:sp>
        <p:nvSpPr>
          <p:cNvPr id="11" name="文本占位符 3"/>
          <p:cNvSpPr>
            <a:spLocks noGrp="1"/>
          </p:cNvSpPr>
          <p:nvPr/>
        </p:nvSpPr>
        <p:spPr>
          <a:xfrm>
            <a:off x="0" y="136525"/>
            <a:ext cx="6096000" cy="59817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文本占位符 7"/>
          <p:cNvSpPr>
            <a:spLocks noGrp="1"/>
          </p:cNvSpPr>
          <p:nvPr/>
        </p:nvSpPr>
        <p:spPr>
          <a:xfrm>
            <a:off x="6096000" y="136525"/>
            <a:ext cx="6096000" cy="598170"/>
          </a:xfrm>
          <a:prstGeom prst="rect">
            <a:avLst/>
          </a:prstGeom>
          <a:solidFill>
            <a:srgbClr val="A6A6A6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25BDD-DB36-47A6-95A1-4AC16FAA9E08}" type="datetime1">
              <a:rPr lang="zh-CN" altLang="en-US" smtClean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西安电子科技大学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0" y="136525"/>
            <a:ext cx="6095365" cy="598170"/>
          </a:xfrm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7"/>
          </p:nvPr>
        </p:nvSpPr>
        <p:spPr>
          <a:xfrm>
            <a:off x="6096000" y="136525"/>
            <a:ext cx="6096000" cy="598170"/>
          </a:xfrm>
          <a:solidFill>
            <a:srgbClr val="4F81BD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547884" y="1127753"/>
            <a:ext cx="10711090" cy="516968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13555" y="4211109"/>
            <a:ext cx="62069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在交友偏好上，受访者愿尝试朋友推荐的新交友软件。多数人认为异性交友需更谨慎，同性交友较为自然。总体来看，受访者期待交友平台功能齐全、安全性高，并对丰富线下活动持积极态度。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21647" y="2065868"/>
            <a:ext cx="68317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本次访谈共访问六位同学，均来自大一。大部分人课程压力不大，但空闲时间较少。多数人单身，部分尝试恋爱但未成功。线上交友平台使用率低，对隐私和信息真实性较关注。社交方面，有些人不擅沟通，但整体无明显社交恐惧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32" y="3946517"/>
            <a:ext cx="2806107" cy="2104283"/>
          </a:xfrm>
          <a:prstGeom prst="rect">
            <a:avLst/>
          </a:prstGeom>
        </p:spPr>
      </p:pic>
      <p:pic>
        <p:nvPicPr>
          <p:cNvPr id="22" name="http://photo-static-api.fotomore.com/creative/vcg/400/new/VCG211353426615.jpg" descr="&amp;pky270_sjzg_VCG211353426615&amp;2&amp;src_toppic_inpsrchzd1&amp;"/>
          <p:cNvPicPr/>
          <p:nvPr/>
        </p:nvPicPr>
        <p:blipFill>
          <a:blip r:embed="rId2"/>
          <a:stretch>
            <a:fillRect/>
          </a:stretch>
        </p:blipFill>
        <p:spPr>
          <a:xfrm>
            <a:off x="8610600" y="1508396"/>
            <a:ext cx="2883748" cy="19053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http://photo-static-api.fotomore.com/creative/vcg/400/new/VCG211353426615.jpg" descr="&amp;pky270_sjzg_VCG211353426615&amp;2&amp;src_toppic_inpsrchzd1&amp;"/>
          <p:cNvPicPr/>
          <p:nvPr/>
        </p:nvPicPr>
        <p:blipFill>
          <a:blip r:embed="rId1"/>
          <a:stretch>
            <a:fillRect/>
          </a:stretch>
        </p:blipFill>
        <p:spPr>
          <a:xfrm>
            <a:off x="9342822" y="1019649"/>
            <a:ext cx="2144752" cy="14070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25BDD-DB36-47A6-95A1-4AC16FAA9E08}" type="datetime1">
              <a:rPr lang="zh-CN" altLang="en-US" smtClean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西安电子科技大学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问卷调查简报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/>
          </p:nvPr>
        </p:nvSpPr>
        <p:spPr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田野调查简报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7"/>
          </p:nvPr>
        </p:nvSpPr>
        <p:spPr>
          <a:solidFill>
            <a:srgbClr val="4F81BD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642710" y="1206206"/>
            <a:ext cx="10711090" cy="51696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2710" y="2613255"/>
          <a:ext cx="10844108" cy="3486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1146"/>
                <a:gridCol w="2926080"/>
                <a:gridCol w="1788160"/>
                <a:gridCol w="2377440"/>
                <a:gridCol w="2621282"/>
              </a:tblGrid>
              <a:tr h="50373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理想交友平台功能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期望匹配方式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线上交友风险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交友平台改进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</a:tr>
              <a:tr h="445705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男</a:t>
                      </a:r>
                      <a:r>
                        <a:rPr lang="en-US" altLang="zh-CN" sz="1400" dirty="0"/>
                        <a:t>1</a:t>
                      </a:r>
                      <a:endParaRPr lang="en-US" altLang="zh-CN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保留隐私、提供兴趣匹配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爱好、性格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骗子多、内容虚假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严格身份验证、验证真实性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</a:tr>
              <a:tr h="54856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男</a:t>
                      </a:r>
                      <a:r>
                        <a:rPr lang="en-US" altLang="zh-CN" sz="1400" dirty="0"/>
                        <a:t>2</a:t>
                      </a:r>
                      <a:endParaRPr lang="en-US" altLang="zh-CN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保留隐私、简洁界面、快速匹配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性格、兴趣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骗子多、垃圾信息多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安全审查、信息筛选</a:t>
                      </a:r>
                      <a:endParaRPr lang="zh-CN" altLang="en-US" sz="1400"/>
                    </a:p>
                  </a:txBody>
                  <a:tcPr marL="44859" marR="44859" marT="22430" marB="22430" anchor="ctr"/>
                </a:tc>
              </a:tr>
              <a:tr h="445705">
                <a:tc>
                  <a:txBody>
                    <a:bodyPr/>
                    <a:lstStyle/>
                    <a:p>
                      <a:r>
                        <a:rPr lang="zh-CN" altLang="en-US" sz="1400"/>
                        <a:t>男</a:t>
                      </a:r>
                      <a:r>
                        <a:rPr lang="en-US" altLang="zh-CN" sz="1400"/>
                        <a:t>3</a:t>
                      </a:r>
                      <a:endParaRPr lang="en-US" altLang="zh-CN" sz="140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匿名聊天、严格信息筛选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星座、兴趣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骗子、垃圾内容多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内容筛选、行为监管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</a:tr>
              <a:tr h="445705">
                <a:tc>
                  <a:txBody>
                    <a:bodyPr/>
                    <a:lstStyle/>
                    <a:p>
                      <a:r>
                        <a:rPr lang="zh-CN" altLang="en-US" sz="1400"/>
                        <a:t>女</a:t>
                      </a: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匿名社交、兴趣和性格匹配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星座、兴趣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骗子多、虚假图片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严格审核机制、保护隐私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</a:tr>
              <a:tr h="548560">
                <a:tc>
                  <a:txBody>
                    <a:bodyPr/>
                    <a:lstStyle/>
                    <a:p>
                      <a:r>
                        <a:rPr lang="zh-CN" altLang="en-US" sz="1400"/>
                        <a:t>女</a:t>
                      </a:r>
                      <a:r>
                        <a:rPr lang="en-US" altLang="zh-CN" sz="1400"/>
                        <a:t>2</a:t>
                      </a:r>
                      <a:endParaRPr lang="en-US" altLang="zh-CN" sz="140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精准匹配、隐私保护功能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性格、星座</a:t>
                      </a:r>
                      <a:endParaRPr lang="zh-CN" altLang="en-US" sz="140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骗子多、隐私泄露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严格身份验证、信息保护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</a:tr>
              <a:tr h="548560">
                <a:tc>
                  <a:txBody>
                    <a:bodyPr/>
                    <a:lstStyle/>
                    <a:p>
                      <a:r>
                        <a:rPr lang="zh-CN" altLang="en-US" sz="1400"/>
                        <a:t>女</a:t>
                      </a:r>
                      <a:r>
                        <a:rPr lang="en-US" altLang="zh-CN" sz="1400"/>
                        <a:t>3</a:t>
                      </a:r>
                      <a:endParaRPr lang="en-US" altLang="zh-CN" sz="140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定制匹配、真诚交友、保密性强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爱好、性格</a:t>
                      </a:r>
                      <a:endParaRPr lang="zh-CN" altLang="en-US" sz="140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骗子多、内容不真实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严格身份验证、强化隐私保护</a:t>
                      </a:r>
                      <a:endParaRPr lang="zh-CN" altLang="en-US" sz="1400" dirty="0"/>
                    </a:p>
                  </a:txBody>
                  <a:tcPr marL="44859" marR="44859" marT="22430" marB="22430" anchor="ctr"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955041" y="2014208"/>
            <a:ext cx="544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以下是由被访谈同学（已匿名）的对话所构成的表格</a:t>
            </a:r>
            <a:endParaRPr lang="zh-CN" altLang="en-US" dirty="0"/>
          </a:p>
        </p:txBody>
      </p:sp>
      <p:sp>
        <p:nvSpPr>
          <p:cNvPr id="2" name="文本占位符 3"/>
          <p:cNvSpPr>
            <a:spLocks noGrp="1"/>
          </p:cNvSpPr>
          <p:nvPr/>
        </p:nvSpPr>
        <p:spPr>
          <a:xfrm>
            <a:off x="0" y="136525"/>
            <a:ext cx="6095365" cy="598170"/>
          </a:xfrm>
          <a:prstGeom prst="rect">
            <a:avLst/>
          </a:prstGeom>
          <a:solidFill>
            <a:srgbClr val="A6A6A6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7"/>
          <p:cNvSpPr>
            <a:spLocks noGrp="1"/>
          </p:cNvSpPr>
          <p:nvPr/>
        </p:nvSpPr>
        <p:spPr>
          <a:xfrm>
            <a:off x="6096000" y="136525"/>
            <a:ext cx="6096000" cy="598170"/>
          </a:xfrm>
          <a:prstGeom prst="rect">
            <a:avLst/>
          </a:prstGeom>
          <a:solidFill>
            <a:srgbClr val="4F81BD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897" y="1270773"/>
            <a:ext cx="7384303" cy="4431303"/>
          </a:xfrm>
          <a:prstGeom prst="rect">
            <a:avLst/>
          </a:prstGeom>
        </p:spPr>
      </p:pic>
      <p:pic>
        <p:nvPicPr>
          <p:cNvPr id="16" name="http://photo-static-api.fotomore.com/creative/vcg/400/new/VCG211353426615.jpg" descr="&amp;pky270_sjzg_VCG211353426615&amp;2&amp;src_toppic_inpsrchzd1&amp;"/>
          <p:cNvPicPr/>
          <p:nvPr/>
        </p:nvPicPr>
        <p:blipFill>
          <a:blip r:embed="rId2"/>
          <a:stretch>
            <a:fillRect/>
          </a:stretch>
        </p:blipFill>
        <p:spPr>
          <a:xfrm>
            <a:off x="9349596" y="1019649"/>
            <a:ext cx="2144752" cy="14070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25BDD-DB36-47A6-95A1-4AC16FAA9E08}" type="datetime1">
              <a:rPr lang="zh-CN" altLang="en-US" smtClean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西安电子科技大学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问卷调查简报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/>
          </p:nvPr>
        </p:nvSpPr>
        <p:spPr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田野调查简报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7"/>
          </p:nvPr>
        </p:nvSpPr>
        <p:spPr>
          <a:solidFill>
            <a:srgbClr val="4F81BD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642710" y="1206206"/>
            <a:ext cx="10711090" cy="51696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521415" y="4176358"/>
            <a:ext cx="426155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针对交友平台的改进，用户强调需要严格的身份验证、信息筛选和内容监管，以应对骗子和虚假信息的风险。同时，加强隐私保护和审核机制是提高平台安全性和可信度的关键。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09035" y="4225368"/>
            <a:ext cx="50300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根据调查显示，用户在理想交友平台上的需求主要集中在隐私保护、兴趣和性格匹配、简洁界面等方面。大多数用户希望平台能根据爱好、性格或星座进行精准匹配，且能够保障隐私和匿名性。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占位符 3"/>
          <p:cNvSpPr>
            <a:spLocks noGrp="1"/>
          </p:cNvSpPr>
          <p:nvPr/>
        </p:nvSpPr>
        <p:spPr>
          <a:xfrm>
            <a:off x="0" y="136525"/>
            <a:ext cx="6095365" cy="598170"/>
          </a:xfrm>
          <a:prstGeom prst="rect">
            <a:avLst/>
          </a:prstGeom>
          <a:solidFill>
            <a:srgbClr val="A6A6A6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7"/>
          <p:cNvSpPr>
            <a:spLocks noGrp="1"/>
          </p:cNvSpPr>
          <p:nvPr/>
        </p:nvSpPr>
        <p:spPr>
          <a:xfrm>
            <a:off x="6096000" y="136525"/>
            <a:ext cx="6096000" cy="598170"/>
          </a:xfrm>
          <a:prstGeom prst="rect">
            <a:avLst/>
          </a:prstGeom>
          <a:solidFill>
            <a:srgbClr val="4F81BD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http://photo-static-api.fotomore.com/creative/vcg/400/new/VCG211353426615.jpg" descr="&amp;pky270_sjzg_VCG211353426615&amp;2&amp;src_toppic_inpsrchzd1&amp;"/>
          <p:cNvPicPr/>
          <p:nvPr/>
        </p:nvPicPr>
        <p:blipFill>
          <a:blip r:embed="rId2"/>
          <a:stretch>
            <a:fillRect/>
          </a:stretch>
        </p:blipFill>
        <p:spPr>
          <a:xfrm>
            <a:off x="8977062" y="1061996"/>
            <a:ext cx="2144752" cy="14070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25BDD-DB36-47A6-95A1-4AC16FAA9E08}" type="datetime1">
              <a:rPr lang="zh-CN" altLang="en-US" smtClean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西安电子科技大学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问卷调查简报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/>
          </p:nvPr>
        </p:nvSpPr>
        <p:spPr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田野调查简报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7"/>
          </p:nvPr>
        </p:nvSpPr>
        <p:spPr>
          <a:solidFill>
            <a:srgbClr val="4F81BD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642710" y="1206206"/>
            <a:ext cx="10711090" cy="51696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83318" y="2053881"/>
            <a:ext cx="518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以下是根据访谈结果获得的统计数据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4" name="图表 13"/>
          <p:cNvGraphicFramePr/>
          <p:nvPr/>
        </p:nvGraphicFramePr>
        <p:xfrm>
          <a:off x="642710" y="2588613"/>
          <a:ext cx="6576961" cy="3507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7112055" y="2926197"/>
            <a:ext cx="50190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分析显示，大部分人对线上交友和拓展新社交圈有较高兴趣，同时更看重交友对象的内在品质而非外貌。关于交友安全，许多人关注人身和财产安全，反映大家在使用交友软件时注重隐私保护。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此外，关于父母催婚和同性交友的问题，较少人提及，说明这些问题对大多数人影响较小。总体来看，大家倾向于通过安全和健康的方式进行社交。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文本占位符 3"/>
          <p:cNvSpPr>
            <a:spLocks noGrp="1"/>
          </p:cNvSpPr>
          <p:nvPr/>
        </p:nvSpPr>
        <p:spPr>
          <a:xfrm>
            <a:off x="0" y="136525"/>
            <a:ext cx="6095365" cy="598170"/>
          </a:xfrm>
          <a:prstGeom prst="rect">
            <a:avLst/>
          </a:prstGeom>
          <a:solidFill>
            <a:srgbClr val="A6A6A6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文本占位符 7"/>
          <p:cNvSpPr>
            <a:spLocks noGrp="1"/>
          </p:cNvSpPr>
          <p:nvPr/>
        </p:nvSpPr>
        <p:spPr>
          <a:xfrm>
            <a:off x="6096000" y="136525"/>
            <a:ext cx="6096000" cy="598170"/>
          </a:xfrm>
          <a:prstGeom prst="rect">
            <a:avLst/>
          </a:prstGeom>
          <a:solidFill>
            <a:srgbClr val="4F81BD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http://photo-static-api.fotomore.com/creative/vcg/400/new/VCG211353426615.jpg" descr="&amp;pky270_sjzg_VCG211353426615&amp;2&amp;src_toppic_inpsrchzd1&amp;"/>
          <p:cNvPicPr/>
          <p:nvPr/>
        </p:nvPicPr>
        <p:blipFill>
          <a:blip r:embed="rId1"/>
          <a:stretch>
            <a:fillRect/>
          </a:stretch>
        </p:blipFill>
        <p:spPr>
          <a:xfrm>
            <a:off x="9171093" y="848199"/>
            <a:ext cx="2323255" cy="16016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25BDD-DB36-47A6-95A1-4AC16FAA9E08}" type="datetime1">
              <a:rPr lang="zh-CN" altLang="en-US" smtClean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西安电子科技大学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问卷调查简报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/>
          </p:nvPr>
        </p:nvSpPr>
        <p:spPr>
          <a:solidFill>
            <a:srgbClr val="A6A6A6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田野调查简报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7"/>
          </p:nvPr>
        </p:nvSpPr>
        <p:spPr>
          <a:solidFill>
            <a:srgbClr val="4F81BD"/>
          </a:solidFill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642710" y="1206206"/>
            <a:ext cx="10711090" cy="51696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269" y="2712297"/>
            <a:ext cx="3144442" cy="236043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18761"/>
            <a:ext cx="3264669" cy="245069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111" y="2427550"/>
            <a:ext cx="3266165" cy="2450102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045622" y="1761455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部分访谈图片展示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占位符 3"/>
          <p:cNvSpPr>
            <a:spLocks noGrp="1"/>
          </p:cNvSpPr>
          <p:nvPr/>
        </p:nvSpPr>
        <p:spPr>
          <a:xfrm>
            <a:off x="0" y="136525"/>
            <a:ext cx="6095365" cy="598170"/>
          </a:xfrm>
          <a:prstGeom prst="rect">
            <a:avLst/>
          </a:prstGeom>
          <a:solidFill>
            <a:srgbClr val="A6A6A6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桌面调研简报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7"/>
          <p:cNvSpPr>
            <a:spLocks noGrp="1"/>
          </p:cNvSpPr>
          <p:nvPr/>
        </p:nvSpPr>
        <p:spPr>
          <a:xfrm>
            <a:off x="6096000" y="136525"/>
            <a:ext cx="6096000" cy="598170"/>
          </a:xfrm>
          <a:prstGeom prst="rect">
            <a:avLst/>
          </a:prstGeom>
          <a:solidFill>
            <a:srgbClr val="4F81BD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用户访谈简报</a:t>
            </a:r>
            <a:endParaRPr lang="zh-CN" altLang="en-US" dirty="0"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563110" y="5518150"/>
            <a:ext cx="6607175" cy="458470"/>
            <a:chOff x="7186" y="8870"/>
            <a:chExt cx="10405" cy="722"/>
          </a:xfrm>
        </p:grpSpPr>
        <p:graphicFrame>
          <p:nvGraphicFramePr>
            <p:cNvPr id="11" name="对象 1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7186" y="8870"/>
            <a:ext cx="1053" cy="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" showAsIcon="1" r:id="rId5" imgW="971550" imgH="666750" progId="Word.Document.12">
                    <p:embed/>
                  </p:oleObj>
                </mc:Choice>
                <mc:Fallback>
                  <p:oleObj name="" showAsIcon="1" r:id="rId5" imgW="971550" imgH="666750" progId="Word.Document.12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186" y="8870"/>
                          <a:ext cx="1053" cy="7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文本框 11"/>
            <p:cNvSpPr txBox="1"/>
            <p:nvPr/>
          </p:nvSpPr>
          <p:spPr>
            <a:xfrm>
              <a:off x="8239" y="8942"/>
              <a:ext cx="935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/>
                <a:t>此文件</a:t>
              </a:r>
              <a:r>
                <a:rPr lang="zh-CN" altLang="en-US" sz="1400"/>
                <a:t>为和某位被访谈者的访谈记录，已经</a:t>
              </a:r>
              <a:r>
                <a:rPr lang="zh-CN" altLang="en-US" sz="1400"/>
                <a:t>征得对方同意，作为访谈材料</a:t>
              </a:r>
              <a:endParaRPr lang="zh-CN" altLang="en-US" sz="1400"/>
            </a:p>
          </p:txBody>
        </p:sp>
      </p:grp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58995" y="5977255"/>
          <a:ext cx="537210" cy="368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showAsIcon="1" r:id="rId7" imgW="971550" imgH="666750" progId="Package">
                  <p:embed/>
                </p:oleObj>
              </mc:Choice>
              <mc:Fallback>
                <p:oleObj name="" showAsIcon="1" r:id="rId7" imgW="971550" imgH="666750" progId="Package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58995" y="5977255"/>
                        <a:ext cx="537210" cy="3689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5231765" y="5997575"/>
            <a:ext cx="59391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此文件为和某位被访谈者的访谈</a:t>
            </a:r>
            <a:r>
              <a:rPr lang="zh-CN" altLang="en-US" sz="1400"/>
              <a:t>录音，已经</a:t>
            </a:r>
            <a:r>
              <a:rPr lang="zh-CN" altLang="en-US" sz="1400"/>
              <a:t>征得对方同意，作为访谈材料</a:t>
            </a:r>
            <a:endParaRPr lang="zh-CN" altLang="en-US" sz="1400"/>
          </a:p>
        </p:txBody>
      </p:sp>
      <p:sp>
        <p:nvSpPr>
          <p:cNvPr id="21" name="文本框 20"/>
          <p:cNvSpPr txBox="1"/>
          <p:nvPr/>
        </p:nvSpPr>
        <p:spPr>
          <a:xfrm>
            <a:off x="1045622" y="5633050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访谈人：魏朝旭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西安电子科技大学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89638" y="1577311"/>
            <a:ext cx="8560870" cy="1067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5400" spc="1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THANK</a:t>
            </a:r>
            <a:r>
              <a:rPr lang="zh-CN" altLang="en-US" sz="5400" spc="1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en-US" altLang="zh-CN" sz="5400" spc="1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FOR</a:t>
            </a:r>
            <a:r>
              <a:rPr lang="zh-CN" altLang="en-US" sz="5400" spc="1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en-US" altLang="zh-CN" sz="5400" spc="1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ATTENTION</a:t>
            </a:r>
            <a:endParaRPr lang="zh-CN" altLang="en-US" sz="5400" spc="1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>
            <a:off x="1125901" y="1122388"/>
            <a:ext cx="1800000" cy="1800000"/>
          </a:xfrm>
          <a:custGeom>
            <a:avLst/>
            <a:gdLst>
              <a:gd name="connsiteX0" fmla="*/ 0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366040 h 1800000"/>
              <a:gd name="connsiteX3" fmla="*/ 1656604 w 1800000"/>
              <a:gd name="connsiteY3" fmla="*/ 366040 h 1800000"/>
              <a:gd name="connsiteX4" fmla="*/ 1656604 w 1800000"/>
              <a:gd name="connsiteY4" fmla="*/ 157793 h 1800000"/>
              <a:gd name="connsiteX5" fmla="*/ 172635 w 1800000"/>
              <a:gd name="connsiteY5" fmla="*/ 157793 h 1800000"/>
              <a:gd name="connsiteX6" fmla="*/ 172635 w 1800000"/>
              <a:gd name="connsiteY6" fmla="*/ 1641762 h 1800000"/>
              <a:gd name="connsiteX7" fmla="*/ 900000 w 1800000"/>
              <a:gd name="connsiteY7" fmla="*/ 1641762 h 1800000"/>
              <a:gd name="connsiteX8" fmla="*/ 900000 w 1800000"/>
              <a:gd name="connsiteY8" fmla="*/ 1800000 h 1800000"/>
              <a:gd name="connsiteX9" fmla="*/ 0 w 1800000"/>
              <a:gd name="connsiteY9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00000" h="1800000">
                <a:moveTo>
                  <a:pt x="0" y="0"/>
                </a:moveTo>
                <a:lnTo>
                  <a:pt x="1800000" y="0"/>
                </a:lnTo>
                <a:lnTo>
                  <a:pt x="1800000" y="366040"/>
                </a:lnTo>
                <a:lnTo>
                  <a:pt x="1656604" y="366040"/>
                </a:lnTo>
                <a:lnTo>
                  <a:pt x="1656604" y="157793"/>
                </a:lnTo>
                <a:lnTo>
                  <a:pt x="172635" y="157793"/>
                </a:lnTo>
                <a:lnTo>
                  <a:pt x="172635" y="1641762"/>
                </a:lnTo>
                <a:lnTo>
                  <a:pt x="900000" y="1641762"/>
                </a:lnTo>
                <a:lnTo>
                  <a:pt x="900000" y="1800000"/>
                </a:lnTo>
                <a:lnTo>
                  <a:pt x="0" y="18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30480" y="5598160"/>
            <a:ext cx="12202160" cy="1259840"/>
          </a:xfrm>
          <a:custGeom>
            <a:avLst/>
            <a:gdLst>
              <a:gd name="connsiteX0" fmla="*/ 10160 w 12222480"/>
              <a:gd name="connsiteY0" fmla="*/ 1087120 h 1910080"/>
              <a:gd name="connsiteX1" fmla="*/ 12222480 w 12222480"/>
              <a:gd name="connsiteY1" fmla="*/ 0 h 1910080"/>
              <a:gd name="connsiteX2" fmla="*/ 12222480 w 12222480"/>
              <a:gd name="connsiteY2" fmla="*/ 1910080 h 1910080"/>
              <a:gd name="connsiteX3" fmla="*/ 0 w 12222480"/>
              <a:gd name="connsiteY3" fmla="*/ 1899920 h 1910080"/>
              <a:gd name="connsiteX4" fmla="*/ 10160 w 12222480"/>
              <a:gd name="connsiteY4" fmla="*/ 1087120 h 191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2480" h="1910080">
                <a:moveTo>
                  <a:pt x="10160" y="1087120"/>
                </a:moveTo>
                <a:lnTo>
                  <a:pt x="12222480" y="0"/>
                </a:lnTo>
                <a:lnTo>
                  <a:pt x="12222480" y="1910080"/>
                </a:lnTo>
                <a:lnTo>
                  <a:pt x="0" y="1899920"/>
                </a:lnTo>
                <a:lnTo>
                  <a:pt x="10160" y="108712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任意多边形: 形状 19"/>
          <p:cNvSpPr/>
          <p:nvPr/>
        </p:nvSpPr>
        <p:spPr>
          <a:xfrm flipH="1">
            <a:off x="-40640" y="5585460"/>
            <a:ext cx="12273280" cy="1259840"/>
          </a:xfrm>
          <a:custGeom>
            <a:avLst/>
            <a:gdLst>
              <a:gd name="connsiteX0" fmla="*/ 10160 w 12222480"/>
              <a:gd name="connsiteY0" fmla="*/ 1087120 h 1910080"/>
              <a:gd name="connsiteX1" fmla="*/ 12222480 w 12222480"/>
              <a:gd name="connsiteY1" fmla="*/ 0 h 1910080"/>
              <a:gd name="connsiteX2" fmla="*/ 12222480 w 12222480"/>
              <a:gd name="connsiteY2" fmla="*/ 1910080 h 1910080"/>
              <a:gd name="connsiteX3" fmla="*/ 0 w 12222480"/>
              <a:gd name="connsiteY3" fmla="*/ 1899920 h 1910080"/>
              <a:gd name="connsiteX4" fmla="*/ 10160 w 12222480"/>
              <a:gd name="connsiteY4" fmla="*/ 1087120 h 191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2480" h="1910080">
                <a:moveTo>
                  <a:pt x="10160" y="1087120"/>
                </a:moveTo>
                <a:lnTo>
                  <a:pt x="12222480" y="0"/>
                </a:lnTo>
                <a:lnTo>
                  <a:pt x="12222480" y="1910080"/>
                </a:lnTo>
                <a:lnTo>
                  <a:pt x="0" y="1899920"/>
                </a:lnTo>
                <a:lnTo>
                  <a:pt x="10160" y="10871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033520" y="6134875"/>
            <a:ext cx="4196080" cy="417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hangingPunct="0">
              <a:lnSpc>
                <a:spcPct val="130000"/>
              </a:lnSpc>
            </a:pPr>
            <a:r>
              <a:rPr lang="zh-CN" altLang="en-US" spc="1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厚德 求真 励学 笃行</a:t>
            </a:r>
            <a:endParaRPr lang="en-US" altLang="zh-CN" spc="100" dirty="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ISLIDE.TEMPLATE" val="cd07bc45-8cf5-48a2-8d1d-e901e39ba763"/>
  <p:tag name="COMMONDATA" val="eyJoZGlkIjoiY2MyMzYyMjE4OGEyYmU0NGU4OWM3NGNlZDgzMmNmZWUifQ=="/>
</p:tagLst>
</file>

<file path=ppt/theme/theme1.xml><?xml version="1.0" encoding="utf-8"?>
<a:theme xmlns:a="http://schemas.openxmlformats.org/drawingml/2006/main" name="Office 主题​​">
  <a:themeElements>
    <a:clrScheme name="视点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 hangingPunct="0">
          <a:lnSpc>
            <a:spcPct val="130000"/>
          </a:lnSpc>
          <a:defRPr sz="1600" spc="100" dirty="0">
            <a:solidFill>
              <a:schemeClr val="accent4">
                <a:lumMod val="20000"/>
                <a:lumOff val="80000"/>
              </a:schemeClr>
            </a:solidFill>
            <a:latin typeface="思源黑体 CN Normal" panose="020B0400000000000000" pitchFamily="34" charset="-122"/>
            <a:ea typeface="思源黑体 CN Normal" panose="020B04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2884</Words>
  <Application>WPS 演示</Application>
  <PresentationFormat>宽屏</PresentationFormat>
  <Paragraphs>371</Paragraphs>
  <Slides>13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47" baseType="lpstr">
      <vt:lpstr>Arial</vt:lpstr>
      <vt:lpstr>宋体</vt:lpstr>
      <vt:lpstr>Wingdings</vt:lpstr>
      <vt:lpstr>思源黑体 CN Normal</vt:lpstr>
      <vt:lpstr>黑体</vt:lpstr>
      <vt:lpstr>微软雅黑</vt:lpstr>
      <vt:lpstr>思源黑体 CN Medium</vt:lpstr>
      <vt:lpstr>思源黑体 CN Heavy</vt:lpstr>
      <vt:lpstr>等线</vt:lpstr>
      <vt:lpstr>华文楷体</vt:lpstr>
      <vt:lpstr>Arial Unicode MS</vt:lpstr>
      <vt:lpstr>Calibri Light</vt:lpstr>
      <vt:lpstr>等线 Light</vt:lpstr>
      <vt:lpstr>Calibri</vt:lpstr>
      <vt:lpstr>字魂156号-萌趣苏打饼</vt:lpstr>
      <vt:lpstr>WPS灵秀黑</vt:lpstr>
      <vt:lpstr>仿宋</vt:lpstr>
      <vt:lpstr>华文宋体</vt:lpstr>
      <vt:lpstr>华文新魏</vt:lpstr>
      <vt:lpstr>华文彩云</vt:lpstr>
      <vt:lpstr>Arial</vt:lpstr>
      <vt:lpstr>MS Gothic</vt:lpstr>
      <vt:lpstr>字魂146号-悠然字哉体</vt:lpstr>
      <vt:lpstr>字魂143号-正酷超级黑</vt:lpstr>
      <vt:lpstr>字魂131号-酷乐潮玩体</vt:lpstr>
      <vt:lpstr>方正清刻本悦宋简体</vt:lpstr>
      <vt:lpstr>汉仪程行简</vt:lpstr>
      <vt:lpstr>楷体</vt:lpstr>
      <vt:lpstr>字魂202号-咆哮体</vt:lpstr>
      <vt:lpstr>字魂169号-霓虹体</vt:lpstr>
      <vt:lpstr>Office 主题​​</vt:lpstr>
      <vt:lpstr>Office Theme</vt:lpstr>
      <vt:lpstr>Word.Document.12</vt:lpstr>
      <vt:lpstr>Package</vt:lpstr>
      <vt:lpstr>PowerPoint 演示文稿</vt:lpstr>
      <vt:lpstr>PowerPoint 演示文稿</vt:lpstr>
      <vt:lpstr>用户及特征</vt:lpstr>
      <vt:lpstr>桌面调研简报</vt:lpstr>
      <vt:lpstr>行业分析</vt:lpstr>
      <vt:lpstr>行业所面临的问题</vt:lpstr>
      <vt:lpstr>结论</vt:lpstr>
      <vt:lpstr>用户访谈简报</vt:lpstr>
      <vt:lpstr>用户访谈简报</vt:lpstr>
      <vt:lpstr>用户访谈简报</vt:lpstr>
      <vt:lpstr>用户访谈简报</vt:lpstr>
      <vt:lpstr>用户访谈简报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 dy</dc:creator>
  <cp:lastModifiedBy>秋萤野马</cp:lastModifiedBy>
  <cp:revision>166</cp:revision>
  <dcterms:created xsi:type="dcterms:W3CDTF">2024-03-06T13:11:00Z</dcterms:created>
  <dcterms:modified xsi:type="dcterms:W3CDTF">2025-03-13T14:24:00Z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0A58F811E39B45358EA931802FF7D018_13</vt:lpwstr>
  </property>
  <property fmtid="{D5CDD505-2E9C-101B-9397-08002B2CF9AE}" pid="3" name="KSOProductBuildVer">
    <vt:lpwstr>2052-12.1.0.20305</vt:lpwstr>
  </property>
</Properties>
</file>