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6" r:id="rId2"/>
  </p:sldMasterIdLst>
  <p:notesMasterIdLst>
    <p:notesMasterId r:id="rId25"/>
  </p:notesMasterIdLst>
  <p:sldIdLst>
    <p:sldId id="356" r:id="rId3"/>
    <p:sldId id="335" r:id="rId4"/>
    <p:sldId id="357" r:id="rId5"/>
    <p:sldId id="358" r:id="rId6"/>
    <p:sldId id="354" r:id="rId7"/>
    <p:sldId id="349" r:id="rId8"/>
    <p:sldId id="334" r:id="rId9"/>
    <p:sldId id="353" r:id="rId10"/>
    <p:sldId id="344" r:id="rId11"/>
    <p:sldId id="359" r:id="rId12"/>
    <p:sldId id="360" r:id="rId13"/>
    <p:sldId id="362" r:id="rId14"/>
    <p:sldId id="346" r:id="rId15"/>
    <p:sldId id="338" r:id="rId16"/>
    <p:sldId id="363" r:id="rId17"/>
    <p:sldId id="366" r:id="rId18"/>
    <p:sldId id="355" r:id="rId19"/>
    <p:sldId id="364" r:id="rId20"/>
    <p:sldId id="347" r:id="rId21"/>
    <p:sldId id="365" r:id="rId22"/>
    <p:sldId id="348" r:id="rId23"/>
    <p:sldId id="293" r:id="rId24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模板正文" id="{74A88C6D-78C6-4E80-930D-4DCDE2FA78E2}">
          <p14:sldIdLst>
            <p14:sldId id="356"/>
            <p14:sldId id="335"/>
            <p14:sldId id="357"/>
            <p14:sldId id="358"/>
            <p14:sldId id="354"/>
            <p14:sldId id="349"/>
            <p14:sldId id="334"/>
            <p14:sldId id="353"/>
            <p14:sldId id="344"/>
            <p14:sldId id="359"/>
            <p14:sldId id="360"/>
            <p14:sldId id="362"/>
            <p14:sldId id="346"/>
            <p14:sldId id="338"/>
            <p14:sldId id="363"/>
            <p14:sldId id="366"/>
            <p14:sldId id="355"/>
            <p14:sldId id="364"/>
            <p14:sldId id="347"/>
            <p14:sldId id="365"/>
            <p14:sldId id="348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4" pos="7289" userDrawn="1">
          <p15:clr>
            <a:srgbClr val="A4A3A4"/>
          </p15:clr>
        </p15:guide>
        <p15:guide id="5" orient="horz" pos="278" userDrawn="1">
          <p15:clr>
            <a:srgbClr val="A4A3A4"/>
          </p15:clr>
        </p15:guide>
        <p15:guide id="6" orient="horz" pos="4004" userDrawn="1">
          <p15:clr>
            <a:srgbClr val="A4A3A4"/>
          </p15:clr>
        </p15:guide>
        <p15:guide id="7" pos="3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90FF"/>
    <a:srgbClr val="28A745"/>
    <a:srgbClr val="FF6B6B"/>
    <a:srgbClr val="F07F09"/>
    <a:srgbClr val="E8857F"/>
    <a:srgbClr val="F5C1BC"/>
    <a:srgbClr val="FEFBF9"/>
    <a:srgbClr val="FBD9D5"/>
    <a:srgbClr val="A6A6A6"/>
    <a:srgbClr val="4F81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74" autoAdjust="0"/>
    <p:restoredTop sz="90945" autoAdjust="0"/>
  </p:normalViewPr>
  <p:slideViewPr>
    <p:cSldViewPr snapToGrid="0" showGuides="1">
      <p:cViewPr varScale="1">
        <p:scale>
          <a:sx n="106" d="100"/>
          <a:sy n="106" d="100"/>
        </p:scale>
        <p:origin x="126" y="150"/>
      </p:cViewPr>
      <p:guideLst>
        <p:guide pos="7289"/>
        <p:guide orient="horz" pos="278"/>
        <p:guide orient="horz" pos="4004"/>
        <p:guide pos="37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5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wsl3\Desktop\&#26032;&#24314;%20Microsoft%20Excel%20&#24037;&#20316;&#34920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213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比例</a:t>
            </a:r>
            <a:endParaRPr lang="zh-CN" dirty="0"/>
          </a:p>
        </c:rich>
      </c:tx>
      <c:layout>
        <c:manualLayout>
          <c:xMode val="edge"/>
          <c:yMode val="edge"/>
          <c:x val="0.43983129875055349"/>
          <c:y val="0.130616122540453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13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7823792782107101E-2"/>
          <c:y val="0.148318990056969"/>
          <c:w val="0.94128047893244304"/>
          <c:h val="0.5530921693893090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Sheet1!$H$3</c:f>
              <c:strCache>
                <c:ptCount val="1"/>
                <c:pt idx="0">
                  <c:v>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EF9-4067-B341-597DDD12C17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/>
                      <a:t>83%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FEF9-4067-B341-597DDD12C172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EF9-4067-B341-597DDD12C172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/>
                      <a:t>30%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EF9-4067-B341-597DDD12C172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/>
                      <a:t>66%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EF9-4067-B341-597DDD12C172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  <a:endParaRPr lang="en-US" altLang="zh-CN" dirty="0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FEF9-4067-B341-597DDD12C172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/>
                      <a:t>100%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EF9-4067-B341-597DDD12C172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/>
                      <a:t>50%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EF9-4067-B341-597DDD12C17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Sheet1!$I$2:$P$2</c:f>
              <c:strCache>
                <c:ptCount val="8"/>
                <c:pt idx="0">
                  <c:v>被父母催婚</c:v>
                </c:pt>
                <c:pt idx="1">
                  <c:v>拓展新交友圈</c:v>
                </c:pt>
                <c:pt idx="2">
                  <c:v>偏向异性交友</c:v>
                </c:pt>
                <c:pt idx="3">
                  <c:v>偏向同性交友</c:v>
                </c:pt>
                <c:pt idx="4">
                  <c:v>单身</c:v>
                </c:pt>
                <c:pt idx="5">
                  <c:v>使用交友软件</c:v>
                </c:pt>
                <c:pt idx="6">
                  <c:v>对线上交友安全有担忧</c:v>
                </c:pt>
                <c:pt idx="7">
                  <c:v>有调侃朋友单身</c:v>
                </c:pt>
              </c:strCache>
            </c:strRef>
          </c:cat>
          <c:val>
            <c:numRef>
              <c:f>Sheet1!$I$3:$P$3</c:f>
              <c:numCache>
                <c:formatCode>General</c:formatCode>
                <c:ptCount val="8"/>
                <c:pt idx="0">
                  <c:v>3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  <c:pt idx="5">
                  <c:v>6</c:v>
                </c:pt>
                <c:pt idx="6">
                  <c:v>6</c:v>
                </c:pt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51-4299-8EC3-BB57E29C978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886848511"/>
        <c:axId val="1886849343"/>
      </c:barChart>
      <c:catAx>
        <c:axId val="188684851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65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86849343"/>
        <c:crosses val="autoZero"/>
        <c:auto val="1"/>
        <c:lblAlgn val="ctr"/>
        <c:lblOffset val="100"/>
        <c:noMultiLvlLbl val="0"/>
      </c:catAx>
      <c:valAx>
        <c:axId val="188684934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88684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cc77baf6-7819-4a6a-89a3-4bca7f77a0e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5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defRPr sz="1195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598B9C-87B0-4F8A-8876-781DF9777B38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C03E7F-BD71-4F7F-BEAF-CA83D5F3412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去，中国的婚恋观念相对传统，婚姻通常由家长安排，但随着社会观念的变革，越来越多的年轻人选择自主择偶，推动了婚恋市场的发展。随着生活节奏的加快，很多人将更多的时间花费在工作和个人发展上，导致了社交圈子的缩小。线上婚恋交友平台为这些人提供了更加便捷的社交方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过去，中国的婚恋观念相对传统，婚姻通常由家长安排，但随着社会观念的变革，越来越多的年轻人选择自主择偶，推动了婚恋市场的发展。随着生活节奏的加快，很多人将更多的时间花费在工作和个人发展上，导致了社交圈子的缩小。线上婚恋交友平台为这些人提供了更加便捷的社交方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分析显示，大部分人对线上交友和拓展新社交圈有较高兴趣，同时更看重交友对象的内在品质而非外貌。关于交友安全，许多人关注人身和财产安全，反映大家在使用交友软件时注重隐私保护。</a:t>
            </a:r>
          </a:p>
          <a:p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此外，关于父母催婚和同性交友的问题，较少人提及，说明这些问题对大多数人影响较小。总体来看，大家倾向于通过安全和健康的方式进行社交。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19713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分析显示，大部分人对线上交友和拓展新社交圈有较高兴趣，同时更看重交友对象的内在品质而非外貌。关于交友安全，许多人关注人身和财产安全，反映大家在使用交友软件时注重隐私保护。</a:t>
            </a:r>
          </a:p>
          <a:p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此外，关于父母催婚和同性交友的问题，较少人提及，说明这些问题对大多数人影响较小。总体来看，大家倾向于通过安全和健康的方式进行社交。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03E7F-BD71-4F7F-BEAF-CA83D5F3412C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729402E-8143-4E0C-B6E4-596ED352E2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7080179" y="997618"/>
            <a:ext cx="4436181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6932613" y="1124653"/>
            <a:ext cx="4421187" cy="2943346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8A37EBA-AFDC-42D0-9A61-CD30E641D2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0" y="2290573"/>
            <a:ext cx="12192000" cy="309422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 rot="20772240">
            <a:off x="7401365" y="1683034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9"/>
          <p:cNvSpPr>
            <a:spLocks noGrp="1"/>
          </p:cNvSpPr>
          <p:nvPr>
            <p:ph type="pic" sz="quarter" idx="15"/>
          </p:nvPr>
        </p:nvSpPr>
        <p:spPr>
          <a:xfrm rot="668217">
            <a:off x="7665854" y="3726070"/>
            <a:ext cx="3598217" cy="2242686"/>
          </a:xfrm>
          <a:ln w="88900">
            <a:solidFill>
              <a:srgbClr val="FFFFFF"/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283FF3B-A9EC-400D-BBD8-2B416BD9623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85565" y="1398880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493965" y="1410888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9"/>
          <p:cNvSpPr>
            <a:spLocks noGrp="1"/>
          </p:cNvSpPr>
          <p:nvPr>
            <p:ph type="pic" sz="quarter" idx="16"/>
          </p:nvPr>
        </p:nvSpPr>
        <p:spPr>
          <a:xfrm>
            <a:off x="8239589" y="1386104"/>
            <a:ext cx="3187948" cy="3225508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7086BEB-7F32-430B-8496-29312F8C972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项横向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624221" y="148619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>
            <a:off x="624220" y="3581327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 userDrawn="1"/>
        </p:nvSpPr>
        <p:spPr>
          <a:xfrm>
            <a:off x="6148169" y="148254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 userDrawn="1"/>
        </p:nvSpPr>
        <p:spPr>
          <a:xfrm>
            <a:off x="6148168" y="3577675"/>
            <a:ext cx="5334031" cy="19428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直角三角形 15"/>
          <p:cNvSpPr/>
          <p:nvPr userDrawn="1"/>
        </p:nvSpPr>
        <p:spPr>
          <a:xfrm flipH="1" flipV="1">
            <a:off x="5425531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直角三角形 17"/>
          <p:cNvSpPr/>
          <p:nvPr userDrawn="1"/>
        </p:nvSpPr>
        <p:spPr>
          <a:xfrm flipH="1" flipV="1">
            <a:off x="10962103" y="1476181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直角三角形 18"/>
          <p:cNvSpPr/>
          <p:nvPr userDrawn="1"/>
        </p:nvSpPr>
        <p:spPr>
          <a:xfrm flipH="1" flipV="1">
            <a:off x="5425531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直角三角形 19"/>
          <p:cNvSpPr/>
          <p:nvPr userDrawn="1"/>
        </p:nvSpPr>
        <p:spPr>
          <a:xfrm flipH="1" flipV="1">
            <a:off x="10962103" y="3584803"/>
            <a:ext cx="529296" cy="529296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sz="quarter" idx="14"/>
          </p:nvPr>
        </p:nvSpPr>
        <p:spPr>
          <a:xfrm>
            <a:off x="750888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5" name="图片占位符 9"/>
          <p:cNvSpPr>
            <a:spLocks noGrp="1"/>
          </p:cNvSpPr>
          <p:nvPr>
            <p:ph type="pic" sz="quarter" idx="15"/>
          </p:nvPr>
        </p:nvSpPr>
        <p:spPr>
          <a:xfrm>
            <a:off x="762300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6" name="图片占位符 9"/>
          <p:cNvSpPr>
            <a:spLocks noGrp="1"/>
          </p:cNvSpPr>
          <p:nvPr>
            <p:ph type="pic" sz="quarter" idx="16"/>
          </p:nvPr>
        </p:nvSpPr>
        <p:spPr>
          <a:xfrm>
            <a:off x="6278410" y="1620838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7" name="图片占位符 9"/>
          <p:cNvSpPr>
            <a:spLocks noGrp="1"/>
          </p:cNvSpPr>
          <p:nvPr>
            <p:ph type="pic" sz="quarter" idx="17"/>
          </p:nvPr>
        </p:nvSpPr>
        <p:spPr>
          <a:xfrm>
            <a:off x="6289822" y="3748182"/>
            <a:ext cx="1601787" cy="1601787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8DBEA4F8-3E16-4C59-891A-2C159CDDF8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3B62919-9F04-4043-AD50-FEF679483A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+截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/>
          <p:nvPr userDrawn="1"/>
        </p:nvSpPr>
        <p:spPr>
          <a:xfrm>
            <a:off x="0" y="2438400"/>
            <a:ext cx="12192000" cy="2651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640" y="1227371"/>
            <a:ext cx="6553200" cy="518930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26" name="图片占位符 25"/>
          <p:cNvSpPr>
            <a:spLocks noGrp="1"/>
          </p:cNvSpPr>
          <p:nvPr>
            <p:ph type="pic" sz="quarter" idx="15"/>
          </p:nvPr>
        </p:nvSpPr>
        <p:spPr>
          <a:xfrm>
            <a:off x="4094003" y="146110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7" name="图片占位符 26"/>
          <p:cNvSpPr>
            <a:spLocks noGrp="1"/>
          </p:cNvSpPr>
          <p:nvPr>
            <p:ph type="pic" sz="quarter" idx="16"/>
          </p:nvPr>
        </p:nvSpPr>
        <p:spPr>
          <a:xfrm>
            <a:off x="1360455" y="1471267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sp>
        <p:nvSpPr>
          <p:cNvPr id="28" name="图片占位符 27"/>
          <p:cNvSpPr>
            <a:spLocks noGrp="1"/>
          </p:cNvSpPr>
          <p:nvPr>
            <p:ph type="pic" sz="quarter" idx="17"/>
          </p:nvPr>
        </p:nvSpPr>
        <p:spPr>
          <a:xfrm>
            <a:off x="-1403065" y="1466132"/>
            <a:ext cx="2145971" cy="4650188"/>
          </a:xfrm>
          <a:custGeom>
            <a:avLst/>
            <a:gdLst>
              <a:gd name="connsiteX0" fmla="*/ 232494 w 2145971"/>
              <a:gd name="connsiteY0" fmla="*/ 0 h 4565992"/>
              <a:gd name="connsiteX1" fmla="*/ 411896 w 2145971"/>
              <a:gd name="connsiteY1" fmla="*/ 0 h 4565992"/>
              <a:gd name="connsiteX2" fmla="*/ 460701 w 2145971"/>
              <a:gd name="connsiteY2" fmla="*/ 37375 h 4565992"/>
              <a:gd name="connsiteX3" fmla="*/ 474141 w 2145971"/>
              <a:gd name="connsiteY3" fmla="*/ 58952 h 4565992"/>
              <a:gd name="connsiteX4" fmla="*/ 474141 w 2145971"/>
              <a:gd name="connsiteY4" fmla="*/ 82631 h 4565992"/>
              <a:gd name="connsiteX5" fmla="*/ 510037 w 2145971"/>
              <a:gd name="connsiteY5" fmla="*/ 169291 h 4565992"/>
              <a:gd name="connsiteX6" fmla="*/ 511822 w 2145971"/>
              <a:gd name="connsiteY6" fmla="*/ 170494 h 4565992"/>
              <a:gd name="connsiteX7" fmla="*/ 511182 w 2145971"/>
              <a:gd name="connsiteY7" fmla="*/ 183169 h 4565992"/>
              <a:gd name="connsiteX8" fmla="*/ 513849 w 2145971"/>
              <a:gd name="connsiteY8" fmla="*/ 183169 h 4565992"/>
              <a:gd name="connsiteX9" fmla="*/ 513849 w 2145971"/>
              <a:gd name="connsiteY9" fmla="*/ 171861 h 4565992"/>
              <a:gd name="connsiteX10" fmla="*/ 548992 w 2145971"/>
              <a:gd name="connsiteY10" fmla="*/ 195555 h 4565992"/>
              <a:gd name="connsiteX11" fmla="*/ 596696 w 2145971"/>
              <a:gd name="connsiteY11" fmla="*/ 205186 h 4565992"/>
              <a:gd name="connsiteX12" fmla="*/ 1542211 w 2145971"/>
              <a:gd name="connsiteY12" fmla="*/ 205186 h 4565992"/>
              <a:gd name="connsiteX13" fmla="*/ 1628871 w 2145971"/>
              <a:gd name="connsiteY13" fmla="*/ 169291 h 4565992"/>
              <a:gd name="connsiteX14" fmla="*/ 1652348 w 2145971"/>
              <a:gd name="connsiteY14" fmla="*/ 134469 h 4565992"/>
              <a:gd name="connsiteX15" fmla="*/ 1652348 w 2145971"/>
              <a:gd name="connsiteY15" fmla="*/ 149349 h 4565992"/>
              <a:gd name="connsiteX16" fmla="*/ 1652530 w 2145971"/>
              <a:gd name="connsiteY16" fmla="*/ 149349 h 4565992"/>
              <a:gd name="connsiteX17" fmla="*/ 1653216 w 2145971"/>
              <a:gd name="connsiteY17" fmla="*/ 135765 h 4565992"/>
              <a:gd name="connsiteX18" fmla="*/ 1654573 w 2145971"/>
              <a:gd name="connsiteY18" fmla="*/ 131168 h 4565992"/>
              <a:gd name="connsiteX19" fmla="*/ 1655135 w 2145971"/>
              <a:gd name="connsiteY19" fmla="*/ 130335 h 4565992"/>
              <a:gd name="connsiteX20" fmla="*/ 1655818 w 2145971"/>
              <a:gd name="connsiteY20" fmla="*/ 126954 h 4565992"/>
              <a:gd name="connsiteX21" fmla="*/ 1670739 w 2145971"/>
              <a:gd name="connsiteY21" fmla="*/ 76422 h 4565992"/>
              <a:gd name="connsiteX22" fmla="*/ 1707424 w 2145971"/>
              <a:gd name="connsiteY22" fmla="*/ 28517 h 4565992"/>
              <a:gd name="connsiteX23" fmla="*/ 1753206 w 2145971"/>
              <a:gd name="connsiteY23" fmla="*/ 0 h 4565992"/>
              <a:gd name="connsiteX24" fmla="*/ 1913477 w 2145971"/>
              <a:gd name="connsiteY24" fmla="*/ 0 h 4565992"/>
              <a:gd name="connsiteX25" fmla="*/ 2145971 w 2145971"/>
              <a:gd name="connsiteY25" fmla="*/ 232494 h 4565992"/>
              <a:gd name="connsiteX26" fmla="*/ 2145971 w 2145971"/>
              <a:gd name="connsiteY26" fmla="*/ 4333498 h 4565992"/>
              <a:gd name="connsiteX27" fmla="*/ 1913477 w 2145971"/>
              <a:gd name="connsiteY27" fmla="*/ 4565992 h 4565992"/>
              <a:gd name="connsiteX28" fmla="*/ 232494 w 2145971"/>
              <a:gd name="connsiteY28" fmla="*/ 4565992 h 4565992"/>
              <a:gd name="connsiteX29" fmla="*/ 0 w 2145971"/>
              <a:gd name="connsiteY29" fmla="*/ 4333498 h 4565992"/>
              <a:gd name="connsiteX30" fmla="*/ 0 w 2145971"/>
              <a:gd name="connsiteY30" fmla="*/ 232494 h 4565992"/>
              <a:gd name="connsiteX31" fmla="*/ 232494 w 2145971"/>
              <a:gd name="connsiteY31" fmla="*/ 0 h 4565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145971" h="4565992">
                <a:moveTo>
                  <a:pt x="232494" y="0"/>
                </a:moveTo>
                <a:lnTo>
                  <a:pt x="411896" y="0"/>
                </a:lnTo>
                <a:lnTo>
                  <a:pt x="460701" y="37375"/>
                </a:lnTo>
                <a:lnTo>
                  <a:pt x="474141" y="58952"/>
                </a:lnTo>
                <a:lnTo>
                  <a:pt x="474141" y="82631"/>
                </a:lnTo>
                <a:cubicBezTo>
                  <a:pt x="474141" y="116474"/>
                  <a:pt x="487859" y="147112"/>
                  <a:pt x="510037" y="169291"/>
                </a:cubicBezTo>
                <a:lnTo>
                  <a:pt x="511822" y="170494"/>
                </a:lnTo>
                <a:lnTo>
                  <a:pt x="511182" y="183169"/>
                </a:lnTo>
                <a:lnTo>
                  <a:pt x="513849" y="183169"/>
                </a:lnTo>
                <a:lnTo>
                  <a:pt x="513849" y="171861"/>
                </a:lnTo>
                <a:lnTo>
                  <a:pt x="548992" y="195555"/>
                </a:lnTo>
                <a:cubicBezTo>
                  <a:pt x="563655" y="201757"/>
                  <a:pt x="579775" y="205186"/>
                  <a:pt x="596696" y="205186"/>
                </a:cubicBezTo>
                <a:lnTo>
                  <a:pt x="1542211" y="205186"/>
                </a:lnTo>
                <a:cubicBezTo>
                  <a:pt x="1576054" y="205186"/>
                  <a:pt x="1606693" y="191469"/>
                  <a:pt x="1628871" y="169291"/>
                </a:cubicBezTo>
                <a:lnTo>
                  <a:pt x="1652348" y="134469"/>
                </a:lnTo>
                <a:lnTo>
                  <a:pt x="1652348" y="149349"/>
                </a:lnTo>
                <a:lnTo>
                  <a:pt x="1652530" y="149349"/>
                </a:lnTo>
                <a:lnTo>
                  <a:pt x="1653216" y="135765"/>
                </a:lnTo>
                <a:lnTo>
                  <a:pt x="1654573" y="131168"/>
                </a:lnTo>
                <a:lnTo>
                  <a:pt x="1655135" y="130335"/>
                </a:lnTo>
                <a:lnTo>
                  <a:pt x="1655818" y="126954"/>
                </a:lnTo>
                <a:lnTo>
                  <a:pt x="1670739" y="76422"/>
                </a:lnTo>
                <a:cubicBezTo>
                  <a:pt x="1680021" y="58300"/>
                  <a:pt x="1692497" y="42084"/>
                  <a:pt x="1707424" y="28517"/>
                </a:cubicBezTo>
                <a:lnTo>
                  <a:pt x="1753206" y="0"/>
                </a:lnTo>
                <a:lnTo>
                  <a:pt x="1913477" y="0"/>
                </a:lnTo>
                <a:cubicBezTo>
                  <a:pt x="2041880" y="0"/>
                  <a:pt x="2145971" y="104091"/>
                  <a:pt x="2145971" y="232494"/>
                </a:cubicBezTo>
                <a:lnTo>
                  <a:pt x="2145971" y="4333498"/>
                </a:lnTo>
                <a:cubicBezTo>
                  <a:pt x="2145971" y="4461901"/>
                  <a:pt x="2041880" y="4565992"/>
                  <a:pt x="1913477" y="4565992"/>
                </a:cubicBezTo>
                <a:lnTo>
                  <a:pt x="232494" y="4565992"/>
                </a:lnTo>
                <a:cubicBezTo>
                  <a:pt x="104091" y="4565992"/>
                  <a:pt x="0" y="4461901"/>
                  <a:pt x="0" y="4333498"/>
                </a:cubicBezTo>
                <a:lnTo>
                  <a:pt x="0" y="232494"/>
                </a:lnTo>
                <a:cubicBezTo>
                  <a:pt x="0" y="104091"/>
                  <a:pt x="104091" y="0"/>
                  <a:pt x="232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418D875-80C6-4A5D-A911-5A3EC53F8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EECE605-304C-49AC-ACC1-7BBDC8DEC2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565422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4" name="图片占位符 8"/>
          <p:cNvSpPr>
            <a:spLocks noGrp="1"/>
          </p:cNvSpPr>
          <p:nvPr>
            <p:ph type="pic" sz="quarter" idx="15"/>
          </p:nvPr>
        </p:nvSpPr>
        <p:spPr>
          <a:xfrm>
            <a:off x="2591276" y="1473200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5" name="图片占位符 8"/>
          <p:cNvSpPr>
            <a:spLocks noGrp="1"/>
          </p:cNvSpPr>
          <p:nvPr>
            <p:ph type="pic" sz="quarter" idx="16"/>
          </p:nvPr>
        </p:nvSpPr>
        <p:spPr>
          <a:xfrm>
            <a:off x="565422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6" name="图片占位符 8"/>
          <p:cNvSpPr>
            <a:spLocks noGrp="1"/>
          </p:cNvSpPr>
          <p:nvPr>
            <p:ph type="pic" sz="quarter" idx="17"/>
          </p:nvPr>
        </p:nvSpPr>
        <p:spPr>
          <a:xfrm>
            <a:off x="2591276" y="2916554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8" name="图片占位符 8"/>
          <p:cNvSpPr>
            <a:spLocks noGrp="1"/>
          </p:cNvSpPr>
          <p:nvPr>
            <p:ph type="pic" sz="quarter" idx="18"/>
          </p:nvPr>
        </p:nvSpPr>
        <p:spPr>
          <a:xfrm>
            <a:off x="565422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图片占位符 8"/>
          <p:cNvSpPr>
            <a:spLocks noGrp="1"/>
          </p:cNvSpPr>
          <p:nvPr>
            <p:ph type="pic" sz="quarter" idx="19"/>
          </p:nvPr>
        </p:nvSpPr>
        <p:spPr>
          <a:xfrm>
            <a:off x="2591276" y="4359908"/>
            <a:ext cx="1919287" cy="1350963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EE3E6385-30FA-4171-9F4B-B9FC38D918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网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 userDrawn="1"/>
        </p:nvSpPr>
        <p:spPr>
          <a:xfrm>
            <a:off x="0" y="0"/>
            <a:ext cx="480939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0104" y="441325"/>
            <a:ext cx="10515600" cy="365125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570610" y="441325"/>
            <a:ext cx="101385" cy="594461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内容占位符 16"/>
          <p:cNvSpPr>
            <a:spLocks noGrp="1"/>
          </p:cNvSpPr>
          <p:nvPr>
            <p:ph sz="quarter" idx="13" hasCustomPrompt="1"/>
          </p:nvPr>
        </p:nvSpPr>
        <p:spPr>
          <a:xfrm>
            <a:off x="750888" y="806450"/>
            <a:ext cx="10515600" cy="228600"/>
          </a:xfrm>
        </p:spPr>
        <p:txBody>
          <a:bodyPr>
            <a:noAutofit/>
          </a:bodyPr>
          <a:lstStyle>
            <a:lvl1pPr marL="0" indent="0">
              <a:buNone/>
              <a:defRPr sz="1600">
                <a:solidFill>
                  <a:srgbClr val="FFF2CC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单击此处编辑英文标题</a:t>
            </a:r>
          </a:p>
        </p:txBody>
      </p:sp>
      <p:sp>
        <p:nvSpPr>
          <p:cNvPr id="6" name="等腰三角形 5"/>
          <p:cNvSpPr/>
          <p:nvPr userDrawn="1"/>
        </p:nvSpPr>
        <p:spPr>
          <a:xfrm rot="5400000">
            <a:off x="4670790" y="579927"/>
            <a:ext cx="593726" cy="3165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4480" y="1171575"/>
            <a:ext cx="6255849" cy="4558665"/>
          </a:xfrm>
          <a:prstGeom prst="rect">
            <a:avLst/>
          </a:prstGeom>
        </p:spPr>
      </p:pic>
      <p:sp>
        <p:nvSpPr>
          <p:cNvPr id="9" name="图片占位符 8"/>
          <p:cNvSpPr>
            <a:spLocks noGrp="1"/>
          </p:cNvSpPr>
          <p:nvPr>
            <p:ph type="pic" sz="quarter" idx="14"/>
          </p:nvPr>
        </p:nvSpPr>
        <p:spPr>
          <a:xfrm>
            <a:off x="1335088" y="1554163"/>
            <a:ext cx="4297362" cy="2851150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B9B452A-2D55-4BBD-BE12-7A691AF046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/>
          <p:cNvSpPr txBox="1"/>
          <p:nvPr userDrawn="1"/>
        </p:nvSpPr>
        <p:spPr>
          <a:xfrm>
            <a:off x="587375" y="6030223"/>
            <a:ext cx="1444197" cy="3864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solidFill>
                  <a:schemeClr val="accent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▶▶▶</a:t>
            </a:r>
          </a:p>
        </p:txBody>
      </p:sp>
      <p:sp>
        <p:nvSpPr>
          <p:cNvPr id="7" name="椭圆 6"/>
          <p:cNvSpPr/>
          <p:nvPr userDrawn="1"/>
        </p:nvSpPr>
        <p:spPr>
          <a:xfrm>
            <a:off x="7421356" y="-2690075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7634978" y="-2781431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6" name="文本框 25"/>
          <p:cNvSpPr txBox="1"/>
          <p:nvPr userDrawn="1"/>
        </p:nvSpPr>
        <p:spPr>
          <a:xfrm>
            <a:off x="640991" y="381570"/>
            <a:ext cx="1104790" cy="678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spc="100" dirty="0">
                <a:solidFill>
                  <a:schemeClr val="accent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XDU</a:t>
            </a:r>
            <a:endParaRPr lang="zh-CN" altLang="en-US" sz="3200" spc="100" dirty="0">
              <a:solidFill>
                <a:schemeClr val="accent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25674" y="493521"/>
            <a:ext cx="4627265" cy="587095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E1D2782-0A55-4435-B6D0-EC34E9F164D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椭圆 4"/>
          <p:cNvSpPr/>
          <p:nvPr userDrawn="1"/>
        </p:nvSpPr>
        <p:spPr>
          <a:xfrm>
            <a:off x="-6397120" y="-2781431"/>
            <a:ext cx="12420862" cy="1242086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-6576322" y="-2782222"/>
            <a:ext cx="12420862" cy="1242086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72231" y="606743"/>
            <a:ext cx="4816257" cy="58648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0BAE036-4665-4BCA-BFD7-85FF6B7BC5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F5AE494-9BF9-4E3E-A927-AC5947F878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纵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28800" y="495301"/>
            <a:ext cx="8364310" cy="516968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460500" y="6362699"/>
            <a:ext cx="2743200" cy="365125"/>
          </a:xfrm>
        </p:spPr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864102" y="6362699"/>
            <a:ext cx="3124200" cy="365124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48704" y="6362698"/>
            <a:ext cx="2743200" cy="365125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/>
        </p:nvCxnSpPr>
        <p:spPr>
          <a:xfrm>
            <a:off x="1828800" y="1084462"/>
            <a:ext cx="595630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0" y="11151"/>
            <a:ext cx="1244600" cy="1722438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9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0" y="1721005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4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0" y="3443443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5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0" y="5165881"/>
            <a:ext cx="1244600" cy="1722438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5CD05A8-8196-4B84-B154-D2D237659B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2051" y="514827"/>
            <a:ext cx="1228693" cy="6920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EE87-E84D-4794-AAE5-5EBFA06D5749}" type="datetimeFigureOut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D9163-3264-45B9-8805-38B3DB57BD3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2A5AA-0ADE-4A24-8106-207C03497465}" type="datetime1">
              <a:rPr lang="zh-CN" altLang="en-US" smtClean="0"/>
              <a:t>2025/11/4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10421373" y="284403"/>
            <a:ext cx="1154483" cy="6701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3200" b="1" spc="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XDU</a:t>
            </a:r>
            <a:endParaRPr lang="zh-CN" altLang="en-US" sz="3200" b="1" spc="10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横向导航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710" y="1113896"/>
            <a:ext cx="10515600" cy="516968"/>
          </a:xfrm>
        </p:spPr>
        <p:txBody>
          <a:bodyPr>
            <a:normAutofit/>
          </a:bodyPr>
          <a:lstStyle>
            <a:lvl1pPr marL="457200" indent="-457200">
              <a:buFont typeface="Wingdings" panose="05000000000000000000" pitchFamily="2" charset="2"/>
              <a:buChar char="u"/>
              <a:defRPr sz="28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占位符 17"/>
          <p:cNvSpPr>
            <a:spLocks noGrp="1"/>
          </p:cNvSpPr>
          <p:nvPr>
            <p:ph type="body" sz="quarter" idx="14"/>
          </p:nvPr>
        </p:nvSpPr>
        <p:spPr>
          <a:xfrm>
            <a:off x="-1" y="136526"/>
            <a:ext cx="3071814" cy="598310"/>
          </a:xfrm>
          <a:solidFill>
            <a:schemeClr val="accent1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1" name="文本占位符 17"/>
          <p:cNvSpPr>
            <a:spLocks noGrp="1"/>
          </p:cNvSpPr>
          <p:nvPr>
            <p:ph type="body" sz="quarter" idx="15"/>
          </p:nvPr>
        </p:nvSpPr>
        <p:spPr>
          <a:xfrm>
            <a:off x="3071812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" name="文本占位符 17"/>
          <p:cNvSpPr>
            <a:spLocks noGrp="1"/>
          </p:cNvSpPr>
          <p:nvPr>
            <p:ph type="body" sz="quarter" idx="16"/>
          </p:nvPr>
        </p:nvSpPr>
        <p:spPr>
          <a:xfrm>
            <a:off x="6095999" y="136525"/>
            <a:ext cx="3024187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3" name="文本占位符 17"/>
          <p:cNvSpPr>
            <a:spLocks noGrp="1"/>
          </p:cNvSpPr>
          <p:nvPr>
            <p:ph type="body" sz="quarter" idx="17"/>
          </p:nvPr>
        </p:nvSpPr>
        <p:spPr>
          <a:xfrm>
            <a:off x="9120185" y="136525"/>
            <a:ext cx="3071815" cy="598310"/>
          </a:xfrm>
          <a:solidFill>
            <a:srgbClr val="A6A6A6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48A5D5-F967-4973-BC3E-B6E1F1E79406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B9A5AF-BDD6-4E14-989F-CF034C94E4C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80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10" Type="http://schemas.openxmlformats.org/officeDocument/2006/relationships/image" Target="../media/image38.svg"/><Relationship Id="rId4" Type="http://schemas.microsoft.com/office/2007/relationships/hdphoto" Target="../media/hdphoto1.wdp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png"/><Relationship Id="rId3" Type="http://schemas.openxmlformats.org/officeDocument/2006/relationships/image" Target="../media/image58.png"/><Relationship Id="rId7" Type="http://schemas.openxmlformats.org/officeDocument/2006/relationships/image" Target="../media/image62.pn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60.pn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png"/><Relationship Id="rId1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5316638" y="0"/>
            <a:ext cx="6875362" cy="6875362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-21531" y="-20526"/>
            <a:ext cx="12213531" cy="6895887"/>
          </a:xfrm>
          <a:prstGeom prst="rect">
            <a:avLst/>
          </a:prstGeom>
          <a:gradFill>
            <a:gsLst>
              <a:gs pos="55000">
                <a:schemeClr val="accent1"/>
              </a:gs>
              <a:gs pos="100000">
                <a:schemeClr val="accent1"/>
              </a:gs>
              <a:gs pos="43000">
                <a:schemeClr val="accent1">
                  <a:alpha val="74000"/>
                </a:schemeClr>
              </a:gs>
              <a:gs pos="7000">
                <a:schemeClr val="accent1">
                  <a:alpha val="0"/>
                </a:schemeClr>
              </a:gs>
              <a:gs pos="95000">
                <a:schemeClr val="accent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677881" y="2021277"/>
            <a:ext cx="48901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7200" b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defRPr>
            </a:lvl1pPr>
          </a:lstStyle>
          <a:p>
            <a:r>
              <a:rPr lang="zh-CN" altLang="en-US" sz="8000" dirty="0">
                <a:sym typeface="Arial" panose="020B0604020202020204" pitchFamily="34" charset="0"/>
              </a:rPr>
              <a:t>蓝桥校园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914101" y="5285343"/>
            <a:ext cx="285064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项目总负责人：魏朝旭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914101" y="4803928"/>
            <a:ext cx="3144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小组名称：蓝桥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229945" y="986929"/>
            <a:ext cx="20782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>
                    <a:alpha val="77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  <a:cs typeface="+mn-ea"/>
                <a:sym typeface="Arial" panose="020B0604020202020204" pitchFamily="34" charset="0"/>
              </a:rPr>
              <a:t>蓝桥相伴 青春不散</a:t>
            </a:r>
          </a:p>
        </p:txBody>
      </p:sp>
      <p:sp>
        <p:nvSpPr>
          <p:cNvPr id="6" name="矩形 5"/>
          <p:cNvSpPr/>
          <p:nvPr/>
        </p:nvSpPr>
        <p:spPr>
          <a:xfrm>
            <a:off x="293686" y="304483"/>
            <a:ext cx="11604628" cy="6249035"/>
          </a:xfrm>
          <a:prstGeom prst="rect">
            <a:avLst/>
          </a:prstGeom>
          <a:noFill/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14100" y="5777873"/>
            <a:ext cx="6891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  <a:cs typeface="+mn-ea"/>
                <a:sym typeface="Arial" panose="020B0604020202020204" pitchFamily="34" charset="0"/>
              </a:rPr>
              <a:t>➡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项目小组成员：胡轩宇    刘凯丽     刘一力    李尚泽     冯汝鑫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C2824E-F883-4EBA-B1B7-20DA9F7A39DA}"/>
              </a:ext>
            </a:extLst>
          </p:cNvPr>
          <p:cNvSpPr txBox="1"/>
          <p:nvPr/>
        </p:nvSpPr>
        <p:spPr>
          <a:xfrm>
            <a:off x="1343292" y="3363206"/>
            <a:ext cx="5559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深度融合智慧校园生态的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恋爱社交平台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AD59685-C3ED-40C9-B548-62BDB7AC1D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32" y="284406"/>
            <a:ext cx="1553595" cy="839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</a:t>
            </a:fld>
            <a:endParaRPr lang="zh-CN" altLang="en-US" dirty="0"/>
          </a:p>
        </p:txBody>
      </p:sp>
      <p:pic>
        <p:nvPicPr>
          <p:cNvPr id="9" name="图片占位符 42"/>
          <p:cNvPicPr>
            <a:picLocks noGrp="1"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760311" y="2852846"/>
            <a:ext cx="2859992" cy="190690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图片占位符 46"/>
          <p:cNvPicPr>
            <a:picLocks noGrp="1"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4658480" y="2852846"/>
            <a:ext cx="2875040" cy="1916853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图片占位符 44"/>
          <p:cNvPicPr>
            <a:picLocks noGrp="1" noChangeAspect="1"/>
          </p:cNvPicPr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>
            <a:off x="8552025" y="2852846"/>
            <a:ext cx="2860350" cy="1906900"/>
          </a:xfrm>
          <a:custGeom>
            <a:avLst/>
            <a:gdLst>
              <a:gd name="connsiteX0" fmla="*/ 0 w 2972256"/>
              <a:gd name="connsiteY0" fmla="*/ 0 h 2446480"/>
              <a:gd name="connsiteX1" fmla="*/ 2972256 w 2972256"/>
              <a:gd name="connsiteY1" fmla="*/ 0 h 2446480"/>
              <a:gd name="connsiteX2" fmla="*/ 2972256 w 2972256"/>
              <a:gd name="connsiteY2" fmla="*/ 2446480 h 2446480"/>
              <a:gd name="connsiteX3" fmla="*/ 0 w 2972256"/>
              <a:gd name="connsiteY3" fmla="*/ 2446480 h 2446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72256" h="2446480">
                <a:moveTo>
                  <a:pt x="0" y="0"/>
                </a:moveTo>
                <a:lnTo>
                  <a:pt x="2972256" y="0"/>
                </a:lnTo>
                <a:lnTo>
                  <a:pt x="2972256" y="2446480"/>
                </a:lnTo>
                <a:lnTo>
                  <a:pt x="0" y="2446480"/>
                </a:lnTo>
                <a:close/>
              </a:path>
            </a:pathLst>
          </a:cu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Rectangle: Folded Corner 1"/>
          <p:cNvSpPr/>
          <p:nvPr/>
        </p:nvSpPr>
        <p:spPr>
          <a:xfrm>
            <a:off x="2614255" y="4481087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7" name="Rectangle: Folded Corner 2"/>
          <p:cNvSpPr/>
          <p:nvPr/>
        </p:nvSpPr>
        <p:spPr>
          <a:xfrm>
            <a:off x="6527173" y="4466769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8" name="Rectangle: Folded Corner 3"/>
          <p:cNvSpPr/>
          <p:nvPr/>
        </p:nvSpPr>
        <p:spPr>
          <a:xfrm>
            <a:off x="10412339" y="4471525"/>
            <a:ext cx="678587" cy="735933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19" name="Freeform: Shape 11"/>
          <p:cNvSpPr/>
          <p:nvPr/>
        </p:nvSpPr>
        <p:spPr bwMode="auto">
          <a:xfrm>
            <a:off x="10542659" y="4635430"/>
            <a:ext cx="408116" cy="408116"/>
          </a:xfrm>
          <a:custGeom>
            <a:avLst/>
            <a:gdLst>
              <a:gd name="T0" fmla="*/ 74 w 236"/>
              <a:gd name="T1" fmla="*/ 160 h 236"/>
              <a:gd name="T2" fmla="*/ 93 w 236"/>
              <a:gd name="T3" fmla="*/ 160 h 236"/>
              <a:gd name="T4" fmla="*/ 93 w 236"/>
              <a:gd name="T5" fmla="*/ 103 h 236"/>
              <a:gd name="T6" fmla="*/ 74 w 236"/>
              <a:gd name="T7" fmla="*/ 103 h 236"/>
              <a:gd name="T8" fmla="*/ 74 w 236"/>
              <a:gd name="T9" fmla="*/ 160 h 236"/>
              <a:gd name="T10" fmla="*/ 140 w 236"/>
              <a:gd name="T11" fmla="*/ 102 h 236"/>
              <a:gd name="T12" fmla="*/ 122 w 236"/>
              <a:gd name="T13" fmla="*/ 111 h 236"/>
              <a:gd name="T14" fmla="*/ 122 w 236"/>
              <a:gd name="T15" fmla="*/ 103 h 236"/>
              <a:gd name="T16" fmla="*/ 103 w 236"/>
              <a:gd name="T17" fmla="*/ 103 h 236"/>
              <a:gd name="T18" fmla="*/ 103 w 236"/>
              <a:gd name="T19" fmla="*/ 160 h 236"/>
              <a:gd name="T20" fmla="*/ 122 w 236"/>
              <a:gd name="T21" fmla="*/ 160 h 236"/>
              <a:gd name="T22" fmla="*/ 122 w 236"/>
              <a:gd name="T23" fmla="*/ 128 h 236"/>
              <a:gd name="T24" fmla="*/ 123 w 236"/>
              <a:gd name="T25" fmla="*/ 124 h 236"/>
              <a:gd name="T26" fmla="*/ 133 w 236"/>
              <a:gd name="T27" fmla="*/ 117 h 236"/>
              <a:gd name="T28" fmla="*/ 142 w 236"/>
              <a:gd name="T29" fmla="*/ 130 h 236"/>
              <a:gd name="T30" fmla="*/ 142 w 236"/>
              <a:gd name="T31" fmla="*/ 160 h 236"/>
              <a:gd name="T32" fmla="*/ 161 w 236"/>
              <a:gd name="T33" fmla="*/ 160 h 236"/>
              <a:gd name="T34" fmla="*/ 161 w 236"/>
              <a:gd name="T35" fmla="*/ 160 h 236"/>
              <a:gd name="T36" fmla="*/ 161 w 236"/>
              <a:gd name="T37" fmla="*/ 127 h 236"/>
              <a:gd name="T38" fmla="*/ 140 w 236"/>
              <a:gd name="T39" fmla="*/ 102 h 236"/>
              <a:gd name="T40" fmla="*/ 122 w 236"/>
              <a:gd name="T41" fmla="*/ 111 h 236"/>
              <a:gd name="T42" fmla="*/ 122 w 236"/>
              <a:gd name="T43" fmla="*/ 111 h 236"/>
              <a:gd name="T44" fmla="*/ 122 w 236"/>
              <a:gd name="T45" fmla="*/ 111 h 236"/>
              <a:gd name="T46" fmla="*/ 83 w 236"/>
              <a:gd name="T47" fmla="*/ 75 h 236"/>
              <a:gd name="T48" fmla="*/ 73 w 236"/>
              <a:gd name="T49" fmla="*/ 85 h 236"/>
              <a:gd name="T50" fmla="*/ 83 w 236"/>
              <a:gd name="T51" fmla="*/ 95 h 236"/>
              <a:gd name="T52" fmla="*/ 83 w 236"/>
              <a:gd name="T53" fmla="*/ 95 h 236"/>
              <a:gd name="T54" fmla="*/ 94 w 236"/>
              <a:gd name="T55" fmla="*/ 85 h 236"/>
              <a:gd name="T56" fmla="*/ 83 w 236"/>
              <a:gd name="T57" fmla="*/ 75 h 236"/>
              <a:gd name="T58" fmla="*/ 118 w 236"/>
              <a:gd name="T59" fmla="*/ 0 h 236"/>
              <a:gd name="T60" fmla="*/ 0 w 236"/>
              <a:gd name="T61" fmla="*/ 118 h 236"/>
              <a:gd name="T62" fmla="*/ 118 w 236"/>
              <a:gd name="T63" fmla="*/ 236 h 236"/>
              <a:gd name="T64" fmla="*/ 236 w 236"/>
              <a:gd name="T65" fmla="*/ 118 h 236"/>
              <a:gd name="T66" fmla="*/ 118 w 236"/>
              <a:gd name="T67" fmla="*/ 0 h 236"/>
              <a:gd name="T68" fmla="*/ 181 w 236"/>
              <a:gd name="T69" fmla="*/ 172 h 236"/>
              <a:gd name="T70" fmla="*/ 171 w 236"/>
              <a:gd name="T71" fmla="*/ 181 h 236"/>
              <a:gd name="T72" fmla="*/ 64 w 236"/>
              <a:gd name="T73" fmla="*/ 181 h 236"/>
              <a:gd name="T74" fmla="*/ 55 w 236"/>
              <a:gd name="T75" fmla="*/ 172 h 236"/>
              <a:gd name="T76" fmla="*/ 55 w 236"/>
              <a:gd name="T77" fmla="*/ 63 h 236"/>
              <a:gd name="T78" fmla="*/ 64 w 236"/>
              <a:gd name="T79" fmla="*/ 54 h 236"/>
              <a:gd name="T80" fmla="*/ 171 w 236"/>
              <a:gd name="T81" fmla="*/ 54 h 236"/>
              <a:gd name="T82" fmla="*/ 181 w 236"/>
              <a:gd name="T83" fmla="*/ 63 h 236"/>
              <a:gd name="T84" fmla="*/ 181 w 236"/>
              <a:gd name="T85" fmla="*/ 17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36" h="236">
                <a:moveTo>
                  <a:pt x="74" y="160"/>
                </a:moveTo>
                <a:cubicBezTo>
                  <a:pt x="93" y="160"/>
                  <a:pt x="93" y="160"/>
                  <a:pt x="93" y="160"/>
                </a:cubicBezTo>
                <a:cubicBezTo>
                  <a:pt x="93" y="103"/>
                  <a:pt x="93" y="103"/>
                  <a:pt x="93" y="103"/>
                </a:cubicBezTo>
                <a:cubicBezTo>
                  <a:pt x="74" y="103"/>
                  <a:pt x="74" y="103"/>
                  <a:pt x="74" y="103"/>
                </a:cubicBezTo>
                <a:lnTo>
                  <a:pt x="74" y="160"/>
                </a:lnTo>
                <a:close/>
                <a:moveTo>
                  <a:pt x="140" y="102"/>
                </a:moveTo>
                <a:cubicBezTo>
                  <a:pt x="129" y="102"/>
                  <a:pt x="125" y="107"/>
                  <a:pt x="122" y="111"/>
                </a:cubicBezTo>
                <a:cubicBezTo>
                  <a:pt x="122" y="103"/>
                  <a:pt x="122" y="103"/>
                  <a:pt x="122" y="103"/>
                </a:cubicBezTo>
                <a:cubicBezTo>
                  <a:pt x="103" y="103"/>
                  <a:pt x="103" y="103"/>
                  <a:pt x="103" y="103"/>
                </a:cubicBezTo>
                <a:cubicBezTo>
                  <a:pt x="104" y="108"/>
                  <a:pt x="103" y="160"/>
                  <a:pt x="103" y="160"/>
                </a:cubicBezTo>
                <a:cubicBezTo>
                  <a:pt x="122" y="160"/>
                  <a:pt x="122" y="160"/>
                  <a:pt x="122" y="160"/>
                </a:cubicBezTo>
                <a:cubicBezTo>
                  <a:pt x="122" y="128"/>
                  <a:pt x="122" y="128"/>
                  <a:pt x="122" y="128"/>
                </a:cubicBezTo>
                <a:cubicBezTo>
                  <a:pt x="122" y="127"/>
                  <a:pt x="123" y="125"/>
                  <a:pt x="123" y="124"/>
                </a:cubicBezTo>
                <a:cubicBezTo>
                  <a:pt x="124" y="120"/>
                  <a:pt x="128" y="117"/>
                  <a:pt x="133" y="117"/>
                </a:cubicBezTo>
                <a:cubicBezTo>
                  <a:pt x="140" y="117"/>
                  <a:pt x="142" y="122"/>
                  <a:pt x="142" y="130"/>
                </a:cubicBezTo>
                <a:cubicBezTo>
                  <a:pt x="142" y="160"/>
                  <a:pt x="142" y="160"/>
                  <a:pt x="142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60"/>
                  <a:pt x="161" y="160"/>
                  <a:pt x="161" y="160"/>
                </a:cubicBezTo>
                <a:cubicBezTo>
                  <a:pt x="161" y="127"/>
                  <a:pt x="161" y="127"/>
                  <a:pt x="161" y="127"/>
                </a:cubicBezTo>
                <a:cubicBezTo>
                  <a:pt x="161" y="110"/>
                  <a:pt x="152" y="102"/>
                  <a:pt x="140" y="102"/>
                </a:cubicBezTo>
                <a:close/>
                <a:moveTo>
                  <a:pt x="122" y="111"/>
                </a:moveTo>
                <a:cubicBezTo>
                  <a:pt x="122" y="111"/>
                  <a:pt x="122" y="111"/>
                  <a:pt x="122" y="111"/>
                </a:cubicBezTo>
                <a:cubicBezTo>
                  <a:pt x="122" y="111"/>
                  <a:pt x="122" y="111"/>
                  <a:pt x="122" y="111"/>
                </a:cubicBezTo>
                <a:close/>
                <a:moveTo>
                  <a:pt x="83" y="75"/>
                </a:moveTo>
                <a:cubicBezTo>
                  <a:pt x="77" y="75"/>
                  <a:pt x="73" y="80"/>
                  <a:pt x="73" y="85"/>
                </a:cubicBezTo>
                <a:cubicBezTo>
                  <a:pt x="73" y="91"/>
                  <a:pt x="77" y="95"/>
                  <a:pt x="83" y="95"/>
                </a:cubicBezTo>
                <a:cubicBezTo>
                  <a:pt x="83" y="95"/>
                  <a:pt x="83" y="95"/>
                  <a:pt x="83" y="95"/>
                </a:cubicBezTo>
                <a:cubicBezTo>
                  <a:pt x="90" y="95"/>
                  <a:pt x="94" y="91"/>
                  <a:pt x="94" y="85"/>
                </a:cubicBezTo>
                <a:cubicBezTo>
                  <a:pt x="94" y="80"/>
                  <a:pt x="90" y="75"/>
                  <a:pt x="83" y="75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81" y="172"/>
                </a:moveTo>
                <a:cubicBezTo>
                  <a:pt x="181" y="177"/>
                  <a:pt x="176" y="181"/>
                  <a:pt x="171" y="181"/>
                </a:cubicBezTo>
                <a:cubicBezTo>
                  <a:pt x="64" y="181"/>
                  <a:pt x="64" y="181"/>
                  <a:pt x="64" y="181"/>
                </a:cubicBezTo>
                <a:cubicBezTo>
                  <a:pt x="59" y="181"/>
                  <a:pt x="55" y="177"/>
                  <a:pt x="55" y="172"/>
                </a:cubicBezTo>
                <a:cubicBezTo>
                  <a:pt x="55" y="63"/>
                  <a:pt x="55" y="63"/>
                  <a:pt x="55" y="63"/>
                </a:cubicBezTo>
                <a:cubicBezTo>
                  <a:pt x="55" y="58"/>
                  <a:pt x="59" y="54"/>
                  <a:pt x="64" y="54"/>
                </a:cubicBezTo>
                <a:cubicBezTo>
                  <a:pt x="171" y="54"/>
                  <a:pt x="171" y="54"/>
                  <a:pt x="171" y="54"/>
                </a:cubicBezTo>
                <a:cubicBezTo>
                  <a:pt x="176" y="54"/>
                  <a:pt x="181" y="58"/>
                  <a:pt x="181" y="63"/>
                </a:cubicBezTo>
                <a:cubicBezTo>
                  <a:pt x="181" y="172"/>
                  <a:pt x="181" y="172"/>
                  <a:pt x="181" y="1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0" name="Freeform: Shape 12"/>
          <p:cNvSpPr/>
          <p:nvPr/>
        </p:nvSpPr>
        <p:spPr bwMode="auto">
          <a:xfrm>
            <a:off x="6662402" y="4621116"/>
            <a:ext cx="408116" cy="408116"/>
          </a:xfrm>
          <a:custGeom>
            <a:avLst/>
            <a:gdLst>
              <a:gd name="T0" fmla="*/ 0 w 236"/>
              <a:gd name="T1" fmla="*/ 118 h 236"/>
              <a:gd name="T2" fmla="*/ 236 w 236"/>
              <a:gd name="T3" fmla="*/ 118 h 236"/>
              <a:gd name="T4" fmla="*/ 150 w 236"/>
              <a:gd name="T5" fmla="*/ 168 h 236"/>
              <a:gd name="T6" fmla="*/ 128 w 236"/>
              <a:gd name="T7" fmla="*/ 196 h 236"/>
              <a:gd name="T8" fmla="*/ 125 w 236"/>
              <a:gd name="T9" fmla="*/ 199 h 236"/>
              <a:gd name="T10" fmla="*/ 111 w 236"/>
              <a:gd name="T11" fmla="*/ 198 h 236"/>
              <a:gd name="T12" fmla="*/ 110 w 236"/>
              <a:gd name="T13" fmla="*/ 180 h 236"/>
              <a:gd name="T14" fmla="*/ 90 w 236"/>
              <a:gd name="T15" fmla="*/ 173 h 236"/>
              <a:gd name="T16" fmla="*/ 79 w 236"/>
              <a:gd name="T17" fmla="*/ 166 h 236"/>
              <a:gd name="T18" fmla="*/ 78 w 236"/>
              <a:gd name="T19" fmla="*/ 160 h 236"/>
              <a:gd name="T20" fmla="*/ 89 w 236"/>
              <a:gd name="T21" fmla="*/ 147 h 236"/>
              <a:gd name="T22" fmla="*/ 91 w 236"/>
              <a:gd name="T23" fmla="*/ 148 h 236"/>
              <a:gd name="T24" fmla="*/ 119 w 236"/>
              <a:gd name="T25" fmla="*/ 160 h 236"/>
              <a:gd name="T26" fmla="*/ 137 w 236"/>
              <a:gd name="T27" fmla="*/ 145 h 236"/>
              <a:gd name="T28" fmla="*/ 133 w 236"/>
              <a:gd name="T29" fmla="*/ 137 h 236"/>
              <a:gd name="T30" fmla="*/ 122 w 236"/>
              <a:gd name="T31" fmla="*/ 130 h 236"/>
              <a:gd name="T32" fmla="*/ 109 w 236"/>
              <a:gd name="T33" fmla="*/ 125 h 236"/>
              <a:gd name="T34" fmla="*/ 98 w 236"/>
              <a:gd name="T35" fmla="*/ 120 h 236"/>
              <a:gd name="T36" fmla="*/ 89 w 236"/>
              <a:gd name="T37" fmla="*/ 113 h 236"/>
              <a:gd name="T38" fmla="*/ 82 w 236"/>
              <a:gd name="T39" fmla="*/ 103 h 236"/>
              <a:gd name="T40" fmla="*/ 79 w 236"/>
              <a:gd name="T41" fmla="*/ 90 h 236"/>
              <a:gd name="T42" fmla="*/ 110 w 236"/>
              <a:gd name="T43" fmla="*/ 57 h 236"/>
              <a:gd name="T44" fmla="*/ 111 w 236"/>
              <a:gd name="T45" fmla="*/ 38 h 236"/>
              <a:gd name="T46" fmla="*/ 125 w 236"/>
              <a:gd name="T47" fmla="*/ 37 h 236"/>
              <a:gd name="T48" fmla="*/ 128 w 236"/>
              <a:gd name="T49" fmla="*/ 40 h 236"/>
              <a:gd name="T50" fmla="*/ 137 w 236"/>
              <a:gd name="T51" fmla="*/ 58 h 236"/>
              <a:gd name="T52" fmla="*/ 151 w 236"/>
              <a:gd name="T53" fmla="*/ 65 h 236"/>
              <a:gd name="T54" fmla="*/ 155 w 236"/>
              <a:gd name="T55" fmla="*/ 69 h 236"/>
              <a:gd name="T56" fmla="*/ 149 w 236"/>
              <a:gd name="T57" fmla="*/ 85 h 236"/>
              <a:gd name="T58" fmla="*/ 144 w 236"/>
              <a:gd name="T59" fmla="*/ 86 h 236"/>
              <a:gd name="T60" fmla="*/ 140 w 236"/>
              <a:gd name="T61" fmla="*/ 82 h 236"/>
              <a:gd name="T62" fmla="*/ 128 w 236"/>
              <a:gd name="T63" fmla="*/ 77 h 236"/>
              <a:gd name="T64" fmla="*/ 107 w 236"/>
              <a:gd name="T65" fmla="*/ 80 h 236"/>
              <a:gd name="T66" fmla="*/ 102 w 236"/>
              <a:gd name="T67" fmla="*/ 94 h 236"/>
              <a:gd name="T68" fmla="*/ 108 w 236"/>
              <a:gd name="T69" fmla="*/ 101 h 236"/>
              <a:gd name="T70" fmla="*/ 118 w 236"/>
              <a:gd name="T71" fmla="*/ 106 h 236"/>
              <a:gd name="T72" fmla="*/ 132 w 236"/>
              <a:gd name="T73" fmla="*/ 112 h 236"/>
              <a:gd name="T74" fmla="*/ 145 w 236"/>
              <a:gd name="T75" fmla="*/ 119 h 236"/>
              <a:gd name="T76" fmla="*/ 155 w 236"/>
              <a:gd name="T77" fmla="*/ 129 h 236"/>
              <a:gd name="T78" fmla="*/ 159 w 236"/>
              <a:gd name="T79" fmla="*/ 144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236" h="236"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moveTo>
                  <a:pt x="150" y="168"/>
                </a:moveTo>
                <a:cubicBezTo>
                  <a:pt x="145" y="175"/>
                  <a:pt x="137" y="179"/>
                  <a:pt x="128" y="180"/>
                </a:cubicBezTo>
                <a:cubicBezTo>
                  <a:pt x="128" y="196"/>
                  <a:pt x="128" y="196"/>
                  <a:pt x="128" y="196"/>
                </a:cubicBezTo>
                <a:cubicBezTo>
                  <a:pt x="128" y="197"/>
                  <a:pt x="127" y="198"/>
                  <a:pt x="127" y="198"/>
                </a:cubicBezTo>
                <a:cubicBezTo>
                  <a:pt x="126" y="199"/>
                  <a:pt x="126" y="199"/>
                  <a:pt x="125" y="199"/>
                </a:cubicBezTo>
                <a:cubicBezTo>
                  <a:pt x="113" y="199"/>
                  <a:pt x="113" y="199"/>
                  <a:pt x="113" y="199"/>
                </a:cubicBezTo>
                <a:cubicBezTo>
                  <a:pt x="112" y="199"/>
                  <a:pt x="111" y="199"/>
                  <a:pt x="111" y="198"/>
                </a:cubicBezTo>
                <a:cubicBezTo>
                  <a:pt x="110" y="197"/>
                  <a:pt x="110" y="197"/>
                  <a:pt x="110" y="196"/>
                </a:cubicBezTo>
                <a:cubicBezTo>
                  <a:pt x="110" y="180"/>
                  <a:pt x="110" y="180"/>
                  <a:pt x="110" y="180"/>
                </a:cubicBezTo>
                <a:cubicBezTo>
                  <a:pt x="106" y="180"/>
                  <a:pt x="102" y="179"/>
                  <a:pt x="99" y="177"/>
                </a:cubicBezTo>
                <a:cubicBezTo>
                  <a:pt x="95" y="176"/>
                  <a:pt x="92" y="175"/>
                  <a:pt x="90" y="173"/>
                </a:cubicBezTo>
                <a:cubicBezTo>
                  <a:pt x="88" y="172"/>
                  <a:pt x="85" y="171"/>
                  <a:pt x="83" y="169"/>
                </a:cubicBezTo>
                <a:cubicBezTo>
                  <a:pt x="81" y="168"/>
                  <a:pt x="80" y="166"/>
                  <a:pt x="79" y="166"/>
                </a:cubicBezTo>
                <a:cubicBezTo>
                  <a:pt x="79" y="165"/>
                  <a:pt x="78" y="164"/>
                  <a:pt x="78" y="164"/>
                </a:cubicBezTo>
                <a:cubicBezTo>
                  <a:pt x="77" y="163"/>
                  <a:pt x="77" y="162"/>
                  <a:pt x="78" y="160"/>
                </a:cubicBezTo>
                <a:cubicBezTo>
                  <a:pt x="87" y="148"/>
                  <a:pt x="87" y="148"/>
                  <a:pt x="87" y="148"/>
                </a:cubicBezTo>
                <a:cubicBezTo>
                  <a:pt x="87" y="148"/>
                  <a:pt x="88" y="147"/>
                  <a:pt x="89" y="147"/>
                </a:cubicBezTo>
                <a:cubicBezTo>
                  <a:pt x="90" y="147"/>
                  <a:pt x="90" y="147"/>
                  <a:pt x="91" y="148"/>
                </a:cubicBezTo>
                <a:cubicBezTo>
                  <a:pt x="91" y="148"/>
                  <a:pt x="91" y="148"/>
                  <a:pt x="91" y="148"/>
                </a:cubicBezTo>
                <a:cubicBezTo>
                  <a:pt x="98" y="154"/>
                  <a:pt x="105" y="158"/>
                  <a:pt x="112" y="159"/>
                </a:cubicBezTo>
                <a:cubicBezTo>
                  <a:pt x="115" y="160"/>
                  <a:pt x="117" y="160"/>
                  <a:pt x="119" y="160"/>
                </a:cubicBezTo>
                <a:cubicBezTo>
                  <a:pt x="124" y="160"/>
                  <a:pt x="128" y="159"/>
                  <a:pt x="131" y="156"/>
                </a:cubicBezTo>
                <a:cubicBezTo>
                  <a:pt x="135" y="154"/>
                  <a:pt x="137" y="150"/>
                  <a:pt x="137" y="145"/>
                </a:cubicBezTo>
                <a:cubicBezTo>
                  <a:pt x="137" y="144"/>
                  <a:pt x="136" y="142"/>
                  <a:pt x="136" y="140"/>
                </a:cubicBezTo>
                <a:cubicBezTo>
                  <a:pt x="135" y="139"/>
                  <a:pt x="134" y="138"/>
                  <a:pt x="133" y="137"/>
                </a:cubicBezTo>
                <a:cubicBezTo>
                  <a:pt x="132" y="136"/>
                  <a:pt x="130" y="135"/>
                  <a:pt x="127" y="133"/>
                </a:cubicBezTo>
                <a:cubicBezTo>
                  <a:pt x="125" y="132"/>
                  <a:pt x="123" y="131"/>
                  <a:pt x="122" y="130"/>
                </a:cubicBezTo>
                <a:cubicBezTo>
                  <a:pt x="120" y="130"/>
                  <a:pt x="118" y="129"/>
                  <a:pt x="115" y="128"/>
                </a:cubicBezTo>
                <a:cubicBezTo>
                  <a:pt x="112" y="127"/>
                  <a:pt x="110" y="126"/>
                  <a:pt x="109" y="125"/>
                </a:cubicBezTo>
                <a:cubicBezTo>
                  <a:pt x="108" y="125"/>
                  <a:pt x="106" y="124"/>
                  <a:pt x="104" y="123"/>
                </a:cubicBezTo>
                <a:cubicBezTo>
                  <a:pt x="101" y="122"/>
                  <a:pt x="100" y="121"/>
                  <a:pt x="98" y="120"/>
                </a:cubicBezTo>
                <a:cubicBezTo>
                  <a:pt x="97" y="119"/>
                  <a:pt x="95" y="118"/>
                  <a:pt x="93" y="117"/>
                </a:cubicBezTo>
                <a:cubicBezTo>
                  <a:pt x="91" y="116"/>
                  <a:pt x="90" y="114"/>
                  <a:pt x="89" y="113"/>
                </a:cubicBezTo>
                <a:cubicBezTo>
                  <a:pt x="87" y="112"/>
                  <a:pt x="86" y="110"/>
                  <a:pt x="85" y="109"/>
                </a:cubicBezTo>
                <a:cubicBezTo>
                  <a:pt x="83" y="107"/>
                  <a:pt x="82" y="105"/>
                  <a:pt x="82" y="103"/>
                </a:cubicBezTo>
                <a:cubicBezTo>
                  <a:pt x="81" y="102"/>
                  <a:pt x="80" y="100"/>
                  <a:pt x="80" y="97"/>
                </a:cubicBezTo>
                <a:cubicBezTo>
                  <a:pt x="79" y="95"/>
                  <a:pt x="79" y="93"/>
                  <a:pt x="79" y="90"/>
                </a:cubicBezTo>
                <a:cubicBezTo>
                  <a:pt x="79" y="82"/>
                  <a:pt x="82" y="75"/>
                  <a:pt x="88" y="69"/>
                </a:cubicBezTo>
                <a:cubicBezTo>
                  <a:pt x="93" y="62"/>
                  <a:pt x="101" y="58"/>
                  <a:pt x="110" y="57"/>
                </a:cubicBezTo>
                <a:cubicBezTo>
                  <a:pt x="110" y="40"/>
                  <a:pt x="110" y="40"/>
                  <a:pt x="110" y="40"/>
                </a:cubicBezTo>
                <a:cubicBezTo>
                  <a:pt x="110" y="40"/>
                  <a:pt x="110" y="39"/>
                  <a:pt x="111" y="38"/>
                </a:cubicBezTo>
                <a:cubicBezTo>
                  <a:pt x="111" y="38"/>
                  <a:pt x="112" y="37"/>
                  <a:pt x="113" y="37"/>
                </a:cubicBezTo>
                <a:cubicBezTo>
                  <a:pt x="125" y="37"/>
                  <a:pt x="125" y="37"/>
                  <a:pt x="125" y="37"/>
                </a:cubicBezTo>
                <a:cubicBezTo>
                  <a:pt x="126" y="37"/>
                  <a:pt x="126" y="38"/>
                  <a:pt x="127" y="38"/>
                </a:cubicBezTo>
                <a:cubicBezTo>
                  <a:pt x="127" y="39"/>
                  <a:pt x="128" y="39"/>
                  <a:pt x="128" y="40"/>
                </a:cubicBezTo>
                <a:cubicBezTo>
                  <a:pt x="128" y="56"/>
                  <a:pt x="128" y="56"/>
                  <a:pt x="128" y="56"/>
                </a:cubicBezTo>
                <a:cubicBezTo>
                  <a:pt x="131" y="57"/>
                  <a:pt x="134" y="57"/>
                  <a:pt x="137" y="58"/>
                </a:cubicBezTo>
                <a:cubicBezTo>
                  <a:pt x="140" y="59"/>
                  <a:pt x="143" y="60"/>
                  <a:pt x="145" y="61"/>
                </a:cubicBezTo>
                <a:cubicBezTo>
                  <a:pt x="147" y="62"/>
                  <a:pt x="149" y="63"/>
                  <a:pt x="151" y="65"/>
                </a:cubicBezTo>
                <a:cubicBezTo>
                  <a:pt x="152" y="66"/>
                  <a:pt x="153" y="67"/>
                  <a:pt x="154" y="67"/>
                </a:cubicBezTo>
                <a:cubicBezTo>
                  <a:pt x="155" y="68"/>
                  <a:pt x="155" y="68"/>
                  <a:pt x="155" y="69"/>
                </a:cubicBezTo>
                <a:cubicBezTo>
                  <a:pt x="156" y="70"/>
                  <a:pt x="156" y="71"/>
                  <a:pt x="156" y="72"/>
                </a:cubicBezTo>
                <a:cubicBezTo>
                  <a:pt x="149" y="85"/>
                  <a:pt x="149" y="85"/>
                  <a:pt x="149" y="85"/>
                </a:cubicBezTo>
                <a:cubicBezTo>
                  <a:pt x="148" y="86"/>
                  <a:pt x="148" y="86"/>
                  <a:pt x="147" y="87"/>
                </a:cubicBezTo>
                <a:cubicBezTo>
                  <a:pt x="146" y="87"/>
                  <a:pt x="145" y="86"/>
                  <a:pt x="144" y="86"/>
                </a:cubicBezTo>
                <a:cubicBezTo>
                  <a:pt x="144" y="86"/>
                  <a:pt x="144" y="85"/>
                  <a:pt x="143" y="85"/>
                </a:cubicBezTo>
                <a:cubicBezTo>
                  <a:pt x="142" y="84"/>
                  <a:pt x="141" y="83"/>
                  <a:pt x="140" y="82"/>
                </a:cubicBezTo>
                <a:cubicBezTo>
                  <a:pt x="138" y="81"/>
                  <a:pt x="136" y="80"/>
                  <a:pt x="134" y="80"/>
                </a:cubicBezTo>
                <a:cubicBezTo>
                  <a:pt x="133" y="79"/>
                  <a:pt x="130" y="78"/>
                  <a:pt x="128" y="77"/>
                </a:cubicBezTo>
                <a:cubicBezTo>
                  <a:pt x="125" y="77"/>
                  <a:pt x="123" y="76"/>
                  <a:pt x="120" y="76"/>
                </a:cubicBezTo>
                <a:cubicBezTo>
                  <a:pt x="115" y="76"/>
                  <a:pt x="110" y="77"/>
                  <a:pt x="107" y="80"/>
                </a:cubicBezTo>
                <a:cubicBezTo>
                  <a:pt x="103" y="83"/>
                  <a:pt x="101" y="86"/>
                  <a:pt x="101" y="90"/>
                </a:cubicBezTo>
                <a:cubicBezTo>
                  <a:pt x="101" y="92"/>
                  <a:pt x="102" y="93"/>
                  <a:pt x="102" y="94"/>
                </a:cubicBezTo>
                <a:cubicBezTo>
                  <a:pt x="103" y="96"/>
                  <a:pt x="103" y="97"/>
                  <a:pt x="105" y="98"/>
                </a:cubicBezTo>
                <a:cubicBezTo>
                  <a:pt x="106" y="99"/>
                  <a:pt x="107" y="100"/>
                  <a:pt x="108" y="101"/>
                </a:cubicBezTo>
                <a:cubicBezTo>
                  <a:pt x="109" y="102"/>
                  <a:pt x="111" y="103"/>
                  <a:pt x="113" y="104"/>
                </a:cubicBezTo>
                <a:cubicBezTo>
                  <a:pt x="115" y="105"/>
                  <a:pt x="117" y="106"/>
                  <a:pt x="118" y="106"/>
                </a:cubicBezTo>
                <a:cubicBezTo>
                  <a:pt x="120" y="107"/>
                  <a:pt x="122" y="108"/>
                  <a:pt x="125" y="109"/>
                </a:cubicBezTo>
                <a:cubicBezTo>
                  <a:pt x="128" y="110"/>
                  <a:pt x="130" y="111"/>
                  <a:pt x="132" y="112"/>
                </a:cubicBezTo>
                <a:cubicBezTo>
                  <a:pt x="133" y="112"/>
                  <a:pt x="136" y="113"/>
                  <a:pt x="138" y="115"/>
                </a:cubicBezTo>
                <a:cubicBezTo>
                  <a:pt x="141" y="116"/>
                  <a:pt x="143" y="117"/>
                  <a:pt x="145" y="119"/>
                </a:cubicBezTo>
                <a:cubicBezTo>
                  <a:pt x="147" y="120"/>
                  <a:pt x="149" y="121"/>
                  <a:pt x="151" y="123"/>
                </a:cubicBezTo>
                <a:cubicBezTo>
                  <a:pt x="153" y="125"/>
                  <a:pt x="154" y="127"/>
                  <a:pt x="155" y="129"/>
                </a:cubicBezTo>
                <a:cubicBezTo>
                  <a:pt x="156" y="131"/>
                  <a:pt x="157" y="133"/>
                  <a:pt x="158" y="136"/>
                </a:cubicBezTo>
                <a:cubicBezTo>
                  <a:pt x="159" y="138"/>
                  <a:pt x="159" y="141"/>
                  <a:pt x="159" y="144"/>
                </a:cubicBezTo>
                <a:cubicBezTo>
                  <a:pt x="159" y="153"/>
                  <a:pt x="156" y="161"/>
                  <a:pt x="150" y="168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1" name="Freeform: Shape 13"/>
          <p:cNvSpPr/>
          <p:nvPr/>
        </p:nvSpPr>
        <p:spPr bwMode="auto">
          <a:xfrm>
            <a:off x="2749487" y="4635434"/>
            <a:ext cx="408116" cy="408116"/>
          </a:xfrm>
          <a:custGeom>
            <a:avLst/>
            <a:gdLst>
              <a:gd name="T0" fmla="*/ 182 w 236"/>
              <a:gd name="T1" fmla="*/ 109 h 236"/>
              <a:gd name="T2" fmla="*/ 157 w 236"/>
              <a:gd name="T3" fmla="*/ 103 h 236"/>
              <a:gd name="T4" fmla="*/ 134 w 236"/>
              <a:gd name="T5" fmla="*/ 102 h 236"/>
              <a:gd name="T6" fmla="*/ 120 w 236"/>
              <a:gd name="T7" fmla="*/ 114 h 236"/>
              <a:gd name="T8" fmla="*/ 118 w 236"/>
              <a:gd name="T9" fmla="*/ 129 h 236"/>
              <a:gd name="T10" fmla="*/ 122 w 236"/>
              <a:gd name="T11" fmla="*/ 141 h 236"/>
              <a:gd name="T12" fmla="*/ 135 w 236"/>
              <a:gd name="T13" fmla="*/ 156 h 236"/>
              <a:gd name="T14" fmla="*/ 139 w 236"/>
              <a:gd name="T15" fmla="*/ 185 h 236"/>
              <a:gd name="T16" fmla="*/ 152 w 236"/>
              <a:gd name="T17" fmla="*/ 198 h 236"/>
              <a:gd name="T18" fmla="*/ 169 w 236"/>
              <a:gd name="T19" fmla="*/ 180 h 236"/>
              <a:gd name="T20" fmla="*/ 187 w 236"/>
              <a:gd name="T21" fmla="*/ 150 h 236"/>
              <a:gd name="T22" fmla="*/ 200 w 236"/>
              <a:gd name="T23" fmla="*/ 122 h 236"/>
              <a:gd name="T24" fmla="*/ 182 w 236"/>
              <a:gd name="T25" fmla="*/ 109 h 236"/>
              <a:gd name="T26" fmla="*/ 118 w 236"/>
              <a:gd name="T27" fmla="*/ 0 h 236"/>
              <a:gd name="T28" fmla="*/ 0 w 236"/>
              <a:gd name="T29" fmla="*/ 118 h 236"/>
              <a:gd name="T30" fmla="*/ 118 w 236"/>
              <a:gd name="T31" fmla="*/ 236 h 236"/>
              <a:gd name="T32" fmla="*/ 236 w 236"/>
              <a:gd name="T33" fmla="*/ 118 h 236"/>
              <a:gd name="T34" fmla="*/ 118 w 236"/>
              <a:gd name="T35" fmla="*/ 0 h 236"/>
              <a:gd name="T36" fmla="*/ 126 w 236"/>
              <a:gd name="T37" fmla="*/ 212 h 236"/>
              <a:gd name="T38" fmla="*/ 128 w 236"/>
              <a:gd name="T39" fmla="*/ 208 h 236"/>
              <a:gd name="T40" fmla="*/ 125 w 236"/>
              <a:gd name="T41" fmla="*/ 186 h 236"/>
              <a:gd name="T42" fmla="*/ 105 w 236"/>
              <a:gd name="T43" fmla="*/ 186 h 236"/>
              <a:gd name="T44" fmla="*/ 98 w 236"/>
              <a:gd name="T45" fmla="*/ 207 h 236"/>
              <a:gd name="T46" fmla="*/ 102 w 236"/>
              <a:gd name="T47" fmla="*/ 211 h 236"/>
              <a:gd name="T48" fmla="*/ 34 w 236"/>
              <a:gd name="T49" fmla="*/ 161 h 236"/>
              <a:gd name="T50" fmla="*/ 44 w 236"/>
              <a:gd name="T51" fmla="*/ 157 h 236"/>
              <a:gd name="T52" fmla="*/ 44 w 236"/>
              <a:gd name="T53" fmla="*/ 157 h 236"/>
              <a:gd name="T54" fmla="*/ 81 w 236"/>
              <a:gd name="T55" fmla="*/ 142 h 236"/>
              <a:gd name="T56" fmla="*/ 81 w 236"/>
              <a:gd name="T57" fmla="*/ 118 h 236"/>
              <a:gd name="T58" fmla="*/ 55 w 236"/>
              <a:gd name="T59" fmla="*/ 94 h 236"/>
              <a:gd name="T60" fmla="*/ 28 w 236"/>
              <a:gd name="T61" fmla="*/ 90 h 236"/>
              <a:gd name="T62" fmla="*/ 84 w 236"/>
              <a:gd name="T63" fmla="*/ 30 h 236"/>
              <a:gd name="T64" fmla="*/ 84 w 236"/>
              <a:gd name="T65" fmla="*/ 31 h 236"/>
              <a:gd name="T66" fmla="*/ 102 w 236"/>
              <a:gd name="T67" fmla="*/ 56 h 236"/>
              <a:gd name="T68" fmla="*/ 120 w 236"/>
              <a:gd name="T69" fmla="*/ 79 h 236"/>
              <a:gd name="T70" fmla="*/ 131 w 236"/>
              <a:gd name="T71" fmla="*/ 97 h 236"/>
              <a:gd name="T72" fmla="*/ 146 w 236"/>
              <a:gd name="T73" fmla="*/ 88 h 236"/>
              <a:gd name="T74" fmla="*/ 177 w 236"/>
              <a:gd name="T75" fmla="*/ 66 h 236"/>
              <a:gd name="T76" fmla="*/ 190 w 236"/>
              <a:gd name="T77" fmla="*/ 57 h 236"/>
              <a:gd name="T78" fmla="*/ 212 w 236"/>
              <a:gd name="T79" fmla="*/ 118 h 236"/>
              <a:gd name="T80" fmla="*/ 126 w 236"/>
              <a:gd name="T81" fmla="*/ 212 h 2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36" h="236">
                <a:moveTo>
                  <a:pt x="182" y="109"/>
                </a:moveTo>
                <a:cubicBezTo>
                  <a:pt x="172" y="107"/>
                  <a:pt x="161" y="105"/>
                  <a:pt x="157" y="103"/>
                </a:cubicBezTo>
                <a:cubicBezTo>
                  <a:pt x="153" y="102"/>
                  <a:pt x="143" y="101"/>
                  <a:pt x="134" y="102"/>
                </a:cubicBezTo>
                <a:cubicBezTo>
                  <a:pt x="125" y="103"/>
                  <a:pt x="119" y="109"/>
                  <a:pt x="120" y="114"/>
                </a:cubicBezTo>
                <a:cubicBezTo>
                  <a:pt x="121" y="119"/>
                  <a:pt x="120" y="126"/>
                  <a:pt x="118" y="129"/>
                </a:cubicBezTo>
                <a:cubicBezTo>
                  <a:pt x="117" y="132"/>
                  <a:pt x="118" y="138"/>
                  <a:pt x="122" y="141"/>
                </a:cubicBezTo>
                <a:cubicBezTo>
                  <a:pt x="127" y="144"/>
                  <a:pt x="132" y="151"/>
                  <a:pt x="135" y="156"/>
                </a:cubicBezTo>
                <a:cubicBezTo>
                  <a:pt x="138" y="162"/>
                  <a:pt x="140" y="175"/>
                  <a:pt x="139" y="185"/>
                </a:cubicBezTo>
                <a:cubicBezTo>
                  <a:pt x="139" y="195"/>
                  <a:pt x="145" y="201"/>
                  <a:pt x="152" y="198"/>
                </a:cubicBezTo>
                <a:cubicBezTo>
                  <a:pt x="160" y="195"/>
                  <a:pt x="167" y="187"/>
                  <a:pt x="169" y="180"/>
                </a:cubicBezTo>
                <a:cubicBezTo>
                  <a:pt x="171" y="174"/>
                  <a:pt x="179" y="160"/>
                  <a:pt x="187" y="150"/>
                </a:cubicBezTo>
                <a:cubicBezTo>
                  <a:pt x="195" y="140"/>
                  <a:pt x="201" y="127"/>
                  <a:pt x="200" y="122"/>
                </a:cubicBezTo>
                <a:cubicBezTo>
                  <a:pt x="200" y="116"/>
                  <a:pt x="191" y="111"/>
                  <a:pt x="182" y="109"/>
                </a:cubicBezTo>
                <a:close/>
                <a:moveTo>
                  <a:pt x="118" y="0"/>
                </a:moveTo>
                <a:cubicBezTo>
                  <a:pt x="53" y="0"/>
                  <a:pt x="0" y="53"/>
                  <a:pt x="0" y="118"/>
                </a:cubicBezTo>
                <a:cubicBezTo>
                  <a:pt x="0" y="183"/>
                  <a:pt x="53" y="236"/>
                  <a:pt x="118" y="236"/>
                </a:cubicBezTo>
                <a:cubicBezTo>
                  <a:pt x="183" y="236"/>
                  <a:pt x="236" y="183"/>
                  <a:pt x="236" y="118"/>
                </a:cubicBezTo>
                <a:cubicBezTo>
                  <a:pt x="236" y="53"/>
                  <a:pt x="183" y="0"/>
                  <a:pt x="118" y="0"/>
                </a:cubicBezTo>
                <a:close/>
                <a:moveTo>
                  <a:pt x="126" y="212"/>
                </a:moveTo>
                <a:cubicBezTo>
                  <a:pt x="127" y="211"/>
                  <a:pt x="128" y="209"/>
                  <a:pt x="128" y="208"/>
                </a:cubicBezTo>
                <a:cubicBezTo>
                  <a:pt x="130" y="201"/>
                  <a:pt x="128" y="191"/>
                  <a:pt x="125" y="186"/>
                </a:cubicBezTo>
                <a:cubicBezTo>
                  <a:pt x="121" y="181"/>
                  <a:pt x="112" y="181"/>
                  <a:pt x="105" y="186"/>
                </a:cubicBezTo>
                <a:cubicBezTo>
                  <a:pt x="97" y="191"/>
                  <a:pt x="94" y="200"/>
                  <a:pt x="98" y="207"/>
                </a:cubicBezTo>
                <a:cubicBezTo>
                  <a:pt x="99" y="208"/>
                  <a:pt x="100" y="210"/>
                  <a:pt x="102" y="211"/>
                </a:cubicBezTo>
                <a:cubicBezTo>
                  <a:pt x="72" y="206"/>
                  <a:pt x="47" y="187"/>
                  <a:pt x="34" y="161"/>
                </a:cubicBezTo>
                <a:cubicBezTo>
                  <a:pt x="37" y="161"/>
                  <a:pt x="40" y="159"/>
                  <a:pt x="44" y="157"/>
                </a:cubicBezTo>
                <a:cubicBezTo>
                  <a:pt x="44" y="157"/>
                  <a:pt x="44" y="157"/>
                  <a:pt x="44" y="157"/>
                </a:cubicBezTo>
                <a:cubicBezTo>
                  <a:pt x="57" y="148"/>
                  <a:pt x="74" y="141"/>
                  <a:pt x="81" y="142"/>
                </a:cubicBezTo>
                <a:cubicBezTo>
                  <a:pt x="89" y="142"/>
                  <a:pt x="89" y="131"/>
                  <a:pt x="81" y="118"/>
                </a:cubicBezTo>
                <a:cubicBezTo>
                  <a:pt x="74" y="105"/>
                  <a:pt x="62" y="94"/>
                  <a:pt x="55" y="94"/>
                </a:cubicBezTo>
                <a:cubicBezTo>
                  <a:pt x="48" y="94"/>
                  <a:pt x="36" y="92"/>
                  <a:pt x="28" y="90"/>
                </a:cubicBezTo>
                <a:cubicBezTo>
                  <a:pt x="37" y="62"/>
                  <a:pt x="58" y="41"/>
                  <a:pt x="84" y="30"/>
                </a:cubicBezTo>
                <a:cubicBezTo>
                  <a:pt x="84" y="31"/>
                  <a:pt x="84" y="31"/>
                  <a:pt x="84" y="31"/>
                </a:cubicBezTo>
                <a:cubicBezTo>
                  <a:pt x="86" y="39"/>
                  <a:pt x="95" y="50"/>
                  <a:pt x="102" y="56"/>
                </a:cubicBezTo>
                <a:cubicBezTo>
                  <a:pt x="110" y="62"/>
                  <a:pt x="118" y="72"/>
                  <a:pt x="120" y="79"/>
                </a:cubicBezTo>
                <a:cubicBezTo>
                  <a:pt x="122" y="85"/>
                  <a:pt x="127" y="93"/>
                  <a:pt x="131" y="97"/>
                </a:cubicBezTo>
                <a:cubicBezTo>
                  <a:pt x="136" y="100"/>
                  <a:pt x="142" y="96"/>
                  <a:pt x="146" y="88"/>
                </a:cubicBezTo>
                <a:cubicBezTo>
                  <a:pt x="150" y="80"/>
                  <a:pt x="164" y="70"/>
                  <a:pt x="177" y="66"/>
                </a:cubicBezTo>
                <a:cubicBezTo>
                  <a:pt x="183" y="64"/>
                  <a:pt x="187" y="61"/>
                  <a:pt x="190" y="57"/>
                </a:cubicBezTo>
                <a:cubicBezTo>
                  <a:pt x="204" y="74"/>
                  <a:pt x="212" y="95"/>
                  <a:pt x="212" y="118"/>
                </a:cubicBezTo>
                <a:cubicBezTo>
                  <a:pt x="212" y="168"/>
                  <a:pt x="174" y="208"/>
                  <a:pt x="126" y="2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58555" y="5306578"/>
            <a:ext cx="1155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用户特征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504025" y="52996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场景特征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9409758" y="5297775"/>
            <a:ext cx="1274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调研方式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108604" y="5710513"/>
            <a:ext cx="2667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18-25</a:t>
            </a:r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岁在校学生</a:t>
            </a:r>
            <a:endParaRPr lang="en-US" altLang="zh-CN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12614" y="5733418"/>
            <a:ext cx="391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选取校园中某一环境代表（如操场）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8984664" y="5762502"/>
            <a:ext cx="24277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桌面调研和用户访谈</a:t>
            </a:r>
            <a:endParaRPr lang="zh-CN" altLang="en-US" dirty="0"/>
          </a:p>
        </p:txBody>
      </p:sp>
      <p:sp>
        <p:nvSpPr>
          <p:cNvPr id="35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36" name="标题 1"/>
          <p:cNvSpPr>
            <a:spLocks noGrp="1"/>
          </p:cNvSpPr>
          <p:nvPr/>
        </p:nvSpPr>
        <p:spPr>
          <a:xfrm>
            <a:off x="838200" y="1068398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用户</a:t>
            </a:r>
            <a:r>
              <a:rPr lang="en-US" altLang="zh-CN" dirty="0"/>
              <a:t>·</a:t>
            </a:r>
            <a:r>
              <a:rPr lang="zh-CN" altLang="en-US" dirty="0"/>
              <a:t>场景</a:t>
            </a:r>
            <a:r>
              <a:rPr lang="en-US" altLang="zh-CN" dirty="0"/>
              <a:t>·</a:t>
            </a:r>
            <a:r>
              <a:rPr lang="zh-CN" altLang="en-US" dirty="0"/>
              <a:t>行业 多方面调研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1327150" y="1147445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9" name="文本框 9"/>
          <p:cNvSpPr txBox="1"/>
          <p:nvPr/>
        </p:nvSpPr>
        <p:spPr>
          <a:xfrm>
            <a:off x="386505" y="2122364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  研究了</a:t>
            </a:r>
            <a:r>
              <a:rPr lang="en-US" altLang="zh-CN" dirty="0"/>
              <a:t>3</a:t>
            </a:r>
            <a:r>
              <a:rPr lang="zh-CN" altLang="en-US" dirty="0"/>
              <a:t>份主要相关报告：</a:t>
            </a:r>
          </a:p>
          <a:p>
            <a:r>
              <a:rPr lang="zh-CN" altLang="en-US" dirty="0"/>
              <a:t>《</a:t>
            </a:r>
            <a:r>
              <a:rPr lang="en-US" altLang="zh-CN" dirty="0"/>
              <a:t>2024</a:t>
            </a:r>
            <a:r>
              <a:rPr lang="zh-CN" altLang="en-US" dirty="0"/>
              <a:t>陌生人社交深度报告》</a:t>
            </a:r>
          </a:p>
          <a:p>
            <a:r>
              <a:rPr lang="zh-CN" altLang="en-US" dirty="0"/>
              <a:t>《</a:t>
            </a:r>
            <a:r>
              <a:rPr lang="en-US" altLang="zh-CN" dirty="0"/>
              <a:t>2024</a:t>
            </a:r>
            <a:r>
              <a:rPr lang="zh-CN" altLang="en-US" dirty="0"/>
              <a:t>年中国移动互联网半年报告》</a:t>
            </a:r>
          </a:p>
          <a:p>
            <a:r>
              <a:rPr lang="zh-CN" altLang="en-US" dirty="0"/>
              <a:t>《恋爱社交</a:t>
            </a:r>
            <a:r>
              <a:rPr lang="en-US" altLang="zh-CN" dirty="0"/>
              <a:t>App</a:t>
            </a:r>
            <a:r>
              <a:rPr lang="zh-CN" altLang="en-US" dirty="0"/>
              <a:t>产品分析报告》</a:t>
            </a:r>
          </a:p>
        </p:txBody>
      </p:sp>
      <p:sp>
        <p:nvSpPr>
          <p:cNvPr id="10" name="文本框 14"/>
          <p:cNvSpPr txBox="1"/>
          <p:nvPr/>
        </p:nvSpPr>
        <p:spPr>
          <a:xfrm>
            <a:off x="1486705" y="5122296"/>
            <a:ext cx="8095446" cy="9848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/>
            <a:r>
              <a:rPr lang="zh-CN" altLang="en-US" dirty="0"/>
              <a:t>随着中国社会的现代化进程，单身人群逐年增多，尤其是在大城市和年轻群体中。单身人口的增多为婚恋交友市场提供了广泛的潜在用户。</a:t>
            </a:r>
          </a:p>
        </p:txBody>
      </p:sp>
      <p:pic>
        <p:nvPicPr>
          <p:cNvPr id="11" name="图片 10" descr="106a1e2d2cf4c25a8f162e6db5712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8653" y="1326978"/>
            <a:ext cx="6220460" cy="2776855"/>
          </a:xfrm>
          <a:prstGeom prst="rect">
            <a:avLst/>
          </a:prstGeom>
        </p:spPr>
      </p:pic>
      <p:sp>
        <p:nvSpPr>
          <p:cNvPr id="12" name="文本框 13"/>
          <p:cNvSpPr txBox="1"/>
          <p:nvPr/>
        </p:nvSpPr>
        <p:spPr>
          <a:xfrm>
            <a:off x="5762203" y="893763"/>
            <a:ext cx="476250" cy="4572000"/>
          </a:xfrm>
          <a:prstGeom prst="rect">
            <a:avLst/>
          </a:prstGeom>
        </p:spPr>
        <p:txBody>
          <a:bodyPr vert="eaVert">
            <a:spAutoFit/>
            <a:extLst>
              <a:ext uri="{4A0BC546-FE56-4ADE-93B0-CB8AF2F6F144}">
                <wpsdc:textFrameExt xmlns:wpsdc="http://www.wps.cn/officeDocument/2022/drawingmlCustomData" xmlns="" type="text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CN" altLang="en-US" sz="1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6" name="文本框 16"/>
          <p:cNvSpPr txBox="1"/>
          <p:nvPr/>
        </p:nvSpPr>
        <p:spPr>
          <a:xfrm>
            <a:off x="10844213" y="1603058"/>
            <a:ext cx="793115" cy="3585845"/>
          </a:xfrm>
          <a:prstGeom prst="rect">
            <a:avLst/>
          </a:prstGeom>
        </p:spPr>
        <p:txBody>
          <a:bodyPr vert="eaVert" wrap="square">
            <a:noAutofit/>
            <a:extLst>
              <a:ext uri="{4A0BC546-FE56-4ADE-93B0-CB8AF2F6F144}">
                <wpsdc:textFrameExt xmlns:wpsdc="http://www.wps.cn/officeDocument/2022/drawingmlCustomData" xmlns="" type="title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  <a:cs typeface="+mn-ea"/>
                <a:sym typeface="WPS灵秀黑" charset="-122"/>
              </a:rPr>
              <a:t>桌面调研简报</a:t>
            </a:r>
            <a:endParaRPr lang="zh-CN" altLang="en-US" sz="4000" b="1" spc="400" dirty="0">
              <a:latin typeface="华文新魏" panose="02010800040101010101" charset="-122"/>
              <a:ea typeface="华文新魏" panose="02010800040101010101" charset="-122"/>
              <a:cs typeface="+mn-ea"/>
              <a:sym typeface="WPS灵秀黑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38200" y="4418307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/>
            <a:r>
              <a:rPr lang="zh-CN" altLang="en-US" sz="2800" dirty="0"/>
              <a:t>结论：</a:t>
            </a:r>
            <a:endParaRPr lang="en-US" altLang="zh-CN" sz="2800" dirty="0"/>
          </a:p>
        </p:txBody>
      </p:sp>
      <p:sp>
        <p:nvSpPr>
          <p:cNvPr id="18" name="标题 1"/>
          <p:cNvSpPr>
            <a:spLocks noGrp="1"/>
          </p:cNvSpPr>
          <p:nvPr/>
        </p:nvSpPr>
        <p:spPr>
          <a:xfrm>
            <a:off x="926238" y="1290922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行业分析</a:t>
            </a:r>
          </a:p>
          <a:p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9" name="标题 1"/>
          <p:cNvSpPr>
            <a:spLocks noGrp="1"/>
          </p:cNvSpPr>
          <p:nvPr/>
        </p:nvSpPr>
        <p:spPr>
          <a:xfrm>
            <a:off x="993935" y="1125679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行业分析</a:t>
            </a:r>
          </a:p>
        </p:txBody>
      </p:sp>
      <p:sp>
        <p:nvSpPr>
          <p:cNvPr id="23" name="文本框 9"/>
          <p:cNvSpPr txBox="1"/>
          <p:nvPr/>
        </p:nvSpPr>
        <p:spPr>
          <a:xfrm>
            <a:off x="7159785" y="1808702"/>
            <a:ext cx="4994115" cy="1495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 dirty="0"/>
              <a:t>市场规模</a:t>
            </a:r>
            <a:r>
              <a:rPr lang="zh-CN" altLang="en-US" dirty="0"/>
              <a:t>：主要玩家月活跃用户情况</a:t>
            </a:r>
          </a:p>
          <a:p>
            <a:r>
              <a:rPr lang="en-US" altLang="zh-CN" dirty="0"/>
              <a:t>Soul</a:t>
            </a:r>
            <a:r>
              <a:rPr lang="zh-CN" altLang="en-US" dirty="0"/>
              <a:t>：月活稳定在</a:t>
            </a:r>
            <a:r>
              <a:rPr lang="en-US" altLang="zh-CN" dirty="0"/>
              <a:t>2000</a:t>
            </a:r>
            <a:r>
              <a:rPr lang="zh-CN" altLang="en-US" dirty="0"/>
              <a:t>万左右</a:t>
            </a:r>
          </a:p>
          <a:p>
            <a:r>
              <a:rPr lang="zh-CN" altLang="en-US" dirty="0"/>
              <a:t>陌陌：历史最高月活达</a:t>
            </a:r>
            <a:r>
              <a:rPr lang="en-US" altLang="zh-CN" dirty="0"/>
              <a:t>1.153</a:t>
            </a:r>
            <a:r>
              <a:rPr lang="zh-CN" altLang="en-US" dirty="0"/>
              <a:t>亿（</a:t>
            </a:r>
            <a:r>
              <a:rPr lang="en-US" altLang="zh-CN" dirty="0"/>
              <a:t>21</a:t>
            </a:r>
            <a:r>
              <a:rPr lang="zh-CN" altLang="en-US" dirty="0"/>
              <a:t>年第一季度）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24" name="图片 23" descr="af858792899a2a714db251d3431f4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04" y="2895412"/>
            <a:ext cx="5870258" cy="3128828"/>
          </a:xfrm>
          <a:prstGeom prst="rect">
            <a:avLst/>
          </a:prstGeom>
        </p:spPr>
      </p:pic>
      <p:sp>
        <p:nvSpPr>
          <p:cNvPr id="25" name="文本框 11"/>
          <p:cNvSpPr txBox="1"/>
          <p:nvPr/>
        </p:nvSpPr>
        <p:spPr>
          <a:xfrm>
            <a:off x="7159785" y="3354927"/>
            <a:ext cx="4282111" cy="20969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  <a:p>
            <a:r>
              <a:rPr lang="zh-CN" altLang="en-US" b="1" dirty="0">
                <a:sym typeface="+mn-ea"/>
              </a:rPr>
              <a:t>市场格局</a:t>
            </a:r>
            <a:r>
              <a:rPr lang="zh-CN" altLang="en-US" dirty="0">
                <a:sym typeface="+mn-ea"/>
              </a:rPr>
              <a:t>：探探、</a:t>
            </a:r>
            <a:r>
              <a:rPr lang="en-US" altLang="zh-CN" dirty="0">
                <a:sym typeface="+mn-ea"/>
              </a:rPr>
              <a:t>Soul</a:t>
            </a:r>
            <a:r>
              <a:rPr lang="zh-CN" altLang="en-US" dirty="0">
                <a:sym typeface="+mn-ea"/>
              </a:rPr>
              <a:t>、陌陌各有特色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探探：主打颜值交友</a:t>
            </a:r>
            <a:endParaRPr lang="zh-CN" altLang="en-US" dirty="0"/>
          </a:p>
          <a:p>
            <a:r>
              <a:rPr lang="en-US" altLang="zh-CN" dirty="0">
                <a:sym typeface="+mn-ea"/>
              </a:rPr>
              <a:t>Soul</a:t>
            </a:r>
            <a:r>
              <a:rPr lang="zh-CN" altLang="en-US" dirty="0">
                <a:sym typeface="+mn-ea"/>
              </a:rPr>
              <a:t>：突出性格匹配</a:t>
            </a:r>
            <a:endParaRPr lang="zh-CN" altLang="en-US" dirty="0"/>
          </a:p>
          <a:p>
            <a:r>
              <a:rPr lang="zh-CN" altLang="en-US" dirty="0">
                <a:sym typeface="+mn-ea"/>
              </a:rPr>
              <a:t>陌陌：基于地理位置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993935" y="1859502"/>
            <a:ext cx="3187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ym typeface="+mn-ea"/>
              </a:rPr>
              <a:t>用户特征</a:t>
            </a:r>
            <a:r>
              <a:rPr lang="zh-CN" altLang="en-US" dirty="0">
                <a:sym typeface="+mn-ea"/>
              </a:rPr>
              <a:t>：以年轻群体为主，大学生是重要用户群体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740479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929264" y="1128871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cs typeface="+mn-ea"/>
                <a:sym typeface="Arial" panose="020B0604020202020204" pitchFamily="34" charset="0"/>
              </a:rPr>
              <a:t>用户分析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" name="文本框 19"/>
          <p:cNvSpPr txBox="1"/>
          <p:nvPr/>
        </p:nvSpPr>
        <p:spPr>
          <a:xfrm>
            <a:off x="4336174" y="4617404"/>
            <a:ext cx="62069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在恋爱偏好上，受访者愿尝试朋友推荐的新交友软件。多数人认为异性交友需更谨慎，同性交友较为自然。总体来看，受访者期待恋爱交友平台功能齐全、安全性高，并对丰富线下活动持积极态度。</a:t>
            </a:r>
          </a:p>
        </p:txBody>
      </p:sp>
      <p:sp>
        <p:nvSpPr>
          <p:cNvPr id="11" name="文本框 20"/>
          <p:cNvSpPr txBox="1"/>
          <p:nvPr/>
        </p:nvSpPr>
        <p:spPr>
          <a:xfrm>
            <a:off x="345629" y="2188844"/>
            <a:ext cx="505593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本次访谈共访问六位同学，均来自大一。多数人单身，部分尝试恋爱但未成功。</a:t>
            </a:r>
            <a:endParaRPr lang="zh-CN" altLang="en-US" sz="2000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46" y="3921058"/>
            <a:ext cx="2806107" cy="210428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1319616" y="1387355"/>
            <a:ext cx="793115" cy="3585845"/>
          </a:xfrm>
          <a:prstGeom prst="rect">
            <a:avLst/>
          </a:prstGeom>
        </p:spPr>
        <p:txBody>
          <a:bodyPr vert="eaVert" wrap="square">
            <a:noAutofit/>
            <a:extLst>
              <a:ext uri="{4A0BC546-FE56-4ADE-93B0-CB8AF2F6F144}">
                <wpsdc:textFrameExt xmlns:wpsdc="http://www.wps.cn/officeDocument/2022/drawingmlCustomData" xmlns="" type="title"/>
              </a:ext>
            </a:extLst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4000" b="1" dirty="0">
                <a:latin typeface="华文新魏" panose="02010800040101010101" charset="-122"/>
                <a:ea typeface="华文新魏" panose="02010800040101010101" charset="-122"/>
                <a:cs typeface="+mn-ea"/>
                <a:sym typeface="WPS灵秀黑" charset="-122"/>
              </a:rPr>
              <a:t>用户访谈简报</a:t>
            </a:r>
            <a:endParaRPr lang="zh-CN" altLang="en-US" sz="4000" b="1" spc="400" dirty="0">
              <a:latin typeface="华文新魏" panose="02010800040101010101" charset="-122"/>
              <a:ea typeface="华文新魏" panose="02010800040101010101" charset="-122"/>
              <a:cs typeface="+mn-ea"/>
              <a:sym typeface="WPS灵秀黑" charset="-122"/>
            </a:endParaRPr>
          </a:p>
        </p:txBody>
      </p:sp>
      <p:sp>
        <p:nvSpPr>
          <p:cNvPr id="14" name="日期占位符 1">
            <a:extLst>
              <a:ext uri="{FF2B5EF4-FFF2-40B4-BE49-F238E27FC236}">
                <a16:creationId xmlns:a16="http://schemas.microsoft.com/office/drawing/2014/main" id="{2AC38AED-8DD9-4A6D-8DE0-FE651A4D11D0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DB44E30-715F-4973-8179-B4178D7E09F0}" type="datetime1">
              <a:rPr lang="zh-CN" altLang="en-US" smtClean="0"/>
              <a:pPr/>
              <a:t>2025/11/4</a:t>
            </a:fld>
            <a:endParaRPr lang="zh-CN" altLang="en-US" dirty="0"/>
          </a:p>
        </p:txBody>
      </p:sp>
      <p:sp>
        <p:nvSpPr>
          <p:cNvPr id="15" name="页脚占位符 2">
            <a:extLst>
              <a:ext uri="{FF2B5EF4-FFF2-40B4-BE49-F238E27FC236}">
                <a16:creationId xmlns:a16="http://schemas.microsoft.com/office/drawing/2014/main" id="{7782FF3C-EDDB-40FC-B840-474E26A3813D}"/>
              </a:ext>
            </a:extLst>
          </p:cNvPr>
          <p:cNvSpPr txBox="1">
            <a:spLocks/>
          </p:cNvSpPr>
          <p:nvPr/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16" name="灯片编号占位符 3">
            <a:extLst>
              <a:ext uri="{FF2B5EF4-FFF2-40B4-BE49-F238E27FC236}">
                <a16:creationId xmlns:a16="http://schemas.microsoft.com/office/drawing/2014/main" id="{64FD2480-CC59-4FC1-88FB-6FC266A5506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B9A5AF-BDD6-4E14-989F-CF034C94E4CA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13EB0FD-7424-4C65-AD72-FECC35A2A1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1559" y="1445203"/>
            <a:ext cx="2367572" cy="177726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1267C7DD-5120-4A89-9F77-595ED656BA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305" y="463329"/>
            <a:ext cx="2367573" cy="17772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0B0807E-1357-4B9E-9E77-4656A12F00B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3832" y="2358010"/>
            <a:ext cx="2304774" cy="17289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6</a:t>
            </a:fld>
            <a:endParaRPr lang="zh-CN" altLang="en-US" dirty="0"/>
          </a:p>
        </p:txBody>
      </p: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522489166"/>
              </p:ext>
            </p:extLst>
          </p:nvPr>
        </p:nvGraphicFramePr>
        <p:xfrm>
          <a:off x="144379" y="1900719"/>
          <a:ext cx="8126318" cy="4180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文本框 19"/>
          <p:cNvSpPr txBox="1"/>
          <p:nvPr/>
        </p:nvSpPr>
        <p:spPr>
          <a:xfrm>
            <a:off x="8270697" y="4053120"/>
            <a:ext cx="39213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分析显示，大部分人对线上恋爱有较高兴趣，同时更看重恋爱对象的内在品质而非外貌。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"/>
          <p:cNvSpPr txBox="1"/>
          <p:nvPr/>
        </p:nvSpPr>
        <p:spPr>
          <a:xfrm>
            <a:off x="986779" y="1726841"/>
            <a:ext cx="518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以下是根据访谈结果获得的统计数据</a:t>
            </a:r>
          </a:p>
        </p:txBody>
      </p:sp>
      <p:pic>
        <p:nvPicPr>
          <p:cNvPr id="17" name="http://photo-static-api.fotomore.com/creative/vcg/400/new/VCG211353426615.jpg" descr="&amp;pky270_sjzg_VCG211353426615&amp;2&amp;src_toppic_inpsrchzd1&amp;"/>
          <p:cNvPicPr/>
          <p:nvPr/>
        </p:nvPicPr>
        <p:blipFill>
          <a:blip r:embed="rId4"/>
          <a:stretch>
            <a:fillRect/>
          </a:stretch>
        </p:blipFill>
        <p:spPr>
          <a:xfrm>
            <a:off x="8094372" y="1239069"/>
            <a:ext cx="3603497" cy="18706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9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背景分析</a:t>
            </a:r>
          </a:p>
        </p:txBody>
      </p:sp>
      <p:sp>
        <p:nvSpPr>
          <p:cNvPr id="20" name="标题 1"/>
          <p:cNvSpPr txBox="1"/>
          <p:nvPr/>
        </p:nvSpPr>
        <p:spPr>
          <a:xfrm>
            <a:off x="986779" y="1041139"/>
            <a:ext cx="1071109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457200" indent="-457200">
              <a:buFont typeface="Wingdings" panose="05000000000000000000" pitchFamily="2" charset="2"/>
              <a:buChar char="u"/>
            </a:pPr>
            <a:r>
              <a:rPr lang="zh-CN" altLang="en-US" sz="27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用户访谈数据分析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1" name="标题 1"/>
          <p:cNvSpPr>
            <a:spLocks noGrp="1"/>
          </p:cNvSpPr>
          <p:nvPr/>
        </p:nvSpPr>
        <p:spPr>
          <a:xfrm>
            <a:off x="1040956" y="1043304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痛点分析</a:t>
            </a:r>
          </a:p>
        </p:txBody>
      </p:sp>
      <p:grpSp>
        <p:nvGrpSpPr>
          <p:cNvPr id="39" name="组合 38"/>
          <p:cNvGrpSpPr/>
          <p:nvPr/>
        </p:nvGrpSpPr>
        <p:grpSpPr>
          <a:xfrm>
            <a:off x="5501936" y="2718784"/>
            <a:ext cx="1645861" cy="1880848"/>
            <a:chOff x="1588816" y="1306956"/>
            <a:chExt cx="1238592" cy="1423669"/>
          </a:xfrm>
          <a:solidFill>
            <a:schemeClr val="accent5"/>
          </a:solidFill>
          <a:scene3d>
            <a:camera prst="orthographicFront"/>
            <a:lightRig rig="flat" dir="t"/>
          </a:scene3d>
        </p:grpSpPr>
        <p:sp>
          <p:nvSpPr>
            <p:cNvPr id="68" name="六边形 67"/>
            <p:cNvSpPr/>
            <p:nvPr/>
          </p:nvSpPr>
          <p:spPr>
            <a:xfrm rot="5400000">
              <a:off x="1496277" y="1399495"/>
              <a:ext cx="1423669" cy="1238592"/>
            </a:xfrm>
            <a:prstGeom prst="hexagon">
              <a:avLst>
                <a:gd name="adj" fmla="val 25000"/>
                <a:gd name="vf" fmla="val 115470"/>
              </a:avLst>
            </a:prstGeom>
            <a:blipFill dpi="0" rotWithShape="0">
              <a:blip r:embed="rId2" cstate="screen"/>
              <a:srcRect/>
              <a:stretch>
                <a:fillRect/>
              </a:stretch>
            </a:blipFill>
            <a:ln w="25400">
              <a:solidFill>
                <a:schemeClr val="accent3">
                  <a:lumMod val="75000"/>
                </a:schemeClr>
              </a:solidFill>
            </a:ln>
            <a:sp3d prstMaterial="dkEdge">
              <a:bevelT w="8200" h="38100"/>
            </a:sp3d>
          </p:spPr>
          <p:style>
            <a:lnRef idx="0">
              <a:scrgbClr r="0" g="0" b="0"/>
            </a:lnRef>
            <a:fillRef idx="2">
              <a:scrgbClr r="0" g="0" b="0"/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dk1"/>
            </a:fontRef>
          </p:style>
          <p:txBody>
            <a:bodyPr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  <p:sp>
          <p:nvSpPr>
            <p:cNvPr id="69" name="六边形 8"/>
            <p:cNvSpPr/>
            <p:nvPr/>
          </p:nvSpPr>
          <p:spPr>
            <a:xfrm>
              <a:off x="1781829" y="1528812"/>
              <a:ext cx="852564" cy="979959"/>
            </a:xfrm>
            <a:prstGeom prst="rect">
              <a:avLst/>
            </a:prstGeom>
            <a:noFill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79071" tIns="179071" rIns="179071" bIns="179071" numCol="1" spcCol="1270" anchor="ctr" anchorCtr="0">
              <a:no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089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700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4166836" y="1812843"/>
            <a:ext cx="1238592" cy="1423669"/>
            <a:chOff x="4503064" y="1280154"/>
            <a:chExt cx="1238592" cy="1423669"/>
          </a:xfrm>
        </p:grpSpPr>
        <p:grpSp>
          <p:nvGrpSpPr>
            <p:cNvPr id="64" name="组合 63"/>
            <p:cNvGrpSpPr/>
            <p:nvPr/>
          </p:nvGrpSpPr>
          <p:grpSpPr>
            <a:xfrm>
              <a:off x="4503064" y="1280154"/>
              <a:ext cx="1238592" cy="1423669"/>
              <a:chOff x="922538" y="98545"/>
              <a:chExt cx="1238592" cy="1423669"/>
            </a:xfrm>
            <a:solidFill>
              <a:schemeClr val="accent1"/>
            </a:solidFill>
            <a:scene3d>
              <a:camera prst="orthographicFront"/>
              <a:lightRig rig="flat" dir="t"/>
            </a:scene3d>
          </p:grpSpPr>
          <p:sp>
            <p:nvSpPr>
              <p:cNvPr id="66" name="六边形 65"/>
              <p:cNvSpPr/>
              <p:nvPr/>
            </p:nvSpPr>
            <p:spPr>
              <a:xfrm rot="5400000">
                <a:off x="829999" y="191084"/>
                <a:ext cx="1423669" cy="1238592"/>
              </a:xfrm>
              <a:prstGeom prst="hexagon">
                <a:avLst>
                  <a:gd name="adj" fmla="val 25000"/>
                  <a:gd name="vf" fmla="val 115470"/>
                </a:avLst>
              </a:prstGeom>
              <a:grpFill/>
              <a:ln w="25400">
                <a:noFill/>
              </a:ln>
              <a:sp3d prstMaterial="dkEdge">
                <a:bevelT w="8200" h="38100"/>
              </a:sp3d>
            </p:spPr>
            <p:style>
              <a:lnRef idx="0">
                <a:scrgbClr r="0" g="0" b="0"/>
              </a:lnRef>
              <a:fillRef idx="2">
                <a:scrgbClr r="0" g="0" b="0"/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67" name="六边形 6"/>
              <p:cNvSpPr/>
              <p:nvPr/>
            </p:nvSpPr>
            <p:spPr>
              <a:xfrm>
                <a:off x="1115551" y="320401"/>
                <a:ext cx="852564" cy="979959"/>
              </a:xfrm>
              <a:prstGeom prst="rect">
                <a:avLst/>
              </a:prstGeom>
              <a:grpFill/>
              <a:ln>
                <a:noFill/>
              </a:ln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</p:grpSp>
        <p:sp>
          <p:nvSpPr>
            <p:cNvPr id="65" name="矩形 64"/>
            <p:cNvSpPr/>
            <p:nvPr/>
          </p:nvSpPr>
          <p:spPr>
            <a:xfrm>
              <a:off x="4665530" y="1613921"/>
              <a:ext cx="813044" cy="76944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CN" sz="4400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01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4198398" y="4214813"/>
            <a:ext cx="1238592" cy="1423669"/>
            <a:chOff x="4503064" y="3696976"/>
            <a:chExt cx="1238592" cy="1423669"/>
          </a:xfrm>
        </p:grpSpPr>
        <p:grpSp>
          <p:nvGrpSpPr>
            <p:cNvPr id="56" name="组合 55"/>
            <p:cNvGrpSpPr/>
            <p:nvPr/>
          </p:nvGrpSpPr>
          <p:grpSpPr>
            <a:xfrm>
              <a:off x="4503064" y="3696976"/>
              <a:ext cx="1238592" cy="1423669"/>
              <a:chOff x="922538" y="2515367"/>
              <a:chExt cx="1238592" cy="1423669"/>
            </a:xfrm>
            <a:solidFill>
              <a:schemeClr val="accent4"/>
            </a:solidFill>
            <a:scene3d>
              <a:camera prst="orthographicFront"/>
              <a:lightRig rig="flat" dir="t"/>
            </a:scene3d>
          </p:grpSpPr>
          <p:sp>
            <p:nvSpPr>
              <p:cNvPr id="58" name="六边形 57"/>
              <p:cNvSpPr/>
              <p:nvPr/>
            </p:nvSpPr>
            <p:spPr>
              <a:xfrm rot="5400000">
                <a:off x="829999" y="2607906"/>
                <a:ext cx="1423669" cy="1238592"/>
              </a:xfrm>
              <a:prstGeom prst="hexagon">
                <a:avLst>
                  <a:gd name="adj" fmla="val 25000"/>
                  <a:gd name="vf" fmla="val 115470"/>
                </a:avLst>
              </a:prstGeom>
              <a:grpFill/>
              <a:ln w="25400">
                <a:noFill/>
              </a:ln>
              <a:sp3d prstMaterial="dkEdge">
                <a:bevelT w="8200" h="38100"/>
              </a:sp3d>
            </p:spPr>
            <p:style>
              <a:lnRef idx="0">
                <a:scrgbClr r="0" g="0" b="0"/>
              </a:lnRef>
              <a:fillRef idx="2">
                <a:scrgbClr r="0" g="0" b="0"/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59" name="六边形 12"/>
              <p:cNvSpPr/>
              <p:nvPr/>
            </p:nvSpPr>
            <p:spPr>
              <a:xfrm>
                <a:off x="1115551" y="2737223"/>
                <a:ext cx="852564" cy="979959"/>
              </a:xfrm>
              <a:prstGeom prst="rect">
                <a:avLst/>
              </a:prstGeom>
              <a:grpFill/>
              <a:ln>
                <a:noFill/>
              </a:ln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0" tIns="0" rIns="0" bIns="0" numCol="1" spcCol="1270" anchor="ctr" anchorCtr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3600" dirty="0"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</p:grpSp>
        <p:sp>
          <p:nvSpPr>
            <p:cNvPr id="57" name="矩形 56"/>
            <p:cNvSpPr/>
            <p:nvPr/>
          </p:nvSpPr>
          <p:spPr>
            <a:xfrm>
              <a:off x="4688497" y="4014043"/>
              <a:ext cx="813043" cy="76944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CN" sz="4400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02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7451927" y="2732607"/>
            <a:ext cx="1238592" cy="1423669"/>
            <a:chOff x="5840744" y="3696976"/>
            <a:chExt cx="1238592" cy="1423669"/>
          </a:xfrm>
        </p:grpSpPr>
        <p:grpSp>
          <p:nvGrpSpPr>
            <p:cNvPr id="52" name="组合 51"/>
            <p:cNvGrpSpPr/>
            <p:nvPr/>
          </p:nvGrpSpPr>
          <p:grpSpPr>
            <a:xfrm>
              <a:off x="5840744" y="3696976"/>
              <a:ext cx="1238592" cy="1423669"/>
              <a:chOff x="2260218" y="2515367"/>
              <a:chExt cx="1238592" cy="1423669"/>
            </a:xfrm>
            <a:solidFill>
              <a:schemeClr val="accent3"/>
            </a:solidFill>
            <a:scene3d>
              <a:camera prst="orthographicFront"/>
              <a:lightRig rig="flat" dir="t"/>
            </a:scene3d>
          </p:grpSpPr>
          <p:sp>
            <p:nvSpPr>
              <p:cNvPr id="54" name="六边形 53"/>
              <p:cNvSpPr/>
              <p:nvPr/>
            </p:nvSpPr>
            <p:spPr>
              <a:xfrm rot="5400000">
                <a:off x="2167679" y="2607906"/>
                <a:ext cx="1423669" cy="1238592"/>
              </a:xfrm>
              <a:prstGeom prst="hexagon">
                <a:avLst>
                  <a:gd name="adj" fmla="val 25000"/>
                  <a:gd name="vf" fmla="val 115470"/>
                </a:avLst>
              </a:prstGeom>
              <a:grpFill/>
              <a:ln w="25400">
                <a:noFill/>
              </a:ln>
              <a:sp3d prstMaterial="dkEdge">
                <a:bevelT w="8200" h="38100"/>
              </a:sp3d>
            </p:spPr>
            <p:style>
              <a:lnRef idx="0">
                <a:scrgbClr r="0" g="0" b="0"/>
              </a:lnRef>
              <a:fillRef idx="2">
                <a:scrgbClr r="0" g="0" b="0"/>
              </a:fillRef>
              <a:effectRef idx="1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/>
              </a:fontRef>
            </p:style>
            <p:txBody>
              <a:bodyPr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55" name="六边形 10"/>
              <p:cNvSpPr/>
              <p:nvPr/>
            </p:nvSpPr>
            <p:spPr>
              <a:xfrm>
                <a:off x="2453231" y="2737223"/>
                <a:ext cx="852564" cy="979959"/>
              </a:xfrm>
              <a:prstGeom prst="rect">
                <a:avLst/>
              </a:prstGeom>
              <a:grpFill/>
              <a:ln>
                <a:noFill/>
              </a:ln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79071" tIns="179071" rIns="179071" bIns="179071" numCol="1" spcCol="1270" anchor="ctr" anchorCtr="0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 defTabSz="20891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en-US" sz="4700" dirty="0"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</p:grpSp>
        <p:sp>
          <p:nvSpPr>
            <p:cNvPr id="53" name="矩形 52"/>
            <p:cNvSpPr/>
            <p:nvPr/>
          </p:nvSpPr>
          <p:spPr>
            <a:xfrm>
              <a:off x="6098703" y="4011891"/>
              <a:ext cx="813044" cy="769441"/>
            </a:xfrm>
            <a:prstGeom prst="rect">
              <a:avLst/>
            </a:prstGeom>
          </p:spPr>
          <p:txBody>
            <a:bodyPr wrap="none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/>
              <a:r>
                <a:rPr lang="en-US" altLang="zh-CN" sz="4400" b="1" dirty="0">
                  <a:solidFill>
                    <a:prstClr val="white"/>
                  </a:solidFill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rPr>
                <a:t>03</a:t>
              </a:r>
            </a:p>
          </p:txBody>
        </p:sp>
      </p:grpSp>
      <p:sp>
        <p:nvSpPr>
          <p:cNvPr id="44" name="MH_Text_1"/>
          <p:cNvSpPr/>
          <p:nvPr/>
        </p:nvSpPr>
        <p:spPr>
          <a:xfrm>
            <a:off x="750104" y="2010276"/>
            <a:ext cx="3285121" cy="387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9981" tIns="0" rIns="159981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indent="-381000" algn="ctr">
              <a:lnSpc>
                <a:spcPct val="120000"/>
              </a:lnSpc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sz="1900" b="1" dirty="0">
                <a:solidFill>
                  <a:schemeClr val="accent1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交友匹配度</a:t>
            </a:r>
            <a:endParaRPr lang="en-US" altLang="zh-CN" sz="1900" b="1" dirty="0">
              <a:solidFill>
                <a:schemeClr val="accent1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sp>
        <p:nvSpPr>
          <p:cNvPr id="45" name="MH_Text_1"/>
          <p:cNvSpPr/>
          <p:nvPr/>
        </p:nvSpPr>
        <p:spPr>
          <a:xfrm>
            <a:off x="342900" y="2491267"/>
            <a:ext cx="4234696" cy="7487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9981" tIns="0" rIns="159981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/>
              </a:rPr>
              <a:t>算法存在优化空间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/>
              </a:rPr>
              <a:t>小环境里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/>
              </a:rPr>
              <a:t>校园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/>
              </a:rPr>
              <a:t>)</a:t>
            </a: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/>
              </a:rPr>
              <a:t>可以使用更复杂算法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48" name="MH_Text_1"/>
          <p:cNvSpPr/>
          <p:nvPr/>
        </p:nvSpPr>
        <p:spPr>
          <a:xfrm>
            <a:off x="9242622" y="2919934"/>
            <a:ext cx="2496051" cy="387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9981" tIns="0" rIns="159981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indent="-381000">
              <a:lnSpc>
                <a:spcPct val="120000"/>
              </a:lnSpc>
              <a:buClr>
                <a:schemeClr val="accent3"/>
              </a:buClr>
              <a:buFont typeface="Wingdings" panose="05000000000000000000" pitchFamily="2" charset="2"/>
              <a:buChar char="n"/>
            </a:pPr>
            <a:r>
              <a:rPr lang="zh-CN" altLang="en-US" sz="1900" b="1" dirty="0">
                <a:solidFill>
                  <a:srgbClr val="1B587C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社区环境</a:t>
            </a:r>
            <a:endParaRPr lang="en-US" altLang="zh-CN" sz="1900" b="1" dirty="0">
              <a:solidFill>
                <a:srgbClr val="1B587C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sp>
        <p:nvSpPr>
          <p:cNvPr id="49" name="MH_Text_1"/>
          <p:cNvSpPr/>
          <p:nvPr/>
        </p:nvSpPr>
        <p:spPr>
          <a:xfrm>
            <a:off x="8971563" y="3236512"/>
            <a:ext cx="2877537" cy="7487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9981" tIns="0" rIns="159981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zh-CN" sz="18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社区环境对年轻人不友好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50" name="MH_Text_1"/>
          <p:cNvSpPr/>
          <p:nvPr/>
        </p:nvSpPr>
        <p:spPr>
          <a:xfrm>
            <a:off x="897309" y="4411342"/>
            <a:ext cx="3301087" cy="387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9981" tIns="0" rIns="159981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0" indent="-381000" algn="ctr">
              <a:lnSpc>
                <a:spcPct val="120000"/>
              </a:lnSpc>
              <a:buClr>
                <a:schemeClr val="accent4"/>
              </a:buClr>
              <a:buFont typeface="Wingdings" panose="05000000000000000000" pitchFamily="2" charset="2"/>
              <a:buChar char="n"/>
            </a:pPr>
            <a:r>
              <a:rPr lang="zh-CN" altLang="en-US" sz="1900" b="1" dirty="0">
                <a:solidFill>
                  <a:srgbClr val="4E8542"/>
                </a:solidFill>
                <a:latin typeface="Arial" panose="020B0604020202020204"/>
                <a:ea typeface="微软雅黑" panose="020B0503020204020204" pitchFamily="34" charset="-122"/>
                <a:cs typeface="+mn-ea"/>
                <a:sym typeface="Arial" panose="020B0604020202020204"/>
              </a:rPr>
              <a:t>个人隐私保护</a:t>
            </a:r>
            <a:endParaRPr lang="en-US" altLang="zh-CN" sz="1900" b="1" dirty="0">
              <a:solidFill>
                <a:srgbClr val="4E8542"/>
              </a:solidFill>
              <a:latin typeface="Arial" panose="020B0604020202020204"/>
              <a:ea typeface="微软雅黑" panose="020B0503020204020204" pitchFamily="34" charset="-122"/>
              <a:cs typeface="+mn-ea"/>
              <a:sym typeface="Arial" panose="020B0604020202020204"/>
            </a:endParaRPr>
          </a:p>
        </p:txBody>
      </p:sp>
      <p:sp>
        <p:nvSpPr>
          <p:cNvPr id="51" name="MH_Text_1"/>
          <p:cNvSpPr/>
          <p:nvPr/>
        </p:nvSpPr>
        <p:spPr>
          <a:xfrm>
            <a:off x="1040956" y="4913154"/>
            <a:ext cx="2877537" cy="74874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9981" tIns="0" rIns="159981" bIns="0" rtlCol="0" anchor="t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/>
              </a:rPr>
              <a:t>用户特征需进行加密保护</a:t>
            </a:r>
            <a:endParaRPr lang="en-US" altLang="zh-CN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/>
            </a:endParaRPr>
          </a:p>
        </p:txBody>
      </p:sp>
      <p:sp>
        <p:nvSpPr>
          <p:cNvPr id="71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产品介绍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791749" y="545318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zh-CN" sz="20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产品介绍</a:t>
            </a:r>
            <a:endParaRPr lang="zh-CN" altLang="en-US" sz="2800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442253" y="1893424"/>
            <a:ext cx="6208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131B26"/>
                </a:solidFill>
                <a:effectLst/>
                <a:latin typeface="SF Pro Display"/>
              </a:rPr>
              <a:t>我们如何才能为</a:t>
            </a:r>
            <a:r>
              <a:rPr lang="en-US" altLang="zh-CN" b="0" i="0" dirty="0">
                <a:solidFill>
                  <a:srgbClr val="131B26"/>
                </a:solidFill>
                <a:effectLst/>
                <a:latin typeface="SF Pro Display"/>
              </a:rPr>
              <a:t>18~25</a:t>
            </a:r>
            <a:r>
              <a:rPr lang="zh-CN" altLang="en-US" b="0" i="0" dirty="0">
                <a:solidFill>
                  <a:srgbClr val="131B26"/>
                </a:solidFill>
                <a:effectLst/>
                <a:latin typeface="SF Pro Display"/>
              </a:rPr>
              <a:t>岁的学生提供一个环境友好，隐私保护，</a:t>
            </a:r>
            <a:r>
              <a:rPr lang="zh-CN" altLang="en-US" dirty="0">
                <a:solidFill>
                  <a:srgbClr val="131B26"/>
                </a:solidFill>
                <a:latin typeface="SF Pro Display"/>
              </a:rPr>
              <a:t>方便</a:t>
            </a:r>
            <a:r>
              <a:rPr lang="zh-CN" altLang="en-US" b="0" i="0" dirty="0">
                <a:solidFill>
                  <a:srgbClr val="131B26"/>
                </a:solidFill>
                <a:effectLst/>
                <a:latin typeface="SF Pro Display"/>
              </a:rPr>
              <a:t>的异性交友方案，使他们获得更加友好的</a:t>
            </a:r>
            <a:r>
              <a:rPr lang="zh-CN" altLang="en-US" dirty="0">
                <a:solidFill>
                  <a:srgbClr val="131B26"/>
                </a:solidFill>
                <a:latin typeface="SF Pro Display"/>
              </a:rPr>
              <a:t>恋爱</a:t>
            </a:r>
            <a:r>
              <a:rPr lang="zh-CN" altLang="en-US" b="0" i="0" dirty="0">
                <a:solidFill>
                  <a:srgbClr val="131B26"/>
                </a:solidFill>
                <a:effectLst/>
                <a:latin typeface="SF Pro Display"/>
              </a:rPr>
              <a:t>体验</a:t>
            </a:r>
            <a:endParaRPr lang="zh-CN" altLang="en-US" dirty="0"/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419604" y="1224276"/>
            <a:ext cx="10515600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 dirty="0"/>
              <a:t>HMW</a:t>
            </a:r>
            <a:r>
              <a:rPr lang="zh-CN" altLang="en-US" dirty="0"/>
              <a:t>问题定义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1603499" y="3775708"/>
            <a:ext cx="2285875" cy="2378936"/>
            <a:chOff x="1573967" y="2098626"/>
            <a:chExt cx="2285875" cy="2378936"/>
          </a:xfrm>
        </p:grpSpPr>
        <p:grpSp>
          <p:nvGrpSpPr>
            <p:cNvPr id="28" name="组合 27"/>
            <p:cNvGrpSpPr/>
            <p:nvPr/>
          </p:nvGrpSpPr>
          <p:grpSpPr>
            <a:xfrm>
              <a:off x="2057547" y="3358225"/>
              <a:ext cx="1802295" cy="1119337"/>
              <a:chOff x="2057547" y="3646375"/>
              <a:chExt cx="1802295" cy="1119337"/>
            </a:xfrm>
          </p:grpSpPr>
          <p:sp>
            <p:nvSpPr>
              <p:cNvPr id="30" name="Parallelogram 15"/>
              <p:cNvSpPr/>
              <p:nvPr/>
            </p:nvSpPr>
            <p:spPr>
              <a:xfrm>
                <a:off x="2057547" y="3730423"/>
                <a:ext cx="1802295" cy="1035289"/>
              </a:xfrm>
              <a:prstGeom prst="parallelogram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31" name="Shape 196"/>
              <p:cNvSpPr/>
              <p:nvPr/>
            </p:nvSpPr>
            <p:spPr>
              <a:xfrm>
                <a:off x="2531417" y="3646375"/>
                <a:ext cx="877122" cy="76007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lang="zh-CN" altLang="en-US" sz="2400" b="1" kern="0" dirty="0">
                    <a:solidFill>
                      <a:srgbClr val="F5F5F5"/>
                    </a:solidFill>
                    <a:latin typeface="Arial" panose="020B0604020202020204"/>
                    <a:ea typeface="微软雅黑" panose="020B0503020204020204" pitchFamily="34" charset="-122"/>
                    <a:sym typeface="Arial" panose="020B0604020202020204"/>
                  </a:rPr>
                  <a:t>算法优化</a:t>
                </a: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</p:grpSp>
        <p:sp>
          <p:nvSpPr>
            <p:cNvPr id="29" name="平行四边形 28"/>
            <p:cNvSpPr/>
            <p:nvPr/>
          </p:nvSpPr>
          <p:spPr>
            <a:xfrm>
              <a:off x="1573967" y="2098626"/>
              <a:ext cx="2075326" cy="1454046"/>
            </a:xfrm>
            <a:prstGeom prst="parallelogram">
              <a:avLst/>
            </a:prstGeom>
            <a:blipFill>
              <a:blip r:embed="rId2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045819" y="3794675"/>
            <a:ext cx="2159426" cy="2380736"/>
            <a:chOff x="1573967" y="2098626"/>
            <a:chExt cx="2159426" cy="2380736"/>
          </a:xfrm>
        </p:grpSpPr>
        <p:grpSp>
          <p:nvGrpSpPr>
            <p:cNvPr id="24" name="组合 23"/>
            <p:cNvGrpSpPr/>
            <p:nvPr/>
          </p:nvGrpSpPr>
          <p:grpSpPr>
            <a:xfrm>
              <a:off x="1931098" y="3339258"/>
              <a:ext cx="1802295" cy="1140104"/>
              <a:chOff x="1931098" y="3627408"/>
              <a:chExt cx="1802295" cy="1140104"/>
            </a:xfrm>
          </p:grpSpPr>
          <p:sp>
            <p:nvSpPr>
              <p:cNvPr id="26" name="Parallelogram 15"/>
              <p:cNvSpPr/>
              <p:nvPr/>
            </p:nvSpPr>
            <p:spPr>
              <a:xfrm>
                <a:off x="1931098" y="3732223"/>
                <a:ext cx="1802295" cy="1035289"/>
              </a:xfrm>
              <a:prstGeom prst="parallelogram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27" name="Shape 196"/>
              <p:cNvSpPr/>
              <p:nvPr/>
            </p:nvSpPr>
            <p:spPr>
              <a:xfrm>
                <a:off x="2441734" y="3627408"/>
                <a:ext cx="877122" cy="76007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  <a:p>
                <a:pPr marL="0" marR="0" indent="0" algn="ctr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zh-CN" sz="2400" b="1" dirty="0">
                    <a:solidFill>
                      <a:srgbClr val="F5F5F5"/>
                    </a:solidFill>
                    <a:effectLst/>
                    <a:latin typeface="Arial" panose="020B0604020202020204" pitchFamily="34" charset="0"/>
                    <a:ea typeface="微软雅黑" panose="020B0503020204020204" pitchFamily="34" charset="-122"/>
                    <a:cs typeface="+mn-cs"/>
                  </a:rPr>
                  <a:t>隐私保护</a:t>
                </a:r>
                <a:endParaRPr lang="zh-CN" altLang="zh-CN" sz="3600" dirty="0">
                  <a:effectLst/>
                </a:endParaRPr>
              </a:p>
            </p:txBody>
          </p:sp>
        </p:grpSp>
        <p:sp>
          <p:nvSpPr>
            <p:cNvPr id="25" name="平行四边形 24"/>
            <p:cNvSpPr/>
            <p:nvPr/>
          </p:nvSpPr>
          <p:spPr>
            <a:xfrm>
              <a:off x="1573967" y="2098626"/>
              <a:ext cx="2075326" cy="1454046"/>
            </a:xfrm>
            <a:prstGeom prst="parallelogram">
              <a:avLst/>
            </a:prstGeom>
            <a:blipFill>
              <a:blip r:embed="rId3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8425658" y="3775708"/>
            <a:ext cx="2221906" cy="2399702"/>
            <a:chOff x="1573967" y="2098626"/>
            <a:chExt cx="2221906" cy="2399702"/>
          </a:xfrm>
        </p:grpSpPr>
        <p:grpSp>
          <p:nvGrpSpPr>
            <p:cNvPr id="20" name="组合 19"/>
            <p:cNvGrpSpPr/>
            <p:nvPr/>
          </p:nvGrpSpPr>
          <p:grpSpPr>
            <a:xfrm>
              <a:off x="1993578" y="3377275"/>
              <a:ext cx="1802295" cy="1121053"/>
              <a:chOff x="1993578" y="3665425"/>
              <a:chExt cx="1802295" cy="1121053"/>
            </a:xfrm>
          </p:grpSpPr>
          <p:sp>
            <p:nvSpPr>
              <p:cNvPr id="22" name="Parallelogram 15"/>
              <p:cNvSpPr/>
              <p:nvPr/>
            </p:nvSpPr>
            <p:spPr>
              <a:xfrm>
                <a:off x="1993578" y="3751189"/>
                <a:ext cx="1802295" cy="1035289"/>
              </a:xfrm>
              <a:prstGeom prst="parallelogram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b="1" i="0" u="none" strike="noStrike" kern="0" cap="none" spc="0" normalizeH="0" baseline="0" noProof="0" dirty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  <p:sp>
            <p:nvSpPr>
              <p:cNvPr id="23" name="Shape 196"/>
              <p:cNvSpPr/>
              <p:nvPr/>
            </p:nvSpPr>
            <p:spPr>
              <a:xfrm>
                <a:off x="2557764" y="3665425"/>
                <a:ext cx="877122" cy="76007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lIns="25400" tIns="25400" rIns="25400" bIns="2540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  <a:p>
                <a:pPr marL="0" marR="0" lvl="0" indent="0" algn="ctr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5F5F5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sym typeface="Arial" panose="020B0604020202020204"/>
                  </a:rPr>
                  <a:t>社区维护</a:t>
                </a:r>
                <a:endParaRPr kumimoji="0" 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5F5F5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sym typeface="Arial" panose="020B0604020202020204"/>
                </a:endParaRPr>
              </a:p>
            </p:txBody>
          </p:sp>
        </p:grpSp>
        <p:sp>
          <p:nvSpPr>
            <p:cNvPr id="21" name="平行四边形 20"/>
            <p:cNvSpPr/>
            <p:nvPr/>
          </p:nvSpPr>
          <p:spPr>
            <a:xfrm>
              <a:off x="1573967" y="2098626"/>
              <a:ext cx="2075326" cy="1454046"/>
            </a:xfrm>
            <a:prstGeom prst="parallelogram">
              <a:avLst/>
            </a:prstGeom>
            <a:blipFill>
              <a:blip r:embed="rId4" cstate="screen"/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Arial" panose="020B0604020202020204"/>
                <a:ea typeface="微软雅黑" panose="020B0503020204020204" pitchFamily="34" charset="-122"/>
                <a:sym typeface="Arial" panose="020B0604020202020204"/>
              </a:endParaRPr>
            </a:p>
          </p:txBody>
        </p:sp>
      </p:grpSp>
      <p:sp>
        <p:nvSpPr>
          <p:cNvPr id="32" name="标题 1"/>
          <p:cNvSpPr>
            <a:spLocks noGrp="1"/>
          </p:cNvSpPr>
          <p:nvPr/>
        </p:nvSpPr>
        <p:spPr>
          <a:xfrm>
            <a:off x="1184625" y="2923604"/>
            <a:ext cx="2253446" cy="516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marL="457200" indent="-45720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  <a:defRPr sz="2800" b="1" kern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>
              <a:buNone/>
            </a:pPr>
            <a:r>
              <a:rPr lang="zh-CN" altLang="en-US" sz="2000" dirty="0"/>
              <a:t>核心技术定义</a:t>
            </a:r>
          </a:p>
        </p:txBody>
      </p:sp>
      <p:grpSp>
        <p:nvGrpSpPr>
          <p:cNvPr id="33" name="组合 3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/>
        </p:nvGrpSpPr>
        <p:grpSpPr>
          <a:xfrm>
            <a:off x="7811414" y="1363802"/>
            <a:ext cx="3866224" cy="1562824"/>
            <a:chOff x="1652575" y="1632857"/>
            <a:chExt cx="8886851" cy="3592286"/>
          </a:xfrm>
        </p:grpSpPr>
        <p:sp>
          <p:nvSpPr>
            <p:cNvPr id="34" name="ïSḻíḑe"/>
            <p:cNvSpPr/>
            <p:nvPr/>
          </p:nvSpPr>
          <p:spPr bwMode="auto">
            <a:xfrm>
              <a:off x="1652575" y="4745176"/>
              <a:ext cx="8886851" cy="479967"/>
            </a:xfrm>
            <a:custGeom>
              <a:avLst/>
              <a:gdLst>
                <a:gd name="T0" fmla="*/ 1791 w 2005"/>
                <a:gd name="T1" fmla="*/ 23 h 108"/>
                <a:gd name="T2" fmla="*/ 1690 w 2005"/>
                <a:gd name="T3" fmla="*/ 29 h 108"/>
                <a:gd name="T4" fmla="*/ 1004 w 2005"/>
                <a:gd name="T5" fmla="*/ 0 h 108"/>
                <a:gd name="T6" fmla="*/ 340 w 2005"/>
                <a:gd name="T7" fmla="*/ 19 h 108"/>
                <a:gd name="T8" fmla="*/ 212 w 2005"/>
                <a:gd name="T9" fmla="*/ 20 h 108"/>
                <a:gd name="T10" fmla="*/ 0 w 2005"/>
                <a:gd name="T11" fmla="*/ 41 h 108"/>
                <a:gd name="T12" fmla="*/ 212 w 2005"/>
                <a:gd name="T13" fmla="*/ 62 h 108"/>
                <a:gd name="T14" fmla="*/ 376 w 2005"/>
                <a:gd name="T15" fmla="*/ 54 h 108"/>
                <a:gd name="T16" fmla="*/ 1004 w 2005"/>
                <a:gd name="T17" fmla="*/ 75 h 108"/>
                <a:gd name="T18" fmla="*/ 1580 w 2005"/>
                <a:gd name="T19" fmla="*/ 59 h 108"/>
                <a:gd name="T20" fmla="*/ 1577 w 2005"/>
                <a:gd name="T21" fmla="*/ 66 h 108"/>
                <a:gd name="T22" fmla="*/ 1791 w 2005"/>
                <a:gd name="T23" fmla="*/ 108 h 108"/>
                <a:gd name="T24" fmla="*/ 2005 w 2005"/>
                <a:gd name="T25" fmla="*/ 66 h 108"/>
                <a:gd name="T26" fmla="*/ 1791 w 2005"/>
                <a:gd name="T27" fmla="*/ 23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05" h="108">
                  <a:moveTo>
                    <a:pt x="1791" y="23"/>
                  </a:moveTo>
                  <a:cubicBezTo>
                    <a:pt x="1754" y="23"/>
                    <a:pt x="1720" y="25"/>
                    <a:pt x="1690" y="29"/>
                  </a:cubicBezTo>
                  <a:cubicBezTo>
                    <a:pt x="1614" y="12"/>
                    <a:pt x="1336" y="0"/>
                    <a:pt x="1004" y="0"/>
                  </a:cubicBezTo>
                  <a:cubicBezTo>
                    <a:pt x="701" y="0"/>
                    <a:pt x="439" y="4"/>
                    <a:pt x="340" y="19"/>
                  </a:cubicBezTo>
                  <a:cubicBezTo>
                    <a:pt x="304" y="16"/>
                    <a:pt x="261" y="20"/>
                    <a:pt x="212" y="20"/>
                  </a:cubicBezTo>
                  <a:cubicBezTo>
                    <a:pt x="95" y="20"/>
                    <a:pt x="0" y="30"/>
                    <a:pt x="0" y="41"/>
                  </a:cubicBezTo>
                  <a:cubicBezTo>
                    <a:pt x="0" y="53"/>
                    <a:pt x="95" y="62"/>
                    <a:pt x="212" y="62"/>
                  </a:cubicBezTo>
                  <a:cubicBezTo>
                    <a:pt x="278" y="62"/>
                    <a:pt x="337" y="59"/>
                    <a:pt x="376" y="54"/>
                  </a:cubicBezTo>
                  <a:cubicBezTo>
                    <a:pt x="493" y="66"/>
                    <a:pt x="730" y="75"/>
                    <a:pt x="1004" y="75"/>
                  </a:cubicBezTo>
                  <a:cubicBezTo>
                    <a:pt x="1242" y="75"/>
                    <a:pt x="1452" y="68"/>
                    <a:pt x="1580" y="59"/>
                  </a:cubicBezTo>
                  <a:cubicBezTo>
                    <a:pt x="1578" y="61"/>
                    <a:pt x="1577" y="63"/>
                    <a:pt x="1577" y="66"/>
                  </a:cubicBezTo>
                  <a:cubicBezTo>
                    <a:pt x="1577" y="89"/>
                    <a:pt x="1673" y="108"/>
                    <a:pt x="1791" y="108"/>
                  </a:cubicBezTo>
                  <a:cubicBezTo>
                    <a:pt x="1910" y="108"/>
                    <a:pt x="2005" y="89"/>
                    <a:pt x="2005" y="66"/>
                  </a:cubicBezTo>
                  <a:cubicBezTo>
                    <a:pt x="2005" y="42"/>
                    <a:pt x="1910" y="23"/>
                    <a:pt x="1791" y="23"/>
                  </a:cubicBezTo>
                </a:path>
              </a:pathLst>
            </a:custGeom>
            <a:solidFill>
              <a:srgbClr val="AEB6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" name="ïşľîḓe"/>
            <p:cNvSpPr/>
            <p:nvPr/>
          </p:nvSpPr>
          <p:spPr bwMode="auto">
            <a:xfrm>
              <a:off x="3273796" y="4391067"/>
              <a:ext cx="5797998" cy="586627"/>
            </a:xfrm>
            <a:custGeom>
              <a:avLst/>
              <a:gdLst>
                <a:gd name="T0" fmla="*/ 0 w 2718"/>
                <a:gd name="T1" fmla="*/ 175 h 275"/>
                <a:gd name="T2" fmla="*/ 584 w 2718"/>
                <a:gd name="T3" fmla="*/ 196 h 275"/>
                <a:gd name="T4" fmla="*/ 2685 w 2718"/>
                <a:gd name="T5" fmla="*/ 275 h 275"/>
                <a:gd name="T6" fmla="*/ 2706 w 2718"/>
                <a:gd name="T7" fmla="*/ 108 h 275"/>
                <a:gd name="T8" fmla="*/ 2718 w 2718"/>
                <a:gd name="T9" fmla="*/ 0 h 275"/>
                <a:gd name="T10" fmla="*/ 0 w 2718"/>
                <a:gd name="T11" fmla="*/ 1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18" h="275">
                  <a:moveTo>
                    <a:pt x="0" y="175"/>
                  </a:moveTo>
                  <a:lnTo>
                    <a:pt x="584" y="196"/>
                  </a:lnTo>
                  <a:lnTo>
                    <a:pt x="2685" y="275"/>
                  </a:lnTo>
                  <a:lnTo>
                    <a:pt x="2706" y="108"/>
                  </a:lnTo>
                  <a:lnTo>
                    <a:pt x="2718" y="0"/>
                  </a:lnTo>
                  <a:lnTo>
                    <a:pt x="0" y="175"/>
                  </a:lnTo>
                  <a:close/>
                </a:path>
              </a:pathLst>
            </a:custGeom>
            <a:solidFill>
              <a:srgbClr val="6165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6" name="ïŝļiḑè"/>
            <p:cNvSpPr/>
            <p:nvPr/>
          </p:nvSpPr>
          <p:spPr bwMode="auto">
            <a:xfrm>
              <a:off x="3273796" y="4391067"/>
              <a:ext cx="5797998" cy="586627"/>
            </a:xfrm>
            <a:custGeom>
              <a:avLst/>
              <a:gdLst>
                <a:gd name="T0" fmla="*/ 0 w 2718"/>
                <a:gd name="T1" fmla="*/ 175 h 275"/>
                <a:gd name="T2" fmla="*/ 584 w 2718"/>
                <a:gd name="T3" fmla="*/ 196 h 275"/>
                <a:gd name="T4" fmla="*/ 2685 w 2718"/>
                <a:gd name="T5" fmla="*/ 275 h 275"/>
                <a:gd name="T6" fmla="*/ 2706 w 2718"/>
                <a:gd name="T7" fmla="*/ 108 h 275"/>
                <a:gd name="T8" fmla="*/ 2718 w 2718"/>
                <a:gd name="T9" fmla="*/ 0 h 275"/>
                <a:gd name="T10" fmla="*/ 0 w 2718"/>
                <a:gd name="T11" fmla="*/ 175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718" h="275">
                  <a:moveTo>
                    <a:pt x="0" y="175"/>
                  </a:moveTo>
                  <a:lnTo>
                    <a:pt x="584" y="196"/>
                  </a:lnTo>
                  <a:lnTo>
                    <a:pt x="2685" y="275"/>
                  </a:lnTo>
                  <a:lnTo>
                    <a:pt x="2706" y="108"/>
                  </a:lnTo>
                  <a:lnTo>
                    <a:pt x="2718" y="0"/>
                  </a:lnTo>
                  <a:lnTo>
                    <a:pt x="0" y="175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7" name="iṧlíḋè"/>
            <p:cNvSpPr/>
            <p:nvPr/>
          </p:nvSpPr>
          <p:spPr bwMode="auto">
            <a:xfrm>
              <a:off x="3979881" y="4510525"/>
              <a:ext cx="5079115" cy="298646"/>
            </a:xfrm>
            <a:custGeom>
              <a:avLst/>
              <a:gdLst>
                <a:gd name="T0" fmla="*/ 2381 w 2381"/>
                <a:gd name="T1" fmla="*/ 0 h 140"/>
                <a:gd name="T2" fmla="*/ 0 w 2381"/>
                <a:gd name="T3" fmla="*/ 131 h 140"/>
                <a:gd name="T4" fmla="*/ 253 w 2381"/>
                <a:gd name="T5" fmla="*/ 140 h 140"/>
                <a:gd name="T6" fmla="*/ 2375 w 2381"/>
                <a:gd name="T7" fmla="*/ 52 h 140"/>
                <a:gd name="T8" fmla="*/ 2381 w 2381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1" h="140">
                  <a:moveTo>
                    <a:pt x="2381" y="0"/>
                  </a:moveTo>
                  <a:lnTo>
                    <a:pt x="0" y="131"/>
                  </a:lnTo>
                  <a:lnTo>
                    <a:pt x="253" y="140"/>
                  </a:lnTo>
                  <a:lnTo>
                    <a:pt x="2375" y="52"/>
                  </a:lnTo>
                  <a:lnTo>
                    <a:pt x="2381" y="0"/>
                  </a:lnTo>
                  <a:close/>
                </a:path>
              </a:pathLst>
            </a:custGeom>
            <a:solidFill>
              <a:srgbClr val="4C4F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8" name="íṡ1ïďé"/>
            <p:cNvSpPr/>
            <p:nvPr/>
          </p:nvSpPr>
          <p:spPr bwMode="auto">
            <a:xfrm>
              <a:off x="3979881" y="4510525"/>
              <a:ext cx="5079115" cy="298646"/>
            </a:xfrm>
            <a:custGeom>
              <a:avLst/>
              <a:gdLst>
                <a:gd name="T0" fmla="*/ 2381 w 2381"/>
                <a:gd name="T1" fmla="*/ 0 h 140"/>
                <a:gd name="T2" fmla="*/ 0 w 2381"/>
                <a:gd name="T3" fmla="*/ 131 h 140"/>
                <a:gd name="T4" fmla="*/ 253 w 2381"/>
                <a:gd name="T5" fmla="*/ 140 h 140"/>
                <a:gd name="T6" fmla="*/ 2375 w 2381"/>
                <a:gd name="T7" fmla="*/ 52 h 140"/>
                <a:gd name="T8" fmla="*/ 2381 w 2381"/>
                <a:gd name="T9" fmla="*/ 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81" h="140">
                  <a:moveTo>
                    <a:pt x="2381" y="0"/>
                  </a:moveTo>
                  <a:lnTo>
                    <a:pt x="0" y="131"/>
                  </a:lnTo>
                  <a:lnTo>
                    <a:pt x="253" y="140"/>
                  </a:lnTo>
                  <a:lnTo>
                    <a:pt x="2375" y="52"/>
                  </a:lnTo>
                  <a:lnTo>
                    <a:pt x="238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9" name="işḷîďê"/>
            <p:cNvSpPr/>
            <p:nvPr/>
          </p:nvSpPr>
          <p:spPr bwMode="auto">
            <a:xfrm>
              <a:off x="3158604" y="2661052"/>
              <a:ext cx="5576147" cy="2103321"/>
            </a:xfrm>
            <a:custGeom>
              <a:avLst/>
              <a:gdLst>
                <a:gd name="T0" fmla="*/ 2477 w 2614"/>
                <a:gd name="T1" fmla="*/ 0 h 986"/>
                <a:gd name="T2" fmla="*/ 2525 w 2614"/>
                <a:gd name="T3" fmla="*/ 52 h 986"/>
                <a:gd name="T4" fmla="*/ 2614 w 2614"/>
                <a:gd name="T5" fmla="*/ 150 h 986"/>
                <a:gd name="T6" fmla="*/ 54 w 2614"/>
                <a:gd name="T7" fmla="*/ 986 h 986"/>
                <a:gd name="T8" fmla="*/ 0 w 2614"/>
                <a:gd name="T9" fmla="*/ 986 h 986"/>
                <a:gd name="T10" fmla="*/ 75 w 2614"/>
                <a:gd name="T11" fmla="*/ 915 h 986"/>
                <a:gd name="T12" fmla="*/ 1621 w 2614"/>
                <a:gd name="T13" fmla="*/ 275 h 986"/>
                <a:gd name="T14" fmla="*/ 2477 w 2614"/>
                <a:gd name="T15" fmla="*/ 0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14" h="986">
                  <a:moveTo>
                    <a:pt x="2477" y="0"/>
                  </a:moveTo>
                  <a:lnTo>
                    <a:pt x="2525" y="52"/>
                  </a:lnTo>
                  <a:lnTo>
                    <a:pt x="2614" y="150"/>
                  </a:lnTo>
                  <a:lnTo>
                    <a:pt x="54" y="986"/>
                  </a:lnTo>
                  <a:lnTo>
                    <a:pt x="0" y="986"/>
                  </a:lnTo>
                  <a:lnTo>
                    <a:pt x="75" y="915"/>
                  </a:lnTo>
                  <a:lnTo>
                    <a:pt x="1621" y="275"/>
                  </a:lnTo>
                  <a:lnTo>
                    <a:pt x="2477" y="0"/>
                  </a:lnTo>
                  <a:close/>
                </a:path>
              </a:pathLst>
            </a:custGeom>
            <a:solidFill>
              <a:srgbClr val="8186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0" name="îSľïḋe"/>
            <p:cNvSpPr/>
            <p:nvPr/>
          </p:nvSpPr>
          <p:spPr bwMode="auto">
            <a:xfrm>
              <a:off x="3158604" y="2661052"/>
              <a:ext cx="5576147" cy="2103321"/>
            </a:xfrm>
            <a:custGeom>
              <a:avLst/>
              <a:gdLst>
                <a:gd name="T0" fmla="*/ 2477 w 2614"/>
                <a:gd name="T1" fmla="*/ 0 h 986"/>
                <a:gd name="T2" fmla="*/ 2525 w 2614"/>
                <a:gd name="T3" fmla="*/ 52 h 986"/>
                <a:gd name="T4" fmla="*/ 2614 w 2614"/>
                <a:gd name="T5" fmla="*/ 150 h 986"/>
                <a:gd name="T6" fmla="*/ 54 w 2614"/>
                <a:gd name="T7" fmla="*/ 986 h 986"/>
                <a:gd name="T8" fmla="*/ 0 w 2614"/>
                <a:gd name="T9" fmla="*/ 986 h 986"/>
                <a:gd name="T10" fmla="*/ 75 w 2614"/>
                <a:gd name="T11" fmla="*/ 915 h 986"/>
                <a:gd name="T12" fmla="*/ 1621 w 2614"/>
                <a:gd name="T13" fmla="*/ 275 h 986"/>
                <a:gd name="T14" fmla="*/ 2477 w 2614"/>
                <a:gd name="T15" fmla="*/ 0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14" h="986">
                  <a:moveTo>
                    <a:pt x="2477" y="0"/>
                  </a:moveTo>
                  <a:lnTo>
                    <a:pt x="2525" y="52"/>
                  </a:lnTo>
                  <a:lnTo>
                    <a:pt x="2614" y="150"/>
                  </a:lnTo>
                  <a:lnTo>
                    <a:pt x="54" y="986"/>
                  </a:lnTo>
                  <a:lnTo>
                    <a:pt x="0" y="986"/>
                  </a:lnTo>
                  <a:lnTo>
                    <a:pt x="75" y="915"/>
                  </a:lnTo>
                  <a:lnTo>
                    <a:pt x="1621" y="275"/>
                  </a:lnTo>
                  <a:lnTo>
                    <a:pt x="247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1" name="îšḻîḍé"/>
            <p:cNvSpPr/>
            <p:nvPr/>
          </p:nvSpPr>
          <p:spPr bwMode="auto">
            <a:xfrm>
              <a:off x="3342058" y="2718649"/>
              <a:ext cx="5202840" cy="1979596"/>
            </a:xfrm>
            <a:custGeom>
              <a:avLst/>
              <a:gdLst>
                <a:gd name="T0" fmla="*/ 1163 w 1174"/>
                <a:gd name="T1" fmla="*/ 0 h 446"/>
                <a:gd name="T2" fmla="*/ 1013 w 1174"/>
                <a:gd name="T3" fmla="*/ 57 h 446"/>
                <a:gd name="T4" fmla="*/ 935 w 1174"/>
                <a:gd name="T5" fmla="*/ 87 h 446"/>
                <a:gd name="T6" fmla="*/ 827 w 1174"/>
                <a:gd name="T7" fmla="*/ 129 h 446"/>
                <a:gd name="T8" fmla="*/ 14 w 1174"/>
                <a:gd name="T9" fmla="*/ 440 h 446"/>
                <a:gd name="T10" fmla="*/ 0 w 1174"/>
                <a:gd name="T11" fmla="*/ 445 h 446"/>
                <a:gd name="T12" fmla="*/ 0 w 1174"/>
                <a:gd name="T13" fmla="*/ 446 h 446"/>
                <a:gd name="T14" fmla="*/ 934 w 1174"/>
                <a:gd name="T15" fmla="*/ 101 h 446"/>
                <a:gd name="T16" fmla="*/ 938 w 1174"/>
                <a:gd name="T17" fmla="*/ 92 h 446"/>
                <a:gd name="T18" fmla="*/ 938 w 1174"/>
                <a:gd name="T19" fmla="*/ 92 h 446"/>
                <a:gd name="T20" fmla="*/ 974 w 1174"/>
                <a:gd name="T21" fmla="*/ 72 h 446"/>
                <a:gd name="T22" fmla="*/ 985 w 1174"/>
                <a:gd name="T23" fmla="*/ 78 h 446"/>
                <a:gd name="T24" fmla="*/ 1006 w 1174"/>
                <a:gd name="T25" fmla="*/ 71 h 446"/>
                <a:gd name="T26" fmla="*/ 1010 w 1174"/>
                <a:gd name="T27" fmla="*/ 73 h 446"/>
                <a:gd name="T28" fmla="*/ 1174 w 1174"/>
                <a:gd name="T29" fmla="*/ 12 h 446"/>
                <a:gd name="T30" fmla="*/ 1163 w 1174"/>
                <a:gd name="T31" fmla="*/ 0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74" h="446">
                  <a:moveTo>
                    <a:pt x="1163" y="0"/>
                  </a:moveTo>
                  <a:cubicBezTo>
                    <a:pt x="1013" y="57"/>
                    <a:pt x="1013" y="57"/>
                    <a:pt x="1013" y="57"/>
                  </a:cubicBezTo>
                  <a:cubicBezTo>
                    <a:pt x="935" y="87"/>
                    <a:pt x="935" y="87"/>
                    <a:pt x="935" y="87"/>
                  </a:cubicBezTo>
                  <a:cubicBezTo>
                    <a:pt x="827" y="129"/>
                    <a:pt x="827" y="129"/>
                    <a:pt x="827" y="129"/>
                  </a:cubicBezTo>
                  <a:cubicBezTo>
                    <a:pt x="14" y="440"/>
                    <a:pt x="14" y="440"/>
                    <a:pt x="14" y="4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46"/>
                    <a:pt x="0" y="446"/>
                    <a:pt x="0" y="446"/>
                  </a:cubicBezTo>
                  <a:cubicBezTo>
                    <a:pt x="934" y="101"/>
                    <a:pt x="934" y="101"/>
                    <a:pt x="934" y="101"/>
                  </a:cubicBezTo>
                  <a:cubicBezTo>
                    <a:pt x="936" y="96"/>
                    <a:pt x="938" y="92"/>
                    <a:pt x="938" y="92"/>
                  </a:cubicBezTo>
                  <a:cubicBezTo>
                    <a:pt x="938" y="92"/>
                    <a:pt x="938" y="92"/>
                    <a:pt x="938" y="92"/>
                  </a:cubicBezTo>
                  <a:cubicBezTo>
                    <a:pt x="974" y="72"/>
                    <a:pt x="974" y="72"/>
                    <a:pt x="974" y="72"/>
                  </a:cubicBezTo>
                  <a:cubicBezTo>
                    <a:pt x="974" y="72"/>
                    <a:pt x="976" y="78"/>
                    <a:pt x="985" y="78"/>
                  </a:cubicBezTo>
                  <a:cubicBezTo>
                    <a:pt x="994" y="78"/>
                    <a:pt x="1006" y="71"/>
                    <a:pt x="1006" y="71"/>
                  </a:cubicBezTo>
                  <a:cubicBezTo>
                    <a:pt x="1010" y="73"/>
                    <a:pt x="1010" y="73"/>
                    <a:pt x="1010" y="73"/>
                  </a:cubicBezTo>
                  <a:cubicBezTo>
                    <a:pt x="1174" y="12"/>
                    <a:pt x="1174" y="12"/>
                    <a:pt x="1174" y="12"/>
                  </a:cubicBezTo>
                  <a:cubicBezTo>
                    <a:pt x="1163" y="0"/>
                    <a:pt x="1163" y="0"/>
                    <a:pt x="1163" y="0"/>
                  </a:cubicBezTo>
                </a:path>
              </a:pathLst>
            </a:custGeom>
            <a:solidFill>
              <a:srgbClr val="6569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2" name="í$ḷîḍê"/>
            <p:cNvSpPr/>
            <p:nvPr/>
          </p:nvSpPr>
          <p:spPr bwMode="auto">
            <a:xfrm>
              <a:off x="3158604" y="1986966"/>
              <a:ext cx="5484421" cy="2777408"/>
            </a:xfrm>
            <a:custGeom>
              <a:avLst/>
              <a:gdLst>
                <a:gd name="T0" fmla="*/ 1870 w 2571"/>
                <a:gd name="T1" fmla="*/ 0 h 1302"/>
                <a:gd name="T2" fmla="*/ 1526 w 2571"/>
                <a:gd name="T3" fmla="*/ 233 h 1302"/>
                <a:gd name="T4" fmla="*/ 1363 w 2571"/>
                <a:gd name="T5" fmla="*/ 343 h 1302"/>
                <a:gd name="T6" fmla="*/ 1031 w 2571"/>
                <a:gd name="T7" fmla="*/ 568 h 1302"/>
                <a:gd name="T8" fmla="*/ 796 w 2571"/>
                <a:gd name="T9" fmla="*/ 726 h 1302"/>
                <a:gd name="T10" fmla="*/ 634 w 2571"/>
                <a:gd name="T11" fmla="*/ 836 h 1302"/>
                <a:gd name="T12" fmla="*/ 439 w 2571"/>
                <a:gd name="T13" fmla="*/ 967 h 1302"/>
                <a:gd name="T14" fmla="*/ 0 w 2571"/>
                <a:gd name="T15" fmla="*/ 1264 h 1302"/>
                <a:gd name="T16" fmla="*/ 0 w 2571"/>
                <a:gd name="T17" fmla="*/ 1302 h 1302"/>
                <a:gd name="T18" fmla="*/ 115 w 2571"/>
                <a:gd name="T19" fmla="*/ 1258 h 1302"/>
                <a:gd name="T20" fmla="*/ 1804 w 2571"/>
                <a:gd name="T21" fmla="*/ 611 h 1302"/>
                <a:gd name="T22" fmla="*/ 2028 w 2571"/>
                <a:gd name="T23" fmla="*/ 524 h 1302"/>
                <a:gd name="T24" fmla="*/ 2190 w 2571"/>
                <a:gd name="T25" fmla="*/ 462 h 1302"/>
                <a:gd name="T26" fmla="*/ 2571 w 2571"/>
                <a:gd name="T27" fmla="*/ 316 h 1302"/>
                <a:gd name="T28" fmla="*/ 1870 w 2571"/>
                <a:gd name="T29" fmla="*/ 0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71" h="1302">
                  <a:moveTo>
                    <a:pt x="1870" y="0"/>
                  </a:moveTo>
                  <a:lnTo>
                    <a:pt x="1526" y="233"/>
                  </a:lnTo>
                  <a:lnTo>
                    <a:pt x="1363" y="343"/>
                  </a:lnTo>
                  <a:lnTo>
                    <a:pt x="1031" y="568"/>
                  </a:lnTo>
                  <a:lnTo>
                    <a:pt x="796" y="726"/>
                  </a:lnTo>
                  <a:lnTo>
                    <a:pt x="634" y="836"/>
                  </a:lnTo>
                  <a:lnTo>
                    <a:pt x="439" y="967"/>
                  </a:lnTo>
                  <a:lnTo>
                    <a:pt x="0" y="1264"/>
                  </a:lnTo>
                  <a:lnTo>
                    <a:pt x="0" y="1302"/>
                  </a:lnTo>
                  <a:lnTo>
                    <a:pt x="115" y="1258"/>
                  </a:lnTo>
                  <a:lnTo>
                    <a:pt x="1804" y="611"/>
                  </a:lnTo>
                  <a:lnTo>
                    <a:pt x="2028" y="524"/>
                  </a:lnTo>
                  <a:lnTo>
                    <a:pt x="2190" y="462"/>
                  </a:lnTo>
                  <a:lnTo>
                    <a:pt x="2571" y="316"/>
                  </a:lnTo>
                  <a:lnTo>
                    <a:pt x="1870" y="0"/>
                  </a:lnTo>
                  <a:close/>
                </a:path>
              </a:pathLst>
            </a:custGeom>
            <a:solidFill>
              <a:srgbClr val="BCC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3" name="íṩḷíďe"/>
            <p:cNvSpPr/>
            <p:nvPr/>
          </p:nvSpPr>
          <p:spPr bwMode="auto">
            <a:xfrm>
              <a:off x="3158604" y="1986966"/>
              <a:ext cx="5484421" cy="2777408"/>
            </a:xfrm>
            <a:custGeom>
              <a:avLst/>
              <a:gdLst>
                <a:gd name="T0" fmla="*/ 1870 w 2571"/>
                <a:gd name="T1" fmla="*/ 0 h 1302"/>
                <a:gd name="T2" fmla="*/ 1526 w 2571"/>
                <a:gd name="T3" fmla="*/ 233 h 1302"/>
                <a:gd name="T4" fmla="*/ 1363 w 2571"/>
                <a:gd name="T5" fmla="*/ 343 h 1302"/>
                <a:gd name="T6" fmla="*/ 1031 w 2571"/>
                <a:gd name="T7" fmla="*/ 568 h 1302"/>
                <a:gd name="T8" fmla="*/ 796 w 2571"/>
                <a:gd name="T9" fmla="*/ 726 h 1302"/>
                <a:gd name="T10" fmla="*/ 634 w 2571"/>
                <a:gd name="T11" fmla="*/ 836 h 1302"/>
                <a:gd name="T12" fmla="*/ 439 w 2571"/>
                <a:gd name="T13" fmla="*/ 967 h 1302"/>
                <a:gd name="T14" fmla="*/ 0 w 2571"/>
                <a:gd name="T15" fmla="*/ 1264 h 1302"/>
                <a:gd name="T16" fmla="*/ 0 w 2571"/>
                <a:gd name="T17" fmla="*/ 1302 h 1302"/>
                <a:gd name="T18" fmla="*/ 115 w 2571"/>
                <a:gd name="T19" fmla="*/ 1258 h 1302"/>
                <a:gd name="T20" fmla="*/ 1804 w 2571"/>
                <a:gd name="T21" fmla="*/ 611 h 1302"/>
                <a:gd name="T22" fmla="*/ 2028 w 2571"/>
                <a:gd name="T23" fmla="*/ 524 h 1302"/>
                <a:gd name="T24" fmla="*/ 2190 w 2571"/>
                <a:gd name="T25" fmla="*/ 462 h 1302"/>
                <a:gd name="T26" fmla="*/ 2571 w 2571"/>
                <a:gd name="T27" fmla="*/ 316 h 1302"/>
                <a:gd name="T28" fmla="*/ 1870 w 2571"/>
                <a:gd name="T29" fmla="*/ 0 h 1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571" h="1302">
                  <a:moveTo>
                    <a:pt x="1870" y="0"/>
                  </a:moveTo>
                  <a:lnTo>
                    <a:pt x="1526" y="233"/>
                  </a:lnTo>
                  <a:lnTo>
                    <a:pt x="1363" y="343"/>
                  </a:lnTo>
                  <a:lnTo>
                    <a:pt x="1031" y="568"/>
                  </a:lnTo>
                  <a:lnTo>
                    <a:pt x="796" y="726"/>
                  </a:lnTo>
                  <a:lnTo>
                    <a:pt x="634" y="836"/>
                  </a:lnTo>
                  <a:lnTo>
                    <a:pt x="439" y="967"/>
                  </a:lnTo>
                  <a:lnTo>
                    <a:pt x="0" y="1264"/>
                  </a:lnTo>
                  <a:lnTo>
                    <a:pt x="0" y="1302"/>
                  </a:lnTo>
                  <a:lnTo>
                    <a:pt x="115" y="1258"/>
                  </a:lnTo>
                  <a:lnTo>
                    <a:pt x="1804" y="611"/>
                  </a:lnTo>
                  <a:lnTo>
                    <a:pt x="2028" y="524"/>
                  </a:lnTo>
                  <a:lnTo>
                    <a:pt x="2190" y="462"/>
                  </a:lnTo>
                  <a:lnTo>
                    <a:pt x="2571" y="316"/>
                  </a:lnTo>
                  <a:lnTo>
                    <a:pt x="187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4" name="ïS1ïḑê"/>
            <p:cNvSpPr/>
            <p:nvPr/>
          </p:nvSpPr>
          <p:spPr bwMode="auto">
            <a:xfrm>
              <a:off x="3256731" y="4049757"/>
              <a:ext cx="913003" cy="642090"/>
            </a:xfrm>
            <a:custGeom>
              <a:avLst/>
              <a:gdLst>
                <a:gd name="T0" fmla="*/ 189 w 206"/>
                <a:gd name="T1" fmla="*/ 0 h 145"/>
                <a:gd name="T2" fmla="*/ 0 w 206"/>
                <a:gd name="T3" fmla="*/ 128 h 145"/>
                <a:gd name="T4" fmla="*/ 19 w 206"/>
                <a:gd name="T5" fmla="*/ 145 h 145"/>
                <a:gd name="T6" fmla="*/ 33 w 206"/>
                <a:gd name="T7" fmla="*/ 140 h 145"/>
                <a:gd name="T8" fmla="*/ 54 w 206"/>
                <a:gd name="T9" fmla="*/ 110 h 145"/>
                <a:gd name="T10" fmla="*/ 180 w 206"/>
                <a:gd name="T11" fmla="*/ 48 h 145"/>
                <a:gd name="T12" fmla="*/ 197 w 206"/>
                <a:gd name="T13" fmla="*/ 24 h 145"/>
                <a:gd name="T14" fmla="*/ 189 w 206"/>
                <a:gd name="T15" fmla="*/ 0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06" h="145">
                  <a:moveTo>
                    <a:pt x="189" y="0"/>
                  </a:moveTo>
                  <a:cubicBezTo>
                    <a:pt x="0" y="128"/>
                    <a:pt x="0" y="128"/>
                    <a:pt x="0" y="128"/>
                  </a:cubicBezTo>
                  <a:cubicBezTo>
                    <a:pt x="8" y="134"/>
                    <a:pt x="15" y="141"/>
                    <a:pt x="19" y="145"/>
                  </a:cubicBezTo>
                  <a:cubicBezTo>
                    <a:pt x="33" y="140"/>
                    <a:pt x="33" y="140"/>
                    <a:pt x="33" y="140"/>
                  </a:cubicBezTo>
                  <a:cubicBezTo>
                    <a:pt x="33" y="140"/>
                    <a:pt x="37" y="119"/>
                    <a:pt x="54" y="110"/>
                  </a:cubicBezTo>
                  <a:cubicBezTo>
                    <a:pt x="71" y="102"/>
                    <a:pt x="155" y="61"/>
                    <a:pt x="180" y="48"/>
                  </a:cubicBezTo>
                  <a:cubicBezTo>
                    <a:pt x="204" y="35"/>
                    <a:pt x="206" y="25"/>
                    <a:pt x="197" y="24"/>
                  </a:cubicBezTo>
                  <a:cubicBezTo>
                    <a:pt x="188" y="22"/>
                    <a:pt x="189" y="0"/>
                    <a:pt x="189" y="0"/>
                  </a:cubicBezTo>
                </a:path>
              </a:pathLst>
            </a:custGeom>
            <a:solidFill>
              <a:srgbClr val="939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5" name="îsḻîḑè"/>
            <p:cNvSpPr/>
            <p:nvPr/>
          </p:nvSpPr>
          <p:spPr bwMode="auto">
            <a:xfrm>
              <a:off x="4511044" y="3198615"/>
              <a:ext cx="872474" cy="571694"/>
            </a:xfrm>
            <a:custGeom>
              <a:avLst/>
              <a:gdLst>
                <a:gd name="T0" fmla="*/ 191 w 197"/>
                <a:gd name="T1" fmla="*/ 0 h 129"/>
                <a:gd name="T2" fmla="*/ 191 w 197"/>
                <a:gd name="T3" fmla="*/ 0 h 129"/>
                <a:gd name="T4" fmla="*/ 184 w 197"/>
                <a:gd name="T5" fmla="*/ 4 h 129"/>
                <a:gd name="T6" fmla="*/ 183 w 197"/>
                <a:gd name="T7" fmla="*/ 70 h 129"/>
                <a:gd name="T8" fmla="*/ 173 w 197"/>
                <a:gd name="T9" fmla="*/ 78 h 129"/>
                <a:gd name="T10" fmla="*/ 151 w 197"/>
                <a:gd name="T11" fmla="*/ 40 h 129"/>
                <a:gd name="T12" fmla="*/ 150 w 197"/>
                <a:gd name="T13" fmla="*/ 28 h 129"/>
                <a:gd name="T14" fmla="*/ 117 w 197"/>
                <a:gd name="T15" fmla="*/ 50 h 129"/>
                <a:gd name="T16" fmla="*/ 78 w 197"/>
                <a:gd name="T17" fmla="*/ 76 h 129"/>
                <a:gd name="T18" fmla="*/ 44 w 197"/>
                <a:gd name="T19" fmla="*/ 99 h 129"/>
                <a:gd name="T20" fmla="*/ 43 w 197"/>
                <a:gd name="T21" fmla="*/ 100 h 129"/>
                <a:gd name="T22" fmla="*/ 14 w 197"/>
                <a:gd name="T23" fmla="*/ 120 h 129"/>
                <a:gd name="T24" fmla="*/ 14 w 197"/>
                <a:gd name="T25" fmla="*/ 120 h 129"/>
                <a:gd name="T26" fmla="*/ 0 w 197"/>
                <a:gd name="T27" fmla="*/ 129 h 129"/>
                <a:gd name="T28" fmla="*/ 138 w 197"/>
                <a:gd name="T29" fmla="*/ 63 h 129"/>
                <a:gd name="T30" fmla="*/ 142 w 197"/>
                <a:gd name="T31" fmla="*/ 62 h 129"/>
                <a:gd name="T32" fmla="*/ 157 w 197"/>
                <a:gd name="T33" fmla="*/ 74 h 129"/>
                <a:gd name="T34" fmla="*/ 168 w 197"/>
                <a:gd name="T35" fmla="*/ 100 h 129"/>
                <a:gd name="T36" fmla="*/ 173 w 197"/>
                <a:gd name="T37" fmla="*/ 125 h 129"/>
                <a:gd name="T38" fmla="*/ 174 w 197"/>
                <a:gd name="T39" fmla="*/ 125 h 129"/>
                <a:gd name="T40" fmla="*/ 189 w 197"/>
                <a:gd name="T41" fmla="*/ 116 h 129"/>
                <a:gd name="T42" fmla="*/ 191 w 197"/>
                <a:gd name="T43" fmla="*/ 71 h 129"/>
                <a:gd name="T44" fmla="*/ 191 w 197"/>
                <a:gd name="T45" fmla="*/ 0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97" h="129">
                  <a:moveTo>
                    <a:pt x="191" y="0"/>
                  </a:moveTo>
                  <a:cubicBezTo>
                    <a:pt x="191" y="0"/>
                    <a:pt x="191" y="0"/>
                    <a:pt x="191" y="0"/>
                  </a:cubicBezTo>
                  <a:cubicBezTo>
                    <a:pt x="184" y="4"/>
                    <a:pt x="184" y="4"/>
                    <a:pt x="184" y="4"/>
                  </a:cubicBezTo>
                  <a:cubicBezTo>
                    <a:pt x="191" y="23"/>
                    <a:pt x="190" y="47"/>
                    <a:pt x="183" y="70"/>
                  </a:cubicBezTo>
                  <a:cubicBezTo>
                    <a:pt x="183" y="70"/>
                    <a:pt x="182" y="77"/>
                    <a:pt x="173" y="78"/>
                  </a:cubicBezTo>
                  <a:cubicBezTo>
                    <a:pt x="173" y="78"/>
                    <a:pt x="154" y="59"/>
                    <a:pt x="151" y="40"/>
                  </a:cubicBezTo>
                  <a:cubicBezTo>
                    <a:pt x="151" y="33"/>
                    <a:pt x="150" y="30"/>
                    <a:pt x="150" y="28"/>
                  </a:cubicBezTo>
                  <a:cubicBezTo>
                    <a:pt x="117" y="50"/>
                    <a:pt x="117" y="50"/>
                    <a:pt x="117" y="50"/>
                  </a:cubicBezTo>
                  <a:cubicBezTo>
                    <a:pt x="78" y="76"/>
                    <a:pt x="78" y="76"/>
                    <a:pt x="78" y="76"/>
                  </a:cubicBezTo>
                  <a:cubicBezTo>
                    <a:pt x="44" y="99"/>
                    <a:pt x="44" y="99"/>
                    <a:pt x="44" y="99"/>
                  </a:cubicBezTo>
                  <a:cubicBezTo>
                    <a:pt x="44" y="100"/>
                    <a:pt x="43" y="100"/>
                    <a:pt x="43" y="100"/>
                  </a:cubicBezTo>
                  <a:cubicBezTo>
                    <a:pt x="14" y="120"/>
                    <a:pt x="14" y="120"/>
                    <a:pt x="14" y="120"/>
                  </a:cubicBezTo>
                  <a:cubicBezTo>
                    <a:pt x="14" y="120"/>
                    <a:pt x="14" y="120"/>
                    <a:pt x="14" y="120"/>
                  </a:cubicBezTo>
                  <a:cubicBezTo>
                    <a:pt x="0" y="129"/>
                    <a:pt x="0" y="129"/>
                    <a:pt x="0" y="129"/>
                  </a:cubicBezTo>
                  <a:cubicBezTo>
                    <a:pt x="0" y="129"/>
                    <a:pt x="131" y="65"/>
                    <a:pt x="138" y="63"/>
                  </a:cubicBezTo>
                  <a:cubicBezTo>
                    <a:pt x="139" y="62"/>
                    <a:pt x="141" y="62"/>
                    <a:pt x="142" y="62"/>
                  </a:cubicBezTo>
                  <a:cubicBezTo>
                    <a:pt x="147" y="62"/>
                    <a:pt x="151" y="66"/>
                    <a:pt x="157" y="74"/>
                  </a:cubicBezTo>
                  <a:cubicBezTo>
                    <a:pt x="165" y="84"/>
                    <a:pt x="169" y="91"/>
                    <a:pt x="168" y="100"/>
                  </a:cubicBezTo>
                  <a:cubicBezTo>
                    <a:pt x="166" y="108"/>
                    <a:pt x="165" y="124"/>
                    <a:pt x="173" y="125"/>
                  </a:cubicBezTo>
                  <a:cubicBezTo>
                    <a:pt x="173" y="125"/>
                    <a:pt x="174" y="125"/>
                    <a:pt x="174" y="125"/>
                  </a:cubicBezTo>
                  <a:cubicBezTo>
                    <a:pt x="182" y="125"/>
                    <a:pt x="189" y="116"/>
                    <a:pt x="189" y="116"/>
                  </a:cubicBezTo>
                  <a:cubicBezTo>
                    <a:pt x="189" y="116"/>
                    <a:pt x="184" y="89"/>
                    <a:pt x="191" y="71"/>
                  </a:cubicBezTo>
                  <a:cubicBezTo>
                    <a:pt x="197" y="52"/>
                    <a:pt x="191" y="0"/>
                    <a:pt x="191" y="0"/>
                  </a:cubicBezTo>
                </a:path>
              </a:pathLst>
            </a:custGeom>
            <a:solidFill>
              <a:srgbClr val="939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6" name="iśļiďè"/>
            <p:cNvSpPr/>
            <p:nvPr/>
          </p:nvSpPr>
          <p:spPr bwMode="auto">
            <a:xfrm>
              <a:off x="6829817" y="2771978"/>
              <a:ext cx="1000465" cy="584493"/>
            </a:xfrm>
            <a:custGeom>
              <a:avLst/>
              <a:gdLst>
                <a:gd name="T0" fmla="*/ 182 w 226"/>
                <a:gd name="T1" fmla="*/ 0 h 132"/>
                <a:gd name="T2" fmla="*/ 180 w 226"/>
                <a:gd name="T3" fmla="*/ 0 h 132"/>
                <a:gd name="T4" fmla="*/ 157 w 226"/>
                <a:gd name="T5" fmla="*/ 26 h 132"/>
                <a:gd name="T6" fmla="*/ 146 w 226"/>
                <a:gd name="T7" fmla="*/ 61 h 132"/>
                <a:gd name="T8" fmla="*/ 112 w 226"/>
                <a:gd name="T9" fmla="*/ 74 h 132"/>
                <a:gd name="T10" fmla="*/ 96 w 226"/>
                <a:gd name="T11" fmla="*/ 75 h 132"/>
                <a:gd name="T12" fmla="*/ 65 w 226"/>
                <a:gd name="T13" fmla="*/ 74 h 132"/>
                <a:gd name="T14" fmla="*/ 63 w 226"/>
                <a:gd name="T15" fmla="*/ 74 h 132"/>
                <a:gd name="T16" fmla="*/ 36 w 226"/>
                <a:gd name="T17" fmla="*/ 91 h 132"/>
                <a:gd name="T18" fmla="*/ 0 w 226"/>
                <a:gd name="T19" fmla="*/ 132 h 132"/>
                <a:gd name="T20" fmla="*/ 40 w 226"/>
                <a:gd name="T21" fmla="*/ 117 h 132"/>
                <a:gd name="T22" fmla="*/ 148 w 226"/>
                <a:gd name="T23" fmla="*/ 75 h 132"/>
                <a:gd name="T24" fmla="*/ 226 w 226"/>
                <a:gd name="T25" fmla="*/ 45 h 132"/>
                <a:gd name="T26" fmla="*/ 219 w 226"/>
                <a:gd name="T27" fmla="*/ 26 h 132"/>
                <a:gd name="T28" fmla="*/ 182 w 226"/>
                <a:gd name="T29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6" h="132">
                  <a:moveTo>
                    <a:pt x="182" y="0"/>
                  </a:moveTo>
                  <a:cubicBezTo>
                    <a:pt x="181" y="0"/>
                    <a:pt x="180" y="0"/>
                    <a:pt x="180" y="0"/>
                  </a:cubicBezTo>
                  <a:cubicBezTo>
                    <a:pt x="172" y="3"/>
                    <a:pt x="161" y="10"/>
                    <a:pt x="157" y="26"/>
                  </a:cubicBezTo>
                  <a:cubicBezTo>
                    <a:pt x="154" y="42"/>
                    <a:pt x="165" y="50"/>
                    <a:pt x="146" y="61"/>
                  </a:cubicBezTo>
                  <a:cubicBezTo>
                    <a:pt x="127" y="73"/>
                    <a:pt x="121" y="72"/>
                    <a:pt x="112" y="74"/>
                  </a:cubicBezTo>
                  <a:cubicBezTo>
                    <a:pt x="109" y="75"/>
                    <a:pt x="103" y="75"/>
                    <a:pt x="96" y="75"/>
                  </a:cubicBezTo>
                  <a:cubicBezTo>
                    <a:pt x="85" y="75"/>
                    <a:pt x="73" y="75"/>
                    <a:pt x="65" y="74"/>
                  </a:cubicBezTo>
                  <a:cubicBezTo>
                    <a:pt x="65" y="74"/>
                    <a:pt x="64" y="74"/>
                    <a:pt x="63" y="74"/>
                  </a:cubicBezTo>
                  <a:cubicBezTo>
                    <a:pt x="52" y="74"/>
                    <a:pt x="45" y="80"/>
                    <a:pt x="36" y="91"/>
                  </a:cubicBezTo>
                  <a:cubicBezTo>
                    <a:pt x="27" y="103"/>
                    <a:pt x="0" y="132"/>
                    <a:pt x="0" y="132"/>
                  </a:cubicBezTo>
                  <a:cubicBezTo>
                    <a:pt x="40" y="117"/>
                    <a:pt x="40" y="117"/>
                    <a:pt x="40" y="117"/>
                  </a:cubicBezTo>
                  <a:cubicBezTo>
                    <a:pt x="148" y="75"/>
                    <a:pt x="148" y="75"/>
                    <a:pt x="148" y="75"/>
                  </a:cubicBezTo>
                  <a:cubicBezTo>
                    <a:pt x="226" y="45"/>
                    <a:pt x="226" y="45"/>
                    <a:pt x="226" y="45"/>
                  </a:cubicBezTo>
                  <a:cubicBezTo>
                    <a:pt x="226" y="45"/>
                    <a:pt x="221" y="35"/>
                    <a:pt x="219" y="26"/>
                  </a:cubicBezTo>
                  <a:cubicBezTo>
                    <a:pt x="217" y="18"/>
                    <a:pt x="191" y="0"/>
                    <a:pt x="182" y="0"/>
                  </a:cubicBezTo>
                </a:path>
              </a:pathLst>
            </a:custGeom>
            <a:solidFill>
              <a:srgbClr val="939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7" name="îšḻíḍé"/>
            <p:cNvSpPr/>
            <p:nvPr/>
          </p:nvSpPr>
          <p:spPr bwMode="auto">
            <a:xfrm>
              <a:off x="6066137" y="1986966"/>
              <a:ext cx="1081526" cy="731683"/>
            </a:xfrm>
            <a:custGeom>
              <a:avLst/>
              <a:gdLst>
                <a:gd name="T0" fmla="*/ 244 w 244"/>
                <a:gd name="T1" fmla="*/ 0 h 165"/>
                <a:gd name="T2" fmla="*/ 225 w 244"/>
                <a:gd name="T3" fmla="*/ 13 h 165"/>
                <a:gd name="T4" fmla="*/ 227 w 244"/>
                <a:gd name="T5" fmla="*/ 16 h 165"/>
                <a:gd name="T6" fmla="*/ 163 w 244"/>
                <a:gd name="T7" fmla="*/ 95 h 165"/>
                <a:gd name="T8" fmla="*/ 125 w 244"/>
                <a:gd name="T9" fmla="*/ 100 h 165"/>
                <a:gd name="T10" fmla="*/ 103 w 244"/>
                <a:gd name="T11" fmla="*/ 95 h 165"/>
                <a:gd name="T12" fmla="*/ 78 w 244"/>
                <a:gd name="T13" fmla="*/ 112 h 165"/>
                <a:gd name="T14" fmla="*/ 54 w 244"/>
                <a:gd name="T15" fmla="*/ 128 h 165"/>
                <a:gd name="T16" fmla="*/ 13 w 244"/>
                <a:gd name="T17" fmla="*/ 156 h 165"/>
                <a:gd name="T18" fmla="*/ 13 w 244"/>
                <a:gd name="T19" fmla="*/ 156 h 165"/>
                <a:gd name="T20" fmla="*/ 0 w 244"/>
                <a:gd name="T21" fmla="*/ 165 h 165"/>
                <a:gd name="T22" fmla="*/ 96 w 244"/>
                <a:gd name="T23" fmla="*/ 119 h 165"/>
                <a:gd name="T24" fmla="*/ 182 w 244"/>
                <a:gd name="T25" fmla="*/ 107 h 165"/>
                <a:gd name="T26" fmla="*/ 234 w 244"/>
                <a:gd name="T27" fmla="*/ 16 h 165"/>
                <a:gd name="T28" fmla="*/ 244 w 244"/>
                <a:gd name="T29" fmla="*/ 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4" h="165">
                  <a:moveTo>
                    <a:pt x="244" y="0"/>
                  </a:moveTo>
                  <a:cubicBezTo>
                    <a:pt x="225" y="13"/>
                    <a:pt x="225" y="13"/>
                    <a:pt x="225" y="13"/>
                  </a:cubicBezTo>
                  <a:cubicBezTo>
                    <a:pt x="226" y="14"/>
                    <a:pt x="227" y="15"/>
                    <a:pt x="227" y="16"/>
                  </a:cubicBezTo>
                  <a:cubicBezTo>
                    <a:pt x="227" y="16"/>
                    <a:pt x="212" y="82"/>
                    <a:pt x="163" y="95"/>
                  </a:cubicBezTo>
                  <a:cubicBezTo>
                    <a:pt x="146" y="99"/>
                    <a:pt x="134" y="100"/>
                    <a:pt x="125" y="100"/>
                  </a:cubicBezTo>
                  <a:cubicBezTo>
                    <a:pt x="108" y="100"/>
                    <a:pt x="103" y="95"/>
                    <a:pt x="103" y="95"/>
                  </a:cubicBezTo>
                  <a:cubicBezTo>
                    <a:pt x="78" y="112"/>
                    <a:pt x="78" y="112"/>
                    <a:pt x="78" y="112"/>
                  </a:cubicBezTo>
                  <a:cubicBezTo>
                    <a:pt x="54" y="128"/>
                    <a:pt x="54" y="128"/>
                    <a:pt x="54" y="128"/>
                  </a:cubicBezTo>
                  <a:cubicBezTo>
                    <a:pt x="13" y="156"/>
                    <a:pt x="13" y="156"/>
                    <a:pt x="13" y="156"/>
                  </a:cubicBezTo>
                  <a:cubicBezTo>
                    <a:pt x="13" y="156"/>
                    <a:pt x="13" y="156"/>
                    <a:pt x="13" y="156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0" y="165"/>
                    <a:pt x="77" y="126"/>
                    <a:pt x="96" y="119"/>
                  </a:cubicBezTo>
                  <a:cubicBezTo>
                    <a:pt x="115" y="113"/>
                    <a:pt x="151" y="121"/>
                    <a:pt x="182" y="107"/>
                  </a:cubicBezTo>
                  <a:cubicBezTo>
                    <a:pt x="209" y="95"/>
                    <a:pt x="227" y="24"/>
                    <a:pt x="234" y="16"/>
                  </a:cubicBezTo>
                  <a:cubicBezTo>
                    <a:pt x="241" y="7"/>
                    <a:pt x="244" y="0"/>
                    <a:pt x="244" y="0"/>
                  </a:cubicBezTo>
                </a:path>
              </a:pathLst>
            </a:custGeom>
            <a:solidFill>
              <a:srgbClr val="939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8" name="ïṩľïḍè"/>
            <p:cNvSpPr/>
            <p:nvPr/>
          </p:nvSpPr>
          <p:spPr bwMode="auto">
            <a:xfrm>
              <a:off x="3158604" y="2842374"/>
              <a:ext cx="7114174" cy="1988129"/>
            </a:xfrm>
            <a:custGeom>
              <a:avLst/>
              <a:gdLst>
                <a:gd name="T0" fmla="*/ 0 w 3335"/>
                <a:gd name="T1" fmla="*/ 901 h 932"/>
                <a:gd name="T2" fmla="*/ 54 w 3335"/>
                <a:gd name="T3" fmla="*/ 932 h 932"/>
                <a:gd name="T4" fmla="*/ 3283 w 3335"/>
                <a:gd name="T5" fmla="*/ 753 h 932"/>
                <a:gd name="T6" fmla="*/ 3335 w 3335"/>
                <a:gd name="T7" fmla="*/ 751 h 932"/>
                <a:gd name="T8" fmla="*/ 2930 w 3335"/>
                <a:gd name="T9" fmla="*/ 300 h 932"/>
                <a:gd name="T10" fmla="*/ 2660 w 3335"/>
                <a:gd name="T11" fmla="*/ 0 h 932"/>
                <a:gd name="T12" fmla="*/ 0 w 3335"/>
                <a:gd name="T13" fmla="*/ 901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35" h="932">
                  <a:moveTo>
                    <a:pt x="0" y="901"/>
                  </a:moveTo>
                  <a:lnTo>
                    <a:pt x="54" y="932"/>
                  </a:lnTo>
                  <a:lnTo>
                    <a:pt x="3283" y="753"/>
                  </a:lnTo>
                  <a:lnTo>
                    <a:pt x="3335" y="751"/>
                  </a:lnTo>
                  <a:lnTo>
                    <a:pt x="2930" y="300"/>
                  </a:lnTo>
                  <a:lnTo>
                    <a:pt x="2660" y="0"/>
                  </a:lnTo>
                  <a:lnTo>
                    <a:pt x="0" y="901"/>
                  </a:lnTo>
                  <a:close/>
                </a:path>
              </a:pathLst>
            </a:custGeom>
            <a:solidFill>
              <a:srgbClr val="BCC4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49" name="i$lide"/>
            <p:cNvSpPr/>
            <p:nvPr/>
          </p:nvSpPr>
          <p:spPr bwMode="auto">
            <a:xfrm>
              <a:off x="3158604" y="2842374"/>
              <a:ext cx="7114174" cy="1988129"/>
            </a:xfrm>
            <a:custGeom>
              <a:avLst/>
              <a:gdLst>
                <a:gd name="T0" fmla="*/ 0 w 3335"/>
                <a:gd name="T1" fmla="*/ 901 h 932"/>
                <a:gd name="T2" fmla="*/ 54 w 3335"/>
                <a:gd name="T3" fmla="*/ 932 h 932"/>
                <a:gd name="T4" fmla="*/ 3283 w 3335"/>
                <a:gd name="T5" fmla="*/ 753 h 932"/>
                <a:gd name="T6" fmla="*/ 3335 w 3335"/>
                <a:gd name="T7" fmla="*/ 751 h 932"/>
                <a:gd name="T8" fmla="*/ 2930 w 3335"/>
                <a:gd name="T9" fmla="*/ 300 h 932"/>
                <a:gd name="T10" fmla="*/ 2660 w 3335"/>
                <a:gd name="T11" fmla="*/ 0 h 932"/>
                <a:gd name="T12" fmla="*/ 0 w 3335"/>
                <a:gd name="T13" fmla="*/ 901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35" h="932">
                  <a:moveTo>
                    <a:pt x="0" y="901"/>
                  </a:moveTo>
                  <a:lnTo>
                    <a:pt x="54" y="932"/>
                  </a:lnTo>
                  <a:lnTo>
                    <a:pt x="3283" y="753"/>
                  </a:lnTo>
                  <a:lnTo>
                    <a:pt x="3335" y="751"/>
                  </a:lnTo>
                  <a:lnTo>
                    <a:pt x="2930" y="300"/>
                  </a:lnTo>
                  <a:lnTo>
                    <a:pt x="2660" y="0"/>
                  </a:lnTo>
                  <a:lnTo>
                    <a:pt x="0" y="901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0" name="ïŝľidè"/>
            <p:cNvSpPr/>
            <p:nvPr/>
          </p:nvSpPr>
          <p:spPr bwMode="auto">
            <a:xfrm>
              <a:off x="8832878" y="2842374"/>
              <a:ext cx="1439901" cy="1606289"/>
            </a:xfrm>
            <a:custGeom>
              <a:avLst/>
              <a:gdLst>
                <a:gd name="T0" fmla="*/ 0 w 325"/>
                <a:gd name="T1" fmla="*/ 0 h 362"/>
                <a:gd name="T2" fmla="*/ 168 w 325"/>
                <a:gd name="T3" fmla="*/ 205 h 362"/>
                <a:gd name="T4" fmla="*/ 236 w 325"/>
                <a:gd name="T5" fmla="*/ 296 h 362"/>
                <a:gd name="T6" fmla="*/ 267 w 325"/>
                <a:gd name="T7" fmla="*/ 334 h 362"/>
                <a:gd name="T8" fmla="*/ 300 w 325"/>
                <a:gd name="T9" fmla="*/ 362 h 362"/>
                <a:gd name="T10" fmla="*/ 325 w 325"/>
                <a:gd name="T11" fmla="*/ 361 h 362"/>
                <a:gd name="T12" fmla="*/ 254 w 325"/>
                <a:gd name="T13" fmla="*/ 281 h 362"/>
                <a:gd name="T14" fmla="*/ 249 w 325"/>
                <a:gd name="T15" fmla="*/ 284 h 362"/>
                <a:gd name="T16" fmla="*/ 222 w 325"/>
                <a:gd name="T17" fmla="*/ 257 h 362"/>
                <a:gd name="T18" fmla="*/ 205 w 325"/>
                <a:gd name="T19" fmla="*/ 227 h 362"/>
                <a:gd name="T20" fmla="*/ 179 w 325"/>
                <a:gd name="T21" fmla="*/ 198 h 362"/>
                <a:gd name="T22" fmla="*/ 179 w 325"/>
                <a:gd name="T23" fmla="*/ 198 h 362"/>
                <a:gd name="T24" fmla="*/ 108 w 325"/>
                <a:gd name="T25" fmla="*/ 120 h 362"/>
                <a:gd name="T26" fmla="*/ 53 w 325"/>
                <a:gd name="T27" fmla="*/ 58 h 362"/>
                <a:gd name="T28" fmla="*/ 53 w 325"/>
                <a:gd name="T29" fmla="*/ 59 h 362"/>
                <a:gd name="T30" fmla="*/ 0 w 325"/>
                <a:gd name="T31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25" h="362">
                  <a:moveTo>
                    <a:pt x="0" y="0"/>
                  </a:moveTo>
                  <a:cubicBezTo>
                    <a:pt x="0" y="0"/>
                    <a:pt x="157" y="182"/>
                    <a:pt x="168" y="205"/>
                  </a:cubicBezTo>
                  <a:cubicBezTo>
                    <a:pt x="178" y="228"/>
                    <a:pt x="193" y="265"/>
                    <a:pt x="236" y="296"/>
                  </a:cubicBezTo>
                  <a:cubicBezTo>
                    <a:pt x="249" y="305"/>
                    <a:pt x="255" y="320"/>
                    <a:pt x="267" y="334"/>
                  </a:cubicBezTo>
                  <a:cubicBezTo>
                    <a:pt x="279" y="348"/>
                    <a:pt x="300" y="362"/>
                    <a:pt x="300" y="362"/>
                  </a:cubicBezTo>
                  <a:cubicBezTo>
                    <a:pt x="325" y="361"/>
                    <a:pt x="325" y="361"/>
                    <a:pt x="325" y="361"/>
                  </a:cubicBezTo>
                  <a:cubicBezTo>
                    <a:pt x="254" y="281"/>
                    <a:pt x="254" y="281"/>
                    <a:pt x="254" y="281"/>
                  </a:cubicBezTo>
                  <a:cubicBezTo>
                    <a:pt x="251" y="283"/>
                    <a:pt x="249" y="284"/>
                    <a:pt x="249" y="284"/>
                  </a:cubicBezTo>
                  <a:cubicBezTo>
                    <a:pt x="240" y="281"/>
                    <a:pt x="230" y="270"/>
                    <a:pt x="222" y="257"/>
                  </a:cubicBezTo>
                  <a:cubicBezTo>
                    <a:pt x="216" y="248"/>
                    <a:pt x="210" y="237"/>
                    <a:pt x="205" y="227"/>
                  </a:cubicBezTo>
                  <a:cubicBezTo>
                    <a:pt x="179" y="198"/>
                    <a:pt x="179" y="198"/>
                    <a:pt x="179" y="198"/>
                  </a:cubicBezTo>
                  <a:cubicBezTo>
                    <a:pt x="179" y="198"/>
                    <a:pt x="179" y="198"/>
                    <a:pt x="179" y="198"/>
                  </a:cubicBezTo>
                  <a:cubicBezTo>
                    <a:pt x="108" y="120"/>
                    <a:pt x="108" y="120"/>
                    <a:pt x="108" y="120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3" y="58"/>
                    <a:pt x="53" y="58"/>
                    <a:pt x="53" y="59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39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1" name="ïšļíḍe"/>
            <p:cNvSpPr/>
            <p:nvPr/>
          </p:nvSpPr>
          <p:spPr bwMode="auto">
            <a:xfrm>
              <a:off x="7109264" y="3774575"/>
              <a:ext cx="1399370" cy="426637"/>
            </a:xfrm>
            <a:custGeom>
              <a:avLst/>
              <a:gdLst>
                <a:gd name="T0" fmla="*/ 276 w 316"/>
                <a:gd name="T1" fmla="*/ 0 h 96"/>
                <a:gd name="T2" fmla="*/ 204 w 316"/>
                <a:gd name="T3" fmla="*/ 13 h 96"/>
                <a:gd name="T4" fmla="*/ 177 w 316"/>
                <a:gd name="T5" fmla="*/ 15 h 96"/>
                <a:gd name="T6" fmla="*/ 156 w 316"/>
                <a:gd name="T7" fmla="*/ 11 h 96"/>
                <a:gd name="T8" fmla="*/ 54 w 316"/>
                <a:gd name="T9" fmla="*/ 0 h 96"/>
                <a:gd name="T10" fmla="*/ 28 w 316"/>
                <a:gd name="T11" fmla="*/ 86 h 96"/>
                <a:gd name="T12" fmla="*/ 54 w 316"/>
                <a:gd name="T13" fmla="*/ 91 h 96"/>
                <a:gd name="T14" fmla="*/ 75 w 316"/>
                <a:gd name="T15" fmla="*/ 88 h 96"/>
                <a:gd name="T16" fmla="*/ 94 w 316"/>
                <a:gd name="T17" fmla="*/ 86 h 96"/>
                <a:gd name="T18" fmla="*/ 94 w 316"/>
                <a:gd name="T19" fmla="*/ 86 h 96"/>
                <a:gd name="T20" fmla="*/ 162 w 316"/>
                <a:gd name="T21" fmla="*/ 96 h 96"/>
                <a:gd name="T22" fmla="*/ 168 w 316"/>
                <a:gd name="T23" fmla="*/ 96 h 96"/>
                <a:gd name="T24" fmla="*/ 276 w 316"/>
                <a:gd name="T25" fmla="*/ 48 h 96"/>
                <a:gd name="T26" fmla="*/ 276 w 316"/>
                <a:gd name="T27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16" h="96">
                  <a:moveTo>
                    <a:pt x="276" y="0"/>
                  </a:moveTo>
                  <a:cubicBezTo>
                    <a:pt x="249" y="0"/>
                    <a:pt x="222" y="12"/>
                    <a:pt x="204" y="13"/>
                  </a:cubicBezTo>
                  <a:cubicBezTo>
                    <a:pt x="194" y="14"/>
                    <a:pt x="185" y="15"/>
                    <a:pt x="177" y="15"/>
                  </a:cubicBezTo>
                  <a:cubicBezTo>
                    <a:pt x="169" y="15"/>
                    <a:pt x="162" y="14"/>
                    <a:pt x="156" y="11"/>
                  </a:cubicBezTo>
                  <a:cubicBezTo>
                    <a:pt x="144" y="6"/>
                    <a:pt x="54" y="0"/>
                    <a:pt x="54" y="0"/>
                  </a:cubicBezTo>
                  <a:cubicBezTo>
                    <a:pt x="54" y="0"/>
                    <a:pt x="0" y="74"/>
                    <a:pt x="28" y="86"/>
                  </a:cubicBezTo>
                  <a:cubicBezTo>
                    <a:pt x="37" y="90"/>
                    <a:pt x="46" y="91"/>
                    <a:pt x="54" y="91"/>
                  </a:cubicBezTo>
                  <a:cubicBezTo>
                    <a:pt x="61" y="91"/>
                    <a:pt x="69" y="90"/>
                    <a:pt x="75" y="88"/>
                  </a:cubicBezTo>
                  <a:cubicBezTo>
                    <a:pt x="82" y="87"/>
                    <a:pt x="88" y="86"/>
                    <a:pt x="94" y="86"/>
                  </a:cubicBezTo>
                  <a:cubicBezTo>
                    <a:pt x="94" y="86"/>
                    <a:pt x="94" y="86"/>
                    <a:pt x="94" y="86"/>
                  </a:cubicBezTo>
                  <a:cubicBezTo>
                    <a:pt x="111" y="86"/>
                    <a:pt x="128" y="96"/>
                    <a:pt x="162" y="96"/>
                  </a:cubicBezTo>
                  <a:cubicBezTo>
                    <a:pt x="164" y="96"/>
                    <a:pt x="166" y="96"/>
                    <a:pt x="168" y="96"/>
                  </a:cubicBezTo>
                  <a:cubicBezTo>
                    <a:pt x="206" y="95"/>
                    <a:pt x="236" y="58"/>
                    <a:pt x="276" y="48"/>
                  </a:cubicBezTo>
                  <a:cubicBezTo>
                    <a:pt x="316" y="39"/>
                    <a:pt x="302" y="0"/>
                    <a:pt x="276" y="0"/>
                  </a:cubicBezTo>
                </a:path>
              </a:pathLst>
            </a:custGeom>
            <a:solidFill>
              <a:srgbClr val="939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2" name="ísļíďe"/>
            <p:cNvSpPr/>
            <p:nvPr/>
          </p:nvSpPr>
          <p:spPr bwMode="auto">
            <a:xfrm>
              <a:off x="6418112" y="2027497"/>
              <a:ext cx="149323" cy="123725"/>
            </a:xfrm>
            <a:custGeom>
              <a:avLst/>
              <a:gdLst>
                <a:gd name="T0" fmla="*/ 0 w 34"/>
                <a:gd name="T1" fmla="*/ 21 h 28"/>
                <a:gd name="T2" fmla="*/ 15 w 34"/>
                <a:gd name="T3" fmla="*/ 0 h 28"/>
                <a:gd name="T4" fmla="*/ 34 w 34"/>
                <a:gd name="T5" fmla="*/ 4 h 28"/>
                <a:gd name="T6" fmla="*/ 29 w 34"/>
                <a:gd name="T7" fmla="*/ 23 h 28"/>
                <a:gd name="T8" fmla="*/ 3 w 34"/>
                <a:gd name="T9" fmla="*/ 28 h 28"/>
                <a:gd name="T10" fmla="*/ 0 w 34"/>
                <a:gd name="T11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4" h="28">
                  <a:moveTo>
                    <a:pt x="0" y="21"/>
                  </a:moveTo>
                  <a:cubicBezTo>
                    <a:pt x="0" y="21"/>
                    <a:pt x="12" y="9"/>
                    <a:pt x="15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4" y="4"/>
                    <a:pt x="29" y="20"/>
                    <a:pt x="29" y="23"/>
                  </a:cubicBezTo>
                  <a:cubicBezTo>
                    <a:pt x="29" y="27"/>
                    <a:pt x="3" y="28"/>
                    <a:pt x="3" y="28"/>
                  </a:cubicBezTo>
                  <a:lnTo>
                    <a:pt x="0" y="21"/>
                  </a:lnTo>
                  <a:close/>
                </a:path>
              </a:pathLst>
            </a:custGeom>
            <a:solidFill>
              <a:srgbClr val="C184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3" name="iṩḷíde"/>
            <p:cNvSpPr/>
            <p:nvPr/>
          </p:nvSpPr>
          <p:spPr bwMode="auto">
            <a:xfrm>
              <a:off x="7019670" y="1937903"/>
              <a:ext cx="127991" cy="106659"/>
            </a:xfrm>
            <a:custGeom>
              <a:avLst/>
              <a:gdLst>
                <a:gd name="T0" fmla="*/ 10 w 29"/>
                <a:gd name="T1" fmla="*/ 24 h 24"/>
                <a:gd name="T2" fmla="*/ 29 w 29"/>
                <a:gd name="T3" fmla="*/ 11 h 24"/>
                <a:gd name="T4" fmla="*/ 23 w 29"/>
                <a:gd name="T5" fmla="*/ 3 h 24"/>
                <a:gd name="T6" fmla="*/ 7 w 29"/>
                <a:gd name="T7" fmla="*/ 11 h 24"/>
                <a:gd name="T8" fmla="*/ 0 w 29"/>
                <a:gd name="T9" fmla="*/ 24 h 24"/>
                <a:gd name="T10" fmla="*/ 10 w 29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4">
                  <a:moveTo>
                    <a:pt x="10" y="24"/>
                  </a:moveTo>
                  <a:cubicBezTo>
                    <a:pt x="29" y="11"/>
                    <a:pt x="29" y="11"/>
                    <a:pt x="29" y="11"/>
                  </a:cubicBezTo>
                  <a:cubicBezTo>
                    <a:pt x="29" y="11"/>
                    <a:pt x="28" y="5"/>
                    <a:pt x="23" y="3"/>
                  </a:cubicBezTo>
                  <a:cubicBezTo>
                    <a:pt x="17" y="0"/>
                    <a:pt x="13" y="7"/>
                    <a:pt x="7" y="11"/>
                  </a:cubicBezTo>
                  <a:cubicBezTo>
                    <a:pt x="2" y="16"/>
                    <a:pt x="0" y="24"/>
                    <a:pt x="0" y="24"/>
                  </a:cubicBezTo>
                  <a:lnTo>
                    <a:pt x="10" y="24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4" name="íŝḷíḋè"/>
            <p:cNvSpPr/>
            <p:nvPr/>
          </p:nvSpPr>
          <p:spPr bwMode="auto">
            <a:xfrm>
              <a:off x="6106666" y="2027497"/>
              <a:ext cx="966334" cy="650622"/>
            </a:xfrm>
            <a:custGeom>
              <a:avLst/>
              <a:gdLst>
                <a:gd name="T0" fmla="*/ 4 w 218"/>
                <a:gd name="T1" fmla="*/ 147 h 147"/>
                <a:gd name="T2" fmla="*/ 20 w 218"/>
                <a:gd name="T3" fmla="*/ 56 h 147"/>
                <a:gd name="T4" fmla="*/ 70 w 218"/>
                <a:gd name="T5" fmla="*/ 21 h 147"/>
                <a:gd name="T6" fmla="*/ 116 w 218"/>
                <a:gd name="T7" fmla="*/ 21 h 147"/>
                <a:gd name="T8" fmla="*/ 162 w 218"/>
                <a:gd name="T9" fmla="*/ 25 h 147"/>
                <a:gd name="T10" fmla="*/ 205 w 218"/>
                <a:gd name="T11" fmla="*/ 1 h 147"/>
                <a:gd name="T12" fmla="*/ 218 w 218"/>
                <a:gd name="T13" fmla="*/ 7 h 147"/>
                <a:gd name="T14" fmla="*/ 154 w 218"/>
                <a:gd name="T15" fmla="*/ 86 h 147"/>
                <a:gd name="T16" fmla="*/ 94 w 218"/>
                <a:gd name="T17" fmla="*/ 86 h 147"/>
                <a:gd name="T18" fmla="*/ 73 w 218"/>
                <a:gd name="T19" fmla="*/ 101 h 147"/>
                <a:gd name="T20" fmla="*/ 59 w 218"/>
                <a:gd name="T21" fmla="*/ 110 h 147"/>
                <a:gd name="T22" fmla="*/ 4 w 218"/>
                <a:gd name="T23" fmla="*/ 147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18" h="147">
                  <a:moveTo>
                    <a:pt x="4" y="147"/>
                  </a:moveTo>
                  <a:cubicBezTo>
                    <a:pt x="4" y="147"/>
                    <a:pt x="0" y="86"/>
                    <a:pt x="20" y="56"/>
                  </a:cubicBezTo>
                  <a:cubicBezTo>
                    <a:pt x="40" y="27"/>
                    <a:pt x="63" y="21"/>
                    <a:pt x="70" y="21"/>
                  </a:cubicBezTo>
                  <a:cubicBezTo>
                    <a:pt x="77" y="21"/>
                    <a:pt x="100" y="17"/>
                    <a:pt x="116" y="21"/>
                  </a:cubicBezTo>
                  <a:cubicBezTo>
                    <a:pt x="131" y="24"/>
                    <a:pt x="142" y="30"/>
                    <a:pt x="162" y="25"/>
                  </a:cubicBezTo>
                  <a:cubicBezTo>
                    <a:pt x="182" y="21"/>
                    <a:pt x="205" y="1"/>
                    <a:pt x="205" y="1"/>
                  </a:cubicBezTo>
                  <a:cubicBezTo>
                    <a:pt x="205" y="1"/>
                    <a:pt x="212" y="0"/>
                    <a:pt x="218" y="7"/>
                  </a:cubicBezTo>
                  <a:cubicBezTo>
                    <a:pt x="218" y="7"/>
                    <a:pt x="203" y="73"/>
                    <a:pt x="154" y="86"/>
                  </a:cubicBezTo>
                  <a:cubicBezTo>
                    <a:pt x="105" y="98"/>
                    <a:pt x="94" y="86"/>
                    <a:pt x="94" y="86"/>
                  </a:cubicBezTo>
                  <a:cubicBezTo>
                    <a:pt x="73" y="101"/>
                    <a:pt x="73" y="101"/>
                    <a:pt x="73" y="101"/>
                  </a:cubicBezTo>
                  <a:cubicBezTo>
                    <a:pt x="59" y="110"/>
                    <a:pt x="59" y="110"/>
                    <a:pt x="59" y="110"/>
                  </a:cubicBezTo>
                  <a:cubicBezTo>
                    <a:pt x="4" y="147"/>
                    <a:pt x="4" y="147"/>
                    <a:pt x="4" y="147"/>
                  </a:cubicBezTo>
                </a:path>
              </a:pathLst>
            </a:custGeom>
            <a:solidFill>
              <a:srgbClr val="494C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5" name="išlíḋe"/>
            <p:cNvSpPr/>
            <p:nvPr/>
          </p:nvSpPr>
          <p:spPr bwMode="auto">
            <a:xfrm>
              <a:off x="6337050" y="2475466"/>
              <a:ext cx="93860" cy="61863"/>
            </a:xfrm>
            <a:custGeom>
              <a:avLst/>
              <a:gdLst>
                <a:gd name="T0" fmla="*/ 44 w 44"/>
                <a:gd name="T1" fmla="*/ 0 h 29"/>
                <a:gd name="T2" fmla="*/ 15 w 44"/>
                <a:gd name="T3" fmla="*/ 18 h 29"/>
                <a:gd name="T4" fmla="*/ 0 w 44"/>
                <a:gd name="T5" fmla="*/ 29 h 29"/>
                <a:gd name="T6" fmla="*/ 44 w 44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9">
                  <a:moveTo>
                    <a:pt x="44" y="0"/>
                  </a:moveTo>
                  <a:lnTo>
                    <a:pt x="15" y="18"/>
                  </a:lnTo>
                  <a:lnTo>
                    <a:pt x="0" y="29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6" name="iṩḷîḑè"/>
            <p:cNvSpPr/>
            <p:nvPr/>
          </p:nvSpPr>
          <p:spPr bwMode="auto">
            <a:xfrm>
              <a:off x="6337050" y="2475466"/>
              <a:ext cx="93860" cy="61863"/>
            </a:xfrm>
            <a:custGeom>
              <a:avLst/>
              <a:gdLst>
                <a:gd name="T0" fmla="*/ 44 w 44"/>
                <a:gd name="T1" fmla="*/ 0 h 29"/>
                <a:gd name="T2" fmla="*/ 15 w 44"/>
                <a:gd name="T3" fmla="*/ 18 h 29"/>
                <a:gd name="T4" fmla="*/ 0 w 44"/>
                <a:gd name="T5" fmla="*/ 29 h 29"/>
                <a:gd name="T6" fmla="*/ 44 w 44"/>
                <a:gd name="T7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29">
                  <a:moveTo>
                    <a:pt x="44" y="0"/>
                  </a:moveTo>
                  <a:lnTo>
                    <a:pt x="15" y="18"/>
                  </a:lnTo>
                  <a:lnTo>
                    <a:pt x="0" y="29"/>
                  </a:lnTo>
                  <a:lnTo>
                    <a:pt x="44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7" name="iṡ1íḑè"/>
            <p:cNvSpPr/>
            <p:nvPr/>
          </p:nvSpPr>
          <p:spPr bwMode="auto">
            <a:xfrm>
              <a:off x="6253857" y="2356008"/>
              <a:ext cx="268781" cy="234650"/>
            </a:xfrm>
            <a:custGeom>
              <a:avLst/>
              <a:gdLst>
                <a:gd name="T0" fmla="*/ 36 w 61"/>
                <a:gd name="T1" fmla="*/ 0 h 53"/>
                <a:gd name="T2" fmla="*/ 0 w 61"/>
                <a:gd name="T3" fmla="*/ 53 h 53"/>
                <a:gd name="T4" fmla="*/ 19 w 61"/>
                <a:gd name="T5" fmla="*/ 41 h 53"/>
                <a:gd name="T6" fmla="*/ 26 w 61"/>
                <a:gd name="T7" fmla="*/ 36 h 53"/>
                <a:gd name="T8" fmla="*/ 40 w 61"/>
                <a:gd name="T9" fmla="*/ 27 h 53"/>
                <a:gd name="T10" fmla="*/ 61 w 61"/>
                <a:gd name="T11" fmla="*/ 12 h 53"/>
                <a:gd name="T12" fmla="*/ 37 w 61"/>
                <a:gd name="T13" fmla="*/ 0 h 53"/>
                <a:gd name="T14" fmla="*/ 36 w 61"/>
                <a:gd name="T15" fmla="*/ 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1" h="53">
                  <a:moveTo>
                    <a:pt x="36" y="0"/>
                  </a:moveTo>
                  <a:cubicBezTo>
                    <a:pt x="30" y="0"/>
                    <a:pt x="0" y="53"/>
                    <a:pt x="0" y="53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61" y="12"/>
                    <a:pt x="61" y="12"/>
                    <a:pt x="61" y="12"/>
                  </a:cubicBezTo>
                  <a:cubicBezTo>
                    <a:pt x="61" y="12"/>
                    <a:pt x="42" y="5"/>
                    <a:pt x="37" y="0"/>
                  </a:cubicBezTo>
                  <a:cubicBezTo>
                    <a:pt x="37" y="0"/>
                    <a:pt x="37" y="0"/>
                    <a:pt x="36" y="0"/>
                  </a:cubicBezTo>
                </a:path>
              </a:pathLst>
            </a:custGeom>
            <a:solidFill>
              <a:srgbClr val="393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8" name="ïṧliďé"/>
            <p:cNvSpPr/>
            <p:nvPr/>
          </p:nvSpPr>
          <p:spPr bwMode="auto">
            <a:xfrm>
              <a:off x="6616498" y="1848309"/>
              <a:ext cx="147190" cy="213319"/>
            </a:xfrm>
            <a:custGeom>
              <a:avLst/>
              <a:gdLst>
                <a:gd name="T0" fmla="*/ 0 w 33"/>
                <a:gd name="T1" fmla="*/ 44 h 48"/>
                <a:gd name="T2" fmla="*/ 28 w 33"/>
                <a:gd name="T3" fmla="*/ 36 h 48"/>
                <a:gd name="T4" fmla="*/ 30 w 33"/>
                <a:gd name="T5" fmla="*/ 11 h 48"/>
                <a:gd name="T6" fmla="*/ 28 w 33"/>
                <a:gd name="T7" fmla="*/ 0 h 48"/>
                <a:gd name="T8" fmla="*/ 8 w 33"/>
                <a:gd name="T9" fmla="*/ 6 h 48"/>
                <a:gd name="T10" fmla="*/ 0 w 33"/>
                <a:gd name="T11" fmla="*/ 40 h 48"/>
                <a:gd name="T12" fmla="*/ 0 w 33"/>
                <a:gd name="T13" fmla="*/ 4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3" h="48">
                  <a:moveTo>
                    <a:pt x="0" y="44"/>
                  </a:moveTo>
                  <a:cubicBezTo>
                    <a:pt x="0" y="44"/>
                    <a:pt x="22" y="48"/>
                    <a:pt x="28" y="36"/>
                  </a:cubicBezTo>
                  <a:cubicBezTo>
                    <a:pt x="33" y="23"/>
                    <a:pt x="30" y="16"/>
                    <a:pt x="30" y="11"/>
                  </a:cubicBezTo>
                  <a:cubicBezTo>
                    <a:pt x="30" y="5"/>
                    <a:pt x="28" y="0"/>
                    <a:pt x="28" y="0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0" y="4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59" name="îṣļíḓè"/>
            <p:cNvSpPr/>
            <p:nvPr/>
          </p:nvSpPr>
          <p:spPr bwMode="auto">
            <a:xfrm>
              <a:off x="6443710" y="1756582"/>
              <a:ext cx="292247" cy="305046"/>
            </a:xfrm>
            <a:custGeom>
              <a:avLst/>
              <a:gdLst>
                <a:gd name="T0" fmla="*/ 16 w 66"/>
                <a:gd name="T1" fmla="*/ 62 h 69"/>
                <a:gd name="T2" fmla="*/ 34 w 66"/>
                <a:gd name="T3" fmla="*/ 69 h 69"/>
                <a:gd name="T4" fmla="*/ 59 w 66"/>
                <a:gd name="T5" fmla="*/ 45 h 69"/>
                <a:gd name="T6" fmla="*/ 65 w 66"/>
                <a:gd name="T7" fmla="*/ 13 h 69"/>
                <a:gd name="T8" fmla="*/ 62 w 66"/>
                <a:gd name="T9" fmla="*/ 0 h 69"/>
                <a:gd name="T10" fmla="*/ 45 w 66"/>
                <a:gd name="T11" fmla="*/ 0 h 69"/>
                <a:gd name="T12" fmla="*/ 7 w 66"/>
                <a:gd name="T13" fmla="*/ 17 h 69"/>
                <a:gd name="T14" fmla="*/ 0 w 66"/>
                <a:gd name="T15" fmla="*/ 40 h 69"/>
                <a:gd name="T16" fmla="*/ 16 w 66"/>
                <a:gd name="T17" fmla="*/ 62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69">
                  <a:moveTo>
                    <a:pt x="16" y="62"/>
                  </a:moveTo>
                  <a:cubicBezTo>
                    <a:pt x="16" y="62"/>
                    <a:pt x="23" y="69"/>
                    <a:pt x="34" y="69"/>
                  </a:cubicBezTo>
                  <a:cubicBezTo>
                    <a:pt x="46" y="69"/>
                    <a:pt x="57" y="60"/>
                    <a:pt x="59" y="45"/>
                  </a:cubicBezTo>
                  <a:cubicBezTo>
                    <a:pt x="62" y="30"/>
                    <a:pt x="65" y="18"/>
                    <a:pt x="65" y="13"/>
                  </a:cubicBezTo>
                  <a:cubicBezTo>
                    <a:pt x="66" y="9"/>
                    <a:pt x="62" y="0"/>
                    <a:pt x="62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0"/>
                    <a:pt x="8" y="16"/>
                    <a:pt x="7" y="17"/>
                  </a:cubicBezTo>
                  <a:cubicBezTo>
                    <a:pt x="6" y="19"/>
                    <a:pt x="0" y="40"/>
                    <a:pt x="0" y="40"/>
                  </a:cubicBezTo>
                  <a:lnTo>
                    <a:pt x="16" y="62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0" name="îṩļidé"/>
            <p:cNvSpPr/>
            <p:nvPr/>
          </p:nvSpPr>
          <p:spPr bwMode="auto">
            <a:xfrm>
              <a:off x="6644229" y="1888839"/>
              <a:ext cx="29865" cy="89594"/>
            </a:xfrm>
            <a:custGeom>
              <a:avLst/>
              <a:gdLst>
                <a:gd name="T0" fmla="*/ 4 w 7"/>
                <a:gd name="T1" fmla="*/ 3 h 20"/>
                <a:gd name="T2" fmla="*/ 0 w 7"/>
                <a:gd name="T3" fmla="*/ 16 h 20"/>
                <a:gd name="T4" fmla="*/ 6 w 7"/>
                <a:gd name="T5" fmla="*/ 16 h 20"/>
                <a:gd name="T6" fmla="*/ 7 w 7"/>
                <a:gd name="T7" fmla="*/ 3 h 20"/>
                <a:gd name="T8" fmla="*/ 4 w 7"/>
                <a:gd name="T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0">
                  <a:moveTo>
                    <a:pt x="4" y="3"/>
                  </a:moveTo>
                  <a:cubicBezTo>
                    <a:pt x="4" y="3"/>
                    <a:pt x="0" y="15"/>
                    <a:pt x="0" y="16"/>
                  </a:cubicBezTo>
                  <a:cubicBezTo>
                    <a:pt x="0" y="17"/>
                    <a:pt x="5" y="20"/>
                    <a:pt x="6" y="16"/>
                  </a:cubicBezTo>
                  <a:cubicBezTo>
                    <a:pt x="6" y="14"/>
                    <a:pt x="7" y="3"/>
                    <a:pt x="7" y="3"/>
                  </a:cubicBezTo>
                  <a:cubicBezTo>
                    <a:pt x="7" y="3"/>
                    <a:pt x="5" y="0"/>
                    <a:pt x="4" y="3"/>
                  </a:cubicBezTo>
                  <a:close/>
                </a:path>
              </a:pathLst>
            </a:custGeom>
            <a:solidFill>
              <a:srgbClr val="A67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1" name="ïşḻíḍè"/>
            <p:cNvSpPr/>
            <p:nvPr/>
          </p:nvSpPr>
          <p:spPr bwMode="auto">
            <a:xfrm>
              <a:off x="6283722" y="1632857"/>
              <a:ext cx="501299" cy="433037"/>
            </a:xfrm>
            <a:custGeom>
              <a:avLst/>
              <a:gdLst>
                <a:gd name="T0" fmla="*/ 58 w 113"/>
                <a:gd name="T1" fmla="*/ 69 h 98"/>
                <a:gd name="T2" fmla="*/ 48 w 113"/>
                <a:gd name="T3" fmla="*/ 95 h 98"/>
                <a:gd name="T4" fmla="*/ 5 w 113"/>
                <a:gd name="T5" fmla="*/ 80 h 98"/>
                <a:gd name="T6" fmla="*/ 13 w 113"/>
                <a:gd name="T7" fmla="*/ 61 h 98"/>
                <a:gd name="T8" fmla="*/ 51 w 113"/>
                <a:gd name="T9" fmla="*/ 8 h 98"/>
                <a:gd name="T10" fmla="*/ 109 w 113"/>
                <a:gd name="T11" fmla="*/ 33 h 98"/>
                <a:gd name="T12" fmla="*/ 98 w 113"/>
                <a:gd name="T13" fmla="*/ 57 h 98"/>
                <a:gd name="T14" fmla="*/ 90 w 113"/>
                <a:gd name="T15" fmla="*/ 37 h 98"/>
                <a:gd name="T16" fmla="*/ 60 w 113"/>
                <a:gd name="T17" fmla="*/ 56 h 98"/>
                <a:gd name="T18" fmla="*/ 47 w 113"/>
                <a:gd name="T19" fmla="*/ 55 h 98"/>
                <a:gd name="T20" fmla="*/ 59 w 113"/>
                <a:gd name="T21" fmla="*/ 65 h 98"/>
                <a:gd name="T22" fmla="*/ 58 w 113"/>
                <a:gd name="T23" fmla="*/ 6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3" h="98">
                  <a:moveTo>
                    <a:pt x="58" y="69"/>
                  </a:moveTo>
                  <a:cubicBezTo>
                    <a:pt x="58" y="69"/>
                    <a:pt x="69" y="92"/>
                    <a:pt x="48" y="95"/>
                  </a:cubicBezTo>
                  <a:cubicBezTo>
                    <a:pt x="27" y="98"/>
                    <a:pt x="9" y="88"/>
                    <a:pt x="5" y="80"/>
                  </a:cubicBezTo>
                  <a:cubicBezTo>
                    <a:pt x="0" y="73"/>
                    <a:pt x="6" y="69"/>
                    <a:pt x="13" y="61"/>
                  </a:cubicBezTo>
                  <a:cubicBezTo>
                    <a:pt x="19" y="53"/>
                    <a:pt x="21" y="16"/>
                    <a:pt x="51" y="8"/>
                  </a:cubicBezTo>
                  <a:cubicBezTo>
                    <a:pt x="81" y="0"/>
                    <a:pt x="106" y="16"/>
                    <a:pt x="109" y="33"/>
                  </a:cubicBezTo>
                  <a:cubicBezTo>
                    <a:pt x="113" y="50"/>
                    <a:pt x="98" y="57"/>
                    <a:pt x="98" y="57"/>
                  </a:cubicBezTo>
                  <a:cubicBezTo>
                    <a:pt x="98" y="57"/>
                    <a:pt x="91" y="47"/>
                    <a:pt x="90" y="37"/>
                  </a:cubicBezTo>
                  <a:cubicBezTo>
                    <a:pt x="90" y="37"/>
                    <a:pt x="81" y="53"/>
                    <a:pt x="60" y="56"/>
                  </a:cubicBezTo>
                  <a:cubicBezTo>
                    <a:pt x="60" y="56"/>
                    <a:pt x="49" y="47"/>
                    <a:pt x="47" y="55"/>
                  </a:cubicBezTo>
                  <a:cubicBezTo>
                    <a:pt x="44" y="63"/>
                    <a:pt x="59" y="65"/>
                    <a:pt x="59" y="65"/>
                  </a:cubicBezTo>
                  <a:cubicBezTo>
                    <a:pt x="59" y="65"/>
                    <a:pt x="57" y="67"/>
                    <a:pt x="58" y="69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2" name="íṩḻiḋé"/>
            <p:cNvSpPr/>
            <p:nvPr/>
          </p:nvSpPr>
          <p:spPr bwMode="auto">
            <a:xfrm>
              <a:off x="4564374" y="2825308"/>
              <a:ext cx="377575" cy="554628"/>
            </a:xfrm>
            <a:custGeom>
              <a:avLst/>
              <a:gdLst>
                <a:gd name="T0" fmla="*/ 0 w 85"/>
                <a:gd name="T1" fmla="*/ 56 h 125"/>
                <a:gd name="T2" fmla="*/ 19 w 85"/>
                <a:gd name="T3" fmla="*/ 111 h 125"/>
                <a:gd name="T4" fmla="*/ 85 w 85"/>
                <a:gd name="T5" fmla="*/ 66 h 125"/>
                <a:gd name="T6" fmla="*/ 84 w 85"/>
                <a:gd name="T7" fmla="*/ 52 h 125"/>
                <a:gd name="T8" fmla="*/ 66 w 85"/>
                <a:gd name="T9" fmla="*/ 29 h 125"/>
                <a:gd name="T10" fmla="*/ 30 w 85"/>
                <a:gd name="T11" fmla="*/ 0 h 125"/>
                <a:gd name="T12" fmla="*/ 0 w 85"/>
                <a:gd name="T13" fmla="*/ 56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" h="125">
                  <a:moveTo>
                    <a:pt x="0" y="56"/>
                  </a:moveTo>
                  <a:cubicBezTo>
                    <a:pt x="0" y="56"/>
                    <a:pt x="12" y="97"/>
                    <a:pt x="19" y="111"/>
                  </a:cubicBezTo>
                  <a:cubicBezTo>
                    <a:pt x="25" y="125"/>
                    <a:pt x="85" y="66"/>
                    <a:pt x="85" y="66"/>
                  </a:cubicBezTo>
                  <a:cubicBezTo>
                    <a:pt x="84" y="52"/>
                    <a:pt x="84" y="52"/>
                    <a:pt x="84" y="52"/>
                  </a:cubicBezTo>
                  <a:cubicBezTo>
                    <a:pt x="84" y="52"/>
                    <a:pt x="74" y="42"/>
                    <a:pt x="66" y="29"/>
                  </a:cubicBezTo>
                  <a:cubicBezTo>
                    <a:pt x="58" y="16"/>
                    <a:pt x="30" y="0"/>
                    <a:pt x="30" y="0"/>
                  </a:cubicBezTo>
                  <a:lnTo>
                    <a:pt x="0" y="56"/>
                  </a:lnTo>
                  <a:close/>
                </a:path>
              </a:pathLst>
            </a:custGeom>
            <a:solidFill>
              <a:srgbClr val="FACD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3" name="iSlíḑé"/>
            <p:cNvSpPr/>
            <p:nvPr/>
          </p:nvSpPr>
          <p:spPr bwMode="auto">
            <a:xfrm>
              <a:off x="5246993" y="3507928"/>
              <a:ext cx="119458" cy="217585"/>
            </a:xfrm>
            <a:custGeom>
              <a:avLst/>
              <a:gdLst>
                <a:gd name="T0" fmla="*/ 7 w 27"/>
                <a:gd name="T1" fmla="*/ 9 h 49"/>
                <a:gd name="T2" fmla="*/ 3 w 27"/>
                <a:gd name="T3" fmla="*/ 22 h 49"/>
                <a:gd name="T4" fmla="*/ 3 w 27"/>
                <a:gd name="T5" fmla="*/ 32 h 49"/>
                <a:gd name="T6" fmla="*/ 10 w 27"/>
                <a:gd name="T7" fmla="*/ 21 h 49"/>
                <a:gd name="T8" fmla="*/ 18 w 27"/>
                <a:gd name="T9" fmla="*/ 49 h 49"/>
                <a:gd name="T10" fmla="*/ 27 w 27"/>
                <a:gd name="T11" fmla="*/ 42 h 49"/>
                <a:gd name="T12" fmla="*/ 26 w 27"/>
                <a:gd name="T13" fmla="*/ 18 h 49"/>
                <a:gd name="T14" fmla="*/ 17 w 27"/>
                <a:gd name="T15" fmla="*/ 0 h 49"/>
                <a:gd name="T16" fmla="*/ 7 w 27"/>
                <a:gd name="T17" fmla="*/ 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49">
                  <a:moveTo>
                    <a:pt x="7" y="9"/>
                  </a:moveTo>
                  <a:cubicBezTo>
                    <a:pt x="7" y="9"/>
                    <a:pt x="4" y="17"/>
                    <a:pt x="3" y="22"/>
                  </a:cubicBezTo>
                  <a:cubicBezTo>
                    <a:pt x="2" y="27"/>
                    <a:pt x="0" y="31"/>
                    <a:pt x="3" y="32"/>
                  </a:cubicBezTo>
                  <a:cubicBezTo>
                    <a:pt x="6" y="33"/>
                    <a:pt x="10" y="21"/>
                    <a:pt x="10" y="21"/>
                  </a:cubicBezTo>
                  <a:cubicBezTo>
                    <a:pt x="10" y="21"/>
                    <a:pt x="12" y="49"/>
                    <a:pt x="18" y="49"/>
                  </a:cubicBezTo>
                  <a:cubicBezTo>
                    <a:pt x="24" y="49"/>
                    <a:pt x="26" y="49"/>
                    <a:pt x="27" y="42"/>
                  </a:cubicBezTo>
                  <a:cubicBezTo>
                    <a:pt x="27" y="36"/>
                    <a:pt x="27" y="27"/>
                    <a:pt x="26" y="18"/>
                  </a:cubicBezTo>
                  <a:cubicBezTo>
                    <a:pt x="25" y="10"/>
                    <a:pt x="17" y="0"/>
                    <a:pt x="17" y="0"/>
                  </a:cubicBezTo>
                  <a:lnTo>
                    <a:pt x="7" y="9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4" name="isḻîḓé"/>
            <p:cNvSpPr/>
            <p:nvPr/>
          </p:nvSpPr>
          <p:spPr bwMode="auto">
            <a:xfrm>
              <a:off x="4481179" y="3015161"/>
              <a:ext cx="893805" cy="714618"/>
            </a:xfrm>
            <a:custGeom>
              <a:avLst/>
              <a:gdLst>
                <a:gd name="T0" fmla="*/ 93 w 202"/>
                <a:gd name="T1" fmla="*/ 112 h 161"/>
                <a:gd name="T2" fmla="*/ 62 w 202"/>
                <a:gd name="T3" fmla="*/ 86 h 161"/>
                <a:gd name="T4" fmla="*/ 56 w 202"/>
                <a:gd name="T5" fmla="*/ 125 h 161"/>
                <a:gd name="T6" fmla="*/ 50 w 202"/>
                <a:gd name="T7" fmla="*/ 141 h 161"/>
                <a:gd name="T8" fmla="*/ 21 w 202"/>
                <a:gd name="T9" fmla="*/ 161 h 161"/>
                <a:gd name="T10" fmla="*/ 4 w 202"/>
                <a:gd name="T11" fmla="*/ 112 h 161"/>
                <a:gd name="T12" fmla="*/ 40 w 202"/>
                <a:gd name="T13" fmla="*/ 47 h 161"/>
                <a:gd name="T14" fmla="*/ 64 w 202"/>
                <a:gd name="T15" fmla="*/ 29 h 161"/>
                <a:gd name="T16" fmla="*/ 104 w 202"/>
                <a:gd name="T17" fmla="*/ 8 h 161"/>
                <a:gd name="T18" fmla="*/ 166 w 202"/>
                <a:gd name="T19" fmla="*/ 15 h 161"/>
                <a:gd name="T20" fmla="*/ 190 w 202"/>
                <a:gd name="T21" fmla="*/ 111 h 161"/>
                <a:gd name="T22" fmla="*/ 180 w 202"/>
                <a:gd name="T23" fmla="*/ 119 h 161"/>
                <a:gd name="T24" fmla="*/ 158 w 202"/>
                <a:gd name="T25" fmla="*/ 81 h 161"/>
                <a:gd name="T26" fmla="*/ 157 w 202"/>
                <a:gd name="T27" fmla="*/ 69 h 161"/>
                <a:gd name="T28" fmla="*/ 93 w 202"/>
                <a:gd name="T29" fmla="*/ 112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2" h="161">
                  <a:moveTo>
                    <a:pt x="93" y="112"/>
                  </a:moveTo>
                  <a:cubicBezTo>
                    <a:pt x="93" y="112"/>
                    <a:pt x="66" y="87"/>
                    <a:pt x="62" y="86"/>
                  </a:cubicBezTo>
                  <a:cubicBezTo>
                    <a:pt x="59" y="86"/>
                    <a:pt x="59" y="113"/>
                    <a:pt x="56" y="125"/>
                  </a:cubicBezTo>
                  <a:cubicBezTo>
                    <a:pt x="53" y="137"/>
                    <a:pt x="50" y="141"/>
                    <a:pt x="50" y="141"/>
                  </a:cubicBezTo>
                  <a:cubicBezTo>
                    <a:pt x="21" y="161"/>
                    <a:pt x="21" y="161"/>
                    <a:pt x="21" y="161"/>
                  </a:cubicBezTo>
                  <a:cubicBezTo>
                    <a:pt x="21" y="161"/>
                    <a:pt x="0" y="131"/>
                    <a:pt x="4" y="112"/>
                  </a:cubicBezTo>
                  <a:cubicBezTo>
                    <a:pt x="8" y="92"/>
                    <a:pt x="17" y="67"/>
                    <a:pt x="40" y="47"/>
                  </a:cubicBezTo>
                  <a:cubicBezTo>
                    <a:pt x="40" y="47"/>
                    <a:pt x="54" y="34"/>
                    <a:pt x="64" y="29"/>
                  </a:cubicBezTo>
                  <a:cubicBezTo>
                    <a:pt x="75" y="24"/>
                    <a:pt x="91" y="10"/>
                    <a:pt x="104" y="8"/>
                  </a:cubicBezTo>
                  <a:cubicBezTo>
                    <a:pt x="117" y="5"/>
                    <a:pt x="137" y="0"/>
                    <a:pt x="166" y="15"/>
                  </a:cubicBezTo>
                  <a:cubicBezTo>
                    <a:pt x="195" y="30"/>
                    <a:pt x="202" y="72"/>
                    <a:pt x="190" y="111"/>
                  </a:cubicBezTo>
                  <a:cubicBezTo>
                    <a:pt x="190" y="111"/>
                    <a:pt x="189" y="118"/>
                    <a:pt x="180" y="119"/>
                  </a:cubicBezTo>
                  <a:cubicBezTo>
                    <a:pt x="180" y="119"/>
                    <a:pt x="161" y="100"/>
                    <a:pt x="158" y="81"/>
                  </a:cubicBezTo>
                  <a:cubicBezTo>
                    <a:pt x="155" y="61"/>
                    <a:pt x="157" y="69"/>
                    <a:pt x="157" y="69"/>
                  </a:cubicBezTo>
                  <a:cubicBezTo>
                    <a:pt x="93" y="112"/>
                    <a:pt x="93" y="112"/>
                    <a:pt x="93" y="112"/>
                  </a:cubicBezTo>
                </a:path>
              </a:pathLst>
            </a:custGeom>
            <a:solidFill>
              <a:srgbClr val="FF8D6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5" name="îŝļíde"/>
            <p:cNvSpPr/>
            <p:nvPr/>
          </p:nvSpPr>
          <p:spPr bwMode="auto">
            <a:xfrm>
              <a:off x="4875819" y="3232746"/>
              <a:ext cx="300780" cy="279448"/>
            </a:xfrm>
            <a:custGeom>
              <a:avLst/>
              <a:gdLst>
                <a:gd name="T0" fmla="*/ 30 w 68"/>
                <a:gd name="T1" fmla="*/ 0 h 63"/>
                <a:gd name="T2" fmla="*/ 23 w 68"/>
                <a:gd name="T3" fmla="*/ 39 h 63"/>
                <a:gd name="T4" fmla="*/ 0 w 68"/>
                <a:gd name="T5" fmla="*/ 59 h 63"/>
                <a:gd name="T6" fmla="*/ 4 w 68"/>
                <a:gd name="T7" fmla="*/ 63 h 63"/>
                <a:gd name="T8" fmla="*/ 68 w 68"/>
                <a:gd name="T9" fmla="*/ 20 h 63"/>
                <a:gd name="T10" fmla="*/ 53 w 68"/>
                <a:gd name="T11" fmla="*/ 10 h 63"/>
                <a:gd name="T12" fmla="*/ 30 w 68"/>
                <a:gd name="T13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" h="63">
                  <a:moveTo>
                    <a:pt x="30" y="0"/>
                  </a:moveTo>
                  <a:cubicBezTo>
                    <a:pt x="30" y="0"/>
                    <a:pt x="34" y="25"/>
                    <a:pt x="23" y="39"/>
                  </a:cubicBezTo>
                  <a:cubicBezTo>
                    <a:pt x="11" y="53"/>
                    <a:pt x="0" y="59"/>
                    <a:pt x="0" y="59"/>
                  </a:cubicBezTo>
                  <a:cubicBezTo>
                    <a:pt x="4" y="63"/>
                    <a:pt x="4" y="63"/>
                    <a:pt x="4" y="63"/>
                  </a:cubicBezTo>
                  <a:cubicBezTo>
                    <a:pt x="68" y="20"/>
                    <a:pt x="68" y="20"/>
                    <a:pt x="68" y="20"/>
                  </a:cubicBezTo>
                  <a:cubicBezTo>
                    <a:pt x="68" y="20"/>
                    <a:pt x="67" y="14"/>
                    <a:pt x="53" y="10"/>
                  </a:cubicBezTo>
                  <a:cubicBezTo>
                    <a:pt x="40" y="8"/>
                    <a:pt x="30" y="0"/>
                    <a:pt x="30" y="0"/>
                  </a:cubicBezTo>
                </a:path>
              </a:pathLst>
            </a:custGeom>
            <a:solidFill>
              <a:srgbClr val="C76E5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6" name="ïšlíḍé"/>
            <p:cNvSpPr/>
            <p:nvPr/>
          </p:nvSpPr>
          <p:spPr bwMode="auto">
            <a:xfrm>
              <a:off x="4671033" y="3064225"/>
              <a:ext cx="164256" cy="134391"/>
            </a:xfrm>
            <a:custGeom>
              <a:avLst/>
              <a:gdLst>
                <a:gd name="T0" fmla="*/ 0 w 37"/>
                <a:gd name="T1" fmla="*/ 12 h 30"/>
                <a:gd name="T2" fmla="*/ 15 w 37"/>
                <a:gd name="T3" fmla="*/ 27 h 30"/>
                <a:gd name="T4" fmla="*/ 16 w 37"/>
                <a:gd name="T5" fmla="*/ 30 h 30"/>
                <a:gd name="T6" fmla="*/ 37 w 37"/>
                <a:gd name="T7" fmla="*/ 10 h 30"/>
                <a:gd name="T8" fmla="*/ 15 w 37"/>
                <a:gd name="T9" fmla="*/ 0 h 30"/>
                <a:gd name="T10" fmla="*/ 0 w 37"/>
                <a:gd name="T11" fmla="*/ 12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30">
                  <a:moveTo>
                    <a:pt x="0" y="12"/>
                  </a:moveTo>
                  <a:cubicBezTo>
                    <a:pt x="0" y="12"/>
                    <a:pt x="14" y="23"/>
                    <a:pt x="15" y="27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36" y="25"/>
                    <a:pt x="37" y="10"/>
                  </a:cubicBezTo>
                  <a:cubicBezTo>
                    <a:pt x="37" y="10"/>
                    <a:pt x="18" y="4"/>
                    <a:pt x="15" y="0"/>
                  </a:cubicBezTo>
                  <a:lnTo>
                    <a:pt x="0" y="12"/>
                  </a:lnTo>
                  <a:close/>
                </a:path>
              </a:pathLst>
            </a:custGeom>
            <a:solidFill>
              <a:srgbClr val="C184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7" name="íṩľïďè"/>
            <p:cNvSpPr/>
            <p:nvPr/>
          </p:nvSpPr>
          <p:spPr bwMode="auto">
            <a:xfrm>
              <a:off x="4511044" y="2865838"/>
              <a:ext cx="262382" cy="279448"/>
            </a:xfrm>
            <a:custGeom>
              <a:avLst/>
              <a:gdLst>
                <a:gd name="T0" fmla="*/ 0 w 59"/>
                <a:gd name="T1" fmla="*/ 35 h 63"/>
                <a:gd name="T2" fmla="*/ 24 w 59"/>
                <a:gd name="T3" fmla="*/ 57 h 63"/>
                <a:gd name="T4" fmla="*/ 55 w 59"/>
                <a:gd name="T5" fmla="*/ 45 h 63"/>
                <a:gd name="T6" fmla="*/ 50 w 59"/>
                <a:gd name="T7" fmla="*/ 21 h 63"/>
                <a:gd name="T8" fmla="*/ 53 w 59"/>
                <a:gd name="T9" fmla="*/ 11 h 63"/>
                <a:gd name="T10" fmla="*/ 45 w 59"/>
                <a:gd name="T11" fmla="*/ 14 h 63"/>
                <a:gd name="T12" fmla="*/ 40 w 59"/>
                <a:gd name="T13" fmla="*/ 4 h 63"/>
                <a:gd name="T14" fmla="*/ 31 w 59"/>
                <a:gd name="T15" fmla="*/ 0 h 63"/>
                <a:gd name="T16" fmla="*/ 0 w 59"/>
                <a:gd name="T17" fmla="*/ 3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9" h="63">
                  <a:moveTo>
                    <a:pt x="0" y="35"/>
                  </a:moveTo>
                  <a:cubicBezTo>
                    <a:pt x="0" y="35"/>
                    <a:pt x="11" y="52"/>
                    <a:pt x="24" y="57"/>
                  </a:cubicBezTo>
                  <a:cubicBezTo>
                    <a:pt x="36" y="63"/>
                    <a:pt x="52" y="59"/>
                    <a:pt x="55" y="45"/>
                  </a:cubicBezTo>
                  <a:cubicBezTo>
                    <a:pt x="59" y="31"/>
                    <a:pt x="50" y="21"/>
                    <a:pt x="50" y="21"/>
                  </a:cubicBezTo>
                  <a:cubicBezTo>
                    <a:pt x="50" y="21"/>
                    <a:pt x="58" y="15"/>
                    <a:pt x="53" y="11"/>
                  </a:cubicBezTo>
                  <a:cubicBezTo>
                    <a:pt x="49" y="6"/>
                    <a:pt x="46" y="14"/>
                    <a:pt x="45" y="14"/>
                  </a:cubicBezTo>
                  <a:cubicBezTo>
                    <a:pt x="43" y="14"/>
                    <a:pt x="40" y="4"/>
                    <a:pt x="40" y="4"/>
                  </a:cubicBezTo>
                  <a:cubicBezTo>
                    <a:pt x="31" y="0"/>
                    <a:pt x="31" y="0"/>
                    <a:pt x="31" y="0"/>
                  </a:cubicBezTo>
                  <a:lnTo>
                    <a:pt x="0" y="35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8" name="îśľïḋê"/>
            <p:cNvSpPr/>
            <p:nvPr/>
          </p:nvSpPr>
          <p:spPr bwMode="auto">
            <a:xfrm>
              <a:off x="4457715" y="2750646"/>
              <a:ext cx="398906" cy="296513"/>
            </a:xfrm>
            <a:custGeom>
              <a:avLst/>
              <a:gdLst>
                <a:gd name="T0" fmla="*/ 90 w 90"/>
                <a:gd name="T1" fmla="*/ 46 h 67"/>
                <a:gd name="T2" fmla="*/ 71 w 90"/>
                <a:gd name="T3" fmla="*/ 16 h 67"/>
                <a:gd name="T4" fmla="*/ 14 w 90"/>
                <a:gd name="T5" fmla="*/ 11 h 67"/>
                <a:gd name="T6" fmla="*/ 2 w 90"/>
                <a:gd name="T7" fmla="*/ 52 h 67"/>
                <a:gd name="T8" fmla="*/ 15 w 90"/>
                <a:gd name="T9" fmla="*/ 64 h 67"/>
                <a:gd name="T10" fmla="*/ 40 w 90"/>
                <a:gd name="T11" fmla="*/ 48 h 67"/>
                <a:gd name="T12" fmla="*/ 44 w 90"/>
                <a:gd name="T13" fmla="*/ 36 h 67"/>
                <a:gd name="T14" fmla="*/ 47 w 90"/>
                <a:gd name="T15" fmla="*/ 45 h 67"/>
                <a:gd name="T16" fmla="*/ 53 w 90"/>
                <a:gd name="T17" fmla="*/ 39 h 67"/>
                <a:gd name="T18" fmla="*/ 57 w 90"/>
                <a:gd name="T19" fmla="*/ 42 h 67"/>
                <a:gd name="T20" fmla="*/ 64 w 90"/>
                <a:gd name="T21" fmla="*/ 29 h 67"/>
                <a:gd name="T22" fmla="*/ 87 w 90"/>
                <a:gd name="T23" fmla="*/ 52 h 67"/>
                <a:gd name="T24" fmla="*/ 90 w 90"/>
                <a:gd name="T25" fmla="*/ 46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0" h="67">
                  <a:moveTo>
                    <a:pt x="90" y="46"/>
                  </a:moveTo>
                  <a:cubicBezTo>
                    <a:pt x="90" y="46"/>
                    <a:pt x="86" y="28"/>
                    <a:pt x="71" y="16"/>
                  </a:cubicBezTo>
                  <a:cubicBezTo>
                    <a:pt x="55" y="3"/>
                    <a:pt x="28" y="0"/>
                    <a:pt x="14" y="11"/>
                  </a:cubicBezTo>
                  <a:cubicBezTo>
                    <a:pt x="0" y="23"/>
                    <a:pt x="3" y="44"/>
                    <a:pt x="2" y="52"/>
                  </a:cubicBezTo>
                  <a:cubicBezTo>
                    <a:pt x="1" y="59"/>
                    <a:pt x="6" y="67"/>
                    <a:pt x="15" y="64"/>
                  </a:cubicBezTo>
                  <a:cubicBezTo>
                    <a:pt x="25" y="62"/>
                    <a:pt x="37" y="58"/>
                    <a:pt x="40" y="48"/>
                  </a:cubicBezTo>
                  <a:cubicBezTo>
                    <a:pt x="44" y="38"/>
                    <a:pt x="44" y="36"/>
                    <a:pt x="44" y="36"/>
                  </a:cubicBezTo>
                  <a:cubicBezTo>
                    <a:pt x="44" y="36"/>
                    <a:pt x="45" y="46"/>
                    <a:pt x="47" y="45"/>
                  </a:cubicBezTo>
                  <a:cubicBezTo>
                    <a:pt x="50" y="44"/>
                    <a:pt x="53" y="39"/>
                    <a:pt x="53" y="39"/>
                  </a:cubicBezTo>
                  <a:cubicBezTo>
                    <a:pt x="53" y="39"/>
                    <a:pt x="55" y="46"/>
                    <a:pt x="57" y="42"/>
                  </a:cubicBezTo>
                  <a:cubicBezTo>
                    <a:pt x="59" y="38"/>
                    <a:pt x="60" y="34"/>
                    <a:pt x="64" y="29"/>
                  </a:cubicBezTo>
                  <a:cubicBezTo>
                    <a:pt x="67" y="25"/>
                    <a:pt x="87" y="52"/>
                    <a:pt x="87" y="52"/>
                  </a:cubicBezTo>
                  <a:lnTo>
                    <a:pt x="90" y="46"/>
                  </a:lnTo>
                  <a:close/>
                </a:path>
              </a:pathLst>
            </a:custGeom>
            <a:solidFill>
              <a:srgbClr val="FACD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69" name="iSḻide"/>
            <p:cNvSpPr/>
            <p:nvPr/>
          </p:nvSpPr>
          <p:spPr bwMode="auto">
            <a:xfrm>
              <a:off x="4621969" y="3019428"/>
              <a:ext cx="49064" cy="49064"/>
            </a:xfrm>
            <a:custGeom>
              <a:avLst/>
              <a:gdLst>
                <a:gd name="T0" fmla="*/ 1 w 11"/>
                <a:gd name="T1" fmla="*/ 3 h 11"/>
                <a:gd name="T2" fmla="*/ 6 w 11"/>
                <a:gd name="T3" fmla="*/ 10 h 11"/>
                <a:gd name="T4" fmla="*/ 10 w 11"/>
                <a:gd name="T5" fmla="*/ 7 h 11"/>
                <a:gd name="T6" fmla="*/ 3 w 11"/>
                <a:gd name="T7" fmla="*/ 0 h 11"/>
                <a:gd name="T8" fmla="*/ 1 w 11"/>
                <a:gd name="T9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11">
                  <a:moveTo>
                    <a:pt x="1" y="3"/>
                  </a:moveTo>
                  <a:cubicBezTo>
                    <a:pt x="6" y="10"/>
                    <a:pt x="6" y="10"/>
                    <a:pt x="6" y="10"/>
                  </a:cubicBezTo>
                  <a:cubicBezTo>
                    <a:pt x="6" y="10"/>
                    <a:pt x="11" y="11"/>
                    <a:pt x="10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0" y="0"/>
                    <a:pt x="1" y="3"/>
                  </a:cubicBezTo>
                  <a:close/>
                </a:path>
              </a:pathLst>
            </a:custGeom>
            <a:solidFill>
              <a:srgbClr val="A67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0" name="îślíďé"/>
            <p:cNvSpPr/>
            <p:nvPr/>
          </p:nvSpPr>
          <p:spPr bwMode="auto">
            <a:xfrm>
              <a:off x="2356526" y="4461461"/>
              <a:ext cx="1019663" cy="484234"/>
            </a:xfrm>
            <a:custGeom>
              <a:avLst/>
              <a:gdLst>
                <a:gd name="T0" fmla="*/ 91 w 230"/>
                <a:gd name="T1" fmla="*/ 0 h 109"/>
                <a:gd name="T2" fmla="*/ 71 w 230"/>
                <a:gd name="T3" fmla="*/ 40 h 109"/>
                <a:gd name="T4" fmla="*/ 109 w 230"/>
                <a:gd name="T5" fmla="*/ 60 h 109"/>
                <a:gd name="T6" fmla="*/ 166 w 230"/>
                <a:gd name="T7" fmla="*/ 68 h 109"/>
                <a:gd name="T8" fmla="*/ 64 w 230"/>
                <a:gd name="T9" fmla="*/ 60 h 109"/>
                <a:gd name="T10" fmla="*/ 4 w 230"/>
                <a:gd name="T11" fmla="*/ 71 h 109"/>
                <a:gd name="T12" fmla="*/ 3 w 230"/>
                <a:gd name="T13" fmla="*/ 97 h 109"/>
                <a:gd name="T14" fmla="*/ 69 w 230"/>
                <a:gd name="T15" fmla="*/ 100 h 109"/>
                <a:gd name="T16" fmla="*/ 205 w 230"/>
                <a:gd name="T17" fmla="*/ 95 h 109"/>
                <a:gd name="T18" fmla="*/ 222 w 230"/>
                <a:gd name="T19" fmla="*/ 53 h 109"/>
                <a:gd name="T20" fmla="*/ 166 w 230"/>
                <a:gd name="T21" fmla="*/ 16 h 109"/>
                <a:gd name="T22" fmla="*/ 91 w 230"/>
                <a:gd name="T23" fmla="*/ 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0" h="109">
                  <a:moveTo>
                    <a:pt x="91" y="0"/>
                  </a:moveTo>
                  <a:cubicBezTo>
                    <a:pt x="91" y="0"/>
                    <a:pt x="65" y="22"/>
                    <a:pt x="71" y="40"/>
                  </a:cubicBezTo>
                  <a:cubicBezTo>
                    <a:pt x="77" y="57"/>
                    <a:pt x="86" y="59"/>
                    <a:pt x="109" y="60"/>
                  </a:cubicBezTo>
                  <a:cubicBezTo>
                    <a:pt x="132" y="61"/>
                    <a:pt x="166" y="68"/>
                    <a:pt x="166" y="68"/>
                  </a:cubicBezTo>
                  <a:cubicBezTo>
                    <a:pt x="166" y="68"/>
                    <a:pt x="112" y="56"/>
                    <a:pt x="64" y="60"/>
                  </a:cubicBezTo>
                  <a:cubicBezTo>
                    <a:pt x="34" y="63"/>
                    <a:pt x="9" y="71"/>
                    <a:pt x="4" y="71"/>
                  </a:cubicBezTo>
                  <a:cubicBezTo>
                    <a:pt x="0" y="71"/>
                    <a:pt x="3" y="95"/>
                    <a:pt x="3" y="97"/>
                  </a:cubicBezTo>
                  <a:cubicBezTo>
                    <a:pt x="3" y="100"/>
                    <a:pt x="30" y="97"/>
                    <a:pt x="69" y="100"/>
                  </a:cubicBezTo>
                  <a:cubicBezTo>
                    <a:pt x="108" y="102"/>
                    <a:pt x="195" y="109"/>
                    <a:pt x="205" y="95"/>
                  </a:cubicBezTo>
                  <a:cubicBezTo>
                    <a:pt x="215" y="81"/>
                    <a:pt x="230" y="66"/>
                    <a:pt x="222" y="53"/>
                  </a:cubicBezTo>
                  <a:cubicBezTo>
                    <a:pt x="214" y="41"/>
                    <a:pt x="178" y="16"/>
                    <a:pt x="166" y="16"/>
                  </a:cubicBezTo>
                  <a:cubicBezTo>
                    <a:pt x="153" y="16"/>
                    <a:pt x="91" y="0"/>
                    <a:pt x="91" y="0"/>
                  </a:cubicBezTo>
                </a:path>
              </a:pathLst>
            </a:custGeom>
            <a:solidFill>
              <a:srgbClr val="292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1" name="ïşľîḍè"/>
            <p:cNvSpPr/>
            <p:nvPr/>
          </p:nvSpPr>
          <p:spPr bwMode="auto">
            <a:xfrm>
              <a:off x="2392791" y="4723844"/>
              <a:ext cx="703951" cy="61863"/>
            </a:xfrm>
            <a:custGeom>
              <a:avLst/>
              <a:gdLst>
                <a:gd name="T0" fmla="*/ 78 w 159"/>
                <a:gd name="T1" fmla="*/ 0 h 14"/>
                <a:gd name="T2" fmla="*/ 56 w 159"/>
                <a:gd name="T3" fmla="*/ 1 h 14"/>
                <a:gd name="T4" fmla="*/ 0 w 159"/>
                <a:gd name="T5" fmla="*/ 11 h 14"/>
                <a:gd name="T6" fmla="*/ 48 w 159"/>
                <a:gd name="T7" fmla="*/ 8 h 14"/>
                <a:gd name="T8" fmla="*/ 58 w 159"/>
                <a:gd name="T9" fmla="*/ 8 h 14"/>
                <a:gd name="T10" fmla="*/ 148 w 159"/>
                <a:gd name="T11" fmla="*/ 14 h 14"/>
                <a:gd name="T12" fmla="*/ 149 w 159"/>
                <a:gd name="T13" fmla="*/ 14 h 14"/>
                <a:gd name="T14" fmla="*/ 158 w 159"/>
                <a:gd name="T15" fmla="*/ 9 h 14"/>
                <a:gd name="T16" fmla="*/ 91 w 159"/>
                <a:gd name="T17" fmla="*/ 1 h 14"/>
                <a:gd name="T18" fmla="*/ 91 w 159"/>
                <a:gd name="T19" fmla="*/ 1 h 14"/>
                <a:gd name="T20" fmla="*/ 78 w 159"/>
                <a:gd name="T2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9" h="14">
                  <a:moveTo>
                    <a:pt x="78" y="0"/>
                  </a:moveTo>
                  <a:cubicBezTo>
                    <a:pt x="71" y="0"/>
                    <a:pt x="64" y="1"/>
                    <a:pt x="56" y="1"/>
                  </a:cubicBezTo>
                  <a:cubicBezTo>
                    <a:pt x="31" y="4"/>
                    <a:pt x="8" y="10"/>
                    <a:pt x="0" y="11"/>
                  </a:cubicBezTo>
                  <a:cubicBezTo>
                    <a:pt x="8" y="10"/>
                    <a:pt x="28" y="8"/>
                    <a:pt x="48" y="8"/>
                  </a:cubicBezTo>
                  <a:cubicBezTo>
                    <a:pt x="51" y="8"/>
                    <a:pt x="55" y="8"/>
                    <a:pt x="58" y="8"/>
                  </a:cubicBezTo>
                  <a:cubicBezTo>
                    <a:pt x="84" y="9"/>
                    <a:pt x="135" y="14"/>
                    <a:pt x="148" y="14"/>
                  </a:cubicBezTo>
                  <a:cubicBezTo>
                    <a:pt x="148" y="14"/>
                    <a:pt x="149" y="14"/>
                    <a:pt x="149" y="14"/>
                  </a:cubicBezTo>
                  <a:cubicBezTo>
                    <a:pt x="159" y="13"/>
                    <a:pt x="158" y="9"/>
                    <a:pt x="158" y="9"/>
                  </a:cubicBezTo>
                  <a:cubicBezTo>
                    <a:pt x="158" y="9"/>
                    <a:pt x="127" y="2"/>
                    <a:pt x="91" y="1"/>
                  </a:cubicBezTo>
                  <a:cubicBezTo>
                    <a:pt x="91" y="1"/>
                    <a:pt x="91" y="1"/>
                    <a:pt x="91" y="1"/>
                  </a:cubicBezTo>
                  <a:cubicBezTo>
                    <a:pt x="87" y="0"/>
                    <a:pt x="83" y="0"/>
                    <a:pt x="78" y="0"/>
                  </a:cubicBezTo>
                </a:path>
              </a:pathLst>
            </a:custGeom>
            <a:solidFill>
              <a:srgbClr val="20224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2" name="íṣļîde"/>
            <p:cNvSpPr/>
            <p:nvPr/>
          </p:nvSpPr>
          <p:spPr bwMode="auto">
            <a:xfrm>
              <a:off x="2375726" y="4772906"/>
              <a:ext cx="17065" cy="4266"/>
            </a:xfrm>
            <a:custGeom>
              <a:avLst/>
              <a:gdLst>
                <a:gd name="T0" fmla="*/ 4 w 4"/>
                <a:gd name="T1" fmla="*/ 0 h 1"/>
                <a:gd name="T2" fmla="*/ 0 w 4"/>
                <a:gd name="T3" fmla="*/ 1 h 1"/>
                <a:gd name="T4" fmla="*/ 4 w 4"/>
                <a:gd name="T5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cubicBezTo>
                    <a:pt x="2" y="0"/>
                    <a:pt x="0" y="1"/>
                    <a:pt x="0" y="1"/>
                  </a:cubicBezTo>
                  <a:cubicBezTo>
                    <a:pt x="1" y="1"/>
                    <a:pt x="2" y="1"/>
                    <a:pt x="4" y="0"/>
                  </a:cubicBezTo>
                </a:path>
              </a:pathLst>
            </a:custGeom>
            <a:solidFill>
              <a:srgbClr val="C7C7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3" name="iślíďè"/>
            <p:cNvSpPr/>
            <p:nvPr/>
          </p:nvSpPr>
          <p:spPr bwMode="auto">
            <a:xfrm>
              <a:off x="3190602" y="4263076"/>
              <a:ext cx="558895" cy="226118"/>
            </a:xfrm>
            <a:custGeom>
              <a:avLst/>
              <a:gdLst>
                <a:gd name="T0" fmla="*/ 8 w 126"/>
                <a:gd name="T1" fmla="*/ 28 h 51"/>
                <a:gd name="T2" fmla="*/ 58 w 126"/>
                <a:gd name="T3" fmla="*/ 51 h 51"/>
                <a:gd name="T4" fmla="*/ 118 w 126"/>
                <a:gd name="T5" fmla="*/ 11 h 51"/>
                <a:gd name="T6" fmla="*/ 126 w 126"/>
                <a:gd name="T7" fmla="*/ 0 h 51"/>
                <a:gd name="T8" fmla="*/ 17 w 126"/>
                <a:gd name="T9" fmla="*/ 10 h 51"/>
                <a:gd name="T10" fmla="*/ 8 w 126"/>
                <a:gd name="T11" fmla="*/ 2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51">
                  <a:moveTo>
                    <a:pt x="8" y="28"/>
                  </a:moveTo>
                  <a:cubicBezTo>
                    <a:pt x="8" y="28"/>
                    <a:pt x="0" y="47"/>
                    <a:pt x="58" y="51"/>
                  </a:cubicBezTo>
                  <a:cubicBezTo>
                    <a:pt x="118" y="11"/>
                    <a:pt x="118" y="11"/>
                    <a:pt x="118" y="11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17" y="10"/>
                    <a:pt x="17" y="10"/>
                    <a:pt x="17" y="10"/>
                  </a:cubicBezTo>
                  <a:lnTo>
                    <a:pt x="8" y="28"/>
                  </a:lnTo>
                  <a:close/>
                </a:path>
              </a:pathLst>
            </a:custGeom>
            <a:solidFill>
              <a:srgbClr val="3739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4" name="íṥľïde"/>
            <p:cNvSpPr/>
            <p:nvPr/>
          </p:nvSpPr>
          <p:spPr bwMode="auto">
            <a:xfrm>
              <a:off x="3930817" y="4086021"/>
              <a:ext cx="247450" cy="145057"/>
            </a:xfrm>
            <a:custGeom>
              <a:avLst/>
              <a:gdLst>
                <a:gd name="T0" fmla="*/ 7 w 56"/>
                <a:gd name="T1" fmla="*/ 13 h 33"/>
                <a:gd name="T2" fmla="*/ 21 w 56"/>
                <a:gd name="T3" fmla="*/ 6 h 33"/>
                <a:gd name="T4" fmla="*/ 32 w 56"/>
                <a:gd name="T5" fmla="*/ 3 h 33"/>
                <a:gd name="T6" fmla="*/ 21 w 56"/>
                <a:gd name="T7" fmla="*/ 14 h 33"/>
                <a:gd name="T8" fmla="*/ 55 w 56"/>
                <a:gd name="T9" fmla="*/ 15 h 33"/>
                <a:gd name="T10" fmla="*/ 49 w 56"/>
                <a:gd name="T11" fmla="*/ 27 h 33"/>
                <a:gd name="T12" fmla="*/ 22 w 56"/>
                <a:gd name="T13" fmla="*/ 32 h 33"/>
                <a:gd name="T14" fmla="*/ 0 w 56"/>
                <a:gd name="T15" fmla="*/ 27 h 33"/>
                <a:gd name="T16" fmla="*/ 7 w 56"/>
                <a:gd name="T17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33">
                  <a:moveTo>
                    <a:pt x="7" y="13"/>
                  </a:moveTo>
                  <a:cubicBezTo>
                    <a:pt x="7" y="13"/>
                    <a:pt x="16" y="8"/>
                    <a:pt x="21" y="6"/>
                  </a:cubicBezTo>
                  <a:cubicBezTo>
                    <a:pt x="27" y="4"/>
                    <a:pt x="31" y="0"/>
                    <a:pt x="32" y="3"/>
                  </a:cubicBezTo>
                  <a:cubicBezTo>
                    <a:pt x="34" y="6"/>
                    <a:pt x="21" y="14"/>
                    <a:pt x="21" y="14"/>
                  </a:cubicBezTo>
                  <a:cubicBezTo>
                    <a:pt x="21" y="14"/>
                    <a:pt x="54" y="9"/>
                    <a:pt x="55" y="15"/>
                  </a:cubicBezTo>
                  <a:cubicBezTo>
                    <a:pt x="56" y="22"/>
                    <a:pt x="56" y="25"/>
                    <a:pt x="49" y="27"/>
                  </a:cubicBezTo>
                  <a:cubicBezTo>
                    <a:pt x="42" y="29"/>
                    <a:pt x="32" y="31"/>
                    <a:pt x="22" y="32"/>
                  </a:cubicBezTo>
                  <a:cubicBezTo>
                    <a:pt x="12" y="33"/>
                    <a:pt x="0" y="27"/>
                    <a:pt x="0" y="27"/>
                  </a:cubicBezTo>
                  <a:lnTo>
                    <a:pt x="7" y="13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5" name="išḷiḓe"/>
            <p:cNvSpPr/>
            <p:nvPr/>
          </p:nvSpPr>
          <p:spPr bwMode="auto">
            <a:xfrm>
              <a:off x="3207668" y="3938831"/>
              <a:ext cx="151457" cy="177055"/>
            </a:xfrm>
            <a:custGeom>
              <a:avLst/>
              <a:gdLst>
                <a:gd name="T0" fmla="*/ 0 w 34"/>
                <a:gd name="T1" fmla="*/ 29 h 40"/>
                <a:gd name="T2" fmla="*/ 16 w 34"/>
                <a:gd name="T3" fmla="*/ 0 h 40"/>
                <a:gd name="T4" fmla="*/ 34 w 34"/>
                <a:gd name="T5" fmla="*/ 11 h 40"/>
                <a:gd name="T6" fmla="*/ 29 w 34"/>
                <a:gd name="T7" fmla="*/ 40 h 40"/>
                <a:gd name="T8" fmla="*/ 0 w 34"/>
                <a:gd name="T9" fmla="*/ 2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0">
                  <a:moveTo>
                    <a:pt x="0" y="29"/>
                  </a:moveTo>
                  <a:cubicBezTo>
                    <a:pt x="0" y="29"/>
                    <a:pt x="15" y="9"/>
                    <a:pt x="16" y="0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29" y="40"/>
                    <a:pt x="29" y="40"/>
                    <a:pt x="29" y="40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C184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6" name="ísļîdê"/>
            <p:cNvSpPr/>
            <p:nvPr/>
          </p:nvSpPr>
          <p:spPr bwMode="auto">
            <a:xfrm>
              <a:off x="3284463" y="3716980"/>
              <a:ext cx="251716" cy="234650"/>
            </a:xfrm>
            <a:custGeom>
              <a:avLst/>
              <a:gdLst>
                <a:gd name="T0" fmla="*/ 57 w 57"/>
                <a:gd name="T1" fmla="*/ 11 h 53"/>
                <a:gd name="T2" fmla="*/ 52 w 57"/>
                <a:gd name="T3" fmla="*/ 40 h 53"/>
                <a:gd name="T4" fmla="*/ 26 w 57"/>
                <a:gd name="T5" fmla="*/ 53 h 53"/>
                <a:gd name="T6" fmla="*/ 0 w 57"/>
                <a:gd name="T7" fmla="*/ 39 h 53"/>
                <a:gd name="T8" fmla="*/ 5 w 57"/>
                <a:gd name="T9" fmla="*/ 15 h 53"/>
                <a:gd name="T10" fmla="*/ 21 w 57"/>
                <a:gd name="T11" fmla="*/ 1 h 53"/>
                <a:gd name="T12" fmla="*/ 52 w 57"/>
                <a:gd name="T13" fmla="*/ 0 h 53"/>
                <a:gd name="T14" fmla="*/ 57 w 57"/>
                <a:gd name="T15" fmla="*/ 11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7" h="53">
                  <a:moveTo>
                    <a:pt x="57" y="11"/>
                  </a:moveTo>
                  <a:cubicBezTo>
                    <a:pt x="57" y="11"/>
                    <a:pt x="53" y="27"/>
                    <a:pt x="52" y="40"/>
                  </a:cubicBezTo>
                  <a:cubicBezTo>
                    <a:pt x="52" y="52"/>
                    <a:pt x="26" y="53"/>
                    <a:pt x="26" y="53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52" y="0"/>
                    <a:pt x="52" y="0"/>
                    <a:pt x="52" y="0"/>
                  </a:cubicBezTo>
                  <a:lnTo>
                    <a:pt x="57" y="11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7" name="iSḻïḑé"/>
            <p:cNvSpPr/>
            <p:nvPr/>
          </p:nvSpPr>
          <p:spPr bwMode="auto">
            <a:xfrm>
              <a:off x="3222600" y="3627386"/>
              <a:ext cx="375441" cy="439436"/>
            </a:xfrm>
            <a:custGeom>
              <a:avLst/>
              <a:gdLst>
                <a:gd name="T0" fmla="*/ 2 w 85"/>
                <a:gd name="T1" fmla="*/ 48 h 99"/>
                <a:gd name="T2" fmla="*/ 5 w 85"/>
                <a:gd name="T3" fmla="*/ 72 h 99"/>
                <a:gd name="T4" fmla="*/ 55 w 85"/>
                <a:gd name="T5" fmla="*/ 95 h 99"/>
                <a:gd name="T6" fmla="*/ 66 w 85"/>
                <a:gd name="T7" fmla="*/ 60 h 99"/>
                <a:gd name="T8" fmla="*/ 54 w 85"/>
                <a:gd name="T9" fmla="*/ 59 h 99"/>
                <a:gd name="T10" fmla="*/ 30 w 85"/>
                <a:gd name="T11" fmla="*/ 54 h 99"/>
                <a:gd name="T12" fmla="*/ 39 w 85"/>
                <a:gd name="T13" fmla="*/ 28 h 99"/>
                <a:gd name="T14" fmla="*/ 65 w 85"/>
                <a:gd name="T15" fmla="*/ 33 h 99"/>
                <a:gd name="T16" fmla="*/ 79 w 85"/>
                <a:gd name="T17" fmla="*/ 19 h 99"/>
                <a:gd name="T18" fmla="*/ 49 w 85"/>
                <a:gd name="T19" fmla="*/ 3 h 99"/>
                <a:gd name="T20" fmla="*/ 18 w 85"/>
                <a:gd name="T21" fmla="*/ 14 h 99"/>
                <a:gd name="T22" fmla="*/ 2 w 85"/>
                <a:gd name="T23" fmla="*/ 4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5" h="99">
                  <a:moveTo>
                    <a:pt x="2" y="48"/>
                  </a:moveTo>
                  <a:cubicBezTo>
                    <a:pt x="2" y="48"/>
                    <a:pt x="0" y="62"/>
                    <a:pt x="5" y="72"/>
                  </a:cubicBezTo>
                  <a:cubicBezTo>
                    <a:pt x="9" y="82"/>
                    <a:pt x="29" y="99"/>
                    <a:pt x="55" y="95"/>
                  </a:cubicBezTo>
                  <a:cubicBezTo>
                    <a:pt x="85" y="90"/>
                    <a:pt x="66" y="60"/>
                    <a:pt x="66" y="60"/>
                  </a:cubicBezTo>
                  <a:cubicBezTo>
                    <a:pt x="66" y="60"/>
                    <a:pt x="62" y="58"/>
                    <a:pt x="54" y="59"/>
                  </a:cubicBezTo>
                  <a:cubicBezTo>
                    <a:pt x="47" y="59"/>
                    <a:pt x="34" y="60"/>
                    <a:pt x="30" y="54"/>
                  </a:cubicBezTo>
                  <a:cubicBezTo>
                    <a:pt x="27" y="49"/>
                    <a:pt x="33" y="29"/>
                    <a:pt x="39" y="28"/>
                  </a:cubicBezTo>
                  <a:cubicBezTo>
                    <a:pt x="45" y="27"/>
                    <a:pt x="54" y="33"/>
                    <a:pt x="65" y="33"/>
                  </a:cubicBezTo>
                  <a:cubicBezTo>
                    <a:pt x="77" y="34"/>
                    <a:pt x="84" y="30"/>
                    <a:pt x="79" y="19"/>
                  </a:cubicBezTo>
                  <a:cubicBezTo>
                    <a:pt x="74" y="9"/>
                    <a:pt x="62" y="2"/>
                    <a:pt x="49" y="3"/>
                  </a:cubicBezTo>
                  <a:cubicBezTo>
                    <a:pt x="36" y="4"/>
                    <a:pt x="32" y="0"/>
                    <a:pt x="18" y="14"/>
                  </a:cubicBezTo>
                  <a:cubicBezTo>
                    <a:pt x="5" y="29"/>
                    <a:pt x="3" y="41"/>
                    <a:pt x="2" y="48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8" name="iṣḻïďê"/>
            <p:cNvSpPr/>
            <p:nvPr/>
          </p:nvSpPr>
          <p:spPr bwMode="auto">
            <a:xfrm>
              <a:off x="3461516" y="3815107"/>
              <a:ext cx="34131" cy="106659"/>
            </a:xfrm>
            <a:custGeom>
              <a:avLst/>
              <a:gdLst>
                <a:gd name="T0" fmla="*/ 3 w 8"/>
                <a:gd name="T1" fmla="*/ 4 h 24"/>
                <a:gd name="T2" fmla="*/ 1 w 8"/>
                <a:gd name="T3" fmla="*/ 19 h 24"/>
                <a:gd name="T4" fmla="*/ 8 w 8"/>
                <a:gd name="T5" fmla="*/ 20 h 24"/>
                <a:gd name="T6" fmla="*/ 8 w 8"/>
                <a:gd name="T7" fmla="*/ 4 h 24"/>
                <a:gd name="T8" fmla="*/ 3 w 8"/>
                <a:gd name="T9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24">
                  <a:moveTo>
                    <a:pt x="3" y="4"/>
                  </a:moveTo>
                  <a:cubicBezTo>
                    <a:pt x="3" y="4"/>
                    <a:pt x="0" y="18"/>
                    <a:pt x="1" y="19"/>
                  </a:cubicBezTo>
                  <a:cubicBezTo>
                    <a:pt x="1" y="20"/>
                    <a:pt x="4" y="24"/>
                    <a:pt x="8" y="2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4"/>
                    <a:pt x="4" y="0"/>
                    <a:pt x="3" y="4"/>
                  </a:cubicBezTo>
                  <a:close/>
                </a:path>
              </a:pathLst>
            </a:custGeom>
            <a:solidFill>
              <a:srgbClr val="A67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9" name="ï$ľîdè"/>
            <p:cNvSpPr/>
            <p:nvPr/>
          </p:nvSpPr>
          <p:spPr bwMode="auto">
            <a:xfrm>
              <a:off x="2746900" y="3983628"/>
              <a:ext cx="1220182" cy="637823"/>
            </a:xfrm>
            <a:custGeom>
              <a:avLst/>
              <a:gdLst>
                <a:gd name="T0" fmla="*/ 39 w 275"/>
                <a:gd name="T1" fmla="*/ 45 h 144"/>
                <a:gd name="T2" fmla="*/ 100 w 275"/>
                <a:gd name="T3" fmla="*/ 6 h 144"/>
                <a:gd name="T4" fmla="*/ 157 w 275"/>
                <a:gd name="T5" fmla="*/ 31 h 144"/>
                <a:gd name="T6" fmla="*/ 273 w 275"/>
                <a:gd name="T7" fmla="*/ 37 h 144"/>
                <a:gd name="T8" fmla="*/ 271 w 275"/>
                <a:gd name="T9" fmla="*/ 55 h 144"/>
                <a:gd name="T10" fmla="*/ 144 w 275"/>
                <a:gd name="T11" fmla="*/ 86 h 144"/>
                <a:gd name="T12" fmla="*/ 124 w 275"/>
                <a:gd name="T13" fmla="*/ 85 h 144"/>
                <a:gd name="T14" fmla="*/ 76 w 275"/>
                <a:gd name="T15" fmla="*/ 131 h 144"/>
                <a:gd name="T16" fmla="*/ 0 w 275"/>
                <a:gd name="T17" fmla="*/ 111 h 144"/>
                <a:gd name="T18" fmla="*/ 39 w 275"/>
                <a:gd name="T19" fmla="*/ 4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75" h="144">
                  <a:moveTo>
                    <a:pt x="39" y="45"/>
                  </a:moveTo>
                  <a:cubicBezTo>
                    <a:pt x="43" y="28"/>
                    <a:pt x="62" y="0"/>
                    <a:pt x="100" y="6"/>
                  </a:cubicBezTo>
                  <a:cubicBezTo>
                    <a:pt x="139" y="12"/>
                    <a:pt x="128" y="30"/>
                    <a:pt x="157" y="31"/>
                  </a:cubicBezTo>
                  <a:cubicBezTo>
                    <a:pt x="185" y="31"/>
                    <a:pt x="212" y="8"/>
                    <a:pt x="273" y="37"/>
                  </a:cubicBezTo>
                  <a:cubicBezTo>
                    <a:pt x="273" y="37"/>
                    <a:pt x="275" y="49"/>
                    <a:pt x="271" y="55"/>
                  </a:cubicBezTo>
                  <a:cubicBezTo>
                    <a:pt x="271" y="55"/>
                    <a:pt x="204" y="96"/>
                    <a:pt x="144" y="86"/>
                  </a:cubicBezTo>
                  <a:cubicBezTo>
                    <a:pt x="124" y="85"/>
                    <a:pt x="124" y="85"/>
                    <a:pt x="124" y="85"/>
                  </a:cubicBezTo>
                  <a:cubicBezTo>
                    <a:pt x="124" y="85"/>
                    <a:pt x="88" y="123"/>
                    <a:pt x="76" y="131"/>
                  </a:cubicBezTo>
                  <a:cubicBezTo>
                    <a:pt x="76" y="131"/>
                    <a:pt x="30" y="144"/>
                    <a:pt x="0" y="111"/>
                  </a:cubicBezTo>
                  <a:cubicBezTo>
                    <a:pt x="0" y="111"/>
                    <a:pt x="36" y="57"/>
                    <a:pt x="39" y="45"/>
                  </a:cubicBezTo>
                  <a:close/>
                </a:path>
              </a:pathLst>
            </a:custGeom>
            <a:solidFill>
              <a:srgbClr val="494C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0" name="işḷiḑè"/>
            <p:cNvSpPr/>
            <p:nvPr/>
          </p:nvSpPr>
          <p:spPr bwMode="auto">
            <a:xfrm>
              <a:off x="1968286" y="4755841"/>
              <a:ext cx="433037" cy="168522"/>
            </a:xfrm>
            <a:custGeom>
              <a:avLst/>
              <a:gdLst>
                <a:gd name="T0" fmla="*/ 94 w 98"/>
                <a:gd name="T1" fmla="*/ 25 h 38"/>
                <a:gd name="T2" fmla="*/ 42 w 98"/>
                <a:gd name="T3" fmla="*/ 31 h 38"/>
                <a:gd name="T4" fmla="*/ 4 w 98"/>
                <a:gd name="T5" fmla="*/ 33 h 38"/>
                <a:gd name="T6" fmla="*/ 14 w 98"/>
                <a:gd name="T7" fmla="*/ 23 h 38"/>
                <a:gd name="T8" fmla="*/ 43 w 98"/>
                <a:gd name="T9" fmla="*/ 9 h 38"/>
                <a:gd name="T10" fmla="*/ 57 w 98"/>
                <a:gd name="T11" fmla="*/ 1 h 38"/>
                <a:gd name="T12" fmla="*/ 95 w 98"/>
                <a:gd name="T13" fmla="*/ 11 h 38"/>
                <a:gd name="T14" fmla="*/ 94 w 98"/>
                <a:gd name="T15" fmla="*/ 25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8" h="38">
                  <a:moveTo>
                    <a:pt x="94" y="25"/>
                  </a:moveTo>
                  <a:cubicBezTo>
                    <a:pt x="94" y="25"/>
                    <a:pt x="63" y="29"/>
                    <a:pt x="42" y="31"/>
                  </a:cubicBezTo>
                  <a:cubicBezTo>
                    <a:pt x="20" y="34"/>
                    <a:pt x="4" y="38"/>
                    <a:pt x="4" y="33"/>
                  </a:cubicBezTo>
                  <a:cubicBezTo>
                    <a:pt x="4" y="29"/>
                    <a:pt x="0" y="25"/>
                    <a:pt x="14" y="23"/>
                  </a:cubicBezTo>
                  <a:cubicBezTo>
                    <a:pt x="28" y="21"/>
                    <a:pt x="37" y="16"/>
                    <a:pt x="43" y="9"/>
                  </a:cubicBezTo>
                  <a:cubicBezTo>
                    <a:pt x="49" y="3"/>
                    <a:pt x="50" y="0"/>
                    <a:pt x="57" y="1"/>
                  </a:cubicBezTo>
                  <a:cubicBezTo>
                    <a:pt x="64" y="3"/>
                    <a:pt x="92" y="11"/>
                    <a:pt x="95" y="11"/>
                  </a:cubicBezTo>
                  <a:cubicBezTo>
                    <a:pt x="98" y="11"/>
                    <a:pt x="94" y="25"/>
                    <a:pt x="94" y="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1" name="îsḻîḋe"/>
            <p:cNvSpPr/>
            <p:nvPr/>
          </p:nvSpPr>
          <p:spPr bwMode="auto">
            <a:xfrm>
              <a:off x="7830280" y="3574056"/>
              <a:ext cx="115192" cy="266649"/>
            </a:xfrm>
            <a:custGeom>
              <a:avLst/>
              <a:gdLst>
                <a:gd name="T0" fmla="*/ 7 w 26"/>
                <a:gd name="T1" fmla="*/ 0 h 60"/>
                <a:gd name="T2" fmla="*/ 24 w 26"/>
                <a:gd name="T3" fmla="*/ 17 h 60"/>
                <a:gd name="T4" fmla="*/ 22 w 26"/>
                <a:gd name="T5" fmla="*/ 30 h 60"/>
                <a:gd name="T6" fmla="*/ 25 w 26"/>
                <a:gd name="T7" fmla="*/ 33 h 60"/>
                <a:gd name="T8" fmla="*/ 23 w 26"/>
                <a:gd name="T9" fmla="*/ 54 h 60"/>
                <a:gd name="T10" fmla="*/ 4 w 26"/>
                <a:gd name="T11" fmla="*/ 60 h 60"/>
                <a:gd name="T12" fmla="*/ 0 w 26"/>
                <a:gd name="T13" fmla="*/ 27 h 60"/>
                <a:gd name="T14" fmla="*/ 1 w 26"/>
                <a:gd name="T15" fmla="*/ 5 h 60"/>
                <a:gd name="T16" fmla="*/ 7 w 26"/>
                <a:gd name="T17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60">
                  <a:moveTo>
                    <a:pt x="7" y="0"/>
                  </a:moveTo>
                  <a:cubicBezTo>
                    <a:pt x="7" y="0"/>
                    <a:pt x="22" y="5"/>
                    <a:pt x="24" y="17"/>
                  </a:cubicBezTo>
                  <a:cubicBezTo>
                    <a:pt x="26" y="28"/>
                    <a:pt x="20" y="30"/>
                    <a:pt x="22" y="30"/>
                  </a:cubicBezTo>
                  <a:cubicBezTo>
                    <a:pt x="23" y="31"/>
                    <a:pt x="25" y="33"/>
                    <a:pt x="25" y="33"/>
                  </a:cubicBezTo>
                  <a:cubicBezTo>
                    <a:pt x="25" y="33"/>
                    <a:pt x="26" y="49"/>
                    <a:pt x="23" y="54"/>
                  </a:cubicBezTo>
                  <a:cubicBezTo>
                    <a:pt x="21" y="58"/>
                    <a:pt x="4" y="60"/>
                    <a:pt x="4" y="6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1" y="5"/>
                    <a:pt x="1" y="5"/>
                    <a:pt x="1" y="5"/>
                  </a:cubicBezTo>
                  <a:lnTo>
                    <a:pt x="7" y="0"/>
                  </a:lnTo>
                  <a:close/>
                </a:path>
              </a:pathLst>
            </a:custGeom>
            <a:solidFill>
              <a:srgbClr val="494C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2" name="íṡlíḋê"/>
            <p:cNvSpPr/>
            <p:nvPr/>
          </p:nvSpPr>
          <p:spPr bwMode="auto">
            <a:xfrm>
              <a:off x="8047865" y="3597522"/>
              <a:ext cx="217585" cy="337043"/>
            </a:xfrm>
            <a:custGeom>
              <a:avLst/>
              <a:gdLst>
                <a:gd name="T0" fmla="*/ 0 w 49"/>
                <a:gd name="T1" fmla="*/ 26 h 76"/>
                <a:gd name="T2" fmla="*/ 3 w 49"/>
                <a:gd name="T3" fmla="*/ 10 h 76"/>
                <a:gd name="T4" fmla="*/ 16 w 49"/>
                <a:gd name="T5" fmla="*/ 0 h 76"/>
                <a:gd name="T6" fmla="*/ 35 w 49"/>
                <a:gd name="T7" fmla="*/ 9 h 76"/>
                <a:gd name="T8" fmla="*/ 38 w 49"/>
                <a:gd name="T9" fmla="*/ 20 h 76"/>
                <a:gd name="T10" fmla="*/ 35 w 49"/>
                <a:gd name="T11" fmla="*/ 26 h 76"/>
                <a:gd name="T12" fmla="*/ 40 w 49"/>
                <a:gd name="T13" fmla="*/ 26 h 76"/>
                <a:gd name="T14" fmla="*/ 46 w 49"/>
                <a:gd name="T15" fmla="*/ 41 h 76"/>
                <a:gd name="T16" fmla="*/ 41 w 49"/>
                <a:gd name="T17" fmla="*/ 66 h 76"/>
                <a:gd name="T18" fmla="*/ 13 w 49"/>
                <a:gd name="T19" fmla="*/ 58 h 76"/>
                <a:gd name="T20" fmla="*/ 0 w 49"/>
                <a:gd name="T21" fmla="*/ 2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9" h="76">
                  <a:moveTo>
                    <a:pt x="0" y="26"/>
                  </a:moveTo>
                  <a:cubicBezTo>
                    <a:pt x="0" y="26"/>
                    <a:pt x="0" y="14"/>
                    <a:pt x="3" y="10"/>
                  </a:cubicBezTo>
                  <a:cubicBezTo>
                    <a:pt x="5" y="7"/>
                    <a:pt x="12" y="0"/>
                    <a:pt x="16" y="0"/>
                  </a:cubicBezTo>
                  <a:cubicBezTo>
                    <a:pt x="19" y="0"/>
                    <a:pt x="31" y="3"/>
                    <a:pt x="35" y="9"/>
                  </a:cubicBezTo>
                  <a:cubicBezTo>
                    <a:pt x="38" y="14"/>
                    <a:pt x="40" y="18"/>
                    <a:pt x="38" y="20"/>
                  </a:cubicBezTo>
                  <a:cubicBezTo>
                    <a:pt x="36" y="22"/>
                    <a:pt x="33" y="24"/>
                    <a:pt x="35" y="26"/>
                  </a:cubicBezTo>
                  <a:cubicBezTo>
                    <a:pt x="37" y="28"/>
                    <a:pt x="38" y="22"/>
                    <a:pt x="40" y="26"/>
                  </a:cubicBezTo>
                  <a:cubicBezTo>
                    <a:pt x="41" y="29"/>
                    <a:pt x="44" y="33"/>
                    <a:pt x="46" y="41"/>
                  </a:cubicBezTo>
                  <a:cubicBezTo>
                    <a:pt x="48" y="49"/>
                    <a:pt x="49" y="63"/>
                    <a:pt x="41" y="66"/>
                  </a:cubicBezTo>
                  <a:cubicBezTo>
                    <a:pt x="33" y="69"/>
                    <a:pt x="19" y="76"/>
                    <a:pt x="13" y="58"/>
                  </a:cubicBezTo>
                  <a:cubicBezTo>
                    <a:pt x="7" y="41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494C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3" name="îṡḻïḓé"/>
            <p:cNvSpPr/>
            <p:nvPr/>
          </p:nvSpPr>
          <p:spPr bwMode="auto">
            <a:xfrm>
              <a:off x="7640428" y="2940500"/>
              <a:ext cx="159990" cy="136524"/>
            </a:xfrm>
            <a:custGeom>
              <a:avLst/>
              <a:gdLst>
                <a:gd name="T0" fmla="*/ 7 w 36"/>
                <a:gd name="T1" fmla="*/ 6 h 31"/>
                <a:gd name="T2" fmla="*/ 2 w 36"/>
                <a:gd name="T3" fmla="*/ 26 h 31"/>
                <a:gd name="T4" fmla="*/ 19 w 36"/>
                <a:gd name="T5" fmla="*/ 31 h 31"/>
                <a:gd name="T6" fmla="*/ 36 w 36"/>
                <a:gd name="T7" fmla="*/ 24 h 31"/>
                <a:gd name="T8" fmla="*/ 30 w 36"/>
                <a:gd name="T9" fmla="*/ 4 h 31"/>
                <a:gd name="T10" fmla="*/ 7 w 36"/>
                <a:gd name="T11" fmla="*/ 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" h="31">
                  <a:moveTo>
                    <a:pt x="7" y="6"/>
                  </a:moveTo>
                  <a:cubicBezTo>
                    <a:pt x="7" y="6"/>
                    <a:pt x="4" y="24"/>
                    <a:pt x="2" y="26"/>
                  </a:cubicBezTo>
                  <a:cubicBezTo>
                    <a:pt x="0" y="29"/>
                    <a:pt x="19" y="31"/>
                    <a:pt x="19" y="31"/>
                  </a:cubicBezTo>
                  <a:cubicBezTo>
                    <a:pt x="36" y="24"/>
                    <a:pt x="36" y="24"/>
                    <a:pt x="36" y="24"/>
                  </a:cubicBezTo>
                  <a:cubicBezTo>
                    <a:pt x="36" y="24"/>
                    <a:pt x="32" y="7"/>
                    <a:pt x="30" y="4"/>
                  </a:cubicBezTo>
                  <a:cubicBezTo>
                    <a:pt x="29" y="0"/>
                    <a:pt x="7" y="6"/>
                    <a:pt x="7" y="6"/>
                  </a:cubicBezTo>
                  <a:close/>
                </a:path>
              </a:pathLst>
            </a:custGeom>
            <a:solidFill>
              <a:srgbClr val="C184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4" name="iśḻïḍé"/>
            <p:cNvSpPr/>
            <p:nvPr/>
          </p:nvSpPr>
          <p:spPr bwMode="auto">
            <a:xfrm>
              <a:off x="7565765" y="2727182"/>
              <a:ext cx="300780" cy="270915"/>
            </a:xfrm>
            <a:custGeom>
              <a:avLst/>
              <a:gdLst>
                <a:gd name="T0" fmla="*/ 0 w 68"/>
                <a:gd name="T1" fmla="*/ 14 h 61"/>
                <a:gd name="T2" fmla="*/ 6 w 68"/>
                <a:gd name="T3" fmla="*/ 48 h 61"/>
                <a:gd name="T4" fmla="*/ 35 w 68"/>
                <a:gd name="T5" fmla="*/ 60 h 61"/>
                <a:gd name="T6" fmla="*/ 58 w 68"/>
                <a:gd name="T7" fmla="*/ 39 h 61"/>
                <a:gd name="T8" fmla="*/ 59 w 68"/>
                <a:gd name="T9" fmla="*/ 21 h 61"/>
                <a:gd name="T10" fmla="*/ 64 w 68"/>
                <a:gd name="T11" fmla="*/ 9 h 61"/>
                <a:gd name="T12" fmla="*/ 55 w 68"/>
                <a:gd name="T13" fmla="*/ 9 h 61"/>
                <a:gd name="T14" fmla="*/ 55 w 68"/>
                <a:gd name="T15" fmla="*/ 0 h 61"/>
                <a:gd name="T16" fmla="*/ 0 w 68"/>
                <a:gd name="T17" fmla="*/ 1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61">
                  <a:moveTo>
                    <a:pt x="0" y="14"/>
                  </a:moveTo>
                  <a:cubicBezTo>
                    <a:pt x="0" y="14"/>
                    <a:pt x="1" y="35"/>
                    <a:pt x="6" y="48"/>
                  </a:cubicBezTo>
                  <a:cubicBezTo>
                    <a:pt x="10" y="61"/>
                    <a:pt x="27" y="61"/>
                    <a:pt x="35" y="60"/>
                  </a:cubicBezTo>
                  <a:cubicBezTo>
                    <a:pt x="42" y="59"/>
                    <a:pt x="56" y="54"/>
                    <a:pt x="58" y="39"/>
                  </a:cubicBezTo>
                  <a:cubicBezTo>
                    <a:pt x="59" y="24"/>
                    <a:pt x="59" y="21"/>
                    <a:pt x="59" y="21"/>
                  </a:cubicBezTo>
                  <a:cubicBezTo>
                    <a:pt x="59" y="21"/>
                    <a:pt x="68" y="17"/>
                    <a:pt x="64" y="9"/>
                  </a:cubicBezTo>
                  <a:cubicBezTo>
                    <a:pt x="61" y="2"/>
                    <a:pt x="55" y="9"/>
                    <a:pt x="55" y="9"/>
                  </a:cubicBezTo>
                  <a:cubicBezTo>
                    <a:pt x="55" y="0"/>
                    <a:pt x="55" y="0"/>
                    <a:pt x="55" y="0"/>
                  </a:cubicBezTo>
                  <a:lnTo>
                    <a:pt x="0" y="14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5" name="îŝ1íḑe"/>
            <p:cNvSpPr/>
            <p:nvPr/>
          </p:nvSpPr>
          <p:spPr bwMode="auto">
            <a:xfrm>
              <a:off x="7520969" y="2590658"/>
              <a:ext cx="349842" cy="260249"/>
            </a:xfrm>
            <a:custGeom>
              <a:avLst/>
              <a:gdLst>
                <a:gd name="T0" fmla="*/ 6 w 79"/>
                <a:gd name="T1" fmla="*/ 17 h 59"/>
                <a:gd name="T2" fmla="*/ 2 w 79"/>
                <a:gd name="T3" fmla="*/ 36 h 59"/>
                <a:gd name="T4" fmla="*/ 3 w 79"/>
                <a:gd name="T5" fmla="*/ 56 h 59"/>
                <a:gd name="T6" fmla="*/ 24 w 79"/>
                <a:gd name="T7" fmla="*/ 52 h 59"/>
                <a:gd name="T8" fmla="*/ 36 w 79"/>
                <a:gd name="T9" fmla="*/ 46 h 59"/>
                <a:gd name="T10" fmla="*/ 31 w 79"/>
                <a:gd name="T11" fmla="*/ 55 h 59"/>
                <a:gd name="T12" fmla="*/ 54 w 79"/>
                <a:gd name="T13" fmla="*/ 47 h 59"/>
                <a:gd name="T14" fmla="*/ 65 w 79"/>
                <a:gd name="T15" fmla="*/ 40 h 59"/>
                <a:gd name="T16" fmla="*/ 62 w 79"/>
                <a:gd name="T17" fmla="*/ 46 h 59"/>
                <a:gd name="T18" fmla="*/ 69 w 79"/>
                <a:gd name="T19" fmla="*/ 38 h 59"/>
                <a:gd name="T20" fmla="*/ 74 w 79"/>
                <a:gd name="T21" fmla="*/ 40 h 59"/>
                <a:gd name="T22" fmla="*/ 75 w 79"/>
                <a:gd name="T23" fmla="*/ 26 h 59"/>
                <a:gd name="T24" fmla="*/ 44 w 79"/>
                <a:gd name="T25" fmla="*/ 0 h 59"/>
                <a:gd name="T26" fmla="*/ 6 w 79"/>
                <a:gd name="T27" fmla="*/ 1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59">
                  <a:moveTo>
                    <a:pt x="6" y="17"/>
                  </a:moveTo>
                  <a:cubicBezTo>
                    <a:pt x="6" y="17"/>
                    <a:pt x="2" y="25"/>
                    <a:pt x="2" y="36"/>
                  </a:cubicBezTo>
                  <a:cubicBezTo>
                    <a:pt x="2" y="48"/>
                    <a:pt x="0" y="54"/>
                    <a:pt x="3" y="56"/>
                  </a:cubicBezTo>
                  <a:cubicBezTo>
                    <a:pt x="5" y="59"/>
                    <a:pt x="16" y="56"/>
                    <a:pt x="24" y="52"/>
                  </a:cubicBezTo>
                  <a:cubicBezTo>
                    <a:pt x="32" y="48"/>
                    <a:pt x="36" y="46"/>
                    <a:pt x="36" y="46"/>
                  </a:cubicBezTo>
                  <a:cubicBezTo>
                    <a:pt x="36" y="46"/>
                    <a:pt x="25" y="56"/>
                    <a:pt x="31" y="55"/>
                  </a:cubicBezTo>
                  <a:cubicBezTo>
                    <a:pt x="37" y="55"/>
                    <a:pt x="46" y="52"/>
                    <a:pt x="54" y="47"/>
                  </a:cubicBezTo>
                  <a:cubicBezTo>
                    <a:pt x="61" y="42"/>
                    <a:pt x="65" y="40"/>
                    <a:pt x="65" y="40"/>
                  </a:cubicBezTo>
                  <a:cubicBezTo>
                    <a:pt x="65" y="40"/>
                    <a:pt x="59" y="45"/>
                    <a:pt x="62" y="46"/>
                  </a:cubicBezTo>
                  <a:cubicBezTo>
                    <a:pt x="65" y="48"/>
                    <a:pt x="65" y="40"/>
                    <a:pt x="69" y="38"/>
                  </a:cubicBezTo>
                  <a:cubicBezTo>
                    <a:pt x="74" y="36"/>
                    <a:pt x="74" y="40"/>
                    <a:pt x="74" y="40"/>
                  </a:cubicBezTo>
                  <a:cubicBezTo>
                    <a:pt x="74" y="40"/>
                    <a:pt x="79" y="37"/>
                    <a:pt x="75" y="26"/>
                  </a:cubicBezTo>
                  <a:cubicBezTo>
                    <a:pt x="72" y="16"/>
                    <a:pt x="59" y="0"/>
                    <a:pt x="44" y="0"/>
                  </a:cubicBezTo>
                  <a:cubicBezTo>
                    <a:pt x="29" y="1"/>
                    <a:pt x="13" y="6"/>
                    <a:pt x="6" y="17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6" name="išľídè"/>
            <p:cNvSpPr/>
            <p:nvPr/>
          </p:nvSpPr>
          <p:spPr bwMode="auto">
            <a:xfrm>
              <a:off x="7205258" y="3597522"/>
              <a:ext cx="923670" cy="558895"/>
            </a:xfrm>
            <a:custGeom>
              <a:avLst/>
              <a:gdLst>
                <a:gd name="T0" fmla="*/ 52 w 208"/>
                <a:gd name="T1" fmla="*/ 1 h 126"/>
                <a:gd name="T2" fmla="*/ 14 w 208"/>
                <a:gd name="T3" fmla="*/ 65 h 126"/>
                <a:gd name="T4" fmla="*/ 12 w 208"/>
                <a:gd name="T5" fmla="*/ 107 h 126"/>
                <a:gd name="T6" fmla="*/ 37 w 208"/>
                <a:gd name="T7" fmla="*/ 117 h 126"/>
                <a:gd name="T8" fmla="*/ 70 w 208"/>
                <a:gd name="T9" fmla="*/ 99 h 126"/>
                <a:gd name="T10" fmla="*/ 86 w 208"/>
                <a:gd name="T11" fmla="*/ 69 h 126"/>
                <a:gd name="T12" fmla="*/ 93 w 208"/>
                <a:gd name="T13" fmla="*/ 70 h 126"/>
                <a:gd name="T14" fmla="*/ 105 w 208"/>
                <a:gd name="T15" fmla="*/ 117 h 126"/>
                <a:gd name="T16" fmla="*/ 131 w 208"/>
                <a:gd name="T17" fmla="*/ 125 h 126"/>
                <a:gd name="T18" fmla="*/ 167 w 208"/>
                <a:gd name="T19" fmla="*/ 107 h 126"/>
                <a:gd name="T20" fmla="*/ 200 w 208"/>
                <a:gd name="T21" fmla="*/ 67 h 126"/>
                <a:gd name="T22" fmla="*/ 208 w 208"/>
                <a:gd name="T23" fmla="*/ 36 h 126"/>
                <a:gd name="T24" fmla="*/ 190 w 208"/>
                <a:gd name="T25" fmla="*/ 22 h 126"/>
                <a:gd name="T26" fmla="*/ 159 w 208"/>
                <a:gd name="T27" fmla="*/ 49 h 126"/>
                <a:gd name="T28" fmla="*/ 153 w 208"/>
                <a:gd name="T29" fmla="*/ 19 h 126"/>
                <a:gd name="T30" fmla="*/ 142 w 208"/>
                <a:gd name="T31" fmla="*/ 0 h 126"/>
                <a:gd name="T32" fmla="*/ 52 w 208"/>
                <a:gd name="T33" fmla="*/ 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8" h="126">
                  <a:moveTo>
                    <a:pt x="52" y="1"/>
                  </a:moveTo>
                  <a:cubicBezTo>
                    <a:pt x="52" y="1"/>
                    <a:pt x="20" y="47"/>
                    <a:pt x="14" y="65"/>
                  </a:cubicBezTo>
                  <a:cubicBezTo>
                    <a:pt x="10" y="76"/>
                    <a:pt x="0" y="89"/>
                    <a:pt x="12" y="107"/>
                  </a:cubicBezTo>
                  <a:cubicBezTo>
                    <a:pt x="16" y="114"/>
                    <a:pt x="26" y="117"/>
                    <a:pt x="37" y="117"/>
                  </a:cubicBezTo>
                  <a:cubicBezTo>
                    <a:pt x="54" y="118"/>
                    <a:pt x="65" y="106"/>
                    <a:pt x="70" y="99"/>
                  </a:cubicBezTo>
                  <a:cubicBezTo>
                    <a:pt x="75" y="92"/>
                    <a:pt x="86" y="69"/>
                    <a:pt x="86" y="69"/>
                  </a:cubicBezTo>
                  <a:cubicBezTo>
                    <a:pt x="86" y="69"/>
                    <a:pt x="91" y="69"/>
                    <a:pt x="93" y="70"/>
                  </a:cubicBezTo>
                  <a:cubicBezTo>
                    <a:pt x="94" y="70"/>
                    <a:pt x="100" y="108"/>
                    <a:pt x="105" y="117"/>
                  </a:cubicBezTo>
                  <a:cubicBezTo>
                    <a:pt x="110" y="125"/>
                    <a:pt x="115" y="126"/>
                    <a:pt x="131" y="125"/>
                  </a:cubicBezTo>
                  <a:cubicBezTo>
                    <a:pt x="147" y="125"/>
                    <a:pt x="156" y="118"/>
                    <a:pt x="167" y="107"/>
                  </a:cubicBezTo>
                  <a:cubicBezTo>
                    <a:pt x="177" y="96"/>
                    <a:pt x="188" y="88"/>
                    <a:pt x="200" y="67"/>
                  </a:cubicBezTo>
                  <a:cubicBezTo>
                    <a:pt x="204" y="59"/>
                    <a:pt x="208" y="36"/>
                    <a:pt x="208" y="36"/>
                  </a:cubicBezTo>
                  <a:cubicBezTo>
                    <a:pt x="208" y="36"/>
                    <a:pt x="205" y="26"/>
                    <a:pt x="190" y="22"/>
                  </a:cubicBezTo>
                  <a:cubicBezTo>
                    <a:pt x="188" y="22"/>
                    <a:pt x="164" y="49"/>
                    <a:pt x="159" y="49"/>
                  </a:cubicBezTo>
                  <a:cubicBezTo>
                    <a:pt x="155" y="50"/>
                    <a:pt x="159" y="34"/>
                    <a:pt x="153" y="19"/>
                  </a:cubicBezTo>
                  <a:cubicBezTo>
                    <a:pt x="148" y="4"/>
                    <a:pt x="142" y="0"/>
                    <a:pt x="142" y="0"/>
                  </a:cubicBezTo>
                  <a:lnTo>
                    <a:pt x="52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ïṥľïḍè"/>
            <p:cNvSpPr/>
            <p:nvPr/>
          </p:nvSpPr>
          <p:spPr bwMode="auto">
            <a:xfrm>
              <a:off x="7388712" y="3034361"/>
              <a:ext cx="531164" cy="625024"/>
            </a:xfrm>
            <a:custGeom>
              <a:avLst/>
              <a:gdLst>
                <a:gd name="T0" fmla="*/ 61 w 120"/>
                <a:gd name="T1" fmla="*/ 1 h 141"/>
                <a:gd name="T2" fmla="*/ 72 w 120"/>
                <a:gd name="T3" fmla="*/ 7 h 141"/>
                <a:gd name="T4" fmla="*/ 93 w 120"/>
                <a:gd name="T5" fmla="*/ 0 h 141"/>
                <a:gd name="T6" fmla="*/ 111 w 120"/>
                <a:gd name="T7" fmla="*/ 7 h 141"/>
                <a:gd name="T8" fmla="*/ 119 w 120"/>
                <a:gd name="T9" fmla="*/ 76 h 141"/>
                <a:gd name="T10" fmla="*/ 99 w 120"/>
                <a:gd name="T11" fmla="*/ 135 h 141"/>
                <a:gd name="T12" fmla="*/ 36 w 120"/>
                <a:gd name="T13" fmla="*/ 138 h 141"/>
                <a:gd name="T14" fmla="*/ 7 w 120"/>
                <a:gd name="T15" fmla="*/ 129 h 141"/>
                <a:gd name="T16" fmla="*/ 2 w 120"/>
                <a:gd name="T17" fmla="*/ 102 h 141"/>
                <a:gd name="T18" fmla="*/ 12 w 120"/>
                <a:gd name="T19" fmla="*/ 56 h 141"/>
                <a:gd name="T20" fmla="*/ 25 w 120"/>
                <a:gd name="T21" fmla="*/ 21 h 141"/>
                <a:gd name="T22" fmla="*/ 61 w 120"/>
                <a:gd name="T23" fmla="*/ 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0" h="141">
                  <a:moveTo>
                    <a:pt x="61" y="1"/>
                  </a:moveTo>
                  <a:cubicBezTo>
                    <a:pt x="61" y="1"/>
                    <a:pt x="63" y="7"/>
                    <a:pt x="72" y="7"/>
                  </a:cubicBezTo>
                  <a:cubicBezTo>
                    <a:pt x="81" y="7"/>
                    <a:pt x="93" y="0"/>
                    <a:pt x="93" y="0"/>
                  </a:cubicBezTo>
                  <a:cubicBezTo>
                    <a:pt x="111" y="7"/>
                    <a:pt x="111" y="7"/>
                    <a:pt x="111" y="7"/>
                  </a:cubicBezTo>
                  <a:cubicBezTo>
                    <a:pt x="111" y="7"/>
                    <a:pt x="118" y="60"/>
                    <a:pt x="119" y="76"/>
                  </a:cubicBezTo>
                  <a:cubicBezTo>
                    <a:pt x="120" y="92"/>
                    <a:pt x="119" y="129"/>
                    <a:pt x="99" y="135"/>
                  </a:cubicBezTo>
                  <a:cubicBezTo>
                    <a:pt x="79" y="141"/>
                    <a:pt x="46" y="140"/>
                    <a:pt x="36" y="138"/>
                  </a:cubicBezTo>
                  <a:cubicBezTo>
                    <a:pt x="25" y="136"/>
                    <a:pt x="10" y="134"/>
                    <a:pt x="7" y="129"/>
                  </a:cubicBezTo>
                  <a:cubicBezTo>
                    <a:pt x="4" y="124"/>
                    <a:pt x="0" y="118"/>
                    <a:pt x="2" y="102"/>
                  </a:cubicBezTo>
                  <a:cubicBezTo>
                    <a:pt x="4" y="86"/>
                    <a:pt x="11" y="61"/>
                    <a:pt x="12" y="56"/>
                  </a:cubicBezTo>
                  <a:cubicBezTo>
                    <a:pt x="13" y="50"/>
                    <a:pt x="25" y="21"/>
                    <a:pt x="25" y="21"/>
                  </a:cubicBezTo>
                  <a:cubicBezTo>
                    <a:pt x="61" y="1"/>
                    <a:pt x="61" y="1"/>
                    <a:pt x="6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îṥḻîdé"/>
            <p:cNvSpPr/>
            <p:nvPr/>
          </p:nvSpPr>
          <p:spPr bwMode="auto">
            <a:xfrm>
              <a:off x="7397244" y="3126087"/>
              <a:ext cx="522631" cy="401039"/>
            </a:xfrm>
            <a:custGeom>
              <a:avLst/>
              <a:gdLst>
                <a:gd name="T0" fmla="*/ 117 w 118"/>
                <a:gd name="T1" fmla="*/ 58 h 90"/>
                <a:gd name="T2" fmla="*/ 117 w 118"/>
                <a:gd name="T3" fmla="*/ 58 h 90"/>
                <a:gd name="T4" fmla="*/ 117 w 118"/>
                <a:gd name="T5" fmla="*/ 58 h 90"/>
                <a:gd name="T6" fmla="*/ 117 w 118"/>
                <a:gd name="T7" fmla="*/ 58 h 90"/>
                <a:gd name="T8" fmla="*/ 117 w 118"/>
                <a:gd name="T9" fmla="*/ 58 h 90"/>
                <a:gd name="T10" fmla="*/ 117 w 118"/>
                <a:gd name="T11" fmla="*/ 58 h 90"/>
                <a:gd name="T12" fmla="*/ 117 w 118"/>
                <a:gd name="T13" fmla="*/ 58 h 90"/>
                <a:gd name="T14" fmla="*/ 117 w 118"/>
                <a:gd name="T15" fmla="*/ 58 h 90"/>
                <a:gd name="T16" fmla="*/ 117 w 118"/>
                <a:gd name="T17" fmla="*/ 58 h 90"/>
                <a:gd name="T18" fmla="*/ 117 w 118"/>
                <a:gd name="T19" fmla="*/ 58 h 90"/>
                <a:gd name="T20" fmla="*/ 117 w 118"/>
                <a:gd name="T21" fmla="*/ 58 h 90"/>
                <a:gd name="T22" fmla="*/ 117 w 118"/>
                <a:gd name="T23" fmla="*/ 58 h 90"/>
                <a:gd name="T24" fmla="*/ 117 w 118"/>
                <a:gd name="T25" fmla="*/ 58 h 90"/>
                <a:gd name="T26" fmla="*/ 117 w 118"/>
                <a:gd name="T27" fmla="*/ 58 h 90"/>
                <a:gd name="T28" fmla="*/ 117 w 118"/>
                <a:gd name="T29" fmla="*/ 58 h 90"/>
                <a:gd name="T30" fmla="*/ 117 w 118"/>
                <a:gd name="T31" fmla="*/ 58 h 90"/>
                <a:gd name="T32" fmla="*/ 117 w 118"/>
                <a:gd name="T33" fmla="*/ 58 h 90"/>
                <a:gd name="T34" fmla="*/ 117 w 118"/>
                <a:gd name="T35" fmla="*/ 57 h 90"/>
                <a:gd name="T36" fmla="*/ 117 w 118"/>
                <a:gd name="T37" fmla="*/ 57 h 90"/>
                <a:gd name="T38" fmla="*/ 117 w 118"/>
                <a:gd name="T39" fmla="*/ 57 h 90"/>
                <a:gd name="T40" fmla="*/ 117 w 118"/>
                <a:gd name="T41" fmla="*/ 57 h 90"/>
                <a:gd name="T42" fmla="*/ 117 w 118"/>
                <a:gd name="T43" fmla="*/ 57 h 90"/>
                <a:gd name="T44" fmla="*/ 117 w 118"/>
                <a:gd name="T45" fmla="*/ 57 h 90"/>
                <a:gd name="T46" fmla="*/ 117 w 118"/>
                <a:gd name="T47" fmla="*/ 57 h 90"/>
                <a:gd name="T48" fmla="*/ 117 w 118"/>
                <a:gd name="T49" fmla="*/ 57 h 90"/>
                <a:gd name="T50" fmla="*/ 117 w 118"/>
                <a:gd name="T51" fmla="*/ 57 h 90"/>
                <a:gd name="T52" fmla="*/ 117 w 118"/>
                <a:gd name="T53" fmla="*/ 57 h 90"/>
                <a:gd name="T54" fmla="*/ 117 w 118"/>
                <a:gd name="T55" fmla="*/ 56 h 90"/>
                <a:gd name="T56" fmla="*/ 117 w 118"/>
                <a:gd name="T57" fmla="*/ 56 h 90"/>
                <a:gd name="T58" fmla="*/ 117 w 118"/>
                <a:gd name="T59" fmla="*/ 56 h 90"/>
                <a:gd name="T60" fmla="*/ 117 w 118"/>
                <a:gd name="T61" fmla="*/ 56 h 90"/>
                <a:gd name="T62" fmla="*/ 117 w 118"/>
                <a:gd name="T63" fmla="*/ 56 h 90"/>
                <a:gd name="T64" fmla="*/ 117 w 118"/>
                <a:gd name="T65" fmla="*/ 56 h 90"/>
                <a:gd name="T66" fmla="*/ 116 w 118"/>
                <a:gd name="T67" fmla="*/ 55 h 90"/>
                <a:gd name="T68" fmla="*/ 116 w 118"/>
                <a:gd name="T69" fmla="*/ 55 h 90"/>
                <a:gd name="T70" fmla="*/ 116 w 118"/>
                <a:gd name="T71" fmla="*/ 55 h 90"/>
                <a:gd name="T72" fmla="*/ 116 w 118"/>
                <a:gd name="T73" fmla="*/ 55 h 90"/>
                <a:gd name="T74" fmla="*/ 116 w 118"/>
                <a:gd name="T75" fmla="*/ 55 h 90"/>
                <a:gd name="T76" fmla="*/ 116 w 118"/>
                <a:gd name="T77" fmla="*/ 55 h 90"/>
                <a:gd name="T78" fmla="*/ 116 w 118"/>
                <a:gd name="T79" fmla="*/ 52 h 90"/>
                <a:gd name="T80" fmla="*/ 116 w 118"/>
                <a:gd name="T81" fmla="*/ 52 h 90"/>
                <a:gd name="T82" fmla="*/ 116 w 118"/>
                <a:gd name="T83" fmla="*/ 50 h 90"/>
                <a:gd name="T84" fmla="*/ 116 w 118"/>
                <a:gd name="T85" fmla="*/ 50 h 90"/>
                <a:gd name="T86" fmla="*/ 116 w 118"/>
                <a:gd name="T87" fmla="*/ 50 h 90"/>
                <a:gd name="T88" fmla="*/ 116 w 118"/>
                <a:gd name="T89" fmla="*/ 50 h 90"/>
                <a:gd name="T90" fmla="*/ 116 w 118"/>
                <a:gd name="T91" fmla="*/ 50 h 90"/>
                <a:gd name="T92" fmla="*/ 116 w 118"/>
                <a:gd name="T93" fmla="*/ 50 h 90"/>
                <a:gd name="T94" fmla="*/ 116 w 118"/>
                <a:gd name="T95" fmla="*/ 50 h 90"/>
                <a:gd name="T96" fmla="*/ 116 w 118"/>
                <a:gd name="T97" fmla="*/ 50 h 90"/>
                <a:gd name="T98" fmla="*/ 116 w 118"/>
                <a:gd name="T99" fmla="*/ 50 h 90"/>
                <a:gd name="T100" fmla="*/ 116 w 118"/>
                <a:gd name="T101" fmla="*/ 50 h 90"/>
                <a:gd name="T102" fmla="*/ 116 w 118"/>
                <a:gd name="T103" fmla="*/ 50 h 90"/>
                <a:gd name="T104" fmla="*/ 116 w 118"/>
                <a:gd name="T105" fmla="*/ 50 h 90"/>
                <a:gd name="T106" fmla="*/ 116 w 118"/>
                <a:gd name="T107" fmla="*/ 50 h 90"/>
                <a:gd name="T108" fmla="*/ 116 w 118"/>
                <a:gd name="T109" fmla="*/ 50 h 90"/>
                <a:gd name="T110" fmla="*/ 116 w 118"/>
                <a:gd name="T111" fmla="*/ 50 h 90"/>
                <a:gd name="T112" fmla="*/ 116 w 118"/>
                <a:gd name="T113" fmla="*/ 50 h 90"/>
                <a:gd name="T114" fmla="*/ 67 w 118"/>
                <a:gd name="T115" fmla="*/ 14 h 90"/>
                <a:gd name="T116" fmla="*/ 10 w 118"/>
                <a:gd name="T117" fmla="*/ 35 h 90"/>
                <a:gd name="T118" fmla="*/ 47 w 118"/>
                <a:gd name="T119" fmla="*/ 90 h 90"/>
                <a:gd name="T120" fmla="*/ 117 w 118"/>
                <a:gd name="T121" fmla="*/ 58 h 90"/>
                <a:gd name="T122" fmla="*/ 96 w 118"/>
                <a:gd name="T123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18" h="90"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8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moveTo>
                    <a:pt x="117" y="57"/>
                  </a:move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7"/>
                  </a:moveTo>
                  <a:cubicBezTo>
                    <a:pt x="117" y="57"/>
                    <a:pt x="117" y="57"/>
                    <a:pt x="117" y="57"/>
                  </a:cubicBezTo>
                  <a:cubicBezTo>
                    <a:pt x="117" y="57"/>
                    <a:pt x="117" y="57"/>
                    <a:pt x="117" y="57"/>
                  </a:cubicBezTo>
                  <a:moveTo>
                    <a:pt x="117" y="56"/>
                  </a:moveTo>
                  <a:cubicBezTo>
                    <a:pt x="117" y="56"/>
                    <a:pt x="117" y="57"/>
                    <a:pt x="117" y="57"/>
                  </a:cubicBezTo>
                  <a:cubicBezTo>
                    <a:pt x="117" y="57"/>
                    <a:pt x="117" y="56"/>
                    <a:pt x="117" y="56"/>
                  </a:cubicBezTo>
                  <a:moveTo>
                    <a:pt x="117" y="56"/>
                  </a:moveTo>
                  <a:cubicBezTo>
                    <a:pt x="117" y="56"/>
                    <a:pt x="117" y="56"/>
                    <a:pt x="117" y="56"/>
                  </a:cubicBezTo>
                  <a:cubicBezTo>
                    <a:pt x="117" y="56"/>
                    <a:pt x="117" y="56"/>
                    <a:pt x="117" y="56"/>
                  </a:cubicBezTo>
                  <a:moveTo>
                    <a:pt x="117" y="56"/>
                  </a:moveTo>
                  <a:cubicBezTo>
                    <a:pt x="117" y="56"/>
                    <a:pt x="117" y="56"/>
                    <a:pt x="117" y="56"/>
                  </a:cubicBezTo>
                  <a:cubicBezTo>
                    <a:pt x="117" y="56"/>
                    <a:pt x="117" y="56"/>
                    <a:pt x="117" y="56"/>
                  </a:cubicBezTo>
                  <a:moveTo>
                    <a:pt x="117" y="56"/>
                  </a:moveTo>
                  <a:cubicBezTo>
                    <a:pt x="117" y="56"/>
                    <a:pt x="117" y="56"/>
                    <a:pt x="117" y="56"/>
                  </a:cubicBezTo>
                  <a:cubicBezTo>
                    <a:pt x="117" y="56"/>
                    <a:pt x="117" y="56"/>
                    <a:pt x="117" y="56"/>
                  </a:cubicBezTo>
                  <a:moveTo>
                    <a:pt x="117" y="56"/>
                  </a:moveTo>
                  <a:cubicBezTo>
                    <a:pt x="117" y="56"/>
                    <a:pt x="117" y="56"/>
                    <a:pt x="117" y="56"/>
                  </a:cubicBezTo>
                  <a:cubicBezTo>
                    <a:pt x="117" y="56"/>
                    <a:pt x="117" y="56"/>
                    <a:pt x="117" y="56"/>
                  </a:cubicBezTo>
                  <a:moveTo>
                    <a:pt x="117" y="56"/>
                  </a:moveTo>
                  <a:cubicBezTo>
                    <a:pt x="117" y="56"/>
                    <a:pt x="117" y="56"/>
                    <a:pt x="117" y="56"/>
                  </a:cubicBezTo>
                  <a:cubicBezTo>
                    <a:pt x="117" y="56"/>
                    <a:pt x="117" y="56"/>
                    <a:pt x="117" y="56"/>
                  </a:cubicBezTo>
                  <a:moveTo>
                    <a:pt x="116" y="55"/>
                  </a:moveTo>
                  <a:cubicBezTo>
                    <a:pt x="116" y="55"/>
                    <a:pt x="117" y="56"/>
                    <a:pt x="117" y="56"/>
                  </a:cubicBezTo>
                  <a:cubicBezTo>
                    <a:pt x="117" y="56"/>
                    <a:pt x="116" y="55"/>
                    <a:pt x="116" y="55"/>
                  </a:cubicBezTo>
                  <a:moveTo>
                    <a:pt x="116" y="55"/>
                  </a:move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moveTo>
                    <a:pt x="116" y="55"/>
                  </a:move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moveTo>
                    <a:pt x="116" y="55"/>
                  </a:move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moveTo>
                    <a:pt x="116" y="55"/>
                  </a:move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moveTo>
                    <a:pt x="116" y="55"/>
                  </a:moveTo>
                  <a:cubicBezTo>
                    <a:pt x="116" y="55"/>
                    <a:pt x="116" y="55"/>
                    <a:pt x="116" y="55"/>
                  </a:cubicBezTo>
                  <a:cubicBezTo>
                    <a:pt x="116" y="55"/>
                    <a:pt x="116" y="55"/>
                    <a:pt x="116" y="55"/>
                  </a:cubicBezTo>
                  <a:moveTo>
                    <a:pt x="116" y="52"/>
                  </a:moveTo>
                  <a:cubicBezTo>
                    <a:pt x="116" y="53"/>
                    <a:pt x="116" y="54"/>
                    <a:pt x="116" y="55"/>
                  </a:cubicBezTo>
                  <a:cubicBezTo>
                    <a:pt x="116" y="54"/>
                    <a:pt x="116" y="53"/>
                    <a:pt x="116" y="52"/>
                  </a:cubicBezTo>
                  <a:moveTo>
                    <a:pt x="116" y="52"/>
                  </a:moveTo>
                  <a:cubicBezTo>
                    <a:pt x="116" y="52"/>
                    <a:pt x="116" y="52"/>
                    <a:pt x="116" y="52"/>
                  </a:cubicBezTo>
                  <a:cubicBezTo>
                    <a:pt x="116" y="52"/>
                    <a:pt x="116" y="52"/>
                    <a:pt x="116" y="52"/>
                  </a:cubicBezTo>
                  <a:moveTo>
                    <a:pt x="116" y="50"/>
                  </a:moveTo>
                  <a:cubicBezTo>
                    <a:pt x="116" y="51"/>
                    <a:pt x="116" y="52"/>
                    <a:pt x="116" y="52"/>
                  </a:cubicBezTo>
                  <a:cubicBezTo>
                    <a:pt x="116" y="51"/>
                    <a:pt x="116" y="51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116" y="50"/>
                  </a:moveTo>
                  <a:cubicBezTo>
                    <a:pt x="116" y="50"/>
                    <a:pt x="116" y="50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moveTo>
                    <a:pt x="96" y="0"/>
                  </a:moveTo>
                  <a:cubicBezTo>
                    <a:pt x="96" y="0"/>
                    <a:pt x="81" y="14"/>
                    <a:pt x="69" y="14"/>
                  </a:cubicBezTo>
                  <a:cubicBezTo>
                    <a:pt x="68" y="14"/>
                    <a:pt x="68" y="14"/>
                    <a:pt x="67" y="14"/>
                  </a:cubicBezTo>
                  <a:cubicBezTo>
                    <a:pt x="55" y="12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11" y="29"/>
                    <a:pt x="10" y="35"/>
                  </a:cubicBezTo>
                  <a:cubicBezTo>
                    <a:pt x="9" y="40"/>
                    <a:pt x="2" y="65"/>
                    <a:pt x="0" y="81"/>
                  </a:cubicBezTo>
                  <a:cubicBezTo>
                    <a:pt x="0" y="81"/>
                    <a:pt x="9" y="90"/>
                    <a:pt x="41" y="90"/>
                  </a:cubicBezTo>
                  <a:cubicBezTo>
                    <a:pt x="43" y="90"/>
                    <a:pt x="45" y="90"/>
                    <a:pt x="47" y="90"/>
                  </a:cubicBezTo>
                  <a:cubicBezTo>
                    <a:pt x="84" y="88"/>
                    <a:pt x="118" y="76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cubicBezTo>
                    <a:pt x="117" y="58"/>
                    <a:pt x="117" y="58"/>
                    <a:pt x="117" y="58"/>
                  </a:cubicBezTo>
                  <a:cubicBezTo>
                    <a:pt x="96" y="0"/>
                    <a:pt x="96" y="0"/>
                    <a:pt x="96" y="0"/>
                  </a:cubicBezTo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íślíde"/>
            <p:cNvSpPr/>
            <p:nvPr/>
          </p:nvSpPr>
          <p:spPr bwMode="auto">
            <a:xfrm>
              <a:off x="7073000" y="3051426"/>
              <a:ext cx="554628" cy="328511"/>
            </a:xfrm>
            <a:custGeom>
              <a:avLst/>
              <a:gdLst>
                <a:gd name="T0" fmla="*/ 125 w 125"/>
                <a:gd name="T1" fmla="*/ 0 h 74"/>
                <a:gd name="T2" fmla="*/ 0 w 125"/>
                <a:gd name="T3" fmla="*/ 49 h 74"/>
                <a:gd name="T4" fmla="*/ 46 w 125"/>
                <a:gd name="T5" fmla="*/ 68 h 74"/>
                <a:gd name="T6" fmla="*/ 89 w 125"/>
                <a:gd name="T7" fmla="*/ 40 h 74"/>
                <a:gd name="T8" fmla="*/ 116 w 125"/>
                <a:gd name="T9" fmla="*/ 20 h 74"/>
                <a:gd name="T10" fmla="*/ 125 w 125"/>
                <a:gd name="T11" fmla="*/ 0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74">
                  <a:moveTo>
                    <a:pt x="125" y="0"/>
                  </a:moveTo>
                  <a:cubicBezTo>
                    <a:pt x="0" y="49"/>
                    <a:pt x="0" y="49"/>
                    <a:pt x="0" y="49"/>
                  </a:cubicBezTo>
                  <a:cubicBezTo>
                    <a:pt x="0" y="49"/>
                    <a:pt x="25" y="74"/>
                    <a:pt x="46" y="68"/>
                  </a:cubicBezTo>
                  <a:cubicBezTo>
                    <a:pt x="68" y="62"/>
                    <a:pt x="89" y="40"/>
                    <a:pt x="89" y="40"/>
                  </a:cubicBezTo>
                  <a:cubicBezTo>
                    <a:pt x="116" y="20"/>
                    <a:pt x="116" y="20"/>
                    <a:pt x="116" y="20"/>
                  </a:cubicBezTo>
                  <a:lnTo>
                    <a:pt x="1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íşḷíďé"/>
            <p:cNvSpPr/>
            <p:nvPr/>
          </p:nvSpPr>
          <p:spPr bwMode="auto">
            <a:xfrm>
              <a:off x="7051668" y="3072758"/>
              <a:ext cx="332777" cy="142924"/>
            </a:xfrm>
            <a:custGeom>
              <a:avLst/>
              <a:gdLst>
                <a:gd name="T0" fmla="*/ 75 w 75"/>
                <a:gd name="T1" fmla="*/ 21 h 32"/>
                <a:gd name="T2" fmla="*/ 59 w 75"/>
                <a:gd name="T3" fmla="*/ 11 h 32"/>
                <a:gd name="T4" fmla="*/ 45 w 75"/>
                <a:gd name="T5" fmla="*/ 0 h 32"/>
                <a:gd name="T6" fmla="*/ 31 w 75"/>
                <a:gd name="T7" fmla="*/ 3 h 32"/>
                <a:gd name="T8" fmla="*/ 41 w 75"/>
                <a:gd name="T9" fmla="*/ 6 h 32"/>
                <a:gd name="T10" fmla="*/ 44 w 75"/>
                <a:gd name="T11" fmla="*/ 12 h 32"/>
                <a:gd name="T12" fmla="*/ 17 w 75"/>
                <a:gd name="T13" fmla="*/ 11 h 32"/>
                <a:gd name="T14" fmla="*/ 3 w 75"/>
                <a:gd name="T15" fmla="*/ 18 h 32"/>
                <a:gd name="T16" fmla="*/ 23 w 75"/>
                <a:gd name="T17" fmla="*/ 25 h 32"/>
                <a:gd name="T18" fmla="*/ 55 w 75"/>
                <a:gd name="T19" fmla="*/ 28 h 32"/>
                <a:gd name="T20" fmla="*/ 71 w 75"/>
                <a:gd name="T21" fmla="*/ 29 h 32"/>
                <a:gd name="T22" fmla="*/ 75 w 75"/>
                <a:gd name="T23" fmla="*/ 2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5" h="32">
                  <a:moveTo>
                    <a:pt x="75" y="21"/>
                  </a:moveTo>
                  <a:cubicBezTo>
                    <a:pt x="75" y="21"/>
                    <a:pt x="65" y="16"/>
                    <a:pt x="59" y="11"/>
                  </a:cubicBezTo>
                  <a:cubicBezTo>
                    <a:pt x="53" y="6"/>
                    <a:pt x="53" y="0"/>
                    <a:pt x="45" y="0"/>
                  </a:cubicBezTo>
                  <a:cubicBezTo>
                    <a:pt x="37" y="0"/>
                    <a:pt x="31" y="0"/>
                    <a:pt x="31" y="3"/>
                  </a:cubicBezTo>
                  <a:cubicBezTo>
                    <a:pt x="32" y="6"/>
                    <a:pt x="37" y="6"/>
                    <a:pt x="41" y="6"/>
                  </a:cubicBezTo>
                  <a:cubicBezTo>
                    <a:pt x="45" y="7"/>
                    <a:pt x="51" y="12"/>
                    <a:pt x="44" y="12"/>
                  </a:cubicBezTo>
                  <a:cubicBezTo>
                    <a:pt x="37" y="11"/>
                    <a:pt x="32" y="13"/>
                    <a:pt x="17" y="11"/>
                  </a:cubicBezTo>
                  <a:cubicBezTo>
                    <a:pt x="1" y="9"/>
                    <a:pt x="0" y="14"/>
                    <a:pt x="3" y="18"/>
                  </a:cubicBezTo>
                  <a:cubicBezTo>
                    <a:pt x="5" y="21"/>
                    <a:pt x="3" y="24"/>
                    <a:pt x="23" y="25"/>
                  </a:cubicBezTo>
                  <a:cubicBezTo>
                    <a:pt x="43" y="26"/>
                    <a:pt x="47" y="24"/>
                    <a:pt x="55" y="28"/>
                  </a:cubicBezTo>
                  <a:cubicBezTo>
                    <a:pt x="64" y="32"/>
                    <a:pt x="71" y="29"/>
                    <a:pt x="71" y="29"/>
                  </a:cubicBezTo>
                  <a:lnTo>
                    <a:pt x="75" y="21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ïsḷiḋè"/>
            <p:cNvSpPr/>
            <p:nvPr/>
          </p:nvSpPr>
          <p:spPr bwMode="auto">
            <a:xfrm>
              <a:off x="7294851" y="3047160"/>
              <a:ext cx="699685" cy="460768"/>
            </a:xfrm>
            <a:custGeom>
              <a:avLst/>
              <a:gdLst>
                <a:gd name="T0" fmla="*/ 0 w 158"/>
                <a:gd name="T1" fmla="*/ 34 h 104"/>
                <a:gd name="T2" fmla="*/ 102 w 158"/>
                <a:gd name="T3" fmla="*/ 96 h 104"/>
                <a:gd name="T4" fmla="*/ 152 w 158"/>
                <a:gd name="T5" fmla="*/ 18 h 104"/>
                <a:gd name="T6" fmla="*/ 125 w 158"/>
                <a:gd name="T7" fmla="*/ 1 h 104"/>
                <a:gd name="T8" fmla="*/ 88 w 158"/>
                <a:gd name="T9" fmla="*/ 44 h 104"/>
                <a:gd name="T10" fmla="*/ 18 w 158"/>
                <a:gd name="T11" fmla="*/ 23 h 104"/>
                <a:gd name="T12" fmla="*/ 0 w 158"/>
                <a:gd name="T13" fmla="*/ 3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104">
                  <a:moveTo>
                    <a:pt x="0" y="34"/>
                  </a:moveTo>
                  <a:cubicBezTo>
                    <a:pt x="0" y="34"/>
                    <a:pt x="45" y="104"/>
                    <a:pt x="102" y="96"/>
                  </a:cubicBezTo>
                  <a:cubicBezTo>
                    <a:pt x="158" y="89"/>
                    <a:pt x="154" y="28"/>
                    <a:pt x="152" y="18"/>
                  </a:cubicBezTo>
                  <a:cubicBezTo>
                    <a:pt x="150" y="9"/>
                    <a:pt x="140" y="2"/>
                    <a:pt x="125" y="1"/>
                  </a:cubicBezTo>
                  <a:cubicBezTo>
                    <a:pt x="110" y="0"/>
                    <a:pt x="104" y="43"/>
                    <a:pt x="88" y="44"/>
                  </a:cubicBezTo>
                  <a:cubicBezTo>
                    <a:pt x="72" y="44"/>
                    <a:pt x="65" y="23"/>
                    <a:pt x="18" y="23"/>
                  </a:cubicBezTo>
                  <a:cubicBezTo>
                    <a:pt x="18" y="23"/>
                    <a:pt x="10" y="33"/>
                    <a:pt x="0" y="3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íslíde"/>
            <p:cNvSpPr/>
            <p:nvPr/>
          </p:nvSpPr>
          <p:spPr bwMode="auto">
            <a:xfrm>
              <a:off x="7657493" y="2846640"/>
              <a:ext cx="40531" cy="81061"/>
            </a:xfrm>
            <a:custGeom>
              <a:avLst/>
              <a:gdLst>
                <a:gd name="T0" fmla="*/ 0 w 9"/>
                <a:gd name="T1" fmla="*/ 3 h 18"/>
                <a:gd name="T2" fmla="*/ 1 w 9"/>
                <a:gd name="T3" fmla="*/ 16 h 18"/>
                <a:gd name="T4" fmla="*/ 5 w 9"/>
                <a:gd name="T5" fmla="*/ 17 h 18"/>
                <a:gd name="T6" fmla="*/ 8 w 9"/>
                <a:gd name="T7" fmla="*/ 13 h 18"/>
                <a:gd name="T8" fmla="*/ 5 w 9"/>
                <a:gd name="T9" fmla="*/ 2 h 18"/>
                <a:gd name="T10" fmla="*/ 0 w 9"/>
                <a:gd name="T11" fmla="*/ 3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" h="18">
                  <a:moveTo>
                    <a:pt x="0" y="3"/>
                  </a:move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2" y="18"/>
                    <a:pt x="5" y="17"/>
                  </a:cubicBezTo>
                  <a:cubicBezTo>
                    <a:pt x="8" y="17"/>
                    <a:pt x="9" y="15"/>
                    <a:pt x="8" y="13"/>
                  </a:cubicBezTo>
                  <a:cubicBezTo>
                    <a:pt x="8" y="11"/>
                    <a:pt x="5" y="2"/>
                    <a:pt x="5" y="2"/>
                  </a:cubicBezTo>
                  <a:cubicBezTo>
                    <a:pt x="5" y="2"/>
                    <a:pt x="0" y="0"/>
                    <a:pt x="0" y="3"/>
                  </a:cubicBezTo>
                  <a:close/>
                </a:path>
              </a:pathLst>
            </a:custGeom>
            <a:solidFill>
              <a:srgbClr val="A67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3" name="iśḻîḋê"/>
            <p:cNvSpPr/>
            <p:nvPr/>
          </p:nvSpPr>
          <p:spPr bwMode="auto">
            <a:xfrm>
              <a:off x="9573094" y="4977692"/>
              <a:ext cx="115192" cy="194121"/>
            </a:xfrm>
            <a:custGeom>
              <a:avLst/>
              <a:gdLst>
                <a:gd name="T0" fmla="*/ 1 w 26"/>
                <a:gd name="T1" fmla="*/ 7 h 44"/>
                <a:gd name="T2" fmla="*/ 2 w 26"/>
                <a:gd name="T3" fmla="*/ 22 h 44"/>
                <a:gd name="T4" fmla="*/ 14 w 26"/>
                <a:gd name="T5" fmla="*/ 41 h 44"/>
                <a:gd name="T6" fmla="*/ 25 w 26"/>
                <a:gd name="T7" fmla="*/ 41 h 44"/>
                <a:gd name="T8" fmla="*/ 24 w 26"/>
                <a:gd name="T9" fmla="*/ 23 h 44"/>
                <a:gd name="T10" fmla="*/ 20 w 26"/>
                <a:gd name="T11" fmla="*/ 4 h 44"/>
                <a:gd name="T12" fmla="*/ 1 w 26"/>
                <a:gd name="T13" fmla="*/ 7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44">
                  <a:moveTo>
                    <a:pt x="1" y="7"/>
                  </a:moveTo>
                  <a:cubicBezTo>
                    <a:pt x="1" y="7"/>
                    <a:pt x="0" y="19"/>
                    <a:pt x="2" y="22"/>
                  </a:cubicBezTo>
                  <a:cubicBezTo>
                    <a:pt x="4" y="25"/>
                    <a:pt x="12" y="38"/>
                    <a:pt x="14" y="41"/>
                  </a:cubicBezTo>
                  <a:cubicBezTo>
                    <a:pt x="17" y="43"/>
                    <a:pt x="24" y="44"/>
                    <a:pt x="25" y="41"/>
                  </a:cubicBezTo>
                  <a:cubicBezTo>
                    <a:pt x="26" y="38"/>
                    <a:pt x="25" y="31"/>
                    <a:pt x="24" y="23"/>
                  </a:cubicBezTo>
                  <a:cubicBezTo>
                    <a:pt x="22" y="15"/>
                    <a:pt x="20" y="4"/>
                    <a:pt x="20" y="4"/>
                  </a:cubicBezTo>
                  <a:cubicBezTo>
                    <a:pt x="20" y="4"/>
                    <a:pt x="5" y="0"/>
                    <a:pt x="1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4" name="îsļíďè"/>
            <p:cNvSpPr/>
            <p:nvPr/>
          </p:nvSpPr>
          <p:spPr bwMode="auto">
            <a:xfrm>
              <a:off x="8807279" y="4937162"/>
              <a:ext cx="379707" cy="189854"/>
            </a:xfrm>
            <a:custGeom>
              <a:avLst/>
              <a:gdLst>
                <a:gd name="T0" fmla="*/ 82 w 86"/>
                <a:gd name="T1" fmla="*/ 7 h 43"/>
                <a:gd name="T2" fmla="*/ 84 w 86"/>
                <a:gd name="T3" fmla="*/ 28 h 43"/>
                <a:gd name="T4" fmla="*/ 82 w 86"/>
                <a:gd name="T5" fmla="*/ 31 h 43"/>
                <a:gd name="T6" fmla="*/ 71 w 86"/>
                <a:gd name="T7" fmla="*/ 32 h 43"/>
                <a:gd name="T8" fmla="*/ 70 w 86"/>
                <a:gd name="T9" fmla="*/ 30 h 43"/>
                <a:gd name="T10" fmla="*/ 67 w 86"/>
                <a:gd name="T11" fmla="*/ 27 h 43"/>
                <a:gd name="T12" fmla="*/ 41 w 86"/>
                <a:gd name="T13" fmla="*/ 37 h 43"/>
                <a:gd name="T14" fmla="*/ 9 w 86"/>
                <a:gd name="T15" fmla="*/ 39 h 43"/>
                <a:gd name="T16" fmla="*/ 16 w 86"/>
                <a:gd name="T17" fmla="*/ 29 h 43"/>
                <a:gd name="T18" fmla="*/ 58 w 86"/>
                <a:gd name="T19" fmla="*/ 6 h 43"/>
                <a:gd name="T20" fmla="*/ 82 w 86"/>
                <a:gd name="T21" fmla="*/ 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6" h="43">
                  <a:moveTo>
                    <a:pt x="82" y="7"/>
                  </a:moveTo>
                  <a:cubicBezTo>
                    <a:pt x="82" y="7"/>
                    <a:pt x="86" y="24"/>
                    <a:pt x="84" y="28"/>
                  </a:cubicBezTo>
                  <a:cubicBezTo>
                    <a:pt x="83" y="31"/>
                    <a:pt x="82" y="31"/>
                    <a:pt x="82" y="31"/>
                  </a:cubicBezTo>
                  <a:cubicBezTo>
                    <a:pt x="71" y="32"/>
                    <a:pt x="71" y="32"/>
                    <a:pt x="71" y="32"/>
                  </a:cubicBezTo>
                  <a:cubicBezTo>
                    <a:pt x="71" y="32"/>
                    <a:pt x="70" y="31"/>
                    <a:pt x="70" y="30"/>
                  </a:cubicBezTo>
                  <a:cubicBezTo>
                    <a:pt x="70" y="29"/>
                    <a:pt x="69" y="27"/>
                    <a:pt x="67" y="27"/>
                  </a:cubicBezTo>
                  <a:cubicBezTo>
                    <a:pt x="65" y="28"/>
                    <a:pt x="56" y="34"/>
                    <a:pt x="41" y="37"/>
                  </a:cubicBezTo>
                  <a:cubicBezTo>
                    <a:pt x="26" y="40"/>
                    <a:pt x="10" y="43"/>
                    <a:pt x="9" y="39"/>
                  </a:cubicBezTo>
                  <a:cubicBezTo>
                    <a:pt x="8" y="35"/>
                    <a:pt x="0" y="36"/>
                    <a:pt x="16" y="29"/>
                  </a:cubicBezTo>
                  <a:cubicBezTo>
                    <a:pt x="32" y="23"/>
                    <a:pt x="52" y="12"/>
                    <a:pt x="58" y="6"/>
                  </a:cubicBezTo>
                  <a:cubicBezTo>
                    <a:pt x="63" y="0"/>
                    <a:pt x="82" y="7"/>
                    <a:pt x="82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5" name="ïšḻíďe"/>
            <p:cNvSpPr/>
            <p:nvPr/>
          </p:nvSpPr>
          <p:spPr bwMode="auto">
            <a:xfrm>
              <a:off x="9449369" y="4476394"/>
              <a:ext cx="337043" cy="543963"/>
            </a:xfrm>
            <a:custGeom>
              <a:avLst/>
              <a:gdLst>
                <a:gd name="T0" fmla="*/ 0 w 76"/>
                <a:gd name="T1" fmla="*/ 4 h 123"/>
                <a:gd name="T2" fmla="*/ 28 w 76"/>
                <a:gd name="T3" fmla="*/ 123 h 123"/>
                <a:gd name="T4" fmla="*/ 50 w 76"/>
                <a:gd name="T5" fmla="*/ 120 h 123"/>
                <a:gd name="T6" fmla="*/ 65 w 76"/>
                <a:gd name="T7" fmla="*/ 0 h 123"/>
                <a:gd name="T8" fmla="*/ 0 w 76"/>
                <a:gd name="T9" fmla="*/ 4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6" h="123">
                  <a:moveTo>
                    <a:pt x="0" y="4"/>
                  </a:moveTo>
                  <a:cubicBezTo>
                    <a:pt x="0" y="4"/>
                    <a:pt x="2" y="100"/>
                    <a:pt x="28" y="123"/>
                  </a:cubicBezTo>
                  <a:cubicBezTo>
                    <a:pt x="28" y="123"/>
                    <a:pt x="42" y="119"/>
                    <a:pt x="50" y="120"/>
                  </a:cubicBezTo>
                  <a:cubicBezTo>
                    <a:pt x="50" y="120"/>
                    <a:pt x="76" y="73"/>
                    <a:pt x="65" y="0"/>
                  </a:cubicBezTo>
                  <a:lnTo>
                    <a:pt x="0" y="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6" name="îṡļïďè"/>
            <p:cNvSpPr/>
            <p:nvPr/>
          </p:nvSpPr>
          <p:spPr bwMode="auto">
            <a:xfrm>
              <a:off x="9063262" y="4493460"/>
              <a:ext cx="337043" cy="488500"/>
            </a:xfrm>
            <a:custGeom>
              <a:avLst/>
              <a:gdLst>
                <a:gd name="T0" fmla="*/ 9 w 76"/>
                <a:gd name="T1" fmla="*/ 4 h 110"/>
                <a:gd name="T2" fmla="*/ 1 w 76"/>
                <a:gd name="T3" fmla="*/ 87 h 110"/>
                <a:gd name="T4" fmla="*/ 0 w 76"/>
                <a:gd name="T5" fmla="*/ 106 h 110"/>
                <a:gd name="T6" fmla="*/ 27 w 76"/>
                <a:gd name="T7" fmla="*/ 108 h 110"/>
                <a:gd name="T8" fmla="*/ 76 w 76"/>
                <a:gd name="T9" fmla="*/ 0 h 110"/>
                <a:gd name="T10" fmla="*/ 9 w 76"/>
                <a:gd name="T11" fmla="*/ 4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" h="110">
                  <a:moveTo>
                    <a:pt x="9" y="4"/>
                  </a:moveTo>
                  <a:cubicBezTo>
                    <a:pt x="9" y="4"/>
                    <a:pt x="2" y="64"/>
                    <a:pt x="1" y="87"/>
                  </a:cubicBezTo>
                  <a:cubicBezTo>
                    <a:pt x="0" y="110"/>
                    <a:pt x="0" y="106"/>
                    <a:pt x="0" y="106"/>
                  </a:cubicBezTo>
                  <a:cubicBezTo>
                    <a:pt x="0" y="106"/>
                    <a:pt x="16" y="110"/>
                    <a:pt x="27" y="108"/>
                  </a:cubicBezTo>
                  <a:cubicBezTo>
                    <a:pt x="27" y="108"/>
                    <a:pt x="63" y="65"/>
                    <a:pt x="76" y="0"/>
                  </a:cubicBezTo>
                  <a:lnTo>
                    <a:pt x="9" y="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7" name="îṡlîde"/>
            <p:cNvSpPr/>
            <p:nvPr/>
          </p:nvSpPr>
          <p:spPr bwMode="auto">
            <a:xfrm>
              <a:off x="9524030" y="2895703"/>
              <a:ext cx="147190" cy="230384"/>
            </a:xfrm>
            <a:custGeom>
              <a:avLst/>
              <a:gdLst>
                <a:gd name="T0" fmla="*/ 9 w 33"/>
                <a:gd name="T1" fmla="*/ 52 h 52"/>
                <a:gd name="T2" fmla="*/ 25 w 33"/>
                <a:gd name="T3" fmla="*/ 43 h 52"/>
                <a:gd name="T4" fmla="*/ 33 w 33"/>
                <a:gd name="T5" fmla="*/ 21 h 52"/>
                <a:gd name="T6" fmla="*/ 27 w 33"/>
                <a:gd name="T7" fmla="*/ 0 h 52"/>
                <a:gd name="T8" fmla="*/ 0 w 33"/>
                <a:gd name="T9" fmla="*/ 25 h 52"/>
                <a:gd name="T10" fmla="*/ 9 w 33"/>
                <a:gd name="T1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" h="52">
                  <a:moveTo>
                    <a:pt x="9" y="52"/>
                  </a:moveTo>
                  <a:cubicBezTo>
                    <a:pt x="9" y="52"/>
                    <a:pt x="19" y="49"/>
                    <a:pt x="25" y="43"/>
                  </a:cubicBezTo>
                  <a:cubicBezTo>
                    <a:pt x="32" y="37"/>
                    <a:pt x="33" y="32"/>
                    <a:pt x="33" y="21"/>
                  </a:cubicBezTo>
                  <a:cubicBezTo>
                    <a:pt x="33" y="10"/>
                    <a:pt x="27" y="0"/>
                    <a:pt x="27" y="0"/>
                  </a:cubicBezTo>
                  <a:cubicBezTo>
                    <a:pt x="0" y="25"/>
                    <a:pt x="0" y="25"/>
                    <a:pt x="0" y="25"/>
                  </a:cubicBezTo>
                  <a:lnTo>
                    <a:pt x="9" y="52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8" name="íšlidê"/>
            <p:cNvSpPr/>
            <p:nvPr/>
          </p:nvSpPr>
          <p:spPr bwMode="auto">
            <a:xfrm>
              <a:off x="9400305" y="3136754"/>
              <a:ext cx="140790" cy="168522"/>
            </a:xfrm>
            <a:custGeom>
              <a:avLst/>
              <a:gdLst>
                <a:gd name="T0" fmla="*/ 7 w 32"/>
                <a:gd name="T1" fmla="*/ 2 h 38"/>
                <a:gd name="T2" fmla="*/ 2 w 32"/>
                <a:gd name="T3" fmla="*/ 27 h 38"/>
                <a:gd name="T4" fmla="*/ 12 w 32"/>
                <a:gd name="T5" fmla="*/ 38 h 38"/>
                <a:gd name="T6" fmla="*/ 31 w 32"/>
                <a:gd name="T7" fmla="*/ 38 h 38"/>
                <a:gd name="T8" fmla="*/ 32 w 32"/>
                <a:gd name="T9" fmla="*/ 30 h 38"/>
                <a:gd name="T10" fmla="*/ 26 w 32"/>
                <a:gd name="T11" fmla="*/ 2 h 38"/>
                <a:gd name="T12" fmla="*/ 7 w 32"/>
                <a:gd name="T13" fmla="*/ 2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" h="38">
                  <a:moveTo>
                    <a:pt x="7" y="2"/>
                  </a:moveTo>
                  <a:cubicBezTo>
                    <a:pt x="7" y="2"/>
                    <a:pt x="4" y="25"/>
                    <a:pt x="2" y="27"/>
                  </a:cubicBezTo>
                  <a:cubicBezTo>
                    <a:pt x="0" y="29"/>
                    <a:pt x="12" y="38"/>
                    <a:pt x="12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2" y="30"/>
                    <a:pt x="25" y="4"/>
                    <a:pt x="26" y="2"/>
                  </a:cubicBezTo>
                  <a:cubicBezTo>
                    <a:pt x="26" y="0"/>
                    <a:pt x="7" y="2"/>
                    <a:pt x="7" y="2"/>
                  </a:cubicBezTo>
                  <a:close/>
                </a:path>
              </a:pathLst>
            </a:custGeom>
            <a:solidFill>
              <a:srgbClr val="C184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9" name="íşḷïḓê"/>
            <p:cNvSpPr/>
            <p:nvPr/>
          </p:nvSpPr>
          <p:spPr bwMode="auto">
            <a:xfrm>
              <a:off x="9364041" y="2927701"/>
              <a:ext cx="283714" cy="251716"/>
            </a:xfrm>
            <a:custGeom>
              <a:avLst/>
              <a:gdLst>
                <a:gd name="T0" fmla="*/ 3 w 64"/>
                <a:gd name="T1" fmla="*/ 0 h 57"/>
                <a:gd name="T2" fmla="*/ 0 w 64"/>
                <a:gd name="T3" fmla="*/ 26 h 57"/>
                <a:gd name="T4" fmla="*/ 23 w 64"/>
                <a:gd name="T5" fmla="*/ 57 h 57"/>
                <a:gd name="T6" fmla="*/ 53 w 64"/>
                <a:gd name="T7" fmla="*/ 29 h 57"/>
                <a:gd name="T8" fmla="*/ 63 w 64"/>
                <a:gd name="T9" fmla="*/ 25 h 57"/>
                <a:gd name="T10" fmla="*/ 58 w 64"/>
                <a:gd name="T11" fmla="*/ 17 h 57"/>
                <a:gd name="T12" fmla="*/ 53 w 64"/>
                <a:gd name="T13" fmla="*/ 18 h 57"/>
                <a:gd name="T14" fmla="*/ 52 w 64"/>
                <a:gd name="T15" fmla="*/ 3 h 57"/>
                <a:gd name="T16" fmla="*/ 3 w 64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4" h="57">
                  <a:moveTo>
                    <a:pt x="3" y="0"/>
                  </a:moveTo>
                  <a:cubicBezTo>
                    <a:pt x="3" y="0"/>
                    <a:pt x="1" y="19"/>
                    <a:pt x="0" y="26"/>
                  </a:cubicBezTo>
                  <a:cubicBezTo>
                    <a:pt x="0" y="34"/>
                    <a:pt x="2" y="56"/>
                    <a:pt x="23" y="57"/>
                  </a:cubicBezTo>
                  <a:cubicBezTo>
                    <a:pt x="39" y="57"/>
                    <a:pt x="50" y="51"/>
                    <a:pt x="53" y="29"/>
                  </a:cubicBezTo>
                  <a:cubicBezTo>
                    <a:pt x="53" y="29"/>
                    <a:pt x="62" y="31"/>
                    <a:pt x="63" y="25"/>
                  </a:cubicBezTo>
                  <a:cubicBezTo>
                    <a:pt x="64" y="20"/>
                    <a:pt x="61" y="17"/>
                    <a:pt x="58" y="17"/>
                  </a:cubicBezTo>
                  <a:cubicBezTo>
                    <a:pt x="55" y="18"/>
                    <a:pt x="53" y="18"/>
                    <a:pt x="53" y="18"/>
                  </a:cubicBezTo>
                  <a:cubicBezTo>
                    <a:pt x="52" y="3"/>
                    <a:pt x="52" y="3"/>
                    <a:pt x="52" y="3"/>
                  </a:cubicBezTo>
                  <a:lnTo>
                    <a:pt x="3" y="0"/>
                  </a:ln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0" name="iṩ1îḍè"/>
            <p:cNvSpPr/>
            <p:nvPr/>
          </p:nvSpPr>
          <p:spPr bwMode="auto">
            <a:xfrm>
              <a:off x="9338443" y="2754913"/>
              <a:ext cx="337043" cy="260249"/>
            </a:xfrm>
            <a:custGeom>
              <a:avLst/>
              <a:gdLst>
                <a:gd name="T0" fmla="*/ 2 w 76"/>
                <a:gd name="T1" fmla="*/ 27 h 59"/>
                <a:gd name="T2" fmla="*/ 6 w 76"/>
                <a:gd name="T3" fmla="*/ 43 h 59"/>
                <a:gd name="T4" fmla="*/ 21 w 76"/>
                <a:gd name="T5" fmla="*/ 51 h 59"/>
                <a:gd name="T6" fmla="*/ 34 w 76"/>
                <a:gd name="T7" fmla="*/ 46 h 59"/>
                <a:gd name="T8" fmla="*/ 32 w 76"/>
                <a:gd name="T9" fmla="*/ 53 h 59"/>
                <a:gd name="T10" fmla="*/ 52 w 76"/>
                <a:gd name="T11" fmla="*/ 53 h 59"/>
                <a:gd name="T12" fmla="*/ 58 w 76"/>
                <a:gd name="T13" fmla="*/ 51 h 59"/>
                <a:gd name="T14" fmla="*/ 55 w 76"/>
                <a:gd name="T15" fmla="*/ 59 h 59"/>
                <a:gd name="T16" fmla="*/ 64 w 76"/>
                <a:gd name="T17" fmla="*/ 56 h 59"/>
                <a:gd name="T18" fmla="*/ 71 w 76"/>
                <a:gd name="T19" fmla="*/ 48 h 59"/>
                <a:gd name="T20" fmla="*/ 72 w 76"/>
                <a:gd name="T21" fmla="*/ 35 h 59"/>
                <a:gd name="T22" fmla="*/ 60 w 76"/>
                <a:gd name="T23" fmla="*/ 11 h 59"/>
                <a:gd name="T24" fmla="*/ 2 w 76"/>
                <a:gd name="T25" fmla="*/ 27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6" h="59">
                  <a:moveTo>
                    <a:pt x="2" y="27"/>
                  </a:moveTo>
                  <a:cubicBezTo>
                    <a:pt x="2" y="27"/>
                    <a:pt x="0" y="35"/>
                    <a:pt x="6" y="43"/>
                  </a:cubicBezTo>
                  <a:cubicBezTo>
                    <a:pt x="12" y="51"/>
                    <a:pt x="15" y="53"/>
                    <a:pt x="21" y="51"/>
                  </a:cubicBezTo>
                  <a:cubicBezTo>
                    <a:pt x="26" y="50"/>
                    <a:pt x="34" y="46"/>
                    <a:pt x="34" y="46"/>
                  </a:cubicBezTo>
                  <a:cubicBezTo>
                    <a:pt x="34" y="46"/>
                    <a:pt x="29" y="51"/>
                    <a:pt x="32" y="53"/>
                  </a:cubicBezTo>
                  <a:cubicBezTo>
                    <a:pt x="35" y="54"/>
                    <a:pt x="42" y="58"/>
                    <a:pt x="52" y="53"/>
                  </a:cubicBezTo>
                  <a:cubicBezTo>
                    <a:pt x="62" y="48"/>
                    <a:pt x="58" y="51"/>
                    <a:pt x="58" y="51"/>
                  </a:cubicBezTo>
                  <a:cubicBezTo>
                    <a:pt x="58" y="51"/>
                    <a:pt x="53" y="58"/>
                    <a:pt x="55" y="59"/>
                  </a:cubicBezTo>
                  <a:cubicBezTo>
                    <a:pt x="57" y="59"/>
                    <a:pt x="64" y="56"/>
                    <a:pt x="64" y="56"/>
                  </a:cubicBezTo>
                  <a:cubicBezTo>
                    <a:pt x="64" y="56"/>
                    <a:pt x="70" y="51"/>
                    <a:pt x="71" y="48"/>
                  </a:cubicBezTo>
                  <a:cubicBezTo>
                    <a:pt x="72" y="45"/>
                    <a:pt x="72" y="35"/>
                    <a:pt x="72" y="35"/>
                  </a:cubicBezTo>
                  <a:cubicBezTo>
                    <a:pt x="72" y="35"/>
                    <a:pt x="76" y="22"/>
                    <a:pt x="60" y="11"/>
                  </a:cubicBezTo>
                  <a:cubicBezTo>
                    <a:pt x="44" y="0"/>
                    <a:pt x="13" y="4"/>
                    <a:pt x="2" y="27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1" name="îslïḓé"/>
            <p:cNvSpPr/>
            <p:nvPr/>
          </p:nvSpPr>
          <p:spPr bwMode="auto">
            <a:xfrm>
              <a:off x="9445102" y="3002362"/>
              <a:ext cx="29865" cy="89594"/>
            </a:xfrm>
            <a:custGeom>
              <a:avLst/>
              <a:gdLst>
                <a:gd name="T0" fmla="*/ 2 w 7"/>
                <a:gd name="T1" fmla="*/ 3 h 20"/>
                <a:gd name="T2" fmla="*/ 0 w 7"/>
                <a:gd name="T3" fmla="*/ 16 h 20"/>
                <a:gd name="T4" fmla="*/ 7 w 7"/>
                <a:gd name="T5" fmla="*/ 17 h 20"/>
                <a:gd name="T6" fmla="*/ 6 w 7"/>
                <a:gd name="T7" fmla="*/ 2 h 20"/>
                <a:gd name="T8" fmla="*/ 2 w 7"/>
                <a:gd name="T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" h="20">
                  <a:moveTo>
                    <a:pt x="2" y="3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0" y="16"/>
                    <a:pt x="1" y="20"/>
                    <a:pt x="7" y="1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4" y="0"/>
                    <a:pt x="2" y="3"/>
                  </a:cubicBezTo>
                  <a:close/>
                </a:path>
              </a:pathLst>
            </a:custGeom>
            <a:solidFill>
              <a:srgbClr val="A671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2" name="îṩlíďê"/>
            <p:cNvSpPr/>
            <p:nvPr/>
          </p:nvSpPr>
          <p:spPr bwMode="auto">
            <a:xfrm>
              <a:off x="9067528" y="3100489"/>
              <a:ext cx="1002597" cy="1002597"/>
            </a:xfrm>
            <a:custGeom>
              <a:avLst/>
              <a:gdLst>
                <a:gd name="T0" fmla="*/ 106 w 226"/>
                <a:gd name="T1" fmla="*/ 35 h 226"/>
                <a:gd name="T2" fmla="*/ 77 w 226"/>
                <a:gd name="T3" fmla="*/ 35 h 226"/>
                <a:gd name="T4" fmla="*/ 0 w 226"/>
                <a:gd name="T5" fmla="*/ 0 h 226"/>
                <a:gd name="T6" fmla="*/ 55 w 226"/>
                <a:gd name="T7" fmla="*/ 62 h 226"/>
                <a:gd name="T8" fmla="*/ 126 w 226"/>
                <a:gd name="T9" fmla="*/ 140 h 226"/>
                <a:gd name="T10" fmla="*/ 135 w 226"/>
                <a:gd name="T11" fmla="*/ 136 h 226"/>
                <a:gd name="T12" fmla="*/ 169 w 226"/>
                <a:gd name="T13" fmla="*/ 199 h 226"/>
                <a:gd name="T14" fmla="*/ 196 w 226"/>
                <a:gd name="T15" fmla="*/ 226 h 226"/>
                <a:gd name="T16" fmla="*/ 218 w 226"/>
                <a:gd name="T17" fmla="*/ 219 h 226"/>
                <a:gd name="T18" fmla="*/ 198 w 226"/>
                <a:gd name="T19" fmla="*/ 130 h 226"/>
                <a:gd name="T20" fmla="*/ 152 w 226"/>
                <a:gd name="T21" fmla="*/ 58 h 226"/>
                <a:gd name="T22" fmla="*/ 106 w 226"/>
                <a:gd name="T23" fmla="*/ 35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26" h="226">
                  <a:moveTo>
                    <a:pt x="106" y="35"/>
                  </a:moveTo>
                  <a:cubicBezTo>
                    <a:pt x="106" y="35"/>
                    <a:pt x="81" y="44"/>
                    <a:pt x="77" y="35"/>
                  </a:cubicBezTo>
                  <a:cubicBezTo>
                    <a:pt x="77" y="35"/>
                    <a:pt x="15" y="10"/>
                    <a:pt x="0" y="0"/>
                  </a:cubicBezTo>
                  <a:cubicBezTo>
                    <a:pt x="55" y="62"/>
                    <a:pt x="55" y="62"/>
                    <a:pt x="55" y="62"/>
                  </a:cubicBezTo>
                  <a:cubicBezTo>
                    <a:pt x="126" y="140"/>
                    <a:pt x="126" y="140"/>
                    <a:pt x="126" y="140"/>
                  </a:cubicBezTo>
                  <a:cubicBezTo>
                    <a:pt x="126" y="140"/>
                    <a:pt x="130" y="131"/>
                    <a:pt x="135" y="136"/>
                  </a:cubicBezTo>
                  <a:cubicBezTo>
                    <a:pt x="138" y="139"/>
                    <a:pt x="152" y="173"/>
                    <a:pt x="169" y="199"/>
                  </a:cubicBezTo>
                  <a:cubicBezTo>
                    <a:pt x="177" y="212"/>
                    <a:pt x="187" y="223"/>
                    <a:pt x="196" y="226"/>
                  </a:cubicBezTo>
                  <a:cubicBezTo>
                    <a:pt x="196" y="226"/>
                    <a:pt x="208" y="217"/>
                    <a:pt x="218" y="219"/>
                  </a:cubicBezTo>
                  <a:cubicBezTo>
                    <a:pt x="218" y="219"/>
                    <a:pt x="226" y="174"/>
                    <a:pt x="198" y="130"/>
                  </a:cubicBezTo>
                  <a:cubicBezTo>
                    <a:pt x="170" y="85"/>
                    <a:pt x="158" y="68"/>
                    <a:pt x="152" y="58"/>
                  </a:cubicBezTo>
                  <a:cubicBezTo>
                    <a:pt x="146" y="49"/>
                    <a:pt x="136" y="33"/>
                    <a:pt x="106" y="35"/>
                  </a:cubicBezTo>
                </a:path>
              </a:pathLst>
            </a:custGeom>
            <a:solidFill>
              <a:srgbClr val="C6674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3" name="îS1íde"/>
            <p:cNvSpPr/>
            <p:nvPr/>
          </p:nvSpPr>
          <p:spPr bwMode="auto">
            <a:xfrm>
              <a:off x="9652021" y="3695648"/>
              <a:ext cx="14933" cy="8533"/>
            </a:xfrm>
            <a:custGeom>
              <a:avLst/>
              <a:gdLst>
                <a:gd name="T0" fmla="*/ 0 w 3"/>
                <a:gd name="T1" fmla="*/ 0 h 2"/>
                <a:gd name="T2" fmla="*/ 3 w 3"/>
                <a:gd name="T3" fmla="*/ 2 h 2"/>
                <a:gd name="T4" fmla="*/ 0 w 3"/>
                <a:gd name="T5" fmla="*/ 0 h 2"/>
                <a:gd name="T6" fmla="*/ 0 w 3"/>
                <a:gd name="T7" fmla="*/ 0 h 2"/>
                <a:gd name="T8" fmla="*/ 0 w 3"/>
                <a:gd name="T9" fmla="*/ 0 h 2"/>
                <a:gd name="T10" fmla="*/ 0 w 3"/>
                <a:gd name="T11" fmla="*/ 0 h 2"/>
                <a:gd name="T12" fmla="*/ 0 w 3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1" y="0"/>
                    <a:pt x="2" y="1"/>
                    <a:pt x="3" y="2"/>
                  </a:cubicBezTo>
                  <a:cubicBezTo>
                    <a:pt x="2" y="1"/>
                    <a:pt x="1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4" name="ïṧḷiďê"/>
            <p:cNvSpPr/>
            <p:nvPr/>
          </p:nvSpPr>
          <p:spPr bwMode="auto">
            <a:xfrm>
              <a:off x="9310711" y="3375670"/>
              <a:ext cx="505566" cy="607959"/>
            </a:xfrm>
            <a:custGeom>
              <a:avLst/>
              <a:gdLst>
                <a:gd name="T0" fmla="*/ 0 w 114"/>
                <a:gd name="T1" fmla="*/ 0 h 137"/>
                <a:gd name="T2" fmla="*/ 71 w 114"/>
                <a:gd name="T3" fmla="*/ 78 h 137"/>
                <a:gd name="T4" fmla="*/ 77 w 114"/>
                <a:gd name="T5" fmla="*/ 72 h 137"/>
                <a:gd name="T6" fmla="*/ 77 w 114"/>
                <a:gd name="T7" fmla="*/ 72 h 137"/>
                <a:gd name="T8" fmla="*/ 77 w 114"/>
                <a:gd name="T9" fmla="*/ 72 h 137"/>
                <a:gd name="T10" fmla="*/ 77 w 114"/>
                <a:gd name="T11" fmla="*/ 72 h 137"/>
                <a:gd name="T12" fmla="*/ 77 w 114"/>
                <a:gd name="T13" fmla="*/ 72 h 137"/>
                <a:gd name="T14" fmla="*/ 80 w 114"/>
                <a:gd name="T15" fmla="*/ 74 h 137"/>
                <a:gd name="T16" fmla="*/ 80 w 114"/>
                <a:gd name="T17" fmla="*/ 74 h 137"/>
                <a:gd name="T18" fmla="*/ 114 w 114"/>
                <a:gd name="T19" fmla="*/ 137 h 137"/>
                <a:gd name="T20" fmla="*/ 83 w 114"/>
                <a:gd name="T21" fmla="*/ 42 h 137"/>
                <a:gd name="T22" fmla="*/ 44 w 114"/>
                <a:gd name="T23" fmla="*/ 26 h 137"/>
                <a:gd name="T24" fmla="*/ 0 w 114"/>
                <a:gd name="T25" fmla="*/ 0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4" h="137">
                  <a:moveTo>
                    <a:pt x="0" y="0"/>
                  </a:moveTo>
                  <a:cubicBezTo>
                    <a:pt x="71" y="78"/>
                    <a:pt x="71" y="78"/>
                    <a:pt x="71" y="78"/>
                  </a:cubicBezTo>
                  <a:cubicBezTo>
                    <a:pt x="71" y="78"/>
                    <a:pt x="74" y="72"/>
                    <a:pt x="77" y="72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7" y="72"/>
                    <a:pt x="77" y="72"/>
                    <a:pt x="77" y="72"/>
                  </a:cubicBezTo>
                  <a:cubicBezTo>
                    <a:pt x="78" y="72"/>
                    <a:pt x="79" y="73"/>
                    <a:pt x="80" y="74"/>
                  </a:cubicBezTo>
                  <a:cubicBezTo>
                    <a:pt x="80" y="74"/>
                    <a:pt x="80" y="74"/>
                    <a:pt x="80" y="74"/>
                  </a:cubicBezTo>
                  <a:cubicBezTo>
                    <a:pt x="83" y="77"/>
                    <a:pt x="97" y="111"/>
                    <a:pt x="114" y="137"/>
                  </a:cubicBezTo>
                  <a:cubicBezTo>
                    <a:pt x="104" y="119"/>
                    <a:pt x="91" y="56"/>
                    <a:pt x="83" y="42"/>
                  </a:cubicBezTo>
                  <a:cubicBezTo>
                    <a:pt x="75" y="27"/>
                    <a:pt x="60" y="29"/>
                    <a:pt x="44" y="26"/>
                  </a:cubicBezTo>
                  <a:cubicBezTo>
                    <a:pt x="28" y="22"/>
                    <a:pt x="0" y="0"/>
                    <a:pt x="0" y="0"/>
                  </a:cubicBezTo>
                </a:path>
              </a:pathLst>
            </a:custGeom>
            <a:solidFill>
              <a:srgbClr val="A95D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5" name="îṧļîḓé"/>
            <p:cNvSpPr/>
            <p:nvPr/>
          </p:nvSpPr>
          <p:spPr bwMode="auto">
            <a:xfrm>
              <a:off x="9944268" y="4058290"/>
              <a:ext cx="147190" cy="221851"/>
            </a:xfrm>
            <a:custGeom>
              <a:avLst/>
              <a:gdLst>
                <a:gd name="T0" fmla="*/ 0 w 33"/>
                <a:gd name="T1" fmla="*/ 9 h 50"/>
                <a:gd name="T2" fmla="*/ 3 w 33"/>
                <a:gd name="T3" fmla="*/ 28 h 50"/>
                <a:gd name="T4" fmla="*/ 8 w 33"/>
                <a:gd name="T5" fmla="*/ 24 h 50"/>
                <a:gd name="T6" fmla="*/ 8 w 33"/>
                <a:gd name="T7" fmla="*/ 18 h 50"/>
                <a:gd name="T8" fmla="*/ 22 w 33"/>
                <a:gd name="T9" fmla="*/ 44 h 50"/>
                <a:gd name="T10" fmla="*/ 31 w 33"/>
                <a:gd name="T11" fmla="*/ 46 h 50"/>
                <a:gd name="T12" fmla="*/ 28 w 33"/>
                <a:gd name="T13" fmla="*/ 24 h 50"/>
                <a:gd name="T14" fmla="*/ 18 w 33"/>
                <a:gd name="T15" fmla="*/ 1 h 50"/>
                <a:gd name="T16" fmla="*/ 0 w 33"/>
                <a:gd name="T17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50">
                  <a:moveTo>
                    <a:pt x="0" y="9"/>
                  </a:moveTo>
                  <a:cubicBezTo>
                    <a:pt x="0" y="9"/>
                    <a:pt x="1" y="26"/>
                    <a:pt x="3" y="28"/>
                  </a:cubicBezTo>
                  <a:cubicBezTo>
                    <a:pt x="4" y="30"/>
                    <a:pt x="8" y="28"/>
                    <a:pt x="8" y="24"/>
                  </a:cubicBezTo>
                  <a:cubicBezTo>
                    <a:pt x="7" y="21"/>
                    <a:pt x="8" y="18"/>
                    <a:pt x="8" y="18"/>
                  </a:cubicBezTo>
                  <a:cubicBezTo>
                    <a:pt x="8" y="18"/>
                    <a:pt x="20" y="38"/>
                    <a:pt x="22" y="44"/>
                  </a:cubicBezTo>
                  <a:cubicBezTo>
                    <a:pt x="23" y="50"/>
                    <a:pt x="30" y="50"/>
                    <a:pt x="31" y="46"/>
                  </a:cubicBezTo>
                  <a:cubicBezTo>
                    <a:pt x="33" y="43"/>
                    <a:pt x="32" y="34"/>
                    <a:pt x="28" y="24"/>
                  </a:cubicBezTo>
                  <a:cubicBezTo>
                    <a:pt x="24" y="14"/>
                    <a:pt x="18" y="1"/>
                    <a:pt x="18" y="1"/>
                  </a:cubicBezTo>
                  <a:cubicBezTo>
                    <a:pt x="18" y="1"/>
                    <a:pt x="10" y="0"/>
                    <a:pt x="0" y="9"/>
                  </a:cubicBezTo>
                  <a:close/>
                </a:path>
              </a:pathLst>
            </a:custGeom>
            <a:solidFill>
              <a:srgbClr val="DD9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西安电子科技大学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8610600" y="2635614"/>
            <a:ext cx="3458848" cy="2453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2000" spc="100" dirty="0">
                <a:ea typeface="思源黑体 CN Normal" panose="020B0400000000000000" pitchFamily="34" charset="-122"/>
              </a:rPr>
              <a:t>利用</a:t>
            </a:r>
            <a:r>
              <a:rPr lang="en-US" altLang="zh-CN" sz="2000" spc="100" dirty="0">
                <a:ea typeface="思源黑体 CN Normal" panose="020B0400000000000000" pitchFamily="34" charset="-122"/>
              </a:rPr>
              <a:t>Agent Group</a:t>
            </a:r>
            <a:r>
              <a:rPr lang="zh-CN" altLang="en-US" sz="2000" spc="100" dirty="0">
                <a:ea typeface="思源黑体 CN Normal" panose="020B0400000000000000" pitchFamily="34" charset="-122"/>
              </a:rPr>
              <a:t>通过</a:t>
            </a:r>
            <a:r>
              <a:rPr lang="en-US" altLang="zh-CN" sz="2000" spc="100" dirty="0">
                <a:ea typeface="思源黑体 CN Normal" panose="020B0400000000000000" pitchFamily="34" charset="-122"/>
              </a:rPr>
              <a:t>Agent</a:t>
            </a:r>
            <a:r>
              <a:rPr lang="zh-CN" altLang="en-US" sz="2000" spc="100" dirty="0">
                <a:ea typeface="思源黑体 CN Normal" panose="020B0400000000000000" pitchFamily="34" charset="-122"/>
              </a:rPr>
              <a:t>协同工作做到提取特征，量化特征，构造画像；</a:t>
            </a:r>
            <a:endParaRPr lang="en-US" altLang="zh-CN" sz="2000" spc="100" dirty="0">
              <a:ea typeface="思源黑体 CN Normal" panose="020B0400000000000000" pitchFamily="34" charset="-122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2000" spc="100" dirty="0">
                <a:ea typeface="思源黑体 CN Normal" panose="020B0400000000000000" pitchFamily="34" charset="-122"/>
              </a:rPr>
              <a:t>学生身份多重认证；</a:t>
            </a:r>
            <a:endParaRPr lang="en-US" altLang="zh-CN" sz="2000" spc="100" dirty="0">
              <a:ea typeface="思源黑体 CN Normal" panose="020B0400000000000000" pitchFamily="34" charset="-122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2000" spc="100" dirty="0">
                <a:ea typeface="思源黑体 CN Normal" panose="020B0400000000000000" pitchFamily="34" charset="-122"/>
              </a:rPr>
              <a:t>数据库加密；</a:t>
            </a:r>
            <a:endParaRPr lang="en-US" altLang="zh-CN" sz="2000" spc="100" dirty="0">
              <a:ea typeface="思源黑体 CN Normal" panose="020B0400000000000000" pitchFamily="34" charset="-122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2000" spc="100" dirty="0">
                <a:ea typeface="思源黑体 CN Normal" panose="020B0400000000000000" pitchFamily="34" charset="-122"/>
              </a:rPr>
              <a:t>同态加密下的用户特征保护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0968" y="2973667"/>
            <a:ext cx="2954956" cy="1253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hangingPunct="0">
              <a:lnSpc>
                <a:spcPct val="130000"/>
              </a:lnSpc>
            </a:pPr>
            <a:r>
              <a:rPr lang="zh-CN" altLang="en-US" sz="2000" spc="1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好友推荐匹配度不高</a:t>
            </a:r>
            <a:r>
              <a:rPr lang="en-US" altLang="zh-CN" sz="2000" spc="1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;</a:t>
            </a:r>
          </a:p>
          <a:p>
            <a:pPr algn="r" hangingPunct="0">
              <a:lnSpc>
                <a:spcPct val="130000"/>
              </a:lnSpc>
            </a:pPr>
            <a:r>
              <a:rPr lang="zh-CN" altLang="en-US" sz="2000" spc="1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个人隐私容易泄露</a:t>
            </a:r>
            <a:r>
              <a:rPr lang="en-US" altLang="zh-CN" sz="2000" spc="1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;</a:t>
            </a:r>
          </a:p>
          <a:p>
            <a:pPr algn="r" hangingPunct="0">
              <a:lnSpc>
                <a:spcPct val="130000"/>
              </a:lnSpc>
            </a:pPr>
            <a:r>
              <a:rPr lang="zh-CN" altLang="en-US" sz="2000" spc="1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社区环境不友好</a:t>
            </a:r>
          </a:p>
        </p:txBody>
      </p:sp>
      <p:sp>
        <p:nvSpPr>
          <p:cNvPr id="31" name="箭头: 右 30"/>
          <p:cNvSpPr/>
          <p:nvPr/>
        </p:nvSpPr>
        <p:spPr>
          <a:xfrm>
            <a:off x="4316716" y="3224495"/>
            <a:ext cx="1202499" cy="55102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菱形 32"/>
          <p:cNvSpPr/>
          <p:nvPr/>
        </p:nvSpPr>
        <p:spPr>
          <a:xfrm>
            <a:off x="3070574" y="2318777"/>
            <a:ext cx="2610858" cy="2610858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49" name="矩形 48"/>
          <p:cNvSpPr/>
          <p:nvPr/>
        </p:nvSpPr>
        <p:spPr>
          <a:xfrm>
            <a:off x="3811335" y="3502063"/>
            <a:ext cx="1096136" cy="364936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线上交友痛点</a:t>
            </a:r>
          </a:p>
        </p:txBody>
      </p:sp>
      <p:pic>
        <p:nvPicPr>
          <p:cNvPr id="35" name="图形 34" descr="书架上的书籍 纯色填充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1385" y="2860936"/>
            <a:ext cx="336035" cy="336035"/>
          </a:xfrm>
          <a:prstGeom prst="rect">
            <a:avLst/>
          </a:prstGeom>
        </p:spPr>
      </p:pic>
      <p:sp>
        <p:nvSpPr>
          <p:cNvPr id="42" name="菱形 41"/>
          <p:cNvSpPr/>
          <p:nvPr/>
        </p:nvSpPr>
        <p:spPr>
          <a:xfrm>
            <a:off x="5875301" y="2318777"/>
            <a:ext cx="2610858" cy="2610858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sp>
        <p:nvSpPr>
          <p:cNvPr id="43" name="菱形 42"/>
          <p:cNvSpPr/>
          <p:nvPr/>
        </p:nvSpPr>
        <p:spPr>
          <a:xfrm>
            <a:off x="5295620" y="3118309"/>
            <a:ext cx="965492" cy="965492"/>
          </a:xfrm>
          <a:prstGeom prst="diamond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 dirty="0"/>
          </a:p>
        </p:txBody>
      </p:sp>
      <p:pic>
        <p:nvPicPr>
          <p:cNvPr id="37" name="图形 36" descr="箭头循环 纯色填充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3933" y="3299774"/>
            <a:ext cx="648866" cy="648866"/>
          </a:xfrm>
          <a:prstGeom prst="rect">
            <a:avLst/>
          </a:prstGeom>
        </p:spPr>
      </p:pic>
      <p:pic>
        <p:nvPicPr>
          <p:cNvPr id="38" name="图形 37" descr="上一步 纯色填充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59374">
            <a:off x="5367153" y="2320252"/>
            <a:ext cx="914400" cy="914400"/>
          </a:xfrm>
          <a:prstGeom prst="rect">
            <a:avLst/>
          </a:prstGeom>
        </p:spPr>
      </p:pic>
      <p:pic>
        <p:nvPicPr>
          <p:cNvPr id="83" name="图形 82" descr="上一步 纯色填充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59374" flipH="1" flipV="1">
            <a:off x="5367153" y="3981231"/>
            <a:ext cx="914400" cy="914400"/>
          </a:xfrm>
          <a:prstGeom prst="rect">
            <a:avLst/>
          </a:prstGeom>
        </p:spPr>
      </p:pic>
      <p:sp>
        <p:nvSpPr>
          <p:cNvPr id="39" name="矩形 38"/>
          <p:cNvSpPr/>
          <p:nvPr/>
        </p:nvSpPr>
        <p:spPr>
          <a:xfrm>
            <a:off x="6649261" y="3502063"/>
            <a:ext cx="1096136" cy="364936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使用</a:t>
            </a:r>
            <a:endParaRPr lang="en-US" altLang="zh-CN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 defTabSz="913765"/>
            <a:r>
              <a: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技术</a:t>
            </a:r>
          </a:p>
        </p:txBody>
      </p:sp>
      <p:pic>
        <p:nvPicPr>
          <p:cNvPr id="40" name="图形 39" descr="银行 纯色填充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12712" y="2851026"/>
            <a:ext cx="336035" cy="336035"/>
          </a:xfrm>
          <a:prstGeom prst="rect">
            <a:avLst/>
          </a:prstGeom>
        </p:spPr>
      </p:pic>
      <p:sp>
        <p:nvSpPr>
          <p:cNvPr id="22" name="标题 12">
            <a:extLst>
              <a:ext uri="{FF2B5EF4-FFF2-40B4-BE49-F238E27FC236}">
                <a16:creationId xmlns:a16="http://schemas.microsoft.com/office/drawing/2014/main" id="{AD717A05-2C00-4B02-831E-C0ADAFA91468}"/>
              </a:ext>
            </a:extLst>
          </p:cNvPr>
          <p:cNvSpPr txBox="1">
            <a:spLocks/>
          </p:cNvSpPr>
          <p:nvPr/>
        </p:nvSpPr>
        <p:spPr>
          <a:xfrm>
            <a:off x="750888" y="44132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dirty="0"/>
              <a:t>产品介绍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11667AA-4D47-4380-90AD-27095FFA0424}"/>
              </a:ext>
            </a:extLst>
          </p:cNvPr>
          <p:cNvSpPr txBox="1"/>
          <p:nvPr/>
        </p:nvSpPr>
        <p:spPr>
          <a:xfrm>
            <a:off x="695941" y="1127290"/>
            <a:ext cx="6097712" cy="466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90000"/>
              </a:lnSpc>
              <a:spcBef>
                <a:spcPct val="0"/>
              </a:spcBef>
              <a:buFont typeface="Wingdings" panose="05000000000000000000" pitchFamily="2" charset="2"/>
              <a:buChar char="u"/>
            </a:pPr>
            <a:r>
              <a:rPr lang="zh-CN" altLang="en-US" sz="27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rPr>
              <a:t>解决方案及技术思路</a:t>
            </a:r>
            <a:endParaRPr lang="zh-CN" altLang="en-US" sz="27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57F26DF-D167-4CCC-A428-1179AE071F84}"/>
              </a:ext>
            </a:extLst>
          </p:cNvPr>
          <p:cNvSpPr/>
          <p:nvPr/>
        </p:nvSpPr>
        <p:spPr>
          <a:xfrm>
            <a:off x="3850109" y="3655855"/>
            <a:ext cx="1993257" cy="209049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西安电子科技大学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10</a:t>
            </a:fld>
            <a:endParaRPr lang="zh-CN" altLang="en-US" dirty="0"/>
          </a:p>
        </p:txBody>
      </p:sp>
      <p:graphicFrame>
        <p:nvGraphicFramePr>
          <p:cNvPr id="11" name="内容占位符 10"/>
          <p:cNvGraphicFramePr>
            <a:graphicFrameLocks noGrp="1"/>
          </p:cNvGraphicFramePr>
          <p:nvPr>
            <p:ph sz="quarter" idx="13"/>
          </p:nvPr>
        </p:nvGraphicFramePr>
        <p:xfrm>
          <a:off x="608649" y="1369114"/>
          <a:ext cx="105155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5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5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信息类型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示例数据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zh-CN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作用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个人基础信息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昵称、个性签名、兴趣标签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初步建立用户画像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社交行为数据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聊天记录、点赞、关注、匹配记录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反映真实交友偏好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情感和心理特征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语言风格、情绪倾向、性格分析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深度优化匹配效果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479527" y="4365232"/>
            <a:ext cx="20489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三类</a:t>
            </a:r>
            <a:r>
              <a:rPr lang="en-US" altLang="zh-CN" dirty="0"/>
              <a:t>feature</a:t>
            </a:r>
            <a:endParaRPr lang="zh-CN" altLang="en-US" dirty="0"/>
          </a:p>
        </p:txBody>
      </p:sp>
      <p:sp>
        <p:nvSpPr>
          <p:cNvPr id="6" name="箭头: 右 5"/>
          <p:cNvSpPr/>
          <p:nvPr/>
        </p:nvSpPr>
        <p:spPr>
          <a:xfrm>
            <a:off x="2414723" y="4456495"/>
            <a:ext cx="1295285" cy="181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2663607" y="4087163"/>
            <a:ext cx="911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加密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299741" y="6026987"/>
            <a:ext cx="27432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Graph Neural Networks for</a:t>
            </a:r>
          </a:p>
          <a:p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Social Recommendation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9840944" y="4256658"/>
            <a:ext cx="2685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加密后的的</a:t>
            </a:r>
            <a:endParaRPr lang="en-US" altLang="zh-CN" dirty="0"/>
          </a:p>
          <a:p>
            <a:r>
              <a:rPr lang="en-US" altLang="zh-CN" dirty="0"/>
              <a:t>Matched degree</a:t>
            </a:r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909" b="81894" l="1389" r="30278">
                        <a14:foregroundMark x1="2500" y1="31775" x2="2500" y2="31775"/>
                        <a14:foregroundMark x1="1458" y1="56954" x2="1458" y2="56954"/>
                        <a14:foregroundMark x1="2222" y1="81894" x2="2222" y2="81894"/>
                        <a14:foregroundMark x1="21944" y1="82494" x2="21944" y2="82494"/>
                        <a14:foregroundMark x1="24306" y1="72662" x2="24306" y2="72662"/>
                        <a14:foregroundMark x1="14097" y1="81295" x2="14097" y2="81295"/>
                        <a14:foregroundMark x1="17292" y1="15588" x2="17292" y2="15588"/>
                        <a14:foregroundMark x1="20694" y1="13909" x2="20694" y2="13909"/>
                        <a14:foregroundMark x1="29028" y1="37770" x2="29028" y2="37770"/>
                        <a14:foregroundMark x1="29931" y1="37530" x2="29931" y2="37530"/>
                        <a14:foregroundMark x1="24028" y1="29376" x2="24028" y2="29376"/>
                        <a14:foregroundMark x1="30278" y1="64628" x2="30278" y2="646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067" r="69022" b="12933"/>
          <a:stretch>
            <a:fillRect/>
          </a:stretch>
        </p:blipFill>
        <p:spPr>
          <a:xfrm>
            <a:off x="7505604" y="3087315"/>
            <a:ext cx="2100766" cy="2985019"/>
          </a:xfrm>
          <a:prstGeom prst="rect">
            <a:avLst/>
          </a:prstGeom>
        </p:spPr>
      </p:pic>
      <p:sp>
        <p:nvSpPr>
          <p:cNvPr id="10" name="箭头: 右 9"/>
          <p:cNvSpPr/>
          <p:nvPr/>
        </p:nvSpPr>
        <p:spPr>
          <a:xfrm>
            <a:off x="6013014" y="4518139"/>
            <a:ext cx="1295285" cy="1816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73657" y="1263755"/>
            <a:ext cx="10792047" cy="16912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>
            <a:cxnSpLocks/>
          </p:cNvCxnSpPr>
          <p:nvPr/>
        </p:nvCxnSpPr>
        <p:spPr>
          <a:xfrm>
            <a:off x="838200" y="2955510"/>
            <a:ext cx="1825407" cy="119327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cxnSpLocks/>
          </p:cNvCxnSpPr>
          <p:nvPr/>
        </p:nvCxnSpPr>
        <p:spPr>
          <a:xfrm flipH="1">
            <a:off x="3384850" y="3011732"/>
            <a:ext cx="653750" cy="107096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303D2DF4-7240-4750-A7E8-0D011605B1FA}"/>
              </a:ext>
            </a:extLst>
          </p:cNvPr>
          <p:cNvSpPr txBox="1"/>
          <p:nvPr/>
        </p:nvSpPr>
        <p:spPr>
          <a:xfrm>
            <a:off x="4030276" y="5746354"/>
            <a:ext cx="17239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Agent Group</a:t>
            </a:r>
            <a:endParaRPr lang="zh-CN" altLang="en-US" dirty="0"/>
          </a:p>
        </p:txBody>
      </p:sp>
      <p:sp>
        <p:nvSpPr>
          <p:cNvPr id="25" name="标题 12">
            <a:extLst>
              <a:ext uri="{FF2B5EF4-FFF2-40B4-BE49-F238E27FC236}">
                <a16:creationId xmlns:a16="http://schemas.microsoft.com/office/drawing/2014/main" id="{A0496498-32C3-43CC-B181-63DA95A90EAC}"/>
              </a:ext>
            </a:extLst>
          </p:cNvPr>
          <p:cNvSpPr txBox="1">
            <a:spLocks/>
          </p:cNvSpPr>
          <p:nvPr/>
        </p:nvSpPr>
        <p:spPr>
          <a:xfrm>
            <a:off x="750888" y="441325"/>
            <a:ext cx="105156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en-US" dirty="0"/>
              <a:t>产品介绍</a:t>
            </a:r>
          </a:p>
        </p:txBody>
      </p:sp>
      <p:pic>
        <p:nvPicPr>
          <p:cNvPr id="21" name="图形 20">
            <a:extLst>
              <a:ext uri="{FF2B5EF4-FFF2-40B4-BE49-F238E27FC236}">
                <a16:creationId xmlns:a16="http://schemas.microsoft.com/office/drawing/2014/main" id="{AF5285F1-59DB-4FB6-85C9-FBAF791487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36837" y="3577350"/>
            <a:ext cx="1043326" cy="1043326"/>
          </a:xfrm>
          <a:prstGeom prst="rect">
            <a:avLst/>
          </a:prstGeom>
        </p:spPr>
      </p:pic>
      <p:pic>
        <p:nvPicPr>
          <p:cNvPr id="29" name="图形 28">
            <a:extLst>
              <a:ext uri="{FF2B5EF4-FFF2-40B4-BE49-F238E27FC236}">
                <a16:creationId xmlns:a16="http://schemas.microsoft.com/office/drawing/2014/main" id="{1E157ED4-4751-4B37-A91D-492378A5DF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45094" y="4561020"/>
            <a:ext cx="1043326" cy="1043326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CF2AE2DF-7D71-4533-B15F-9A04ED8E891E}"/>
              </a:ext>
            </a:extLst>
          </p:cNvPr>
          <p:cNvSpPr txBox="1"/>
          <p:nvPr/>
        </p:nvSpPr>
        <p:spPr>
          <a:xfrm>
            <a:off x="5928590" y="3871395"/>
            <a:ext cx="1492716" cy="7013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j-ea"/>
                <a:ea typeface="+mj-ea"/>
              </a:rPr>
              <a:t>深度特征提取</a:t>
            </a:r>
            <a:endParaRPr lang="en-US" altLang="zh-CN" sz="1600" spc="100" dirty="0">
              <a:latin typeface="+mj-ea"/>
              <a:ea typeface="+mj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j-ea"/>
                <a:ea typeface="+mj-ea"/>
              </a:rPr>
              <a:t>与特征验证</a:t>
            </a:r>
          </a:p>
        </p:txBody>
      </p:sp>
      <p:pic>
        <p:nvPicPr>
          <p:cNvPr id="35" name="图形 34">
            <a:extLst>
              <a:ext uri="{FF2B5EF4-FFF2-40B4-BE49-F238E27FC236}">
                <a16:creationId xmlns:a16="http://schemas.microsoft.com/office/drawing/2014/main" id="{A2010C17-41AA-4650-8385-5ADE98AEF9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58162" y="5254094"/>
            <a:ext cx="1043326" cy="1043326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E2443A19-C9BA-4DB8-90FE-EC73C95F7E0C}"/>
              </a:ext>
            </a:extLst>
          </p:cNvPr>
          <p:cNvSpPr txBox="1"/>
          <p:nvPr/>
        </p:nvSpPr>
        <p:spPr>
          <a:xfrm>
            <a:off x="4134237" y="5358623"/>
            <a:ext cx="2224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异常检测</a:t>
            </a:r>
            <a:r>
              <a:rPr lang="en-US" altLang="zh-CN" sz="14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Agent</a:t>
            </a:r>
            <a:endParaRPr lang="zh-CN" altLang="en-US" sz="1400" dirty="0"/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D3250362-8FB6-48C5-8B88-64325C46F2B1}"/>
              </a:ext>
            </a:extLst>
          </p:cNvPr>
          <p:cNvSpPr/>
          <p:nvPr/>
        </p:nvSpPr>
        <p:spPr>
          <a:xfrm>
            <a:off x="9766480" y="4148784"/>
            <a:ext cx="2202914" cy="809183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箭头: 右 37">
            <a:extLst>
              <a:ext uri="{FF2B5EF4-FFF2-40B4-BE49-F238E27FC236}">
                <a16:creationId xmlns:a16="http://schemas.microsoft.com/office/drawing/2014/main" id="{361C154C-37B2-4A0C-BC96-714C9DFBC26B}"/>
              </a:ext>
            </a:extLst>
          </p:cNvPr>
          <p:cNvSpPr/>
          <p:nvPr/>
        </p:nvSpPr>
        <p:spPr>
          <a:xfrm rot="5400000" flipV="1">
            <a:off x="10895160" y="5010588"/>
            <a:ext cx="369330" cy="300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FCD59D2-0907-4004-9C91-9DD798C99C5B}"/>
              </a:ext>
            </a:extLst>
          </p:cNvPr>
          <p:cNvSpPr txBox="1"/>
          <p:nvPr/>
        </p:nvSpPr>
        <p:spPr>
          <a:xfrm>
            <a:off x="10352497" y="6209906"/>
            <a:ext cx="22243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用户</a:t>
            </a:r>
            <a:r>
              <a:rPr lang="zh-CN" altLang="en-US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匹配</a:t>
            </a:r>
            <a:r>
              <a:rPr lang="en-US" altLang="zh-CN" sz="18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Agent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478CCA3-2031-4128-BD41-2E6F07FBCCFC}"/>
              </a:ext>
            </a:extLst>
          </p:cNvPr>
          <p:cNvSpPr txBox="1"/>
          <p:nvPr/>
        </p:nvSpPr>
        <p:spPr>
          <a:xfrm>
            <a:off x="4134237" y="4440850"/>
            <a:ext cx="2224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特征提取</a:t>
            </a:r>
            <a:r>
              <a:rPr lang="en-US" altLang="zh-CN" sz="14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Agent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主效果图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714D1BEF-1663-4DE3-99A6-3A05D5F62D2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9363"/>
          <a:stretch/>
        </p:blipFill>
        <p:spPr>
          <a:xfrm>
            <a:off x="1210384" y="1017998"/>
            <a:ext cx="2828216" cy="5126804"/>
          </a:xfrm>
          <a:prstGeom prst="rect">
            <a:avLst/>
          </a:prstGeom>
        </p:spPr>
      </p:pic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EDE72B7-A5C5-4F49-B987-2C697370085C}"/>
              </a:ext>
            </a:extLst>
          </p:cNvPr>
          <p:cNvSpPr/>
          <p:nvPr/>
        </p:nvSpPr>
        <p:spPr>
          <a:xfrm>
            <a:off x="1923833" y="4412356"/>
            <a:ext cx="1305295" cy="878835"/>
          </a:xfrm>
          <a:prstGeom prst="roundRect">
            <a:avLst/>
          </a:prstGeom>
          <a:solidFill>
            <a:srgbClr val="FEF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8E8F4E3C-75F7-4412-8928-096ACEA84D82}"/>
              </a:ext>
            </a:extLst>
          </p:cNvPr>
          <p:cNvSpPr/>
          <p:nvPr/>
        </p:nvSpPr>
        <p:spPr>
          <a:xfrm>
            <a:off x="1923833" y="1520214"/>
            <a:ext cx="1908428" cy="246941"/>
          </a:xfrm>
          <a:prstGeom prst="roundRect">
            <a:avLst/>
          </a:prstGeom>
          <a:solidFill>
            <a:srgbClr val="FBD9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/>
                </a:solidFill>
              </a:rPr>
              <a:t>与你爱好一致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046CFF19-61E5-437E-8D6C-D32510B9B50B}"/>
              </a:ext>
            </a:extLst>
          </p:cNvPr>
          <p:cNvSpPr/>
          <p:nvPr/>
        </p:nvSpPr>
        <p:spPr>
          <a:xfrm>
            <a:off x="1763351" y="4674348"/>
            <a:ext cx="1767155" cy="416498"/>
          </a:xfrm>
          <a:prstGeom prst="roundRect">
            <a:avLst/>
          </a:prstGeom>
          <a:solidFill>
            <a:srgbClr val="FEFB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梁梁 </a:t>
            </a:r>
            <a:r>
              <a:rPr lang="en-US" altLang="zh-CN" dirty="0">
                <a:solidFill>
                  <a:schemeClr val="tx1"/>
                </a:solidFill>
              </a:rPr>
              <a:t>21</a:t>
            </a: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大三</a:t>
            </a:r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zh-CN" altLang="en-US" dirty="0">
                <a:solidFill>
                  <a:schemeClr val="tx1"/>
                </a:solidFill>
              </a:rPr>
              <a:t>匹配度：</a:t>
            </a:r>
            <a:r>
              <a:rPr lang="en-US" altLang="zh-CN" dirty="0">
                <a:solidFill>
                  <a:schemeClr val="tx1"/>
                </a:solidFill>
              </a:rPr>
              <a:t>95%</a:t>
            </a: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6FFFE69-BC50-4F31-B1E5-51E09C3EA6B4}"/>
              </a:ext>
            </a:extLst>
          </p:cNvPr>
          <p:cNvGrpSpPr/>
          <p:nvPr/>
        </p:nvGrpSpPr>
        <p:grpSpPr>
          <a:xfrm>
            <a:off x="6781800" y="1017998"/>
            <a:ext cx="2743200" cy="5232988"/>
            <a:chOff x="6781800" y="1017998"/>
            <a:chExt cx="2743200" cy="5232988"/>
          </a:xfrm>
        </p:grpSpPr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84E5FA0B-4FB9-4735-B678-A44E83043F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989" t="1803" r="1442" b="9363"/>
            <a:stretch/>
          </p:blipFill>
          <p:spPr>
            <a:xfrm>
              <a:off x="6781800" y="1017998"/>
              <a:ext cx="2743200" cy="5232988"/>
            </a:xfrm>
            <a:prstGeom prst="rect">
              <a:avLst/>
            </a:prstGeom>
          </p:spPr>
        </p:pic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0B47B2BB-C448-44A9-A8D4-D86E0B450FEC}"/>
                </a:ext>
              </a:extLst>
            </p:cNvPr>
            <p:cNvSpPr/>
            <p:nvPr/>
          </p:nvSpPr>
          <p:spPr>
            <a:xfrm>
              <a:off x="7729589" y="1438020"/>
              <a:ext cx="847621" cy="277222"/>
            </a:xfrm>
            <a:prstGeom prst="roundRect">
              <a:avLst/>
            </a:prstGeom>
            <a:solidFill>
              <a:srgbClr val="F5C1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chemeClr val="tx1"/>
                  </a:solidFill>
                </a:rPr>
                <a:t>梁梁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9274CEA0-FA42-4698-A4F3-83DAA5D0DB60}"/>
                </a:ext>
              </a:extLst>
            </p:cNvPr>
            <p:cNvSpPr/>
            <p:nvPr/>
          </p:nvSpPr>
          <p:spPr>
            <a:xfrm>
              <a:off x="8651697" y="2270589"/>
              <a:ext cx="656690" cy="236305"/>
            </a:xfrm>
            <a:prstGeom prst="roundRect">
              <a:avLst/>
            </a:prstGeom>
            <a:solidFill>
              <a:srgbClr val="E88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400" dirty="0">
                  <a:solidFill>
                    <a:schemeClr val="tx1"/>
                  </a:solidFill>
                </a:rPr>
                <a:t>你好</a:t>
              </a:r>
              <a:endParaRPr lang="en-US" altLang="zh-CN" sz="140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2B41CE98-CA93-43B5-A9A6-1FE531E814F0}"/>
                </a:ext>
              </a:extLst>
            </p:cNvPr>
            <p:cNvSpPr/>
            <p:nvPr/>
          </p:nvSpPr>
          <p:spPr>
            <a:xfrm>
              <a:off x="7343236" y="2739636"/>
              <a:ext cx="1441169" cy="277222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tx1"/>
                  </a:solidFill>
                </a:rPr>
                <a:t>你好，最近怎么样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C886815F-3B11-4F24-A8AC-1BA870A26951}"/>
                </a:ext>
              </a:extLst>
            </p:cNvPr>
            <p:cNvSpPr/>
            <p:nvPr/>
          </p:nvSpPr>
          <p:spPr>
            <a:xfrm>
              <a:off x="7623426" y="3120116"/>
              <a:ext cx="1754522" cy="409066"/>
            </a:xfrm>
            <a:prstGeom prst="roundRect">
              <a:avLst/>
            </a:prstGeom>
            <a:solidFill>
              <a:srgbClr val="E885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tx1"/>
                  </a:solidFill>
                </a:rPr>
                <a:t>还不错，周末看个电影？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45F782F8-65A4-442E-A975-EC8F9FEE3B87}"/>
                </a:ext>
              </a:extLst>
            </p:cNvPr>
            <p:cNvSpPr/>
            <p:nvPr/>
          </p:nvSpPr>
          <p:spPr>
            <a:xfrm>
              <a:off x="7353510" y="3683810"/>
              <a:ext cx="1585007" cy="277221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1200" dirty="0">
                  <a:solidFill>
                    <a:schemeClr val="tx1"/>
                  </a:solidFill>
                </a:rPr>
                <a:t>最近刚好有想看的</a:t>
              </a:r>
              <a:endParaRPr lang="en-US" altLang="zh-CN" sz="12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2919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9" name="标题 12"/>
          <p:cNvSpPr>
            <a:spLocks noGrp="1"/>
          </p:cNvSpPr>
          <p:nvPr>
            <p:ph type="title"/>
          </p:nvPr>
        </p:nvSpPr>
        <p:spPr>
          <a:xfrm>
            <a:off x="750888" y="441325"/>
            <a:ext cx="10515600" cy="365125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ym typeface="+mn-ea"/>
              </a:rPr>
              <a:t>用户</a:t>
            </a:r>
            <a:r>
              <a:rPr lang="en-US" altLang="zh-CN" dirty="0">
                <a:sym typeface="+mn-ea"/>
              </a:rPr>
              <a:t>/</a:t>
            </a:r>
            <a:r>
              <a:rPr lang="zh-CN" altLang="en-US" dirty="0">
                <a:sym typeface="+mn-ea"/>
              </a:rPr>
              <a:t>客户（买单者）介绍</a:t>
            </a:r>
            <a:endParaRPr lang="zh-CN" altLang="en-US" dirty="0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61BBE7B-6573-4C6E-97F9-CB2B25E65DA0}"/>
              </a:ext>
            </a:extLst>
          </p:cNvPr>
          <p:cNvGraphicFramePr>
            <a:graphicFrameLocks noGrp="1"/>
          </p:cNvGraphicFramePr>
          <p:nvPr/>
        </p:nvGraphicFramePr>
        <p:xfrm>
          <a:off x="750888" y="1008282"/>
          <a:ext cx="11025963" cy="4731346"/>
        </p:xfrm>
        <a:graphic>
          <a:graphicData uri="http://schemas.openxmlformats.org/drawingml/2006/table">
            <a:tbl>
              <a:tblPr/>
              <a:tblGrid>
                <a:gridCol w="1919552">
                  <a:extLst>
                    <a:ext uri="{9D8B030D-6E8A-4147-A177-3AD203B41FA5}">
                      <a16:colId xmlns:a16="http://schemas.microsoft.com/office/drawing/2014/main" val="318121014"/>
                    </a:ext>
                  </a:extLst>
                </a:gridCol>
                <a:gridCol w="3894611">
                  <a:extLst>
                    <a:ext uri="{9D8B030D-6E8A-4147-A177-3AD203B41FA5}">
                      <a16:colId xmlns:a16="http://schemas.microsoft.com/office/drawing/2014/main" val="915495076"/>
                    </a:ext>
                  </a:extLst>
                </a:gridCol>
                <a:gridCol w="5211800">
                  <a:extLst>
                    <a:ext uri="{9D8B030D-6E8A-4147-A177-3AD203B41FA5}">
                      <a16:colId xmlns:a16="http://schemas.microsoft.com/office/drawing/2014/main" val="21691630"/>
                    </a:ext>
                  </a:extLst>
                </a:gridCol>
              </a:tblGrid>
              <a:tr h="41429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cap="all" dirty="0">
                          <a:solidFill>
                            <a:schemeClr val="tx1"/>
                          </a:solidFill>
                          <a:effectLst/>
                        </a:rPr>
                        <a:t>分析维度</a:t>
                      </a:r>
                    </a:p>
                  </a:txBody>
                  <a:tcPr marL="95146" marR="95146" marT="95146" marB="951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cap="all" dirty="0">
                          <a:solidFill>
                            <a:schemeClr val="tx1"/>
                          </a:solidFill>
                          <a:effectLst/>
                        </a:rPr>
                        <a:t>关键发现</a:t>
                      </a:r>
                    </a:p>
                  </a:txBody>
                  <a:tcPr marL="95146" marR="95146" marT="95146" marB="951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 cap="all" dirty="0">
                          <a:solidFill>
                            <a:schemeClr val="tx1"/>
                          </a:solidFill>
                          <a:effectLst/>
                        </a:rPr>
                        <a:t>验证依据</a:t>
                      </a:r>
                    </a:p>
                  </a:txBody>
                  <a:tcPr marL="95146" marR="95146" marT="95146" marB="951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154735"/>
                  </a:ext>
                </a:extLst>
              </a:tr>
              <a:tr h="616722"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WHO</a:t>
                      </a:r>
                      <a:b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</a:br>
                      <a:r>
                        <a:rPr lang="zh-CN" alt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用户是谁</a:t>
                      </a:r>
                    </a:p>
                  </a:txBody>
                  <a:tcPr marL="50744" marR="50744" marT="25372" marB="25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2D3748"/>
                          </a:solidFill>
                          <a:effectLst/>
                        </a:rPr>
                        <a:t>18-25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岁高校</a:t>
                      </a:r>
                      <a:r>
                        <a:rPr lang="zh-CN" altLang="en-US" sz="1600" b="1" dirty="0">
                          <a:solidFill>
                            <a:srgbClr val="2D3748"/>
                          </a:solidFill>
                          <a:effectLst/>
                        </a:rPr>
                        <a:t>学生主体</a:t>
                      </a:r>
                      <a:endParaRPr lang="zh-CN" altLang="en-US" sz="1400" b="1" dirty="0">
                        <a:solidFill>
                          <a:srgbClr val="2D3748"/>
                        </a:solidFill>
                        <a:effectLst/>
                      </a:endParaRP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48BB78"/>
                          </a:solidFill>
                          <a:effectLst/>
                        </a:rPr>
                        <a:t>4300</a:t>
                      </a:r>
                      <a:r>
                        <a:rPr lang="zh-CN" altLang="en-US" sz="1600" b="1" dirty="0">
                          <a:solidFill>
                            <a:srgbClr val="48BB78"/>
                          </a:solidFill>
                          <a:effectLst/>
                        </a:rPr>
                        <a:t>万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在校生基数</a:t>
                      </a:r>
                      <a:endParaRPr lang="en-US" altLang="zh-CN" sz="1400" dirty="0">
                        <a:solidFill>
                          <a:srgbClr val="2D3748"/>
                        </a:solidFill>
                        <a:effectLst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教育部</a:t>
                      </a:r>
                      <a:r>
                        <a:rPr lang="en-US" altLang="zh-CN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统计公报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422630"/>
                  </a:ext>
                </a:extLst>
              </a:tr>
              <a:tr h="61672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2D3748"/>
                          </a:solidFill>
                          <a:effectLst/>
                        </a:rPr>
                        <a:t>70%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单身率</a:t>
                      </a:r>
                    </a:p>
                  </a:txBody>
                  <a:tcPr marL="79288" marR="79288" marT="79288" marB="7928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主因：</a:t>
                      </a:r>
                      <a:r>
                        <a:rPr lang="zh-CN" altLang="en-US" sz="1600" b="1" kern="1200" dirty="0">
                          <a:solidFill>
                            <a:srgbClr val="48BB7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社交恐惧，价值感低</a:t>
                      </a:r>
                      <a:endParaRPr lang="en-US" altLang="zh-CN" sz="1400" b="1" dirty="0">
                        <a:solidFill>
                          <a:srgbClr val="48BB78"/>
                        </a:solidFill>
                        <a:effectLst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中国青年网万级调研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321297"/>
                  </a:ext>
                </a:extLst>
              </a:tr>
              <a:tr h="61672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WHO</a:t>
                      </a:r>
                      <a:b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</a:br>
                      <a:r>
                        <a:rPr lang="zh-CN" alt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买单分离</a:t>
                      </a:r>
                    </a:p>
                  </a:txBody>
                  <a:tcPr marL="50744" marR="50744" marT="25372" marB="25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solidFill>
                            <a:srgbClr val="2D3748"/>
                          </a:solidFill>
                          <a:effectLst/>
                        </a:rPr>
                        <a:t>C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端订阅 </a:t>
                      </a:r>
                      <a:r>
                        <a:rPr lang="en-US" altLang="zh-CN" sz="1400" dirty="0">
                          <a:solidFill>
                            <a:srgbClr val="2D3748"/>
                          </a:solidFill>
                          <a:effectLst/>
                        </a:rPr>
                        <a:t>+ B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端</a:t>
                      </a:r>
                      <a:r>
                        <a:rPr lang="zh-CN" altLang="en-US" sz="1600" b="1" dirty="0">
                          <a:solidFill>
                            <a:srgbClr val="2D3748"/>
                          </a:solidFill>
                          <a:effectLst/>
                        </a:rPr>
                        <a:t>高校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服务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rgbClr val="2D374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市面上</a:t>
                      </a:r>
                      <a:r>
                        <a:rPr lang="zh-CN" altLang="en-US" sz="1600" b="1" dirty="0">
                          <a:solidFill>
                            <a:srgbClr val="48BB78"/>
                          </a:solidFill>
                          <a:effectLst/>
                        </a:rPr>
                        <a:t>已有</a:t>
                      </a:r>
                      <a:r>
                        <a:rPr lang="zh-CN" altLang="en-US" sz="1400" kern="1200" dirty="0">
                          <a:solidFill>
                            <a:srgbClr val="2D374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高校合作的相关软件案例 </a:t>
                      </a:r>
                      <a:endParaRPr lang="en-US" altLang="zh-CN" sz="1400" dirty="0">
                        <a:solidFill>
                          <a:srgbClr val="2D3748"/>
                        </a:solidFill>
                        <a:effectLst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Summer</a:t>
                      </a:r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校园</a:t>
                      </a:r>
                      <a:r>
                        <a:rPr 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400" kern="1200" dirty="0" err="1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MatchUs</a:t>
                      </a:r>
                      <a:endParaRPr lang="zh-CN" altLang="en-US" sz="1400" kern="1200" dirty="0">
                        <a:solidFill>
                          <a:srgbClr val="D69E2E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146870"/>
                  </a:ext>
                </a:extLst>
              </a:tr>
              <a:tr h="61672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WHERE</a:t>
                      </a:r>
                      <a:b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</a:br>
                      <a:r>
                        <a:rPr lang="zh-CN" alt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发生场景</a:t>
                      </a:r>
                    </a:p>
                  </a:txBody>
                  <a:tcPr marL="50744" marR="50744" marT="25372" marB="25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深夜</a:t>
                      </a:r>
                      <a:r>
                        <a:rPr lang="en-US" altLang="zh-CN" sz="1400" dirty="0">
                          <a:solidFill>
                            <a:srgbClr val="2D3748"/>
                          </a:solidFill>
                          <a:effectLst/>
                        </a:rPr>
                        <a:t>| 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情绪</a:t>
                      </a:r>
                      <a:r>
                        <a:rPr lang="zh-CN" altLang="en-US" sz="1600" b="1" dirty="0">
                          <a:solidFill>
                            <a:srgbClr val="2D3748"/>
                          </a:solidFill>
                          <a:effectLst/>
                        </a:rPr>
                        <a:t>低落</a:t>
                      </a:r>
                      <a:endParaRPr lang="zh-CN" altLang="en-US" sz="1400" b="1" dirty="0">
                        <a:solidFill>
                          <a:srgbClr val="2D3748"/>
                        </a:solidFill>
                        <a:effectLst/>
                      </a:endParaRP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kern="1200" dirty="0">
                          <a:solidFill>
                            <a:srgbClr val="2D374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移动互联网月均使用</a:t>
                      </a:r>
                      <a:r>
                        <a:rPr lang="en-US" altLang="zh-CN" sz="1600" b="1" dirty="0">
                          <a:solidFill>
                            <a:srgbClr val="48BB78"/>
                          </a:solidFill>
                          <a:effectLst/>
                        </a:rPr>
                        <a:t>173</a:t>
                      </a:r>
                      <a:r>
                        <a:rPr lang="zh-CN" altLang="en-US" sz="1600" b="1" dirty="0">
                          <a:solidFill>
                            <a:srgbClr val="48BB78"/>
                          </a:solidFill>
                          <a:effectLst/>
                        </a:rPr>
                        <a:t>小时</a:t>
                      </a:r>
                      <a:r>
                        <a:rPr lang="zh-CN" altLang="en-US" sz="1600" dirty="0">
                          <a:solidFill>
                            <a:srgbClr val="2D3748"/>
                          </a:solidFill>
                          <a:effectLst/>
                        </a:rPr>
                        <a:t> ，</a:t>
                      </a:r>
                      <a:r>
                        <a:rPr lang="zh-CN" altLang="en-US" sz="1600" b="1" kern="1200" dirty="0">
                          <a:solidFill>
                            <a:srgbClr val="48BB7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深夜活跃度</a:t>
                      </a:r>
                      <a:r>
                        <a:rPr lang="zh-CN" altLang="en-US" sz="1600" dirty="0">
                          <a:solidFill>
                            <a:srgbClr val="2D3748"/>
                          </a:solidFill>
                          <a:effectLst/>
                        </a:rPr>
                        <a:t>居高</a:t>
                      </a:r>
                      <a:endParaRPr lang="en-US" altLang="zh-CN" sz="1600" dirty="0">
                        <a:solidFill>
                          <a:srgbClr val="2D3748"/>
                        </a:solidFill>
                        <a:effectLst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1400" kern="1200" dirty="0" err="1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QuestMobile</a:t>
                      </a:r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行为洞察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5183378"/>
                  </a:ext>
                </a:extLst>
              </a:tr>
              <a:tr h="61672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WHAT</a:t>
                      </a:r>
                      <a:b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</a:br>
                      <a:r>
                        <a:rPr lang="zh-CN" alt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用户行为</a:t>
                      </a:r>
                    </a:p>
                  </a:txBody>
                  <a:tcPr marL="50744" marR="50744" marT="25372" marB="25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创建</a:t>
                      </a:r>
                      <a:r>
                        <a:rPr lang="zh-CN" altLang="en-US" sz="1600" b="1" dirty="0">
                          <a:solidFill>
                            <a:srgbClr val="2D3748"/>
                          </a:solidFill>
                          <a:effectLst/>
                        </a:rPr>
                        <a:t>标签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2D3748"/>
                          </a:solidFill>
                          <a:effectLst/>
                        </a:rPr>
                        <a:t>| 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场景匹配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48BB78"/>
                          </a:solidFill>
                          <a:effectLst/>
                        </a:rPr>
                        <a:t>72%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愿填</a:t>
                      </a:r>
                      <a:r>
                        <a:rPr lang="en-US" altLang="zh-CN" sz="1400" dirty="0">
                          <a:solidFill>
                            <a:srgbClr val="2D3748"/>
                          </a:solidFill>
                          <a:effectLst/>
                        </a:rPr>
                        <a:t>10+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标签 </a:t>
                      </a:r>
                      <a:endParaRPr lang="en-US" altLang="zh-CN" sz="1400" dirty="0">
                        <a:solidFill>
                          <a:srgbClr val="2D3748"/>
                        </a:solidFill>
                        <a:effectLst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Soul</a:t>
                      </a:r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日均</a:t>
                      </a:r>
                      <a:r>
                        <a:rPr lang="en-US" altLang="zh-CN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7.2</a:t>
                      </a:r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次请求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445274"/>
                  </a:ext>
                </a:extLst>
              </a:tr>
              <a:tr h="61672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WHY</a:t>
                      </a:r>
                      <a:b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</a:br>
                      <a:r>
                        <a:rPr lang="zh-CN" alt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核心动因</a:t>
                      </a:r>
                    </a:p>
                  </a:txBody>
                  <a:tcPr marL="50744" marR="50744" marT="25372" marB="25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突破</a:t>
                      </a:r>
                      <a:r>
                        <a:rPr lang="zh-CN" altLang="en-US" sz="1600" b="1" dirty="0">
                          <a:solidFill>
                            <a:srgbClr val="2D3748"/>
                          </a:solidFill>
                          <a:effectLst/>
                        </a:rPr>
                        <a:t>社交圈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 </a:t>
                      </a:r>
                      <a:r>
                        <a:rPr lang="en-US" altLang="zh-CN" sz="1400" dirty="0">
                          <a:solidFill>
                            <a:srgbClr val="2D3748"/>
                          </a:solidFill>
                          <a:effectLst/>
                        </a:rPr>
                        <a:t>| 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规避相亲 </a:t>
                      </a:r>
                      <a:r>
                        <a:rPr lang="en-US" altLang="zh-CN" sz="1400" dirty="0">
                          <a:solidFill>
                            <a:srgbClr val="2D3748"/>
                          </a:solidFill>
                          <a:effectLst/>
                        </a:rPr>
                        <a:t>| </a:t>
                      </a:r>
                      <a:r>
                        <a:rPr lang="zh-CN" altLang="en-US" sz="1600" b="1" dirty="0">
                          <a:solidFill>
                            <a:srgbClr val="2D3748"/>
                          </a:solidFill>
                          <a:effectLst/>
                        </a:rPr>
                        <a:t>担忧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婚恋平台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rgbClr val="48BB78"/>
                          </a:solidFill>
                          <a:effectLst/>
                        </a:rPr>
                        <a:t>42.1%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支持线上结识，</a:t>
                      </a:r>
                      <a:r>
                        <a:rPr lang="en-US" altLang="zh-CN" sz="1600" b="1" kern="1200" dirty="0">
                          <a:solidFill>
                            <a:srgbClr val="48BB7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600" b="1" kern="1200" dirty="0">
                          <a:solidFill>
                            <a:srgbClr val="48BB7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成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以上对婚恋平台安全性保持担忧</a:t>
                      </a:r>
                      <a:endParaRPr lang="en-US" altLang="zh-CN" sz="1400" dirty="0">
                        <a:solidFill>
                          <a:srgbClr val="2D3748"/>
                        </a:solidFill>
                        <a:effectLst/>
                      </a:endParaRPr>
                    </a:p>
                    <a:p>
                      <a:pPr algn="ctr"/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艾媒</a:t>
                      </a:r>
                      <a:r>
                        <a:rPr lang="en-US" altLang="zh-CN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2024</a:t>
                      </a:r>
                      <a:r>
                        <a:rPr lang="zh-CN" altLang="en-US" sz="1400" kern="1200" dirty="0">
                          <a:solidFill>
                            <a:srgbClr val="D69E2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研究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115318"/>
                  </a:ext>
                </a:extLst>
              </a:tr>
              <a:tr h="616722">
                <a:tc>
                  <a:txBody>
                    <a:bodyPr/>
                    <a:lstStyle/>
                    <a:p>
                      <a:pPr algn="ctr"/>
                      <a: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HOW</a:t>
                      </a:r>
                      <a:br>
                        <a:rPr lang="en-US" sz="1600" b="1" i="1" dirty="0">
                          <a:solidFill>
                            <a:srgbClr val="4A5568"/>
                          </a:solidFill>
                          <a:effectLst/>
                        </a:rPr>
                      </a:br>
                      <a:r>
                        <a:rPr lang="zh-CN" altLang="en-US" sz="1600" b="1" i="1" dirty="0">
                          <a:solidFill>
                            <a:srgbClr val="4A5568"/>
                          </a:solidFill>
                          <a:effectLst/>
                        </a:rPr>
                        <a:t>行为路径</a:t>
                      </a:r>
                    </a:p>
                  </a:txBody>
                  <a:tcPr marL="50744" marR="50744" marT="25372" marB="25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2D3748"/>
                          </a:solidFill>
                          <a:effectLst/>
                        </a:rPr>
                        <a:t>认证→匹配→线下转化</a:t>
                      </a: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多数平台出现</a:t>
                      </a:r>
                      <a:r>
                        <a:rPr lang="zh-CN" altLang="en-US" sz="1600" b="1" kern="1200" dirty="0">
                          <a:solidFill>
                            <a:srgbClr val="48BB7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注册率高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，</a:t>
                      </a:r>
                      <a:r>
                        <a:rPr lang="zh-CN" altLang="en-US" sz="1600" b="1" kern="1200" dirty="0">
                          <a:solidFill>
                            <a:srgbClr val="48BB7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转化率低</a:t>
                      </a:r>
                      <a:r>
                        <a:rPr lang="zh-CN" altLang="en-US" sz="1400" dirty="0">
                          <a:solidFill>
                            <a:srgbClr val="2D3748"/>
                          </a:solidFill>
                          <a:effectLst/>
                        </a:rPr>
                        <a:t>现象</a:t>
                      </a:r>
                      <a:endParaRPr lang="en-US" altLang="zh-CN" sz="1400" dirty="0">
                        <a:solidFill>
                          <a:srgbClr val="2D3748"/>
                        </a:solidFill>
                        <a:effectLst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D69E2E"/>
                          </a:solidFill>
                          <a:effectLst/>
                        </a:rPr>
                        <a:t>探探转化率仅</a:t>
                      </a:r>
                      <a:r>
                        <a:rPr lang="en-US" altLang="zh-CN" sz="1400" dirty="0">
                          <a:solidFill>
                            <a:srgbClr val="D69E2E"/>
                          </a:solidFill>
                          <a:effectLst/>
                        </a:rPr>
                        <a:t>9%</a:t>
                      </a:r>
                      <a:endParaRPr lang="zh-CN" altLang="en-US" sz="1400" dirty="0">
                        <a:solidFill>
                          <a:srgbClr val="2D3748"/>
                        </a:solidFill>
                        <a:effectLst/>
                      </a:endParaRPr>
                    </a:p>
                  </a:txBody>
                  <a:tcPr marL="79288" marR="79288" marT="79288" marB="7928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61877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/>
              <a:t>市场分析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67676" y="6236409"/>
            <a:ext cx="2888082" cy="475541"/>
          </a:xfrm>
        </p:spPr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795635" y="6236409"/>
            <a:ext cx="4332123" cy="475541"/>
          </a:xfrm>
        </p:spPr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440076" y="6236409"/>
            <a:ext cx="2888082" cy="475541"/>
          </a:xfrm>
        </p:spPr>
        <p:txBody>
          <a:bodyPr/>
          <a:lstStyle/>
          <a:p>
            <a:fld id="{33B9A5AF-BDD6-4E14-989F-CF034C94E4CA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50" name="单圆角矩形 6">
            <a:extLst>
              <a:ext uri="{FF2B5EF4-FFF2-40B4-BE49-F238E27FC236}">
                <a16:creationId xmlns:a16="http://schemas.microsoft.com/office/drawing/2014/main" id="{7896FCC7-3850-46A2-81EF-57E6AAEA537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 flipH="1">
            <a:off x="750104" y="2224710"/>
            <a:ext cx="3464908" cy="777240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1">
                  <a:lumMod val="60000"/>
                  <a:lumOff val="40000"/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288290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市场定位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精准聚焦</a:t>
            </a:r>
          </a:p>
        </p:txBody>
      </p:sp>
      <p:sp>
        <p:nvSpPr>
          <p:cNvPr id="51" name="单圆角矩形 11">
            <a:extLst>
              <a:ext uri="{FF2B5EF4-FFF2-40B4-BE49-F238E27FC236}">
                <a16:creationId xmlns:a16="http://schemas.microsoft.com/office/drawing/2014/main" id="{88279D46-5F53-48CE-8097-7F5323EBD3A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H="1">
            <a:off x="3913039" y="1916225"/>
            <a:ext cx="3464908" cy="777240"/>
          </a:xfrm>
          <a:prstGeom prst="round1Rect">
            <a:avLst>
              <a:gd name="adj" fmla="val 50000"/>
            </a:avLst>
          </a:prstGeom>
          <a:gradFill>
            <a:gsLst>
              <a:gs pos="90000">
                <a:schemeClr val="accent2">
                  <a:lumMod val="60000"/>
                  <a:lumOff val="40000"/>
                  <a:alpha val="100000"/>
                </a:schemeClr>
              </a:gs>
              <a:gs pos="0">
                <a:schemeClr val="accent2">
                  <a:alpha val="10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schemeClr val="accent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288290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规模趋势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技术驱动</a:t>
            </a:r>
          </a:p>
        </p:txBody>
      </p:sp>
      <p:sp>
        <p:nvSpPr>
          <p:cNvPr id="52" name="直角三角形 51">
            <a:extLst>
              <a:ext uri="{FF2B5EF4-FFF2-40B4-BE49-F238E27FC236}">
                <a16:creationId xmlns:a16="http://schemas.microsoft.com/office/drawing/2014/main" id="{6DC64988-D3E6-41AA-A45B-E96C941517A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10800000">
            <a:off x="3913039" y="2699690"/>
            <a:ext cx="301734" cy="301734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C1939049-E867-450B-85FC-9818B7974A26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 rot="10800000">
            <a:off x="7072164" y="2396795"/>
            <a:ext cx="301734" cy="301734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54" name="任意多边形 35">
            <a:extLst>
              <a:ext uri="{FF2B5EF4-FFF2-40B4-BE49-F238E27FC236}">
                <a16:creationId xmlns:a16="http://schemas.microsoft.com/office/drawing/2014/main" id="{D4071567-0386-421C-85B4-F3F61F42141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7072164" y="1326185"/>
            <a:ext cx="4245178" cy="13672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88" h="1731">
                <a:moveTo>
                  <a:pt x="3123" y="0"/>
                </a:moveTo>
                <a:lnTo>
                  <a:pt x="3988" y="866"/>
                </a:lnTo>
                <a:lnTo>
                  <a:pt x="3122" y="1731"/>
                </a:lnTo>
                <a:lnTo>
                  <a:pt x="3122" y="1358"/>
                </a:lnTo>
                <a:lnTo>
                  <a:pt x="0" y="1358"/>
                </a:lnTo>
                <a:lnTo>
                  <a:pt x="0" y="866"/>
                </a:lnTo>
                <a:cubicBezTo>
                  <a:pt x="0" y="594"/>
                  <a:pt x="220" y="374"/>
                  <a:pt x="492" y="374"/>
                </a:cubicBezTo>
                <a:lnTo>
                  <a:pt x="3123" y="374"/>
                </a:lnTo>
                <a:lnTo>
                  <a:pt x="3123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  <a:alpha val="100000"/>
                </a:schemeClr>
              </a:gs>
              <a:gs pos="75000">
                <a:schemeClr val="accent1">
                  <a:alpha val="100000"/>
                </a:schemeClr>
              </a:gs>
            </a:gsLst>
            <a:lin ang="0" scaled="0"/>
          </a:gradFill>
          <a:ln>
            <a:noFill/>
          </a:ln>
          <a:effectLst>
            <a:outerShdw blurRad="50800" dist="38100" dir="2700000" algn="tl" rotWithShape="0">
              <a:schemeClr val="accent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71755" rIns="360045" bIns="71755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运营策略</a:t>
            </a:r>
            <a:r>
              <a:rPr lang="en-US" altLang="zh-CN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-&gt;</a:t>
            </a:r>
            <a:r>
              <a:rPr lang="zh-CN" altLang="en-US" sz="2000" b="1" dirty="0">
                <a:solidFill>
                  <a:srgbClr val="FFFFFF"/>
                </a:solidFill>
                <a:latin typeface="+mj-ea"/>
                <a:ea typeface="+mj-ea"/>
                <a:sym typeface="+mn-ea"/>
              </a:rPr>
              <a:t>场景渗透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959191F-E27C-4BD8-A20A-8F5ACF0A8EB5}"/>
              </a:ext>
            </a:extLst>
          </p:cNvPr>
          <p:cNvSpPr txBox="1"/>
          <p:nvPr/>
        </p:nvSpPr>
        <p:spPr>
          <a:xfrm>
            <a:off x="1049282" y="3563066"/>
            <a:ext cx="31988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高频互联网用户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强社交需求群体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</a:t>
            </a:r>
            <a:r>
              <a:rPr lang="zh-CN" altLang="en-US" sz="2000" b="1" i="0" dirty="0">
                <a:effectLst/>
                <a:latin typeface="D-DINExp"/>
              </a:rPr>
              <a:t>新鲜事物敏感度</a:t>
            </a:r>
            <a:r>
              <a:rPr lang="en-US" altLang="zh-CN" sz="2000" b="1" i="0" dirty="0">
                <a:effectLst/>
                <a:latin typeface="D-DINExp"/>
              </a:rPr>
              <a:t>&gt;80%</a:t>
            </a:r>
            <a:endParaRPr lang="zh-CN" altLang="en-US" sz="2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6421A45D-181D-4AA7-BB62-3826246BF2B3}"/>
              </a:ext>
            </a:extLst>
          </p:cNvPr>
          <p:cNvSpPr txBox="1"/>
          <p:nvPr/>
        </p:nvSpPr>
        <p:spPr>
          <a:xfrm>
            <a:off x="1143741" y="4742109"/>
            <a:ext cx="317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构建校园社交闭环</a:t>
            </a:r>
            <a:b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垂直场景精准匹配</a:t>
            </a: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AF825E-1618-4DE3-9D55-7F7CFF14E0BD}"/>
              </a:ext>
            </a:extLst>
          </p:cNvPr>
          <p:cNvSpPr txBox="1"/>
          <p:nvPr/>
        </p:nvSpPr>
        <p:spPr>
          <a:xfrm>
            <a:off x="4559245" y="3236142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i="0" dirty="0">
                <a:effectLst/>
                <a:latin typeface="D-DINExp"/>
              </a:rPr>
              <a:t>• 2023</a:t>
            </a:r>
            <a:r>
              <a:rPr lang="zh-CN" altLang="en-US" sz="2000" b="1" i="0" dirty="0">
                <a:effectLst/>
                <a:latin typeface="D-DINExp"/>
              </a:rPr>
              <a:t>市占率</a:t>
            </a:r>
            <a:r>
              <a:rPr lang="en-US" altLang="zh-CN" sz="2000" b="1" i="0" dirty="0">
                <a:effectLst/>
                <a:latin typeface="D-DINExp"/>
              </a:rPr>
              <a:t>15-20%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CAGR12-15%</a:t>
            </a:r>
          </a:p>
          <a:p>
            <a:r>
              <a:rPr lang="en-US" altLang="zh-CN" sz="2000" b="1" i="0" dirty="0">
                <a:effectLst/>
                <a:latin typeface="D-DINExp"/>
              </a:rPr>
              <a:t>• AI</a:t>
            </a:r>
            <a:r>
              <a:rPr lang="zh-CN" altLang="en-US" sz="2000" b="1" i="0" dirty="0">
                <a:effectLst/>
                <a:latin typeface="D-DINExp"/>
              </a:rPr>
              <a:t>匹配升级系统</a:t>
            </a:r>
            <a:endParaRPr lang="zh-CN" altLang="en-US" sz="2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B5F9F2EF-CC53-4B2E-B1CB-0D2FB39DD342}"/>
              </a:ext>
            </a:extLst>
          </p:cNvPr>
          <p:cNvSpPr txBox="1"/>
          <p:nvPr/>
        </p:nvSpPr>
        <p:spPr>
          <a:xfrm>
            <a:off x="4689818" y="4389085"/>
            <a:ext cx="254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生源基数转化动能</a:t>
            </a:r>
            <a:b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</a:br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重构社交价值链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25DD60D-AC66-4ED7-A630-C889812DA19E}"/>
              </a:ext>
            </a:extLst>
          </p:cNvPr>
          <p:cNvSpPr txBox="1"/>
          <p:nvPr/>
        </p:nvSpPr>
        <p:spPr>
          <a:xfrm>
            <a:off x="7695917" y="2547403"/>
            <a:ext cx="269256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双端协同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2000" dirty="0"/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校园组织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应用商店</a:t>
            </a:r>
            <a:br>
              <a:rPr lang="zh-CN" altLang="en-US" sz="2000" dirty="0"/>
            </a:b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三级增值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br>
              <a:rPr lang="zh-CN" altLang="en-US" sz="2000" dirty="0"/>
            </a:b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免费基础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弹性收费</a:t>
            </a:r>
            <a:br>
              <a:rPr lang="zh-CN" altLang="en-US" sz="2000" dirty="0"/>
            </a:br>
            <a:r>
              <a:rPr lang="en-US" altLang="zh-CN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• </a:t>
            </a:r>
            <a:r>
              <a:rPr lang="en-US" altLang="zh-CN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OMO</a:t>
            </a:r>
            <a:r>
              <a:rPr lang="zh-CN" altLang="en-US" sz="2000" b="1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运营</a:t>
            </a:r>
            <a:r>
              <a:rPr lang="zh-CN" altLang="en-US" sz="2000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覆盖</a:t>
            </a:r>
            <a:endParaRPr lang="zh-CN" altLang="en-US" sz="20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E4C73F2D-663B-4F7E-BDD5-6398B96B5701}"/>
              </a:ext>
            </a:extLst>
          </p:cNvPr>
          <p:cNvSpPr txBox="1"/>
          <p:nvPr/>
        </p:nvSpPr>
        <p:spPr>
          <a:xfrm>
            <a:off x="7664395" y="4257866"/>
            <a:ext cx="2634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生命周期全阶段管理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4E18797-8F56-4653-A965-2783485F926D}"/>
              </a:ext>
            </a:extLst>
          </p:cNvPr>
          <p:cNvSpPr txBox="1"/>
          <p:nvPr/>
        </p:nvSpPr>
        <p:spPr>
          <a:xfrm>
            <a:off x="1511245" y="3080452"/>
            <a:ext cx="20445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i="0" dirty="0">
                <a:solidFill>
                  <a:srgbClr val="FF33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18-25</a:t>
            </a:r>
            <a:r>
              <a:rPr lang="zh-CN" altLang="en-US" sz="2400" b="1" i="0" dirty="0">
                <a:solidFill>
                  <a:srgbClr val="FF33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岁</a:t>
            </a:r>
            <a:endParaRPr lang="zh-CN" altLang="en-US" sz="24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4A78137-2D03-451E-9C1A-D12E21DCC74A}"/>
              </a:ext>
            </a:extLst>
          </p:cNvPr>
          <p:cNvSpPr txBox="1"/>
          <p:nvPr/>
        </p:nvSpPr>
        <p:spPr>
          <a:xfrm>
            <a:off x="4716932" y="2751780"/>
            <a:ext cx="21590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</a:t>
            </a:r>
            <a:r>
              <a:rPr lang="zh-CN" altLang="en-US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亿→</a:t>
            </a:r>
            <a:r>
              <a:rPr lang="en-US" altLang="zh-CN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100</a:t>
            </a:r>
            <a:r>
              <a:rPr lang="zh-CN" altLang="en-US" sz="2400" b="1" dirty="0">
                <a:solidFill>
                  <a:srgbClr val="FF33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亿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竞品分析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14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98003" y="1128181"/>
          <a:ext cx="7974895" cy="4911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9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7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3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06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7239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国内</a:t>
                      </a:r>
                      <a:r>
                        <a:rPr lang="en-US" altLang="zh-CN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/</a:t>
                      </a:r>
                      <a:r>
                        <a:rPr lang="zh-CN" altLang="en-US" sz="1600" b="1" spc="200" baseline="0" dirty="0">
                          <a:solidFill>
                            <a:schemeClr val="bg1"/>
                          </a:solidFill>
                          <a:uFillTx/>
                        </a:rPr>
                        <a:t>外竞品调研</a:t>
                      </a:r>
                      <a:endParaRPr lang="zh-CN" altLang="en-US" sz="1600" b="0" i="1" spc="200" baseline="0" dirty="0">
                        <a:solidFill>
                          <a:schemeClr val="bg1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55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国家</a:t>
                      </a:r>
                      <a:endParaRPr lang="zh-CN" altLang="en-US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 gridSpan="3"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中国</a:t>
                      </a:r>
                      <a:endParaRPr lang="en-US" altLang="zh-CN" sz="1600" b="1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 gridSpan="2"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美国</a:t>
                      </a:r>
                      <a:endParaRPr lang="zh-CN" altLang="zh-CN" sz="1600" b="1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234">
                <a:tc rowSpan="2"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zh-CN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产品</a:t>
                      </a:r>
                      <a:endParaRPr lang="zh-CN" altLang="en-US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根心科技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陌陌科技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奇瑞时代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Match Group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Match Group</a:t>
                      </a:r>
                      <a:endParaRPr lang="zh-CN" altLang="en-US" sz="16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86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88900" marR="88900" marT="47625" marB="47625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soul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陌陌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CN" altLang="en-US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微软雅黑" panose="020B0503020204020204" pitchFamily="34" charset="-122"/>
                        </a:rPr>
                        <a:t>探探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Tinder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indent="0" algn="ctr" fontAlgn="auto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Hinge</a:t>
                      </a:r>
                      <a:endParaRPr lang="en-US" altLang="zh-CN" sz="1600" b="1" spc="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zh-CN" sz="1600" b="1" kern="1200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应用</a:t>
                      </a: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  <a:sym typeface="+mn-ea"/>
                        </a:rPr>
                        <a:t>场景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综合社交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约会社交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sym typeface="+mn-ea"/>
                        </a:rPr>
                        <a:t>速配约会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关系型约会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匹配机制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虚拟社交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地理位置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照片滑动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照片滑动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rgbClr val="7030A0"/>
                          </a:solidFill>
                        </a:rPr>
                        <a:t>个人档案深度</a:t>
                      </a:r>
                      <a:endParaRPr lang="en-US" altLang="zh-CN" sz="1600" b="1" baseline="0" dirty="0">
                        <a:solidFill>
                          <a:srgbClr val="7030A0"/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环境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虚拟社交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线上为主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线上主导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用户群体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18-25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25-35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18-30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18-35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25-40</a:t>
                      </a: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岁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6234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kern="1200" spc="200" dirty="0">
                          <a:solidFill>
                            <a:srgbClr val="DF5356"/>
                          </a:solidFill>
                          <a:uFillTx/>
                        </a:rPr>
                        <a:t>特色功能</a:t>
                      </a:r>
                      <a:endParaRPr lang="zh-CN" altLang="zh-CN" sz="1600" b="1" kern="1200" spc="200" dirty="0">
                        <a:solidFill>
                          <a:srgbClr val="DF5356"/>
                        </a:solidFill>
                        <a:uFillTx/>
                        <a:latin typeface="Arial" panose="020B0604020202020204" pitchFamily="34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灵魂测试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直播、附近人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滑动匹配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Passport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baseline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个性化问题</a:t>
                      </a:r>
                      <a:endParaRPr lang="en-US" altLang="zh-CN" sz="1600" b="1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cs typeface="微软雅黑" panose="020B0503020204020204" pitchFamily="34" charset="-122"/>
                      </a:endParaRPr>
                    </a:p>
                  </a:txBody>
                  <a:tcPr marL="114300" marR="114300" marT="114300" marB="1143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610600" y="1439974"/>
            <a:ext cx="3395133" cy="422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在匹配机制的横向对比中，可以发现大部分社交软件都容易造成用户的</a:t>
            </a:r>
            <a:r>
              <a:rPr lang="zh-CN" altLang="en-US" sz="1600" b="1" spc="100" dirty="0">
                <a:latin typeface="+mn-ea"/>
              </a:rPr>
              <a:t>隐私泄露</a:t>
            </a:r>
            <a:r>
              <a:rPr lang="zh-CN" altLang="en-US" sz="1600" spc="100" dirty="0">
                <a:latin typeface="+mn-ea"/>
              </a:rPr>
              <a:t>，例如地址信息，身份信息等，侵害了用户的隐私。而本组产品的匹配机制建立在</a:t>
            </a:r>
            <a:r>
              <a:rPr lang="zh-CN" altLang="en-US" sz="1600" b="1" spc="100" dirty="0">
                <a:latin typeface="+mn-ea"/>
              </a:rPr>
              <a:t>隐私保护的神经网络算法</a:t>
            </a:r>
            <a:r>
              <a:rPr lang="zh-CN" altLang="en-US" sz="1600" spc="100" dirty="0">
                <a:latin typeface="+mn-ea"/>
              </a:rPr>
              <a:t>下，通过与用户达成一定程度上的协议来利用提供的数据进行隐私计算，在这一过程中受加密的数据是</a:t>
            </a:r>
            <a:r>
              <a:rPr lang="zh-CN" altLang="en-US" sz="1600" b="1" spc="100" dirty="0">
                <a:latin typeface="+mn-ea"/>
              </a:rPr>
              <a:t>高度安全</a:t>
            </a:r>
            <a:r>
              <a:rPr lang="zh-CN" altLang="en-US" sz="1600" spc="100" dirty="0">
                <a:latin typeface="+mn-ea"/>
              </a:rPr>
              <a:t>的。并且，模型会在长期使用中不断优化匹配结果，</a:t>
            </a:r>
            <a:r>
              <a:rPr lang="zh-CN" altLang="en-US" sz="1600" b="1" spc="100" dirty="0">
                <a:latin typeface="+mn-ea"/>
              </a:rPr>
              <a:t>提供令用户更加满意的服务</a:t>
            </a:r>
            <a:r>
              <a:rPr lang="zh-CN" altLang="en-US" sz="1600" spc="100" dirty="0">
                <a:latin typeface="+mn-ea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矩形: 圆角 80">
            <a:extLst>
              <a:ext uri="{FF2B5EF4-FFF2-40B4-BE49-F238E27FC236}">
                <a16:creationId xmlns:a16="http://schemas.microsoft.com/office/drawing/2014/main" id="{87DF124A-677B-4BED-8AD5-EBA66A771945}"/>
              </a:ext>
            </a:extLst>
          </p:cNvPr>
          <p:cNvSpPr/>
          <p:nvPr/>
        </p:nvSpPr>
        <p:spPr>
          <a:xfrm>
            <a:off x="8870711" y="1376037"/>
            <a:ext cx="2231637" cy="445659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商业模式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/>
              <a:t>2025/11/4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西安电子科技大学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4C22544-9D6B-45EC-957D-21A03BF9AE0F}"/>
              </a:ext>
            </a:extLst>
          </p:cNvPr>
          <p:cNvSpPr/>
          <p:nvPr/>
        </p:nvSpPr>
        <p:spPr>
          <a:xfrm>
            <a:off x="421744" y="1534966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FABB484-3585-4360-ADCE-3D6CA1A758B0}"/>
              </a:ext>
            </a:extLst>
          </p:cNvPr>
          <p:cNvSpPr/>
          <p:nvPr/>
        </p:nvSpPr>
        <p:spPr>
          <a:xfrm>
            <a:off x="421744" y="2865409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EED3F52-7E2B-477F-BF43-554C94DCAC49}"/>
              </a:ext>
            </a:extLst>
          </p:cNvPr>
          <p:cNvSpPr/>
          <p:nvPr/>
        </p:nvSpPr>
        <p:spPr>
          <a:xfrm>
            <a:off x="3254458" y="2865410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F63018E-C6B1-44EC-AFB6-DC96A79BD1B5}"/>
              </a:ext>
            </a:extLst>
          </p:cNvPr>
          <p:cNvSpPr/>
          <p:nvPr/>
        </p:nvSpPr>
        <p:spPr>
          <a:xfrm>
            <a:off x="421744" y="4195854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18949B4-4D2D-46AE-B5A9-C97934A578AD}"/>
              </a:ext>
            </a:extLst>
          </p:cNvPr>
          <p:cNvSpPr/>
          <p:nvPr/>
        </p:nvSpPr>
        <p:spPr>
          <a:xfrm>
            <a:off x="6044287" y="2865409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E9F8372-57A0-4CDB-8EB6-591510355586}"/>
              </a:ext>
            </a:extLst>
          </p:cNvPr>
          <p:cNvSpPr/>
          <p:nvPr/>
        </p:nvSpPr>
        <p:spPr>
          <a:xfrm>
            <a:off x="6044287" y="4195852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FE0307C-0741-4D42-97EA-BFE74CCF2067}"/>
              </a:ext>
            </a:extLst>
          </p:cNvPr>
          <p:cNvSpPr/>
          <p:nvPr/>
        </p:nvSpPr>
        <p:spPr>
          <a:xfrm>
            <a:off x="3248168" y="4195854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C468A7A6-DEC0-4720-995C-342D77E7C42F}"/>
              </a:ext>
            </a:extLst>
          </p:cNvPr>
          <p:cNvSpPr/>
          <p:nvPr/>
        </p:nvSpPr>
        <p:spPr>
          <a:xfrm>
            <a:off x="3217863" y="1534963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982FADA-5D2E-4F44-9F3D-E82858765F04}"/>
              </a:ext>
            </a:extLst>
          </p:cNvPr>
          <p:cNvSpPr/>
          <p:nvPr/>
        </p:nvSpPr>
        <p:spPr>
          <a:xfrm>
            <a:off x="6044287" y="1534963"/>
            <a:ext cx="2656438" cy="124794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9D2958F-025F-4A15-BB76-3F5592CBF0ED}"/>
              </a:ext>
            </a:extLst>
          </p:cNvPr>
          <p:cNvSpPr txBox="1"/>
          <p:nvPr/>
        </p:nvSpPr>
        <p:spPr>
          <a:xfrm>
            <a:off x="1433954" y="950188"/>
            <a:ext cx="60975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i="0" dirty="0">
                <a:solidFill>
                  <a:srgbClr val="2D4059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商业模式画布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4F95C2A-06FF-4AB7-A2C7-CBBC50524703}"/>
              </a:ext>
            </a:extLst>
          </p:cNvPr>
          <p:cNvSpPr txBox="1"/>
          <p:nvPr/>
        </p:nvSpPr>
        <p:spPr>
          <a:xfrm>
            <a:off x="501734" y="1661429"/>
            <a:ext cx="258321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👥 客户细分</a:t>
            </a:r>
          </a:p>
          <a:p>
            <a:pPr algn="ctr"/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18-25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岁在校学生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高频社交需求群体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新鲜事物敏感度</a:t>
            </a:r>
            <a:r>
              <a:rPr lang="zh-CN" alt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高</a:t>
            </a:r>
            <a:endParaRPr lang="en-US" altLang="zh-CN" sz="1600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91190A8-B80F-4EE6-8E29-BE93D6D1A8B3}"/>
              </a:ext>
            </a:extLst>
          </p:cNvPr>
          <p:cNvSpPr txBox="1"/>
          <p:nvPr/>
        </p:nvSpPr>
        <p:spPr>
          <a:xfrm>
            <a:off x="3164943" y="1617460"/>
            <a:ext cx="264263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💎 价值主张</a:t>
            </a:r>
          </a:p>
          <a:p>
            <a:pPr algn="ctr"/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安全精准匹配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校园社交闭环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同态加密保护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9C7CDF9-58CE-46A0-8F33-6E0954C565DC}"/>
              </a:ext>
            </a:extLst>
          </p:cNvPr>
          <p:cNvSpPr txBox="1"/>
          <p:nvPr/>
        </p:nvSpPr>
        <p:spPr>
          <a:xfrm>
            <a:off x="6217206" y="1661429"/>
            <a:ext cx="21967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📡 渠道通路</a:t>
            </a:r>
          </a:p>
          <a:p>
            <a:pPr algn="ctr"/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校园大使体系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应用商店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+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社交媒体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线下活动渗透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8966DCE-5405-46DF-81BF-DBFAA432D13A}"/>
              </a:ext>
            </a:extLst>
          </p:cNvPr>
          <p:cNvSpPr txBox="1"/>
          <p:nvPr/>
        </p:nvSpPr>
        <p:spPr>
          <a:xfrm>
            <a:off x="784636" y="2985991"/>
            <a:ext cx="19306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🤝 客户关系</a:t>
            </a:r>
          </a:p>
          <a:p>
            <a:pPr algn="ctr"/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智能服务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线下活动社群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7×12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小时客服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38AFF93C-C744-4028-B854-8FFD8E7B16CF}"/>
              </a:ext>
            </a:extLst>
          </p:cNvPr>
          <p:cNvSpPr txBox="1"/>
          <p:nvPr/>
        </p:nvSpPr>
        <p:spPr>
          <a:xfrm>
            <a:off x="6350257" y="2957702"/>
            <a:ext cx="21967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💰 收入来源</a:t>
            </a:r>
          </a:p>
          <a:p>
            <a:pPr algn="ctr"/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VIP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订阅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(15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元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月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  <a:b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活动增值服务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精准广告投放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2505C974-C65C-4861-898C-FB1EA4D9F450}"/>
              </a:ext>
            </a:extLst>
          </p:cNvPr>
          <p:cNvSpPr txBox="1"/>
          <p:nvPr/>
        </p:nvSpPr>
        <p:spPr>
          <a:xfrm>
            <a:off x="3487756" y="2957702"/>
            <a:ext cx="20845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🏛️ 核心资源</a:t>
            </a:r>
          </a:p>
          <a:p>
            <a:pPr algn="ctr"/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校园认证系统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图神经网络算法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同态加密数据库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FB43F12-14A5-4837-A517-D979786AB854}"/>
              </a:ext>
            </a:extLst>
          </p:cNvPr>
          <p:cNvSpPr txBox="1"/>
          <p:nvPr/>
        </p:nvSpPr>
        <p:spPr>
          <a:xfrm>
            <a:off x="734843" y="4262016"/>
            <a:ext cx="203023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⚙️ 关键业务</a:t>
            </a:r>
          </a:p>
          <a:p>
            <a:pPr algn="ctr"/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场景化匹配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社区运营管理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用户成长体系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5F82CF9-0FAC-4926-A22A-7662E66C0ED6}"/>
              </a:ext>
            </a:extLst>
          </p:cNvPr>
          <p:cNvSpPr txBox="1"/>
          <p:nvPr/>
        </p:nvSpPr>
        <p:spPr>
          <a:xfrm>
            <a:off x="3603284" y="4262016"/>
            <a:ext cx="20211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🤝 重要合作</a:t>
            </a:r>
          </a:p>
          <a:p>
            <a:pPr algn="ctr"/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高校社团联盟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安全服务提供商</a:t>
            </a:r>
            <a:b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阿里云认证服务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E8FAB74-3D3A-4A5D-9972-8671038F1903}"/>
              </a:ext>
            </a:extLst>
          </p:cNvPr>
          <p:cNvSpPr txBox="1"/>
          <p:nvPr/>
        </p:nvSpPr>
        <p:spPr>
          <a:xfrm>
            <a:off x="6407180" y="4262016"/>
            <a:ext cx="193065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📉 成本结构</a:t>
            </a:r>
          </a:p>
          <a:p>
            <a:pPr algn="ctr"/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技术研发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40%</a:t>
            </a:r>
            <a:b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运营推广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35%</a:t>
            </a:r>
            <a:b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</a:br>
            <a:r>
              <a:rPr lang="zh-CN" altLang="en-US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人力成本</a:t>
            </a:r>
            <a:r>
              <a:rPr lang="en-US" altLang="zh-CN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20%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C9A098B-A6EB-40A4-9495-3289E00D4B67}"/>
              </a:ext>
            </a:extLst>
          </p:cNvPr>
          <p:cNvSpPr txBox="1"/>
          <p:nvPr/>
        </p:nvSpPr>
        <p:spPr>
          <a:xfrm>
            <a:off x="11213251" y="1490573"/>
            <a:ext cx="45291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400" b="1" i="0" dirty="0">
                <a:solidFill>
                  <a:srgbClr val="2D4059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价值引擎闭环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F8DB2B33-DA06-4F41-8E15-DC3194B9FD57}"/>
              </a:ext>
            </a:extLst>
          </p:cNvPr>
          <p:cNvSpPr txBox="1"/>
          <p:nvPr/>
        </p:nvSpPr>
        <p:spPr>
          <a:xfrm>
            <a:off x="8894349" y="1896340"/>
            <a:ext cx="249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学生身份多重认证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1135AAA-910A-40D2-9866-FDC5F9295287}"/>
              </a:ext>
            </a:extLst>
          </p:cNvPr>
          <p:cNvSpPr txBox="1"/>
          <p:nvPr/>
        </p:nvSpPr>
        <p:spPr>
          <a:xfrm>
            <a:off x="9015573" y="2983265"/>
            <a:ext cx="2084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大模型特征提取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1CE8BA8-EDC4-4EAB-9934-70422C418699}"/>
              </a:ext>
            </a:extLst>
          </p:cNvPr>
          <p:cNvSpPr txBox="1"/>
          <p:nvPr/>
        </p:nvSpPr>
        <p:spPr>
          <a:xfrm>
            <a:off x="9024451" y="4090102"/>
            <a:ext cx="2494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图神经网络推荐</a:t>
            </a:r>
            <a:endParaRPr lang="zh-CN" altLang="en-US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8468CAA-82EC-48B7-A7F8-E62C8F63330B}"/>
              </a:ext>
            </a:extLst>
          </p:cNvPr>
          <p:cNvSpPr txBox="1"/>
          <p:nvPr/>
        </p:nvSpPr>
        <p:spPr>
          <a:xfrm>
            <a:off x="8889229" y="5233562"/>
            <a:ext cx="2507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日均匹配成功率上升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88AEDCD-BB3C-49A1-B2E0-E2269D18D90C}"/>
              </a:ext>
            </a:extLst>
          </p:cNvPr>
          <p:cNvSpPr txBox="1"/>
          <p:nvPr/>
        </p:nvSpPr>
        <p:spPr>
          <a:xfrm>
            <a:off x="9115869" y="1555276"/>
            <a:ext cx="1557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高校认证体系</a:t>
            </a:r>
            <a:endParaRPr lang="zh-CN" altLang="en-US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731B94DA-0B5A-4306-B99E-40E35F3F6C46}"/>
              </a:ext>
            </a:extLst>
          </p:cNvPr>
          <p:cNvSpPr txBox="1"/>
          <p:nvPr/>
        </p:nvSpPr>
        <p:spPr>
          <a:xfrm>
            <a:off x="9122698" y="2642201"/>
            <a:ext cx="1557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精准用户画像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6952388-C272-4EB1-9291-7CD59F8CACB2}"/>
              </a:ext>
            </a:extLst>
          </p:cNvPr>
          <p:cNvSpPr txBox="1"/>
          <p:nvPr/>
        </p:nvSpPr>
        <p:spPr>
          <a:xfrm>
            <a:off x="9131576" y="3744399"/>
            <a:ext cx="1557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智能场景匹配</a:t>
            </a:r>
            <a:endParaRPr lang="zh-CN" altLang="en-US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B7CB0190-FC9E-4C31-B789-1CB4F7801E13}"/>
              </a:ext>
            </a:extLst>
          </p:cNvPr>
          <p:cNvSpPr txBox="1"/>
          <p:nvPr/>
        </p:nvSpPr>
        <p:spPr>
          <a:xfrm>
            <a:off x="9220355" y="4886650"/>
            <a:ext cx="15570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社交价值创造</a:t>
            </a:r>
            <a:endParaRPr lang="zh-CN" altLang="en-US" dirty="0"/>
          </a:p>
        </p:txBody>
      </p:sp>
      <p:sp>
        <p:nvSpPr>
          <p:cNvPr id="77" name="箭头: 下 76">
            <a:extLst>
              <a:ext uri="{FF2B5EF4-FFF2-40B4-BE49-F238E27FC236}">
                <a16:creationId xmlns:a16="http://schemas.microsoft.com/office/drawing/2014/main" id="{B9AEF1FB-2EBB-4834-9A25-71C44FCD27F7}"/>
              </a:ext>
            </a:extLst>
          </p:cNvPr>
          <p:cNvSpPr/>
          <p:nvPr/>
        </p:nvSpPr>
        <p:spPr>
          <a:xfrm>
            <a:off x="9688726" y="2256109"/>
            <a:ext cx="452910" cy="4272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箭头: 下 77">
            <a:extLst>
              <a:ext uri="{FF2B5EF4-FFF2-40B4-BE49-F238E27FC236}">
                <a16:creationId xmlns:a16="http://schemas.microsoft.com/office/drawing/2014/main" id="{9C9AEAC8-6E50-4FDD-BF77-A2B71C67812F}"/>
              </a:ext>
            </a:extLst>
          </p:cNvPr>
          <p:cNvSpPr/>
          <p:nvPr/>
        </p:nvSpPr>
        <p:spPr>
          <a:xfrm>
            <a:off x="9751655" y="3350590"/>
            <a:ext cx="452910" cy="4272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箭头: 下 78">
            <a:extLst>
              <a:ext uri="{FF2B5EF4-FFF2-40B4-BE49-F238E27FC236}">
                <a16:creationId xmlns:a16="http://schemas.microsoft.com/office/drawing/2014/main" id="{AB11F0E9-633F-498B-A63F-B14CA8C098D0}"/>
              </a:ext>
            </a:extLst>
          </p:cNvPr>
          <p:cNvSpPr/>
          <p:nvPr/>
        </p:nvSpPr>
        <p:spPr>
          <a:xfrm>
            <a:off x="9774200" y="4499708"/>
            <a:ext cx="452910" cy="42721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商业模式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z="1400" smtClean="0"/>
              <a:t>2025/11/4</a:t>
            </a:fld>
            <a:endParaRPr lang="zh-CN" altLang="en-US" sz="1400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sz="1400"/>
              <a:t>西安电子科技大学</a:t>
            </a: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z="1400" smtClean="0"/>
              <a:t>16</a:t>
            </a:fld>
            <a:endParaRPr lang="zh-CN" altLang="en-US" sz="1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99D2958F-025F-4A15-BB76-3F5592CBF0ED}"/>
              </a:ext>
            </a:extLst>
          </p:cNvPr>
          <p:cNvSpPr txBox="1"/>
          <p:nvPr/>
        </p:nvSpPr>
        <p:spPr>
          <a:xfrm>
            <a:off x="2959150" y="994880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600" b="1" i="0" dirty="0">
                <a:solidFill>
                  <a:srgbClr val="2D4059"/>
                </a:solidFill>
                <a:effectLst/>
                <a:latin typeface="华文行楷" panose="02010800040101010101" pitchFamily="2" charset="-122"/>
                <a:ea typeface="华文行楷" panose="02010800040101010101" pitchFamily="2" charset="-122"/>
              </a:rPr>
              <a:t> 盈利模式矩阵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E4B7AA9-75E6-47CC-ABE7-658262083358}"/>
              </a:ext>
            </a:extLst>
          </p:cNvPr>
          <p:cNvCxnSpPr>
            <a:cxnSpLocks/>
          </p:cNvCxnSpPr>
          <p:nvPr/>
        </p:nvCxnSpPr>
        <p:spPr>
          <a:xfrm>
            <a:off x="1597980" y="1847147"/>
            <a:ext cx="0" cy="4270159"/>
          </a:xfrm>
          <a:prstGeom prst="line">
            <a:avLst/>
          </a:prstGeom>
          <a:ln w="38100">
            <a:solidFill>
              <a:srgbClr val="F07F0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EC4D1A6B-2FC3-461C-BB3F-AF51053F6714}"/>
              </a:ext>
            </a:extLst>
          </p:cNvPr>
          <p:cNvSpPr txBox="1"/>
          <p:nvPr/>
        </p:nvSpPr>
        <p:spPr>
          <a:xfrm>
            <a:off x="1759998" y="1819923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 dirty="0">
                <a:solidFill>
                  <a:srgbClr val="000000"/>
                </a:solidFill>
                <a:effectLst/>
                <a:latin typeface="+mn-ea"/>
              </a:rPr>
              <a:t>基础层 </a:t>
            </a:r>
            <a:r>
              <a:rPr lang="en-US" altLang="zh-CN" sz="2000" b="1" i="0" dirty="0">
                <a:solidFill>
                  <a:srgbClr val="4A90FF"/>
                </a:solidFill>
                <a:effectLst/>
                <a:latin typeface="+mn-ea"/>
              </a:rPr>
              <a:t>(</a:t>
            </a:r>
            <a:r>
              <a:rPr lang="zh-CN" altLang="en-US" sz="2000" b="1" i="0" dirty="0">
                <a:solidFill>
                  <a:srgbClr val="4A90FF"/>
                </a:solidFill>
                <a:effectLst/>
                <a:latin typeface="+mn-ea"/>
              </a:rPr>
              <a:t>免费</a:t>
            </a:r>
            <a:r>
              <a:rPr lang="en-US" altLang="zh-CN" sz="2000" b="1" i="0" dirty="0">
                <a:solidFill>
                  <a:srgbClr val="4A90FF"/>
                </a:solidFill>
                <a:effectLst/>
                <a:latin typeface="+mn-ea"/>
              </a:rPr>
              <a:t>)</a:t>
            </a:r>
            <a:endParaRPr lang="zh-CN" altLang="en-US" sz="2000" b="1" i="0" dirty="0">
              <a:solidFill>
                <a:srgbClr val="4A90FF"/>
              </a:solidFill>
              <a:effectLst/>
              <a:latin typeface="+mn-ea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E932F8BE-9E92-4368-83D9-7589806039DE}"/>
              </a:ext>
            </a:extLst>
          </p:cNvPr>
          <p:cNvSpPr txBox="1"/>
          <p:nvPr/>
        </p:nvSpPr>
        <p:spPr>
          <a:xfrm>
            <a:off x="1759998" y="3362914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>
                <a:solidFill>
                  <a:srgbClr val="000000"/>
                </a:solidFill>
                <a:effectLst/>
                <a:latin typeface="+mn-ea"/>
              </a:rPr>
              <a:t>增值层 </a:t>
            </a:r>
            <a:r>
              <a:rPr lang="en-US" altLang="zh-CN" sz="2000" b="1" i="0">
                <a:solidFill>
                  <a:srgbClr val="FF6B6B"/>
                </a:solidFill>
                <a:effectLst/>
                <a:latin typeface="+mn-ea"/>
              </a:rPr>
              <a:t>(</a:t>
            </a:r>
            <a:r>
              <a:rPr lang="zh-CN" altLang="en-US" sz="2000" b="1" i="0">
                <a:solidFill>
                  <a:srgbClr val="FF6B6B"/>
                </a:solidFill>
                <a:effectLst/>
                <a:latin typeface="+mn-ea"/>
              </a:rPr>
              <a:t>付费</a:t>
            </a:r>
            <a:r>
              <a:rPr lang="en-US" altLang="zh-CN" sz="2000" b="1" i="0">
                <a:solidFill>
                  <a:srgbClr val="FF6B6B"/>
                </a:solidFill>
                <a:effectLst/>
                <a:latin typeface="+mn-ea"/>
              </a:rPr>
              <a:t>)</a:t>
            </a:r>
            <a:endParaRPr lang="zh-CN" altLang="en-US" sz="2000" b="1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A4FE4F5-7DC2-4CB6-B314-65DFDAA8B346}"/>
              </a:ext>
            </a:extLst>
          </p:cNvPr>
          <p:cNvSpPr txBox="1"/>
          <p:nvPr/>
        </p:nvSpPr>
        <p:spPr>
          <a:xfrm>
            <a:off x="1839897" y="4905905"/>
            <a:ext cx="6094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1" i="0" dirty="0">
                <a:solidFill>
                  <a:srgbClr val="000000"/>
                </a:solidFill>
                <a:effectLst/>
                <a:latin typeface="+mn-ea"/>
              </a:rPr>
              <a:t>延伸层 </a:t>
            </a:r>
            <a:r>
              <a:rPr lang="en-US" altLang="zh-CN" sz="2000" b="1" i="0" dirty="0">
                <a:solidFill>
                  <a:srgbClr val="28A745"/>
                </a:solidFill>
                <a:effectLst/>
                <a:latin typeface="+mn-ea"/>
              </a:rPr>
              <a:t>(B</a:t>
            </a:r>
            <a:r>
              <a:rPr lang="zh-CN" altLang="en-US" sz="2000" b="1" i="0" dirty="0">
                <a:solidFill>
                  <a:srgbClr val="28A745"/>
                </a:solidFill>
                <a:effectLst/>
                <a:latin typeface="+mn-ea"/>
              </a:rPr>
              <a:t>端</a:t>
            </a:r>
            <a:r>
              <a:rPr lang="en-US" altLang="zh-CN" sz="2000" b="1" i="0" dirty="0">
                <a:solidFill>
                  <a:srgbClr val="28A745"/>
                </a:solidFill>
                <a:effectLst/>
                <a:latin typeface="+mn-ea"/>
              </a:rPr>
              <a:t>)</a:t>
            </a:r>
            <a:endParaRPr lang="zh-CN" altLang="en-US" sz="2000" b="1" i="0" dirty="0">
              <a:solidFill>
                <a:srgbClr val="000000"/>
              </a:solidFill>
              <a:effectLst/>
              <a:latin typeface="+mn-ea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63171A9-071A-424C-A103-433390D6860B}"/>
              </a:ext>
            </a:extLst>
          </p:cNvPr>
          <p:cNvSpPr/>
          <p:nvPr/>
        </p:nvSpPr>
        <p:spPr>
          <a:xfrm>
            <a:off x="2090694" y="2413913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4A9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0" i="0" dirty="0">
                <a:solidFill>
                  <a:srgbClr val="FFFFFF"/>
                </a:solidFill>
                <a:effectLst/>
                <a:latin typeface="+mn-ea"/>
              </a:rPr>
              <a:t>基础匹配功能</a:t>
            </a:r>
            <a:endParaRPr lang="zh-CN" altLang="en-US" sz="2000" dirty="0">
              <a:latin typeface="+mn-ea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FF2C096-F95A-4A5D-AFA7-1451487CF767}"/>
              </a:ext>
            </a:extLst>
          </p:cNvPr>
          <p:cNvSpPr/>
          <p:nvPr/>
        </p:nvSpPr>
        <p:spPr>
          <a:xfrm>
            <a:off x="5104656" y="2413913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4A9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0" i="0" dirty="0">
                <a:solidFill>
                  <a:srgbClr val="FFFFFF"/>
                </a:solidFill>
                <a:effectLst/>
                <a:latin typeface="+mn-ea"/>
              </a:rPr>
              <a:t>即时通讯服务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FD678F4B-1848-4441-A5E0-32A46C33D664}"/>
              </a:ext>
            </a:extLst>
          </p:cNvPr>
          <p:cNvSpPr/>
          <p:nvPr/>
        </p:nvSpPr>
        <p:spPr>
          <a:xfrm>
            <a:off x="8118618" y="2413912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4A9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0" i="0" dirty="0">
                <a:solidFill>
                  <a:srgbClr val="FFFFFF"/>
                </a:solidFill>
                <a:effectLst/>
                <a:latin typeface="+mn-ea"/>
              </a:rPr>
              <a:t>社区基础功能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1A101682-DD24-4638-8C53-EEF4B6A9F261}"/>
              </a:ext>
            </a:extLst>
          </p:cNvPr>
          <p:cNvSpPr/>
          <p:nvPr/>
        </p:nvSpPr>
        <p:spPr>
          <a:xfrm>
            <a:off x="2090694" y="3955818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0" i="0" dirty="0">
                <a:solidFill>
                  <a:srgbClr val="FFFFFF"/>
                </a:solidFill>
                <a:effectLst/>
                <a:latin typeface="+mn-ea"/>
              </a:rPr>
              <a:t>VIP</a:t>
            </a:r>
            <a:r>
              <a:rPr lang="zh-CN" altLang="en-US" sz="2000" b="0" i="0" dirty="0">
                <a:solidFill>
                  <a:srgbClr val="FFFFFF"/>
                </a:solidFill>
                <a:effectLst/>
                <a:latin typeface="+mn-ea"/>
              </a:rPr>
              <a:t>专属权益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F4271162-BC90-4FEC-88C0-B8CDA4C975EA}"/>
              </a:ext>
            </a:extLst>
          </p:cNvPr>
          <p:cNvSpPr/>
          <p:nvPr/>
        </p:nvSpPr>
        <p:spPr>
          <a:xfrm>
            <a:off x="5104656" y="3955818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0" i="0">
                <a:solidFill>
                  <a:srgbClr val="FFFFFF"/>
                </a:solidFill>
                <a:effectLst/>
                <a:latin typeface="+mn-ea"/>
              </a:rPr>
              <a:t>线下活动门票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353865C2-C8F0-4CE4-964B-170701B716F9}"/>
              </a:ext>
            </a:extLst>
          </p:cNvPr>
          <p:cNvSpPr/>
          <p:nvPr/>
        </p:nvSpPr>
        <p:spPr>
          <a:xfrm>
            <a:off x="8118618" y="3955817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0" i="0">
                <a:solidFill>
                  <a:srgbClr val="FFFFFF"/>
                </a:solidFill>
                <a:effectLst/>
                <a:latin typeface="+mn-ea"/>
              </a:rPr>
              <a:t>虚拟礼物经济</a:t>
            </a:r>
            <a:endParaRPr lang="zh-CN" altLang="en-US" sz="2000">
              <a:latin typeface="+mn-ea"/>
            </a:endParaRPr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B7EEA6C2-6BD3-40DF-83E9-D5CEAF8F449C}"/>
              </a:ext>
            </a:extLst>
          </p:cNvPr>
          <p:cNvSpPr/>
          <p:nvPr/>
        </p:nvSpPr>
        <p:spPr>
          <a:xfrm>
            <a:off x="2090694" y="5415349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0" i="0" dirty="0">
                <a:solidFill>
                  <a:srgbClr val="FFFFFF"/>
                </a:solidFill>
                <a:effectLst/>
                <a:latin typeface="+mn-ea"/>
              </a:rPr>
              <a:t>精准广告投放</a:t>
            </a:r>
            <a:endParaRPr lang="zh-CN" altLang="en-US" sz="2000" dirty="0">
              <a:latin typeface="+mn-ea"/>
            </a:endParaRPr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C6500B9E-9437-4598-9C25-F7CC3BE42BC5}"/>
              </a:ext>
            </a:extLst>
          </p:cNvPr>
          <p:cNvSpPr/>
          <p:nvPr/>
        </p:nvSpPr>
        <p:spPr>
          <a:xfrm>
            <a:off x="5104656" y="5415349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0" i="0" dirty="0">
                <a:solidFill>
                  <a:srgbClr val="FFFFFF"/>
                </a:solidFill>
                <a:effectLst/>
                <a:latin typeface="+mn-ea"/>
              </a:rPr>
              <a:t>脱敏数据服务</a:t>
            </a:r>
            <a:endParaRPr lang="zh-CN" altLang="en-US" sz="2000" dirty="0">
              <a:latin typeface="+mn-ea"/>
            </a:endParaRPr>
          </a:p>
        </p:txBody>
      </p:sp>
      <p:sp>
        <p:nvSpPr>
          <p:cNvPr id="64" name="矩形: 圆角 63">
            <a:extLst>
              <a:ext uri="{FF2B5EF4-FFF2-40B4-BE49-F238E27FC236}">
                <a16:creationId xmlns:a16="http://schemas.microsoft.com/office/drawing/2014/main" id="{5E0B08D7-DF17-42E2-A852-E88FC58EF9FF}"/>
              </a:ext>
            </a:extLst>
          </p:cNvPr>
          <p:cNvSpPr/>
          <p:nvPr/>
        </p:nvSpPr>
        <p:spPr>
          <a:xfrm>
            <a:off x="8118618" y="5415348"/>
            <a:ext cx="2716564" cy="488271"/>
          </a:xfrm>
          <a:prstGeom prst="roundRect">
            <a:avLst>
              <a:gd name="adj" fmla="val 50000"/>
            </a:avLst>
          </a:prstGeom>
          <a:solidFill>
            <a:srgbClr val="28A7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0" i="0">
                <a:solidFill>
                  <a:srgbClr val="FFFFFF"/>
                </a:solidFill>
                <a:effectLst/>
                <a:latin typeface="+mn-ea"/>
              </a:rPr>
              <a:t>企业赞助活动</a:t>
            </a:r>
            <a:endParaRPr lang="zh-CN" altLang="en-US" sz="2000">
              <a:latin typeface="+mn-ea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04A9CE3-DAD1-4A60-9A31-AB42BF2CA77F}"/>
              </a:ext>
            </a:extLst>
          </p:cNvPr>
          <p:cNvSpPr txBox="1"/>
          <p:nvPr/>
        </p:nvSpPr>
        <p:spPr>
          <a:xfrm>
            <a:off x="3757473" y="964102"/>
            <a:ext cx="6991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4000" b="1" i="0" dirty="0">
                <a:solidFill>
                  <a:srgbClr val="2D4059"/>
                </a:solidFill>
                <a:effectLst/>
                <a:latin typeface="Arial" panose="020B0604020202020204" pitchFamily="34" charset="0"/>
              </a:rPr>
              <a:t>💰</a:t>
            </a:r>
          </a:p>
        </p:txBody>
      </p:sp>
    </p:spTree>
    <p:extLst>
      <p:ext uri="{BB962C8B-B14F-4D97-AF65-F5344CB8AC3E}">
        <p14:creationId xmlns:p14="http://schemas.microsoft.com/office/powerpoint/2010/main" val="1386705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团队介绍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2D1855-97D0-406F-A8CD-42AACAD7B935}"/>
              </a:ext>
            </a:extLst>
          </p:cNvPr>
          <p:cNvSpPr txBox="1"/>
          <p:nvPr/>
        </p:nvSpPr>
        <p:spPr>
          <a:xfrm>
            <a:off x="1520518" y="1258431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魏朝旭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项目总负责人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en-US" altLang="zh-CN" sz="1600" spc="100" dirty="0">
                <a:latin typeface="+mn-ea"/>
              </a:rPr>
              <a:t>      </a:t>
            </a:r>
            <a:r>
              <a:rPr lang="zh-CN" altLang="en-US" sz="1600" spc="100" dirty="0">
                <a:latin typeface="+mn-ea"/>
              </a:rPr>
              <a:t>曾担任科研项目负责人，积累了项目规划、资源调配、进度把控等经验；作为竞赛队长，锻炼了组织团队、应对竞争和解决突发问题的能力。拥有出色的沟通能力，强烈的责任感与使命感，出于对创业的热情和对团队发展的坚定信念，坚信能带领团队在创业道路上取得佳绩。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9D6A6DBF-0AB5-44B5-A779-419E13D92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69" b="99688" l="2292" r="99583">
                        <a14:foregroundMark x1="30833" y1="9531" x2="64792" y2="7969"/>
                        <a14:foregroundMark x1="64792" y1="7969" x2="37708" y2="8594"/>
                        <a14:foregroundMark x1="31667" y1="12656" x2="51875" y2="8594"/>
                        <a14:foregroundMark x1="25000" y1="73125" x2="21042" y2="74375"/>
                        <a14:foregroundMark x1="75625" y1="74063" x2="91250" y2="99688"/>
                        <a14:foregroundMark x1="91250" y1="99688" x2="2708" y2="84531"/>
                        <a14:foregroundMark x1="2708" y1="84531" x2="46042" y2="98594"/>
                        <a14:foregroundMark x1="46042" y1="98594" x2="65417" y2="99688"/>
                        <a14:foregroundMark x1="2292" y1="80781" x2="3125" y2="98438"/>
                        <a14:foregroundMark x1="83750" y1="75313" x2="99583" y2="7703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522" y="1329626"/>
            <a:ext cx="929356" cy="1239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002F9C0-6BEF-4A6E-A788-33FE29479156}"/>
              </a:ext>
            </a:extLst>
          </p:cNvPr>
          <p:cNvSpPr txBox="1"/>
          <p:nvPr/>
        </p:nvSpPr>
        <p:spPr>
          <a:xfrm>
            <a:off x="1520518" y="3026605"/>
            <a:ext cx="9745186" cy="1425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冯汝鑫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技术负责人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曾担任科研项目负责人，并拥有多次竞赛经历，在竞赛中锻炼了快速解决问题、团队协作以及创新思维的能力。对新兴技术充满热情，乐于学习新事物，并且不局限于理论知识，会深入思考如何将这些新技术应用到实际的业务场景中，为项目带来创新和价值提升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FFD4A2-67B8-4D71-9DFB-15B2DD293DA4}"/>
              </a:ext>
            </a:extLst>
          </p:cNvPr>
          <p:cNvSpPr txBox="1"/>
          <p:nvPr/>
        </p:nvSpPr>
        <p:spPr>
          <a:xfrm>
            <a:off x="1520518" y="4974639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胡轩宇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技术负责人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拥有丰富的竞赛经历，在各类技术竞赛中，锻炼了快速学习新知识、解决实际问题以及团队协作的能力，同时也积累了应对高压力、高强度工作的经验。沟通出色，能精准传意且化繁为简。责任感强，以团队目标为己任。热衷创业，愿凭技术创新助项目成功，为团队发展献力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团队介绍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2D1855-97D0-406F-A8CD-42AACAD7B935}"/>
              </a:ext>
            </a:extLst>
          </p:cNvPr>
          <p:cNvSpPr txBox="1"/>
          <p:nvPr/>
        </p:nvSpPr>
        <p:spPr>
          <a:xfrm>
            <a:off x="1520518" y="1258431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刘一力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市场负责人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拥有丰富的竞赛经历，锻炼了方案策划、团队协作以及应变能力，积累了在竞争环境中脱颖而出的宝贵经验。具敏锐市场洞察力，善用多渠道挖掘用户真实需求，精准把握行业动态、竞品策略等趋势。能高效筛选分析信息，为市场决策提供有力支撑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02F9C0-6BEF-4A6E-A788-33FE29479156}"/>
              </a:ext>
            </a:extLst>
          </p:cNvPr>
          <p:cNvSpPr txBox="1"/>
          <p:nvPr/>
        </p:nvSpPr>
        <p:spPr>
          <a:xfrm>
            <a:off x="1520518" y="3026605"/>
            <a:ext cx="9745186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刘凯丽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市场负责人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      参演</a:t>
            </a:r>
            <a:r>
              <a:rPr lang="en-US" altLang="zh-CN" sz="1600" spc="100" dirty="0">
                <a:latin typeface="+mn-ea"/>
              </a:rPr>
              <a:t>2023</a:t>
            </a:r>
            <a:r>
              <a:rPr lang="zh-CN" altLang="en-US" sz="1600" spc="100" dirty="0">
                <a:latin typeface="+mn-ea"/>
              </a:rPr>
              <a:t>西电钢琴团音乐会，高中担任班级合唱活动指挥，具备组织协调和领导能力，这些能力有助于在市场工作中更好地策划和执行活动。擅善用多途径搜集市场信息，精准把握需求，为产品服务定位助力。性格大方自信，路演时能流畅展示亮点，活跃气氛，吸引客户与伙伴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5FFD4A2-67B8-4D71-9DFB-15B2DD293DA4}"/>
              </a:ext>
            </a:extLst>
          </p:cNvPr>
          <p:cNvSpPr txBox="1"/>
          <p:nvPr/>
        </p:nvSpPr>
        <p:spPr>
          <a:xfrm>
            <a:off x="1520518" y="4974639"/>
            <a:ext cx="9833282" cy="1381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n-ea"/>
              </a:rPr>
              <a:t>李尚泽</a:t>
            </a:r>
            <a:r>
              <a:rPr lang="en-US" altLang="zh-CN" b="1" spc="100" dirty="0">
                <a:latin typeface="+mn-ea"/>
              </a:rPr>
              <a:t>——</a:t>
            </a:r>
            <a:r>
              <a:rPr lang="zh-CN" altLang="en-US" b="1" spc="100" dirty="0">
                <a:latin typeface="+mn-ea"/>
              </a:rPr>
              <a:t>设计负责人</a:t>
            </a:r>
            <a:endParaRPr lang="en-US" altLang="zh-CN" b="1" spc="100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r>
              <a:rPr lang="zh-CN" altLang="en-US" sz="1600" spc="100" dirty="0">
                <a:latin typeface="+mn-ea"/>
              </a:rPr>
              <a:t>拥有一定的项目经历，积累了从项目启动、方案设计到最终交付的全流程经验，具备应对各种设计挑战和团队协作的能力。善于倾听，能理解成员想法与工作进度，在设计项目中有效协调资源，保障工作推进与环节衔接。</a:t>
            </a:r>
          </a:p>
        </p:txBody>
      </p:sp>
    </p:spTree>
    <p:extLst>
      <p:ext uri="{BB962C8B-B14F-4D97-AF65-F5344CB8AC3E}">
        <p14:creationId xmlns:p14="http://schemas.microsoft.com/office/powerpoint/2010/main" val="1156283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财务预测与融资计划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19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6E36CFE-855E-4189-94B9-A621ED552341}"/>
              </a:ext>
            </a:extLst>
          </p:cNvPr>
          <p:cNvGrpSpPr/>
          <p:nvPr/>
        </p:nvGrpSpPr>
        <p:grpSpPr>
          <a:xfrm>
            <a:off x="481139" y="1727726"/>
            <a:ext cx="4920332" cy="4105023"/>
            <a:chOff x="1917191" y="-1028796"/>
            <a:chExt cx="8557667" cy="8832999"/>
          </a:xfrm>
        </p:grpSpPr>
        <p:pic>
          <p:nvPicPr>
            <p:cNvPr id="9" name="Image 3">
              <a:extLst>
                <a:ext uri="{FF2B5EF4-FFF2-40B4-BE49-F238E27FC236}">
                  <a16:creationId xmlns:a16="http://schemas.microsoft.com/office/drawing/2014/main" id="{740D9A8D-F9F3-4FB3-A69C-20E1605F9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917191" y="-672085"/>
              <a:ext cx="8557667" cy="3632795"/>
            </a:xfrm>
            <a:prstGeom prst="rect">
              <a:avLst/>
            </a:prstGeom>
          </p:spPr>
        </p:pic>
        <p:pic>
          <p:nvPicPr>
            <p:cNvPr id="10" name="Image 4">
              <a:extLst>
                <a:ext uri="{FF2B5EF4-FFF2-40B4-BE49-F238E27FC236}">
                  <a16:creationId xmlns:a16="http://schemas.microsoft.com/office/drawing/2014/main" id="{E58B8608-AD66-42FB-A159-814F20F89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4596383" y="-964693"/>
              <a:ext cx="3071023" cy="608587"/>
            </a:xfrm>
            <a:prstGeom prst="rect">
              <a:avLst/>
            </a:prstGeom>
          </p:spPr>
        </p:pic>
        <p:sp>
          <p:nvSpPr>
            <p:cNvPr id="11" name="Text 3">
              <a:extLst>
                <a:ext uri="{FF2B5EF4-FFF2-40B4-BE49-F238E27FC236}">
                  <a16:creationId xmlns:a16="http://schemas.microsoft.com/office/drawing/2014/main" id="{B0585881-9BB1-46D5-A6D6-9DB046BFE589}"/>
                </a:ext>
              </a:extLst>
            </p:cNvPr>
            <p:cNvSpPr/>
            <p:nvPr/>
          </p:nvSpPr>
          <p:spPr>
            <a:xfrm>
              <a:off x="5300471" y="-1028796"/>
              <a:ext cx="1638504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研发</a:t>
              </a:r>
              <a:endParaRPr lang="en-US" sz="1400" dirty="0"/>
            </a:p>
          </p:txBody>
        </p:sp>
        <p:pic>
          <p:nvPicPr>
            <p:cNvPr id="12" name="Image 5">
              <a:extLst>
                <a:ext uri="{FF2B5EF4-FFF2-40B4-BE49-F238E27FC236}">
                  <a16:creationId xmlns:a16="http://schemas.microsoft.com/office/drawing/2014/main" id="{2C06E5C0-B409-44E0-AD39-F0DFFAFDDB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917191" y="2994659"/>
              <a:ext cx="8557667" cy="3632795"/>
            </a:xfrm>
            <a:prstGeom prst="rect">
              <a:avLst/>
            </a:prstGeom>
          </p:spPr>
        </p:pic>
        <p:pic>
          <p:nvPicPr>
            <p:cNvPr id="17" name="Image 6">
              <a:extLst>
                <a:ext uri="{FF2B5EF4-FFF2-40B4-BE49-F238E27FC236}">
                  <a16:creationId xmlns:a16="http://schemas.microsoft.com/office/drawing/2014/main" id="{2AD3FAD2-17DB-475B-BC41-BD72314DB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4596383" y="6249923"/>
              <a:ext cx="3071023" cy="608587"/>
            </a:xfrm>
            <a:prstGeom prst="rect">
              <a:avLst/>
            </a:prstGeom>
          </p:spPr>
        </p:pic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93291AE4-65CF-4128-8543-CF966F3F675C}"/>
                </a:ext>
              </a:extLst>
            </p:cNvPr>
            <p:cNvSpPr/>
            <p:nvPr/>
          </p:nvSpPr>
          <p:spPr>
            <a:xfrm>
              <a:off x="5376772" y="6181477"/>
              <a:ext cx="1638504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FFFFFF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推广</a:t>
              </a:r>
              <a:endParaRPr lang="en-US" sz="1400" dirty="0"/>
            </a:p>
          </p:txBody>
        </p:sp>
        <p:sp>
          <p:nvSpPr>
            <p:cNvPr id="19" name="Text 5">
              <a:extLst>
                <a:ext uri="{FF2B5EF4-FFF2-40B4-BE49-F238E27FC236}">
                  <a16:creationId xmlns:a16="http://schemas.microsoft.com/office/drawing/2014/main" id="{88B5C6A2-7994-4419-8AA2-C1F1FCEEA009}"/>
                </a:ext>
              </a:extLst>
            </p:cNvPr>
            <p:cNvSpPr/>
            <p:nvPr/>
          </p:nvSpPr>
          <p:spPr>
            <a:xfrm rot="21600000">
              <a:off x="4258055" y="7301484"/>
              <a:ext cx="3754513" cy="502719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ts val="4080"/>
                </a:lnSpc>
                <a:buNone/>
              </a:pPr>
              <a:r>
                <a:rPr lang="en-US" dirty="0">
                  <a:solidFill>
                    <a:srgbClr val="40404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资金需求对比</a:t>
              </a:r>
              <a:endParaRPr lang="en-US" dirty="0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AED95483-1FE2-4529-8153-F819DEEADC04}"/>
                </a:ext>
              </a:extLst>
            </p:cNvPr>
            <p:cNvSpPr/>
            <p:nvPr/>
          </p:nvSpPr>
          <p:spPr>
            <a:xfrm>
              <a:off x="5436506" y="1708121"/>
              <a:ext cx="2733959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服务器采购</a:t>
              </a:r>
              <a:endParaRPr lang="en-US" sz="1400" dirty="0"/>
            </a:p>
          </p:txBody>
        </p:sp>
        <p:pic>
          <p:nvPicPr>
            <p:cNvPr id="21" name="Image 7">
              <a:extLst>
                <a:ext uri="{FF2B5EF4-FFF2-40B4-BE49-F238E27FC236}">
                  <a16:creationId xmlns:a16="http://schemas.microsoft.com/office/drawing/2014/main" id="{C4194A57-1BD8-4BB5-BBEB-DD34D06E9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861559" y="1906524"/>
              <a:ext cx="290249" cy="365152"/>
            </a:xfrm>
            <a:prstGeom prst="rect">
              <a:avLst/>
            </a:prstGeom>
          </p:spPr>
        </p:pic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2C91E9F1-E77E-4951-AFF4-CACB9688B843}"/>
                </a:ext>
              </a:extLst>
            </p:cNvPr>
            <p:cNvSpPr/>
            <p:nvPr/>
          </p:nvSpPr>
          <p:spPr>
            <a:xfrm>
              <a:off x="5483351" y="5141918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品牌宣传</a:t>
              </a:r>
              <a:endParaRPr lang="en-US" sz="1400" dirty="0"/>
            </a:p>
          </p:txBody>
        </p:sp>
        <p:pic>
          <p:nvPicPr>
            <p:cNvPr id="23" name="Image 8">
              <a:extLst>
                <a:ext uri="{FF2B5EF4-FFF2-40B4-BE49-F238E27FC236}">
                  <a16:creationId xmlns:a16="http://schemas.microsoft.com/office/drawing/2014/main" id="{0D7BC10D-571F-4C10-B3D7-F94AF9D34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843271" y="5317235"/>
              <a:ext cx="393241" cy="411967"/>
            </a:xfrm>
            <a:prstGeom prst="rect">
              <a:avLst/>
            </a:prstGeom>
          </p:spPr>
        </p:pic>
        <p:sp>
          <p:nvSpPr>
            <p:cNvPr id="24" name="Text 8">
              <a:extLst>
                <a:ext uri="{FF2B5EF4-FFF2-40B4-BE49-F238E27FC236}">
                  <a16:creationId xmlns:a16="http://schemas.microsoft.com/office/drawing/2014/main" id="{AB10E102-635E-4462-A2EE-CDDE6552591C}"/>
                </a:ext>
              </a:extLst>
            </p:cNvPr>
            <p:cNvSpPr/>
            <p:nvPr/>
          </p:nvSpPr>
          <p:spPr>
            <a:xfrm>
              <a:off x="5419343" y="-119869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产品原型</a:t>
              </a:r>
              <a:endParaRPr lang="en-US" sz="1400" dirty="0"/>
            </a:p>
          </p:txBody>
        </p:sp>
        <p:pic>
          <p:nvPicPr>
            <p:cNvPr id="25" name="Image 9">
              <a:extLst>
                <a:ext uri="{FF2B5EF4-FFF2-40B4-BE49-F238E27FC236}">
                  <a16:creationId xmlns:a16="http://schemas.microsoft.com/office/drawing/2014/main" id="{98ED62AF-AE0C-4FF1-99A4-E62FDE88F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4788407" y="77723"/>
              <a:ext cx="393241" cy="393241"/>
            </a:xfrm>
            <a:prstGeom prst="rect">
              <a:avLst/>
            </a:prstGeom>
          </p:spPr>
        </p:pic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A0732D25-D183-43F6-87BF-9B54E1472A85}"/>
                </a:ext>
              </a:extLst>
            </p:cNvPr>
            <p:cNvSpPr/>
            <p:nvPr/>
          </p:nvSpPr>
          <p:spPr>
            <a:xfrm>
              <a:off x="5420761" y="836874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技术薪酬</a:t>
              </a:r>
              <a:endParaRPr lang="en-US" sz="1400" dirty="0"/>
            </a:p>
          </p:txBody>
        </p:sp>
        <p:pic>
          <p:nvPicPr>
            <p:cNvPr id="27" name="Image 10">
              <a:extLst>
                <a:ext uri="{FF2B5EF4-FFF2-40B4-BE49-F238E27FC236}">
                  <a16:creationId xmlns:a16="http://schemas.microsoft.com/office/drawing/2014/main" id="{FA34CD25-E6B7-42BD-9649-1DB979766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4824983" y="1010411"/>
              <a:ext cx="327701" cy="365153"/>
            </a:xfrm>
            <a:prstGeom prst="rect">
              <a:avLst/>
            </a:prstGeom>
          </p:spPr>
        </p:pic>
        <p:pic>
          <p:nvPicPr>
            <p:cNvPr id="28" name="Image 11">
              <a:extLst>
                <a:ext uri="{FF2B5EF4-FFF2-40B4-BE49-F238E27FC236}">
                  <a16:creationId xmlns:a16="http://schemas.microsoft.com/office/drawing/2014/main" id="{D7CA3A92-D204-4D02-A3C4-EEF731454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843272" y="3561588"/>
              <a:ext cx="411966" cy="411966"/>
            </a:xfrm>
            <a:prstGeom prst="rect">
              <a:avLst/>
            </a:prstGeom>
          </p:spPr>
        </p:pic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C976EB75-8A19-4C51-AE8D-F9553B4522A9}"/>
                </a:ext>
              </a:extLst>
            </p:cNvPr>
            <p:cNvSpPr/>
            <p:nvPr/>
          </p:nvSpPr>
          <p:spPr>
            <a:xfrm>
              <a:off x="5483351" y="3414894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线下活动</a:t>
              </a:r>
              <a:endParaRPr lang="en-US" sz="1400" dirty="0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96E4F755-D501-4989-A974-3ED37DD2CC1A}"/>
                </a:ext>
              </a:extLst>
            </p:cNvPr>
            <p:cNvSpPr/>
            <p:nvPr/>
          </p:nvSpPr>
          <p:spPr>
            <a:xfrm>
              <a:off x="5483351" y="4301862"/>
              <a:ext cx="2368808" cy="414522"/>
            </a:xfrm>
            <a:prstGeom prst="rect">
              <a:avLst/>
            </a:prstGeom>
            <a:noFill/>
          </p:spPr>
          <p:txBody>
            <a:bodyPr vert="horz" wrap="square" rtlCol="0" anchor="ctr"/>
            <a:lstStyle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>
                <a:lnSpc>
                  <a:spcPts val="3360"/>
                </a:lnSpc>
                <a:buNone/>
              </a:pPr>
              <a:r>
                <a:rPr lang="en-US" sz="1400" dirty="0">
                  <a:solidFill>
                    <a:srgbClr val="CC0000"/>
                  </a:solidFill>
                  <a:latin typeface="NotoSansSC-Bold" panose="020B0200000000000000" pitchFamily="34" charset="-122"/>
                  <a:ea typeface="NotoSansSC-Bold" panose="020B0200000000000000" pitchFamily="34" charset="-122"/>
                  <a:cs typeface="NotoSansSC-Bold" panose="020B0200000000000000" pitchFamily="34" charset="-120"/>
                </a:rPr>
                <a:t>广告投放</a:t>
              </a:r>
              <a:endParaRPr lang="en-US" sz="1400" dirty="0"/>
            </a:p>
          </p:txBody>
        </p:sp>
        <p:pic>
          <p:nvPicPr>
            <p:cNvPr id="31" name="Image 12">
              <a:extLst>
                <a:ext uri="{FF2B5EF4-FFF2-40B4-BE49-F238E27FC236}">
                  <a16:creationId xmlns:a16="http://schemas.microsoft.com/office/drawing/2014/main" id="{35C599AF-F0D2-4F64-83E2-3B8749D939C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4861560" y="4475988"/>
              <a:ext cx="365152" cy="365152"/>
            </a:xfrm>
            <a:prstGeom prst="rect">
              <a:avLst/>
            </a:prstGeom>
          </p:spPr>
        </p:pic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FDCB9DA9-FEEC-4127-A1E2-674773ECEF14}"/>
              </a:ext>
            </a:extLst>
          </p:cNvPr>
          <p:cNvSpPr txBox="1"/>
          <p:nvPr/>
        </p:nvSpPr>
        <p:spPr>
          <a:xfrm>
            <a:off x="6024230" y="1727726"/>
            <a:ext cx="1447832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spc="100" dirty="0">
                <a:latin typeface="+mj-ea"/>
                <a:ea typeface="+mj-ea"/>
              </a:rPr>
              <a:t>财务预测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B9161D3-CE9D-400A-B230-6D15B602E3F6}"/>
              </a:ext>
            </a:extLst>
          </p:cNvPr>
          <p:cNvSpPr txBox="1"/>
          <p:nvPr/>
        </p:nvSpPr>
        <p:spPr>
          <a:xfrm>
            <a:off x="6327559" y="2208591"/>
            <a:ext cx="4844417" cy="1341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600" dirty="0">
                <a:latin typeface="+mn-ea"/>
                <a:cs typeface="SourceHanSansCN-Regular" panose="020B0500000000000000" pitchFamily="34" charset="-120"/>
              </a:rPr>
              <a:t>初期预计资金需求为人民币50万元，主要用于产品原型研发、运营推广、技术人员薪酬等核心支出。其中市场推广费用包含线下活动预算，确保初期用户获取</a:t>
            </a:r>
            <a:r>
              <a:rPr lang="zh-CN" altLang="en-US" sz="1600" dirty="0">
                <a:latin typeface="+mn-ea"/>
                <a:cs typeface="SourceHanSansCN-Regular" panose="020B0500000000000000" pitchFamily="34" charset="-120"/>
              </a:rPr>
              <a:t>。</a:t>
            </a:r>
            <a:endParaRPr lang="zh-CN" altLang="en-US" sz="1600" spc="100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00227D-6B12-45EC-9491-80ED49AFDE30}"/>
              </a:ext>
            </a:extLst>
          </p:cNvPr>
          <p:cNvSpPr txBox="1"/>
          <p:nvPr/>
        </p:nvSpPr>
        <p:spPr>
          <a:xfrm>
            <a:off x="6096000" y="3680517"/>
            <a:ext cx="1447832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 hangingPunct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b="1" spc="100" dirty="0">
                <a:latin typeface="+mj-ea"/>
                <a:ea typeface="+mj-ea"/>
              </a:rPr>
              <a:t>投资方向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899C15A-72F1-477D-8367-3FEE3907AB75}"/>
              </a:ext>
            </a:extLst>
          </p:cNvPr>
          <p:cNvSpPr txBox="1"/>
          <p:nvPr/>
        </p:nvSpPr>
        <p:spPr>
          <a:xfrm>
            <a:off x="6327559" y="4228280"/>
            <a:ext cx="4970353" cy="1377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1600" dirty="0" err="1">
                <a:latin typeface="+mn-ea"/>
              </a:rPr>
              <a:t>资金将重点投入服务器</a:t>
            </a:r>
            <a:r>
              <a:rPr lang="en-US" altLang="zh-CN" sz="1600" dirty="0">
                <a:latin typeface="+mn-ea"/>
              </a:rPr>
              <a:t>/</a:t>
            </a:r>
            <a:r>
              <a:rPr lang="en-US" altLang="zh-CN" sz="1600" dirty="0" err="1">
                <a:latin typeface="+mn-ea"/>
              </a:rPr>
              <a:t>认证服务采购等基础设施，同时保障核心团队薪酬以维持研发进度。初期资金规划已通过详细成本核算</a:t>
            </a:r>
            <a:r>
              <a:rPr lang="en-US" altLang="zh-CN" sz="1600" dirty="0">
                <a:latin typeface="+mn-ea"/>
              </a:rPr>
              <a:t>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dirty="0">
              <a:latin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财务预测与融资计划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20</a:t>
            </a:fld>
            <a:endParaRPr lang="zh-CN" altLang="en-US" dirty="0"/>
          </a:p>
        </p:txBody>
      </p:sp>
      <p:pic>
        <p:nvPicPr>
          <p:cNvPr id="39" name="Image 3">
            <a:extLst>
              <a:ext uri="{FF2B5EF4-FFF2-40B4-BE49-F238E27FC236}">
                <a16:creationId xmlns:a16="http://schemas.microsoft.com/office/drawing/2014/main" id="{E7FEC7FB-827D-443C-8599-4474E9E46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204" y="2303426"/>
            <a:ext cx="727605" cy="71280"/>
          </a:xfrm>
          <a:prstGeom prst="rect">
            <a:avLst/>
          </a:prstGeom>
        </p:spPr>
      </p:pic>
      <p:pic>
        <p:nvPicPr>
          <p:cNvPr id="40" name="Image 4">
            <a:extLst>
              <a:ext uri="{FF2B5EF4-FFF2-40B4-BE49-F238E27FC236}">
                <a16:creationId xmlns:a16="http://schemas.microsoft.com/office/drawing/2014/main" id="{19D8956E-8A00-481D-B70A-92D347A2F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3270" y="2303426"/>
            <a:ext cx="727605" cy="71280"/>
          </a:xfrm>
          <a:prstGeom prst="rect">
            <a:avLst/>
          </a:prstGeom>
        </p:spPr>
      </p:pic>
      <p:pic>
        <p:nvPicPr>
          <p:cNvPr id="41" name="Image 5">
            <a:extLst>
              <a:ext uri="{FF2B5EF4-FFF2-40B4-BE49-F238E27FC236}">
                <a16:creationId xmlns:a16="http://schemas.microsoft.com/office/drawing/2014/main" id="{F3FD8EA3-7B21-4CBC-B01B-BD4DB57BF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699" y="2303426"/>
            <a:ext cx="2041227" cy="75240"/>
          </a:xfrm>
          <a:prstGeom prst="rect">
            <a:avLst/>
          </a:prstGeom>
        </p:spPr>
      </p:pic>
      <p:pic>
        <p:nvPicPr>
          <p:cNvPr id="42" name="Image 6">
            <a:extLst>
              <a:ext uri="{FF2B5EF4-FFF2-40B4-BE49-F238E27FC236}">
                <a16:creationId xmlns:a16="http://schemas.microsoft.com/office/drawing/2014/main" id="{FB8CCD99-0CA5-4DF0-B4D1-FFA0AEAD0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884" y="2307386"/>
            <a:ext cx="2041227" cy="71280"/>
          </a:xfrm>
          <a:prstGeom prst="rect">
            <a:avLst/>
          </a:prstGeom>
        </p:spPr>
      </p:pic>
      <p:pic>
        <p:nvPicPr>
          <p:cNvPr id="43" name="Image 7">
            <a:extLst>
              <a:ext uri="{FF2B5EF4-FFF2-40B4-BE49-F238E27FC236}">
                <a16:creationId xmlns:a16="http://schemas.microsoft.com/office/drawing/2014/main" id="{8A01B682-BC13-48C1-8CD7-013E1A198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6933" y="1792587"/>
            <a:ext cx="1010781" cy="1017718"/>
          </a:xfrm>
          <a:prstGeom prst="rect">
            <a:avLst/>
          </a:prstGeom>
        </p:spPr>
      </p:pic>
      <p:pic>
        <p:nvPicPr>
          <p:cNvPr id="44" name="Image 8">
            <a:extLst>
              <a:ext uri="{FF2B5EF4-FFF2-40B4-BE49-F238E27FC236}">
                <a16:creationId xmlns:a16="http://schemas.microsoft.com/office/drawing/2014/main" id="{BF32DD30-46DA-4B6B-8299-1D74A25F1D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5841" y="2125226"/>
            <a:ext cx="424764" cy="352439"/>
          </a:xfrm>
          <a:prstGeom prst="rect">
            <a:avLst/>
          </a:prstGeom>
        </p:spPr>
      </p:pic>
      <p:pic>
        <p:nvPicPr>
          <p:cNvPr id="45" name="Image 9">
            <a:extLst>
              <a:ext uri="{FF2B5EF4-FFF2-40B4-BE49-F238E27FC236}">
                <a16:creationId xmlns:a16="http://schemas.microsoft.com/office/drawing/2014/main" id="{29F86FDA-53A9-4AA1-833E-7786A6D003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9649" y="1792587"/>
            <a:ext cx="1010781" cy="1017718"/>
          </a:xfrm>
          <a:prstGeom prst="rect">
            <a:avLst/>
          </a:prstGeom>
        </p:spPr>
      </p:pic>
      <p:pic>
        <p:nvPicPr>
          <p:cNvPr id="46" name="Image 10">
            <a:extLst>
              <a:ext uri="{FF2B5EF4-FFF2-40B4-BE49-F238E27FC236}">
                <a16:creationId xmlns:a16="http://schemas.microsoft.com/office/drawing/2014/main" id="{0D5189C2-7018-492C-8ADD-EC36A3B3CF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753" y="2105426"/>
            <a:ext cx="334305" cy="392039"/>
          </a:xfrm>
          <a:prstGeom prst="rect">
            <a:avLst/>
          </a:prstGeom>
        </p:spPr>
      </p:pic>
      <p:pic>
        <p:nvPicPr>
          <p:cNvPr id="47" name="Image 11">
            <a:extLst>
              <a:ext uri="{FF2B5EF4-FFF2-40B4-BE49-F238E27FC236}">
                <a16:creationId xmlns:a16="http://schemas.microsoft.com/office/drawing/2014/main" id="{AC0EF679-53F0-4DB2-B034-60D0B125F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829" y="1808427"/>
            <a:ext cx="1010781" cy="1017718"/>
          </a:xfrm>
          <a:prstGeom prst="rect">
            <a:avLst/>
          </a:prstGeom>
        </p:spPr>
      </p:pic>
      <p:pic>
        <p:nvPicPr>
          <p:cNvPr id="48" name="Image 12">
            <a:extLst>
              <a:ext uri="{FF2B5EF4-FFF2-40B4-BE49-F238E27FC236}">
                <a16:creationId xmlns:a16="http://schemas.microsoft.com/office/drawing/2014/main" id="{711F88F0-7822-4721-8B5A-D236DB62C1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8469" y="2164826"/>
            <a:ext cx="393300" cy="35639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6C6EAA3-C416-413F-A750-BA2955AE1E88}"/>
              </a:ext>
            </a:extLst>
          </p:cNvPr>
          <p:cNvSpPr txBox="1"/>
          <p:nvPr/>
        </p:nvSpPr>
        <p:spPr>
          <a:xfrm>
            <a:off x="1932677" y="3051708"/>
            <a:ext cx="1159292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zh-CN" altLang="en-US" b="1" spc="100" dirty="0">
                <a:latin typeface="+mj-ea"/>
                <a:ea typeface="+mj-ea"/>
              </a:rPr>
              <a:t>回收周期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E6C9464-FEA5-4F26-B7CB-0CC6D6AC956B}"/>
              </a:ext>
            </a:extLst>
          </p:cNvPr>
          <p:cNvSpPr txBox="1"/>
          <p:nvPr/>
        </p:nvSpPr>
        <p:spPr>
          <a:xfrm>
            <a:off x="1606101" y="3749181"/>
            <a:ext cx="2213423" cy="2577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>
                <a:latin typeface="+mn-ea"/>
              </a:rPr>
              <a:t>预计2-2.5年收回投资，首年战略亏损20万元为必要投入。第二年实现30万元净利润验证商业模式。</a:t>
            </a:r>
          </a:p>
          <a:p>
            <a:pPr algn="just" hangingPunct="0">
              <a:lnSpc>
                <a:spcPct val="130000"/>
              </a:lnSpc>
            </a:pPr>
            <a:endParaRPr lang="zh-CN" altLang="en-US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4CBF192-E7F1-4ED9-9C86-0678A469C3E8}"/>
              </a:ext>
            </a:extLst>
          </p:cNvPr>
          <p:cNvSpPr txBox="1"/>
          <p:nvPr/>
        </p:nvSpPr>
        <p:spPr>
          <a:xfrm>
            <a:off x="5369649" y="3051708"/>
            <a:ext cx="1107996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b="1" dirty="0" err="1">
                <a:latin typeface="+mj-ea"/>
                <a:ea typeface="+mj-ea"/>
                <a:cs typeface="NotoSansSC-Bold" panose="020B0200000000000000" pitchFamily="34" charset="-120"/>
              </a:rPr>
              <a:t>现值收益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0B54692-51B7-4038-8E32-C4372E40C4C4}"/>
              </a:ext>
            </a:extLst>
          </p:cNvPr>
          <p:cNvSpPr txBox="1"/>
          <p:nvPr/>
        </p:nvSpPr>
        <p:spPr>
          <a:xfrm>
            <a:off x="5034508" y="3710469"/>
            <a:ext cx="2041227" cy="2541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>
                <a:latin typeface="+mn-ea"/>
              </a:rPr>
              <a:t>按10%贴现率计算，三年累计净现值约85万元。校园</a:t>
            </a:r>
            <a:r>
              <a:rPr lang="zh-CN" altLang="en-US" dirty="0">
                <a:latin typeface="+mn-ea"/>
              </a:rPr>
              <a:t>恋爱</a:t>
            </a:r>
            <a:r>
              <a:rPr lang="en-US" altLang="zh-CN" dirty="0" err="1">
                <a:latin typeface="+mn-ea"/>
              </a:rPr>
              <a:t>特有的用户粘性支撑长期价值</a:t>
            </a:r>
            <a:r>
              <a:rPr lang="en-US" altLang="zh-CN" dirty="0">
                <a:latin typeface="+mn-ea"/>
              </a:rPr>
              <a:t>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A465D60-F1FE-4AD1-9A69-BD81CF4A94B0}"/>
              </a:ext>
            </a:extLst>
          </p:cNvPr>
          <p:cNvSpPr txBox="1"/>
          <p:nvPr/>
        </p:nvSpPr>
        <p:spPr>
          <a:xfrm>
            <a:off x="8755325" y="3051708"/>
            <a:ext cx="1107996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b="1" dirty="0" err="1">
                <a:latin typeface="+mj-ea"/>
                <a:ea typeface="+mj-ea"/>
                <a:cs typeface="NotoSansSC-Bold" panose="020B0200000000000000" pitchFamily="34" charset="-120"/>
              </a:rPr>
              <a:t>收益比率</a:t>
            </a:r>
            <a:endParaRPr lang="zh-CN" altLang="en-US" b="1" spc="100" dirty="0">
              <a:latin typeface="+mj-ea"/>
              <a:ea typeface="+mj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0CD2F82-3C08-4B9D-8DA8-2F7D165FECDA}"/>
              </a:ext>
            </a:extLst>
          </p:cNvPr>
          <p:cNvSpPr txBox="1"/>
          <p:nvPr/>
        </p:nvSpPr>
        <p:spPr>
          <a:xfrm>
            <a:off x="8381894" y="3710469"/>
            <a:ext cx="1854857" cy="1857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>
                <a:latin typeface="+mn-ea"/>
              </a:rPr>
              <a:t>内部收益率25%-35%高于行业均值，反映精准定位校园市场的溢价能力</a:t>
            </a:r>
            <a:r>
              <a:rPr lang="zh-CN" altLang="en-US" dirty="0">
                <a:latin typeface="+mn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5575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风险分析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/>
              <a:t>21</a:t>
            </a:fld>
            <a:endParaRPr lang="zh-CN" altLang="en-US" dirty="0"/>
          </a:p>
        </p:txBody>
      </p:sp>
      <p:pic>
        <p:nvPicPr>
          <p:cNvPr id="9" name="Image 3">
            <a:extLst>
              <a:ext uri="{FF2B5EF4-FFF2-40B4-BE49-F238E27FC236}">
                <a16:creationId xmlns:a16="http://schemas.microsoft.com/office/drawing/2014/main" id="{AE02CF1F-B28B-4D28-AB37-060DD07CB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5511" y="2684870"/>
            <a:ext cx="1861096" cy="983794"/>
          </a:xfrm>
          <a:prstGeom prst="rect">
            <a:avLst/>
          </a:prstGeom>
        </p:spPr>
      </p:pic>
      <p:pic>
        <p:nvPicPr>
          <p:cNvPr id="10" name="Image 4">
            <a:extLst>
              <a:ext uri="{FF2B5EF4-FFF2-40B4-BE49-F238E27FC236}">
                <a16:creationId xmlns:a16="http://schemas.microsoft.com/office/drawing/2014/main" id="{164E84A8-0175-4103-B395-66FFD760B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5511" y="3734589"/>
            <a:ext cx="2368206" cy="983794"/>
          </a:xfrm>
          <a:prstGeom prst="rect">
            <a:avLst/>
          </a:prstGeom>
        </p:spPr>
      </p:pic>
      <p:pic>
        <p:nvPicPr>
          <p:cNvPr id="11" name="Image 5">
            <a:extLst>
              <a:ext uri="{FF2B5EF4-FFF2-40B4-BE49-F238E27FC236}">
                <a16:creationId xmlns:a16="http://schemas.microsoft.com/office/drawing/2014/main" id="{AB2E64BA-13CF-45B5-9ADC-8D30E93AA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5511" y="4784307"/>
            <a:ext cx="2773895" cy="983794"/>
          </a:xfrm>
          <a:prstGeom prst="rect">
            <a:avLst/>
          </a:prstGeom>
        </p:spPr>
      </p:pic>
      <p:pic>
        <p:nvPicPr>
          <p:cNvPr id="12" name="Image 6">
            <a:extLst>
              <a:ext uri="{FF2B5EF4-FFF2-40B4-BE49-F238E27FC236}">
                <a16:creationId xmlns:a16="http://schemas.microsoft.com/office/drawing/2014/main" id="{D8A3D51A-F542-4EAD-97CF-3C1E772D26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5511" y="1635151"/>
            <a:ext cx="1353985" cy="983794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C26E84AF-D78B-4F5C-896D-9C80AAA1043B}"/>
              </a:ext>
            </a:extLst>
          </p:cNvPr>
          <p:cNvSpPr/>
          <p:nvPr/>
        </p:nvSpPr>
        <p:spPr>
          <a:xfrm>
            <a:off x="1566552" y="6067297"/>
            <a:ext cx="2251571" cy="289053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ts val="4080"/>
              </a:lnSpc>
              <a:buNone/>
            </a:pPr>
            <a:r>
              <a:rPr lang="en-US" sz="1400" dirty="0">
                <a:latin typeface="+mn-ea"/>
                <a:cs typeface="NotoSansSC-Bold" panose="020B0200000000000000" pitchFamily="34" charset="-120"/>
              </a:rPr>
              <a:t>风险SWOT分析</a:t>
            </a:r>
            <a:endParaRPr lang="en-US" sz="1400" dirty="0">
              <a:latin typeface="+mn-ea"/>
            </a:endParaRPr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F71FD49-6BD8-4144-B699-2D82D63977C6}"/>
              </a:ext>
            </a:extLst>
          </p:cNvPr>
          <p:cNvSpPr/>
          <p:nvPr/>
        </p:nvSpPr>
        <p:spPr>
          <a:xfrm>
            <a:off x="1135508" y="1793814"/>
            <a:ext cx="1019292" cy="187631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40"/>
              </a:lnSpc>
              <a:buNone/>
            </a:pPr>
            <a:r>
              <a:rPr lang="en-US" sz="1600" b="1" dirty="0">
                <a:solidFill>
                  <a:srgbClr val="CC0000"/>
                </a:solidFill>
                <a:latin typeface="+mn-ea"/>
                <a:cs typeface="NotoSansSC-Bold" panose="020B0200000000000000" pitchFamily="34" charset="-120"/>
              </a:rPr>
              <a:t>优势</a:t>
            </a:r>
            <a:endParaRPr lang="en-US" sz="1600" b="1" dirty="0">
              <a:latin typeface="+mn-ea"/>
            </a:endParaRPr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280E6CDB-C26A-4DE4-95A2-8E603DD8F846}"/>
              </a:ext>
            </a:extLst>
          </p:cNvPr>
          <p:cNvSpPr/>
          <p:nvPr/>
        </p:nvSpPr>
        <p:spPr>
          <a:xfrm>
            <a:off x="927283" y="2152029"/>
            <a:ext cx="1237350" cy="152133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000" dirty="0">
                <a:latin typeface="+mn-ea"/>
                <a:cs typeface="SourceHanSansCN-Regular" panose="020B0500000000000000" pitchFamily="34" charset="-120"/>
              </a:rPr>
              <a:t>垂直校园市场专注</a:t>
            </a:r>
            <a:endParaRPr lang="en-US" sz="1000" dirty="0">
              <a:latin typeface="+mn-ea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59A5A6FA-DEA8-4F9D-9C0A-F1A1F2EBCC07}"/>
              </a:ext>
            </a:extLst>
          </p:cNvPr>
          <p:cNvSpPr/>
          <p:nvPr/>
        </p:nvSpPr>
        <p:spPr>
          <a:xfrm>
            <a:off x="1135508" y="2834485"/>
            <a:ext cx="1019292" cy="187631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40"/>
              </a:lnSpc>
              <a:buNone/>
            </a:pPr>
            <a:r>
              <a:rPr lang="en-US" sz="1600" b="1" dirty="0">
                <a:solidFill>
                  <a:srgbClr val="CC0000"/>
                </a:solidFill>
                <a:latin typeface="+mn-ea"/>
                <a:cs typeface="NotoSansSC-Bold" panose="020B0200000000000000" pitchFamily="34" charset="-120"/>
              </a:rPr>
              <a:t>劣势</a:t>
            </a:r>
            <a:endParaRPr lang="en-US" sz="1600" b="1" dirty="0">
              <a:latin typeface="+mn-ea"/>
            </a:endParaRP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DB4C8DEE-7873-419B-AB2E-FD046300DFA2}"/>
              </a:ext>
            </a:extLst>
          </p:cNvPr>
          <p:cNvSpPr/>
          <p:nvPr/>
        </p:nvSpPr>
        <p:spPr>
          <a:xfrm>
            <a:off x="972554" y="3196676"/>
            <a:ext cx="1237350" cy="152133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000" dirty="0">
                <a:latin typeface="+mn-ea"/>
                <a:cs typeface="SourceHanSansCN-Regular" panose="020B0500000000000000" pitchFamily="34" charset="-120"/>
              </a:rPr>
              <a:t>初期用户基数小</a:t>
            </a:r>
            <a:endParaRPr lang="en-US" sz="1000" dirty="0">
              <a:latin typeface="+mn-ea"/>
            </a:endParaRPr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0A5971B-C4A6-408B-94BE-607690F1C88D}"/>
              </a:ext>
            </a:extLst>
          </p:cNvPr>
          <p:cNvSpPr/>
          <p:nvPr/>
        </p:nvSpPr>
        <p:spPr>
          <a:xfrm>
            <a:off x="1135508" y="3902310"/>
            <a:ext cx="1019292" cy="187631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40"/>
              </a:lnSpc>
              <a:buNone/>
            </a:pPr>
            <a:r>
              <a:rPr lang="en-US" sz="1600" b="1" dirty="0">
                <a:solidFill>
                  <a:srgbClr val="CC0000"/>
                </a:solidFill>
                <a:latin typeface="+mn-ea"/>
                <a:cs typeface="NotoSansSC-Bold" panose="020B0200000000000000" pitchFamily="34" charset="-120"/>
              </a:rPr>
              <a:t>机会</a:t>
            </a:r>
            <a:endParaRPr lang="en-US" sz="1600" b="1" dirty="0">
              <a:latin typeface="+mn-ea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82AF0763-39F5-42A3-8A9D-D165D63C7DFC}"/>
              </a:ext>
            </a:extLst>
          </p:cNvPr>
          <p:cNvSpPr/>
          <p:nvPr/>
        </p:nvSpPr>
        <p:spPr>
          <a:xfrm>
            <a:off x="963495" y="4219236"/>
            <a:ext cx="1247492" cy="152133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000" dirty="0">
                <a:latin typeface="+mn-ea"/>
                <a:cs typeface="SourceHanSansCN-Regular" panose="020B0500000000000000" pitchFamily="34" charset="-120"/>
              </a:rPr>
              <a:t>政策扶持校园创业</a:t>
            </a:r>
            <a:endParaRPr lang="en-US" sz="1000" dirty="0">
              <a:latin typeface="+mn-ea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780795CF-3834-4A91-B72A-19F19053C5B9}"/>
              </a:ext>
            </a:extLst>
          </p:cNvPr>
          <p:cNvSpPr/>
          <p:nvPr/>
        </p:nvSpPr>
        <p:spPr>
          <a:xfrm>
            <a:off x="1135508" y="4952029"/>
            <a:ext cx="699813" cy="187631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640"/>
              </a:lnSpc>
              <a:buNone/>
            </a:pPr>
            <a:r>
              <a:rPr lang="en-US" sz="1600" b="1" dirty="0">
                <a:solidFill>
                  <a:srgbClr val="CC0000"/>
                </a:solidFill>
                <a:latin typeface="+mn-ea"/>
                <a:cs typeface="NotoSansSC-Bold" panose="020B0200000000000000" pitchFamily="34" charset="-120"/>
              </a:rPr>
              <a:t>威胁</a:t>
            </a:r>
            <a:endParaRPr lang="en-US" sz="1600" b="1" dirty="0">
              <a:latin typeface="+mn-ea"/>
            </a:endParaRPr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185A8CA2-498D-4E21-919F-252D368C8582}"/>
              </a:ext>
            </a:extLst>
          </p:cNvPr>
          <p:cNvSpPr/>
          <p:nvPr/>
        </p:nvSpPr>
        <p:spPr>
          <a:xfrm>
            <a:off x="1063084" y="5287061"/>
            <a:ext cx="1237350" cy="152133"/>
          </a:xfrm>
          <a:prstGeom prst="rect">
            <a:avLst/>
          </a:prstGeom>
          <a:noFill/>
        </p:spPr>
        <p:txBody>
          <a:bodyPr vert="horz"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ts val="2160"/>
              </a:lnSpc>
              <a:buNone/>
            </a:pPr>
            <a:r>
              <a:rPr lang="en-US" sz="1000" dirty="0">
                <a:latin typeface="+mn-ea"/>
                <a:cs typeface="SourceHanSansCN-Regular" panose="020B0500000000000000" pitchFamily="34" charset="-120"/>
              </a:rPr>
              <a:t>巨头降维打击</a:t>
            </a:r>
            <a:endParaRPr lang="en-US" sz="1000" dirty="0">
              <a:latin typeface="+mn-ea"/>
            </a:endParaRPr>
          </a:p>
        </p:txBody>
      </p:sp>
      <p:pic>
        <p:nvPicPr>
          <p:cNvPr id="26" name="Image 7">
            <a:extLst>
              <a:ext uri="{FF2B5EF4-FFF2-40B4-BE49-F238E27FC236}">
                <a16:creationId xmlns:a16="http://schemas.microsoft.com/office/drawing/2014/main" id="{FF75AB9A-4846-4FC7-BF58-99CF1CC1CF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63763" y="4043926"/>
            <a:ext cx="410760" cy="375262"/>
          </a:xfrm>
          <a:prstGeom prst="rect">
            <a:avLst/>
          </a:prstGeom>
        </p:spPr>
      </p:pic>
      <p:pic>
        <p:nvPicPr>
          <p:cNvPr id="27" name="Image 8">
            <a:extLst>
              <a:ext uri="{FF2B5EF4-FFF2-40B4-BE49-F238E27FC236}">
                <a16:creationId xmlns:a16="http://schemas.microsoft.com/office/drawing/2014/main" id="{4CCA1EA7-5EFA-48D4-B699-ECCBCFDC6F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5608" y="1939417"/>
            <a:ext cx="324551" cy="375262"/>
          </a:xfrm>
          <a:prstGeom prst="rect">
            <a:avLst/>
          </a:prstGeom>
        </p:spPr>
      </p:pic>
      <p:pic>
        <p:nvPicPr>
          <p:cNvPr id="28" name="Image 9">
            <a:extLst>
              <a:ext uri="{FF2B5EF4-FFF2-40B4-BE49-F238E27FC236}">
                <a16:creationId xmlns:a16="http://schemas.microsoft.com/office/drawing/2014/main" id="{9B9D8843-DA63-4773-8FF3-6A7B71CC5A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8595" y="2994207"/>
            <a:ext cx="613604" cy="360048"/>
          </a:xfrm>
          <a:prstGeom prst="rect">
            <a:avLst/>
          </a:prstGeom>
        </p:spPr>
      </p:pic>
      <p:pic>
        <p:nvPicPr>
          <p:cNvPr id="29" name="Image 10">
            <a:extLst>
              <a:ext uri="{FF2B5EF4-FFF2-40B4-BE49-F238E27FC236}">
                <a16:creationId xmlns:a16="http://schemas.microsoft.com/office/drawing/2014/main" id="{D0476DAE-ED79-46D1-A4F9-9DCE268A1B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304" y="5093645"/>
            <a:ext cx="339764" cy="360048"/>
          </a:xfrm>
          <a:prstGeom prst="rect">
            <a:avLst/>
          </a:prstGeom>
        </p:spPr>
      </p:pic>
      <p:pic>
        <p:nvPicPr>
          <p:cNvPr id="30" name="Image 11">
            <a:extLst>
              <a:ext uri="{FF2B5EF4-FFF2-40B4-BE49-F238E27FC236}">
                <a16:creationId xmlns:a16="http://schemas.microsoft.com/office/drawing/2014/main" id="{F6AF872C-F9C1-42C1-9D6D-CA0E15BB85A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104" y="1797426"/>
            <a:ext cx="283982" cy="283982"/>
          </a:xfrm>
          <a:prstGeom prst="rect">
            <a:avLst/>
          </a:prstGeom>
        </p:spPr>
      </p:pic>
      <p:pic>
        <p:nvPicPr>
          <p:cNvPr id="31" name="Image 12">
            <a:extLst>
              <a:ext uri="{FF2B5EF4-FFF2-40B4-BE49-F238E27FC236}">
                <a16:creationId xmlns:a16="http://schemas.microsoft.com/office/drawing/2014/main" id="{19DBD1AC-D512-4927-8955-1117088015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886" y="1853209"/>
            <a:ext cx="167346" cy="167346"/>
          </a:xfrm>
          <a:prstGeom prst="rect">
            <a:avLst/>
          </a:prstGeom>
        </p:spPr>
      </p:pic>
      <p:pic>
        <p:nvPicPr>
          <p:cNvPr id="32" name="Image 13">
            <a:extLst>
              <a:ext uri="{FF2B5EF4-FFF2-40B4-BE49-F238E27FC236}">
                <a16:creationId xmlns:a16="http://schemas.microsoft.com/office/drawing/2014/main" id="{3A747866-2C4F-4B59-A2DC-8006043196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104" y="2852216"/>
            <a:ext cx="283982" cy="283982"/>
          </a:xfrm>
          <a:prstGeom prst="rect">
            <a:avLst/>
          </a:prstGeom>
        </p:spPr>
      </p:pic>
      <p:pic>
        <p:nvPicPr>
          <p:cNvPr id="33" name="Image 14">
            <a:extLst>
              <a:ext uri="{FF2B5EF4-FFF2-40B4-BE49-F238E27FC236}">
                <a16:creationId xmlns:a16="http://schemas.microsoft.com/office/drawing/2014/main" id="{782F13A7-3BC0-49C6-B4D2-08BB731F9E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886" y="2907998"/>
            <a:ext cx="167346" cy="167346"/>
          </a:xfrm>
          <a:prstGeom prst="rect">
            <a:avLst/>
          </a:prstGeom>
        </p:spPr>
      </p:pic>
      <p:pic>
        <p:nvPicPr>
          <p:cNvPr id="34" name="Image 15">
            <a:extLst>
              <a:ext uri="{FF2B5EF4-FFF2-40B4-BE49-F238E27FC236}">
                <a16:creationId xmlns:a16="http://schemas.microsoft.com/office/drawing/2014/main" id="{922A4862-A764-4FB0-AC0C-347B1FE9EC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104" y="3896864"/>
            <a:ext cx="283982" cy="283982"/>
          </a:xfrm>
          <a:prstGeom prst="rect">
            <a:avLst/>
          </a:prstGeom>
        </p:spPr>
      </p:pic>
      <p:pic>
        <p:nvPicPr>
          <p:cNvPr id="35" name="Image 16">
            <a:extLst>
              <a:ext uri="{FF2B5EF4-FFF2-40B4-BE49-F238E27FC236}">
                <a16:creationId xmlns:a16="http://schemas.microsoft.com/office/drawing/2014/main" id="{BEB1B815-0461-42C1-ACE9-2108396F747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5886" y="3957717"/>
            <a:ext cx="167346" cy="167346"/>
          </a:xfrm>
          <a:prstGeom prst="rect">
            <a:avLst/>
          </a:prstGeom>
        </p:spPr>
      </p:pic>
      <p:pic>
        <p:nvPicPr>
          <p:cNvPr id="36" name="Image 17">
            <a:extLst>
              <a:ext uri="{FF2B5EF4-FFF2-40B4-BE49-F238E27FC236}">
                <a16:creationId xmlns:a16="http://schemas.microsoft.com/office/drawing/2014/main" id="{44F13B1B-DD71-4E08-B110-3B3CF5F3CBB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104" y="4966867"/>
            <a:ext cx="283982" cy="283982"/>
          </a:xfrm>
          <a:prstGeom prst="rect">
            <a:avLst/>
          </a:prstGeom>
        </p:spPr>
      </p:pic>
      <p:pic>
        <p:nvPicPr>
          <p:cNvPr id="37" name="Image 18">
            <a:extLst>
              <a:ext uri="{FF2B5EF4-FFF2-40B4-BE49-F238E27FC236}">
                <a16:creationId xmlns:a16="http://schemas.microsoft.com/office/drawing/2014/main" id="{AAF4D675-B3A9-4CBC-8DBB-2EDE04D9AAE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5886" y="5022649"/>
            <a:ext cx="167346" cy="16734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638CF1D-5CE2-4E6B-A5A6-A90E0291F844}"/>
              </a:ext>
            </a:extLst>
          </p:cNvPr>
          <p:cNvSpPr txBox="1"/>
          <p:nvPr/>
        </p:nvSpPr>
        <p:spPr>
          <a:xfrm>
            <a:off x="5829287" y="1555624"/>
            <a:ext cx="1447832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 hangingPunct="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b="1" spc="100" dirty="0">
                <a:latin typeface="+mj-ea"/>
                <a:ea typeface="+mj-ea"/>
              </a:rPr>
              <a:t>用户增长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37EA818-013B-4393-A71F-5327700C6C3A}"/>
              </a:ext>
            </a:extLst>
          </p:cNvPr>
          <p:cNvSpPr txBox="1"/>
          <p:nvPr/>
        </p:nvSpPr>
        <p:spPr>
          <a:xfrm>
            <a:off x="6007904" y="1977782"/>
            <a:ext cx="5256813" cy="113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 err="1">
                <a:latin typeface="+mn-ea"/>
                <a:cs typeface="SourceHanSansCN-Regular" panose="020B0500000000000000" pitchFamily="34" charset="-120"/>
              </a:rPr>
              <a:t>若用户增速低于预期，将直接影响VIP订阅和广告收入。校园市场渗透率是核心监测指标</a:t>
            </a:r>
            <a:r>
              <a:rPr lang="en-US" altLang="zh-CN" dirty="0">
                <a:latin typeface="+mn-ea"/>
                <a:cs typeface="SourceHanSansCN-Regular" panose="020B0500000000000000" pitchFamily="34" charset="-120"/>
              </a:rPr>
              <a:t>。</a:t>
            </a:r>
            <a:endParaRPr lang="en-US" altLang="zh-CN" dirty="0">
              <a:latin typeface="+mn-ea"/>
            </a:endParaRPr>
          </a:p>
          <a:p>
            <a:pPr algn="just" hangingPunct="0">
              <a:lnSpc>
                <a:spcPct val="130000"/>
              </a:lnSpc>
            </a:pPr>
            <a:endParaRPr lang="zh-CN" altLang="en-US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F28C94D-68AD-40A1-BFB0-16C83FC8D664}"/>
              </a:ext>
            </a:extLst>
          </p:cNvPr>
          <p:cNvSpPr txBox="1"/>
          <p:nvPr/>
        </p:nvSpPr>
        <p:spPr>
          <a:xfrm>
            <a:off x="5829290" y="2950688"/>
            <a:ext cx="1447832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 hangingPunct="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b="1" spc="100" dirty="0">
                <a:latin typeface="+mj-ea"/>
                <a:ea typeface="+mj-ea"/>
              </a:rPr>
              <a:t>政策监管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74FA39C-2419-4E83-8237-C9A8215BD587}"/>
              </a:ext>
            </a:extLst>
          </p:cNvPr>
          <p:cNvSpPr txBox="1"/>
          <p:nvPr/>
        </p:nvSpPr>
        <p:spPr>
          <a:xfrm>
            <a:off x="6007904" y="3390952"/>
            <a:ext cx="5256813" cy="1135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 err="1">
                <a:latin typeface="+mn-ea"/>
              </a:rPr>
              <a:t>社交</a:t>
            </a:r>
            <a:r>
              <a:rPr lang="zh-CN" altLang="en-US" dirty="0">
                <a:latin typeface="+mn-ea"/>
              </a:rPr>
              <a:t>恋爱</a:t>
            </a:r>
            <a:r>
              <a:rPr lang="en-US" altLang="zh-CN" dirty="0" err="1">
                <a:latin typeface="+mn-ea"/>
              </a:rPr>
              <a:t>产品面临严格内容审核要求，需持续投入实名认证系统。数据安全合规是运营底线</a:t>
            </a:r>
            <a:r>
              <a:rPr lang="en-US" altLang="zh-CN" dirty="0">
                <a:latin typeface="+mn-ea"/>
              </a:rPr>
              <a:t>。</a:t>
            </a:r>
          </a:p>
          <a:p>
            <a:pPr algn="just" hangingPunct="0">
              <a:lnSpc>
                <a:spcPct val="130000"/>
              </a:lnSpc>
            </a:pP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C41231FB-E14A-4833-BFDC-81A176F49715}"/>
              </a:ext>
            </a:extLst>
          </p:cNvPr>
          <p:cNvSpPr txBox="1"/>
          <p:nvPr/>
        </p:nvSpPr>
        <p:spPr>
          <a:xfrm>
            <a:off x="5829291" y="4528067"/>
            <a:ext cx="1447832" cy="4173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 hangingPunct="0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b="1" spc="100" dirty="0">
                <a:latin typeface="+mj-ea"/>
                <a:ea typeface="+mj-ea"/>
              </a:rPr>
              <a:t>竞品冲击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674ADBB-0AB9-4CA7-B712-A6BBC48BABC8}"/>
              </a:ext>
            </a:extLst>
          </p:cNvPr>
          <p:cNvSpPr txBox="1"/>
          <p:nvPr/>
        </p:nvSpPr>
        <p:spPr>
          <a:xfrm>
            <a:off x="6007904" y="4994813"/>
            <a:ext cx="5256813" cy="1101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dirty="0">
                <a:latin typeface="+mn-ea"/>
              </a:rPr>
              <a:t>综合社交平台可能推出校园细分功能，需强化线下活动差异化。保持90%以上用户周活跃是关键。</a:t>
            </a:r>
          </a:p>
          <a:p>
            <a:pPr algn="just" hangingPunct="0">
              <a:lnSpc>
                <a:spcPct val="130000"/>
              </a:lnSpc>
            </a:pPr>
            <a:endParaRPr lang="zh-CN" altLang="en-US" sz="1600" spc="100" dirty="0">
              <a:solidFill>
                <a:schemeClr val="accent4">
                  <a:lumMod val="20000"/>
                  <a:lumOff val="80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44E30-715F-4973-8179-B4178D7E09F0}" type="datetime1">
              <a:rPr lang="zh-CN" altLang="en-US" smtClean="0"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2025/11/4</a:t>
            </a:fld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西安电子科技大学</a:t>
            </a:r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B9A5AF-BDD6-4E14-989F-CF034C94E4CA}" type="slidenum">
              <a:rPr lang="zh-CN" altLang="en-US" smtClean="0"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22</a:t>
            </a:fld>
            <a:endParaRPr lang="zh-CN" altLang="en-US" dirty="0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189638" y="1577311"/>
            <a:ext cx="8560870" cy="10673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hangingPunct="0">
              <a:lnSpc>
                <a:spcPct val="130000"/>
              </a:lnSpc>
            </a:pPr>
            <a:r>
              <a:rPr lang="en-US" altLang="zh-CN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THANK</a:t>
            </a:r>
            <a:r>
              <a:rPr lang="zh-CN" altLang="en-US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 </a:t>
            </a:r>
            <a:r>
              <a:rPr lang="en-US" altLang="zh-CN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FOR</a:t>
            </a:r>
            <a:r>
              <a:rPr lang="zh-CN" altLang="en-US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 </a:t>
            </a:r>
            <a:r>
              <a:rPr lang="en-US" altLang="zh-CN" sz="5400" spc="100" dirty="0">
                <a:solidFill>
                  <a:schemeClr val="accent1"/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ATTENTION</a:t>
            </a:r>
            <a:endParaRPr lang="zh-CN" altLang="en-US" sz="5400" spc="100" dirty="0">
              <a:solidFill>
                <a:schemeClr val="accent1"/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7" name="任意多边形: 形状 16"/>
          <p:cNvSpPr/>
          <p:nvPr/>
        </p:nvSpPr>
        <p:spPr>
          <a:xfrm>
            <a:off x="1125901" y="1122388"/>
            <a:ext cx="1800000" cy="1800000"/>
          </a:xfrm>
          <a:custGeom>
            <a:avLst/>
            <a:gdLst>
              <a:gd name="connsiteX0" fmla="*/ 0 w 1800000"/>
              <a:gd name="connsiteY0" fmla="*/ 0 h 1800000"/>
              <a:gd name="connsiteX1" fmla="*/ 1800000 w 1800000"/>
              <a:gd name="connsiteY1" fmla="*/ 0 h 1800000"/>
              <a:gd name="connsiteX2" fmla="*/ 1800000 w 1800000"/>
              <a:gd name="connsiteY2" fmla="*/ 366040 h 1800000"/>
              <a:gd name="connsiteX3" fmla="*/ 1656604 w 1800000"/>
              <a:gd name="connsiteY3" fmla="*/ 366040 h 1800000"/>
              <a:gd name="connsiteX4" fmla="*/ 1656604 w 1800000"/>
              <a:gd name="connsiteY4" fmla="*/ 157793 h 1800000"/>
              <a:gd name="connsiteX5" fmla="*/ 172635 w 1800000"/>
              <a:gd name="connsiteY5" fmla="*/ 157793 h 1800000"/>
              <a:gd name="connsiteX6" fmla="*/ 172635 w 1800000"/>
              <a:gd name="connsiteY6" fmla="*/ 1641762 h 1800000"/>
              <a:gd name="connsiteX7" fmla="*/ 900000 w 1800000"/>
              <a:gd name="connsiteY7" fmla="*/ 1641762 h 1800000"/>
              <a:gd name="connsiteX8" fmla="*/ 900000 w 1800000"/>
              <a:gd name="connsiteY8" fmla="*/ 1800000 h 1800000"/>
              <a:gd name="connsiteX9" fmla="*/ 0 w 1800000"/>
              <a:gd name="connsiteY9" fmla="*/ 1800000 h 18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00000" h="1800000">
                <a:moveTo>
                  <a:pt x="0" y="0"/>
                </a:moveTo>
                <a:lnTo>
                  <a:pt x="1800000" y="0"/>
                </a:lnTo>
                <a:lnTo>
                  <a:pt x="1800000" y="366040"/>
                </a:lnTo>
                <a:lnTo>
                  <a:pt x="1656604" y="366040"/>
                </a:lnTo>
                <a:lnTo>
                  <a:pt x="1656604" y="157793"/>
                </a:lnTo>
                <a:lnTo>
                  <a:pt x="172635" y="157793"/>
                </a:lnTo>
                <a:lnTo>
                  <a:pt x="172635" y="1641762"/>
                </a:lnTo>
                <a:lnTo>
                  <a:pt x="900000" y="1641762"/>
                </a:lnTo>
                <a:lnTo>
                  <a:pt x="900000" y="1800000"/>
                </a:lnTo>
                <a:lnTo>
                  <a:pt x="0" y="1800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30480" y="5598160"/>
            <a:ext cx="12202160" cy="1259840"/>
          </a:xfrm>
          <a:custGeom>
            <a:avLst/>
            <a:gdLst>
              <a:gd name="connsiteX0" fmla="*/ 10160 w 12222480"/>
              <a:gd name="connsiteY0" fmla="*/ 1087120 h 1910080"/>
              <a:gd name="connsiteX1" fmla="*/ 12222480 w 12222480"/>
              <a:gd name="connsiteY1" fmla="*/ 0 h 1910080"/>
              <a:gd name="connsiteX2" fmla="*/ 12222480 w 12222480"/>
              <a:gd name="connsiteY2" fmla="*/ 1910080 h 1910080"/>
              <a:gd name="connsiteX3" fmla="*/ 0 w 12222480"/>
              <a:gd name="connsiteY3" fmla="*/ 1899920 h 1910080"/>
              <a:gd name="connsiteX4" fmla="*/ 10160 w 12222480"/>
              <a:gd name="connsiteY4" fmla="*/ 1087120 h 19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2480" h="1910080">
                <a:moveTo>
                  <a:pt x="10160" y="1087120"/>
                </a:moveTo>
                <a:lnTo>
                  <a:pt x="12222480" y="0"/>
                </a:lnTo>
                <a:lnTo>
                  <a:pt x="12222480" y="1910080"/>
                </a:lnTo>
                <a:lnTo>
                  <a:pt x="0" y="1899920"/>
                </a:lnTo>
                <a:lnTo>
                  <a:pt x="10160" y="108712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0" name="任意多边形: 形状 19"/>
          <p:cNvSpPr/>
          <p:nvPr/>
        </p:nvSpPr>
        <p:spPr>
          <a:xfrm flipH="1">
            <a:off x="-40640" y="5585460"/>
            <a:ext cx="12273280" cy="1259840"/>
          </a:xfrm>
          <a:custGeom>
            <a:avLst/>
            <a:gdLst>
              <a:gd name="connsiteX0" fmla="*/ 10160 w 12222480"/>
              <a:gd name="connsiteY0" fmla="*/ 1087120 h 1910080"/>
              <a:gd name="connsiteX1" fmla="*/ 12222480 w 12222480"/>
              <a:gd name="connsiteY1" fmla="*/ 0 h 1910080"/>
              <a:gd name="connsiteX2" fmla="*/ 12222480 w 12222480"/>
              <a:gd name="connsiteY2" fmla="*/ 1910080 h 1910080"/>
              <a:gd name="connsiteX3" fmla="*/ 0 w 12222480"/>
              <a:gd name="connsiteY3" fmla="*/ 1899920 h 1910080"/>
              <a:gd name="connsiteX4" fmla="*/ 10160 w 12222480"/>
              <a:gd name="connsiteY4" fmla="*/ 1087120 h 191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22480" h="1910080">
                <a:moveTo>
                  <a:pt x="10160" y="1087120"/>
                </a:moveTo>
                <a:lnTo>
                  <a:pt x="12222480" y="0"/>
                </a:lnTo>
                <a:lnTo>
                  <a:pt x="12222480" y="1910080"/>
                </a:lnTo>
                <a:lnTo>
                  <a:pt x="0" y="1899920"/>
                </a:lnTo>
                <a:lnTo>
                  <a:pt x="10160" y="1087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033520" y="6134875"/>
            <a:ext cx="4196080" cy="417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hangingPunct="0">
              <a:lnSpc>
                <a:spcPct val="130000"/>
              </a:lnSpc>
            </a:pPr>
            <a:r>
              <a:rPr lang="zh-CN" altLang="en-US" spc="100" dirty="0">
                <a:solidFill>
                  <a:schemeClr val="accent3">
                    <a:lumMod val="20000"/>
                    <a:lumOff val="80000"/>
                  </a:schemeClr>
                </a:solidFill>
                <a:latin typeface="Arial" panose="020B0604020202090204" pitchFamily="34" charset="0"/>
                <a:ea typeface="微软雅黑" panose="020B0503020204020204" pitchFamily="34" charset="-122"/>
                <a:cs typeface="+mn-ea"/>
                <a:sym typeface="Arial" panose="020B0604020202090204" pitchFamily="34" charset="0"/>
              </a:rPr>
              <a:t>厚德 求真 励学 笃行</a:t>
            </a:r>
            <a:endParaRPr lang="en-US" altLang="zh-CN" spc="100" dirty="0">
              <a:solidFill>
                <a:schemeClr val="accent3">
                  <a:lumMod val="20000"/>
                  <a:lumOff val="80000"/>
                </a:schemeClr>
              </a:solidFill>
              <a:latin typeface="Arial" panose="020B0604020202090204" pitchFamily="34" charset="0"/>
              <a:ea typeface="微软雅黑" panose="020B0503020204020204" pitchFamily="34" charset="-122"/>
              <a:cs typeface="+mn-ea"/>
              <a:sym typeface="Arial" panose="020B060402020209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cd07bc45-8cf5-48a2-8d1d-e901e39ba763"/>
  <p:tag name="COMMONDATA" val="eyJoZGlkIjoiNGZmYzQ3OGNjMTFkZGQ4YjU2NjcxMDAxMmMzNzg5MD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1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5,&quot;pos&quot;:0.8999999761581421,&quot;transparency&quot;:0},{&quot;brightness&quot;:0,&quot;colorType&quot;:1,&quot;foreColorIndex&quot;:5,&quot;pos&quot;:0,&quot;transparency&quot;:0}],&quot;type&quot;:3},&quot;glow&quot;:{&quot;colorType&quot;:0},&quot;line&quot;:{&quot;type&quot;:0},&quot;shadow&quot;:{&quot;brightness&quot;:0,&quot;colorType&quot;:1,&quot;foreColorIndex&quot;:5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2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6,&quot;pos&quot;:0.8999999761581421,&quot;transparency&quot;:0},{&quot;brightness&quot;:0,&quot;colorType&quot;:1,&quot;foreColorIndex&quot;:6,&quot;pos&quot;:0,&quot;transparency&quot;:0}],&quot;type&quot;:3},&quot;glow&quot;:{&quot;colorType&quot;:0},&quot;line&quot;:{&quot;type&quot;:0},&quot;shadow&quot;:{&quot;brightness&quot;:0,&quot;colorType&quot;:1,&quot;foreColorIndex&quot;:6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i*1_2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6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i*1_3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7"/>
  <p:tag name="KSO_WM_UNIT_FILL_FORE_SCHEMECOLOR_INDEX_BRIGHTNESS" val="0"/>
  <p:tag name="KSO_WM_DIAGRAM_USE_COLOR_VALUE" val="{&quot;color_scheme&quot;:1,&quot;color_type&quot;:1,&quot;theme_color_indexes&quot;:[5,6,5,6,5,6]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ID" val="diagram20231066_2*m_h_a*1_3_1"/>
  <p:tag name="KSO_WM_TEMPLATE_CATEGORY" val="diagram"/>
  <p:tag name="KSO_WM_TEMPLATE_INDEX" val="20231066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UNIT_ISCONTENTSTITLE" val="0"/>
  <p:tag name="KSO_WM_UNIT_ISNUMDGMTITLE" val="0"/>
  <p:tag name="KSO_WM_UNIT_NOCLEAR" val="0"/>
  <p:tag name="KSO_WM_UNIT_VALUE" val="27"/>
  <p:tag name="KSO_WM_DIAGRAM_MAX_ITEMCNT" val="6"/>
  <p:tag name="KSO_WM_DIAGRAM_MIN_ITEMCNT" val="2"/>
  <p:tag name="KSO_WM_DIAGRAM_VIRTUALLY_FRAME" val="{&quot;height&quot;:373.29998779296875,&quot;left&quot;:65.96605151559416,&quot;top&quot;:0.004966733436867798,&quot;width&quot;:844.1839599609375}"/>
  <p:tag name="KSO_WM_DIAGRAM_COLOR_MATCH_VALUE" val="{&quot;shape&quot;:{&quot;fill&quot;:{&quot;gradient&quot;:[{&quot;brightness&quot;:0.4000000059604645,&quot;colorType&quot;:1,&quot;foreColorIndex&quot;:7,&quot;pos&quot;:0,&quot;transparency&quot;:0},{&quot;brightness&quot;:0,&quot;colorType&quot;:1,&quot;foreColorIndex&quot;:7,&quot;pos&quot;:0.75,&quot;transparency&quot;:0}],&quot;type&quot;:3},&quot;glow&quot;:{&quot;colorType&quot;:0},&quot;line&quot;:{&quot;type&quot;:0},&quot;shadow&quot;:{&quot;brightness&quot;:0,&quot;colorType&quot;:1,&quot;foreColorIndex&quot;:8,&quot;transparency&quot;:0.75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UNIT_PRESET_TEXT" val="添加项标题"/>
  <p:tag name="KSO_WM_UNIT_FILL_TYPE" val="3"/>
  <p:tag name="KSO_WM_UNIT_TEXT_TYPE" val="1"/>
  <p:tag name="KSO_WM_DIAGRAM_USE_COLOR_VALUE" val="{&quot;color_scheme&quot;:1,&quot;color_type&quot;:1,&quot;theme_color_indexes&quot;:[5,6,5,6,5,6]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439a5619-6ab3-48ae-aa83-57d7cfd42242}"/>
  <p:tag name="TABLE_ENDDRAG_ORIGIN_RECT" val="592*387"/>
  <p:tag name="TABLE_ENDDRAG_RECT" val="59*91*592*387"/>
</p:tagLst>
</file>

<file path=ppt/theme/theme1.xml><?xml version="1.0" encoding="utf-8"?>
<a:theme xmlns:a="http://schemas.openxmlformats.org/drawingml/2006/main" name="Office 主题​​">
  <a:themeElements>
    <a:clrScheme name="视点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just" hangingPunct="0">
          <a:lnSpc>
            <a:spcPct val="130000"/>
          </a:lnSpc>
          <a:defRPr sz="1600" spc="100" dirty="0">
            <a:solidFill>
              <a:schemeClr val="accent4">
                <a:lumMod val="20000"/>
                <a:lumOff val="80000"/>
              </a:schemeClr>
            </a:solidFill>
            <a:latin typeface="思源黑体 CN Normal" panose="020B0400000000000000" pitchFamily="34" charset="-122"/>
            <a:ea typeface="思源黑体 CN Normal" panose="020B04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2381</Words>
  <Application>Microsoft Office PowerPoint</Application>
  <PresentationFormat>宽屏</PresentationFormat>
  <Paragraphs>381</Paragraphs>
  <Slides>22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2" baseType="lpstr">
      <vt:lpstr>-apple-system</vt:lpstr>
      <vt:lpstr>D-DINExp</vt:lpstr>
      <vt:lpstr>NotoSansSC-Bold</vt:lpstr>
      <vt:lpstr>SF Pro Display</vt:lpstr>
      <vt:lpstr>等线</vt:lpstr>
      <vt:lpstr>华文楷体</vt:lpstr>
      <vt:lpstr>华文新魏</vt:lpstr>
      <vt:lpstr>华文行楷</vt:lpstr>
      <vt:lpstr>楷体</vt:lpstr>
      <vt:lpstr>思源黑体 CN Heavy</vt:lpstr>
      <vt:lpstr>思源黑体 CN Medium</vt:lpstr>
      <vt:lpstr>思源黑体 CN Normal</vt:lpstr>
      <vt:lpstr>Microsoft Yahei</vt:lpstr>
      <vt:lpstr>Microsoft Yahei</vt:lpstr>
      <vt:lpstr>Arial</vt:lpstr>
      <vt:lpstr>Calibri</vt:lpstr>
      <vt:lpstr>Calibri Light</vt:lpstr>
      <vt:lpstr>Wingdings</vt:lpstr>
      <vt:lpstr>Office 主题​​</vt:lpstr>
      <vt:lpstr>Office Theme</vt:lpstr>
      <vt:lpstr>PowerPoint 演示文稿</vt:lpstr>
      <vt:lpstr>背景分析</vt:lpstr>
      <vt:lpstr>背景分析</vt:lpstr>
      <vt:lpstr>背景分析</vt:lpstr>
      <vt:lpstr>背景分析</vt:lpstr>
      <vt:lpstr>背景分析</vt:lpstr>
      <vt:lpstr>产品介绍</vt:lpstr>
      <vt:lpstr>产品介绍</vt:lpstr>
      <vt:lpstr>PowerPoint 演示文稿</vt:lpstr>
      <vt:lpstr>PowerPoint 演示文稿</vt:lpstr>
      <vt:lpstr>主效果图</vt:lpstr>
      <vt:lpstr>用户/客户（买单者）介绍</vt:lpstr>
      <vt:lpstr>市场分析</vt:lpstr>
      <vt:lpstr>竞品分析</vt:lpstr>
      <vt:lpstr>商业模式</vt:lpstr>
      <vt:lpstr>商业模式</vt:lpstr>
      <vt:lpstr>团队介绍</vt:lpstr>
      <vt:lpstr>团队介绍</vt:lpstr>
      <vt:lpstr>财务预测与融资计划</vt:lpstr>
      <vt:lpstr>财务预测与融资计划</vt:lpstr>
      <vt:lpstr>风险分析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 dy</dc:creator>
  <cp:lastModifiedBy>朝旭 魏</cp:lastModifiedBy>
  <cp:revision>184</cp:revision>
  <dcterms:created xsi:type="dcterms:W3CDTF">2024-11-07T03:24:30Z</dcterms:created>
  <dcterms:modified xsi:type="dcterms:W3CDTF">2025-11-04T10:59:29Z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21CB3FEED88CACABD0C534667F7C861A_43</vt:lpwstr>
  </property>
  <property fmtid="{D5CDD505-2E9C-101B-9397-08002B2CF9AE}" pid="3" name="KSOProductBuildVer">
    <vt:lpwstr>2052-6.7.1.8828</vt:lpwstr>
  </property>
</Properties>
</file>