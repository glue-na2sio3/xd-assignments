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9" r:id="rId3"/>
    <p:sldId id="265" r:id="rId4"/>
    <p:sldId id="266" r:id="rId5"/>
    <p:sldId id="273" r:id="rId6"/>
    <p:sldId id="267" r:id="rId7"/>
    <p:sldId id="274" r:id="rId8"/>
    <p:sldId id="292" r:id="rId9"/>
    <p:sldId id="268" r:id="rId10"/>
    <p:sldId id="278" r:id="rId11"/>
    <p:sldId id="275" r:id="rId12"/>
    <p:sldId id="324" r:id="rId13"/>
    <p:sldId id="279" r:id="rId14"/>
    <p:sldId id="276" r:id="rId15"/>
    <p:sldId id="280" r:id="rId16"/>
    <p:sldId id="281" r:id="rId17"/>
    <p:sldId id="270" r:id="rId18"/>
    <p:sldId id="287" r:id="rId19"/>
    <p:sldId id="309" r:id="rId20"/>
    <p:sldId id="271" r:id="rId21"/>
    <p:sldId id="285" r:id="rId22"/>
    <p:sldId id="272" r:id="rId23"/>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75" userDrawn="1">
          <p15:clr>
            <a:srgbClr val="A4A3A4"/>
          </p15:clr>
        </p15:guide>
        <p15:guide id="3" orient="horz" pos="231" userDrawn="1">
          <p15:clr>
            <a:srgbClr val="A4A3A4"/>
          </p15:clr>
        </p15:guide>
        <p15:guide id="4" orient="horz" pos="4088" userDrawn="1">
          <p15:clr>
            <a:srgbClr val="A4A3A4"/>
          </p15:clr>
        </p15:guide>
        <p15:guide id="5" pos="60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28" autoAdjust="0"/>
    <p:restoredTop sz="94674"/>
  </p:normalViewPr>
  <p:slideViewPr>
    <p:cSldViewPr snapToGrid="0" snapToObjects="1" showGuides="1">
      <p:cViewPr varScale="1">
        <p:scale>
          <a:sx n="82" d="100"/>
          <a:sy n="82" d="100"/>
        </p:scale>
        <p:origin x="542" y="72"/>
      </p:cViewPr>
      <p:guideLst>
        <p:guide pos="3840"/>
        <p:guide orient="horz" pos="2175"/>
        <p:guide orient="horz" pos="231"/>
        <p:guide orient="horz" pos="4088"/>
        <p:guide pos="600"/>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46.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3882314" y="1181451"/>
            <a:ext cx="4495104" cy="4495104"/>
          </a:xfrm>
          <a:prstGeom prst="ellipse">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a:fillRect/>
          </a:stretch>
        </p:blipFill>
        <p:spPr>
          <a:xfrm>
            <a:off x="952455" y="-12701"/>
            <a:ext cx="10492980" cy="685800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a:fillRect/>
          </a:stretch>
        </p:blipFill>
        <p:spPr>
          <a:xfrm>
            <a:off x="8015258" y="-12700"/>
            <a:ext cx="4189442"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a:fillRect/>
          </a:stretch>
        </p:blipFill>
        <p:spPr>
          <a:xfrm flipH="1">
            <a:off x="0" y="-12700"/>
            <a:ext cx="418944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0"/>
            <a:ext cx="4452788" cy="686281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659004" y="258233"/>
            <a:ext cx="4868117" cy="529569"/>
          </a:xfrm>
          <a:prstGeom prst="rect">
            <a:avLst/>
          </a:prstGeom>
          <a:ln w="12700" cmpd="sng">
            <a:solidFill>
              <a:schemeClr val="tx1"/>
            </a:solidFill>
          </a:ln>
        </p:spPr>
        <p:txBody>
          <a:bodyPr vert="horz" anchor="ctr"/>
          <a:lstStyle>
            <a:lvl1pPr marL="0" indent="0" algn="l">
              <a:buNone/>
              <a:defRPr sz="2400" b="1">
                <a:latin typeface="Segoe UI Light" panose="020B0502040204020203" charset="0"/>
                <a:ea typeface="Segoe UI Light" panose="020B0502040204020203" charset="0"/>
                <a:cs typeface="Segoe UI Light" panose="020B0502040204020203"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 name="文本占位符 7"/>
          <p:cNvSpPr>
            <a:spLocks noGrp="1"/>
          </p:cNvSpPr>
          <p:nvPr>
            <p:ph type="body" sz="quarter" idx="13" hasCustomPrompt="1"/>
          </p:nvPr>
        </p:nvSpPr>
        <p:spPr>
          <a:xfrm>
            <a:off x="11386592" y="171547"/>
            <a:ext cx="805408" cy="616255"/>
          </a:xfrm>
          <a:prstGeom prst="rect">
            <a:avLst/>
          </a:prstGeom>
          <a:solidFill>
            <a:schemeClr val="tx1"/>
          </a:solidFill>
        </p:spPr>
        <p:txBody>
          <a:bodyPr vert="horz" anchor="ctr"/>
          <a:lstStyle>
            <a:lvl1pPr marL="0" indent="0" algn="ctr">
              <a:buNone/>
              <a:defRPr sz="2400" b="1">
                <a:solidFill>
                  <a:srgbClr val="FFFFFF"/>
                </a:solidFill>
                <a:latin typeface="Segoe UI Light" panose="020B0502040204020203" charset="0"/>
                <a:ea typeface="Segoe UI Light" panose="020B0502040204020203" charset="0"/>
                <a:cs typeface="Segoe UI Light" panose="020B0502040204020203" charset="0"/>
              </a:defRPr>
            </a:lvl1pPr>
          </a:lstStyle>
          <a:p>
            <a:pPr lvl="0"/>
            <a:r>
              <a:rPr kumimoji="1" lang="en-US" altLang="zh-CN" dirty="0"/>
              <a:t>01</a:t>
            </a:r>
            <a:endParaRPr kumimoji="1" lang="zh-CN" altLang="en-US" dirty="0"/>
          </a:p>
        </p:txBody>
      </p:sp>
      <p:sp>
        <p:nvSpPr>
          <p:cNvPr id="4" name="图片占位符 8"/>
          <p:cNvSpPr>
            <a:spLocks noGrp="1"/>
          </p:cNvSpPr>
          <p:nvPr>
            <p:ph type="pic" sz="quarter" idx="14" hasCustomPrompt="1"/>
          </p:nvPr>
        </p:nvSpPr>
        <p:spPr>
          <a:xfrm>
            <a:off x="376768" y="5989475"/>
            <a:ext cx="1960033" cy="533400"/>
          </a:xfrm>
          <a:prstGeom prst="rect">
            <a:avLst/>
          </a:prstGeom>
        </p:spPr>
        <p:txBody>
          <a:bodyPr vert="horz" anchor="ctr"/>
          <a:lstStyle>
            <a:lvl1pPr marL="0" indent="0" algn="ctr">
              <a:buNone/>
              <a:defRPr sz="1600" b="1">
                <a:latin typeface="Segoe UI Light" panose="020B0502040204020203" charset="0"/>
                <a:ea typeface="Segoe UI Light" panose="020B0502040204020203" charset="0"/>
                <a:cs typeface="Segoe UI Light" panose="020B0502040204020203" charset="0"/>
              </a:defRPr>
            </a:lvl1pPr>
          </a:lstStyle>
          <a:p>
            <a:r>
              <a:rPr kumimoji="1" lang="en-US" altLang="zh-CN" sz="1600" b="1" dirty="0"/>
              <a:t>LOGO&amp;PIC</a:t>
            </a:r>
            <a:r>
              <a:rPr kumimoji="1" lang="zh-CN" altLang="en-US" sz="1600" b="1" dirty="0"/>
              <a:t> </a:t>
            </a:r>
            <a:r>
              <a:rPr kumimoji="1" lang="en-US" altLang="zh-CN" sz="1600" b="1" dirty="0"/>
              <a:t>HERE</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4" name="矩形 3"/>
          <p:cNvSpPr/>
          <p:nvPr userDrawn="1"/>
        </p:nvSpPr>
        <p:spPr>
          <a:xfrm>
            <a:off x="440603" y="759873"/>
            <a:ext cx="1569660" cy="369332"/>
          </a:xfrm>
          <a:prstGeom prst="rect">
            <a:avLst/>
          </a:prstGeom>
        </p:spPr>
        <p:txBody>
          <a:bodyPr wrap="none">
            <a:spAutoFit/>
          </a:bodyPr>
          <a:lstStyle/>
          <a:p>
            <a:pPr defTabSz="609600"/>
            <a:r>
              <a:rPr lang="zh-CN" altLang="en-US" sz="1800" dirty="0">
                <a:solidFill>
                  <a:schemeClr val="tx1">
                    <a:lumMod val="75000"/>
                    <a:lumOff val="25000"/>
                  </a:schemeClr>
                </a:solidFill>
                <a:latin typeface="Segoe UI Light" panose="020B0502040204020203"/>
                <a:ea typeface="微软雅黑" panose="020B0503020204020204" charset="-122"/>
                <a:cs typeface="Segoe UI Light" panose="020B0502040204020203"/>
              </a:rPr>
              <a:t>背景图片素材</a:t>
            </a:r>
            <a:endParaRPr lang="zh-CN" altLang="en-US" sz="18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5" name="矩形 4"/>
          <p:cNvSpPr/>
          <p:nvPr userDrawn="1"/>
        </p:nvSpPr>
        <p:spPr>
          <a:xfrm>
            <a:off x="440603" y="182445"/>
            <a:ext cx="777777" cy="246221"/>
          </a:xfrm>
          <a:prstGeom prst="rect">
            <a:avLst/>
          </a:prstGeom>
        </p:spPr>
        <p:txBody>
          <a:bodyPr wrap="none">
            <a:spAutoFit/>
          </a:bodyPr>
          <a:lstStyle/>
          <a:p>
            <a:pPr defTabSz="609600"/>
            <a:r>
              <a:rPr kumimoji="1" lang="en-US" altLang="zh-CN" sz="1000" dirty="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10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62361" cy="379656"/>
          </a:xfrm>
          <a:prstGeom prst="rect">
            <a:avLst/>
          </a:prstGeom>
        </p:spPr>
        <p:txBody>
          <a:bodyPr wrap="none">
            <a:spAutoFit/>
          </a:bodyPr>
          <a:lstStyle/>
          <a:p>
            <a:pPr defTabSz="609600"/>
            <a:r>
              <a:rPr lang="zh-CN" altLang="en-US" sz="1800" dirty="0">
                <a:solidFill>
                  <a:srgbClr val="FFFFFF"/>
                </a:solidFill>
                <a:latin typeface="Segoe UI Light" panose="020B0502040204020203"/>
                <a:ea typeface="微软雅黑" panose="020B0503020204020204" charset="-122"/>
                <a:cs typeface="Segoe UI Light" panose="020B0502040204020203"/>
              </a:rPr>
              <a:t>标注</a:t>
            </a:r>
            <a:endParaRPr lang="zh-CN" altLang="en-US" sz="1800" dirty="0">
              <a:solidFill>
                <a:srgbClr val="FFFFFF"/>
              </a:solidFill>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3453253"/>
          </a:xfrm>
          <a:prstGeom prst="rect">
            <a:avLst/>
          </a:prstGeom>
        </p:spPr>
        <p:txBody>
          <a:bodyPr wrap="square">
            <a:spAutoFit/>
          </a:bodyPr>
          <a:lstStyle/>
          <a:p>
            <a:pPr defTabSz="609600">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字体使用 </a:t>
            </a: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行距</a:t>
            </a: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背景图片出处</a:t>
            </a: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声明</a:t>
            </a:r>
            <a:endParaRPr lang="en-US" altLang="zh-CN" sz="1400" dirty="0">
              <a:solidFill>
                <a:srgbClr val="FFFFFF"/>
              </a:solidFill>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4239879"/>
          </a:xfrm>
          <a:prstGeom prst="rect">
            <a:avLst/>
          </a:prstGeom>
        </p:spPr>
        <p:txBody>
          <a:bodyPr wrap="square">
            <a:spAutoFit/>
          </a:bodyPr>
          <a:lstStyle/>
          <a:p>
            <a:pPr>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英文 </a:t>
            </a:r>
            <a:r>
              <a:rPr lang="en-US" altLang="zh-CN" sz="1400" dirty="0">
                <a:solidFill>
                  <a:srgbClr val="FFFFFF"/>
                </a:solidFill>
                <a:latin typeface="Segoe UI Light" panose="020B0502040204020203" charset="0"/>
                <a:ea typeface="Segoe UI Light" panose="020B0502040204020203" charset="0"/>
                <a:cs typeface="Segoe UI Light" panose="020B0502040204020203" charset="0"/>
              </a:rPr>
              <a:t>Segoe UI</a:t>
            </a:r>
            <a:endParaRPr lang="zh-CN" altLang="en-US" sz="1400" dirty="0">
              <a:solidFill>
                <a:srgbClr val="FFFFFF"/>
              </a:solidFill>
              <a:latin typeface="Segoe UI Light" panose="020B0502040204020203" charset="0"/>
              <a:ea typeface="Segoe UI Light" panose="020B0502040204020203" charset="0"/>
              <a:cs typeface="Segoe UI Light" panose="020B0502040204020203" charset="0"/>
            </a:endParaRPr>
          </a:p>
          <a:p>
            <a:pPr>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中文 微软雅黑</a:t>
            </a: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a:solidFill>
                  <a:srgbClr val="FFFFFF"/>
                </a:solidFill>
                <a:latin typeface="Segoe UI Light" panose="020B0502040204020203"/>
                <a:ea typeface="微软雅黑" panose="020B0503020204020204" charset="-122"/>
                <a:cs typeface="Segoe UI Light" panose="020B0502040204020203"/>
              </a:rPr>
              <a:t>正文 </a:t>
            </a:r>
            <a:r>
              <a:rPr lang="en-US" altLang="zh-CN" sz="1400" dirty="0">
                <a:solidFill>
                  <a:srgbClr val="FFFFFF"/>
                </a:solidFill>
                <a:latin typeface="Segoe UI Light" panose="020B0502040204020203"/>
                <a:ea typeface="微软雅黑" panose="020B0503020204020204" charset="-122"/>
                <a:cs typeface="Segoe UI Light" panose="020B0502040204020203"/>
              </a:rPr>
              <a:t>1.3</a:t>
            </a: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en-US" altLang="zh-CN" sz="1400" dirty="0" err="1">
                <a:solidFill>
                  <a:srgbClr val="FFFFFF"/>
                </a:solidFill>
                <a:latin typeface="Segoe UI Light" panose="020B0502040204020203"/>
                <a:ea typeface="微软雅黑" panose="020B0503020204020204" charset="-122"/>
                <a:cs typeface="Segoe UI Light" panose="020B0502040204020203"/>
              </a:rPr>
              <a:t>cn.bing.com</a:t>
            </a: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marL="0" marR="0" lvl="0" indent="0" algn="l" defTabSz="609600" rtl="0" eaLnBrk="1" fontAlgn="auto" latinLnBrk="0" hangingPunct="1">
              <a:lnSpc>
                <a:spcPct val="130000"/>
              </a:lnSpc>
              <a:spcBef>
                <a:spcPts val="0"/>
              </a:spcBef>
              <a:spcAft>
                <a:spcPts val="0"/>
              </a:spcAft>
              <a:buClrTx/>
              <a:buSzTx/>
              <a:buFontTx/>
              <a:buNone/>
              <a:defRPr/>
            </a:pP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本网站所提供的任何信息内容（包括但不限于 </a:t>
            </a:r>
            <a:r>
              <a:rPr kumimoji="0" lang="en-US" altLang="zh-CN" sz="1335" b="0" i="0" u="none" strike="noStrike" kern="1200" cap="none" spc="0" normalizeH="0" baseline="0" noProof="0" dirty="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PPT</a:t>
            </a:r>
            <a:r>
              <a:rPr kumimoji="0" lang="zh-CN" altLang="en-US" sz="1335" b="0" i="0" u="none" strike="noStrike" kern="1200" cap="none" spc="0" normalizeH="0" baseline="0" noProof="0" dirty="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 </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模板、</a:t>
            </a:r>
            <a:r>
              <a:rPr kumimoji="0" lang="en-US" altLang="zh-CN" sz="1335" b="0" i="0" u="none" strike="noStrike" kern="1200" cap="none" spc="0" normalizeH="0" baseline="0" noProof="0" dirty="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Word</a:t>
            </a:r>
            <a:r>
              <a:rPr kumimoji="0" lang="zh-CN" altLang="en-US" sz="1335" b="0" i="0" u="none" strike="noStrike" kern="1200" cap="none" spc="0" normalizeH="0" baseline="0" noProof="0" dirty="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 </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文档、</a:t>
            </a:r>
            <a:r>
              <a:rPr kumimoji="0" lang="en-US" altLang="zh-CN" sz="1335" b="0" i="0" u="none" strike="noStrike" kern="1200" cap="none" spc="0" normalizeH="0" baseline="0" noProof="0" dirty="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Excel</a:t>
            </a:r>
            <a:r>
              <a:rPr kumimoji="0" lang="zh-CN" altLang="en-US" sz="1335" b="0" i="0" u="none" strike="noStrike" kern="1200" cap="none" spc="0" normalizeH="0" baseline="0" noProof="0" dirty="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 </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图表、图片素材等）均受</a:t>
            </a:r>
            <a:r>
              <a:rPr kumimoji="0" lang="en-US" altLang="zh-CN"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中华人民共和国著作权法</a:t>
            </a:r>
            <a:r>
              <a:rPr kumimoji="0" lang="en-US" altLang="zh-CN"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en-US" altLang="zh-CN"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信息网络传播权保护条例</a:t>
            </a:r>
            <a:r>
              <a:rPr kumimoji="0" lang="en-US" altLang="zh-CN"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及其他适用的法律法规的保护，未经权利人书面明确授权，信息内容的任何部分</a:t>
            </a:r>
            <a:r>
              <a:rPr kumimoji="0" lang="en-US" altLang="zh-CN"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包括图片或图表</a:t>
            </a:r>
            <a:r>
              <a:rPr kumimoji="0" lang="en-US" altLang="zh-CN"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a:t>
            </a:r>
            <a:r>
              <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rPr>
              <a:t>不得被全部或部分的复制、传播、销售，否则将承担法律责任。</a:t>
            </a:r>
            <a:endParaRPr kumimoji="0" lang="zh-CN" altLang="en-US" sz="1335" b="0" i="0" u="none" strike="noStrike" kern="1200" cap="none" spc="0" normalizeH="0" baseline="0" noProof="0" dirty="0">
              <a:ln>
                <a:noFill/>
              </a:ln>
              <a:solidFill>
                <a:prstClr val="white"/>
              </a:solidFill>
              <a:effectLst/>
              <a:uLnTx/>
              <a:uFillTx/>
              <a:latin typeface="Century Gothic" panose="020B0502020202020204"/>
              <a:ea typeface="微软雅黑" panose="020B0503020204020204" charset="-122"/>
              <a:cs typeface="+mn-cs"/>
            </a:endParaRPr>
          </a:p>
        </p:txBody>
      </p:sp>
      <p:sp>
        <p:nvSpPr>
          <p:cNvPr id="13" name="矩形 12"/>
          <p:cNvSpPr/>
          <p:nvPr userDrawn="1"/>
        </p:nvSpPr>
        <p:spPr>
          <a:xfrm>
            <a:off x="440603" y="182445"/>
            <a:ext cx="777777" cy="246221"/>
          </a:xfrm>
          <a:prstGeom prst="rect">
            <a:avLst/>
          </a:prstGeom>
        </p:spPr>
        <p:txBody>
          <a:bodyPr wrap="none">
            <a:spAutoFit/>
          </a:bodyPr>
          <a:lstStyle/>
          <a:p>
            <a:pPr defTabSz="609600"/>
            <a:r>
              <a:rPr kumimoji="1" lang="en-US" altLang="zh-CN" sz="1000" dirty="0">
                <a:solidFill>
                  <a:prstClr val="white"/>
                </a:solidFill>
                <a:latin typeface="Segoe UI Light" panose="020B0502040204020203"/>
                <a:ea typeface="微软雅黑" panose="020B0503020204020204" charset="-122"/>
                <a:cs typeface="Segoe UI Light" panose="020B0502040204020203"/>
              </a:rPr>
              <a:t>OfficePLUS</a:t>
            </a:r>
            <a:endParaRPr lang="zh-CN" altLang="en-US" sz="1000" dirty="0">
              <a:solidFill>
                <a:prstClr val="white"/>
              </a:solidFill>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4.png"/><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slideLayout" Target="../slideLayouts/slideLayout6.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png"/><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4" Type="http://schemas.openxmlformats.org/officeDocument/2006/relationships/slideLayout" Target="../slideLayouts/slideLayout1.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3.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3.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3.emf"/><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4" Type="http://schemas.openxmlformats.org/officeDocument/2006/relationships/slideLayout" Target="../slideLayouts/slideLayout6.xml"/><Relationship Id="rId23" Type="http://schemas.openxmlformats.org/officeDocument/2006/relationships/tags" Target="../tags/tag45.xml"/><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image" Target="../media/image17.svg"/><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43949" y="1602609"/>
            <a:ext cx="10904102" cy="1569660"/>
          </a:xfrm>
          <a:prstGeom prst="rect">
            <a:avLst/>
          </a:prstGeom>
        </p:spPr>
        <p:txBody>
          <a:bodyPr wrap="square">
            <a:spAutoFit/>
          </a:bodyPr>
          <a:lstStyle/>
          <a:p>
            <a:pPr algn="ctr"/>
            <a:r>
              <a:rPr lang="zh-CN" altLang="en-US" sz="4800" b="1" dirty="0"/>
              <a:t>基于层次分析法和熵权</a:t>
            </a:r>
            <a:r>
              <a:rPr lang="en-US" altLang="zh-CN" sz="4800" b="1" dirty="0"/>
              <a:t>TOPSIS</a:t>
            </a:r>
            <a:r>
              <a:rPr lang="zh-CN" altLang="en-US" sz="4800" b="1" dirty="0"/>
              <a:t>对中国、法国、美国的工程教育进行分析评价</a:t>
            </a:r>
            <a:endParaRPr lang="en-US" altLang="zh-CN" sz="4800" b="1" dirty="0"/>
          </a:p>
        </p:txBody>
      </p:sp>
      <p:sp>
        <p:nvSpPr>
          <p:cNvPr id="14" name="矩形 13"/>
          <p:cNvSpPr/>
          <p:nvPr/>
        </p:nvSpPr>
        <p:spPr>
          <a:xfrm>
            <a:off x="7632640" y="4044654"/>
            <a:ext cx="2683933" cy="58420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solidFill>
                  <a:srgbClr val="000000"/>
                </a:solidFill>
              </a:rPr>
              <a:t>工程概论</a:t>
            </a:r>
            <a:r>
              <a:rPr lang="en-US" altLang="zh-CN" sz="1400" dirty="0">
                <a:solidFill>
                  <a:srgbClr val="000000"/>
                </a:solidFill>
              </a:rPr>
              <a:t>12</a:t>
            </a:r>
            <a:r>
              <a:rPr lang="zh-CN" altLang="en-US" sz="1400" dirty="0">
                <a:solidFill>
                  <a:srgbClr val="000000"/>
                </a:solidFill>
              </a:rPr>
              <a:t>组</a:t>
            </a:r>
            <a:endParaRPr lang="en-US" altLang="zh-CN" sz="1400" dirty="0">
              <a:solidFill>
                <a:srgbClr val="000000"/>
              </a:solidFill>
            </a:endParaRPr>
          </a:p>
        </p:txBody>
      </p:sp>
      <p:pic>
        <p:nvPicPr>
          <p:cNvPr id="2" name="图片 1"/>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000" fill="hold">
                                          <p:stCondLst>
                                            <p:cond delay="0"/>
                                          </p:stCondLst>
                                        </p:cTn>
                                        <p:tgtEl>
                                          <p:spTgt spid="5"/>
                                        </p:tgtEl>
                                        <p:attrNameLst>
                                          <p:attrName>style.visibility</p:attrName>
                                        </p:attrNameLst>
                                      </p:cBhvr>
                                      <p:to>
                                        <p:strVal val="visible"/>
                                      </p:to>
                                    </p:set>
                                    <p:animEffect transition="in" filter="box(in)">
                                      <p:cBhvr>
                                        <p:cTn id="7" dur="1000"/>
                                        <p:tgtEl>
                                          <p:spTgt spid="5"/>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050026" y="877398"/>
            <a:ext cx="2117687" cy="1384995"/>
          </a:xfrm>
          <a:prstGeom prst="rect">
            <a:avLst/>
          </a:prstGeom>
        </p:spPr>
        <p:txBody>
          <a:bodyPr wrap="square">
            <a:spAutoFit/>
          </a:bodyPr>
          <a:lstStyle/>
          <a:p>
            <a:pPr algn="ctr"/>
            <a:r>
              <a:rPr lang="zh-CN" altLang="en-US" sz="6000" dirty="0">
                <a:latin typeface="+mj-lt"/>
              </a:rPr>
              <a:t>目录</a:t>
            </a:r>
            <a:endParaRPr lang="en-US" altLang="zh-CN" sz="6000" dirty="0">
              <a:latin typeface="+mj-lt"/>
            </a:endParaRPr>
          </a:p>
          <a:p>
            <a:pPr algn="ctr"/>
            <a:r>
              <a:rPr lang="en-US" altLang="zh-CN" sz="2400" dirty="0">
                <a:latin typeface="+mj-lt"/>
              </a:rPr>
              <a:t>CONTENT</a:t>
            </a:r>
            <a:endParaRPr lang="en-US" altLang="zh-CN" sz="2400" dirty="0">
              <a:latin typeface="+mj-lt"/>
            </a:endParaRPr>
          </a:p>
        </p:txBody>
      </p:sp>
      <p:sp>
        <p:nvSpPr>
          <p:cNvPr id="16" name="文本框 15"/>
          <p:cNvSpPr txBox="1"/>
          <p:nvPr/>
        </p:nvSpPr>
        <p:spPr>
          <a:xfrm>
            <a:off x="616136" y="3506951"/>
            <a:ext cx="1461198" cy="452432"/>
          </a:xfrm>
          <a:prstGeom prst="rect">
            <a:avLst/>
          </a:prstGeom>
          <a:noFill/>
        </p:spPr>
        <p:txBody>
          <a:bodyPr wrap="square" rtlCol="0">
            <a:spAutoFit/>
          </a:bodyPr>
          <a:lstStyle/>
          <a:p>
            <a:pPr algn="ctr" defTabSz="609600">
              <a:lnSpc>
                <a:spcPct val="130000"/>
              </a:lnSpc>
            </a:pPr>
            <a:r>
              <a:rPr lang="en-US" altLang="zh-CN" dirty="0">
                <a:latin typeface="+mj-lt"/>
                <a:ea typeface="微软雅黑" panose="020B0503020204020204" charset="-122"/>
              </a:rPr>
              <a:t>PART</a:t>
            </a:r>
            <a:r>
              <a:rPr lang="zh-CN" altLang="en-US" dirty="0">
                <a:latin typeface="+mj-lt"/>
                <a:ea typeface="微软雅黑" panose="020B0503020204020204" charset="-122"/>
              </a:rPr>
              <a:t> </a:t>
            </a:r>
            <a:r>
              <a:rPr lang="en-US" altLang="zh-CN" dirty="0">
                <a:latin typeface="+mj-lt"/>
                <a:ea typeface="微软雅黑" panose="020B0503020204020204" charset="-122"/>
              </a:rPr>
              <a:t>ONE</a:t>
            </a:r>
            <a:endParaRPr lang="zh-CN" altLang="en-US" dirty="0">
              <a:latin typeface="+mj-lt"/>
              <a:ea typeface="微软雅黑" panose="020B0503020204020204" charset="-122"/>
            </a:endParaRPr>
          </a:p>
        </p:txBody>
      </p:sp>
      <p:sp>
        <p:nvSpPr>
          <p:cNvPr id="17" name="文本框 16"/>
          <p:cNvSpPr txBox="1"/>
          <p:nvPr/>
        </p:nvSpPr>
        <p:spPr>
          <a:xfrm>
            <a:off x="2890255" y="3480080"/>
            <a:ext cx="1587032" cy="452432"/>
          </a:xfrm>
          <a:prstGeom prst="rect">
            <a:avLst/>
          </a:prstGeom>
          <a:noFill/>
        </p:spPr>
        <p:txBody>
          <a:bodyPr wrap="square" rtlCol="0">
            <a:spAutoFit/>
          </a:bodyPr>
          <a:lstStyle/>
          <a:p>
            <a:pPr algn="ctr" defTabSz="609600">
              <a:lnSpc>
                <a:spcPct val="130000"/>
              </a:lnSpc>
            </a:pPr>
            <a:r>
              <a:rPr lang="en-US" altLang="zh-CN" dirty="0">
                <a:latin typeface="+mj-lt"/>
                <a:ea typeface="微软雅黑" panose="020B0503020204020204" charset="-122"/>
              </a:rPr>
              <a:t>PART</a:t>
            </a:r>
            <a:r>
              <a:rPr lang="zh-CN" altLang="en-US" dirty="0">
                <a:latin typeface="+mj-lt"/>
                <a:ea typeface="微软雅黑" panose="020B0503020204020204" charset="-122"/>
              </a:rPr>
              <a:t> </a:t>
            </a:r>
            <a:r>
              <a:rPr lang="en-US" altLang="zh-CN" dirty="0">
                <a:latin typeface="+mj-lt"/>
                <a:ea typeface="微软雅黑" panose="020B0503020204020204" charset="-122"/>
              </a:rPr>
              <a:t>TWO</a:t>
            </a:r>
            <a:endParaRPr lang="zh-CN" altLang="en-US" dirty="0">
              <a:latin typeface="+mj-lt"/>
              <a:ea typeface="微软雅黑" panose="020B0503020204020204" charset="-122"/>
            </a:endParaRPr>
          </a:p>
        </p:txBody>
      </p:sp>
      <p:sp>
        <p:nvSpPr>
          <p:cNvPr id="18" name="文本框 17"/>
          <p:cNvSpPr txBox="1"/>
          <p:nvPr/>
        </p:nvSpPr>
        <p:spPr>
          <a:xfrm>
            <a:off x="5131483" y="3488996"/>
            <a:ext cx="1712161" cy="452432"/>
          </a:xfrm>
          <a:prstGeom prst="rect">
            <a:avLst/>
          </a:prstGeom>
          <a:noFill/>
        </p:spPr>
        <p:txBody>
          <a:bodyPr wrap="square" rtlCol="0">
            <a:spAutoFit/>
          </a:bodyPr>
          <a:lstStyle/>
          <a:p>
            <a:pPr algn="ctr" defTabSz="609600">
              <a:lnSpc>
                <a:spcPct val="130000"/>
              </a:lnSpc>
            </a:pPr>
            <a:r>
              <a:rPr lang="en-US" altLang="zh-CN" dirty="0">
                <a:latin typeface="+mj-lt"/>
                <a:ea typeface="微软雅黑" panose="020B0503020204020204" charset="-122"/>
              </a:rPr>
              <a:t>PART</a:t>
            </a:r>
            <a:r>
              <a:rPr lang="zh-CN" altLang="en-US" dirty="0">
                <a:latin typeface="+mj-lt"/>
                <a:ea typeface="微软雅黑" panose="020B0503020204020204" charset="-122"/>
              </a:rPr>
              <a:t> </a:t>
            </a:r>
            <a:r>
              <a:rPr lang="en-US" altLang="zh-CN" dirty="0">
                <a:latin typeface="+mj-lt"/>
                <a:ea typeface="微软雅黑" panose="020B0503020204020204" charset="-122"/>
              </a:rPr>
              <a:t>THREE</a:t>
            </a:r>
            <a:endParaRPr lang="zh-CN" altLang="en-US" dirty="0">
              <a:latin typeface="+mj-lt"/>
              <a:ea typeface="微软雅黑" panose="020B0503020204020204" charset="-122"/>
            </a:endParaRPr>
          </a:p>
        </p:txBody>
      </p:sp>
      <p:sp>
        <p:nvSpPr>
          <p:cNvPr id="20" name="文本框 19"/>
          <p:cNvSpPr txBox="1"/>
          <p:nvPr/>
        </p:nvSpPr>
        <p:spPr>
          <a:xfrm>
            <a:off x="7713434" y="3559652"/>
            <a:ext cx="1445347" cy="414665"/>
          </a:xfrm>
          <a:prstGeom prst="rect">
            <a:avLst/>
          </a:prstGeom>
          <a:noFill/>
        </p:spPr>
        <p:txBody>
          <a:bodyPr wrap="square" rtlCol="0">
            <a:spAutoFit/>
          </a:bodyPr>
          <a:lstStyle/>
          <a:p>
            <a:pPr algn="ctr" defTabSz="609600">
              <a:lnSpc>
                <a:spcPct val="130000"/>
              </a:lnSpc>
            </a:pPr>
            <a:r>
              <a:rPr lang="en-US" altLang="zh-CN" dirty="0">
                <a:latin typeface="+mj-lt"/>
                <a:ea typeface="微软雅黑" panose="020B0503020204020204" charset="-122"/>
              </a:rPr>
              <a:t>PART FOUR</a:t>
            </a:r>
            <a:endParaRPr kumimoji="1" lang="zh-CN" altLang="en-US" dirty="0">
              <a:latin typeface="+mj-lt"/>
              <a:ea typeface="微软雅黑" panose="020B0503020204020204" charset="-122"/>
            </a:endParaRPr>
          </a:p>
        </p:txBody>
      </p:sp>
      <p:sp>
        <p:nvSpPr>
          <p:cNvPr id="21" name="文本框 20"/>
          <p:cNvSpPr txBox="1"/>
          <p:nvPr/>
        </p:nvSpPr>
        <p:spPr>
          <a:xfrm>
            <a:off x="10014530" y="3506951"/>
            <a:ext cx="1221273" cy="414665"/>
          </a:xfrm>
          <a:prstGeom prst="rect">
            <a:avLst/>
          </a:prstGeom>
          <a:noFill/>
        </p:spPr>
        <p:txBody>
          <a:bodyPr wrap="square" rtlCol="0">
            <a:spAutoFit/>
          </a:bodyPr>
          <a:lstStyle/>
          <a:p>
            <a:pPr algn="ctr" defTabSz="609600">
              <a:lnSpc>
                <a:spcPct val="130000"/>
              </a:lnSpc>
            </a:pPr>
            <a:r>
              <a:rPr lang="en-US" altLang="zh-CN" dirty="0">
                <a:latin typeface="+mj-lt"/>
                <a:ea typeface="微软雅黑" panose="020B0503020204020204" charset="-122"/>
              </a:rPr>
              <a:t>PART</a:t>
            </a:r>
            <a:r>
              <a:rPr lang="zh-CN" altLang="en-US" dirty="0">
                <a:latin typeface="+mj-lt"/>
                <a:ea typeface="微软雅黑" panose="020B0503020204020204" charset="-122"/>
              </a:rPr>
              <a:t> </a:t>
            </a:r>
            <a:r>
              <a:rPr lang="en-US" altLang="zh-CN" dirty="0">
                <a:latin typeface="+mj-lt"/>
                <a:ea typeface="微软雅黑" panose="020B0503020204020204" charset="-122"/>
              </a:rPr>
              <a:t>FIVE</a:t>
            </a:r>
            <a:endParaRPr kumimoji="1" lang="zh-CN" altLang="en-US" dirty="0">
              <a:latin typeface="+mj-lt"/>
              <a:ea typeface="微软雅黑" panose="020B0503020204020204" charset="-122"/>
            </a:endParaRPr>
          </a:p>
        </p:txBody>
      </p:sp>
      <p:sp>
        <p:nvSpPr>
          <p:cNvPr id="22" name="文本框 21"/>
          <p:cNvSpPr txBox="1"/>
          <p:nvPr/>
        </p:nvSpPr>
        <p:spPr>
          <a:xfrm>
            <a:off x="470836" y="2262399"/>
            <a:ext cx="1751798" cy="1990740"/>
          </a:xfrm>
          <a:prstGeom prst="rect">
            <a:avLst/>
          </a:prstGeom>
          <a:noFill/>
        </p:spPr>
        <p:txBody>
          <a:bodyPr wrap="square" rtlCol="0">
            <a:noAutofit/>
          </a:bodyPr>
          <a:lstStyle/>
          <a:p>
            <a:pPr algn="ctr" defTabSz="609600">
              <a:lnSpc>
                <a:spcPct val="130000"/>
              </a:lnSpc>
            </a:pPr>
            <a:r>
              <a:rPr lang="zh-CN" altLang="en-US" sz="2800" b="1" dirty="0">
                <a:latin typeface="+mj-lt"/>
                <a:ea typeface="微软雅黑" panose="020B0503020204020204" charset="-122"/>
              </a:rPr>
              <a:t>论文引言</a:t>
            </a:r>
            <a:endParaRPr lang="zh-CN" altLang="en-US" sz="2800" b="1" dirty="0">
              <a:latin typeface="+mj-lt"/>
              <a:ea typeface="微软雅黑" panose="020B0503020204020204" charset="-122"/>
            </a:endParaRPr>
          </a:p>
          <a:p>
            <a:pPr algn="ctr" defTabSz="609600">
              <a:lnSpc>
                <a:spcPct val="130000"/>
              </a:lnSpc>
            </a:pPr>
            <a:r>
              <a:rPr lang="zh-CN" altLang="en-US" sz="2800" b="1" dirty="0">
                <a:latin typeface="+mj-lt"/>
                <a:ea typeface="微软雅黑" panose="020B0503020204020204" charset="-122"/>
              </a:rPr>
              <a:t>问题介绍</a:t>
            </a:r>
            <a:endParaRPr lang="zh-CN" altLang="en-US" sz="2800" b="1" dirty="0">
              <a:latin typeface="+mj-lt"/>
              <a:ea typeface="微软雅黑" panose="020B0503020204020204" charset="-122"/>
            </a:endParaRPr>
          </a:p>
        </p:txBody>
      </p:sp>
      <p:sp>
        <p:nvSpPr>
          <p:cNvPr id="23" name="文本框 22"/>
          <p:cNvSpPr txBox="1"/>
          <p:nvPr/>
        </p:nvSpPr>
        <p:spPr>
          <a:xfrm>
            <a:off x="2613333" y="2262399"/>
            <a:ext cx="2200111" cy="2523304"/>
          </a:xfrm>
          <a:prstGeom prst="rect">
            <a:avLst/>
          </a:prstGeom>
          <a:noFill/>
        </p:spPr>
        <p:txBody>
          <a:bodyPr wrap="square" rtlCol="0">
            <a:noAutofit/>
          </a:bodyPr>
          <a:lstStyle/>
          <a:p>
            <a:pPr algn="ctr" defTabSz="609600">
              <a:lnSpc>
                <a:spcPct val="130000"/>
              </a:lnSpc>
            </a:pPr>
            <a:r>
              <a:rPr lang="zh-CN" altLang="en-US" sz="2800" b="1" dirty="0">
                <a:solidFill>
                  <a:schemeClr val="tx1"/>
                </a:solidFill>
                <a:ea typeface="微软雅黑" panose="020B0503020204020204" charset="-122"/>
              </a:rPr>
              <a:t>前提假设</a:t>
            </a:r>
            <a:endParaRPr lang="zh-CN" altLang="en-US" sz="2800" b="1" dirty="0">
              <a:solidFill>
                <a:schemeClr val="tx1"/>
              </a:solidFill>
              <a:ea typeface="微软雅黑" panose="020B0503020204020204" charset="-122"/>
            </a:endParaRPr>
          </a:p>
          <a:p>
            <a:pPr algn="ctr" defTabSz="609600">
              <a:lnSpc>
                <a:spcPct val="130000"/>
              </a:lnSpc>
            </a:pPr>
            <a:r>
              <a:rPr lang="zh-CN" altLang="en-US" sz="2800" b="1" dirty="0">
                <a:solidFill>
                  <a:schemeClr val="tx1"/>
                </a:solidFill>
                <a:ea typeface="微软雅黑" panose="020B0503020204020204" charset="-122"/>
              </a:rPr>
              <a:t>符号说明</a:t>
            </a:r>
            <a:endParaRPr lang="zh-CN" altLang="en-US" sz="2800" b="1" dirty="0">
              <a:solidFill>
                <a:schemeClr val="tx1"/>
              </a:solidFill>
              <a:ea typeface="微软雅黑" panose="020B0503020204020204" charset="-122"/>
            </a:endParaRPr>
          </a:p>
        </p:txBody>
      </p:sp>
      <p:sp>
        <p:nvSpPr>
          <p:cNvPr id="24" name="文本框 23"/>
          <p:cNvSpPr txBox="1"/>
          <p:nvPr/>
        </p:nvSpPr>
        <p:spPr>
          <a:xfrm>
            <a:off x="5107124" y="2262399"/>
            <a:ext cx="1960880" cy="1972785"/>
          </a:xfrm>
          <a:prstGeom prst="rect">
            <a:avLst/>
          </a:prstGeom>
          <a:noFill/>
        </p:spPr>
        <p:txBody>
          <a:bodyPr wrap="square" rtlCol="0">
            <a:noAutofit/>
          </a:bodyPr>
          <a:lstStyle/>
          <a:p>
            <a:pPr algn="ctr" defTabSz="609600">
              <a:lnSpc>
                <a:spcPct val="130000"/>
              </a:lnSpc>
            </a:pPr>
            <a:r>
              <a:rPr lang="zh-CN" altLang="en-US" sz="2800" b="1" dirty="0">
                <a:latin typeface="+mj-lt"/>
                <a:ea typeface="微软雅黑" panose="020B0503020204020204" charset="-122"/>
              </a:rPr>
              <a:t>思路介绍</a:t>
            </a:r>
            <a:endParaRPr lang="zh-CN" altLang="en-US" sz="2800" b="1" dirty="0">
              <a:latin typeface="+mj-lt"/>
              <a:ea typeface="微软雅黑" panose="020B0503020204020204" charset="-122"/>
            </a:endParaRPr>
          </a:p>
          <a:p>
            <a:pPr algn="ctr" defTabSz="609600">
              <a:lnSpc>
                <a:spcPct val="130000"/>
              </a:lnSpc>
            </a:pPr>
            <a:r>
              <a:rPr lang="zh-CN" altLang="en-US" sz="2800" b="1" dirty="0">
                <a:latin typeface="+mj-lt"/>
                <a:ea typeface="微软雅黑" panose="020B0503020204020204" charset="-122"/>
              </a:rPr>
              <a:t>方法实现</a:t>
            </a:r>
            <a:endParaRPr lang="zh-CN" altLang="en-US" sz="2800" b="1" dirty="0">
              <a:latin typeface="+mj-lt"/>
              <a:ea typeface="微软雅黑" panose="020B0503020204020204" charset="-122"/>
            </a:endParaRPr>
          </a:p>
        </p:txBody>
      </p:sp>
      <p:sp>
        <p:nvSpPr>
          <p:cNvPr id="26" name="文本框 25"/>
          <p:cNvSpPr txBox="1"/>
          <p:nvPr/>
        </p:nvSpPr>
        <p:spPr>
          <a:xfrm>
            <a:off x="7531436" y="2262399"/>
            <a:ext cx="1751798" cy="1982822"/>
          </a:xfrm>
          <a:prstGeom prst="rect">
            <a:avLst/>
          </a:prstGeom>
          <a:noFill/>
        </p:spPr>
        <p:txBody>
          <a:bodyPr wrap="square" rtlCol="0">
            <a:noAutofit/>
          </a:bodyPr>
          <a:lstStyle/>
          <a:p>
            <a:pPr algn="ctr" defTabSz="609600">
              <a:lnSpc>
                <a:spcPct val="130000"/>
              </a:lnSpc>
            </a:pPr>
            <a:r>
              <a:rPr lang="zh-CN" altLang="en-US" sz="2800" b="1" dirty="0">
                <a:solidFill>
                  <a:schemeClr val="tx1"/>
                </a:solidFill>
              </a:rPr>
              <a:t>研究结论</a:t>
            </a:r>
            <a:endParaRPr lang="zh-CN" altLang="en-US" sz="2800" b="1" dirty="0">
              <a:solidFill>
                <a:schemeClr val="tx1"/>
              </a:solidFill>
            </a:endParaRPr>
          </a:p>
          <a:p>
            <a:pPr algn="ctr" defTabSz="609600">
              <a:lnSpc>
                <a:spcPct val="130000"/>
              </a:lnSpc>
            </a:pPr>
            <a:r>
              <a:rPr lang="zh-CN" altLang="en-US" sz="2800" b="1" dirty="0">
                <a:solidFill>
                  <a:schemeClr val="tx1"/>
                </a:solidFill>
              </a:rPr>
              <a:t>缺陷分析</a:t>
            </a:r>
            <a:endParaRPr lang="zh-CN" altLang="en-US" sz="2800" b="1" dirty="0">
              <a:solidFill>
                <a:schemeClr val="tx1"/>
              </a:solidFill>
            </a:endParaRPr>
          </a:p>
        </p:txBody>
      </p:sp>
      <p:sp>
        <p:nvSpPr>
          <p:cNvPr id="30" name="矩形 29"/>
          <p:cNvSpPr/>
          <p:nvPr/>
        </p:nvSpPr>
        <p:spPr>
          <a:xfrm>
            <a:off x="551247" y="3982235"/>
            <a:ext cx="1638300" cy="11334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矩形 30"/>
          <p:cNvSpPr/>
          <p:nvPr/>
        </p:nvSpPr>
        <p:spPr>
          <a:xfrm>
            <a:off x="2927372" y="3955364"/>
            <a:ext cx="1638300" cy="11334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2" name="矩形 31"/>
          <p:cNvSpPr/>
          <p:nvPr/>
        </p:nvSpPr>
        <p:spPr>
          <a:xfrm>
            <a:off x="5205344" y="3964280"/>
            <a:ext cx="1638300" cy="11334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矩形 33"/>
          <p:cNvSpPr/>
          <p:nvPr/>
        </p:nvSpPr>
        <p:spPr>
          <a:xfrm>
            <a:off x="7644934" y="3974317"/>
            <a:ext cx="1638300" cy="11334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矩形 34"/>
          <p:cNvSpPr/>
          <p:nvPr/>
        </p:nvSpPr>
        <p:spPr>
          <a:xfrm>
            <a:off x="9859469" y="3982235"/>
            <a:ext cx="1638300" cy="11334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9" name="图片 28"/>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
        <p:nvSpPr>
          <p:cNvPr id="2" name="文本框 1"/>
          <p:cNvSpPr txBox="1"/>
          <p:nvPr/>
        </p:nvSpPr>
        <p:spPr>
          <a:xfrm>
            <a:off x="9749249" y="2270285"/>
            <a:ext cx="1751798" cy="1982822"/>
          </a:xfrm>
          <a:prstGeom prst="rect">
            <a:avLst/>
          </a:prstGeom>
          <a:noFill/>
        </p:spPr>
        <p:txBody>
          <a:bodyPr wrap="square" rtlCol="0">
            <a:noAutofit/>
          </a:bodyPr>
          <a:lstStyle/>
          <a:p>
            <a:pPr algn="ctr" defTabSz="609600">
              <a:lnSpc>
                <a:spcPct val="130000"/>
              </a:lnSpc>
            </a:pPr>
            <a:r>
              <a:rPr lang="zh-CN" altLang="en-US" sz="2800" b="1" dirty="0">
                <a:solidFill>
                  <a:schemeClr val="tx1"/>
                </a:solidFill>
              </a:rPr>
              <a:t>引用出处</a:t>
            </a:r>
            <a:endParaRPr lang="zh-CN" altLang="en-US" sz="2800" b="1" dirty="0">
              <a:solidFill>
                <a:schemeClr val="tx1"/>
              </a:solidFill>
            </a:endParaRPr>
          </a:p>
          <a:p>
            <a:pPr algn="ctr" defTabSz="609600">
              <a:lnSpc>
                <a:spcPct val="130000"/>
              </a:lnSpc>
            </a:pPr>
            <a:r>
              <a:rPr lang="zh-CN" altLang="en-US" sz="2800" b="1" dirty="0">
                <a:solidFill>
                  <a:schemeClr val="tx1"/>
                </a:solidFill>
              </a:rPr>
              <a:t>参考文献</a:t>
            </a:r>
            <a:endParaRPr lang="zh-CN" altLang="en-US" sz="28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linds(horizontal)">
                                      <p:cBhvr>
                                        <p:cTn id="11" dur="500"/>
                                        <p:tgtEl>
                                          <p:spTgt spid="23"/>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linds(horizontal)">
                                      <p:cBhvr>
                                        <p:cTn id="15" dur="500"/>
                                        <p:tgtEl>
                                          <p:spTgt spid="24"/>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blinds(horizontal)">
                                      <p:cBhvr>
                                        <p:cTn id="19" dur="500"/>
                                        <p:tgtEl>
                                          <p:spTgt spid="26"/>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6"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94927" y="3280457"/>
            <a:ext cx="3602146" cy="880306"/>
          </a:xfrm>
          <a:prstGeom prst="rect">
            <a:avLst/>
          </a:prstGeom>
          <a:noFill/>
        </p:spPr>
        <p:txBody>
          <a:bodyPr wrap="square" rtlCol="0">
            <a:spAutoFit/>
          </a:bodyPr>
          <a:lstStyle/>
          <a:p>
            <a:pPr algn="ctr" defTabSz="609600">
              <a:lnSpc>
                <a:spcPct val="130000"/>
              </a:lnSpc>
            </a:pPr>
            <a:r>
              <a:rPr lang="en-US" altLang="zh-CN" sz="4400" b="1" dirty="0">
                <a:latin typeface="+mj-lt"/>
                <a:ea typeface="微软雅黑" panose="020B0503020204020204" charset="-122"/>
              </a:rPr>
              <a:t>PART</a:t>
            </a:r>
            <a:r>
              <a:rPr lang="zh-CN" altLang="en-US" sz="4400" b="1" dirty="0">
                <a:latin typeface="+mj-lt"/>
                <a:ea typeface="微软雅黑" panose="020B0503020204020204" charset="-122"/>
              </a:rPr>
              <a:t> </a:t>
            </a:r>
            <a:r>
              <a:rPr lang="en-US" altLang="zh-CN" sz="4400" b="1" dirty="0">
                <a:latin typeface="+mj-lt"/>
                <a:ea typeface="微软雅黑" panose="020B0503020204020204" charset="-122"/>
              </a:rPr>
              <a:t>ONE</a:t>
            </a:r>
            <a:endParaRPr lang="zh-CN" altLang="en-US" sz="4400" b="1" dirty="0">
              <a:latin typeface="+mj-lt"/>
              <a:ea typeface="微软雅黑" panose="020B0503020204020204" charset="-122"/>
            </a:endParaRPr>
          </a:p>
        </p:txBody>
      </p:sp>
      <p:sp>
        <p:nvSpPr>
          <p:cNvPr id="3" name="文本框 2"/>
          <p:cNvSpPr txBox="1"/>
          <p:nvPr/>
        </p:nvSpPr>
        <p:spPr>
          <a:xfrm>
            <a:off x="2184335" y="2015778"/>
            <a:ext cx="7823330" cy="1939803"/>
          </a:xfrm>
          <a:prstGeom prst="rect">
            <a:avLst/>
          </a:prstGeom>
          <a:noFill/>
        </p:spPr>
        <p:txBody>
          <a:bodyPr wrap="square" rtlCol="0">
            <a:noAutofit/>
          </a:bodyPr>
          <a:lstStyle/>
          <a:p>
            <a:pPr marL="0" indent="0" algn="ctr" defTabSz="609600" rtl="0" eaLnBrk="1" latinLnBrk="0" hangingPunct="1">
              <a:lnSpc>
                <a:spcPct val="130000"/>
              </a:lnSpc>
              <a:spcBef>
                <a:spcPct val="0"/>
              </a:spcBef>
              <a:spcAft>
                <a:spcPct val="0"/>
              </a:spcAft>
              <a:buNone/>
            </a:pPr>
            <a:r>
              <a:rPr lang="zh-CN" altLang="en-US" sz="3600" dirty="0">
                <a:solidFill>
                  <a:schemeClr val="tx1"/>
                </a:solidFill>
                <a:ea typeface="微软雅黑" panose="020B0503020204020204" charset="-122"/>
              </a:rPr>
              <a:t>论文引言</a:t>
            </a:r>
            <a:endParaRPr lang="zh-CN" altLang="en-US" sz="3600" dirty="0">
              <a:solidFill>
                <a:schemeClr val="tx1"/>
              </a:solidFill>
              <a:ea typeface="微软雅黑" panose="020B0503020204020204" charset="-122"/>
            </a:endParaRPr>
          </a:p>
          <a:p>
            <a:pPr marL="0" indent="0" algn="ctr" defTabSz="609600" rtl="0" eaLnBrk="1" latinLnBrk="0" hangingPunct="1">
              <a:lnSpc>
                <a:spcPct val="130000"/>
              </a:lnSpc>
              <a:spcBef>
                <a:spcPct val="0"/>
              </a:spcBef>
              <a:spcAft>
                <a:spcPct val="0"/>
              </a:spcAft>
              <a:buNone/>
            </a:pPr>
            <a:r>
              <a:rPr lang="zh-CN" altLang="en-US" sz="3600" dirty="0">
                <a:solidFill>
                  <a:schemeClr val="tx1"/>
                </a:solidFill>
                <a:ea typeface="微软雅黑" panose="020B0503020204020204" charset="-122"/>
              </a:rPr>
              <a:t>问题介绍</a:t>
            </a:r>
            <a:endParaRPr lang="zh-CN" altLang="en-US" sz="3600" dirty="0">
              <a:solidFill>
                <a:schemeClr val="tx1"/>
              </a:solidFill>
              <a:ea typeface="微软雅黑" panose="020B0503020204020204" charset="-122"/>
            </a:endParaRPr>
          </a:p>
        </p:txBody>
      </p:sp>
      <p:sp>
        <p:nvSpPr>
          <p:cNvPr id="4" name="矩形 3"/>
          <p:cNvSpPr/>
          <p:nvPr/>
        </p:nvSpPr>
        <p:spPr>
          <a:xfrm>
            <a:off x="4889817" y="4139690"/>
            <a:ext cx="2412366" cy="11334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7" name="图片 6"/>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diamond(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userDrawn="1"/>
        </p:nvSpPr>
        <p:spPr>
          <a:xfrm>
            <a:off x="727147" y="5120343"/>
            <a:ext cx="5785488" cy="975805"/>
          </a:xfrm>
          <a:prstGeom prst="roundRect">
            <a:avLst/>
          </a:prstGeom>
          <a:solidFill>
            <a:srgbClr val="FFC000">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14" name="圆角矩形 13"/>
          <p:cNvSpPr/>
          <p:nvPr userDrawn="1"/>
        </p:nvSpPr>
        <p:spPr>
          <a:xfrm>
            <a:off x="727147" y="3316473"/>
            <a:ext cx="5785488" cy="1096700"/>
          </a:xfrm>
          <a:prstGeom prst="roundRect">
            <a:avLst/>
          </a:prstGeom>
          <a:solidFill>
            <a:srgbClr val="FFC000">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12" name="圆角矩形 11"/>
          <p:cNvSpPr/>
          <p:nvPr userDrawn="1"/>
        </p:nvSpPr>
        <p:spPr>
          <a:xfrm>
            <a:off x="727147" y="1539403"/>
            <a:ext cx="5785488" cy="1032368"/>
          </a:xfrm>
          <a:prstGeom prst="roundRect">
            <a:avLst/>
          </a:prstGeom>
          <a:solidFill>
            <a:srgbClr val="FFC000">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4" name="圆角矩形 3"/>
          <p:cNvSpPr/>
          <p:nvPr userDrawn="1"/>
        </p:nvSpPr>
        <p:spPr>
          <a:xfrm>
            <a:off x="7291764" y="1991189"/>
            <a:ext cx="3434274" cy="2974327"/>
          </a:xfrm>
          <a:prstGeom prst="roundRect">
            <a:avLst/>
          </a:prstGeom>
          <a:solidFill>
            <a:srgbClr val="FFD966">
              <a:alpha val="52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 name="矩形 1"/>
          <p:cNvSpPr/>
          <p:nvPr/>
        </p:nvSpPr>
        <p:spPr>
          <a:xfrm>
            <a:off x="129843" y="87790"/>
            <a:ext cx="2432685" cy="306705"/>
          </a:xfrm>
          <a:prstGeom prst="rect">
            <a:avLst/>
          </a:prstGeom>
        </p:spPr>
        <p:txBody>
          <a:bodyPr wrap="none">
            <a:spAutoFit/>
          </a:bodyPr>
          <a:lstStyle/>
          <a:p>
            <a:r>
              <a:rPr lang="en-US" altLang="zh-CN" sz="1400" b="1" dirty="0"/>
              <a:t>PART ONE   </a:t>
            </a:r>
            <a:r>
              <a:rPr lang="zh-CN" altLang="en-US" sz="1400" b="1" dirty="0"/>
              <a:t>引言与问题介绍</a:t>
            </a:r>
            <a:endParaRPr lang="zh-CN" altLang="en-US" sz="1400" b="1" dirty="0"/>
          </a:p>
        </p:txBody>
      </p:sp>
      <p:sp>
        <p:nvSpPr>
          <p:cNvPr id="3" name="椭圆 2"/>
          <p:cNvSpPr/>
          <p:nvPr/>
        </p:nvSpPr>
        <p:spPr>
          <a:xfrm>
            <a:off x="2562374" y="188403"/>
            <a:ext cx="104289" cy="10312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grpSp>
        <p:nvGrpSpPr>
          <p:cNvPr id="13" name="组合 12"/>
          <p:cNvGrpSpPr/>
          <p:nvPr/>
        </p:nvGrpSpPr>
        <p:grpSpPr>
          <a:xfrm>
            <a:off x="910794" y="928946"/>
            <a:ext cx="2300757" cy="509896"/>
            <a:chOff x="888096" y="1000203"/>
            <a:chExt cx="4259825" cy="944066"/>
          </a:xfrm>
        </p:grpSpPr>
        <p:sp>
          <p:nvSpPr>
            <p:cNvPr id="5" name="矩形 4"/>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椭圆 5"/>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椭圆 6"/>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椭圆 7"/>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椭圆 8"/>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7" name="矩形 16"/>
          <p:cNvSpPr/>
          <p:nvPr/>
        </p:nvSpPr>
        <p:spPr>
          <a:xfrm>
            <a:off x="1041701" y="1004322"/>
            <a:ext cx="1800493" cy="369332"/>
          </a:xfrm>
          <a:prstGeom prst="rect">
            <a:avLst/>
          </a:prstGeom>
        </p:spPr>
        <p:txBody>
          <a:bodyPr wrap="none">
            <a:spAutoFit/>
          </a:bodyPr>
          <a:lstStyle/>
          <a:p>
            <a:r>
              <a:rPr lang="zh-CN" altLang="en-US" dirty="0"/>
              <a:t>中国的工程教育</a:t>
            </a:r>
            <a:endParaRPr lang="zh-CN" altLang="en-US" dirty="0"/>
          </a:p>
        </p:txBody>
      </p:sp>
      <p:sp>
        <p:nvSpPr>
          <p:cNvPr id="18" name="矩形 17"/>
          <p:cNvSpPr/>
          <p:nvPr/>
        </p:nvSpPr>
        <p:spPr>
          <a:xfrm>
            <a:off x="727147" y="1562386"/>
            <a:ext cx="5785535" cy="988207"/>
          </a:xfrm>
          <a:prstGeom prst="rect">
            <a:avLst/>
          </a:prstGeom>
        </p:spPr>
        <p:txBody>
          <a:bodyPr wrap="square">
            <a:noAutofit/>
          </a:bodyPr>
          <a:lstStyle/>
          <a:p>
            <a:pPr>
              <a:lnSpc>
                <a:spcPct val="130000"/>
              </a:lnSpc>
            </a:pPr>
            <a:r>
              <a:rPr lang="zh-CN" altLang="en-US" sz="1600" dirty="0">
                <a:solidFill>
                  <a:srgbClr val="000000"/>
                </a:solidFill>
                <a:latin typeface="微软雅黑" panose="020B0503020204020204" charset="-122"/>
                <a:ea typeface="微软雅黑" panose="020B0503020204020204" charset="-122"/>
              </a:rPr>
              <a:t>注重培养学生的创新能力和实践能力，通过校企合作、产学研一体化等模式，为学生提供广阔的实践平台。同时，积极培养学生的国际视野和跨文化交流能力，以适应全球化时代的挑战。</a:t>
            </a:r>
            <a:endParaRPr lang="zh-CN" altLang="en-US" sz="1600" dirty="0">
              <a:solidFill>
                <a:srgbClr val="000000"/>
              </a:solidFill>
              <a:latin typeface="微软雅黑" panose="020B0503020204020204" charset="-122"/>
              <a:ea typeface="微软雅黑" panose="020B0503020204020204" charset="-122"/>
            </a:endParaRPr>
          </a:p>
        </p:txBody>
      </p:sp>
      <p:grpSp>
        <p:nvGrpSpPr>
          <p:cNvPr id="19" name="组合 18"/>
          <p:cNvGrpSpPr/>
          <p:nvPr/>
        </p:nvGrpSpPr>
        <p:grpSpPr>
          <a:xfrm>
            <a:off x="968228" y="2683260"/>
            <a:ext cx="2278387" cy="509896"/>
            <a:chOff x="888096" y="1000203"/>
            <a:chExt cx="4259825" cy="944066"/>
          </a:xfrm>
        </p:grpSpPr>
        <p:sp>
          <p:nvSpPr>
            <p:cNvPr id="20" name="矩形 19"/>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椭圆 20"/>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椭圆 21"/>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椭圆 22"/>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椭圆 23"/>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5" name="矩形 24"/>
          <p:cNvSpPr/>
          <p:nvPr/>
        </p:nvSpPr>
        <p:spPr>
          <a:xfrm>
            <a:off x="1080589" y="2756365"/>
            <a:ext cx="1800493" cy="369332"/>
          </a:xfrm>
          <a:prstGeom prst="rect">
            <a:avLst/>
          </a:prstGeom>
        </p:spPr>
        <p:txBody>
          <a:bodyPr wrap="none">
            <a:spAutoFit/>
          </a:bodyPr>
          <a:lstStyle/>
          <a:p>
            <a:r>
              <a:rPr lang="zh-CN" altLang="en-US" dirty="0"/>
              <a:t>法国的工程教育</a:t>
            </a:r>
            <a:endParaRPr lang="zh-CN" altLang="en-US" dirty="0"/>
          </a:p>
        </p:txBody>
      </p:sp>
      <p:sp>
        <p:nvSpPr>
          <p:cNvPr id="26" name="矩形 25"/>
          <p:cNvSpPr/>
          <p:nvPr/>
        </p:nvSpPr>
        <p:spPr>
          <a:xfrm>
            <a:off x="923286" y="3316443"/>
            <a:ext cx="4644459" cy="730885"/>
          </a:xfrm>
          <a:prstGeom prst="rect">
            <a:avLst/>
          </a:prstGeom>
        </p:spPr>
        <p:txBody>
          <a:bodyPr wrap="square">
            <a:noAutofit/>
          </a:bodyPr>
          <a:lstStyle/>
          <a:p>
            <a:pPr marL="0" indent="0" algn="l" defTabSz="0" rtl="0" eaLnBrk="1" latinLnBrk="0" hangingPunct="1">
              <a:lnSpc>
                <a:spcPct val="130000"/>
              </a:lnSpc>
              <a:spcBef>
                <a:spcPct val="0"/>
              </a:spcBef>
              <a:spcAft>
                <a:spcPct val="0"/>
              </a:spcAft>
              <a:buNone/>
            </a:pPr>
            <a:r>
              <a:rPr lang="zh-CN" altLang="en-US" sz="1600" dirty="0">
                <a:solidFill>
                  <a:srgbClr val="000000"/>
                </a:solidFill>
                <a:latin typeface="微软雅黑" panose="020B0503020204020204" charset="-122"/>
                <a:ea typeface="微软雅黑" panose="020B0503020204020204" charset="-122"/>
              </a:rPr>
              <a:t>强调理论与实践的紧密结合，为学生提供丰富的实验和实践机会。同时，注重培养学生的跨学科思维和创新精神，以适应快速变化的市场需求。</a:t>
            </a:r>
            <a:endParaRPr lang="zh-CN" altLang="en-US" sz="1600" dirty="0">
              <a:solidFill>
                <a:srgbClr val="000000"/>
              </a:solidFill>
              <a:latin typeface="微软雅黑" panose="020B0503020204020204" charset="-122"/>
              <a:ea typeface="微软雅黑" panose="020B0503020204020204" charset="-122"/>
            </a:endParaRPr>
          </a:p>
        </p:txBody>
      </p:sp>
      <p:grpSp>
        <p:nvGrpSpPr>
          <p:cNvPr id="27" name="组合 26"/>
          <p:cNvGrpSpPr/>
          <p:nvPr/>
        </p:nvGrpSpPr>
        <p:grpSpPr>
          <a:xfrm>
            <a:off x="968228" y="4511399"/>
            <a:ext cx="2171185" cy="509896"/>
            <a:chOff x="888096" y="1000203"/>
            <a:chExt cx="4259825" cy="944066"/>
          </a:xfrm>
        </p:grpSpPr>
        <p:sp>
          <p:nvSpPr>
            <p:cNvPr id="28" name="矩形 27"/>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9" name="椭圆 28"/>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0" name="椭圆 29"/>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椭圆 30"/>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2" name="椭圆 31"/>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33" name="矩形 32"/>
          <p:cNvSpPr/>
          <p:nvPr/>
        </p:nvSpPr>
        <p:spPr>
          <a:xfrm>
            <a:off x="1080589" y="4535884"/>
            <a:ext cx="1800493" cy="429584"/>
          </a:xfrm>
          <a:prstGeom prst="rect">
            <a:avLst/>
          </a:prstGeom>
        </p:spPr>
        <p:txBody>
          <a:bodyPr wrap="square">
            <a:noAutofit/>
          </a:bodyPr>
          <a:lstStyle/>
          <a:p>
            <a:r>
              <a:rPr lang="zh-CN" altLang="en-US" dirty="0"/>
              <a:t>美国的工程教育</a:t>
            </a:r>
            <a:endParaRPr lang="zh-CN" altLang="en-US" dirty="0"/>
          </a:p>
        </p:txBody>
      </p:sp>
      <p:sp>
        <p:nvSpPr>
          <p:cNvPr id="34" name="矩形 33"/>
          <p:cNvSpPr/>
          <p:nvPr/>
        </p:nvSpPr>
        <p:spPr>
          <a:xfrm>
            <a:off x="962153" y="5091996"/>
            <a:ext cx="4665248" cy="730885"/>
          </a:xfrm>
          <a:prstGeom prst="rect">
            <a:avLst/>
          </a:prstGeom>
        </p:spPr>
        <p:txBody>
          <a:bodyPr wrap="square">
            <a:noAutofit/>
          </a:bodyPr>
          <a:lstStyle/>
          <a:p>
            <a:pPr>
              <a:lnSpc>
                <a:spcPct val="130000"/>
              </a:lnSpc>
            </a:pPr>
            <a:r>
              <a:rPr lang="zh-CN" altLang="en-US" sz="1600" dirty="0">
                <a:solidFill>
                  <a:srgbClr val="000000"/>
                </a:solidFill>
                <a:latin typeface="微软雅黑" panose="020B0503020204020204" charset="-122"/>
                <a:ea typeface="微软雅黑" panose="020B0503020204020204" charset="-122"/>
              </a:rPr>
              <a:t>鼓励学生积极参与科研项目和实践活动，培养学生的创新能力和实践能力。同时，注重培养学生的团队合作和沟通能力，以适应复杂多变的工程环境</a:t>
            </a:r>
            <a:r>
              <a:rPr lang="zh-CN" altLang="en-US" sz="1600" dirty="0">
                <a:solidFill>
                  <a:schemeClr val="bg1">
                    <a:lumMod val="50000"/>
                  </a:schemeClr>
                </a:solidFill>
                <a:latin typeface="微软雅黑" panose="020B0503020204020204" charset="-122"/>
                <a:ea typeface="微软雅黑" panose="020B0503020204020204" charset="-122"/>
              </a:rPr>
              <a:t>。</a:t>
            </a:r>
            <a:endParaRPr lang="zh-CN" altLang="en-US" sz="1600" dirty="0">
              <a:solidFill>
                <a:schemeClr val="bg1">
                  <a:lumMod val="50000"/>
                </a:schemeClr>
              </a:solidFill>
              <a:latin typeface="微软雅黑" panose="020B0503020204020204" charset="-122"/>
              <a:ea typeface="微软雅黑" panose="020B0503020204020204" charset="-122"/>
            </a:endParaRPr>
          </a:p>
        </p:txBody>
      </p:sp>
      <p:pic>
        <p:nvPicPr>
          <p:cNvPr id="43" name="图片 42"/>
          <p:cNvPicPr>
            <a:picLocks noChangeAspect="1"/>
          </p:cNvPicPr>
          <p:nvPr/>
        </p:nvPicPr>
        <p:blipFill>
          <a:blip r:embed="rId1">
            <a:duotone>
              <a:prstClr val="black"/>
              <a:schemeClr val="tx2">
                <a:tint val="45000"/>
                <a:satMod val="400000"/>
              </a:schemeClr>
            </a:duotone>
          </a:blip>
          <a:stretch>
            <a:fillRect/>
          </a:stretch>
        </p:blipFill>
        <p:spPr>
          <a:xfrm>
            <a:off x="930238" y="6093921"/>
            <a:ext cx="2117688" cy="570755"/>
          </a:xfrm>
          <a:prstGeom prst="rect">
            <a:avLst/>
          </a:prstGeom>
        </p:spPr>
      </p:pic>
      <p:sp>
        <p:nvSpPr>
          <p:cNvPr id="10" name="右大括号 9"/>
          <p:cNvSpPr/>
          <p:nvPr userDrawn="1"/>
        </p:nvSpPr>
        <p:spPr>
          <a:xfrm>
            <a:off x="6571404" y="1057057"/>
            <a:ext cx="445302" cy="4818519"/>
          </a:xfrm>
          <a:prstGeom prst="rightBrace">
            <a:avLst>
              <a:gd name="adj1" fmla="val 80511"/>
              <a:gd name="adj2" fmla="val 50379"/>
            </a:avLst>
          </a:prstGeom>
          <a:ln w="15875" cap="flat" cmpd="sng" algn="ctr">
            <a:solidFill>
              <a:srgbClr val="000000">
                <a:alpha val="100000"/>
              </a:srgbClr>
            </a:solidFill>
            <a:prstDash val="solid"/>
            <a:miter lim="800000"/>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zh-CN" altLang="en-US">
              <a:solidFill>
                <a:srgbClr val="000000"/>
              </a:solidFill>
            </a:endParaRPr>
          </a:p>
        </p:txBody>
      </p:sp>
      <p:sp>
        <p:nvSpPr>
          <p:cNvPr id="11" name="文本框 10"/>
          <p:cNvSpPr txBox="1"/>
          <p:nvPr userDrawn="1"/>
        </p:nvSpPr>
        <p:spPr>
          <a:xfrm>
            <a:off x="7651031" y="2370120"/>
            <a:ext cx="2782042" cy="2284524"/>
          </a:xfrm>
          <a:prstGeom prst="rect">
            <a:avLst/>
          </a:prstGeom>
        </p:spPr>
        <p:txBody>
          <a:bodyPr wrap="square" rtlCol="0">
            <a:noAutofit/>
          </a:bodyPr>
          <a:lstStyle/>
          <a:p>
            <a:pPr algn="l"/>
            <a:r>
              <a:rPr lang="zh-CN" altLang="en-US"/>
              <a:t>通过对中国、法国和美国三国工程教育的对比分析，使我们更全面地了解全球工程教育的发展趋势和未来方向，为中国工程教育的改革与发展提供有益的启示和借鉴。</a:t>
            </a:r>
            <a:endParaRPr lang="zh-CN" altLang="en-US"/>
          </a:p>
        </p:txBody>
      </p:sp>
      <p:sp>
        <p:nvSpPr>
          <p:cNvPr id="16" name="文本框 15"/>
          <p:cNvSpPr txBox="1"/>
          <p:nvPr/>
        </p:nvSpPr>
        <p:spPr>
          <a:xfrm>
            <a:off x="7479030" y="2103120"/>
            <a:ext cx="3126105" cy="2673985"/>
          </a:xfrm>
          <a:prstGeom prst="rect">
            <a:avLst/>
          </a:prstGeom>
          <a:noFill/>
        </p:spPr>
        <p:txBody>
          <a:bodyPr wrap="square" rtlCol="0">
            <a:noAutofit/>
          </a:bodyPr>
          <a:p>
            <a:r>
              <a:rPr lang="zh-CN" altLang="en-US" sz="1600" b="1">
                <a:latin typeface="楷体" panose="02010609060101010101" charset="-122"/>
                <a:ea typeface="楷体" panose="02010609060101010101" charset="-122"/>
              </a:rPr>
              <a:t>工程教育作为一个复杂且多维度的系统。如何对这些方面进行科学、客观的评价，一直是工程教育领域亟待解决的问题。本研究致力于深入探讨中、法、美三国在工程教育领域所展现的独特特色与显著优势，以及中国在工程教育方面尚存的不足，以期通过借鉴外国的先进经验，推动中国工程教育的持续发展与完善。</a:t>
            </a:r>
            <a:endParaRPr lang="zh-CN" altLang="en-US" sz="1600" b="1">
              <a:latin typeface="楷体" panose="02010609060101010101" charset="-122"/>
              <a:ea typeface="楷体" panose="02010609060101010101" charset="-122"/>
            </a:endParaRPr>
          </a:p>
        </p:txBody>
      </p:sp>
      <p:sp>
        <p:nvSpPr>
          <p:cNvPr id="37" name="矩形 36"/>
          <p:cNvSpPr/>
          <p:nvPr/>
        </p:nvSpPr>
        <p:spPr>
          <a:xfrm>
            <a:off x="7651115" y="1226185"/>
            <a:ext cx="2639695" cy="854710"/>
          </a:xfrm>
          <a:prstGeom prst="rect">
            <a:avLst/>
          </a:prstGeom>
          <a:noFill/>
          <a:ln>
            <a:noFill/>
          </a:ln>
        </p:spPr>
        <p:txBody>
          <a:bodyPr wrap="none" rtlCol="0" anchor="t">
            <a:noAutofit/>
          </a:bodyPr>
          <a:p>
            <a:pPr algn="ctr"/>
            <a:r>
              <a:rPr lang="zh-CN" altLang="en-US" sz="4800"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楷体" panose="02010609060101010101" charset="-122"/>
                <a:ea typeface="楷体" panose="02010609060101010101" charset="-122"/>
              </a:rPr>
              <a:t>提出问题</a:t>
            </a:r>
            <a:endParaRPr lang="zh-CN" altLang="en-US" sz="4800"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楷体" panose="02010609060101010101" charset="-122"/>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nodeType="clickEffect">
                                  <p:stCondLst>
                                    <p:cond delay="0"/>
                                  </p:stCondLst>
                                  <p:childTnLst>
                                    <p:set>
                                      <p:cBhvr>
                                        <p:cTn id="6" dur="1000">
                                          <p:stCondLst>
                                            <p:cond delay="0"/>
                                          </p:stCondLst>
                                        </p:cTn>
                                        <p:tgtEl>
                                          <p:spTgt spid="13"/>
                                        </p:tgtEl>
                                        <p:attrNameLst>
                                          <p:attrName>style.visibility</p:attrName>
                                        </p:attrNameLst>
                                      </p:cBhvr>
                                      <p:to>
                                        <p:strVal val="visible"/>
                                      </p:to>
                                    </p:set>
                                  </p:childTnLst>
                                </p:cTn>
                              </p:par>
                              <p:par>
                                <p:cTn id="7" presetID="12" presetClass="entr" presetSubtype="4"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p:tgtEl>
                                          <p:spTgt spid="12"/>
                                        </p:tgtEl>
                                        <p:attrNameLst>
                                          <p:attrName>ppt_y</p:attrName>
                                        </p:attrNameLst>
                                      </p:cBhvr>
                                      <p:tavLst>
                                        <p:tav tm="0">
                                          <p:val>
                                            <p:strVal val="#ppt_y+#ppt_h*1.125000"/>
                                          </p:val>
                                        </p:tav>
                                        <p:tav tm="100000">
                                          <p:val>
                                            <p:strVal val="#ppt_y"/>
                                          </p:val>
                                        </p:tav>
                                      </p:tavLst>
                                    </p:anim>
                                    <p:animEffect transition="in" filter="wipe(up)">
                                      <p:cBhvr>
                                        <p:cTn id="10" dur="500"/>
                                        <p:tgtEl>
                                          <p:spTgt spid="12"/>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p:tgtEl>
                                          <p:spTgt spid="18"/>
                                        </p:tgtEl>
                                        <p:attrNameLst>
                                          <p:attrName>ppt_y</p:attrName>
                                        </p:attrNameLst>
                                      </p:cBhvr>
                                      <p:tavLst>
                                        <p:tav tm="0">
                                          <p:val>
                                            <p:strVal val="#ppt_y+#ppt_h*1.125000"/>
                                          </p:val>
                                        </p:tav>
                                        <p:tav tm="100000">
                                          <p:val>
                                            <p:strVal val="#ppt_y"/>
                                          </p:val>
                                        </p:tav>
                                      </p:tavLst>
                                    </p:anim>
                                    <p:animEffect transition="in" filter="wipe(up)">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11" presetClass="entr" presetSubtype="0" fill="hold" nodeType="clickEffect">
                                  <p:stCondLst>
                                    <p:cond delay="0"/>
                                  </p:stCondLst>
                                  <p:childTnLst>
                                    <p:set>
                                      <p:cBhvr>
                                        <p:cTn id="18" dur="1000">
                                          <p:stCondLst>
                                            <p:cond delay="0"/>
                                          </p:stCondLst>
                                        </p:cTn>
                                        <p:tgtEl>
                                          <p:spTgt spid="19"/>
                                        </p:tgtEl>
                                        <p:attrNameLst>
                                          <p:attrName>style.visibility</p:attrName>
                                        </p:attrNameLst>
                                      </p:cBhvr>
                                      <p:to>
                                        <p:strVal val="visible"/>
                                      </p:to>
                                    </p:set>
                                  </p:childTnLst>
                                </p:cTn>
                              </p:par>
                              <p:par>
                                <p:cTn id="19" presetID="1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p:tgtEl>
                                          <p:spTgt spid="14"/>
                                        </p:tgtEl>
                                        <p:attrNameLst>
                                          <p:attrName>ppt_y</p:attrName>
                                        </p:attrNameLst>
                                      </p:cBhvr>
                                      <p:tavLst>
                                        <p:tav tm="0">
                                          <p:val>
                                            <p:strVal val="#ppt_y+#ppt_h*1.125000"/>
                                          </p:val>
                                        </p:tav>
                                        <p:tav tm="100000">
                                          <p:val>
                                            <p:strVal val="#ppt_y"/>
                                          </p:val>
                                        </p:tav>
                                      </p:tavLst>
                                    </p:anim>
                                    <p:animEffect transition="in" filter="wipe(up)">
                                      <p:cBhvr>
                                        <p:cTn id="22" dur="500"/>
                                        <p:tgtEl>
                                          <p:spTgt spid="14"/>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p:tgtEl>
                                          <p:spTgt spid="26"/>
                                        </p:tgtEl>
                                        <p:attrNameLst>
                                          <p:attrName>ppt_y</p:attrName>
                                        </p:attrNameLst>
                                      </p:cBhvr>
                                      <p:tavLst>
                                        <p:tav tm="0">
                                          <p:val>
                                            <p:strVal val="#ppt_y+#ppt_h*1.125000"/>
                                          </p:val>
                                        </p:tav>
                                        <p:tav tm="100000">
                                          <p:val>
                                            <p:strVal val="#ppt_y"/>
                                          </p:val>
                                        </p:tav>
                                      </p:tavLst>
                                    </p:anim>
                                    <p:animEffect transition="in" filter="wipe(up)">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1" presetClass="entr" presetSubtype="0" fill="hold" nodeType="clickEffect">
                                  <p:stCondLst>
                                    <p:cond delay="0"/>
                                  </p:stCondLst>
                                  <p:childTnLst>
                                    <p:set>
                                      <p:cBhvr>
                                        <p:cTn id="30" dur="1000">
                                          <p:stCondLst>
                                            <p:cond delay="0"/>
                                          </p:stCondLst>
                                        </p:cTn>
                                        <p:tgtEl>
                                          <p:spTgt spid="27"/>
                                        </p:tgtEl>
                                        <p:attrNameLst>
                                          <p:attrName>style.visibility</p:attrName>
                                        </p:attrNameLst>
                                      </p:cBhvr>
                                      <p:to>
                                        <p:strVal val="visible"/>
                                      </p:to>
                                    </p:set>
                                  </p:childTnLst>
                                </p:cTn>
                              </p:par>
                              <p:par>
                                <p:cTn id="31" presetID="12" presetClass="entr" presetSubtype="4"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ppt_y</p:attrName>
                                        </p:attrNameLst>
                                      </p:cBhvr>
                                      <p:tavLst>
                                        <p:tav tm="0">
                                          <p:val>
                                            <p:strVal val="#ppt_y+#ppt_h*1.125000"/>
                                          </p:val>
                                        </p:tav>
                                        <p:tav tm="100000">
                                          <p:val>
                                            <p:strVal val="#ppt_y"/>
                                          </p:val>
                                        </p:tav>
                                      </p:tavLst>
                                    </p:anim>
                                    <p:animEffect transition="in" filter="wipe(up)">
                                      <p:cBhvr>
                                        <p:cTn id="34" dur="500"/>
                                        <p:tgtEl>
                                          <p:spTgt spid="15"/>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500"/>
                                        <p:tgtEl>
                                          <p:spTgt spid="34"/>
                                        </p:tgtEl>
                                        <p:attrNameLst>
                                          <p:attrName>ppt_y</p:attrName>
                                        </p:attrNameLst>
                                      </p:cBhvr>
                                      <p:tavLst>
                                        <p:tav tm="0">
                                          <p:val>
                                            <p:strVal val="#ppt_y+#ppt_h*1.125000"/>
                                          </p:val>
                                        </p:tav>
                                        <p:tav tm="100000">
                                          <p:val>
                                            <p:strVal val="#ppt_y"/>
                                          </p:val>
                                        </p:tav>
                                      </p:tavLst>
                                    </p:anim>
                                    <p:animEffect transition="in" filter="wipe(up)">
                                      <p:cBhvr>
                                        <p:cTn id="38" dur="500"/>
                                        <p:tgtEl>
                                          <p:spTgt spid="34"/>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22" presetClass="entr" presetSubtype="4"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down)">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xit" presetSubtype="10" fill="hold" grpId="0" nodeType="clickEffect">
                                  <p:stCondLst>
                                    <p:cond delay="0"/>
                                  </p:stCondLst>
                                  <p:childTnLst>
                                    <p:animEffect transition="out" filter="randombar(horizontal)">
                                      <p:cBhvr>
                                        <p:cTn id="49" dur="500"/>
                                        <p:tgtEl>
                                          <p:spTgt spid="11"/>
                                        </p:tgtEl>
                                      </p:cBhvr>
                                    </p:animEffect>
                                    <p:set>
                                      <p:cBhvr>
                                        <p:cTn id="50" dur="1" fill="hold">
                                          <p:stCondLst>
                                            <p:cond delay="499"/>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checkerboard(across)">
                                      <p:cBhvr>
                                        <p:cTn id="55" dur="500"/>
                                        <p:tgtEl>
                                          <p:spTgt spid="37"/>
                                        </p:tgtEl>
                                      </p:cBhvr>
                                    </p:animEffect>
                                  </p:childTnLst>
                                </p:cTn>
                              </p:par>
                            </p:childTnLst>
                          </p:cTn>
                        </p:par>
                        <p:par>
                          <p:cTn id="56" fill="hold">
                            <p:stCondLst>
                              <p:cond delay="500"/>
                            </p:stCondLst>
                            <p:childTnLst>
                              <p:par>
                                <p:cTn id="57" presetID="27" presetClass="entr" presetSubtype="0" fill="hold" grpId="0" nodeType="afterEffect">
                                  <p:stCondLst>
                                    <p:cond delay="0"/>
                                  </p:stCondLst>
                                  <p:iterate type="lt">
                                    <p:tmPct val="50000"/>
                                  </p:iterate>
                                  <p:childTnLst>
                                    <p:set>
                                      <p:cBhvr>
                                        <p:cTn id="58" dur="1" fill="hold">
                                          <p:stCondLst>
                                            <p:cond delay="0"/>
                                          </p:stCondLst>
                                        </p:cTn>
                                        <p:tgtEl>
                                          <p:spTgt spid="16"/>
                                        </p:tgtEl>
                                        <p:attrNameLst>
                                          <p:attrName>style.visibility</p:attrName>
                                        </p:attrNameLst>
                                      </p:cBhvr>
                                      <p:to>
                                        <p:strVal val="visible"/>
                                      </p:to>
                                    </p:set>
                                    <p:anim calcmode="discrete" valueType="clr">
                                      <p:cBhvr override="childStyle">
                                        <p:cTn id="59" dur="80"/>
                                        <p:tgtEl>
                                          <p:spTgt spid="16"/>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16"/>
                                        </p:tgtEl>
                                        <p:attrNameLst>
                                          <p:attrName>fillcolor</p:attrName>
                                        </p:attrNameLst>
                                      </p:cBhvr>
                                      <p:tavLst>
                                        <p:tav tm="0">
                                          <p:val>
                                            <p:clrVal>
                                              <a:schemeClr val="accent2"/>
                                            </p:clrVal>
                                          </p:val>
                                        </p:tav>
                                        <p:tav tm="50000">
                                          <p:val>
                                            <p:clrVal>
                                              <a:schemeClr val="hlink"/>
                                            </p:clrVal>
                                          </p:val>
                                        </p:tav>
                                      </p:tavLst>
                                    </p:anim>
                                    <p:set>
                                      <p:cBhvr>
                                        <p:cTn id="61" dur="80"/>
                                        <p:tgtEl>
                                          <p:spTgt spid="1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2" grpId="0" animBg="1"/>
      <p:bldP spid="4" grpId="0" animBg="1"/>
      <p:bldP spid="18" grpId="0"/>
      <p:bldP spid="26" grpId="0"/>
      <p:bldP spid="34" grpId="0"/>
      <p:bldP spid="10" grpId="0" animBg="1"/>
      <p:bldP spid="11" grpId="0"/>
      <p:bldP spid="11" grpId="1"/>
      <p:bldP spid="16" grpId="0"/>
      <p:bldP spid="16" grpId="1"/>
      <p:bldP spid="37" grpId="0"/>
      <p:bldP spid="3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94927" y="3280457"/>
            <a:ext cx="3602146" cy="880306"/>
          </a:xfrm>
          <a:prstGeom prst="rect">
            <a:avLst/>
          </a:prstGeom>
          <a:noFill/>
        </p:spPr>
        <p:txBody>
          <a:bodyPr wrap="square" rtlCol="0">
            <a:spAutoFit/>
          </a:bodyPr>
          <a:lstStyle/>
          <a:p>
            <a:pPr algn="ctr" defTabSz="609600">
              <a:lnSpc>
                <a:spcPct val="130000"/>
              </a:lnSpc>
            </a:pPr>
            <a:r>
              <a:rPr lang="en-US" altLang="zh-CN" sz="4400" b="1" dirty="0">
                <a:latin typeface="+mj-lt"/>
                <a:ea typeface="微软雅黑" panose="020B0503020204020204" charset="-122"/>
              </a:rPr>
              <a:t>PART TWO</a:t>
            </a:r>
            <a:endParaRPr lang="en-US" altLang="zh-CN" sz="4400" b="1" dirty="0">
              <a:latin typeface="+mj-lt"/>
              <a:ea typeface="微软雅黑" panose="020B0503020204020204" charset="-122"/>
            </a:endParaRPr>
          </a:p>
        </p:txBody>
      </p:sp>
      <p:sp>
        <p:nvSpPr>
          <p:cNvPr id="3" name="文本框 2"/>
          <p:cNvSpPr txBox="1"/>
          <p:nvPr/>
        </p:nvSpPr>
        <p:spPr>
          <a:xfrm>
            <a:off x="775092" y="2043274"/>
            <a:ext cx="10730827" cy="1469635"/>
          </a:xfrm>
          <a:prstGeom prst="rect">
            <a:avLst/>
          </a:prstGeom>
          <a:noFill/>
        </p:spPr>
        <p:txBody>
          <a:bodyPr wrap="square" rtlCol="0">
            <a:noAutofit/>
          </a:bodyPr>
          <a:lstStyle/>
          <a:p>
            <a:pPr marL="0" indent="0" algn="ctr" defTabSz="609600" rtl="0" eaLnBrk="1" latinLnBrk="0" hangingPunct="1">
              <a:lnSpc>
                <a:spcPct val="130000"/>
              </a:lnSpc>
              <a:spcBef>
                <a:spcPct val="0"/>
              </a:spcBef>
              <a:spcAft>
                <a:spcPct val="0"/>
              </a:spcAft>
              <a:buNone/>
            </a:pPr>
            <a:r>
              <a:rPr lang="zh-CN" altLang="en-US" sz="3600" dirty="0">
                <a:solidFill>
                  <a:schemeClr val="tx1"/>
                </a:solidFill>
                <a:ea typeface="微软雅黑" panose="020B0503020204020204" charset="-122"/>
              </a:rPr>
              <a:t>前提假设</a:t>
            </a:r>
            <a:endParaRPr lang="zh-CN" altLang="en-US" sz="3600" dirty="0">
              <a:solidFill>
                <a:schemeClr val="tx1"/>
              </a:solidFill>
              <a:ea typeface="微软雅黑" panose="020B0503020204020204" charset="-122"/>
            </a:endParaRPr>
          </a:p>
          <a:p>
            <a:pPr marL="0" indent="0" algn="ctr" defTabSz="609600" rtl="0" eaLnBrk="1" latinLnBrk="0" hangingPunct="1">
              <a:lnSpc>
                <a:spcPct val="130000"/>
              </a:lnSpc>
              <a:spcBef>
                <a:spcPct val="0"/>
              </a:spcBef>
              <a:spcAft>
                <a:spcPct val="0"/>
              </a:spcAft>
              <a:buNone/>
            </a:pPr>
            <a:r>
              <a:rPr lang="zh-CN" altLang="en-US" sz="3600" dirty="0">
                <a:solidFill>
                  <a:schemeClr val="tx1"/>
                </a:solidFill>
                <a:ea typeface="微软雅黑" panose="020B0503020204020204" charset="-122"/>
              </a:rPr>
              <a:t>符号说明</a:t>
            </a:r>
            <a:endParaRPr lang="zh-CN" altLang="en-US" sz="3600" dirty="0">
              <a:solidFill>
                <a:schemeClr val="tx1"/>
              </a:solidFill>
              <a:ea typeface="微软雅黑" panose="020B0503020204020204" charset="-122"/>
            </a:endParaRPr>
          </a:p>
        </p:txBody>
      </p:sp>
      <p:sp>
        <p:nvSpPr>
          <p:cNvPr id="4" name="矩形 3"/>
          <p:cNvSpPr/>
          <p:nvPr/>
        </p:nvSpPr>
        <p:spPr>
          <a:xfrm>
            <a:off x="4889817" y="4139690"/>
            <a:ext cx="2412366" cy="11334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7" name="图片 6"/>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diamond(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1852295" cy="306705"/>
          </a:xfrm>
          <a:prstGeom prst="rect">
            <a:avLst/>
          </a:prstGeom>
        </p:spPr>
        <p:txBody>
          <a:bodyPr wrap="none">
            <a:spAutoFit/>
          </a:bodyPr>
          <a:lstStyle/>
          <a:p>
            <a:r>
              <a:rPr lang="en-US" altLang="zh-CN" sz="1400" b="1" dirty="0"/>
              <a:t>PART TWO </a:t>
            </a:r>
            <a:r>
              <a:rPr lang="zh-CN" altLang="en-US" sz="1400" b="1" dirty="0"/>
              <a:t>前提假设</a:t>
            </a:r>
            <a:endParaRPr lang="zh-CN" altLang="en-US" sz="1400" b="1" dirty="0"/>
          </a:p>
        </p:txBody>
      </p:sp>
      <p:sp>
        <p:nvSpPr>
          <p:cNvPr id="3" name="椭圆 2"/>
          <p:cNvSpPr/>
          <p:nvPr/>
        </p:nvSpPr>
        <p:spPr>
          <a:xfrm>
            <a:off x="1757150" y="157740"/>
            <a:ext cx="130917" cy="11334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10" name="图片 9"/>
          <p:cNvPicPr>
            <a:picLocks noChangeAspect="1"/>
          </p:cNvPicPr>
          <p:nvPr/>
        </p:nvPicPr>
        <p:blipFill>
          <a:blip r:embed="rId1">
            <a:duotone>
              <a:prstClr val="black"/>
              <a:schemeClr val="tx2">
                <a:tint val="45000"/>
                <a:satMod val="400000"/>
              </a:schemeClr>
            </a:duotone>
          </a:blip>
          <a:stretch>
            <a:fillRect/>
          </a:stretch>
        </p:blipFill>
        <p:spPr>
          <a:xfrm>
            <a:off x="930238" y="6093921"/>
            <a:ext cx="2117688" cy="570755"/>
          </a:xfrm>
          <a:prstGeom prst="rect">
            <a:avLst/>
          </a:prstGeom>
        </p:spPr>
      </p:pic>
      <p:sp>
        <p:nvSpPr>
          <p:cNvPr id="55" name="任意多边形 54"/>
          <p:cNvSpPr/>
          <p:nvPr>
            <p:custDataLst>
              <p:tags r:id="rId2"/>
            </p:custDataLst>
          </p:nvPr>
        </p:nvSpPr>
        <p:spPr>
          <a:xfrm rot="19800000">
            <a:off x="2388672" y="4121802"/>
            <a:ext cx="860370" cy="528512"/>
          </a:xfrm>
          <a:custGeom>
            <a:avLst/>
            <a:gdLst>
              <a:gd name="connsiteX0" fmla="*/ 444500 w 889000"/>
              <a:gd name="connsiteY0" fmla="*/ 0 h 546100"/>
              <a:gd name="connsiteX1" fmla="*/ 889000 w 889000"/>
              <a:gd name="connsiteY1" fmla="*/ 444500 h 546100"/>
              <a:gd name="connsiteX2" fmla="*/ 879969 w 889000"/>
              <a:gd name="connsiteY2" fmla="*/ 534082 h 546100"/>
              <a:gd name="connsiteX3" fmla="*/ 876239 w 889000"/>
              <a:gd name="connsiteY3" fmla="*/ 546100 h 546100"/>
              <a:gd name="connsiteX4" fmla="*/ 12761 w 889000"/>
              <a:gd name="connsiteY4" fmla="*/ 546100 h 546100"/>
              <a:gd name="connsiteX5" fmla="*/ 9031 w 889000"/>
              <a:gd name="connsiteY5" fmla="*/ 534082 h 546100"/>
              <a:gd name="connsiteX6" fmla="*/ 0 w 889000"/>
              <a:gd name="connsiteY6" fmla="*/ 444500 h 546100"/>
              <a:gd name="connsiteX7" fmla="*/ 444500 w 889000"/>
              <a:gd name="connsiteY7"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0" h="546100">
                <a:moveTo>
                  <a:pt x="444500" y="0"/>
                </a:moveTo>
                <a:cubicBezTo>
                  <a:pt x="689991" y="0"/>
                  <a:pt x="889000" y="199009"/>
                  <a:pt x="889000" y="444500"/>
                </a:cubicBezTo>
                <a:cubicBezTo>
                  <a:pt x="889000" y="475186"/>
                  <a:pt x="885891" y="505147"/>
                  <a:pt x="879969" y="534082"/>
                </a:cubicBezTo>
                <a:lnTo>
                  <a:pt x="876239" y="546100"/>
                </a:lnTo>
                <a:lnTo>
                  <a:pt x="12761" y="546100"/>
                </a:lnTo>
                <a:lnTo>
                  <a:pt x="9031" y="534082"/>
                </a:lnTo>
                <a:cubicBezTo>
                  <a:pt x="3110" y="505147"/>
                  <a:pt x="0" y="475186"/>
                  <a:pt x="0" y="444500"/>
                </a:cubicBezTo>
                <a:cubicBezTo>
                  <a:pt x="0" y="199009"/>
                  <a:pt x="199009" y="0"/>
                  <a:pt x="444500" y="0"/>
                </a:cubicBezTo>
                <a:close/>
              </a:path>
            </a:pathLst>
          </a:custGeom>
          <a:solidFill>
            <a:srgbClr val="70BDAF"/>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spc="150" dirty="0" err="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pic>
        <p:nvPicPr>
          <p:cNvPr id="56" name="图片 55"/>
          <p:cNvPicPr>
            <a:picLocks noChangeAspect="1"/>
          </p:cNvPicPr>
          <p:nvPr>
            <p:custDataLst>
              <p:tags r:id="rId3"/>
            </p:custDataLst>
          </p:nvPr>
        </p:nvPicPr>
        <p:blipFill>
          <a:blip r:embed="rId4"/>
          <a:srcRect/>
          <a:stretch>
            <a:fillRect/>
          </a:stretch>
        </p:blipFill>
        <p:spPr>
          <a:xfrm rot="14400000" flipV="1">
            <a:off x="2906499" y="4066616"/>
            <a:ext cx="59313" cy="1045219"/>
          </a:xfrm>
          <a:custGeom>
            <a:avLst/>
            <a:gdLst>
              <a:gd name="connsiteX0" fmla="*/ 0 w 4806245"/>
              <a:gd name="connsiteY0" fmla="*/ 0 h 9705673"/>
              <a:gd name="connsiteX1" fmla="*/ 4806245 w 4806245"/>
              <a:gd name="connsiteY1" fmla="*/ 0 h 9705673"/>
              <a:gd name="connsiteX2" fmla="*/ 4806245 w 4806245"/>
              <a:gd name="connsiteY2" fmla="*/ 9705673 h 9705673"/>
              <a:gd name="connsiteX3" fmla="*/ 0 w 4806245"/>
              <a:gd name="connsiteY3" fmla="*/ 9705673 h 9705673"/>
            </a:gdLst>
            <a:ahLst/>
            <a:cxnLst>
              <a:cxn ang="0">
                <a:pos x="connsiteX0" y="connsiteY0"/>
              </a:cxn>
              <a:cxn ang="0">
                <a:pos x="connsiteX1" y="connsiteY1"/>
              </a:cxn>
              <a:cxn ang="0">
                <a:pos x="connsiteX2" y="connsiteY2"/>
              </a:cxn>
              <a:cxn ang="0">
                <a:pos x="connsiteX3" y="connsiteY3"/>
              </a:cxn>
            </a:cxnLst>
            <a:rect l="l" t="t" r="r" b="b"/>
            <a:pathLst>
              <a:path w="4806245" h="9705673">
                <a:moveTo>
                  <a:pt x="0" y="0"/>
                </a:moveTo>
                <a:lnTo>
                  <a:pt x="4806245" y="0"/>
                </a:lnTo>
                <a:lnTo>
                  <a:pt x="4806245" y="9705673"/>
                </a:lnTo>
                <a:lnTo>
                  <a:pt x="0" y="9705673"/>
                </a:lnTo>
                <a:close/>
              </a:path>
            </a:pathLst>
          </a:custGeom>
        </p:spPr>
      </p:pic>
      <p:sp>
        <p:nvSpPr>
          <p:cNvPr id="57" name="矩形 56"/>
          <p:cNvSpPr/>
          <p:nvPr>
            <p:custDataLst>
              <p:tags r:id="rId5"/>
            </p:custDataLst>
          </p:nvPr>
        </p:nvSpPr>
        <p:spPr>
          <a:xfrm>
            <a:off x="3403577" y="4454943"/>
            <a:ext cx="2623900" cy="1210178"/>
          </a:xfrm>
          <a:prstGeom prst="rect">
            <a:avLst/>
          </a:prstGeom>
        </p:spPr>
        <p:txBody>
          <a:bodyPr wrap="square" anchor="t" anchorCtr="0">
            <a:normAutofit fontScale="92500"/>
          </a:bodyPr>
          <a:lstStyle/>
          <a:p>
            <a:pPr>
              <a:lnSpc>
                <a:spcPct val="120000"/>
              </a:lnSpc>
            </a:pPr>
            <a:r>
              <a:rPr lang="zh-CN" altLang="en-US" sz="1400" kern="0" spc="150" dirty="0">
                <a:latin typeface="Arial" panose="020B0604020202020204" pitchFamily="34" charset="0"/>
                <a:ea typeface="微软雅黑" panose="020B0503020204020204" charset="-122"/>
                <a:sym typeface="Arial" panose="020B0604020202020204" pitchFamily="34" charset="0"/>
              </a:rPr>
              <a:t>评价标准假设：假设各大学在工程教育方面的评价标准和方法在一定程度上是一致的，这样可以确保比较结果的公正性和准确性。</a:t>
            </a:r>
            <a:endParaRPr lang="zh-CN" altLang="en-US" sz="1400" kern="0" spc="150" dirty="0">
              <a:latin typeface="Arial" panose="020B0604020202020204" pitchFamily="34" charset="0"/>
              <a:ea typeface="微软雅黑" panose="020B0503020204020204" charset="-122"/>
              <a:sym typeface="Arial" panose="020B0604020202020204" pitchFamily="34" charset="0"/>
            </a:endParaRPr>
          </a:p>
        </p:txBody>
      </p:sp>
      <p:sp>
        <p:nvSpPr>
          <p:cNvPr id="58" name="任意多边形 57"/>
          <p:cNvSpPr/>
          <p:nvPr>
            <p:custDataLst>
              <p:tags r:id="rId6"/>
            </p:custDataLst>
          </p:nvPr>
        </p:nvSpPr>
        <p:spPr>
          <a:xfrm rot="19800000">
            <a:off x="440906" y="2357088"/>
            <a:ext cx="860370" cy="528512"/>
          </a:xfrm>
          <a:custGeom>
            <a:avLst/>
            <a:gdLst>
              <a:gd name="connsiteX0" fmla="*/ 444500 w 889000"/>
              <a:gd name="connsiteY0" fmla="*/ 0 h 546100"/>
              <a:gd name="connsiteX1" fmla="*/ 889000 w 889000"/>
              <a:gd name="connsiteY1" fmla="*/ 444500 h 546100"/>
              <a:gd name="connsiteX2" fmla="*/ 879969 w 889000"/>
              <a:gd name="connsiteY2" fmla="*/ 534082 h 546100"/>
              <a:gd name="connsiteX3" fmla="*/ 876239 w 889000"/>
              <a:gd name="connsiteY3" fmla="*/ 546100 h 546100"/>
              <a:gd name="connsiteX4" fmla="*/ 12761 w 889000"/>
              <a:gd name="connsiteY4" fmla="*/ 546100 h 546100"/>
              <a:gd name="connsiteX5" fmla="*/ 9031 w 889000"/>
              <a:gd name="connsiteY5" fmla="*/ 534082 h 546100"/>
              <a:gd name="connsiteX6" fmla="*/ 0 w 889000"/>
              <a:gd name="connsiteY6" fmla="*/ 444500 h 546100"/>
              <a:gd name="connsiteX7" fmla="*/ 444500 w 889000"/>
              <a:gd name="connsiteY7"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0" h="546100">
                <a:moveTo>
                  <a:pt x="444500" y="0"/>
                </a:moveTo>
                <a:cubicBezTo>
                  <a:pt x="689991" y="0"/>
                  <a:pt x="889000" y="199009"/>
                  <a:pt x="889000" y="444500"/>
                </a:cubicBezTo>
                <a:cubicBezTo>
                  <a:pt x="889000" y="475186"/>
                  <a:pt x="885891" y="505147"/>
                  <a:pt x="879969" y="534082"/>
                </a:cubicBezTo>
                <a:lnTo>
                  <a:pt x="876239" y="546100"/>
                </a:lnTo>
                <a:lnTo>
                  <a:pt x="12761" y="546100"/>
                </a:lnTo>
                <a:lnTo>
                  <a:pt x="9031" y="534082"/>
                </a:lnTo>
                <a:cubicBezTo>
                  <a:pt x="3110" y="505147"/>
                  <a:pt x="0" y="475186"/>
                  <a:pt x="0" y="444500"/>
                </a:cubicBezTo>
                <a:cubicBezTo>
                  <a:pt x="0" y="199009"/>
                  <a:pt x="199009" y="0"/>
                  <a:pt x="444500" y="0"/>
                </a:cubicBezTo>
                <a:close/>
              </a:path>
            </a:pathLst>
          </a:custGeom>
          <a:solidFill>
            <a:srgbClr val="6AA8DD"/>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spc="150" dirty="0" err="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pic>
        <p:nvPicPr>
          <p:cNvPr id="59" name="图片 58"/>
          <p:cNvPicPr>
            <a:picLocks noChangeAspect="1"/>
          </p:cNvPicPr>
          <p:nvPr>
            <p:custDataLst>
              <p:tags r:id="rId7"/>
            </p:custDataLst>
          </p:nvPr>
        </p:nvPicPr>
        <p:blipFill>
          <a:blip r:embed="rId4"/>
          <a:srcRect/>
          <a:stretch>
            <a:fillRect/>
          </a:stretch>
        </p:blipFill>
        <p:spPr>
          <a:xfrm rot="14400000" flipV="1">
            <a:off x="952989" y="2408464"/>
            <a:ext cx="59313" cy="1045219"/>
          </a:xfrm>
          <a:custGeom>
            <a:avLst/>
            <a:gdLst>
              <a:gd name="connsiteX0" fmla="*/ 0 w 4806245"/>
              <a:gd name="connsiteY0" fmla="*/ 0 h 9705673"/>
              <a:gd name="connsiteX1" fmla="*/ 4806245 w 4806245"/>
              <a:gd name="connsiteY1" fmla="*/ 0 h 9705673"/>
              <a:gd name="connsiteX2" fmla="*/ 4806245 w 4806245"/>
              <a:gd name="connsiteY2" fmla="*/ 9705673 h 9705673"/>
              <a:gd name="connsiteX3" fmla="*/ 0 w 4806245"/>
              <a:gd name="connsiteY3" fmla="*/ 9705673 h 9705673"/>
            </a:gdLst>
            <a:ahLst/>
            <a:cxnLst>
              <a:cxn ang="0">
                <a:pos x="connsiteX0" y="connsiteY0"/>
              </a:cxn>
              <a:cxn ang="0">
                <a:pos x="connsiteX1" y="connsiteY1"/>
              </a:cxn>
              <a:cxn ang="0">
                <a:pos x="connsiteX2" y="connsiteY2"/>
              </a:cxn>
              <a:cxn ang="0">
                <a:pos x="connsiteX3" y="connsiteY3"/>
              </a:cxn>
            </a:cxnLst>
            <a:rect l="l" t="t" r="r" b="b"/>
            <a:pathLst>
              <a:path w="4806245" h="9705673">
                <a:moveTo>
                  <a:pt x="0" y="0"/>
                </a:moveTo>
                <a:lnTo>
                  <a:pt x="4806245" y="0"/>
                </a:lnTo>
                <a:lnTo>
                  <a:pt x="4806245" y="9705673"/>
                </a:lnTo>
                <a:lnTo>
                  <a:pt x="0" y="9705673"/>
                </a:lnTo>
                <a:close/>
              </a:path>
            </a:pathLst>
          </a:custGeom>
        </p:spPr>
      </p:pic>
      <p:sp>
        <p:nvSpPr>
          <p:cNvPr id="60" name="矩形 59"/>
          <p:cNvSpPr/>
          <p:nvPr>
            <p:custDataLst>
              <p:tags r:id="rId8"/>
            </p:custDataLst>
          </p:nvPr>
        </p:nvSpPr>
        <p:spPr>
          <a:xfrm>
            <a:off x="1178074" y="2644086"/>
            <a:ext cx="2623900" cy="1210178"/>
          </a:xfrm>
          <a:prstGeom prst="rect">
            <a:avLst/>
          </a:prstGeom>
        </p:spPr>
        <p:txBody>
          <a:bodyPr wrap="square" anchor="t" anchorCtr="0">
            <a:normAutofit/>
          </a:bodyPr>
          <a:lstStyle/>
          <a:p>
            <a:pPr>
              <a:lnSpc>
                <a:spcPct val="120000"/>
              </a:lnSpc>
            </a:pPr>
            <a:r>
              <a:rPr lang="zh-CN" altLang="en-US" sz="1400" kern="0" spc="150" dirty="0">
                <a:latin typeface="Arial" panose="020B0604020202020204" pitchFamily="34" charset="0"/>
                <a:ea typeface="微软雅黑" panose="020B0503020204020204" charset="-122"/>
                <a:sym typeface="Arial" panose="020B0604020202020204" pitchFamily="34" charset="0"/>
              </a:rPr>
              <a:t>代表性假设：假设中国、法国和美国在各自工程教育领域顶尖的大学可以代表三国的工程教育水平。</a:t>
            </a:r>
            <a:endParaRPr lang="zh-CN" altLang="en-US" sz="1400" kern="0" spc="150" dirty="0">
              <a:latin typeface="Arial" panose="020B0604020202020204" pitchFamily="34" charset="0"/>
              <a:ea typeface="微软雅黑" panose="020B0503020204020204" charset="-122"/>
              <a:sym typeface="Arial" panose="020B0604020202020204" pitchFamily="34" charset="0"/>
            </a:endParaRPr>
          </a:p>
        </p:txBody>
      </p:sp>
      <p:sp>
        <p:nvSpPr>
          <p:cNvPr id="61" name="任意多边形 60"/>
          <p:cNvSpPr/>
          <p:nvPr>
            <p:custDataLst>
              <p:tags r:id="rId9"/>
            </p:custDataLst>
          </p:nvPr>
        </p:nvSpPr>
        <p:spPr>
          <a:xfrm rot="19800000">
            <a:off x="4416523" y="2310910"/>
            <a:ext cx="860370" cy="528512"/>
          </a:xfrm>
          <a:custGeom>
            <a:avLst/>
            <a:gdLst>
              <a:gd name="connsiteX0" fmla="*/ 444500 w 889000"/>
              <a:gd name="connsiteY0" fmla="*/ 0 h 546100"/>
              <a:gd name="connsiteX1" fmla="*/ 889000 w 889000"/>
              <a:gd name="connsiteY1" fmla="*/ 444500 h 546100"/>
              <a:gd name="connsiteX2" fmla="*/ 879969 w 889000"/>
              <a:gd name="connsiteY2" fmla="*/ 534082 h 546100"/>
              <a:gd name="connsiteX3" fmla="*/ 876239 w 889000"/>
              <a:gd name="connsiteY3" fmla="*/ 546100 h 546100"/>
              <a:gd name="connsiteX4" fmla="*/ 12761 w 889000"/>
              <a:gd name="connsiteY4" fmla="*/ 546100 h 546100"/>
              <a:gd name="connsiteX5" fmla="*/ 9031 w 889000"/>
              <a:gd name="connsiteY5" fmla="*/ 534082 h 546100"/>
              <a:gd name="connsiteX6" fmla="*/ 0 w 889000"/>
              <a:gd name="connsiteY6" fmla="*/ 444500 h 546100"/>
              <a:gd name="connsiteX7" fmla="*/ 444500 w 889000"/>
              <a:gd name="connsiteY7"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0" h="546100">
                <a:moveTo>
                  <a:pt x="444500" y="0"/>
                </a:moveTo>
                <a:cubicBezTo>
                  <a:pt x="689991" y="0"/>
                  <a:pt x="889000" y="199009"/>
                  <a:pt x="889000" y="444500"/>
                </a:cubicBezTo>
                <a:cubicBezTo>
                  <a:pt x="889000" y="475186"/>
                  <a:pt x="885891" y="505147"/>
                  <a:pt x="879969" y="534082"/>
                </a:cubicBezTo>
                <a:lnTo>
                  <a:pt x="876239" y="546100"/>
                </a:lnTo>
                <a:lnTo>
                  <a:pt x="12761" y="546100"/>
                </a:lnTo>
                <a:lnTo>
                  <a:pt x="9031" y="534082"/>
                </a:lnTo>
                <a:cubicBezTo>
                  <a:pt x="3110" y="505147"/>
                  <a:pt x="0" y="475186"/>
                  <a:pt x="0" y="444500"/>
                </a:cubicBezTo>
                <a:cubicBezTo>
                  <a:pt x="0" y="199009"/>
                  <a:pt x="199009" y="0"/>
                  <a:pt x="444500" y="0"/>
                </a:cubicBezTo>
                <a:close/>
              </a:path>
            </a:pathLst>
          </a:custGeom>
          <a:solidFill>
            <a:srgbClr val="6DB3C6"/>
          </a:solidFill>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spc="150" dirty="0" err="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pic>
        <p:nvPicPr>
          <p:cNvPr id="62" name="图片 61"/>
          <p:cNvPicPr>
            <a:picLocks noChangeAspect="1"/>
          </p:cNvPicPr>
          <p:nvPr>
            <p:custDataLst>
              <p:tags r:id="rId10"/>
            </p:custDataLst>
          </p:nvPr>
        </p:nvPicPr>
        <p:blipFill>
          <a:blip r:embed="rId4"/>
          <a:srcRect/>
          <a:stretch>
            <a:fillRect/>
          </a:stretch>
        </p:blipFill>
        <p:spPr>
          <a:xfrm rot="14400000" flipV="1">
            <a:off x="4934351" y="2255724"/>
            <a:ext cx="59313" cy="1045219"/>
          </a:xfrm>
          <a:custGeom>
            <a:avLst/>
            <a:gdLst>
              <a:gd name="connsiteX0" fmla="*/ 0 w 4806245"/>
              <a:gd name="connsiteY0" fmla="*/ 0 h 9705673"/>
              <a:gd name="connsiteX1" fmla="*/ 4806245 w 4806245"/>
              <a:gd name="connsiteY1" fmla="*/ 0 h 9705673"/>
              <a:gd name="connsiteX2" fmla="*/ 4806245 w 4806245"/>
              <a:gd name="connsiteY2" fmla="*/ 9705673 h 9705673"/>
              <a:gd name="connsiteX3" fmla="*/ 0 w 4806245"/>
              <a:gd name="connsiteY3" fmla="*/ 9705673 h 9705673"/>
            </a:gdLst>
            <a:ahLst/>
            <a:cxnLst>
              <a:cxn ang="0">
                <a:pos x="connsiteX0" y="connsiteY0"/>
              </a:cxn>
              <a:cxn ang="0">
                <a:pos x="connsiteX1" y="connsiteY1"/>
              </a:cxn>
              <a:cxn ang="0">
                <a:pos x="connsiteX2" y="connsiteY2"/>
              </a:cxn>
              <a:cxn ang="0">
                <a:pos x="connsiteX3" y="connsiteY3"/>
              </a:cxn>
            </a:cxnLst>
            <a:rect l="l" t="t" r="r" b="b"/>
            <a:pathLst>
              <a:path w="4806245" h="9705673">
                <a:moveTo>
                  <a:pt x="0" y="0"/>
                </a:moveTo>
                <a:lnTo>
                  <a:pt x="4806245" y="0"/>
                </a:lnTo>
                <a:lnTo>
                  <a:pt x="4806245" y="9705673"/>
                </a:lnTo>
                <a:lnTo>
                  <a:pt x="0" y="9705673"/>
                </a:lnTo>
                <a:close/>
              </a:path>
            </a:pathLst>
          </a:custGeom>
        </p:spPr>
      </p:pic>
      <p:sp>
        <p:nvSpPr>
          <p:cNvPr id="63" name="矩形 62"/>
          <p:cNvSpPr/>
          <p:nvPr>
            <p:custDataLst>
              <p:tags r:id="rId11"/>
            </p:custDataLst>
          </p:nvPr>
        </p:nvSpPr>
        <p:spPr>
          <a:xfrm>
            <a:off x="5431429" y="2644051"/>
            <a:ext cx="2623900" cy="1210178"/>
          </a:xfrm>
          <a:prstGeom prst="rect">
            <a:avLst/>
          </a:prstGeom>
        </p:spPr>
        <p:txBody>
          <a:bodyPr wrap="square" anchor="t" anchorCtr="0">
            <a:normAutofit fontScale="92500"/>
          </a:bodyPr>
          <a:lstStyle/>
          <a:p>
            <a:pPr>
              <a:lnSpc>
                <a:spcPct val="120000"/>
              </a:lnSpc>
            </a:pPr>
            <a:r>
              <a:rPr lang="zh-CN" altLang="en-US" sz="1400" kern="0" spc="150" dirty="0">
                <a:latin typeface="Arial" panose="020B0604020202020204" pitchFamily="34" charset="0"/>
                <a:ea typeface="微软雅黑" panose="020B0503020204020204" charset="-122"/>
                <a:sym typeface="Arial" panose="020B0604020202020204" pitchFamily="34" charset="0"/>
              </a:rPr>
              <a:t>稳定性假设：假设在短时间内，这三所大学的工程教育水平保持相对稳定，没有发生显著变化，这样比较结果才具有参考价值。</a:t>
            </a:r>
            <a:endParaRPr lang="zh-CN" altLang="en-US" sz="1400" kern="0" spc="150" dirty="0">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12"/>
            </p:custDataLst>
          </p:nvPr>
        </p:nvSpPr>
        <p:spPr>
          <a:xfrm rot="19800000">
            <a:off x="554052" y="2368107"/>
            <a:ext cx="473906" cy="414117"/>
          </a:xfrm>
          <a:prstGeom prst="rect">
            <a:avLst/>
          </a:prstGeom>
        </p:spPr>
        <p:txBody>
          <a:bodyPr wrap="square">
            <a:normAutofit fontScale="77500" lnSpcReduction="10000"/>
          </a:bodyPr>
          <a:lstStyle/>
          <a:p>
            <a:pPr algn="ctr">
              <a:lnSpc>
                <a:spcPct val="120000"/>
              </a:lnSpc>
            </a:pPr>
            <a:r>
              <a:rPr lang="en-US" altLang="zh-CN" sz="24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01</a:t>
            </a:r>
            <a:endParaRPr lang="zh-CN" altLang="en-US" sz="2400" b="1" spc="150" dirty="0" err="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65" name="矩形 64"/>
          <p:cNvSpPr/>
          <p:nvPr>
            <p:custDataLst>
              <p:tags r:id="rId13"/>
            </p:custDataLst>
          </p:nvPr>
        </p:nvSpPr>
        <p:spPr>
          <a:xfrm rot="19800000">
            <a:off x="4568481" y="2268412"/>
            <a:ext cx="473906" cy="414117"/>
          </a:xfrm>
          <a:prstGeom prst="rect">
            <a:avLst/>
          </a:prstGeom>
        </p:spPr>
        <p:txBody>
          <a:bodyPr wrap="square">
            <a:normAutofit fontScale="77500" lnSpcReduction="10000"/>
          </a:bodyPr>
          <a:lstStyle/>
          <a:p>
            <a:pPr algn="ctr">
              <a:lnSpc>
                <a:spcPct val="120000"/>
              </a:lnSpc>
            </a:pPr>
            <a:r>
              <a:rPr lang="en-US" altLang="zh-CN" sz="24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02</a:t>
            </a:r>
            <a:endParaRPr lang="zh-CN" altLang="en-US" sz="2400" b="1" spc="150" dirty="0" err="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66" name="矩形 65"/>
          <p:cNvSpPr/>
          <p:nvPr>
            <p:custDataLst>
              <p:tags r:id="rId14"/>
            </p:custDataLst>
          </p:nvPr>
        </p:nvSpPr>
        <p:spPr>
          <a:xfrm rot="19800000">
            <a:off x="2502529" y="4090099"/>
            <a:ext cx="473906" cy="414117"/>
          </a:xfrm>
          <a:prstGeom prst="rect">
            <a:avLst/>
          </a:prstGeom>
        </p:spPr>
        <p:txBody>
          <a:bodyPr wrap="square">
            <a:normAutofit fontScale="77500" lnSpcReduction="10000"/>
          </a:bodyPr>
          <a:lstStyle/>
          <a:p>
            <a:pPr algn="ctr">
              <a:lnSpc>
                <a:spcPct val="120000"/>
              </a:lnSpc>
            </a:pPr>
            <a:r>
              <a:rPr lang="en-US" altLang="zh-CN" sz="24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03</a:t>
            </a:r>
            <a:endParaRPr lang="zh-CN" altLang="en-US" sz="2400" b="1" spc="150" dirty="0" err="1">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67" name="文本框 66"/>
          <p:cNvSpPr txBox="1"/>
          <p:nvPr userDrawn="1"/>
        </p:nvSpPr>
        <p:spPr>
          <a:xfrm>
            <a:off x="515205" y="774884"/>
            <a:ext cx="4272400" cy="797584"/>
          </a:xfrm>
          <a:prstGeom prst="rect">
            <a:avLst/>
          </a:prstGeom>
        </p:spPr>
        <p:txBody>
          <a:bodyPr wrap="none" rtlCol="0">
            <a:noAutofit/>
          </a:bodyPr>
          <a:lstStyle/>
          <a:p>
            <a:r>
              <a:rPr lang="zh-CN" altLang="en-US" sz="4400" dirty="0">
                <a:solidFill>
                  <a:schemeClr val="tx1"/>
                </a:solidFill>
              </a:rPr>
              <a:t>理想化假设</a:t>
            </a:r>
            <a:endParaRPr lang="zh-CN" altLang="en-US" sz="4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blinds(horizontal)">
                                      <p:cBhvr>
                                        <p:cTn id="7" dur="500"/>
                                        <p:tgtEl>
                                          <p:spTgt spid="67"/>
                                        </p:tgtEl>
                                      </p:cBhvr>
                                    </p:animEffect>
                                  </p:childTnLst>
                                </p:cTn>
                              </p:par>
                              <p:par>
                                <p:cTn id="8" presetID="2" presetClass="entr" presetSubtype="4"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 calcmode="lin" valueType="num">
                                      <p:cBhvr additive="base">
                                        <p:cTn id="10" dur="500" fill="hold"/>
                                        <p:tgtEl>
                                          <p:spTgt spid="60"/>
                                        </p:tgtEl>
                                        <p:attrNameLst>
                                          <p:attrName>ppt_x</p:attrName>
                                        </p:attrNameLst>
                                      </p:cBhvr>
                                      <p:tavLst>
                                        <p:tav tm="0">
                                          <p:val>
                                            <p:strVal val="#ppt_x"/>
                                          </p:val>
                                        </p:tav>
                                        <p:tav tm="100000">
                                          <p:val>
                                            <p:strVal val="#ppt_x"/>
                                          </p:val>
                                        </p:tav>
                                      </p:tavLst>
                                    </p:anim>
                                    <p:anim calcmode="lin" valueType="num">
                                      <p:cBhvr additive="base">
                                        <p:cTn id="11" dur="500" fill="hold"/>
                                        <p:tgtEl>
                                          <p:spTgt spid="60"/>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57"/>
                                        </p:tgtEl>
                                        <p:attrNameLst>
                                          <p:attrName>style.visibility</p:attrName>
                                        </p:attrNameLst>
                                      </p:cBhvr>
                                      <p:to>
                                        <p:strVal val="visible"/>
                                      </p:to>
                                    </p:set>
                                    <p:anim calcmode="lin" valueType="num">
                                      <p:cBhvr additive="base">
                                        <p:cTn id="14" dur="500" fill="hold"/>
                                        <p:tgtEl>
                                          <p:spTgt spid="57"/>
                                        </p:tgtEl>
                                        <p:attrNameLst>
                                          <p:attrName>ppt_x</p:attrName>
                                        </p:attrNameLst>
                                      </p:cBhvr>
                                      <p:tavLst>
                                        <p:tav tm="0">
                                          <p:val>
                                            <p:strVal val="#ppt_x"/>
                                          </p:val>
                                        </p:tav>
                                        <p:tav tm="100000">
                                          <p:val>
                                            <p:strVal val="#ppt_x"/>
                                          </p:val>
                                        </p:tav>
                                      </p:tavLst>
                                    </p:anim>
                                    <p:anim calcmode="lin" valueType="num">
                                      <p:cBhvr additive="base">
                                        <p:cTn id="15" dur="500" fill="hold"/>
                                        <p:tgtEl>
                                          <p:spTgt spid="57"/>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3"/>
                                        </p:tgtEl>
                                        <p:attrNameLst>
                                          <p:attrName>style.visibility</p:attrName>
                                        </p:attrNameLst>
                                      </p:cBhvr>
                                      <p:to>
                                        <p:strVal val="visible"/>
                                      </p:to>
                                    </p:set>
                                    <p:anim calcmode="lin" valueType="num">
                                      <p:cBhvr additive="base">
                                        <p:cTn id="18" dur="500" fill="hold"/>
                                        <p:tgtEl>
                                          <p:spTgt spid="63"/>
                                        </p:tgtEl>
                                        <p:attrNameLst>
                                          <p:attrName>ppt_x</p:attrName>
                                        </p:attrNameLst>
                                      </p:cBhvr>
                                      <p:tavLst>
                                        <p:tav tm="0">
                                          <p:val>
                                            <p:strVal val="#ppt_x"/>
                                          </p:val>
                                        </p:tav>
                                        <p:tav tm="100000">
                                          <p:val>
                                            <p:strVal val="#ppt_x"/>
                                          </p:val>
                                        </p:tav>
                                      </p:tavLst>
                                    </p:anim>
                                    <p:anim calcmode="lin" valueType="num">
                                      <p:cBhvr additive="base">
                                        <p:cTn id="19"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0" grpId="0"/>
      <p:bldP spid="63" grpId="0"/>
      <p:bldP spid="6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nvGraphicFramePr>
        <p:xfrm>
          <a:off x="951696" y="2292642"/>
          <a:ext cx="7512050" cy="2987040"/>
        </p:xfrm>
        <a:graphic>
          <a:graphicData uri="http://schemas.openxmlformats.org/drawingml/2006/table">
            <a:tbl>
              <a:tblPr firstRow="1" bandRow="1">
                <a:tableStyleId>{5940675A-B579-460E-94D1-54222C63F5DA}</a:tableStyleId>
              </a:tblPr>
              <a:tblGrid>
                <a:gridCol w="3756025"/>
                <a:gridCol w="3756025"/>
              </a:tblGrid>
              <a:tr h="497840">
                <a:tc>
                  <a:txBody>
                    <a:bodyPr/>
                    <a:lstStyle/>
                    <a:p>
                      <a:pPr algn="ctr">
                        <a:buNone/>
                      </a:pPr>
                      <a:r>
                        <a:rPr lang="zh-CN" altLang="en-US" sz="2400"/>
                        <a:t>符号</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solidFill>
                      <a:srgbClr val="F8CBAD">
                        <a:alpha val="100000"/>
                      </a:srgbClr>
                    </a:solidFill>
                  </a:tcPr>
                </a:tc>
                <a:tc>
                  <a:txBody>
                    <a:bodyPr/>
                    <a:lstStyle/>
                    <a:p>
                      <a:pPr algn="ctr">
                        <a:buNone/>
                      </a:pPr>
                      <a:r>
                        <a:rPr lang="zh-CN" altLang="en-US" sz="2400"/>
                        <a:t>说明</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solidFill>
                      <a:srgbClr val="F8CBAD">
                        <a:alpha val="100000"/>
                      </a:srgbClr>
                    </a:solidFill>
                  </a:tcPr>
                </a:tc>
              </a:tr>
              <a:tr h="497840">
                <a:tc>
                  <a:txBody>
                    <a:bodyPr/>
                    <a:lstStyle/>
                    <a:p>
                      <a:pPr algn="ctr">
                        <a:buNone/>
                      </a:pPr>
                      <a:r>
                        <a:rPr lang="zh-CN" altLang="en-US" sz="2400"/>
                        <a:t>e </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c>
                  <a:txBody>
                    <a:bodyPr/>
                    <a:lstStyle/>
                    <a:p>
                      <a:pPr algn="ctr">
                        <a:buNone/>
                      </a:pPr>
                      <a:r>
                        <a:rPr lang="zh-CN" altLang="en-US" sz="2400"/>
                        <a:t>信息熵</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r>
              <a:tr h="497840">
                <a:tc>
                  <a:txBody>
                    <a:bodyPr/>
                    <a:lstStyle/>
                    <a:p>
                      <a:pPr algn="ctr">
                        <a:buNone/>
                      </a:pPr>
                      <a:r>
                        <a:rPr lang="zh-CN" altLang="en-US" sz="2400"/>
                        <a:t>d </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c>
                  <a:txBody>
                    <a:bodyPr/>
                    <a:lstStyle/>
                    <a:p>
                      <a:pPr algn="ctr">
                        <a:buNone/>
                      </a:pPr>
                      <a:r>
                        <a:rPr lang="zh-CN" altLang="en-US" sz="2400"/>
                        <a:t>差异度</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r>
              <a:tr h="497840">
                <a:tc>
                  <a:txBody>
                    <a:bodyPr/>
                    <a:lstStyle/>
                    <a:p>
                      <a:pPr algn="ctr">
                        <a:buNone/>
                      </a:pPr>
                      <a:r>
                        <a:rPr lang="zh-CN" altLang="en-US" sz="2400"/>
                        <a:t>W </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c>
                  <a:txBody>
                    <a:bodyPr/>
                    <a:lstStyle/>
                    <a:p>
                      <a:pPr algn="ctr">
                        <a:buNone/>
                      </a:pPr>
                      <a:r>
                        <a:rPr lang="zh-CN" altLang="en-US" sz="2400"/>
                        <a:t>权重</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r>
              <a:tr h="497840">
                <a:tc>
                  <a:txBody>
                    <a:bodyPr/>
                    <a:lstStyle/>
                    <a:p>
                      <a:pPr algn="ctr">
                        <a:buNone/>
                      </a:pPr>
                      <a:r>
                        <a:rPr lang="zh-CN" altLang="en-US" sz="2400"/>
                        <a:t>i </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c>
                  <a:txBody>
                    <a:bodyPr/>
                    <a:lstStyle/>
                    <a:p>
                      <a:pPr algn="ctr">
                        <a:buNone/>
                      </a:pPr>
                      <a:r>
                        <a:rPr lang="zh-CN" altLang="en-US" sz="2400"/>
                        <a:t>国家索引</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r>
              <a:tr h="497840">
                <a:tc>
                  <a:txBody>
                    <a:bodyPr/>
                    <a:lstStyle/>
                    <a:p>
                      <a:pPr algn="ctr">
                        <a:buNone/>
                      </a:pPr>
                      <a:r>
                        <a:rPr lang="zh-CN" altLang="en-US" sz="2400"/>
                        <a:t>j </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c>
                  <a:txBody>
                    <a:bodyPr/>
                    <a:lstStyle/>
                    <a:p>
                      <a:pPr algn="ctr">
                        <a:buNone/>
                      </a:pPr>
                      <a:r>
                        <a:rPr lang="zh-CN" altLang="en-US" sz="2400"/>
                        <a:t>指标索引</a:t>
                      </a:r>
                      <a:endParaRPr lang="zh-CN" altLang="en-US" sz="2400"/>
                    </a:p>
                  </a:txBody>
                  <a:tcPr anchor="ctr">
                    <a:lnL w="12700" cmpd="sng">
                      <a:solidFill>
                        <a:srgbClr val="000000">
                          <a:alpha val="100000"/>
                        </a:srgbClr>
                      </a:solidFill>
                      <a:prstDash val="solid"/>
                    </a:lnL>
                    <a:lnR w="12700" cmpd="sng">
                      <a:solidFill>
                        <a:srgbClr val="000000">
                          <a:alpha val="100000"/>
                        </a:srgbClr>
                      </a:solidFill>
                      <a:prstDash val="solid"/>
                    </a:lnR>
                    <a:lnT w="12700" cmpd="sng">
                      <a:solidFill>
                        <a:srgbClr val="000000">
                          <a:alpha val="100000"/>
                        </a:srgbClr>
                      </a:solidFill>
                      <a:prstDash val="solid"/>
                    </a:lnT>
                    <a:lnB w="12700" cmpd="sng">
                      <a:solidFill>
                        <a:srgbClr val="000000">
                          <a:alpha val="100000"/>
                        </a:srgbClr>
                      </a:solidFill>
                      <a:prstDash val="solid"/>
                    </a:lnB>
                  </a:tcPr>
                </a:tc>
              </a:tr>
            </a:tbl>
          </a:graphicData>
        </a:graphic>
      </p:graphicFrame>
      <p:pic>
        <p:nvPicPr>
          <p:cNvPr id="8" name="图片 7" descr="upload_post_object_v2_1997106804"/>
          <p:cNvPicPr>
            <a:picLocks noChangeAspect="1"/>
          </p:cNvPicPr>
          <p:nvPr/>
        </p:nvPicPr>
        <p:blipFill>
          <a:blip r:embed="rId1"/>
          <a:stretch>
            <a:fillRect/>
          </a:stretch>
        </p:blipFill>
        <p:spPr>
          <a:xfrm>
            <a:off x="-240895" y="91258"/>
            <a:ext cx="7555774" cy="25408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000"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8" presetClass="entr" presetSubtype="16" fill="hold" nodeType="afterEffect">
                                  <p:stCondLst>
                                    <p:cond delay="0"/>
                                  </p:stCondLst>
                                  <p:childTnLst>
                                    <p:set>
                                      <p:cBhvr>
                                        <p:cTn id="11" dur="1000" fill="hold">
                                          <p:stCondLst>
                                            <p:cond delay="0"/>
                                          </p:stCondLst>
                                        </p:cTn>
                                        <p:tgtEl>
                                          <p:spTgt spid="4"/>
                                        </p:tgtEl>
                                        <p:attrNameLst>
                                          <p:attrName>style.visibility</p:attrName>
                                        </p:attrNameLst>
                                      </p:cBhvr>
                                      <p:to>
                                        <p:strVal val="visible"/>
                                      </p:to>
                                    </p:set>
                                    <p:animEffect transition="in" filter="diamond(in)">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94927" y="3280457"/>
            <a:ext cx="3602146" cy="880306"/>
          </a:xfrm>
          <a:prstGeom prst="rect">
            <a:avLst/>
          </a:prstGeom>
          <a:noFill/>
        </p:spPr>
        <p:txBody>
          <a:bodyPr wrap="square" rtlCol="0">
            <a:spAutoFit/>
          </a:bodyPr>
          <a:lstStyle/>
          <a:p>
            <a:pPr algn="ctr" defTabSz="609600">
              <a:lnSpc>
                <a:spcPct val="130000"/>
              </a:lnSpc>
            </a:pPr>
            <a:r>
              <a:rPr lang="en-US" altLang="zh-CN" sz="4400" b="1" dirty="0">
                <a:latin typeface="+mj-lt"/>
                <a:ea typeface="微软雅黑" panose="020B0503020204020204" charset="-122"/>
              </a:rPr>
              <a:t>PART</a:t>
            </a:r>
            <a:r>
              <a:rPr lang="zh-CN" altLang="en-US" sz="4400" b="1" dirty="0">
                <a:latin typeface="+mj-lt"/>
                <a:ea typeface="微软雅黑" panose="020B0503020204020204" charset="-122"/>
              </a:rPr>
              <a:t> </a:t>
            </a:r>
            <a:r>
              <a:rPr lang="en-US" altLang="zh-CN" sz="4400" b="1" dirty="0">
                <a:latin typeface="+mj-lt"/>
                <a:ea typeface="微软雅黑" panose="020B0503020204020204" charset="-122"/>
              </a:rPr>
              <a:t>THREE</a:t>
            </a:r>
            <a:endParaRPr lang="en-US" altLang="zh-CN" sz="4400" b="1" dirty="0">
              <a:latin typeface="+mj-lt"/>
              <a:ea typeface="微软雅黑" panose="020B0503020204020204" charset="-122"/>
            </a:endParaRPr>
          </a:p>
        </p:txBody>
      </p:sp>
      <p:sp>
        <p:nvSpPr>
          <p:cNvPr id="3" name="文本框 2"/>
          <p:cNvSpPr txBox="1"/>
          <p:nvPr/>
        </p:nvSpPr>
        <p:spPr>
          <a:xfrm>
            <a:off x="4324610" y="1975539"/>
            <a:ext cx="3572409" cy="1459865"/>
          </a:xfrm>
          <a:prstGeom prst="rect">
            <a:avLst/>
          </a:prstGeom>
          <a:noFill/>
        </p:spPr>
        <p:txBody>
          <a:bodyPr wrap="square" rtlCol="0">
            <a:noAutofit/>
          </a:bodyPr>
          <a:lstStyle/>
          <a:p>
            <a:pPr algn="ctr" defTabSz="609600">
              <a:lnSpc>
                <a:spcPct val="130000"/>
              </a:lnSpc>
            </a:pPr>
            <a:r>
              <a:rPr lang="zh-CN" altLang="en-US" sz="3600" dirty="0">
                <a:latin typeface="+mj-lt"/>
                <a:ea typeface="微软雅黑" panose="020B0503020204020204" charset="-122"/>
              </a:rPr>
              <a:t> 思路介绍</a:t>
            </a:r>
            <a:endParaRPr lang="zh-CN" altLang="en-US" sz="3600" dirty="0">
              <a:latin typeface="+mj-lt"/>
              <a:ea typeface="微软雅黑" panose="020B0503020204020204" charset="-122"/>
            </a:endParaRPr>
          </a:p>
          <a:p>
            <a:pPr algn="ctr" defTabSz="609600">
              <a:lnSpc>
                <a:spcPct val="130000"/>
              </a:lnSpc>
            </a:pPr>
            <a:r>
              <a:rPr lang="zh-CN" altLang="en-US" sz="3600" dirty="0">
                <a:latin typeface="+mj-lt"/>
                <a:ea typeface="微软雅黑" panose="020B0503020204020204" charset="-122"/>
              </a:rPr>
              <a:t>方法实现</a:t>
            </a:r>
            <a:endParaRPr lang="zh-CN" altLang="en-US" sz="3600" dirty="0">
              <a:latin typeface="+mj-lt"/>
              <a:ea typeface="微软雅黑" panose="020B0503020204020204" charset="-122"/>
            </a:endParaRPr>
          </a:p>
        </p:txBody>
      </p:sp>
      <p:sp>
        <p:nvSpPr>
          <p:cNvPr id="4" name="矩形 3"/>
          <p:cNvSpPr/>
          <p:nvPr/>
        </p:nvSpPr>
        <p:spPr>
          <a:xfrm>
            <a:off x="4889817" y="4139690"/>
            <a:ext cx="2412366" cy="11334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7" name="图片 6"/>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diamond(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2068830" cy="306705"/>
          </a:xfrm>
          <a:prstGeom prst="rect">
            <a:avLst/>
          </a:prstGeom>
        </p:spPr>
        <p:txBody>
          <a:bodyPr wrap="none">
            <a:spAutoFit/>
          </a:bodyPr>
          <a:lstStyle/>
          <a:p>
            <a:pPr algn="l"/>
            <a:r>
              <a:rPr lang="en-US" altLang="zh-CN" sz="1400" b="1" dirty="0"/>
              <a:t>PART THREE 思路介绍</a:t>
            </a:r>
            <a:endParaRPr lang="en-US" altLang="zh-CN" sz="1400" b="1" dirty="0"/>
          </a:p>
        </p:txBody>
      </p:sp>
      <p:sp>
        <p:nvSpPr>
          <p:cNvPr id="3" name="椭圆 2"/>
          <p:cNvSpPr/>
          <p:nvPr/>
        </p:nvSpPr>
        <p:spPr>
          <a:xfrm>
            <a:off x="1935040" y="157740"/>
            <a:ext cx="133804" cy="1440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cxnSp>
        <p:nvCxnSpPr>
          <p:cNvPr id="87" name="直接连接符 86"/>
          <p:cNvCxnSpPr/>
          <p:nvPr/>
        </p:nvCxnSpPr>
        <p:spPr>
          <a:xfrm>
            <a:off x="8992912" y="5823769"/>
            <a:ext cx="1778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矩形 99"/>
          <p:cNvSpPr/>
          <p:nvPr/>
        </p:nvSpPr>
        <p:spPr>
          <a:xfrm>
            <a:off x="9527594" y="369094"/>
            <a:ext cx="728345" cy="6096476"/>
          </a:xfrm>
          <a:prstGeom prst="rect">
            <a:avLst/>
          </a:prstGeom>
        </p:spPr>
        <p:txBody>
          <a:bodyPr wrap="square">
            <a:noAutofit/>
          </a:bodyPr>
          <a:lstStyle/>
          <a:p>
            <a:pPr algn="l"/>
            <a:r>
              <a:rPr lang="en-US" altLang="zh-CN" sz="4400" dirty="0">
                <a:latin typeface="楷体" panose="02010609060101010101" charset="-122"/>
                <a:ea typeface="楷体" panose="02010609060101010101" charset="-122"/>
                <a:cs typeface="楷体" panose="02010609060101010101" charset="-122"/>
              </a:rPr>
              <a:t>评价指标体系构建</a:t>
            </a:r>
            <a:endParaRPr lang="en-US" altLang="zh-CN" sz="4400" dirty="0">
              <a:latin typeface="楷体" panose="02010609060101010101" charset="-122"/>
              <a:ea typeface="楷体" panose="02010609060101010101" charset="-122"/>
              <a:cs typeface="楷体" panose="02010609060101010101" charset="-122"/>
            </a:endParaRPr>
          </a:p>
        </p:txBody>
      </p:sp>
      <p:sp>
        <p:nvSpPr>
          <p:cNvPr id="101" name="矩形 100"/>
          <p:cNvSpPr/>
          <p:nvPr/>
        </p:nvSpPr>
        <p:spPr>
          <a:xfrm>
            <a:off x="3876094" y="1043736"/>
            <a:ext cx="309880" cy="521970"/>
          </a:xfrm>
          <a:prstGeom prst="rect">
            <a:avLst/>
          </a:prstGeom>
        </p:spPr>
        <p:txBody>
          <a:bodyPr wrap="none">
            <a:spAutoFit/>
          </a:bodyPr>
          <a:lstStyle/>
          <a:p>
            <a:endParaRPr lang="zh-CN" altLang="en-US" sz="2800" dirty="0"/>
          </a:p>
        </p:txBody>
      </p:sp>
      <p:pic>
        <p:nvPicPr>
          <p:cNvPr id="78" name="图片 77"/>
          <p:cNvPicPr>
            <a:picLocks noChangeAspect="1"/>
          </p:cNvPicPr>
          <p:nvPr/>
        </p:nvPicPr>
        <p:blipFill>
          <a:blip r:embed="rId1">
            <a:duotone>
              <a:prstClr val="black"/>
              <a:schemeClr val="tx2">
                <a:tint val="45000"/>
                <a:satMod val="400000"/>
              </a:schemeClr>
            </a:duotone>
          </a:blip>
          <a:stretch>
            <a:fillRect/>
          </a:stretch>
        </p:blipFill>
        <p:spPr>
          <a:xfrm>
            <a:off x="9170829" y="5966921"/>
            <a:ext cx="2117688" cy="570755"/>
          </a:xfrm>
          <a:prstGeom prst="rect">
            <a:avLst/>
          </a:prstGeom>
        </p:spPr>
      </p:pic>
      <p:pic>
        <p:nvPicPr>
          <p:cNvPr id="4" name="图片 3" descr="upload_post_object_v2_642671509"/>
          <p:cNvPicPr>
            <a:picLocks noChangeAspect="1"/>
          </p:cNvPicPr>
          <p:nvPr/>
        </p:nvPicPr>
        <p:blipFill>
          <a:blip r:embed="rId2"/>
          <a:stretch>
            <a:fillRect/>
          </a:stretch>
        </p:blipFill>
        <p:spPr>
          <a:xfrm>
            <a:off x="2663984" y="-105830"/>
            <a:ext cx="5154960" cy="70696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linds(horizontal)">
                                      <p:cBhvr>
                                        <p:cTn id="7" dur="500"/>
                                        <p:tgtEl>
                                          <p:spTgt spid="10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5"/>
          <p:cNvSpPr/>
          <p:nvPr userDrawn="1"/>
        </p:nvSpPr>
        <p:spPr>
          <a:xfrm>
            <a:off x="7852356" y="3237614"/>
            <a:ext cx="2984814" cy="2353411"/>
          </a:xfrm>
          <a:prstGeom prst="round2DiagRect">
            <a:avLst/>
          </a:prstGeom>
          <a:solidFill>
            <a:srgbClr val="FFE699">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4" name="对角圆角矩形 3"/>
          <p:cNvSpPr/>
          <p:nvPr userDrawn="1"/>
        </p:nvSpPr>
        <p:spPr>
          <a:xfrm>
            <a:off x="3872120" y="3268256"/>
            <a:ext cx="3275463" cy="2344272"/>
          </a:xfrm>
          <a:prstGeom prst="round2DiagRect">
            <a:avLst/>
          </a:prstGeom>
          <a:solidFill>
            <a:srgbClr val="FFE699">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 name="矩形 1"/>
          <p:cNvSpPr/>
          <p:nvPr/>
        </p:nvSpPr>
        <p:spPr>
          <a:xfrm>
            <a:off x="0" y="60523"/>
            <a:ext cx="1978025" cy="306705"/>
          </a:xfrm>
          <a:prstGeom prst="rect">
            <a:avLst/>
          </a:prstGeom>
        </p:spPr>
        <p:txBody>
          <a:bodyPr wrap="none">
            <a:spAutoFit/>
          </a:bodyPr>
          <a:lstStyle/>
          <a:p>
            <a:r>
              <a:rPr lang="en-US" altLang="zh-CN" sz="1400" b="1" dirty="0"/>
              <a:t>PART </a:t>
            </a:r>
            <a:r>
              <a:rPr lang="en-US" altLang="zh-CN" sz="1400" b="1" dirty="0">
                <a:solidFill>
                  <a:schemeClr val="tx1"/>
                </a:solidFill>
              </a:rPr>
              <a:t>THREE</a:t>
            </a:r>
            <a:r>
              <a:rPr lang="en-US" altLang="zh-CN" sz="1400" b="1" dirty="0"/>
              <a:t> </a:t>
            </a:r>
            <a:r>
              <a:rPr lang="zh-CN" altLang="en-US" sz="1400" b="1" dirty="0"/>
              <a:t>思路介绍</a:t>
            </a:r>
            <a:endParaRPr lang="zh-CN" altLang="en-US" sz="1400" b="1" dirty="0"/>
          </a:p>
        </p:txBody>
      </p:sp>
      <p:sp>
        <p:nvSpPr>
          <p:cNvPr id="3" name="椭圆 2"/>
          <p:cNvSpPr/>
          <p:nvPr/>
        </p:nvSpPr>
        <p:spPr>
          <a:xfrm>
            <a:off x="1918730" y="157740"/>
            <a:ext cx="91989" cy="928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sp>
        <p:nvSpPr>
          <p:cNvPr id="5" name="矩形 4"/>
          <p:cNvSpPr/>
          <p:nvPr/>
        </p:nvSpPr>
        <p:spPr>
          <a:xfrm>
            <a:off x="6256814" y="678668"/>
            <a:ext cx="2911042" cy="903505"/>
          </a:xfrm>
          <a:prstGeom prst="rect">
            <a:avLst/>
          </a:prstGeom>
        </p:spPr>
        <p:txBody>
          <a:bodyPr wrap="square">
            <a:noAutofit/>
          </a:bodyPr>
          <a:lstStyle/>
          <a:p>
            <a:pPr algn="l"/>
            <a:r>
              <a:rPr lang="zh-CN" altLang="en-US" sz="2800" b="1" dirty="0"/>
              <a:t> </a:t>
            </a:r>
            <a:r>
              <a:rPr lang="zh-CN" altLang="en-US" sz="4400" b="1" dirty="0"/>
              <a:t>方法选择</a:t>
            </a:r>
            <a:endParaRPr lang="zh-CN" altLang="en-US" sz="4400" b="1" dirty="0"/>
          </a:p>
        </p:txBody>
      </p:sp>
      <p:grpSp>
        <p:nvGrpSpPr>
          <p:cNvPr id="9" name="Group 4"/>
          <p:cNvGrpSpPr>
            <a:grpSpLocks noChangeAspect="1"/>
          </p:cNvGrpSpPr>
          <p:nvPr/>
        </p:nvGrpSpPr>
        <p:grpSpPr bwMode="auto">
          <a:xfrm>
            <a:off x="5142831" y="2110817"/>
            <a:ext cx="560948" cy="573338"/>
            <a:chOff x="611" y="1151"/>
            <a:chExt cx="566" cy="567"/>
          </a:xfrm>
        </p:grpSpPr>
        <p:sp>
          <p:nvSpPr>
            <p:cNvPr id="10" name="Oval 5"/>
            <p:cNvSpPr>
              <a:spLocks noChangeArrowheads="1"/>
            </p:cNvSpPr>
            <p:nvPr/>
          </p:nvSpPr>
          <p:spPr bwMode="auto">
            <a:xfrm>
              <a:off x="611" y="1151"/>
              <a:ext cx="566" cy="567"/>
            </a:xfrm>
            <a:prstGeom prst="ellipse">
              <a:avLst/>
            </a:pr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6"/>
            <p:cNvSpPr>
              <a:spLocks noEditPoints="1"/>
            </p:cNvSpPr>
            <p:nvPr/>
          </p:nvSpPr>
          <p:spPr bwMode="auto">
            <a:xfrm>
              <a:off x="741" y="1293"/>
              <a:ext cx="306" cy="307"/>
            </a:xfrm>
            <a:custGeom>
              <a:avLst/>
              <a:gdLst>
                <a:gd name="T0" fmla="*/ 57 w 130"/>
                <a:gd name="T1" fmla="*/ 49 h 130"/>
                <a:gd name="T2" fmla="*/ 61 w 130"/>
                <a:gd name="T3" fmla="*/ 37 h 130"/>
                <a:gd name="T4" fmla="*/ 40 w 130"/>
                <a:gd name="T5" fmla="*/ 6 h 130"/>
                <a:gd name="T6" fmla="*/ 28 w 130"/>
                <a:gd name="T7" fmla="*/ 11 h 130"/>
                <a:gd name="T8" fmla="*/ 24 w 130"/>
                <a:gd name="T9" fmla="*/ 24 h 130"/>
                <a:gd name="T10" fmla="*/ 45 w 130"/>
                <a:gd name="T11" fmla="*/ 54 h 130"/>
                <a:gd name="T12" fmla="*/ 57 w 130"/>
                <a:gd name="T13" fmla="*/ 49 h 130"/>
                <a:gd name="T14" fmla="*/ 52 w 130"/>
                <a:gd name="T15" fmla="*/ 82 h 130"/>
                <a:gd name="T16" fmla="*/ 48 w 130"/>
                <a:gd name="T17" fmla="*/ 82 h 130"/>
                <a:gd name="T18" fmla="*/ 30 w 130"/>
                <a:gd name="T19" fmla="*/ 84 h 130"/>
                <a:gd name="T20" fmla="*/ 15 w 130"/>
                <a:gd name="T21" fmla="*/ 102 h 130"/>
                <a:gd name="T22" fmla="*/ 45 w 130"/>
                <a:gd name="T23" fmla="*/ 123 h 130"/>
                <a:gd name="T24" fmla="*/ 70 w 130"/>
                <a:gd name="T25" fmla="*/ 104 h 130"/>
                <a:gd name="T26" fmla="*/ 52 w 130"/>
                <a:gd name="T27" fmla="*/ 82 h 130"/>
                <a:gd name="T28" fmla="*/ 102 w 130"/>
                <a:gd name="T29" fmla="*/ 65 h 130"/>
                <a:gd name="T30" fmla="*/ 83 w 130"/>
                <a:gd name="T31" fmla="*/ 65 h 130"/>
                <a:gd name="T32" fmla="*/ 83 w 130"/>
                <a:gd name="T33" fmla="*/ 55 h 130"/>
                <a:gd name="T34" fmla="*/ 102 w 130"/>
                <a:gd name="T35" fmla="*/ 55 h 130"/>
                <a:gd name="T36" fmla="*/ 102 w 130"/>
                <a:gd name="T37" fmla="*/ 37 h 130"/>
                <a:gd name="T38" fmla="*/ 111 w 130"/>
                <a:gd name="T39" fmla="*/ 37 h 130"/>
                <a:gd name="T40" fmla="*/ 111 w 130"/>
                <a:gd name="T41" fmla="*/ 55 h 130"/>
                <a:gd name="T42" fmla="*/ 130 w 130"/>
                <a:gd name="T43" fmla="*/ 55 h 130"/>
                <a:gd name="T44" fmla="*/ 130 w 130"/>
                <a:gd name="T45" fmla="*/ 65 h 130"/>
                <a:gd name="T46" fmla="*/ 111 w 130"/>
                <a:gd name="T47" fmla="*/ 65 h 130"/>
                <a:gd name="T48" fmla="*/ 111 w 130"/>
                <a:gd name="T49" fmla="*/ 83 h 130"/>
                <a:gd name="T50" fmla="*/ 102 w 130"/>
                <a:gd name="T51" fmla="*/ 83 h 130"/>
                <a:gd name="T52" fmla="*/ 102 w 130"/>
                <a:gd name="T53" fmla="*/ 65 h 130"/>
                <a:gd name="T54" fmla="*/ 64 w 130"/>
                <a:gd name="T55" fmla="*/ 6 h 130"/>
                <a:gd name="T56" fmla="*/ 76 w 130"/>
                <a:gd name="T57" fmla="*/ 29 h 130"/>
                <a:gd name="T58" fmla="*/ 62 w 130"/>
                <a:gd name="T59" fmla="*/ 53 h 130"/>
                <a:gd name="T60" fmla="*/ 57 w 130"/>
                <a:gd name="T61" fmla="*/ 62 h 130"/>
                <a:gd name="T62" fmla="*/ 61 w 130"/>
                <a:gd name="T63" fmla="*/ 69 h 130"/>
                <a:gd name="T64" fmla="*/ 68 w 130"/>
                <a:gd name="T65" fmla="*/ 74 h 130"/>
                <a:gd name="T66" fmla="*/ 82 w 130"/>
                <a:gd name="T67" fmla="*/ 98 h 130"/>
                <a:gd name="T68" fmla="*/ 37 w 130"/>
                <a:gd name="T69" fmla="*/ 130 h 130"/>
                <a:gd name="T70" fmla="*/ 0 w 130"/>
                <a:gd name="T71" fmla="*/ 106 h 130"/>
                <a:gd name="T72" fmla="*/ 14 w 130"/>
                <a:gd name="T73" fmla="*/ 85 h 130"/>
                <a:gd name="T74" fmla="*/ 46 w 130"/>
                <a:gd name="T75" fmla="*/ 77 h 130"/>
                <a:gd name="T76" fmla="*/ 41 w 130"/>
                <a:gd name="T77" fmla="*/ 65 h 130"/>
                <a:gd name="T78" fmla="*/ 43 w 130"/>
                <a:gd name="T79" fmla="*/ 59 h 130"/>
                <a:gd name="T80" fmla="*/ 37 w 130"/>
                <a:gd name="T81" fmla="*/ 59 h 130"/>
                <a:gd name="T82" fmla="*/ 9 w 130"/>
                <a:gd name="T83" fmla="*/ 32 h 130"/>
                <a:gd name="T84" fmla="*/ 20 w 130"/>
                <a:gd name="T85" fmla="*/ 9 h 130"/>
                <a:gd name="T86" fmla="*/ 50 w 130"/>
                <a:gd name="T87" fmla="*/ 0 h 130"/>
                <a:gd name="T88" fmla="*/ 86 w 130"/>
                <a:gd name="T89" fmla="*/ 0 h 130"/>
                <a:gd name="T90" fmla="*/ 75 w 130"/>
                <a:gd name="T91" fmla="*/ 6 h 130"/>
                <a:gd name="T92" fmla="*/ 64 w 130"/>
                <a:gd name="T93" fmla="*/ 6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0" h="130">
                  <a:moveTo>
                    <a:pt x="57" y="49"/>
                  </a:moveTo>
                  <a:cubicBezTo>
                    <a:pt x="61" y="46"/>
                    <a:pt x="61" y="40"/>
                    <a:pt x="61" y="37"/>
                  </a:cubicBezTo>
                  <a:cubicBezTo>
                    <a:pt x="61" y="25"/>
                    <a:pt x="54" y="6"/>
                    <a:pt x="40" y="6"/>
                  </a:cubicBezTo>
                  <a:cubicBezTo>
                    <a:pt x="35" y="6"/>
                    <a:pt x="30" y="8"/>
                    <a:pt x="28" y="11"/>
                  </a:cubicBezTo>
                  <a:cubicBezTo>
                    <a:pt x="25" y="15"/>
                    <a:pt x="24" y="19"/>
                    <a:pt x="24" y="24"/>
                  </a:cubicBezTo>
                  <a:cubicBezTo>
                    <a:pt x="24" y="35"/>
                    <a:pt x="31" y="54"/>
                    <a:pt x="45" y="54"/>
                  </a:cubicBezTo>
                  <a:cubicBezTo>
                    <a:pt x="50" y="54"/>
                    <a:pt x="54" y="52"/>
                    <a:pt x="57" y="49"/>
                  </a:cubicBezTo>
                  <a:close/>
                  <a:moveTo>
                    <a:pt x="52" y="82"/>
                  </a:moveTo>
                  <a:cubicBezTo>
                    <a:pt x="51" y="82"/>
                    <a:pt x="50" y="82"/>
                    <a:pt x="48" y="82"/>
                  </a:cubicBezTo>
                  <a:cubicBezTo>
                    <a:pt x="46" y="82"/>
                    <a:pt x="37" y="82"/>
                    <a:pt x="30" y="84"/>
                  </a:cubicBezTo>
                  <a:cubicBezTo>
                    <a:pt x="26" y="86"/>
                    <a:pt x="15" y="90"/>
                    <a:pt x="15" y="102"/>
                  </a:cubicBezTo>
                  <a:cubicBezTo>
                    <a:pt x="15" y="114"/>
                    <a:pt x="27" y="123"/>
                    <a:pt x="45" y="123"/>
                  </a:cubicBezTo>
                  <a:cubicBezTo>
                    <a:pt x="62" y="123"/>
                    <a:pt x="70" y="115"/>
                    <a:pt x="70" y="104"/>
                  </a:cubicBezTo>
                  <a:cubicBezTo>
                    <a:pt x="70" y="96"/>
                    <a:pt x="65" y="91"/>
                    <a:pt x="52" y="82"/>
                  </a:cubicBezTo>
                  <a:close/>
                  <a:moveTo>
                    <a:pt x="102" y="65"/>
                  </a:moveTo>
                  <a:cubicBezTo>
                    <a:pt x="83" y="65"/>
                    <a:pt x="83" y="65"/>
                    <a:pt x="83" y="65"/>
                  </a:cubicBezTo>
                  <a:cubicBezTo>
                    <a:pt x="83" y="55"/>
                    <a:pt x="83" y="55"/>
                    <a:pt x="83" y="55"/>
                  </a:cubicBezTo>
                  <a:cubicBezTo>
                    <a:pt x="102" y="55"/>
                    <a:pt x="102" y="55"/>
                    <a:pt x="102" y="55"/>
                  </a:cubicBezTo>
                  <a:cubicBezTo>
                    <a:pt x="102" y="37"/>
                    <a:pt x="102" y="37"/>
                    <a:pt x="102" y="37"/>
                  </a:cubicBezTo>
                  <a:cubicBezTo>
                    <a:pt x="111" y="37"/>
                    <a:pt x="111" y="37"/>
                    <a:pt x="111" y="37"/>
                  </a:cubicBezTo>
                  <a:cubicBezTo>
                    <a:pt x="111" y="55"/>
                    <a:pt x="111" y="55"/>
                    <a:pt x="111" y="55"/>
                  </a:cubicBezTo>
                  <a:cubicBezTo>
                    <a:pt x="130" y="55"/>
                    <a:pt x="130" y="55"/>
                    <a:pt x="130" y="55"/>
                  </a:cubicBezTo>
                  <a:cubicBezTo>
                    <a:pt x="130" y="65"/>
                    <a:pt x="130" y="65"/>
                    <a:pt x="130" y="65"/>
                  </a:cubicBezTo>
                  <a:cubicBezTo>
                    <a:pt x="111" y="65"/>
                    <a:pt x="111" y="65"/>
                    <a:pt x="111" y="65"/>
                  </a:cubicBezTo>
                  <a:cubicBezTo>
                    <a:pt x="111" y="83"/>
                    <a:pt x="111" y="83"/>
                    <a:pt x="111" y="83"/>
                  </a:cubicBezTo>
                  <a:cubicBezTo>
                    <a:pt x="102" y="83"/>
                    <a:pt x="102" y="83"/>
                    <a:pt x="102" y="83"/>
                  </a:cubicBezTo>
                  <a:lnTo>
                    <a:pt x="102" y="65"/>
                  </a:lnTo>
                  <a:close/>
                  <a:moveTo>
                    <a:pt x="64" y="6"/>
                  </a:moveTo>
                  <a:cubicBezTo>
                    <a:pt x="68" y="9"/>
                    <a:pt x="76" y="16"/>
                    <a:pt x="76" y="29"/>
                  </a:cubicBezTo>
                  <a:cubicBezTo>
                    <a:pt x="76" y="42"/>
                    <a:pt x="69" y="48"/>
                    <a:pt x="62" y="53"/>
                  </a:cubicBezTo>
                  <a:cubicBezTo>
                    <a:pt x="60" y="56"/>
                    <a:pt x="57" y="58"/>
                    <a:pt x="57" y="62"/>
                  </a:cubicBezTo>
                  <a:cubicBezTo>
                    <a:pt x="57" y="66"/>
                    <a:pt x="60" y="68"/>
                    <a:pt x="61" y="69"/>
                  </a:cubicBezTo>
                  <a:cubicBezTo>
                    <a:pt x="68" y="74"/>
                    <a:pt x="68" y="74"/>
                    <a:pt x="68" y="74"/>
                  </a:cubicBezTo>
                  <a:cubicBezTo>
                    <a:pt x="75" y="80"/>
                    <a:pt x="82" y="86"/>
                    <a:pt x="82" y="98"/>
                  </a:cubicBezTo>
                  <a:cubicBezTo>
                    <a:pt x="82" y="114"/>
                    <a:pt x="66" y="130"/>
                    <a:pt x="37" y="130"/>
                  </a:cubicBezTo>
                  <a:cubicBezTo>
                    <a:pt x="12" y="130"/>
                    <a:pt x="0" y="118"/>
                    <a:pt x="0" y="106"/>
                  </a:cubicBezTo>
                  <a:cubicBezTo>
                    <a:pt x="0" y="99"/>
                    <a:pt x="3" y="91"/>
                    <a:pt x="14" y="85"/>
                  </a:cubicBezTo>
                  <a:cubicBezTo>
                    <a:pt x="24" y="78"/>
                    <a:pt x="38" y="77"/>
                    <a:pt x="46" y="77"/>
                  </a:cubicBezTo>
                  <a:cubicBezTo>
                    <a:pt x="44" y="74"/>
                    <a:pt x="41" y="71"/>
                    <a:pt x="41" y="65"/>
                  </a:cubicBezTo>
                  <a:cubicBezTo>
                    <a:pt x="41" y="62"/>
                    <a:pt x="42" y="61"/>
                    <a:pt x="43" y="59"/>
                  </a:cubicBezTo>
                  <a:cubicBezTo>
                    <a:pt x="41" y="59"/>
                    <a:pt x="39" y="59"/>
                    <a:pt x="37" y="59"/>
                  </a:cubicBezTo>
                  <a:cubicBezTo>
                    <a:pt x="19" y="59"/>
                    <a:pt x="9" y="46"/>
                    <a:pt x="9" y="32"/>
                  </a:cubicBezTo>
                  <a:cubicBezTo>
                    <a:pt x="9" y="24"/>
                    <a:pt x="12" y="16"/>
                    <a:pt x="20" y="9"/>
                  </a:cubicBezTo>
                  <a:cubicBezTo>
                    <a:pt x="30" y="1"/>
                    <a:pt x="41" y="0"/>
                    <a:pt x="50" y="0"/>
                  </a:cubicBezTo>
                  <a:cubicBezTo>
                    <a:pt x="86" y="0"/>
                    <a:pt x="86" y="0"/>
                    <a:pt x="86" y="0"/>
                  </a:cubicBezTo>
                  <a:cubicBezTo>
                    <a:pt x="75" y="6"/>
                    <a:pt x="75" y="6"/>
                    <a:pt x="75" y="6"/>
                  </a:cubicBezTo>
                  <a:cubicBezTo>
                    <a:pt x="64" y="6"/>
                    <a:pt x="64" y="6"/>
                    <a:pt x="64"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 name="Group 9"/>
          <p:cNvGrpSpPr>
            <a:grpSpLocks noChangeAspect="1"/>
          </p:cNvGrpSpPr>
          <p:nvPr/>
        </p:nvGrpSpPr>
        <p:grpSpPr bwMode="auto">
          <a:xfrm>
            <a:off x="8830784" y="2121736"/>
            <a:ext cx="560948" cy="573338"/>
            <a:chOff x="1587" y="1151"/>
            <a:chExt cx="566" cy="567"/>
          </a:xfrm>
        </p:grpSpPr>
        <p:sp>
          <p:nvSpPr>
            <p:cNvPr id="13" name="Oval 10"/>
            <p:cNvSpPr>
              <a:spLocks noChangeArrowheads="1"/>
            </p:cNvSpPr>
            <p:nvPr/>
          </p:nvSpPr>
          <p:spPr bwMode="auto">
            <a:xfrm>
              <a:off x="1587" y="1151"/>
              <a:ext cx="566" cy="567"/>
            </a:xfrm>
            <a:prstGeom prst="ellipse">
              <a:avLst/>
            </a:pr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1"/>
            <p:cNvSpPr>
              <a:spLocks noEditPoints="1"/>
            </p:cNvSpPr>
            <p:nvPr/>
          </p:nvSpPr>
          <p:spPr bwMode="auto">
            <a:xfrm>
              <a:off x="1707" y="1272"/>
              <a:ext cx="316" cy="316"/>
            </a:xfrm>
            <a:custGeom>
              <a:avLst/>
              <a:gdLst>
                <a:gd name="T0" fmla="*/ 36 w 134"/>
                <a:gd name="T1" fmla="*/ 46 h 134"/>
                <a:gd name="T2" fmla="*/ 0 w 134"/>
                <a:gd name="T3" fmla="*/ 46 h 134"/>
                <a:gd name="T4" fmla="*/ 0 w 134"/>
                <a:gd name="T5" fmla="*/ 41 h 134"/>
                <a:gd name="T6" fmla="*/ 0 w 134"/>
                <a:gd name="T7" fmla="*/ 41 h 134"/>
                <a:gd name="T8" fmla="*/ 0 w 134"/>
                <a:gd name="T9" fmla="*/ 114 h 134"/>
                <a:gd name="T10" fmla="*/ 20 w 134"/>
                <a:gd name="T11" fmla="*/ 134 h 134"/>
                <a:gd name="T12" fmla="*/ 114 w 134"/>
                <a:gd name="T13" fmla="*/ 134 h 134"/>
                <a:gd name="T14" fmla="*/ 134 w 134"/>
                <a:gd name="T15" fmla="*/ 114 h 134"/>
                <a:gd name="T16" fmla="*/ 134 w 134"/>
                <a:gd name="T17" fmla="*/ 46 h 134"/>
                <a:gd name="T18" fmla="*/ 134 w 134"/>
                <a:gd name="T19" fmla="*/ 46 h 134"/>
                <a:gd name="T20" fmla="*/ 134 w 134"/>
                <a:gd name="T21" fmla="*/ 41 h 134"/>
                <a:gd name="T22" fmla="*/ 94 w 134"/>
                <a:gd name="T23" fmla="*/ 41 h 134"/>
                <a:gd name="T24" fmla="*/ 67 w 134"/>
                <a:gd name="T25" fmla="*/ 27 h 134"/>
                <a:gd name="T26" fmla="*/ 39 w 134"/>
                <a:gd name="T27" fmla="*/ 41 h 134"/>
                <a:gd name="T28" fmla="*/ 0 w 134"/>
                <a:gd name="T29" fmla="*/ 41 h 134"/>
                <a:gd name="T30" fmla="*/ 0 w 134"/>
                <a:gd name="T31" fmla="*/ 20 h 134"/>
                <a:gd name="T32" fmla="*/ 14 w 134"/>
                <a:gd name="T33" fmla="*/ 1 h 134"/>
                <a:gd name="T34" fmla="*/ 14 w 134"/>
                <a:gd name="T35" fmla="*/ 27 h 134"/>
                <a:gd name="T36" fmla="*/ 18 w 134"/>
                <a:gd name="T37" fmla="*/ 27 h 134"/>
                <a:gd name="T38" fmla="*/ 18 w 134"/>
                <a:gd name="T39" fmla="*/ 0 h 134"/>
                <a:gd name="T40" fmla="*/ 18 w 134"/>
                <a:gd name="T41" fmla="*/ 0 h 134"/>
                <a:gd name="T42" fmla="*/ 20 w 134"/>
                <a:gd name="T43" fmla="*/ 0 h 134"/>
                <a:gd name="T44" fmla="*/ 114 w 134"/>
                <a:gd name="T45" fmla="*/ 0 h 134"/>
                <a:gd name="T46" fmla="*/ 134 w 134"/>
                <a:gd name="T47" fmla="*/ 20 h 134"/>
                <a:gd name="T48" fmla="*/ 134 w 134"/>
                <a:gd name="T49" fmla="*/ 46 h 134"/>
                <a:gd name="T50" fmla="*/ 97 w 134"/>
                <a:gd name="T51" fmla="*/ 46 h 134"/>
                <a:gd name="T52" fmla="*/ 101 w 134"/>
                <a:gd name="T53" fmla="*/ 62 h 134"/>
                <a:gd name="T54" fmla="*/ 67 w 134"/>
                <a:gd name="T55" fmla="*/ 97 h 134"/>
                <a:gd name="T56" fmla="*/ 32 w 134"/>
                <a:gd name="T57" fmla="*/ 62 h 134"/>
                <a:gd name="T58" fmla="*/ 36 w 134"/>
                <a:gd name="T59" fmla="*/ 46 h 134"/>
                <a:gd name="T60" fmla="*/ 109 w 134"/>
                <a:gd name="T61" fmla="*/ 9 h 134"/>
                <a:gd name="T62" fmla="*/ 101 w 134"/>
                <a:gd name="T63" fmla="*/ 17 h 134"/>
                <a:gd name="T64" fmla="*/ 101 w 134"/>
                <a:gd name="T65" fmla="*/ 24 h 134"/>
                <a:gd name="T66" fmla="*/ 109 w 134"/>
                <a:gd name="T67" fmla="*/ 32 h 134"/>
                <a:gd name="T68" fmla="*/ 116 w 134"/>
                <a:gd name="T69" fmla="*/ 32 h 134"/>
                <a:gd name="T70" fmla="*/ 124 w 134"/>
                <a:gd name="T71" fmla="*/ 24 h 134"/>
                <a:gd name="T72" fmla="*/ 124 w 134"/>
                <a:gd name="T73" fmla="*/ 17 h 134"/>
                <a:gd name="T74" fmla="*/ 116 w 134"/>
                <a:gd name="T75" fmla="*/ 9 h 134"/>
                <a:gd name="T76" fmla="*/ 109 w 134"/>
                <a:gd name="T77" fmla="*/ 9 h 134"/>
                <a:gd name="T78" fmla="*/ 32 w 134"/>
                <a:gd name="T79" fmla="*/ 0 h 134"/>
                <a:gd name="T80" fmla="*/ 32 w 134"/>
                <a:gd name="T81" fmla="*/ 27 h 134"/>
                <a:gd name="T82" fmla="*/ 37 w 134"/>
                <a:gd name="T83" fmla="*/ 27 h 134"/>
                <a:gd name="T84" fmla="*/ 37 w 134"/>
                <a:gd name="T85" fmla="*/ 0 h 134"/>
                <a:gd name="T86" fmla="*/ 32 w 134"/>
                <a:gd name="T87" fmla="*/ 0 h 134"/>
                <a:gd name="T88" fmla="*/ 23 w 134"/>
                <a:gd name="T89" fmla="*/ 0 h 134"/>
                <a:gd name="T90" fmla="*/ 23 w 134"/>
                <a:gd name="T91" fmla="*/ 27 h 134"/>
                <a:gd name="T92" fmla="*/ 27 w 134"/>
                <a:gd name="T93" fmla="*/ 27 h 134"/>
                <a:gd name="T94" fmla="*/ 27 w 134"/>
                <a:gd name="T95" fmla="*/ 0 h 134"/>
                <a:gd name="T96" fmla="*/ 23 w 134"/>
                <a:gd name="T97" fmla="*/ 0 h 134"/>
                <a:gd name="T98" fmla="*/ 67 w 134"/>
                <a:gd name="T99" fmla="*/ 90 h 134"/>
                <a:gd name="T100" fmla="*/ 94 w 134"/>
                <a:gd name="T101" fmla="*/ 62 h 134"/>
                <a:gd name="T102" fmla="*/ 67 w 134"/>
                <a:gd name="T103" fmla="*/ 34 h 134"/>
                <a:gd name="T104" fmla="*/ 39 w 134"/>
                <a:gd name="T105" fmla="*/ 62 h 134"/>
                <a:gd name="T106" fmla="*/ 67 w 134"/>
                <a:gd name="T107" fmla="*/ 90 h 134"/>
                <a:gd name="T108" fmla="*/ 67 w 134"/>
                <a:gd name="T109" fmla="*/ 81 h 134"/>
                <a:gd name="T110" fmla="*/ 85 w 134"/>
                <a:gd name="T111" fmla="*/ 62 h 134"/>
                <a:gd name="T112" fmla="*/ 67 w 134"/>
                <a:gd name="T113" fmla="*/ 44 h 134"/>
                <a:gd name="T114" fmla="*/ 48 w 134"/>
                <a:gd name="T115" fmla="*/ 62 h 134"/>
                <a:gd name="T116" fmla="*/ 67 w 134"/>
                <a:gd name="T117" fmla="*/ 81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4" h="134">
                  <a:moveTo>
                    <a:pt x="36" y="46"/>
                  </a:moveTo>
                  <a:cubicBezTo>
                    <a:pt x="0" y="46"/>
                    <a:pt x="0" y="46"/>
                    <a:pt x="0" y="46"/>
                  </a:cubicBezTo>
                  <a:cubicBezTo>
                    <a:pt x="0" y="41"/>
                    <a:pt x="0" y="41"/>
                    <a:pt x="0" y="41"/>
                  </a:cubicBezTo>
                  <a:cubicBezTo>
                    <a:pt x="0" y="41"/>
                    <a:pt x="0" y="41"/>
                    <a:pt x="0" y="41"/>
                  </a:cubicBezTo>
                  <a:cubicBezTo>
                    <a:pt x="0" y="86"/>
                    <a:pt x="0" y="114"/>
                    <a:pt x="0" y="114"/>
                  </a:cubicBezTo>
                  <a:cubicBezTo>
                    <a:pt x="0" y="134"/>
                    <a:pt x="20" y="134"/>
                    <a:pt x="20" y="134"/>
                  </a:cubicBezTo>
                  <a:cubicBezTo>
                    <a:pt x="114" y="134"/>
                    <a:pt x="114" y="134"/>
                    <a:pt x="114" y="134"/>
                  </a:cubicBezTo>
                  <a:cubicBezTo>
                    <a:pt x="114" y="134"/>
                    <a:pt x="134" y="134"/>
                    <a:pt x="134" y="114"/>
                  </a:cubicBezTo>
                  <a:cubicBezTo>
                    <a:pt x="134" y="46"/>
                    <a:pt x="134" y="46"/>
                    <a:pt x="134" y="46"/>
                  </a:cubicBezTo>
                  <a:cubicBezTo>
                    <a:pt x="134" y="46"/>
                    <a:pt x="134" y="46"/>
                    <a:pt x="134" y="46"/>
                  </a:cubicBezTo>
                  <a:cubicBezTo>
                    <a:pt x="134" y="41"/>
                    <a:pt x="134" y="41"/>
                    <a:pt x="134" y="41"/>
                  </a:cubicBezTo>
                  <a:cubicBezTo>
                    <a:pt x="94" y="41"/>
                    <a:pt x="94" y="41"/>
                    <a:pt x="94" y="41"/>
                  </a:cubicBezTo>
                  <a:cubicBezTo>
                    <a:pt x="88" y="33"/>
                    <a:pt x="78" y="27"/>
                    <a:pt x="67" y="27"/>
                  </a:cubicBezTo>
                  <a:cubicBezTo>
                    <a:pt x="55" y="27"/>
                    <a:pt x="45" y="33"/>
                    <a:pt x="39" y="41"/>
                  </a:cubicBezTo>
                  <a:cubicBezTo>
                    <a:pt x="0" y="41"/>
                    <a:pt x="0" y="41"/>
                    <a:pt x="0" y="41"/>
                  </a:cubicBezTo>
                  <a:cubicBezTo>
                    <a:pt x="0" y="35"/>
                    <a:pt x="0" y="27"/>
                    <a:pt x="0" y="20"/>
                  </a:cubicBezTo>
                  <a:cubicBezTo>
                    <a:pt x="0" y="7"/>
                    <a:pt x="8" y="2"/>
                    <a:pt x="14" y="1"/>
                  </a:cubicBezTo>
                  <a:cubicBezTo>
                    <a:pt x="14" y="27"/>
                    <a:pt x="14" y="27"/>
                    <a:pt x="14" y="27"/>
                  </a:cubicBezTo>
                  <a:cubicBezTo>
                    <a:pt x="18" y="27"/>
                    <a:pt x="18" y="27"/>
                    <a:pt x="18" y="27"/>
                  </a:cubicBezTo>
                  <a:cubicBezTo>
                    <a:pt x="18" y="0"/>
                    <a:pt x="18" y="0"/>
                    <a:pt x="18" y="0"/>
                  </a:cubicBezTo>
                  <a:cubicBezTo>
                    <a:pt x="18" y="0"/>
                    <a:pt x="18" y="0"/>
                    <a:pt x="18" y="0"/>
                  </a:cubicBezTo>
                  <a:cubicBezTo>
                    <a:pt x="19" y="0"/>
                    <a:pt x="20" y="0"/>
                    <a:pt x="20" y="0"/>
                  </a:cubicBezTo>
                  <a:cubicBezTo>
                    <a:pt x="114" y="0"/>
                    <a:pt x="114" y="0"/>
                    <a:pt x="114" y="0"/>
                  </a:cubicBezTo>
                  <a:cubicBezTo>
                    <a:pt x="114" y="0"/>
                    <a:pt x="134" y="0"/>
                    <a:pt x="134" y="20"/>
                  </a:cubicBezTo>
                  <a:cubicBezTo>
                    <a:pt x="134" y="46"/>
                    <a:pt x="134" y="46"/>
                    <a:pt x="134" y="46"/>
                  </a:cubicBezTo>
                  <a:cubicBezTo>
                    <a:pt x="97" y="46"/>
                    <a:pt x="97" y="46"/>
                    <a:pt x="97" y="46"/>
                  </a:cubicBezTo>
                  <a:cubicBezTo>
                    <a:pt x="100" y="51"/>
                    <a:pt x="101" y="56"/>
                    <a:pt x="101" y="62"/>
                  </a:cubicBezTo>
                  <a:cubicBezTo>
                    <a:pt x="101" y="81"/>
                    <a:pt x="86" y="97"/>
                    <a:pt x="67" y="97"/>
                  </a:cubicBezTo>
                  <a:cubicBezTo>
                    <a:pt x="48" y="97"/>
                    <a:pt x="32" y="81"/>
                    <a:pt x="32" y="62"/>
                  </a:cubicBezTo>
                  <a:cubicBezTo>
                    <a:pt x="32" y="56"/>
                    <a:pt x="34" y="51"/>
                    <a:pt x="36" y="46"/>
                  </a:cubicBezTo>
                  <a:close/>
                  <a:moveTo>
                    <a:pt x="109" y="9"/>
                  </a:moveTo>
                  <a:cubicBezTo>
                    <a:pt x="105" y="9"/>
                    <a:pt x="101" y="13"/>
                    <a:pt x="101" y="17"/>
                  </a:cubicBezTo>
                  <a:cubicBezTo>
                    <a:pt x="101" y="24"/>
                    <a:pt x="101" y="24"/>
                    <a:pt x="101" y="24"/>
                  </a:cubicBezTo>
                  <a:cubicBezTo>
                    <a:pt x="101" y="28"/>
                    <a:pt x="105" y="32"/>
                    <a:pt x="109" y="32"/>
                  </a:cubicBezTo>
                  <a:cubicBezTo>
                    <a:pt x="116" y="32"/>
                    <a:pt x="116" y="32"/>
                    <a:pt x="116" y="32"/>
                  </a:cubicBezTo>
                  <a:cubicBezTo>
                    <a:pt x="121" y="32"/>
                    <a:pt x="124" y="28"/>
                    <a:pt x="124" y="24"/>
                  </a:cubicBezTo>
                  <a:cubicBezTo>
                    <a:pt x="124" y="17"/>
                    <a:pt x="124" y="17"/>
                    <a:pt x="124" y="17"/>
                  </a:cubicBezTo>
                  <a:cubicBezTo>
                    <a:pt x="124" y="13"/>
                    <a:pt x="121" y="9"/>
                    <a:pt x="116" y="9"/>
                  </a:cubicBezTo>
                  <a:lnTo>
                    <a:pt x="109" y="9"/>
                  </a:lnTo>
                  <a:close/>
                  <a:moveTo>
                    <a:pt x="32" y="0"/>
                  </a:moveTo>
                  <a:cubicBezTo>
                    <a:pt x="32" y="27"/>
                    <a:pt x="32" y="27"/>
                    <a:pt x="32" y="27"/>
                  </a:cubicBezTo>
                  <a:cubicBezTo>
                    <a:pt x="37" y="27"/>
                    <a:pt x="37" y="27"/>
                    <a:pt x="37" y="27"/>
                  </a:cubicBezTo>
                  <a:cubicBezTo>
                    <a:pt x="37" y="0"/>
                    <a:pt x="37" y="0"/>
                    <a:pt x="37" y="0"/>
                  </a:cubicBezTo>
                  <a:lnTo>
                    <a:pt x="32" y="0"/>
                  </a:lnTo>
                  <a:close/>
                  <a:moveTo>
                    <a:pt x="23" y="0"/>
                  </a:moveTo>
                  <a:cubicBezTo>
                    <a:pt x="23" y="27"/>
                    <a:pt x="23" y="27"/>
                    <a:pt x="23" y="27"/>
                  </a:cubicBezTo>
                  <a:cubicBezTo>
                    <a:pt x="27" y="27"/>
                    <a:pt x="27" y="27"/>
                    <a:pt x="27" y="27"/>
                  </a:cubicBezTo>
                  <a:cubicBezTo>
                    <a:pt x="27" y="0"/>
                    <a:pt x="27" y="0"/>
                    <a:pt x="27" y="0"/>
                  </a:cubicBezTo>
                  <a:lnTo>
                    <a:pt x="23" y="0"/>
                  </a:lnTo>
                  <a:close/>
                  <a:moveTo>
                    <a:pt x="67" y="90"/>
                  </a:moveTo>
                  <a:cubicBezTo>
                    <a:pt x="82" y="90"/>
                    <a:pt x="94" y="77"/>
                    <a:pt x="94" y="62"/>
                  </a:cubicBezTo>
                  <a:cubicBezTo>
                    <a:pt x="94" y="47"/>
                    <a:pt x="82" y="34"/>
                    <a:pt x="67" y="34"/>
                  </a:cubicBezTo>
                  <a:cubicBezTo>
                    <a:pt x="51" y="34"/>
                    <a:pt x="39" y="47"/>
                    <a:pt x="39" y="62"/>
                  </a:cubicBezTo>
                  <a:cubicBezTo>
                    <a:pt x="39" y="77"/>
                    <a:pt x="51" y="90"/>
                    <a:pt x="67" y="90"/>
                  </a:cubicBezTo>
                  <a:close/>
                  <a:moveTo>
                    <a:pt x="67" y="81"/>
                  </a:moveTo>
                  <a:cubicBezTo>
                    <a:pt x="77" y="81"/>
                    <a:pt x="85" y="72"/>
                    <a:pt x="85" y="62"/>
                  </a:cubicBezTo>
                  <a:cubicBezTo>
                    <a:pt x="85" y="52"/>
                    <a:pt x="77" y="44"/>
                    <a:pt x="67" y="44"/>
                  </a:cubicBezTo>
                  <a:cubicBezTo>
                    <a:pt x="56" y="44"/>
                    <a:pt x="48" y="52"/>
                    <a:pt x="48" y="62"/>
                  </a:cubicBezTo>
                  <a:cubicBezTo>
                    <a:pt x="48" y="72"/>
                    <a:pt x="56" y="81"/>
                    <a:pt x="67" y="8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矩形 20"/>
          <p:cNvSpPr/>
          <p:nvPr/>
        </p:nvSpPr>
        <p:spPr>
          <a:xfrm>
            <a:off x="4458924" y="2759997"/>
            <a:ext cx="2114331" cy="461930"/>
          </a:xfrm>
          <a:prstGeom prst="rect">
            <a:avLst/>
          </a:prstGeom>
        </p:spPr>
        <p:txBody>
          <a:bodyPr wrap="square">
            <a:noAutofit/>
          </a:bodyPr>
          <a:lstStyle/>
          <a:p>
            <a:pPr algn="l"/>
            <a:r>
              <a:rPr lang="zh-CN" altLang="en-US" sz="2000" b="1" dirty="0"/>
              <a:t>熵权法TOPSIS</a:t>
            </a:r>
            <a:endParaRPr lang="zh-CN" altLang="en-US" sz="2000" b="1" dirty="0"/>
          </a:p>
        </p:txBody>
      </p:sp>
      <p:sp>
        <p:nvSpPr>
          <p:cNvPr id="22" name="矩形 21"/>
          <p:cNvSpPr/>
          <p:nvPr/>
        </p:nvSpPr>
        <p:spPr>
          <a:xfrm>
            <a:off x="4149061" y="3451928"/>
            <a:ext cx="2594406" cy="1662384"/>
          </a:xfrm>
          <a:prstGeom prst="rect">
            <a:avLst/>
          </a:prstGeom>
        </p:spPr>
        <p:txBody>
          <a:bodyPr wrap="square">
            <a:noAutofit/>
          </a:bodyPr>
          <a:lstStyle/>
          <a:p>
            <a:pPr lvl="0" algn="just">
              <a:lnSpc>
                <a:spcPct val="130000"/>
              </a:lnSpc>
            </a:pPr>
            <a:r>
              <a:rPr lang="zh-CN" altLang="en-US" sz="1400" dirty="0">
                <a:solidFill>
                  <a:srgbClr val="000000"/>
                </a:solidFill>
                <a:latin typeface="微软雅黑" panose="020B0503020204020204" charset="-122"/>
                <a:ea typeface="微软雅黑" panose="020B0503020204020204" charset="-122"/>
              </a:rPr>
              <a:t>基于数据的客观变异程度确定各指标的权重，避免了主观因素的干扰，确保了评价结果的客观。够全面考虑各个指标，并有效计算出各方案之间的相对优劣，为我们提供了清晰的比较依据</a:t>
            </a:r>
            <a:endParaRPr lang="zh-CN" altLang="en-US" sz="1400" dirty="0">
              <a:solidFill>
                <a:srgbClr val="000000"/>
              </a:solidFill>
              <a:latin typeface="微软雅黑" panose="020B0503020204020204" charset="-122"/>
              <a:ea typeface="微软雅黑" panose="020B0503020204020204" charset="-122"/>
            </a:endParaRPr>
          </a:p>
        </p:txBody>
      </p:sp>
      <p:sp>
        <p:nvSpPr>
          <p:cNvPr id="23" name="矩形 22"/>
          <p:cNvSpPr/>
          <p:nvPr/>
        </p:nvSpPr>
        <p:spPr>
          <a:xfrm>
            <a:off x="8412981" y="2760034"/>
            <a:ext cx="1639736" cy="351299"/>
          </a:xfrm>
          <a:prstGeom prst="rect">
            <a:avLst/>
          </a:prstGeom>
        </p:spPr>
        <p:txBody>
          <a:bodyPr wrap="square">
            <a:noAutofit/>
          </a:bodyPr>
          <a:lstStyle/>
          <a:p>
            <a:pPr marL="0" indent="0" algn="l" defTabSz="0" rtl="0" eaLnBrk="1" latinLnBrk="0" hangingPunct="1">
              <a:spcBef>
                <a:spcPct val="0"/>
              </a:spcBef>
              <a:spcAft>
                <a:spcPct val="0"/>
              </a:spcAft>
              <a:buNone/>
            </a:pPr>
            <a:r>
              <a:rPr lang="zh-CN" altLang="en-US" sz="2000" b="1" dirty="0">
                <a:solidFill>
                  <a:schemeClr val="tx1"/>
                </a:solidFill>
              </a:rPr>
              <a:t>层次分析法</a:t>
            </a:r>
            <a:endParaRPr lang="zh-CN" altLang="en-US" sz="2000" b="1" dirty="0">
              <a:solidFill>
                <a:schemeClr val="tx1"/>
              </a:solidFill>
            </a:endParaRPr>
          </a:p>
        </p:txBody>
      </p:sp>
      <p:sp>
        <p:nvSpPr>
          <p:cNvPr id="24" name="矩形 23"/>
          <p:cNvSpPr/>
          <p:nvPr/>
        </p:nvSpPr>
        <p:spPr>
          <a:xfrm>
            <a:off x="8036408" y="3371568"/>
            <a:ext cx="2399245" cy="2010539"/>
          </a:xfrm>
          <a:prstGeom prst="rect">
            <a:avLst/>
          </a:prstGeom>
        </p:spPr>
        <p:txBody>
          <a:bodyPr wrap="square">
            <a:noAutofit/>
          </a:bodyPr>
          <a:lstStyle/>
          <a:p>
            <a:pPr marL="0" lvl="0" indent="0" algn="just" defTabSz="0" rtl="0" eaLnBrk="1" latinLnBrk="0" hangingPunct="1">
              <a:lnSpc>
                <a:spcPct val="130000"/>
              </a:lnSpc>
              <a:spcBef>
                <a:spcPct val="0"/>
              </a:spcBef>
              <a:spcAft>
                <a:spcPct val="0"/>
              </a:spcAft>
              <a:buNone/>
            </a:pPr>
            <a:r>
              <a:rPr lang="zh-CN" altLang="en-US" sz="1400" dirty="0">
                <a:solidFill>
                  <a:srgbClr val="000000"/>
                </a:solidFill>
                <a:latin typeface="微软雅黑" panose="020B0503020204020204" charset="-122"/>
                <a:ea typeface="微软雅黑" panose="020B0503020204020204" charset="-122"/>
              </a:rPr>
              <a:t>而层次分析法则结合了定性与定量的分析方法，能够充分利用专家的经验和判断，将复杂问题分解为多个层次和因素，形成递阶层次结构，便于我们系统地分析和评价三国工程教育的特色和优劣</a:t>
            </a:r>
            <a:endParaRPr lang="zh-CN" altLang="en-US" sz="1400" dirty="0">
              <a:solidFill>
                <a:srgbClr val="000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ppt_x</p:attrName>
                                        </p:attrNameLst>
                                      </p:cBhvr>
                                      <p:tavLst>
                                        <p:tav tm="0">
                                          <p:val>
                                            <p:strVal val="#ppt_x-.2"/>
                                          </p:val>
                                        </p:tav>
                                        <p:tav tm="100000">
                                          <p:val>
                                            <p:strVal val="#ppt_x"/>
                                          </p:val>
                                        </p:tav>
                                      </p:tavLst>
                                    </p:anim>
                                    <p:anim calcmode="lin" valueType="num">
                                      <p:cBhvr>
                                        <p:cTn id="8" dur="10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000" fill="hold">
                                          <p:stCondLst>
                                            <p:cond delay="0"/>
                                          </p:stCondLst>
                                        </p:cTn>
                                        <p:tgtEl>
                                          <p:spTgt spid="9"/>
                                        </p:tgtEl>
                                        <p:attrNameLst>
                                          <p:attrName>style.visibility</p:attrName>
                                        </p:attrNameLst>
                                      </p:cBhvr>
                                      <p:to>
                                        <p:strVal val="visible"/>
                                      </p:to>
                                    </p:set>
                                    <p:animEffect transition="in" filter="wheel(1)">
                                      <p:cBhvr>
                                        <p:cTn id="14" dur="1000"/>
                                        <p:tgtEl>
                                          <p:spTgt spid="9"/>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arn(inVertical)">
                                      <p:cBhvr>
                                        <p:cTn id="17" dur="500"/>
                                        <p:tgtEl>
                                          <p:spTgt spid="2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barn(inVertical)">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000" fill="hold">
                                          <p:stCondLst>
                                            <p:cond delay="0"/>
                                          </p:stCondLst>
                                        </p:cTn>
                                        <p:tgtEl>
                                          <p:spTgt spid="12"/>
                                        </p:tgtEl>
                                        <p:attrNameLst>
                                          <p:attrName>style.visibility</p:attrName>
                                        </p:attrNameLst>
                                      </p:cBhvr>
                                      <p:to>
                                        <p:strVal val="visible"/>
                                      </p:to>
                                    </p:set>
                                    <p:animEffect transition="in" filter="wheel(1)">
                                      <p:cBhvr>
                                        <p:cTn id="28" dur="1000"/>
                                        <p:tgtEl>
                                          <p:spTgt spid="1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arn(inVertical)">
                                      <p:cBhvr>
                                        <p:cTn id="31" dur="500"/>
                                        <p:tgtEl>
                                          <p:spTgt spid="2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arn(inVertical)">
                                      <p:cBhvr>
                                        <p:cTn id="34" dur="500"/>
                                        <p:tgtEl>
                                          <p:spTgt spid="6"/>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barn(inVertical)">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p:bldP spid="21" grpId="0"/>
      <p:bldP spid="22"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剪去单角的矩形 25"/>
          <p:cNvSpPr/>
          <p:nvPr userDrawn="1"/>
        </p:nvSpPr>
        <p:spPr>
          <a:xfrm>
            <a:off x="8459031" y="3478686"/>
            <a:ext cx="3195978" cy="3007774"/>
          </a:xfrm>
          <a:prstGeom prst="snip1Rect">
            <a:avLst/>
          </a:prstGeom>
          <a:solidFill>
            <a:srgbClr val="FFE699">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5" name="剪去单角的矩形 24"/>
          <p:cNvSpPr/>
          <p:nvPr userDrawn="1"/>
        </p:nvSpPr>
        <p:spPr>
          <a:xfrm>
            <a:off x="4498052" y="3478736"/>
            <a:ext cx="3195978" cy="3007774"/>
          </a:xfrm>
          <a:prstGeom prst="snip1Rect">
            <a:avLst/>
          </a:prstGeom>
          <a:solidFill>
            <a:srgbClr val="FFE699">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4" name="剪去单角的矩形 23"/>
          <p:cNvSpPr/>
          <p:nvPr userDrawn="1"/>
        </p:nvSpPr>
        <p:spPr>
          <a:xfrm>
            <a:off x="634962" y="3478695"/>
            <a:ext cx="3085379" cy="3007774"/>
          </a:xfrm>
          <a:prstGeom prst="snip1Rect">
            <a:avLst/>
          </a:prstGeom>
          <a:solidFill>
            <a:srgbClr val="FFE699">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 name="矩形 1"/>
          <p:cNvSpPr/>
          <p:nvPr/>
        </p:nvSpPr>
        <p:spPr>
          <a:xfrm>
            <a:off x="0" y="60523"/>
            <a:ext cx="2068830" cy="306705"/>
          </a:xfrm>
          <a:prstGeom prst="rect">
            <a:avLst/>
          </a:prstGeom>
        </p:spPr>
        <p:txBody>
          <a:bodyPr wrap="none">
            <a:spAutoFit/>
          </a:bodyPr>
          <a:lstStyle/>
          <a:p>
            <a:r>
              <a:rPr lang="en-US" altLang="zh-CN" sz="1400" b="1" dirty="0"/>
              <a:t>PART T</a:t>
            </a:r>
            <a:r>
              <a:rPr lang="en-US" altLang="zh-CN" sz="1400" b="1" dirty="0">
                <a:solidFill>
                  <a:schemeClr val="tx1"/>
                </a:solidFill>
              </a:rPr>
              <a:t>HREE</a:t>
            </a:r>
            <a:r>
              <a:rPr lang="en-US" altLang="zh-CN" sz="1400" b="1" dirty="0"/>
              <a:t> </a:t>
            </a:r>
            <a:r>
              <a:rPr lang="zh-CN" altLang="en-US" sz="1400" b="1" dirty="0"/>
              <a:t>方法实现</a:t>
            </a:r>
            <a:endParaRPr lang="zh-CN" altLang="en-US" sz="1400" b="1" dirty="0"/>
          </a:p>
        </p:txBody>
      </p:sp>
      <p:sp>
        <p:nvSpPr>
          <p:cNvPr id="3" name="椭圆 2"/>
          <p:cNvSpPr/>
          <p:nvPr/>
        </p:nvSpPr>
        <p:spPr>
          <a:xfrm>
            <a:off x="1943304" y="157740"/>
            <a:ext cx="125540" cy="1337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sp>
        <p:nvSpPr>
          <p:cNvPr id="8" name="矩形 7"/>
          <p:cNvSpPr/>
          <p:nvPr/>
        </p:nvSpPr>
        <p:spPr>
          <a:xfrm>
            <a:off x="1717434" y="3600926"/>
            <a:ext cx="896620" cy="306705"/>
          </a:xfrm>
          <a:prstGeom prst="rect">
            <a:avLst/>
          </a:prstGeom>
        </p:spPr>
        <p:txBody>
          <a:bodyPr wrap="none">
            <a:spAutoFit/>
          </a:bodyPr>
          <a:lstStyle/>
          <a:p>
            <a:r>
              <a:rPr lang="zh-CN" altLang="en-US" sz="1400" b="1" dirty="0">
                <a:solidFill>
                  <a:schemeClr val="tx1"/>
                </a:solidFill>
              </a:rPr>
              <a:t>清华大学</a:t>
            </a:r>
            <a:endParaRPr lang="zh-CN" altLang="en-US" sz="1400" b="1" dirty="0">
              <a:solidFill>
                <a:schemeClr val="tx1"/>
              </a:solidFill>
            </a:endParaRPr>
          </a:p>
        </p:txBody>
      </p:sp>
      <p:sp>
        <p:nvSpPr>
          <p:cNvPr id="9" name="矩形 8"/>
          <p:cNvSpPr/>
          <p:nvPr/>
        </p:nvSpPr>
        <p:spPr>
          <a:xfrm>
            <a:off x="750504" y="3817692"/>
            <a:ext cx="2854366" cy="2516451"/>
          </a:xfrm>
          <a:prstGeom prst="rect">
            <a:avLst/>
          </a:prstGeom>
        </p:spPr>
        <p:txBody>
          <a:bodyPr wrap="square">
            <a:noAutofit/>
          </a:bodyPr>
          <a:lstStyle/>
          <a:p>
            <a:pPr lvl="0" algn="l">
              <a:lnSpc>
                <a:spcPct val="130000"/>
              </a:lnSpc>
            </a:pPr>
            <a:r>
              <a:rPr lang="zh-CN" altLang="en-US" sz="1400" dirty="0">
                <a:solidFill>
                  <a:srgbClr val="000000"/>
                </a:solidFill>
                <a:latin typeface="黑体" panose="02010609060101010101" charset="-122"/>
                <a:ea typeface="黑体" panose="02010609060101010101" charset="-122"/>
                <a:cs typeface="黑体" panose="02010609060101010101" charset="-122"/>
              </a:rPr>
              <a:t>清华大学的A类工科占据全校A类学科的半壁江山，高达54.1%同时其工科类学科中，超过八成被评为A类，这一比例高达83.3%。清华的工科专业特色鲜明，实力强劲，相较于北京大学，其工科优势更为显著，北大的A类工科仅占全校A类学科的14.3%。因此，我们选择清华大学作为中国工程教育的代表。</a:t>
            </a:r>
            <a:endParaRPr lang="zh-CN" altLang="en-US" sz="1400" dirty="0">
              <a:solidFill>
                <a:srgbClr val="000000"/>
              </a:solidFill>
              <a:latin typeface="黑体" panose="02010609060101010101" charset="-122"/>
              <a:ea typeface="黑体" panose="02010609060101010101" charset="-122"/>
              <a:cs typeface="黑体" panose="02010609060101010101" charset="-122"/>
            </a:endParaRPr>
          </a:p>
        </p:txBody>
      </p:sp>
      <p:sp>
        <p:nvSpPr>
          <p:cNvPr id="10" name="矩形 9"/>
          <p:cNvSpPr/>
          <p:nvPr/>
        </p:nvSpPr>
        <p:spPr>
          <a:xfrm>
            <a:off x="5376405" y="3600926"/>
            <a:ext cx="1610360" cy="306705"/>
          </a:xfrm>
          <a:prstGeom prst="rect">
            <a:avLst/>
          </a:prstGeom>
        </p:spPr>
        <p:txBody>
          <a:bodyPr wrap="none">
            <a:spAutoFit/>
          </a:bodyPr>
          <a:lstStyle/>
          <a:p>
            <a:pPr algn="l"/>
            <a:r>
              <a:rPr lang="zh-CN" altLang="en-US" sz="1400" b="1" dirty="0">
                <a:solidFill>
                  <a:schemeClr val="tx1"/>
                </a:solidFill>
              </a:rPr>
              <a:t>巴黎综合理工学院</a:t>
            </a:r>
            <a:endParaRPr lang="zh-CN" altLang="en-US" sz="1400" b="1" dirty="0">
              <a:solidFill>
                <a:schemeClr val="tx1"/>
              </a:solidFill>
            </a:endParaRPr>
          </a:p>
        </p:txBody>
      </p:sp>
      <p:sp>
        <p:nvSpPr>
          <p:cNvPr id="11" name="矩形 10"/>
          <p:cNvSpPr/>
          <p:nvPr/>
        </p:nvSpPr>
        <p:spPr>
          <a:xfrm>
            <a:off x="4695476" y="3909532"/>
            <a:ext cx="2900286" cy="2491902"/>
          </a:xfrm>
          <a:prstGeom prst="rect">
            <a:avLst/>
          </a:prstGeom>
        </p:spPr>
        <p:txBody>
          <a:bodyPr wrap="square">
            <a:noAutofit/>
          </a:bodyPr>
          <a:lstStyle/>
          <a:p>
            <a:pPr marL="0" lvl="0" indent="0" algn="l" defTabSz="0" rtl="0" eaLnBrk="1" latinLnBrk="0" hangingPunct="1">
              <a:lnSpc>
                <a:spcPct val="130000"/>
              </a:lnSpc>
              <a:spcBef>
                <a:spcPct val="0"/>
              </a:spcBef>
              <a:spcAft>
                <a:spcPct val="0"/>
              </a:spcAft>
              <a:buNone/>
            </a:pPr>
            <a:r>
              <a:rPr lang="zh-CN" altLang="en-US" sz="1400" dirty="0">
                <a:solidFill>
                  <a:srgbClr val="000000"/>
                </a:solidFill>
                <a:latin typeface="黑体" panose="02010609060101010101" charset="-122"/>
                <a:ea typeface="黑体" panose="02010609060101010101" charset="-122"/>
                <a:cs typeface="黑体" panose="02010609060101010101" charset="-122"/>
              </a:rPr>
              <a:t>在美国，麻省理工学院（MIT）在工程教育领域的卓越地位更是无可争议。该校在工程技术类专业上已经连续18年蝉联世界第一，这一骄人的成绩充分展现了麻省理工学院在工程教育领域的卓越成就和全球影响力，使其成为了美国工程教育的典范。</a:t>
            </a:r>
            <a:endParaRPr lang="zh-CN" altLang="en-US" sz="1400" dirty="0">
              <a:solidFill>
                <a:srgbClr val="000000"/>
              </a:solidFill>
              <a:latin typeface="黑体" panose="02010609060101010101" charset="-122"/>
              <a:ea typeface="黑体" panose="02010609060101010101" charset="-122"/>
              <a:cs typeface="黑体" panose="02010609060101010101" charset="-122"/>
            </a:endParaRPr>
          </a:p>
        </p:txBody>
      </p:sp>
      <p:sp>
        <p:nvSpPr>
          <p:cNvPr id="12" name="矩形 11"/>
          <p:cNvSpPr/>
          <p:nvPr/>
        </p:nvSpPr>
        <p:spPr>
          <a:xfrm>
            <a:off x="9273464" y="3600926"/>
            <a:ext cx="1253490" cy="306705"/>
          </a:xfrm>
          <a:prstGeom prst="rect">
            <a:avLst/>
          </a:prstGeom>
        </p:spPr>
        <p:txBody>
          <a:bodyPr wrap="none">
            <a:spAutoFit/>
          </a:bodyPr>
          <a:lstStyle/>
          <a:p>
            <a:r>
              <a:rPr lang="zh-CN" altLang="en-US" sz="1400" b="1" dirty="0">
                <a:solidFill>
                  <a:schemeClr val="tx1"/>
                </a:solidFill>
              </a:rPr>
              <a:t>麻省理工学院</a:t>
            </a:r>
            <a:endParaRPr lang="zh-CN" altLang="en-US" sz="1400" b="1" dirty="0">
              <a:solidFill>
                <a:schemeClr val="tx1"/>
              </a:solidFill>
            </a:endParaRPr>
          </a:p>
        </p:txBody>
      </p:sp>
      <p:sp>
        <p:nvSpPr>
          <p:cNvPr id="13" name="矩形 12"/>
          <p:cNvSpPr/>
          <p:nvPr/>
        </p:nvSpPr>
        <p:spPr>
          <a:xfrm>
            <a:off x="8571566" y="3909532"/>
            <a:ext cx="2996208" cy="2424587"/>
          </a:xfrm>
          <a:prstGeom prst="rect">
            <a:avLst/>
          </a:prstGeom>
        </p:spPr>
        <p:txBody>
          <a:bodyPr wrap="square">
            <a:noAutofit/>
          </a:bodyPr>
          <a:lstStyle/>
          <a:p>
            <a:pPr marL="0" lvl="0" indent="0" algn="l" defTabSz="0" rtl="0" eaLnBrk="1" latinLnBrk="0" hangingPunct="1">
              <a:lnSpc>
                <a:spcPct val="130000"/>
              </a:lnSpc>
              <a:spcBef>
                <a:spcPct val="0"/>
              </a:spcBef>
              <a:spcAft>
                <a:spcPct val="0"/>
              </a:spcAft>
              <a:buNone/>
            </a:pPr>
            <a:r>
              <a:rPr lang="zh-CN" altLang="en-US" sz="1400" dirty="0">
                <a:solidFill>
                  <a:srgbClr val="000000"/>
                </a:solidFill>
                <a:latin typeface="黑体" panose="02010609060101010101" charset="-122"/>
                <a:ea typeface="黑体" panose="02010609060101010101" charset="-122"/>
                <a:cs typeface="黑体" panose="02010609060101010101" charset="-122"/>
              </a:rPr>
              <a:t> 至于法国，巴黎综合理工学院无疑是该国工程教育的领军者。在《学生报》发布的2024年工程师学院排名中，该校稳居榜首，充分证明了其强大的教育实力。巴黎综合理工学院不仅注重培养学生的实践能力和创新精神，还致力于为法国乃至全球的工程界输送优秀的专业人才，其影响力与贡献不容忽视。</a:t>
            </a:r>
            <a:endParaRPr lang="zh-CN" altLang="en-US" sz="1400" dirty="0">
              <a:solidFill>
                <a:srgbClr val="000000"/>
              </a:solidFill>
              <a:latin typeface="黑体" panose="02010609060101010101" charset="-122"/>
              <a:ea typeface="黑体" panose="02010609060101010101" charset="-122"/>
              <a:cs typeface="黑体" panose="02010609060101010101" charset="-122"/>
            </a:endParaRPr>
          </a:p>
        </p:txBody>
      </p:sp>
      <p:pic>
        <p:nvPicPr>
          <p:cNvPr id="40" name="图片 39"/>
          <p:cNvPicPr>
            <a:picLocks noChangeAspect="1"/>
          </p:cNvPicPr>
          <p:nvPr/>
        </p:nvPicPr>
        <p:blipFill>
          <a:blip r:embed="rId1">
            <a:duotone>
              <a:prstClr val="black"/>
              <a:schemeClr val="tx2">
                <a:tint val="45000"/>
                <a:satMod val="400000"/>
              </a:schemeClr>
            </a:duotone>
          </a:blip>
          <a:stretch>
            <a:fillRect/>
          </a:stretch>
        </p:blipFill>
        <p:spPr>
          <a:xfrm>
            <a:off x="9537337" y="216134"/>
            <a:ext cx="2117688" cy="570755"/>
          </a:xfrm>
          <a:prstGeom prst="rect">
            <a:avLst/>
          </a:prstGeom>
        </p:spPr>
      </p:pic>
      <p:sp>
        <p:nvSpPr>
          <p:cNvPr id="4" name="文本框 3"/>
          <p:cNvSpPr txBox="1"/>
          <p:nvPr/>
        </p:nvSpPr>
        <p:spPr>
          <a:xfrm>
            <a:off x="3762661" y="598803"/>
            <a:ext cx="4991100" cy="369570"/>
          </a:xfrm>
          <a:prstGeom prst="rect">
            <a:avLst/>
          </a:prstGeom>
          <a:noFill/>
        </p:spPr>
        <p:txBody>
          <a:bodyPr wrap="square" rtlCol="0" anchor="t">
            <a:noAutofit/>
          </a:bodyPr>
          <a:lstStyle/>
          <a:p>
            <a:r>
              <a:rPr lang="zh-CN" altLang="en-US" sz="3600" b="1">
                <a:solidFill>
                  <a:schemeClr val="tx1"/>
                </a:solidFill>
                <a:latin typeface="楷体" panose="02010609060101010101" charset="-122"/>
                <a:ea typeface="楷体" panose="02010609060101010101" charset="-122"/>
                <a:cs typeface="楷体" panose="02010609060101010101" charset="-122"/>
              </a:rPr>
              <a:t>数据收集对象的确立</a:t>
            </a:r>
            <a:endParaRPr sz="3600" b="1">
              <a:latin typeface="楷体" panose="02010609060101010101" charset="-122"/>
              <a:ea typeface="楷体" panose="02010609060101010101" charset="-122"/>
              <a:cs typeface="楷体" panose="02010609060101010101" charset="-122"/>
            </a:endParaRPr>
          </a:p>
        </p:txBody>
      </p:sp>
      <p:sp>
        <p:nvSpPr>
          <p:cNvPr id="14" name="任意多边形 13"/>
          <p:cNvSpPr/>
          <p:nvPr>
            <p:custDataLst>
              <p:tags r:id="rId2"/>
            </p:custDataLst>
          </p:nvPr>
        </p:nvSpPr>
        <p:spPr>
          <a:xfrm>
            <a:off x="1025472" y="1298517"/>
            <a:ext cx="2159316" cy="2066812"/>
          </a:xfrm>
          <a:custGeom>
            <a:avLst/>
            <a:gdLst>
              <a:gd name="connsiteX0" fmla="*/ 961691 w 1844621"/>
              <a:gd name="connsiteY0" fmla="*/ 1643760 h 1765598"/>
              <a:gd name="connsiteX1" fmla="*/ 964657 w 1844621"/>
              <a:gd name="connsiteY1" fmla="*/ 1718060 h 1765598"/>
              <a:gd name="connsiteX2" fmla="*/ 948083 w 1844621"/>
              <a:gd name="connsiteY2" fmla="*/ 1717184 h 1765598"/>
              <a:gd name="connsiteX3" fmla="*/ 946614 w 1844621"/>
              <a:gd name="connsiteY3" fmla="*/ 1717353 h 1765598"/>
              <a:gd name="connsiteX4" fmla="*/ 943691 w 1844621"/>
              <a:gd name="connsiteY4" fmla="*/ 1644103 h 1765598"/>
              <a:gd name="connsiteX5" fmla="*/ 875350 w 1844621"/>
              <a:gd name="connsiteY5" fmla="*/ 1643169 h 1765598"/>
              <a:gd name="connsiteX6" fmla="*/ 893299 w 1844621"/>
              <a:gd name="connsiteY6" fmla="*/ 1644629 h 1765598"/>
              <a:gd name="connsiteX7" fmla="*/ 889341 w 1844621"/>
              <a:gd name="connsiteY7" fmla="*/ 1723945 h 1765598"/>
              <a:gd name="connsiteX8" fmla="*/ 871214 w 1844621"/>
              <a:gd name="connsiteY8" fmla="*/ 1726031 h 1765598"/>
              <a:gd name="connsiteX9" fmla="*/ 1029699 w 1844621"/>
              <a:gd name="connsiteY9" fmla="*/ 1636826 h 1765598"/>
              <a:gd name="connsiteX10" fmla="*/ 1040815 w 1844621"/>
              <a:gd name="connsiteY10" fmla="*/ 1722087 h 1765598"/>
              <a:gd name="connsiteX11" fmla="*/ 1022537 w 1844621"/>
              <a:gd name="connsiteY11" fmla="*/ 1721121 h 1765598"/>
              <a:gd name="connsiteX12" fmla="*/ 1011828 w 1844621"/>
              <a:gd name="connsiteY12" fmla="*/ 1638982 h 1765598"/>
              <a:gd name="connsiteX13" fmla="*/ 807350 w 1844621"/>
              <a:gd name="connsiteY13" fmla="*/ 1636115 h 1765598"/>
              <a:gd name="connsiteX14" fmla="*/ 822430 w 1844621"/>
              <a:gd name="connsiteY14" fmla="*/ 1638864 h 1765598"/>
              <a:gd name="connsiteX15" fmla="*/ 825110 w 1844621"/>
              <a:gd name="connsiteY15" fmla="*/ 1639083 h 1765598"/>
              <a:gd name="connsiteX16" fmla="*/ 811751 w 1844621"/>
              <a:gd name="connsiteY16" fmla="*/ 1734136 h 1765598"/>
              <a:gd name="connsiteX17" fmla="*/ 792774 w 1844621"/>
              <a:gd name="connsiteY17" fmla="*/ 1739833 h 1765598"/>
              <a:gd name="connsiteX18" fmla="*/ 1096827 w 1844621"/>
              <a:gd name="connsiteY18" fmla="*/ 1624033 h 1765598"/>
              <a:gd name="connsiteX19" fmla="*/ 1121385 w 1844621"/>
              <a:gd name="connsiteY19" fmla="*/ 1734155 h 1765598"/>
              <a:gd name="connsiteX20" fmla="*/ 1101928 w 1844621"/>
              <a:gd name="connsiteY20" fmla="*/ 1729603 h 1765598"/>
              <a:gd name="connsiteX21" fmla="*/ 1079265 w 1844621"/>
              <a:gd name="connsiteY21" fmla="*/ 1627978 h 1765598"/>
              <a:gd name="connsiteX22" fmla="*/ 740342 w 1844621"/>
              <a:gd name="connsiteY22" fmla="*/ 1622534 h 1765598"/>
              <a:gd name="connsiteX23" fmla="*/ 749046 w 1844621"/>
              <a:gd name="connsiteY23" fmla="*/ 1625484 h 1765598"/>
              <a:gd name="connsiteX24" fmla="*/ 757767 w 1844621"/>
              <a:gd name="connsiteY24" fmla="*/ 1627074 h 1765598"/>
              <a:gd name="connsiteX25" fmla="*/ 726815 w 1844621"/>
              <a:gd name="connsiteY25" fmla="*/ 1759631 h 1765598"/>
              <a:gd name="connsiteX26" fmla="*/ 706937 w 1844621"/>
              <a:gd name="connsiteY26" fmla="*/ 1765598 h 1765598"/>
              <a:gd name="connsiteX27" fmla="*/ 1162592 w 1844621"/>
              <a:gd name="connsiteY27" fmla="*/ 1605474 h 1765598"/>
              <a:gd name="connsiteX28" fmla="*/ 1211506 w 1844621"/>
              <a:gd name="connsiteY28" fmla="*/ 1758609 h 1765598"/>
              <a:gd name="connsiteX29" fmla="*/ 1193512 w 1844621"/>
              <a:gd name="connsiteY29" fmla="*/ 1751032 h 1765598"/>
              <a:gd name="connsiteX30" fmla="*/ 1189921 w 1844621"/>
              <a:gd name="connsiteY30" fmla="*/ 1750192 h 1765598"/>
              <a:gd name="connsiteX31" fmla="*/ 1145515 w 1844621"/>
              <a:gd name="connsiteY31" fmla="*/ 1611170 h 1765598"/>
              <a:gd name="connsiteX32" fmla="*/ 675637 w 1844621"/>
              <a:gd name="connsiteY32" fmla="*/ 1600604 h 1765598"/>
              <a:gd name="connsiteX33" fmla="*/ 692686 w 1844621"/>
              <a:gd name="connsiteY33" fmla="*/ 1606382 h 1765598"/>
              <a:gd name="connsiteX34" fmla="*/ 641486 w 1844621"/>
              <a:gd name="connsiteY34" fmla="*/ 1761326 h 1765598"/>
              <a:gd name="connsiteX35" fmla="*/ 631383 w 1844621"/>
              <a:gd name="connsiteY35" fmla="*/ 1744623 h 1765598"/>
              <a:gd name="connsiteX36" fmla="*/ 628970 w 1844621"/>
              <a:gd name="connsiteY36" fmla="*/ 1741831 h 1765598"/>
              <a:gd name="connsiteX37" fmla="*/ 1225916 w 1844621"/>
              <a:gd name="connsiteY37" fmla="*/ 1579868 h 1765598"/>
              <a:gd name="connsiteX38" fmla="*/ 1279540 w 1844621"/>
              <a:gd name="connsiteY38" fmla="*/ 1707080 h 1765598"/>
              <a:gd name="connsiteX39" fmla="*/ 1266966 w 1844621"/>
              <a:gd name="connsiteY39" fmla="*/ 1723591 h 1765598"/>
              <a:gd name="connsiteX40" fmla="*/ 1209837 w 1844621"/>
              <a:gd name="connsiteY40" fmla="*/ 1588066 h 1765598"/>
              <a:gd name="connsiteX41" fmla="*/ 610954 w 1844621"/>
              <a:gd name="connsiteY41" fmla="*/ 1578681 h 1765598"/>
              <a:gd name="connsiteX42" fmla="*/ 628059 w 1844621"/>
              <a:gd name="connsiteY42" fmla="*/ 1584478 h 1765598"/>
              <a:gd name="connsiteX43" fmla="*/ 582951 w 1844621"/>
              <a:gd name="connsiteY43" fmla="*/ 1688574 h 1765598"/>
              <a:gd name="connsiteX44" fmla="*/ 569886 w 1844621"/>
              <a:gd name="connsiteY44" fmla="*/ 1673454 h 1765598"/>
              <a:gd name="connsiteX45" fmla="*/ 1286670 w 1844621"/>
              <a:gd name="connsiteY45" fmla="*/ 1548893 h 1765598"/>
              <a:gd name="connsiteX46" fmla="*/ 1333269 w 1844621"/>
              <a:gd name="connsiteY46" fmla="*/ 1636531 h 1765598"/>
              <a:gd name="connsiteX47" fmla="*/ 1321264 w 1844621"/>
              <a:gd name="connsiteY47" fmla="*/ 1652294 h 1765598"/>
              <a:gd name="connsiteX48" fmla="*/ 1270632 w 1844621"/>
              <a:gd name="connsiteY48" fmla="*/ 1557070 h 1765598"/>
              <a:gd name="connsiteX49" fmla="*/ 551444 w 1844621"/>
              <a:gd name="connsiteY49" fmla="*/ 1545001 h 1765598"/>
              <a:gd name="connsiteX50" fmla="*/ 567074 w 1844621"/>
              <a:gd name="connsiteY50" fmla="*/ 1553937 h 1765598"/>
              <a:gd name="connsiteX51" fmla="*/ 524862 w 1844621"/>
              <a:gd name="connsiteY51" fmla="*/ 1631452 h 1765598"/>
              <a:gd name="connsiteX52" fmla="*/ 510642 w 1844621"/>
              <a:gd name="connsiteY52" fmla="*/ 1619926 h 1765598"/>
              <a:gd name="connsiteX53" fmla="*/ 1346034 w 1844621"/>
              <a:gd name="connsiteY53" fmla="*/ 1515267 h 1765598"/>
              <a:gd name="connsiteX54" fmla="*/ 1390051 w 1844621"/>
              <a:gd name="connsiteY54" fmla="*/ 1582679 h 1765598"/>
              <a:gd name="connsiteX55" fmla="*/ 1376613 w 1844621"/>
              <a:gd name="connsiteY55" fmla="*/ 1595021 h 1765598"/>
              <a:gd name="connsiteX56" fmla="*/ 1331552 w 1844621"/>
              <a:gd name="connsiteY56" fmla="*/ 1526010 h 1765598"/>
              <a:gd name="connsiteX57" fmla="*/ 1333983 w 1844621"/>
              <a:gd name="connsiteY57" fmla="*/ 1524770 h 1765598"/>
              <a:gd name="connsiteX58" fmla="*/ 492213 w 1844621"/>
              <a:gd name="connsiteY58" fmla="*/ 1511140 h 1765598"/>
              <a:gd name="connsiteX59" fmla="*/ 507877 w 1844621"/>
              <a:gd name="connsiteY59" fmla="*/ 1520095 h 1765598"/>
              <a:gd name="connsiteX60" fmla="*/ 465615 w 1844621"/>
              <a:gd name="connsiteY60" fmla="*/ 1583429 h 1765598"/>
              <a:gd name="connsiteX61" fmla="*/ 452723 w 1844621"/>
              <a:gd name="connsiteY61" fmla="*/ 1572979 h 1765598"/>
              <a:gd name="connsiteX62" fmla="*/ 451434 w 1844621"/>
              <a:gd name="connsiteY62" fmla="*/ 1572252 h 1765598"/>
              <a:gd name="connsiteX63" fmla="*/ 1399641 w 1844621"/>
              <a:gd name="connsiteY63" fmla="*/ 1472989 h 1765598"/>
              <a:gd name="connsiteX64" fmla="*/ 1447523 w 1844621"/>
              <a:gd name="connsiteY64" fmla="*/ 1533649 h 1765598"/>
              <a:gd name="connsiteX65" fmla="*/ 1433600 w 1844621"/>
              <a:gd name="connsiteY65" fmla="*/ 1542681 h 1765598"/>
              <a:gd name="connsiteX66" fmla="*/ 1432510 w 1844621"/>
              <a:gd name="connsiteY66" fmla="*/ 1543682 h 1765598"/>
              <a:gd name="connsiteX67" fmla="*/ 1385507 w 1844621"/>
              <a:gd name="connsiteY67" fmla="*/ 1484135 h 1765598"/>
              <a:gd name="connsiteX68" fmla="*/ 439084 w 1844621"/>
              <a:gd name="connsiteY68" fmla="*/ 1468240 h 1765598"/>
              <a:gd name="connsiteX69" fmla="*/ 452737 w 1844621"/>
              <a:gd name="connsiteY69" fmla="*/ 1479985 h 1765598"/>
              <a:gd name="connsiteX70" fmla="*/ 401226 w 1844621"/>
              <a:gd name="connsiteY70" fmla="*/ 1543921 h 1765598"/>
              <a:gd name="connsiteX71" fmla="*/ 385335 w 1844621"/>
              <a:gd name="connsiteY71" fmla="*/ 1534955 h 1765598"/>
              <a:gd name="connsiteX72" fmla="*/ 1452700 w 1844621"/>
              <a:gd name="connsiteY72" fmla="*/ 1430017 h 1765598"/>
              <a:gd name="connsiteX73" fmla="*/ 1511505 w 1844621"/>
              <a:gd name="connsiteY73" fmla="*/ 1492141 h 1765598"/>
              <a:gd name="connsiteX74" fmla="*/ 1496150 w 1844621"/>
              <a:gd name="connsiteY74" fmla="*/ 1502102 h 1765598"/>
              <a:gd name="connsiteX75" fmla="*/ 1439119 w 1844621"/>
              <a:gd name="connsiteY75" fmla="*/ 1441854 h 1765598"/>
              <a:gd name="connsiteX76" fmla="*/ 1449687 w 1844621"/>
              <a:gd name="connsiteY76" fmla="*/ 1433519 h 1765598"/>
              <a:gd name="connsiteX77" fmla="*/ 387391 w 1844621"/>
              <a:gd name="connsiteY77" fmla="*/ 1423768 h 1765598"/>
              <a:gd name="connsiteX78" fmla="*/ 401059 w 1844621"/>
              <a:gd name="connsiteY78" fmla="*/ 1435526 h 1765598"/>
              <a:gd name="connsiteX79" fmla="*/ 332463 w 1844621"/>
              <a:gd name="connsiteY79" fmla="*/ 1506560 h 1765598"/>
              <a:gd name="connsiteX80" fmla="*/ 313761 w 1844621"/>
              <a:gd name="connsiteY80" fmla="*/ 1500014 h 1765598"/>
              <a:gd name="connsiteX81" fmla="*/ 1497274 w 1844621"/>
              <a:gd name="connsiteY81" fmla="*/ 1378205 h 1765598"/>
              <a:gd name="connsiteX82" fmla="*/ 1583781 w 1844621"/>
              <a:gd name="connsiteY82" fmla="*/ 1454547 h 1765598"/>
              <a:gd name="connsiteX83" fmla="*/ 1565364 w 1844621"/>
              <a:gd name="connsiteY83" fmla="*/ 1462300 h 1765598"/>
              <a:gd name="connsiteX84" fmla="*/ 1485535 w 1844621"/>
              <a:gd name="connsiteY84" fmla="*/ 1391850 h 1765598"/>
              <a:gd name="connsiteX85" fmla="*/ 342078 w 1844621"/>
              <a:gd name="connsiteY85" fmla="*/ 1372754 h 1765598"/>
              <a:gd name="connsiteX86" fmla="*/ 353236 w 1844621"/>
              <a:gd name="connsiteY86" fmla="*/ 1386902 h 1765598"/>
              <a:gd name="connsiteX87" fmla="*/ 248764 w 1844621"/>
              <a:gd name="connsiteY87" fmla="*/ 1477262 h 1765598"/>
              <a:gd name="connsiteX88" fmla="*/ 229175 w 1844621"/>
              <a:gd name="connsiteY88" fmla="*/ 1470405 h 1765598"/>
              <a:gd name="connsiteX89" fmla="*/ 1541797 w 1844621"/>
              <a:gd name="connsiteY89" fmla="*/ 1326453 h 1765598"/>
              <a:gd name="connsiteX90" fmla="*/ 1671063 w 1844621"/>
              <a:gd name="connsiteY90" fmla="*/ 1421359 h 1765598"/>
              <a:gd name="connsiteX91" fmla="*/ 1652052 w 1844621"/>
              <a:gd name="connsiteY91" fmla="*/ 1425806 h 1765598"/>
              <a:gd name="connsiteX92" fmla="*/ 1648653 w 1844621"/>
              <a:gd name="connsiteY92" fmla="*/ 1427237 h 1765598"/>
              <a:gd name="connsiteX93" fmla="*/ 1530022 w 1844621"/>
              <a:gd name="connsiteY93" fmla="*/ 1340139 h 1765598"/>
              <a:gd name="connsiteX94" fmla="*/ 299862 w 1844621"/>
              <a:gd name="connsiteY94" fmla="*/ 1319225 h 1765598"/>
              <a:gd name="connsiteX95" fmla="*/ 311019 w 1844621"/>
              <a:gd name="connsiteY95" fmla="*/ 1333372 h 1765598"/>
              <a:gd name="connsiteX96" fmla="*/ 178732 w 1844621"/>
              <a:gd name="connsiteY96" fmla="*/ 1428480 h 1765598"/>
              <a:gd name="connsiteX97" fmla="*/ 180377 w 1844621"/>
              <a:gd name="connsiteY97" fmla="*/ 1409027 h 1765598"/>
              <a:gd name="connsiteX98" fmla="*/ 180067 w 1844621"/>
              <a:gd name="connsiteY98" fmla="*/ 1405352 h 1765598"/>
              <a:gd name="connsiteX99" fmla="*/ 1576542 w 1844621"/>
              <a:gd name="connsiteY99" fmla="*/ 1267609 h 1765598"/>
              <a:gd name="connsiteX100" fmla="*/ 1695816 w 1844621"/>
              <a:gd name="connsiteY100" fmla="*/ 1339681 h 1765598"/>
              <a:gd name="connsiteX101" fmla="*/ 1695348 w 1844621"/>
              <a:gd name="connsiteY101" fmla="*/ 1360430 h 1765598"/>
              <a:gd name="connsiteX102" fmla="*/ 1567606 w 1844621"/>
              <a:gd name="connsiteY102" fmla="*/ 1283241 h 1765598"/>
              <a:gd name="connsiteX103" fmla="*/ 263531 w 1844621"/>
              <a:gd name="connsiteY103" fmla="*/ 1261503 h 1765598"/>
              <a:gd name="connsiteX104" fmla="*/ 271723 w 1844621"/>
              <a:gd name="connsiteY104" fmla="*/ 1277570 h 1765598"/>
              <a:gd name="connsiteX105" fmla="*/ 174140 w 1844621"/>
              <a:gd name="connsiteY105" fmla="*/ 1335215 h 1765598"/>
              <a:gd name="connsiteX106" fmla="*/ 172457 w 1844621"/>
              <a:gd name="connsiteY106" fmla="*/ 1315303 h 1765598"/>
              <a:gd name="connsiteX107" fmla="*/ 1610398 w 1844621"/>
              <a:gd name="connsiteY107" fmla="*/ 1208387 h 1765598"/>
              <a:gd name="connsiteX108" fmla="*/ 1697816 w 1844621"/>
              <a:gd name="connsiteY108" fmla="*/ 1251024 h 1765598"/>
              <a:gd name="connsiteX109" fmla="*/ 1697369 w 1844621"/>
              <a:gd name="connsiteY109" fmla="*/ 1270832 h 1765598"/>
              <a:gd name="connsiteX110" fmla="*/ 1601446 w 1844621"/>
              <a:gd name="connsiteY110" fmla="*/ 1224047 h 1765598"/>
              <a:gd name="connsiteX111" fmla="*/ 232566 w 1844621"/>
              <a:gd name="connsiteY111" fmla="*/ 1200770 h 1765598"/>
              <a:gd name="connsiteX112" fmla="*/ 240745 w 1844621"/>
              <a:gd name="connsiteY112" fmla="*/ 1216812 h 1765598"/>
              <a:gd name="connsiteX113" fmla="*/ 160720 w 1844621"/>
              <a:gd name="connsiteY113" fmla="*/ 1254859 h 1765598"/>
              <a:gd name="connsiteX114" fmla="*/ 155991 w 1844621"/>
              <a:gd name="connsiteY114" fmla="*/ 1237178 h 1765598"/>
              <a:gd name="connsiteX115" fmla="*/ 1634958 w 1844621"/>
              <a:gd name="connsiteY115" fmla="*/ 1144690 h 1765598"/>
              <a:gd name="connsiteX116" fmla="*/ 1712099 w 1844621"/>
              <a:gd name="connsiteY116" fmla="*/ 1174082 h 1765598"/>
              <a:gd name="connsiteX117" fmla="*/ 1708482 w 1844621"/>
              <a:gd name="connsiteY117" fmla="*/ 1191966 h 1765598"/>
              <a:gd name="connsiteX118" fmla="*/ 1629176 w 1844621"/>
              <a:gd name="connsiteY118" fmla="*/ 1161750 h 1765598"/>
              <a:gd name="connsiteX119" fmla="*/ 204756 w 1844621"/>
              <a:gd name="connsiteY119" fmla="*/ 1138431 h 1765598"/>
              <a:gd name="connsiteX120" fmla="*/ 210455 w 1844621"/>
              <a:gd name="connsiteY120" fmla="*/ 1155515 h 1765598"/>
              <a:gd name="connsiteX121" fmla="*/ 141015 w 1844621"/>
              <a:gd name="connsiteY121" fmla="*/ 1181182 h 1765598"/>
              <a:gd name="connsiteX122" fmla="*/ 136727 w 1844621"/>
              <a:gd name="connsiteY122" fmla="*/ 1165150 h 1765598"/>
              <a:gd name="connsiteX123" fmla="*/ 136112 w 1844621"/>
              <a:gd name="connsiteY123" fmla="*/ 1163804 h 1765598"/>
              <a:gd name="connsiteX124" fmla="*/ 1656844 w 1844621"/>
              <a:gd name="connsiteY124" fmla="*/ 1080115 h 1765598"/>
              <a:gd name="connsiteX125" fmla="*/ 1729776 w 1844621"/>
              <a:gd name="connsiteY125" fmla="*/ 1100634 h 1765598"/>
              <a:gd name="connsiteX126" fmla="*/ 1723821 w 1844621"/>
              <a:gd name="connsiteY126" fmla="*/ 1116126 h 1765598"/>
              <a:gd name="connsiteX127" fmla="*/ 1723528 w 1844621"/>
              <a:gd name="connsiteY127" fmla="*/ 1117576 h 1765598"/>
              <a:gd name="connsiteX128" fmla="*/ 1651058 w 1844621"/>
              <a:gd name="connsiteY128" fmla="*/ 1097186 h 1765598"/>
              <a:gd name="connsiteX129" fmla="*/ 184625 w 1844621"/>
              <a:gd name="connsiteY129" fmla="*/ 1073110 h 1765598"/>
              <a:gd name="connsiteX130" fmla="*/ 188043 w 1844621"/>
              <a:gd name="connsiteY130" fmla="*/ 1088326 h 1765598"/>
              <a:gd name="connsiteX131" fmla="*/ 188810 w 1844621"/>
              <a:gd name="connsiteY131" fmla="*/ 1090624 h 1765598"/>
              <a:gd name="connsiteX132" fmla="*/ 112145 w 1844621"/>
              <a:gd name="connsiteY132" fmla="*/ 1111372 h 1765598"/>
              <a:gd name="connsiteX133" fmla="*/ 104560 w 1844621"/>
              <a:gd name="connsiteY133" fmla="*/ 1094778 h 1765598"/>
              <a:gd name="connsiteX134" fmla="*/ 1672722 w 1844621"/>
              <a:gd name="connsiteY134" fmla="*/ 1013691 h 1765598"/>
              <a:gd name="connsiteX135" fmla="*/ 1757141 w 1844621"/>
              <a:gd name="connsiteY135" fmla="*/ 1029446 h 1765598"/>
              <a:gd name="connsiteX136" fmla="*/ 1750574 w 1844621"/>
              <a:gd name="connsiteY136" fmla="*/ 1046531 h 1765598"/>
              <a:gd name="connsiteX137" fmla="*/ 1669493 w 1844621"/>
              <a:gd name="connsiteY137" fmla="*/ 1031399 h 1765598"/>
              <a:gd name="connsiteX138" fmla="*/ 170225 w 1844621"/>
              <a:gd name="connsiteY138" fmla="*/ 1006273 h 1765598"/>
              <a:gd name="connsiteX139" fmla="*/ 170936 w 1844621"/>
              <a:gd name="connsiteY139" fmla="*/ 1012170 h 1765598"/>
              <a:gd name="connsiteX140" fmla="*/ 173584 w 1844621"/>
              <a:gd name="connsiteY140" fmla="*/ 1023958 h 1765598"/>
              <a:gd name="connsiteX141" fmla="*/ 78475 w 1844621"/>
              <a:gd name="connsiteY141" fmla="*/ 1040728 h 1765598"/>
              <a:gd name="connsiteX142" fmla="*/ 67193 w 1844621"/>
              <a:gd name="connsiteY142" fmla="*/ 1024440 h 1765598"/>
              <a:gd name="connsiteX143" fmla="*/ 1681368 w 1844621"/>
              <a:gd name="connsiteY143" fmla="*/ 945892 h 1765598"/>
              <a:gd name="connsiteX144" fmla="*/ 1793516 w 1844621"/>
              <a:gd name="connsiteY144" fmla="*/ 956550 h 1765598"/>
              <a:gd name="connsiteX145" fmla="*/ 1783173 w 1844621"/>
              <a:gd name="connsiteY145" fmla="*/ 973649 h 1765598"/>
              <a:gd name="connsiteX146" fmla="*/ 1679909 w 1844621"/>
              <a:gd name="connsiteY146" fmla="*/ 963835 h 1765598"/>
              <a:gd name="connsiteX147" fmla="*/ 162034 w 1844621"/>
              <a:gd name="connsiteY147" fmla="*/ 938372 h 1765598"/>
              <a:gd name="connsiteX148" fmla="*/ 164191 w 1844621"/>
              <a:gd name="connsiteY148" fmla="*/ 956254 h 1765598"/>
              <a:gd name="connsiteX149" fmla="*/ 27981 w 1844621"/>
              <a:gd name="connsiteY149" fmla="*/ 967828 h 1765598"/>
              <a:gd name="connsiteX150" fmla="*/ 16164 w 1844621"/>
              <a:gd name="connsiteY150" fmla="*/ 950767 h 1765598"/>
              <a:gd name="connsiteX151" fmla="*/ 1683923 w 1844621"/>
              <a:gd name="connsiteY151" fmla="*/ 877596 h 1765598"/>
              <a:gd name="connsiteX152" fmla="*/ 1844621 w 1844621"/>
              <a:gd name="connsiteY152" fmla="*/ 878397 h 1765598"/>
              <a:gd name="connsiteX153" fmla="*/ 1831855 w 1844621"/>
              <a:gd name="connsiteY153" fmla="*/ 893168 h 1765598"/>
              <a:gd name="connsiteX154" fmla="*/ 1829946 w 1844621"/>
              <a:gd name="connsiteY154" fmla="*/ 896325 h 1765598"/>
              <a:gd name="connsiteX155" fmla="*/ 1684266 w 1844621"/>
              <a:gd name="connsiteY155" fmla="*/ 895598 h 1765598"/>
              <a:gd name="connsiteX156" fmla="*/ 14676 w 1844621"/>
              <a:gd name="connsiteY156" fmla="*/ 869273 h 1765598"/>
              <a:gd name="connsiteX157" fmla="*/ 160356 w 1844621"/>
              <a:gd name="connsiteY157" fmla="*/ 869999 h 1765598"/>
              <a:gd name="connsiteX158" fmla="*/ 160699 w 1844621"/>
              <a:gd name="connsiteY158" fmla="*/ 888001 h 1765598"/>
              <a:gd name="connsiteX159" fmla="*/ 0 w 1844621"/>
              <a:gd name="connsiteY159" fmla="*/ 887200 h 1765598"/>
              <a:gd name="connsiteX160" fmla="*/ 12766 w 1844621"/>
              <a:gd name="connsiteY160" fmla="*/ 872429 h 1765598"/>
              <a:gd name="connsiteX161" fmla="*/ 1816638 w 1844621"/>
              <a:gd name="connsiteY161" fmla="*/ 797770 h 1765598"/>
              <a:gd name="connsiteX162" fmla="*/ 1828455 w 1844621"/>
              <a:gd name="connsiteY162" fmla="*/ 814831 h 1765598"/>
              <a:gd name="connsiteX163" fmla="*/ 1682588 w 1844621"/>
              <a:gd name="connsiteY163" fmla="*/ 827227 h 1765598"/>
              <a:gd name="connsiteX164" fmla="*/ 1680430 w 1844621"/>
              <a:gd name="connsiteY164" fmla="*/ 809345 h 1765598"/>
              <a:gd name="connsiteX165" fmla="*/ 61447 w 1844621"/>
              <a:gd name="connsiteY165" fmla="*/ 791950 h 1765598"/>
              <a:gd name="connsiteX166" fmla="*/ 164713 w 1844621"/>
              <a:gd name="connsiteY166" fmla="*/ 801763 h 1765598"/>
              <a:gd name="connsiteX167" fmla="*/ 163253 w 1844621"/>
              <a:gd name="connsiteY167" fmla="*/ 819705 h 1765598"/>
              <a:gd name="connsiteX168" fmla="*/ 51105 w 1844621"/>
              <a:gd name="connsiteY168" fmla="*/ 809048 h 1765598"/>
              <a:gd name="connsiteX169" fmla="*/ 1766145 w 1844621"/>
              <a:gd name="connsiteY169" fmla="*/ 724870 h 1765598"/>
              <a:gd name="connsiteX170" fmla="*/ 1777427 w 1844621"/>
              <a:gd name="connsiteY170" fmla="*/ 741158 h 1765598"/>
              <a:gd name="connsiteX171" fmla="*/ 1674396 w 1844621"/>
              <a:gd name="connsiteY171" fmla="*/ 759325 h 1765598"/>
              <a:gd name="connsiteX172" fmla="*/ 1673685 w 1844621"/>
              <a:gd name="connsiteY172" fmla="*/ 753429 h 1765598"/>
              <a:gd name="connsiteX173" fmla="*/ 1670588 w 1844621"/>
              <a:gd name="connsiteY173" fmla="*/ 741719 h 1765598"/>
              <a:gd name="connsiteX174" fmla="*/ 94047 w 1844621"/>
              <a:gd name="connsiteY174" fmla="*/ 719066 h 1765598"/>
              <a:gd name="connsiteX175" fmla="*/ 175129 w 1844621"/>
              <a:gd name="connsiteY175" fmla="*/ 734198 h 1765598"/>
              <a:gd name="connsiteX176" fmla="*/ 171900 w 1844621"/>
              <a:gd name="connsiteY176" fmla="*/ 751906 h 1765598"/>
              <a:gd name="connsiteX177" fmla="*/ 87480 w 1844621"/>
              <a:gd name="connsiteY177" fmla="*/ 736151 h 1765598"/>
              <a:gd name="connsiteX178" fmla="*/ 1732475 w 1844621"/>
              <a:gd name="connsiteY178" fmla="*/ 654227 h 1765598"/>
              <a:gd name="connsiteX179" fmla="*/ 1740061 w 1844621"/>
              <a:gd name="connsiteY179" fmla="*/ 670822 h 1765598"/>
              <a:gd name="connsiteX180" fmla="*/ 1657733 w 1844621"/>
              <a:gd name="connsiteY180" fmla="*/ 693102 h 1765598"/>
              <a:gd name="connsiteX181" fmla="*/ 1653131 w 1844621"/>
              <a:gd name="connsiteY181" fmla="*/ 675699 h 1765598"/>
              <a:gd name="connsiteX182" fmla="*/ 121093 w 1844621"/>
              <a:gd name="connsiteY182" fmla="*/ 648021 h 1765598"/>
              <a:gd name="connsiteX183" fmla="*/ 193564 w 1844621"/>
              <a:gd name="connsiteY183" fmla="*/ 668412 h 1765598"/>
              <a:gd name="connsiteX184" fmla="*/ 187778 w 1844621"/>
              <a:gd name="connsiteY184" fmla="*/ 685483 h 1765598"/>
              <a:gd name="connsiteX185" fmla="*/ 114844 w 1844621"/>
              <a:gd name="connsiteY185" fmla="*/ 664963 h 1765598"/>
              <a:gd name="connsiteX186" fmla="*/ 120799 w 1844621"/>
              <a:gd name="connsiteY186" fmla="*/ 649471 h 1765598"/>
              <a:gd name="connsiteX187" fmla="*/ 1703605 w 1844621"/>
              <a:gd name="connsiteY187" fmla="*/ 584417 h 1765598"/>
              <a:gd name="connsiteX188" fmla="*/ 1707892 w 1844621"/>
              <a:gd name="connsiteY188" fmla="*/ 600448 h 1765598"/>
              <a:gd name="connsiteX189" fmla="*/ 1708508 w 1844621"/>
              <a:gd name="connsiteY189" fmla="*/ 601796 h 1765598"/>
              <a:gd name="connsiteX190" fmla="*/ 1640259 w 1844621"/>
              <a:gd name="connsiteY190" fmla="*/ 627022 h 1765598"/>
              <a:gd name="connsiteX191" fmla="*/ 1639049 w 1844621"/>
              <a:gd name="connsiteY191" fmla="*/ 622444 h 1765598"/>
              <a:gd name="connsiteX192" fmla="*/ 1633440 w 1844621"/>
              <a:gd name="connsiteY192" fmla="*/ 610352 h 1765598"/>
              <a:gd name="connsiteX193" fmla="*/ 136138 w 1844621"/>
              <a:gd name="connsiteY193" fmla="*/ 573632 h 1765598"/>
              <a:gd name="connsiteX194" fmla="*/ 215446 w 1844621"/>
              <a:gd name="connsiteY194" fmla="*/ 603848 h 1765598"/>
              <a:gd name="connsiteX195" fmla="*/ 209665 w 1844621"/>
              <a:gd name="connsiteY195" fmla="*/ 620908 h 1765598"/>
              <a:gd name="connsiteX196" fmla="*/ 132521 w 1844621"/>
              <a:gd name="connsiteY196" fmla="*/ 591516 h 1765598"/>
              <a:gd name="connsiteX197" fmla="*/ 1683900 w 1844621"/>
              <a:gd name="connsiteY197" fmla="*/ 510741 h 1765598"/>
              <a:gd name="connsiteX198" fmla="*/ 1688629 w 1844621"/>
              <a:gd name="connsiteY198" fmla="*/ 528423 h 1765598"/>
              <a:gd name="connsiteX199" fmla="*/ 1612275 w 1844621"/>
              <a:gd name="connsiteY199" fmla="*/ 564725 h 1765598"/>
              <a:gd name="connsiteX200" fmla="*/ 1604700 w 1844621"/>
              <a:gd name="connsiteY200" fmla="*/ 548396 h 1765598"/>
              <a:gd name="connsiteX201" fmla="*/ 147252 w 1844621"/>
              <a:gd name="connsiteY201" fmla="*/ 494765 h 1765598"/>
              <a:gd name="connsiteX202" fmla="*/ 243177 w 1844621"/>
              <a:gd name="connsiteY202" fmla="*/ 541551 h 1765598"/>
              <a:gd name="connsiteX203" fmla="*/ 234224 w 1844621"/>
              <a:gd name="connsiteY203" fmla="*/ 557210 h 1765598"/>
              <a:gd name="connsiteX204" fmla="*/ 146805 w 1844621"/>
              <a:gd name="connsiteY204" fmla="*/ 514573 h 1765598"/>
              <a:gd name="connsiteX205" fmla="*/ 1670480 w 1844621"/>
              <a:gd name="connsiteY205" fmla="*/ 430384 h 1765598"/>
              <a:gd name="connsiteX206" fmla="*/ 1672163 w 1844621"/>
              <a:gd name="connsiteY206" fmla="*/ 450296 h 1765598"/>
              <a:gd name="connsiteX207" fmla="*/ 1583450 w 1844621"/>
              <a:gd name="connsiteY207" fmla="*/ 502701 h 1765598"/>
              <a:gd name="connsiteX208" fmla="*/ 1573155 w 1844621"/>
              <a:gd name="connsiteY208" fmla="*/ 487877 h 1765598"/>
              <a:gd name="connsiteX209" fmla="*/ 149273 w 1844621"/>
              <a:gd name="connsiteY209" fmla="*/ 405169 h 1765598"/>
              <a:gd name="connsiteX210" fmla="*/ 277016 w 1844621"/>
              <a:gd name="connsiteY210" fmla="*/ 482359 h 1765598"/>
              <a:gd name="connsiteX211" fmla="*/ 268080 w 1844621"/>
              <a:gd name="connsiteY211" fmla="*/ 497989 h 1765598"/>
              <a:gd name="connsiteX212" fmla="*/ 148805 w 1844621"/>
              <a:gd name="connsiteY212" fmla="*/ 425916 h 1765598"/>
              <a:gd name="connsiteX213" fmla="*/ 195968 w 1844621"/>
              <a:gd name="connsiteY213" fmla="*/ 338361 h 1765598"/>
              <a:gd name="connsiteX214" fmla="*/ 314600 w 1844621"/>
              <a:gd name="connsiteY214" fmla="*/ 425459 h 1765598"/>
              <a:gd name="connsiteX215" fmla="*/ 302826 w 1844621"/>
              <a:gd name="connsiteY215" fmla="*/ 439145 h 1765598"/>
              <a:gd name="connsiteX216" fmla="*/ 173559 w 1844621"/>
              <a:gd name="connsiteY216" fmla="*/ 344239 h 1765598"/>
              <a:gd name="connsiteX217" fmla="*/ 192568 w 1844621"/>
              <a:gd name="connsiteY217" fmla="*/ 339792 h 1765598"/>
              <a:gd name="connsiteX218" fmla="*/ 1665887 w 1844621"/>
              <a:gd name="connsiteY218" fmla="*/ 337121 h 1765598"/>
              <a:gd name="connsiteX219" fmla="*/ 1664242 w 1844621"/>
              <a:gd name="connsiteY219" fmla="*/ 356571 h 1765598"/>
              <a:gd name="connsiteX220" fmla="*/ 1664553 w 1844621"/>
              <a:gd name="connsiteY220" fmla="*/ 360248 h 1765598"/>
              <a:gd name="connsiteX221" fmla="*/ 1544474 w 1844621"/>
              <a:gd name="connsiteY221" fmla="*/ 446578 h 1765598"/>
              <a:gd name="connsiteX222" fmla="*/ 1534206 w 1844621"/>
              <a:gd name="connsiteY222" fmla="*/ 431793 h 1765598"/>
              <a:gd name="connsiteX223" fmla="*/ 279257 w 1844621"/>
              <a:gd name="connsiteY223" fmla="*/ 303297 h 1765598"/>
              <a:gd name="connsiteX224" fmla="*/ 359087 w 1844621"/>
              <a:gd name="connsiteY224" fmla="*/ 373748 h 1765598"/>
              <a:gd name="connsiteX225" fmla="*/ 347347 w 1844621"/>
              <a:gd name="connsiteY225" fmla="*/ 387394 h 1765598"/>
              <a:gd name="connsiteX226" fmla="*/ 260839 w 1844621"/>
              <a:gd name="connsiteY226" fmla="*/ 311051 h 1765598"/>
              <a:gd name="connsiteX227" fmla="*/ 1595859 w 1844621"/>
              <a:gd name="connsiteY227" fmla="*/ 288337 h 1765598"/>
              <a:gd name="connsiteX228" fmla="*/ 1615448 w 1844621"/>
              <a:gd name="connsiteY228" fmla="*/ 295194 h 1765598"/>
              <a:gd name="connsiteX229" fmla="*/ 1504459 w 1844621"/>
              <a:gd name="connsiteY229" fmla="*/ 391189 h 1765598"/>
              <a:gd name="connsiteX230" fmla="*/ 1491819 w 1844621"/>
              <a:gd name="connsiteY230" fmla="*/ 378322 h 1765598"/>
              <a:gd name="connsiteX231" fmla="*/ 348471 w 1844621"/>
              <a:gd name="connsiteY231" fmla="*/ 263494 h 1765598"/>
              <a:gd name="connsiteX232" fmla="*/ 405504 w 1844621"/>
              <a:gd name="connsiteY232" fmla="*/ 323744 h 1765598"/>
              <a:gd name="connsiteX233" fmla="*/ 394934 w 1844621"/>
              <a:gd name="connsiteY233" fmla="*/ 332080 h 1765598"/>
              <a:gd name="connsiteX234" fmla="*/ 391923 w 1844621"/>
              <a:gd name="connsiteY234" fmla="*/ 335581 h 1765598"/>
              <a:gd name="connsiteX235" fmla="*/ 333116 w 1844621"/>
              <a:gd name="connsiteY235" fmla="*/ 273456 h 1765598"/>
              <a:gd name="connsiteX236" fmla="*/ 1512159 w 1844621"/>
              <a:gd name="connsiteY236" fmla="*/ 259039 h 1765598"/>
              <a:gd name="connsiteX237" fmla="*/ 1530860 w 1844621"/>
              <a:gd name="connsiteY237" fmla="*/ 265585 h 1765598"/>
              <a:gd name="connsiteX238" fmla="*/ 1456606 w 1844621"/>
              <a:gd name="connsiteY238" fmla="*/ 342477 h 1765598"/>
              <a:gd name="connsiteX239" fmla="*/ 1443988 w 1844621"/>
              <a:gd name="connsiteY239" fmla="*/ 329632 h 1765598"/>
              <a:gd name="connsiteX240" fmla="*/ 412110 w 1844621"/>
              <a:gd name="connsiteY240" fmla="*/ 221916 h 1765598"/>
              <a:gd name="connsiteX241" fmla="*/ 459114 w 1844621"/>
              <a:gd name="connsiteY241" fmla="*/ 281464 h 1765598"/>
              <a:gd name="connsiteX242" fmla="*/ 444980 w 1844621"/>
              <a:gd name="connsiteY242" fmla="*/ 292610 h 1765598"/>
              <a:gd name="connsiteX243" fmla="*/ 397097 w 1844621"/>
              <a:gd name="connsiteY243" fmla="*/ 231949 h 1765598"/>
              <a:gd name="connsiteX244" fmla="*/ 411019 w 1844621"/>
              <a:gd name="connsiteY244" fmla="*/ 222917 h 1765598"/>
              <a:gd name="connsiteX245" fmla="*/ 1443396 w 1844621"/>
              <a:gd name="connsiteY245" fmla="*/ 221678 h 1765598"/>
              <a:gd name="connsiteX246" fmla="*/ 1459286 w 1844621"/>
              <a:gd name="connsiteY246" fmla="*/ 230644 h 1765598"/>
              <a:gd name="connsiteX247" fmla="*/ 1406897 w 1844621"/>
              <a:gd name="connsiteY247" fmla="*/ 295670 h 1765598"/>
              <a:gd name="connsiteX248" fmla="*/ 1392300 w 1844621"/>
              <a:gd name="connsiteY248" fmla="*/ 285098 h 1765598"/>
              <a:gd name="connsiteX249" fmla="*/ 1379005 w 1844621"/>
              <a:gd name="connsiteY249" fmla="*/ 182170 h 1765598"/>
              <a:gd name="connsiteX250" fmla="*/ 1391896 w 1844621"/>
              <a:gd name="connsiteY250" fmla="*/ 192619 h 1765598"/>
              <a:gd name="connsiteX251" fmla="*/ 1393186 w 1844621"/>
              <a:gd name="connsiteY251" fmla="*/ 193347 h 1765598"/>
              <a:gd name="connsiteX252" fmla="*/ 1351622 w 1844621"/>
              <a:gd name="connsiteY252" fmla="*/ 255636 h 1765598"/>
              <a:gd name="connsiteX253" fmla="*/ 1337034 w 1844621"/>
              <a:gd name="connsiteY253" fmla="*/ 245070 h 1765598"/>
              <a:gd name="connsiteX254" fmla="*/ 468008 w 1844621"/>
              <a:gd name="connsiteY254" fmla="*/ 170577 h 1765598"/>
              <a:gd name="connsiteX255" fmla="*/ 513069 w 1844621"/>
              <a:gd name="connsiteY255" fmla="*/ 239589 h 1765598"/>
              <a:gd name="connsiteX256" fmla="*/ 510638 w 1844621"/>
              <a:gd name="connsiteY256" fmla="*/ 240828 h 1765598"/>
              <a:gd name="connsiteX257" fmla="*/ 498586 w 1844621"/>
              <a:gd name="connsiteY257" fmla="*/ 250333 h 1765598"/>
              <a:gd name="connsiteX258" fmla="*/ 454568 w 1844621"/>
              <a:gd name="connsiteY258" fmla="*/ 182920 h 1765598"/>
              <a:gd name="connsiteX259" fmla="*/ 1319759 w 1844621"/>
              <a:gd name="connsiteY259" fmla="*/ 134146 h 1765598"/>
              <a:gd name="connsiteX260" fmla="*/ 1333978 w 1844621"/>
              <a:gd name="connsiteY260" fmla="*/ 145672 h 1765598"/>
              <a:gd name="connsiteX261" fmla="*/ 1294036 w 1844621"/>
              <a:gd name="connsiteY261" fmla="*/ 219016 h 1765598"/>
              <a:gd name="connsiteX262" fmla="*/ 1277891 w 1844621"/>
              <a:gd name="connsiteY262" fmla="*/ 211027 h 1765598"/>
              <a:gd name="connsiteX263" fmla="*/ 523355 w 1844621"/>
              <a:gd name="connsiteY263" fmla="*/ 113305 h 1765598"/>
              <a:gd name="connsiteX264" fmla="*/ 573987 w 1844621"/>
              <a:gd name="connsiteY264" fmla="*/ 208530 h 1765598"/>
              <a:gd name="connsiteX265" fmla="*/ 557949 w 1844621"/>
              <a:gd name="connsiteY265" fmla="*/ 216707 h 1765598"/>
              <a:gd name="connsiteX266" fmla="*/ 511350 w 1844621"/>
              <a:gd name="connsiteY266" fmla="*/ 129068 h 1765598"/>
              <a:gd name="connsiteX267" fmla="*/ 1261668 w 1844621"/>
              <a:gd name="connsiteY267" fmla="*/ 77024 h 1765598"/>
              <a:gd name="connsiteX268" fmla="*/ 1274734 w 1844621"/>
              <a:gd name="connsiteY268" fmla="*/ 92144 h 1765598"/>
              <a:gd name="connsiteX269" fmla="*/ 1232872 w 1844621"/>
              <a:gd name="connsiteY269" fmla="*/ 188750 h 1765598"/>
              <a:gd name="connsiteX270" fmla="*/ 1216718 w 1844621"/>
              <a:gd name="connsiteY270" fmla="*/ 180757 h 1765598"/>
              <a:gd name="connsiteX271" fmla="*/ 879964 w 1844621"/>
              <a:gd name="connsiteY271" fmla="*/ 47539 h 1765598"/>
              <a:gd name="connsiteX272" fmla="*/ 896536 w 1844621"/>
              <a:gd name="connsiteY272" fmla="*/ 48415 h 1765598"/>
              <a:gd name="connsiteX273" fmla="*/ 898006 w 1844621"/>
              <a:gd name="connsiteY273" fmla="*/ 48246 h 1765598"/>
              <a:gd name="connsiteX274" fmla="*/ 900930 w 1844621"/>
              <a:gd name="connsiteY274" fmla="*/ 121496 h 1765598"/>
              <a:gd name="connsiteX275" fmla="*/ 882930 w 1844621"/>
              <a:gd name="connsiteY275" fmla="*/ 121839 h 1765598"/>
              <a:gd name="connsiteX276" fmla="*/ 803804 w 1844621"/>
              <a:gd name="connsiteY276" fmla="*/ 43511 h 1765598"/>
              <a:gd name="connsiteX277" fmla="*/ 822082 w 1844621"/>
              <a:gd name="connsiteY277" fmla="*/ 44478 h 1765598"/>
              <a:gd name="connsiteX278" fmla="*/ 832792 w 1844621"/>
              <a:gd name="connsiteY278" fmla="*/ 126618 h 1765598"/>
              <a:gd name="connsiteX279" fmla="*/ 814920 w 1844621"/>
              <a:gd name="connsiteY279" fmla="*/ 128774 h 1765598"/>
              <a:gd name="connsiteX280" fmla="*/ 577653 w 1844621"/>
              <a:gd name="connsiteY280" fmla="*/ 42008 h 1765598"/>
              <a:gd name="connsiteX281" fmla="*/ 634782 w 1844621"/>
              <a:gd name="connsiteY281" fmla="*/ 177534 h 1765598"/>
              <a:gd name="connsiteX282" fmla="*/ 618704 w 1844621"/>
              <a:gd name="connsiteY282" fmla="*/ 185731 h 1765598"/>
              <a:gd name="connsiteX283" fmla="*/ 565079 w 1844621"/>
              <a:gd name="connsiteY283" fmla="*/ 58518 h 1765598"/>
              <a:gd name="connsiteX284" fmla="*/ 973404 w 1844621"/>
              <a:gd name="connsiteY284" fmla="*/ 39567 h 1765598"/>
              <a:gd name="connsiteX285" fmla="*/ 969228 w 1844621"/>
              <a:gd name="connsiteY285" fmla="*/ 123258 h 1765598"/>
              <a:gd name="connsiteX286" fmla="*/ 951312 w 1844621"/>
              <a:gd name="connsiteY286" fmla="*/ 121130 h 1765598"/>
              <a:gd name="connsiteX287" fmla="*/ 955278 w 1844621"/>
              <a:gd name="connsiteY287" fmla="*/ 41654 h 1765598"/>
              <a:gd name="connsiteX288" fmla="*/ 723233 w 1844621"/>
              <a:gd name="connsiteY288" fmla="*/ 31443 h 1765598"/>
              <a:gd name="connsiteX289" fmla="*/ 742691 w 1844621"/>
              <a:gd name="connsiteY289" fmla="*/ 35995 h 1765598"/>
              <a:gd name="connsiteX290" fmla="*/ 765354 w 1844621"/>
              <a:gd name="connsiteY290" fmla="*/ 137622 h 1765598"/>
              <a:gd name="connsiteX291" fmla="*/ 747791 w 1844621"/>
              <a:gd name="connsiteY291" fmla="*/ 141567 h 1765598"/>
              <a:gd name="connsiteX292" fmla="*/ 1051847 w 1844621"/>
              <a:gd name="connsiteY292" fmla="*/ 25765 h 1765598"/>
              <a:gd name="connsiteX293" fmla="*/ 1037014 w 1844621"/>
              <a:gd name="connsiteY293" fmla="*/ 131308 h 1765598"/>
              <a:gd name="connsiteX294" fmla="*/ 1019135 w 1844621"/>
              <a:gd name="connsiteY294" fmla="*/ 129184 h 1765598"/>
              <a:gd name="connsiteX295" fmla="*/ 1032869 w 1844621"/>
              <a:gd name="connsiteY295" fmla="*/ 31462 h 1765598"/>
              <a:gd name="connsiteX296" fmla="*/ 633115 w 1844621"/>
              <a:gd name="connsiteY296" fmla="*/ 6990 h 1765598"/>
              <a:gd name="connsiteX297" fmla="*/ 651107 w 1844621"/>
              <a:gd name="connsiteY297" fmla="*/ 14566 h 1765598"/>
              <a:gd name="connsiteX298" fmla="*/ 654699 w 1844621"/>
              <a:gd name="connsiteY298" fmla="*/ 15406 h 1765598"/>
              <a:gd name="connsiteX299" fmla="*/ 699105 w 1844621"/>
              <a:gd name="connsiteY299" fmla="*/ 154429 h 1765598"/>
              <a:gd name="connsiteX300" fmla="*/ 682029 w 1844621"/>
              <a:gd name="connsiteY300" fmla="*/ 160125 h 1765598"/>
              <a:gd name="connsiteX301" fmla="*/ 1203134 w 1844621"/>
              <a:gd name="connsiteY301" fmla="*/ 4273 h 1765598"/>
              <a:gd name="connsiteX302" fmla="*/ 1213236 w 1844621"/>
              <a:gd name="connsiteY302" fmla="*/ 20976 h 1765598"/>
              <a:gd name="connsiteX303" fmla="*/ 1215649 w 1844621"/>
              <a:gd name="connsiteY303" fmla="*/ 23769 h 1765598"/>
              <a:gd name="connsiteX304" fmla="*/ 1169442 w 1844621"/>
              <a:gd name="connsiteY304" fmla="*/ 163605 h 1765598"/>
              <a:gd name="connsiteX305" fmla="*/ 1152188 w 1844621"/>
              <a:gd name="connsiteY305" fmla="*/ 158449 h 1765598"/>
              <a:gd name="connsiteX306" fmla="*/ 1137683 w 1844621"/>
              <a:gd name="connsiteY306" fmla="*/ 0 h 1765598"/>
              <a:gd name="connsiteX307" fmla="*/ 1104046 w 1844621"/>
              <a:gd name="connsiteY307" fmla="*/ 144062 h 1765598"/>
              <a:gd name="connsiteX308" fmla="*/ 1086767 w 1844621"/>
              <a:gd name="connsiteY308" fmla="*/ 138898 h 1765598"/>
              <a:gd name="connsiteX309" fmla="*/ 1117806 w 1844621"/>
              <a:gd name="connsiteY309" fmla="*/ 5966 h 17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1844621" h="1765598">
                <a:moveTo>
                  <a:pt x="961691" y="1643760"/>
                </a:moveTo>
                <a:lnTo>
                  <a:pt x="964657" y="1718060"/>
                </a:lnTo>
                <a:lnTo>
                  <a:pt x="948083" y="1717184"/>
                </a:lnTo>
                <a:lnTo>
                  <a:pt x="946614" y="1717353"/>
                </a:lnTo>
                <a:lnTo>
                  <a:pt x="943691" y="1644103"/>
                </a:lnTo>
                <a:close/>
                <a:moveTo>
                  <a:pt x="875350" y="1643169"/>
                </a:moveTo>
                <a:lnTo>
                  <a:pt x="893299" y="1644629"/>
                </a:lnTo>
                <a:lnTo>
                  <a:pt x="889341" y="1723945"/>
                </a:lnTo>
                <a:lnTo>
                  <a:pt x="871214" y="1726031"/>
                </a:lnTo>
                <a:close/>
                <a:moveTo>
                  <a:pt x="1029699" y="1636826"/>
                </a:moveTo>
                <a:lnTo>
                  <a:pt x="1040815" y="1722087"/>
                </a:lnTo>
                <a:lnTo>
                  <a:pt x="1022537" y="1721121"/>
                </a:lnTo>
                <a:lnTo>
                  <a:pt x="1011828" y="1638982"/>
                </a:lnTo>
                <a:close/>
                <a:moveTo>
                  <a:pt x="807350" y="1636115"/>
                </a:moveTo>
                <a:lnTo>
                  <a:pt x="822430" y="1638864"/>
                </a:lnTo>
                <a:lnTo>
                  <a:pt x="825110" y="1639083"/>
                </a:lnTo>
                <a:lnTo>
                  <a:pt x="811751" y="1734136"/>
                </a:lnTo>
                <a:lnTo>
                  <a:pt x="792774" y="1739833"/>
                </a:lnTo>
                <a:close/>
                <a:moveTo>
                  <a:pt x="1096827" y="1624033"/>
                </a:moveTo>
                <a:lnTo>
                  <a:pt x="1121385" y="1734155"/>
                </a:lnTo>
                <a:lnTo>
                  <a:pt x="1101928" y="1729603"/>
                </a:lnTo>
                <a:lnTo>
                  <a:pt x="1079265" y="1627978"/>
                </a:lnTo>
                <a:close/>
                <a:moveTo>
                  <a:pt x="740342" y="1622534"/>
                </a:moveTo>
                <a:lnTo>
                  <a:pt x="749046" y="1625484"/>
                </a:lnTo>
                <a:lnTo>
                  <a:pt x="757767" y="1627074"/>
                </a:lnTo>
                <a:lnTo>
                  <a:pt x="726815" y="1759631"/>
                </a:lnTo>
                <a:lnTo>
                  <a:pt x="706937" y="1765598"/>
                </a:lnTo>
                <a:close/>
                <a:moveTo>
                  <a:pt x="1162592" y="1605474"/>
                </a:moveTo>
                <a:lnTo>
                  <a:pt x="1211506" y="1758609"/>
                </a:lnTo>
                <a:lnTo>
                  <a:pt x="1193512" y="1751032"/>
                </a:lnTo>
                <a:lnTo>
                  <a:pt x="1189921" y="1750192"/>
                </a:lnTo>
                <a:lnTo>
                  <a:pt x="1145515" y="1611170"/>
                </a:lnTo>
                <a:close/>
                <a:moveTo>
                  <a:pt x="675637" y="1600604"/>
                </a:moveTo>
                <a:lnTo>
                  <a:pt x="692686" y="1606382"/>
                </a:lnTo>
                <a:lnTo>
                  <a:pt x="641486" y="1761326"/>
                </a:lnTo>
                <a:lnTo>
                  <a:pt x="631383" y="1744623"/>
                </a:lnTo>
                <a:lnTo>
                  <a:pt x="628970" y="1741831"/>
                </a:lnTo>
                <a:close/>
                <a:moveTo>
                  <a:pt x="1225916" y="1579868"/>
                </a:moveTo>
                <a:lnTo>
                  <a:pt x="1279540" y="1707080"/>
                </a:lnTo>
                <a:lnTo>
                  <a:pt x="1266966" y="1723591"/>
                </a:lnTo>
                <a:lnTo>
                  <a:pt x="1209837" y="1588066"/>
                </a:lnTo>
                <a:close/>
                <a:moveTo>
                  <a:pt x="610954" y="1578681"/>
                </a:moveTo>
                <a:lnTo>
                  <a:pt x="628059" y="1584478"/>
                </a:lnTo>
                <a:lnTo>
                  <a:pt x="582951" y="1688574"/>
                </a:lnTo>
                <a:lnTo>
                  <a:pt x="569886" y="1673454"/>
                </a:lnTo>
                <a:close/>
                <a:moveTo>
                  <a:pt x="1286670" y="1548893"/>
                </a:moveTo>
                <a:lnTo>
                  <a:pt x="1333269" y="1636531"/>
                </a:lnTo>
                <a:lnTo>
                  <a:pt x="1321264" y="1652294"/>
                </a:lnTo>
                <a:lnTo>
                  <a:pt x="1270632" y="1557070"/>
                </a:lnTo>
                <a:close/>
                <a:moveTo>
                  <a:pt x="551444" y="1545001"/>
                </a:moveTo>
                <a:lnTo>
                  <a:pt x="567074" y="1553937"/>
                </a:lnTo>
                <a:lnTo>
                  <a:pt x="524862" y="1631452"/>
                </a:lnTo>
                <a:lnTo>
                  <a:pt x="510642" y="1619926"/>
                </a:lnTo>
                <a:close/>
                <a:moveTo>
                  <a:pt x="1346034" y="1515267"/>
                </a:moveTo>
                <a:lnTo>
                  <a:pt x="1390051" y="1582679"/>
                </a:lnTo>
                <a:lnTo>
                  <a:pt x="1376613" y="1595021"/>
                </a:lnTo>
                <a:lnTo>
                  <a:pt x="1331552" y="1526010"/>
                </a:lnTo>
                <a:lnTo>
                  <a:pt x="1333983" y="1524770"/>
                </a:lnTo>
                <a:close/>
                <a:moveTo>
                  <a:pt x="492213" y="1511140"/>
                </a:moveTo>
                <a:lnTo>
                  <a:pt x="507877" y="1520095"/>
                </a:lnTo>
                <a:lnTo>
                  <a:pt x="465615" y="1583429"/>
                </a:lnTo>
                <a:lnTo>
                  <a:pt x="452723" y="1572979"/>
                </a:lnTo>
                <a:lnTo>
                  <a:pt x="451434" y="1572252"/>
                </a:lnTo>
                <a:close/>
                <a:moveTo>
                  <a:pt x="1399641" y="1472989"/>
                </a:moveTo>
                <a:lnTo>
                  <a:pt x="1447523" y="1533649"/>
                </a:lnTo>
                <a:lnTo>
                  <a:pt x="1433600" y="1542681"/>
                </a:lnTo>
                <a:lnTo>
                  <a:pt x="1432510" y="1543682"/>
                </a:lnTo>
                <a:lnTo>
                  <a:pt x="1385507" y="1484135"/>
                </a:lnTo>
                <a:close/>
                <a:moveTo>
                  <a:pt x="439084" y="1468240"/>
                </a:moveTo>
                <a:lnTo>
                  <a:pt x="452737" y="1479985"/>
                </a:lnTo>
                <a:lnTo>
                  <a:pt x="401226" y="1543921"/>
                </a:lnTo>
                <a:lnTo>
                  <a:pt x="385335" y="1534955"/>
                </a:lnTo>
                <a:close/>
                <a:moveTo>
                  <a:pt x="1452700" y="1430017"/>
                </a:moveTo>
                <a:lnTo>
                  <a:pt x="1511505" y="1492141"/>
                </a:lnTo>
                <a:lnTo>
                  <a:pt x="1496150" y="1502102"/>
                </a:lnTo>
                <a:lnTo>
                  <a:pt x="1439119" y="1441854"/>
                </a:lnTo>
                <a:lnTo>
                  <a:pt x="1449687" y="1433519"/>
                </a:lnTo>
                <a:close/>
                <a:moveTo>
                  <a:pt x="387391" y="1423768"/>
                </a:moveTo>
                <a:lnTo>
                  <a:pt x="401059" y="1435526"/>
                </a:lnTo>
                <a:lnTo>
                  <a:pt x="332463" y="1506560"/>
                </a:lnTo>
                <a:lnTo>
                  <a:pt x="313761" y="1500014"/>
                </a:lnTo>
                <a:close/>
                <a:moveTo>
                  <a:pt x="1497274" y="1378205"/>
                </a:moveTo>
                <a:lnTo>
                  <a:pt x="1583781" y="1454547"/>
                </a:lnTo>
                <a:lnTo>
                  <a:pt x="1565364" y="1462300"/>
                </a:lnTo>
                <a:lnTo>
                  <a:pt x="1485535" y="1391850"/>
                </a:lnTo>
                <a:close/>
                <a:moveTo>
                  <a:pt x="342078" y="1372754"/>
                </a:moveTo>
                <a:lnTo>
                  <a:pt x="353236" y="1386902"/>
                </a:lnTo>
                <a:lnTo>
                  <a:pt x="248764" y="1477262"/>
                </a:lnTo>
                <a:lnTo>
                  <a:pt x="229175" y="1470405"/>
                </a:lnTo>
                <a:close/>
                <a:moveTo>
                  <a:pt x="1541797" y="1326453"/>
                </a:moveTo>
                <a:lnTo>
                  <a:pt x="1671063" y="1421359"/>
                </a:lnTo>
                <a:lnTo>
                  <a:pt x="1652052" y="1425806"/>
                </a:lnTo>
                <a:lnTo>
                  <a:pt x="1648653" y="1427237"/>
                </a:lnTo>
                <a:lnTo>
                  <a:pt x="1530022" y="1340139"/>
                </a:lnTo>
                <a:close/>
                <a:moveTo>
                  <a:pt x="299862" y="1319225"/>
                </a:moveTo>
                <a:lnTo>
                  <a:pt x="311019" y="1333372"/>
                </a:lnTo>
                <a:lnTo>
                  <a:pt x="178732" y="1428480"/>
                </a:lnTo>
                <a:lnTo>
                  <a:pt x="180377" y="1409027"/>
                </a:lnTo>
                <a:lnTo>
                  <a:pt x="180067" y="1405352"/>
                </a:lnTo>
                <a:close/>
                <a:moveTo>
                  <a:pt x="1576542" y="1267609"/>
                </a:moveTo>
                <a:lnTo>
                  <a:pt x="1695816" y="1339681"/>
                </a:lnTo>
                <a:lnTo>
                  <a:pt x="1695348" y="1360430"/>
                </a:lnTo>
                <a:lnTo>
                  <a:pt x="1567606" y="1283241"/>
                </a:lnTo>
                <a:close/>
                <a:moveTo>
                  <a:pt x="263531" y="1261503"/>
                </a:moveTo>
                <a:lnTo>
                  <a:pt x="271723" y="1277570"/>
                </a:lnTo>
                <a:lnTo>
                  <a:pt x="174140" y="1335215"/>
                </a:lnTo>
                <a:lnTo>
                  <a:pt x="172457" y="1315303"/>
                </a:lnTo>
                <a:close/>
                <a:moveTo>
                  <a:pt x="1610398" y="1208387"/>
                </a:moveTo>
                <a:lnTo>
                  <a:pt x="1697816" y="1251024"/>
                </a:lnTo>
                <a:lnTo>
                  <a:pt x="1697369" y="1270832"/>
                </a:lnTo>
                <a:lnTo>
                  <a:pt x="1601446" y="1224047"/>
                </a:lnTo>
                <a:close/>
                <a:moveTo>
                  <a:pt x="232566" y="1200770"/>
                </a:moveTo>
                <a:lnTo>
                  <a:pt x="240745" y="1216812"/>
                </a:lnTo>
                <a:lnTo>
                  <a:pt x="160720" y="1254859"/>
                </a:lnTo>
                <a:lnTo>
                  <a:pt x="155991" y="1237178"/>
                </a:lnTo>
                <a:close/>
                <a:moveTo>
                  <a:pt x="1634958" y="1144690"/>
                </a:moveTo>
                <a:lnTo>
                  <a:pt x="1712099" y="1174082"/>
                </a:lnTo>
                <a:lnTo>
                  <a:pt x="1708482" y="1191966"/>
                </a:lnTo>
                <a:lnTo>
                  <a:pt x="1629176" y="1161750"/>
                </a:lnTo>
                <a:close/>
                <a:moveTo>
                  <a:pt x="204756" y="1138431"/>
                </a:moveTo>
                <a:lnTo>
                  <a:pt x="210455" y="1155515"/>
                </a:lnTo>
                <a:lnTo>
                  <a:pt x="141015" y="1181182"/>
                </a:lnTo>
                <a:lnTo>
                  <a:pt x="136727" y="1165150"/>
                </a:lnTo>
                <a:lnTo>
                  <a:pt x="136112" y="1163804"/>
                </a:lnTo>
                <a:close/>
                <a:moveTo>
                  <a:pt x="1656844" y="1080115"/>
                </a:moveTo>
                <a:lnTo>
                  <a:pt x="1729776" y="1100634"/>
                </a:lnTo>
                <a:lnTo>
                  <a:pt x="1723821" y="1116126"/>
                </a:lnTo>
                <a:lnTo>
                  <a:pt x="1723528" y="1117576"/>
                </a:lnTo>
                <a:lnTo>
                  <a:pt x="1651058" y="1097186"/>
                </a:lnTo>
                <a:close/>
                <a:moveTo>
                  <a:pt x="184625" y="1073110"/>
                </a:moveTo>
                <a:lnTo>
                  <a:pt x="188043" y="1088326"/>
                </a:lnTo>
                <a:lnTo>
                  <a:pt x="188810" y="1090624"/>
                </a:lnTo>
                <a:lnTo>
                  <a:pt x="112145" y="1111372"/>
                </a:lnTo>
                <a:lnTo>
                  <a:pt x="104560" y="1094778"/>
                </a:lnTo>
                <a:close/>
                <a:moveTo>
                  <a:pt x="1672722" y="1013691"/>
                </a:moveTo>
                <a:lnTo>
                  <a:pt x="1757141" y="1029446"/>
                </a:lnTo>
                <a:lnTo>
                  <a:pt x="1750574" y="1046531"/>
                </a:lnTo>
                <a:lnTo>
                  <a:pt x="1669493" y="1031399"/>
                </a:lnTo>
                <a:close/>
                <a:moveTo>
                  <a:pt x="170225" y="1006273"/>
                </a:moveTo>
                <a:lnTo>
                  <a:pt x="170936" y="1012170"/>
                </a:lnTo>
                <a:lnTo>
                  <a:pt x="173584" y="1023958"/>
                </a:lnTo>
                <a:lnTo>
                  <a:pt x="78475" y="1040728"/>
                </a:lnTo>
                <a:lnTo>
                  <a:pt x="67193" y="1024440"/>
                </a:lnTo>
                <a:close/>
                <a:moveTo>
                  <a:pt x="1681368" y="945892"/>
                </a:moveTo>
                <a:lnTo>
                  <a:pt x="1793516" y="956550"/>
                </a:lnTo>
                <a:lnTo>
                  <a:pt x="1783173" y="973649"/>
                </a:lnTo>
                <a:lnTo>
                  <a:pt x="1679909" y="963835"/>
                </a:lnTo>
                <a:close/>
                <a:moveTo>
                  <a:pt x="162034" y="938372"/>
                </a:moveTo>
                <a:lnTo>
                  <a:pt x="164191" y="956254"/>
                </a:lnTo>
                <a:lnTo>
                  <a:pt x="27981" y="967828"/>
                </a:lnTo>
                <a:lnTo>
                  <a:pt x="16164" y="950767"/>
                </a:lnTo>
                <a:close/>
                <a:moveTo>
                  <a:pt x="1683923" y="877596"/>
                </a:moveTo>
                <a:lnTo>
                  <a:pt x="1844621" y="878397"/>
                </a:lnTo>
                <a:lnTo>
                  <a:pt x="1831855" y="893168"/>
                </a:lnTo>
                <a:lnTo>
                  <a:pt x="1829946" y="896325"/>
                </a:lnTo>
                <a:lnTo>
                  <a:pt x="1684266" y="895598"/>
                </a:lnTo>
                <a:close/>
                <a:moveTo>
                  <a:pt x="14676" y="869273"/>
                </a:moveTo>
                <a:lnTo>
                  <a:pt x="160356" y="869999"/>
                </a:lnTo>
                <a:lnTo>
                  <a:pt x="160699" y="888001"/>
                </a:lnTo>
                <a:lnTo>
                  <a:pt x="0" y="887200"/>
                </a:lnTo>
                <a:lnTo>
                  <a:pt x="12766" y="872429"/>
                </a:lnTo>
                <a:close/>
                <a:moveTo>
                  <a:pt x="1816638" y="797770"/>
                </a:moveTo>
                <a:lnTo>
                  <a:pt x="1828455" y="814831"/>
                </a:lnTo>
                <a:lnTo>
                  <a:pt x="1682588" y="827227"/>
                </a:lnTo>
                <a:lnTo>
                  <a:pt x="1680430" y="809345"/>
                </a:lnTo>
                <a:close/>
                <a:moveTo>
                  <a:pt x="61447" y="791950"/>
                </a:moveTo>
                <a:lnTo>
                  <a:pt x="164713" y="801763"/>
                </a:lnTo>
                <a:lnTo>
                  <a:pt x="163253" y="819705"/>
                </a:lnTo>
                <a:lnTo>
                  <a:pt x="51105" y="809048"/>
                </a:lnTo>
                <a:close/>
                <a:moveTo>
                  <a:pt x="1766145" y="724870"/>
                </a:moveTo>
                <a:lnTo>
                  <a:pt x="1777427" y="741158"/>
                </a:lnTo>
                <a:lnTo>
                  <a:pt x="1674396" y="759325"/>
                </a:lnTo>
                <a:lnTo>
                  <a:pt x="1673685" y="753429"/>
                </a:lnTo>
                <a:lnTo>
                  <a:pt x="1670588" y="741719"/>
                </a:lnTo>
                <a:close/>
                <a:moveTo>
                  <a:pt x="94047" y="719066"/>
                </a:moveTo>
                <a:lnTo>
                  <a:pt x="175129" y="734198"/>
                </a:lnTo>
                <a:lnTo>
                  <a:pt x="171900" y="751906"/>
                </a:lnTo>
                <a:lnTo>
                  <a:pt x="87480" y="736151"/>
                </a:lnTo>
                <a:close/>
                <a:moveTo>
                  <a:pt x="1732475" y="654227"/>
                </a:moveTo>
                <a:lnTo>
                  <a:pt x="1740061" y="670822"/>
                </a:lnTo>
                <a:lnTo>
                  <a:pt x="1657733" y="693102"/>
                </a:lnTo>
                <a:lnTo>
                  <a:pt x="1653131" y="675699"/>
                </a:lnTo>
                <a:close/>
                <a:moveTo>
                  <a:pt x="121093" y="648021"/>
                </a:moveTo>
                <a:lnTo>
                  <a:pt x="193564" y="668412"/>
                </a:lnTo>
                <a:lnTo>
                  <a:pt x="187778" y="685483"/>
                </a:lnTo>
                <a:lnTo>
                  <a:pt x="114844" y="664963"/>
                </a:lnTo>
                <a:lnTo>
                  <a:pt x="120799" y="649471"/>
                </a:lnTo>
                <a:close/>
                <a:moveTo>
                  <a:pt x="1703605" y="584417"/>
                </a:moveTo>
                <a:lnTo>
                  <a:pt x="1707892" y="600448"/>
                </a:lnTo>
                <a:lnTo>
                  <a:pt x="1708508" y="601796"/>
                </a:lnTo>
                <a:lnTo>
                  <a:pt x="1640259" y="627022"/>
                </a:lnTo>
                <a:lnTo>
                  <a:pt x="1639049" y="622444"/>
                </a:lnTo>
                <a:lnTo>
                  <a:pt x="1633440" y="610352"/>
                </a:lnTo>
                <a:close/>
                <a:moveTo>
                  <a:pt x="136138" y="573632"/>
                </a:moveTo>
                <a:lnTo>
                  <a:pt x="215446" y="603848"/>
                </a:lnTo>
                <a:lnTo>
                  <a:pt x="209665" y="620908"/>
                </a:lnTo>
                <a:lnTo>
                  <a:pt x="132521" y="591516"/>
                </a:lnTo>
                <a:close/>
                <a:moveTo>
                  <a:pt x="1683900" y="510741"/>
                </a:moveTo>
                <a:lnTo>
                  <a:pt x="1688629" y="528423"/>
                </a:lnTo>
                <a:lnTo>
                  <a:pt x="1612275" y="564725"/>
                </a:lnTo>
                <a:lnTo>
                  <a:pt x="1604700" y="548396"/>
                </a:lnTo>
                <a:close/>
                <a:moveTo>
                  <a:pt x="147252" y="494765"/>
                </a:moveTo>
                <a:lnTo>
                  <a:pt x="243177" y="541551"/>
                </a:lnTo>
                <a:lnTo>
                  <a:pt x="234224" y="557210"/>
                </a:lnTo>
                <a:lnTo>
                  <a:pt x="146805" y="514573"/>
                </a:lnTo>
                <a:close/>
                <a:moveTo>
                  <a:pt x="1670480" y="430384"/>
                </a:moveTo>
                <a:lnTo>
                  <a:pt x="1672163" y="450296"/>
                </a:lnTo>
                <a:lnTo>
                  <a:pt x="1583450" y="502701"/>
                </a:lnTo>
                <a:lnTo>
                  <a:pt x="1573155" y="487877"/>
                </a:lnTo>
                <a:close/>
                <a:moveTo>
                  <a:pt x="149273" y="405169"/>
                </a:moveTo>
                <a:lnTo>
                  <a:pt x="277016" y="482359"/>
                </a:lnTo>
                <a:lnTo>
                  <a:pt x="268080" y="497989"/>
                </a:lnTo>
                <a:lnTo>
                  <a:pt x="148805" y="425916"/>
                </a:lnTo>
                <a:close/>
                <a:moveTo>
                  <a:pt x="195968" y="338361"/>
                </a:moveTo>
                <a:lnTo>
                  <a:pt x="314600" y="425459"/>
                </a:lnTo>
                <a:lnTo>
                  <a:pt x="302826" y="439145"/>
                </a:lnTo>
                <a:lnTo>
                  <a:pt x="173559" y="344239"/>
                </a:lnTo>
                <a:lnTo>
                  <a:pt x="192568" y="339792"/>
                </a:lnTo>
                <a:close/>
                <a:moveTo>
                  <a:pt x="1665887" y="337121"/>
                </a:moveTo>
                <a:lnTo>
                  <a:pt x="1664242" y="356571"/>
                </a:lnTo>
                <a:lnTo>
                  <a:pt x="1664553" y="360248"/>
                </a:lnTo>
                <a:lnTo>
                  <a:pt x="1544474" y="446578"/>
                </a:lnTo>
                <a:lnTo>
                  <a:pt x="1534206" y="431793"/>
                </a:lnTo>
                <a:close/>
                <a:moveTo>
                  <a:pt x="279257" y="303297"/>
                </a:moveTo>
                <a:lnTo>
                  <a:pt x="359087" y="373748"/>
                </a:lnTo>
                <a:lnTo>
                  <a:pt x="347347" y="387394"/>
                </a:lnTo>
                <a:lnTo>
                  <a:pt x="260839" y="311051"/>
                </a:lnTo>
                <a:close/>
                <a:moveTo>
                  <a:pt x="1595859" y="288337"/>
                </a:moveTo>
                <a:lnTo>
                  <a:pt x="1615448" y="295194"/>
                </a:lnTo>
                <a:lnTo>
                  <a:pt x="1504459" y="391189"/>
                </a:lnTo>
                <a:lnTo>
                  <a:pt x="1491819" y="378322"/>
                </a:lnTo>
                <a:close/>
                <a:moveTo>
                  <a:pt x="348471" y="263494"/>
                </a:moveTo>
                <a:lnTo>
                  <a:pt x="405504" y="323744"/>
                </a:lnTo>
                <a:lnTo>
                  <a:pt x="394934" y="332080"/>
                </a:lnTo>
                <a:lnTo>
                  <a:pt x="391923" y="335581"/>
                </a:lnTo>
                <a:lnTo>
                  <a:pt x="333116" y="273456"/>
                </a:lnTo>
                <a:close/>
                <a:moveTo>
                  <a:pt x="1512159" y="259039"/>
                </a:moveTo>
                <a:lnTo>
                  <a:pt x="1530860" y="265585"/>
                </a:lnTo>
                <a:lnTo>
                  <a:pt x="1456606" y="342477"/>
                </a:lnTo>
                <a:lnTo>
                  <a:pt x="1443988" y="329632"/>
                </a:lnTo>
                <a:close/>
                <a:moveTo>
                  <a:pt x="412110" y="221916"/>
                </a:moveTo>
                <a:lnTo>
                  <a:pt x="459114" y="281464"/>
                </a:lnTo>
                <a:lnTo>
                  <a:pt x="444980" y="292610"/>
                </a:lnTo>
                <a:lnTo>
                  <a:pt x="397097" y="231949"/>
                </a:lnTo>
                <a:lnTo>
                  <a:pt x="411019" y="222917"/>
                </a:lnTo>
                <a:close/>
                <a:moveTo>
                  <a:pt x="1443396" y="221678"/>
                </a:moveTo>
                <a:lnTo>
                  <a:pt x="1459286" y="230644"/>
                </a:lnTo>
                <a:lnTo>
                  <a:pt x="1406897" y="295670"/>
                </a:lnTo>
                <a:lnTo>
                  <a:pt x="1392300" y="285098"/>
                </a:lnTo>
                <a:close/>
                <a:moveTo>
                  <a:pt x="1379005" y="182170"/>
                </a:moveTo>
                <a:lnTo>
                  <a:pt x="1391896" y="192619"/>
                </a:lnTo>
                <a:lnTo>
                  <a:pt x="1393186" y="193347"/>
                </a:lnTo>
                <a:lnTo>
                  <a:pt x="1351622" y="255636"/>
                </a:lnTo>
                <a:lnTo>
                  <a:pt x="1337034" y="245070"/>
                </a:lnTo>
                <a:close/>
                <a:moveTo>
                  <a:pt x="468008" y="170577"/>
                </a:moveTo>
                <a:lnTo>
                  <a:pt x="513069" y="239589"/>
                </a:lnTo>
                <a:lnTo>
                  <a:pt x="510638" y="240828"/>
                </a:lnTo>
                <a:lnTo>
                  <a:pt x="498586" y="250333"/>
                </a:lnTo>
                <a:lnTo>
                  <a:pt x="454568" y="182920"/>
                </a:lnTo>
                <a:close/>
                <a:moveTo>
                  <a:pt x="1319759" y="134146"/>
                </a:moveTo>
                <a:lnTo>
                  <a:pt x="1333978" y="145672"/>
                </a:lnTo>
                <a:lnTo>
                  <a:pt x="1294036" y="219016"/>
                </a:lnTo>
                <a:lnTo>
                  <a:pt x="1277891" y="211027"/>
                </a:lnTo>
                <a:close/>
                <a:moveTo>
                  <a:pt x="523355" y="113305"/>
                </a:moveTo>
                <a:lnTo>
                  <a:pt x="573987" y="208530"/>
                </a:lnTo>
                <a:lnTo>
                  <a:pt x="557949" y="216707"/>
                </a:lnTo>
                <a:lnTo>
                  <a:pt x="511350" y="129068"/>
                </a:lnTo>
                <a:close/>
                <a:moveTo>
                  <a:pt x="1261668" y="77024"/>
                </a:moveTo>
                <a:lnTo>
                  <a:pt x="1274734" y="92144"/>
                </a:lnTo>
                <a:lnTo>
                  <a:pt x="1232872" y="188750"/>
                </a:lnTo>
                <a:lnTo>
                  <a:pt x="1216718" y="180757"/>
                </a:lnTo>
                <a:close/>
                <a:moveTo>
                  <a:pt x="879964" y="47539"/>
                </a:moveTo>
                <a:lnTo>
                  <a:pt x="896536" y="48415"/>
                </a:lnTo>
                <a:lnTo>
                  <a:pt x="898006" y="48246"/>
                </a:lnTo>
                <a:lnTo>
                  <a:pt x="900930" y="121496"/>
                </a:lnTo>
                <a:lnTo>
                  <a:pt x="882930" y="121839"/>
                </a:lnTo>
                <a:close/>
                <a:moveTo>
                  <a:pt x="803804" y="43511"/>
                </a:moveTo>
                <a:lnTo>
                  <a:pt x="822082" y="44478"/>
                </a:lnTo>
                <a:lnTo>
                  <a:pt x="832792" y="126618"/>
                </a:lnTo>
                <a:lnTo>
                  <a:pt x="814920" y="128774"/>
                </a:lnTo>
                <a:close/>
                <a:moveTo>
                  <a:pt x="577653" y="42008"/>
                </a:moveTo>
                <a:lnTo>
                  <a:pt x="634782" y="177534"/>
                </a:lnTo>
                <a:lnTo>
                  <a:pt x="618704" y="185731"/>
                </a:lnTo>
                <a:lnTo>
                  <a:pt x="565079" y="58518"/>
                </a:lnTo>
                <a:close/>
                <a:moveTo>
                  <a:pt x="973404" y="39567"/>
                </a:moveTo>
                <a:lnTo>
                  <a:pt x="969228" y="123258"/>
                </a:lnTo>
                <a:lnTo>
                  <a:pt x="951312" y="121130"/>
                </a:lnTo>
                <a:lnTo>
                  <a:pt x="955278" y="41654"/>
                </a:lnTo>
                <a:close/>
                <a:moveTo>
                  <a:pt x="723233" y="31443"/>
                </a:moveTo>
                <a:lnTo>
                  <a:pt x="742691" y="35995"/>
                </a:lnTo>
                <a:lnTo>
                  <a:pt x="765354" y="137622"/>
                </a:lnTo>
                <a:lnTo>
                  <a:pt x="747791" y="141567"/>
                </a:lnTo>
                <a:close/>
                <a:moveTo>
                  <a:pt x="1051847" y="25765"/>
                </a:moveTo>
                <a:lnTo>
                  <a:pt x="1037014" y="131308"/>
                </a:lnTo>
                <a:lnTo>
                  <a:pt x="1019135" y="129184"/>
                </a:lnTo>
                <a:lnTo>
                  <a:pt x="1032869" y="31462"/>
                </a:lnTo>
                <a:close/>
                <a:moveTo>
                  <a:pt x="633115" y="6990"/>
                </a:moveTo>
                <a:lnTo>
                  <a:pt x="651107" y="14566"/>
                </a:lnTo>
                <a:lnTo>
                  <a:pt x="654699" y="15406"/>
                </a:lnTo>
                <a:lnTo>
                  <a:pt x="699105" y="154429"/>
                </a:lnTo>
                <a:lnTo>
                  <a:pt x="682029" y="160125"/>
                </a:lnTo>
                <a:close/>
                <a:moveTo>
                  <a:pt x="1203134" y="4273"/>
                </a:moveTo>
                <a:lnTo>
                  <a:pt x="1213236" y="20976"/>
                </a:lnTo>
                <a:lnTo>
                  <a:pt x="1215649" y="23769"/>
                </a:lnTo>
                <a:lnTo>
                  <a:pt x="1169442" y="163605"/>
                </a:lnTo>
                <a:lnTo>
                  <a:pt x="1152188" y="158449"/>
                </a:lnTo>
                <a:close/>
                <a:moveTo>
                  <a:pt x="1137683" y="0"/>
                </a:moveTo>
                <a:lnTo>
                  <a:pt x="1104046" y="144062"/>
                </a:lnTo>
                <a:lnTo>
                  <a:pt x="1086767" y="138898"/>
                </a:lnTo>
                <a:lnTo>
                  <a:pt x="1117806" y="5966"/>
                </a:lnTo>
                <a:close/>
              </a:path>
            </a:pathLst>
          </a:custGeom>
          <a:solidFill>
            <a:srgbClr val="FFCA33"/>
          </a:solidFill>
          <a:ln>
            <a:noFill/>
          </a:ln>
        </p:spPr>
        <p:style>
          <a:lnRef idx="2">
            <a:srgbClr val="FFCA33">
              <a:shade val="50000"/>
            </a:srgbClr>
          </a:lnRef>
          <a:fillRef idx="1">
            <a:srgbClr val="FFCA33"/>
          </a:fillRef>
          <a:effectRef idx="0">
            <a:srgbClr val="FFCA33"/>
          </a:effectRef>
          <a:fontRef idx="minor">
            <a:srgbClr val="FFFFFF"/>
          </a:fontRef>
        </p:style>
        <p:txBody>
          <a:bodyPr rtlCol="0" anchor="ctr">
            <a:normAutofit/>
          </a:bodyP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5" name="任意多边形 14"/>
          <p:cNvSpPr/>
          <p:nvPr>
            <p:custDataLst>
              <p:tags r:id="rId3"/>
            </p:custDataLst>
          </p:nvPr>
        </p:nvSpPr>
        <p:spPr>
          <a:xfrm>
            <a:off x="1282467" y="1509260"/>
            <a:ext cx="1645325" cy="1645326"/>
          </a:xfrm>
          <a:custGeom>
            <a:avLst/>
            <a:gdLst>
              <a:gd name="connsiteX0" fmla="*/ 766985 w 1487101"/>
              <a:gd name="connsiteY0" fmla="*/ 20013 h 1487102"/>
              <a:gd name="connsiteX1" fmla="*/ 620740 w 1487101"/>
              <a:gd name="connsiteY1" fmla="*/ 30273 h 1487102"/>
              <a:gd name="connsiteX2" fmla="*/ 30272 w 1487101"/>
              <a:gd name="connsiteY2" fmla="*/ 866362 h 1487102"/>
              <a:gd name="connsiteX3" fmla="*/ 866362 w 1487101"/>
              <a:gd name="connsiteY3" fmla="*/ 1456830 h 1487102"/>
              <a:gd name="connsiteX4" fmla="*/ 1456829 w 1487101"/>
              <a:gd name="connsiteY4" fmla="*/ 620740 h 1487102"/>
              <a:gd name="connsiteX5" fmla="*/ 766985 w 1487101"/>
              <a:gd name="connsiteY5" fmla="*/ 20013 h 1487102"/>
              <a:gd name="connsiteX6" fmla="*/ 767622 w 1487101"/>
              <a:gd name="connsiteY6" fmla="*/ 364 h 1487102"/>
              <a:gd name="connsiteX7" fmla="*/ 1476200 w 1487101"/>
              <a:gd name="connsiteY7" fmla="*/ 617405 h 1487102"/>
              <a:gd name="connsiteX8" fmla="*/ 869697 w 1487101"/>
              <a:gd name="connsiteY8" fmla="*/ 1476201 h 1487102"/>
              <a:gd name="connsiteX9" fmla="*/ 10901 w 1487101"/>
              <a:gd name="connsiteY9" fmla="*/ 869698 h 1487102"/>
              <a:gd name="connsiteX10" fmla="*/ 617404 w 1487101"/>
              <a:gd name="connsiteY10" fmla="*/ 10902 h 1487102"/>
              <a:gd name="connsiteX11" fmla="*/ 767622 w 1487101"/>
              <a:gd name="connsiteY11" fmla="*/ 364 h 148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7101" h="1487102">
                <a:moveTo>
                  <a:pt x="766985" y="20013"/>
                </a:moveTo>
                <a:cubicBezTo>
                  <a:pt x="718916" y="18506"/>
                  <a:pt x="669981" y="21794"/>
                  <a:pt x="620740" y="30273"/>
                </a:cubicBezTo>
                <a:cubicBezTo>
                  <a:pt x="226807" y="98099"/>
                  <a:pt x="-37554" y="472430"/>
                  <a:pt x="30272" y="866362"/>
                </a:cubicBezTo>
                <a:cubicBezTo>
                  <a:pt x="98099" y="1260295"/>
                  <a:pt x="472430" y="1524656"/>
                  <a:pt x="866362" y="1456830"/>
                </a:cubicBezTo>
                <a:cubicBezTo>
                  <a:pt x="1260295" y="1389003"/>
                  <a:pt x="1524656" y="1014672"/>
                  <a:pt x="1456829" y="620740"/>
                </a:cubicBezTo>
                <a:cubicBezTo>
                  <a:pt x="1397481" y="276049"/>
                  <a:pt x="1103466" y="30561"/>
                  <a:pt x="766985" y="20013"/>
                </a:cubicBezTo>
                <a:close/>
                <a:moveTo>
                  <a:pt x="767622" y="364"/>
                </a:moveTo>
                <a:cubicBezTo>
                  <a:pt x="1113240" y="11198"/>
                  <a:pt x="1415240" y="263352"/>
                  <a:pt x="1476200" y="617405"/>
                </a:cubicBezTo>
                <a:cubicBezTo>
                  <a:pt x="1545869" y="1022036"/>
                  <a:pt x="1274328" y="1406532"/>
                  <a:pt x="869697" y="1476201"/>
                </a:cubicBezTo>
                <a:cubicBezTo>
                  <a:pt x="465066" y="1545869"/>
                  <a:pt x="80570" y="1274329"/>
                  <a:pt x="10901" y="869698"/>
                </a:cubicBezTo>
                <a:cubicBezTo>
                  <a:pt x="-58767" y="465067"/>
                  <a:pt x="212773" y="80570"/>
                  <a:pt x="617404" y="10902"/>
                </a:cubicBezTo>
                <a:cubicBezTo>
                  <a:pt x="667983" y="2193"/>
                  <a:pt x="718248" y="-1184"/>
                  <a:pt x="767622" y="364"/>
                </a:cubicBezTo>
                <a:close/>
              </a:path>
            </a:pathLst>
          </a:custGeom>
          <a:solidFill>
            <a:srgbClr val="FFCA33">
              <a:lumMod val="75000"/>
            </a:srgbClr>
          </a:solidFill>
          <a:ln>
            <a:noFill/>
          </a:ln>
        </p:spPr>
        <p:style>
          <a:lnRef idx="2">
            <a:srgbClr val="FFCA33">
              <a:shade val="50000"/>
            </a:srgbClr>
          </a:lnRef>
          <a:fillRef idx="1">
            <a:srgbClr val="FFCA33"/>
          </a:fillRef>
          <a:effectRef idx="0">
            <a:srgbClr val="FFCA33"/>
          </a:effectRef>
          <a:fontRef idx="minor">
            <a:srgbClr val="FFFFFF"/>
          </a:fontRef>
        </p:style>
        <p:txBody>
          <a:bodyPr rtlCol="0" anchor="ctr">
            <a:normAutofit/>
          </a:bodyPr>
          <a:lstStyle/>
          <a:p>
            <a:pPr algn="ctr"/>
            <a:endParaRPr lang="en-US" altLang="zh-CN" dirty="0">
              <a:solidFill>
                <a:srgbClr val="FFCA33"/>
              </a:solidFill>
              <a:latin typeface="Arial" panose="020B0604020202020204" pitchFamily="34" charset="0"/>
              <a:ea typeface="微软雅黑" panose="020B0503020204020204" charset="-122"/>
              <a:sym typeface="Arial" panose="020B0604020202020204" pitchFamily="34" charset="0"/>
            </a:endParaRPr>
          </a:p>
        </p:txBody>
      </p:sp>
      <p:sp>
        <p:nvSpPr>
          <p:cNvPr id="16" name="任意多边形 15"/>
          <p:cNvSpPr/>
          <p:nvPr>
            <p:custDataLst>
              <p:tags r:id="rId4"/>
            </p:custDataLst>
          </p:nvPr>
        </p:nvSpPr>
        <p:spPr>
          <a:xfrm>
            <a:off x="1516897" y="1509260"/>
            <a:ext cx="1176466" cy="248856"/>
          </a:xfrm>
          <a:custGeom>
            <a:avLst/>
            <a:gdLst>
              <a:gd name="connsiteX0" fmla="*/ 650988 w 1301976"/>
              <a:gd name="connsiteY0" fmla="*/ 0 h 275406"/>
              <a:gd name="connsiteX1" fmla="*/ 1294759 w 1301976"/>
              <a:gd name="connsiteY1" fmla="*/ 266659 h 275406"/>
              <a:gd name="connsiteX2" fmla="*/ 1301976 w 1301976"/>
              <a:gd name="connsiteY2" fmla="*/ 275406 h 275406"/>
              <a:gd name="connsiteX3" fmla="*/ 0 w 1301976"/>
              <a:gd name="connsiteY3" fmla="*/ 275406 h 275406"/>
              <a:gd name="connsiteX4" fmla="*/ 7218 w 1301976"/>
              <a:gd name="connsiteY4" fmla="*/ 266659 h 275406"/>
              <a:gd name="connsiteX5" fmla="*/ 650988 w 1301976"/>
              <a:gd name="connsiteY5" fmla="*/ 0 h 275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976" h="275406">
                <a:moveTo>
                  <a:pt x="650988" y="0"/>
                </a:moveTo>
                <a:cubicBezTo>
                  <a:pt x="902396" y="0"/>
                  <a:pt x="1130003" y="101903"/>
                  <a:pt x="1294759" y="266659"/>
                </a:cubicBezTo>
                <a:lnTo>
                  <a:pt x="1301976" y="275406"/>
                </a:lnTo>
                <a:lnTo>
                  <a:pt x="0" y="275406"/>
                </a:lnTo>
                <a:lnTo>
                  <a:pt x="7218" y="266659"/>
                </a:lnTo>
                <a:cubicBezTo>
                  <a:pt x="171973" y="101903"/>
                  <a:pt x="399580" y="0"/>
                  <a:pt x="650988" y="0"/>
                </a:cubicBezTo>
                <a:close/>
              </a:path>
            </a:pathLst>
          </a:custGeom>
          <a:solidFill>
            <a:srgbClr val="FFCA33">
              <a:lumMod val="75000"/>
            </a:srgbClr>
          </a:solidFill>
          <a:ln>
            <a:noFill/>
          </a:ln>
        </p:spPr>
        <p:style>
          <a:lnRef idx="2">
            <a:srgbClr val="FFCA33">
              <a:shade val="50000"/>
            </a:srgbClr>
          </a:lnRef>
          <a:fillRef idx="1">
            <a:srgbClr val="FFCA33"/>
          </a:fillRef>
          <a:effectRef idx="0">
            <a:srgbClr val="FFCA33"/>
          </a:effectRef>
          <a:fontRef idx="minor">
            <a:srgbClr val="FFFFFF"/>
          </a:fontRef>
        </p:style>
        <p:txBody>
          <a:bodyPr wrap="square" rtlCol="0" anchor="ctr">
            <a:normAutofit fontScale="72500" lnSpcReduction="20000"/>
          </a:bodyPr>
          <a:lstStyle/>
          <a:p>
            <a:pPr algn="ctr"/>
            <a:r>
              <a:rPr lang="en-US" altLang="zh-CN" sz="1600" dirty="0">
                <a:solidFill>
                  <a:srgbClr val="FFFFFF"/>
                </a:solidFill>
                <a:latin typeface="Arial" panose="020B0604020202020204" pitchFamily="34" charset="0"/>
                <a:ea typeface="微软雅黑" panose="020B0503020204020204" charset="-122"/>
                <a:sym typeface="Arial" panose="020B0604020202020204" pitchFamily="34" charset="0"/>
              </a:rPr>
              <a:t>01</a:t>
            </a:r>
            <a:endParaRPr lang="zh-CN" altLang="en-US" sz="16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39" name="文本框 38"/>
          <p:cNvSpPr txBox="1"/>
          <p:nvPr>
            <p:custDataLst>
              <p:tags r:id="rId5"/>
            </p:custDataLst>
          </p:nvPr>
        </p:nvSpPr>
        <p:spPr>
          <a:xfrm>
            <a:off x="1326573" y="1816620"/>
            <a:ext cx="1557112" cy="1030606"/>
          </a:xfrm>
          <a:prstGeom prst="rect">
            <a:avLst/>
          </a:prstGeom>
          <a:noFill/>
        </p:spPr>
        <p:txBody>
          <a:bodyPr wrap="square" rtlCol="0" anchor="ctr" anchorCtr="0">
            <a:normAutofit/>
          </a:bodyPr>
          <a:lstStyle/>
          <a:p>
            <a:pPr algn="ctr">
              <a:lnSpc>
                <a:spcPct val="120000"/>
              </a:lnSpc>
            </a:pPr>
            <a:r>
              <a:rPr lang="zh-CN" altLang="en-US" sz="3200" b="1" kern="0" spc="300" dirty="0">
                <a:solidFill>
                  <a:srgbClr val="FFCA33">
                    <a:lumMod val="75000"/>
                  </a:srgbClr>
                </a:solidFill>
                <a:latin typeface="Arial" panose="020B0604020202020204" pitchFamily="34" charset="0"/>
                <a:ea typeface="微软雅黑" panose="020B0503020204020204" charset="-122"/>
                <a:sym typeface="Arial" panose="020B0604020202020204" pitchFamily="34" charset="0"/>
              </a:rPr>
              <a:t>中国</a:t>
            </a:r>
            <a:endParaRPr lang="zh-CN" altLang="en-US" sz="3200" b="1" kern="0" spc="300" dirty="0">
              <a:solidFill>
                <a:srgbClr val="FFCA33">
                  <a:lumMod val="75000"/>
                </a:srgbClr>
              </a:solidFill>
              <a:latin typeface="Arial" panose="020B0604020202020204" pitchFamily="34" charset="0"/>
              <a:ea typeface="微软雅黑" panose="020B0503020204020204" charset="-122"/>
              <a:sym typeface="Arial" panose="020B0604020202020204" pitchFamily="34" charset="0"/>
            </a:endParaRPr>
          </a:p>
        </p:txBody>
      </p:sp>
      <p:sp>
        <p:nvSpPr>
          <p:cNvPr id="17" name="任意多边形 16"/>
          <p:cNvSpPr/>
          <p:nvPr>
            <p:custDataLst>
              <p:tags r:id="rId6"/>
            </p:custDataLst>
          </p:nvPr>
        </p:nvSpPr>
        <p:spPr>
          <a:xfrm>
            <a:off x="5005689" y="1298509"/>
            <a:ext cx="2113396" cy="2066812"/>
          </a:xfrm>
          <a:custGeom>
            <a:avLst/>
            <a:gdLst>
              <a:gd name="connsiteX0" fmla="*/ 961691 w 1844621"/>
              <a:gd name="connsiteY0" fmla="*/ 1643760 h 1765598"/>
              <a:gd name="connsiteX1" fmla="*/ 964657 w 1844621"/>
              <a:gd name="connsiteY1" fmla="*/ 1718060 h 1765598"/>
              <a:gd name="connsiteX2" fmla="*/ 948083 w 1844621"/>
              <a:gd name="connsiteY2" fmla="*/ 1717184 h 1765598"/>
              <a:gd name="connsiteX3" fmla="*/ 946614 w 1844621"/>
              <a:gd name="connsiteY3" fmla="*/ 1717353 h 1765598"/>
              <a:gd name="connsiteX4" fmla="*/ 943691 w 1844621"/>
              <a:gd name="connsiteY4" fmla="*/ 1644103 h 1765598"/>
              <a:gd name="connsiteX5" fmla="*/ 875350 w 1844621"/>
              <a:gd name="connsiteY5" fmla="*/ 1643169 h 1765598"/>
              <a:gd name="connsiteX6" fmla="*/ 893299 w 1844621"/>
              <a:gd name="connsiteY6" fmla="*/ 1644629 h 1765598"/>
              <a:gd name="connsiteX7" fmla="*/ 889341 w 1844621"/>
              <a:gd name="connsiteY7" fmla="*/ 1723945 h 1765598"/>
              <a:gd name="connsiteX8" fmla="*/ 871214 w 1844621"/>
              <a:gd name="connsiteY8" fmla="*/ 1726031 h 1765598"/>
              <a:gd name="connsiteX9" fmla="*/ 1029699 w 1844621"/>
              <a:gd name="connsiteY9" fmla="*/ 1636826 h 1765598"/>
              <a:gd name="connsiteX10" fmla="*/ 1040815 w 1844621"/>
              <a:gd name="connsiteY10" fmla="*/ 1722087 h 1765598"/>
              <a:gd name="connsiteX11" fmla="*/ 1022537 w 1844621"/>
              <a:gd name="connsiteY11" fmla="*/ 1721121 h 1765598"/>
              <a:gd name="connsiteX12" fmla="*/ 1011828 w 1844621"/>
              <a:gd name="connsiteY12" fmla="*/ 1638982 h 1765598"/>
              <a:gd name="connsiteX13" fmla="*/ 807350 w 1844621"/>
              <a:gd name="connsiteY13" fmla="*/ 1636115 h 1765598"/>
              <a:gd name="connsiteX14" fmla="*/ 822430 w 1844621"/>
              <a:gd name="connsiteY14" fmla="*/ 1638864 h 1765598"/>
              <a:gd name="connsiteX15" fmla="*/ 825110 w 1844621"/>
              <a:gd name="connsiteY15" fmla="*/ 1639083 h 1765598"/>
              <a:gd name="connsiteX16" fmla="*/ 811751 w 1844621"/>
              <a:gd name="connsiteY16" fmla="*/ 1734136 h 1765598"/>
              <a:gd name="connsiteX17" fmla="*/ 792774 w 1844621"/>
              <a:gd name="connsiteY17" fmla="*/ 1739833 h 1765598"/>
              <a:gd name="connsiteX18" fmla="*/ 1096827 w 1844621"/>
              <a:gd name="connsiteY18" fmla="*/ 1624033 h 1765598"/>
              <a:gd name="connsiteX19" fmla="*/ 1121385 w 1844621"/>
              <a:gd name="connsiteY19" fmla="*/ 1734155 h 1765598"/>
              <a:gd name="connsiteX20" fmla="*/ 1101928 w 1844621"/>
              <a:gd name="connsiteY20" fmla="*/ 1729603 h 1765598"/>
              <a:gd name="connsiteX21" fmla="*/ 1079265 w 1844621"/>
              <a:gd name="connsiteY21" fmla="*/ 1627978 h 1765598"/>
              <a:gd name="connsiteX22" fmla="*/ 740342 w 1844621"/>
              <a:gd name="connsiteY22" fmla="*/ 1622534 h 1765598"/>
              <a:gd name="connsiteX23" fmla="*/ 749046 w 1844621"/>
              <a:gd name="connsiteY23" fmla="*/ 1625484 h 1765598"/>
              <a:gd name="connsiteX24" fmla="*/ 757767 w 1844621"/>
              <a:gd name="connsiteY24" fmla="*/ 1627074 h 1765598"/>
              <a:gd name="connsiteX25" fmla="*/ 726815 w 1844621"/>
              <a:gd name="connsiteY25" fmla="*/ 1759631 h 1765598"/>
              <a:gd name="connsiteX26" fmla="*/ 706937 w 1844621"/>
              <a:gd name="connsiteY26" fmla="*/ 1765598 h 1765598"/>
              <a:gd name="connsiteX27" fmla="*/ 1162592 w 1844621"/>
              <a:gd name="connsiteY27" fmla="*/ 1605474 h 1765598"/>
              <a:gd name="connsiteX28" fmla="*/ 1211506 w 1844621"/>
              <a:gd name="connsiteY28" fmla="*/ 1758609 h 1765598"/>
              <a:gd name="connsiteX29" fmla="*/ 1193512 w 1844621"/>
              <a:gd name="connsiteY29" fmla="*/ 1751032 h 1765598"/>
              <a:gd name="connsiteX30" fmla="*/ 1189921 w 1844621"/>
              <a:gd name="connsiteY30" fmla="*/ 1750192 h 1765598"/>
              <a:gd name="connsiteX31" fmla="*/ 1145515 w 1844621"/>
              <a:gd name="connsiteY31" fmla="*/ 1611170 h 1765598"/>
              <a:gd name="connsiteX32" fmla="*/ 675637 w 1844621"/>
              <a:gd name="connsiteY32" fmla="*/ 1600604 h 1765598"/>
              <a:gd name="connsiteX33" fmla="*/ 692686 w 1844621"/>
              <a:gd name="connsiteY33" fmla="*/ 1606382 h 1765598"/>
              <a:gd name="connsiteX34" fmla="*/ 641486 w 1844621"/>
              <a:gd name="connsiteY34" fmla="*/ 1761326 h 1765598"/>
              <a:gd name="connsiteX35" fmla="*/ 631383 w 1844621"/>
              <a:gd name="connsiteY35" fmla="*/ 1744623 h 1765598"/>
              <a:gd name="connsiteX36" fmla="*/ 628970 w 1844621"/>
              <a:gd name="connsiteY36" fmla="*/ 1741831 h 1765598"/>
              <a:gd name="connsiteX37" fmla="*/ 1225916 w 1844621"/>
              <a:gd name="connsiteY37" fmla="*/ 1579868 h 1765598"/>
              <a:gd name="connsiteX38" fmla="*/ 1279540 w 1844621"/>
              <a:gd name="connsiteY38" fmla="*/ 1707080 h 1765598"/>
              <a:gd name="connsiteX39" fmla="*/ 1266966 w 1844621"/>
              <a:gd name="connsiteY39" fmla="*/ 1723591 h 1765598"/>
              <a:gd name="connsiteX40" fmla="*/ 1209837 w 1844621"/>
              <a:gd name="connsiteY40" fmla="*/ 1588066 h 1765598"/>
              <a:gd name="connsiteX41" fmla="*/ 610954 w 1844621"/>
              <a:gd name="connsiteY41" fmla="*/ 1578681 h 1765598"/>
              <a:gd name="connsiteX42" fmla="*/ 628059 w 1844621"/>
              <a:gd name="connsiteY42" fmla="*/ 1584478 h 1765598"/>
              <a:gd name="connsiteX43" fmla="*/ 582951 w 1844621"/>
              <a:gd name="connsiteY43" fmla="*/ 1688574 h 1765598"/>
              <a:gd name="connsiteX44" fmla="*/ 569886 w 1844621"/>
              <a:gd name="connsiteY44" fmla="*/ 1673454 h 1765598"/>
              <a:gd name="connsiteX45" fmla="*/ 1286670 w 1844621"/>
              <a:gd name="connsiteY45" fmla="*/ 1548893 h 1765598"/>
              <a:gd name="connsiteX46" fmla="*/ 1333269 w 1844621"/>
              <a:gd name="connsiteY46" fmla="*/ 1636531 h 1765598"/>
              <a:gd name="connsiteX47" fmla="*/ 1321264 w 1844621"/>
              <a:gd name="connsiteY47" fmla="*/ 1652294 h 1765598"/>
              <a:gd name="connsiteX48" fmla="*/ 1270632 w 1844621"/>
              <a:gd name="connsiteY48" fmla="*/ 1557070 h 1765598"/>
              <a:gd name="connsiteX49" fmla="*/ 551444 w 1844621"/>
              <a:gd name="connsiteY49" fmla="*/ 1545001 h 1765598"/>
              <a:gd name="connsiteX50" fmla="*/ 567074 w 1844621"/>
              <a:gd name="connsiteY50" fmla="*/ 1553937 h 1765598"/>
              <a:gd name="connsiteX51" fmla="*/ 524862 w 1844621"/>
              <a:gd name="connsiteY51" fmla="*/ 1631452 h 1765598"/>
              <a:gd name="connsiteX52" fmla="*/ 510642 w 1844621"/>
              <a:gd name="connsiteY52" fmla="*/ 1619926 h 1765598"/>
              <a:gd name="connsiteX53" fmla="*/ 1346034 w 1844621"/>
              <a:gd name="connsiteY53" fmla="*/ 1515267 h 1765598"/>
              <a:gd name="connsiteX54" fmla="*/ 1390051 w 1844621"/>
              <a:gd name="connsiteY54" fmla="*/ 1582679 h 1765598"/>
              <a:gd name="connsiteX55" fmla="*/ 1376613 w 1844621"/>
              <a:gd name="connsiteY55" fmla="*/ 1595021 h 1765598"/>
              <a:gd name="connsiteX56" fmla="*/ 1331552 w 1844621"/>
              <a:gd name="connsiteY56" fmla="*/ 1526010 h 1765598"/>
              <a:gd name="connsiteX57" fmla="*/ 1333983 w 1844621"/>
              <a:gd name="connsiteY57" fmla="*/ 1524770 h 1765598"/>
              <a:gd name="connsiteX58" fmla="*/ 492213 w 1844621"/>
              <a:gd name="connsiteY58" fmla="*/ 1511140 h 1765598"/>
              <a:gd name="connsiteX59" fmla="*/ 507877 w 1844621"/>
              <a:gd name="connsiteY59" fmla="*/ 1520095 h 1765598"/>
              <a:gd name="connsiteX60" fmla="*/ 465615 w 1844621"/>
              <a:gd name="connsiteY60" fmla="*/ 1583429 h 1765598"/>
              <a:gd name="connsiteX61" fmla="*/ 452723 w 1844621"/>
              <a:gd name="connsiteY61" fmla="*/ 1572979 h 1765598"/>
              <a:gd name="connsiteX62" fmla="*/ 451434 w 1844621"/>
              <a:gd name="connsiteY62" fmla="*/ 1572252 h 1765598"/>
              <a:gd name="connsiteX63" fmla="*/ 1399641 w 1844621"/>
              <a:gd name="connsiteY63" fmla="*/ 1472989 h 1765598"/>
              <a:gd name="connsiteX64" fmla="*/ 1447523 w 1844621"/>
              <a:gd name="connsiteY64" fmla="*/ 1533649 h 1765598"/>
              <a:gd name="connsiteX65" fmla="*/ 1433600 w 1844621"/>
              <a:gd name="connsiteY65" fmla="*/ 1542681 h 1765598"/>
              <a:gd name="connsiteX66" fmla="*/ 1432510 w 1844621"/>
              <a:gd name="connsiteY66" fmla="*/ 1543682 h 1765598"/>
              <a:gd name="connsiteX67" fmla="*/ 1385507 w 1844621"/>
              <a:gd name="connsiteY67" fmla="*/ 1484135 h 1765598"/>
              <a:gd name="connsiteX68" fmla="*/ 439084 w 1844621"/>
              <a:gd name="connsiteY68" fmla="*/ 1468240 h 1765598"/>
              <a:gd name="connsiteX69" fmla="*/ 452737 w 1844621"/>
              <a:gd name="connsiteY69" fmla="*/ 1479985 h 1765598"/>
              <a:gd name="connsiteX70" fmla="*/ 401226 w 1844621"/>
              <a:gd name="connsiteY70" fmla="*/ 1543921 h 1765598"/>
              <a:gd name="connsiteX71" fmla="*/ 385335 w 1844621"/>
              <a:gd name="connsiteY71" fmla="*/ 1534955 h 1765598"/>
              <a:gd name="connsiteX72" fmla="*/ 1452700 w 1844621"/>
              <a:gd name="connsiteY72" fmla="*/ 1430017 h 1765598"/>
              <a:gd name="connsiteX73" fmla="*/ 1511505 w 1844621"/>
              <a:gd name="connsiteY73" fmla="*/ 1492141 h 1765598"/>
              <a:gd name="connsiteX74" fmla="*/ 1496150 w 1844621"/>
              <a:gd name="connsiteY74" fmla="*/ 1502102 h 1765598"/>
              <a:gd name="connsiteX75" fmla="*/ 1439119 w 1844621"/>
              <a:gd name="connsiteY75" fmla="*/ 1441854 h 1765598"/>
              <a:gd name="connsiteX76" fmla="*/ 1449687 w 1844621"/>
              <a:gd name="connsiteY76" fmla="*/ 1433519 h 1765598"/>
              <a:gd name="connsiteX77" fmla="*/ 387391 w 1844621"/>
              <a:gd name="connsiteY77" fmla="*/ 1423768 h 1765598"/>
              <a:gd name="connsiteX78" fmla="*/ 401059 w 1844621"/>
              <a:gd name="connsiteY78" fmla="*/ 1435526 h 1765598"/>
              <a:gd name="connsiteX79" fmla="*/ 332463 w 1844621"/>
              <a:gd name="connsiteY79" fmla="*/ 1506560 h 1765598"/>
              <a:gd name="connsiteX80" fmla="*/ 313761 w 1844621"/>
              <a:gd name="connsiteY80" fmla="*/ 1500014 h 1765598"/>
              <a:gd name="connsiteX81" fmla="*/ 1497274 w 1844621"/>
              <a:gd name="connsiteY81" fmla="*/ 1378205 h 1765598"/>
              <a:gd name="connsiteX82" fmla="*/ 1583781 w 1844621"/>
              <a:gd name="connsiteY82" fmla="*/ 1454547 h 1765598"/>
              <a:gd name="connsiteX83" fmla="*/ 1565364 w 1844621"/>
              <a:gd name="connsiteY83" fmla="*/ 1462300 h 1765598"/>
              <a:gd name="connsiteX84" fmla="*/ 1485535 w 1844621"/>
              <a:gd name="connsiteY84" fmla="*/ 1391850 h 1765598"/>
              <a:gd name="connsiteX85" fmla="*/ 342078 w 1844621"/>
              <a:gd name="connsiteY85" fmla="*/ 1372754 h 1765598"/>
              <a:gd name="connsiteX86" fmla="*/ 353236 w 1844621"/>
              <a:gd name="connsiteY86" fmla="*/ 1386902 h 1765598"/>
              <a:gd name="connsiteX87" fmla="*/ 248764 w 1844621"/>
              <a:gd name="connsiteY87" fmla="*/ 1477262 h 1765598"/>
              <a:gd name="connsiteX88" fmla="*/ 229175 w 1844621"/>
              <a:gd name="connsiteY88" fmla="*/ 1470405 h 1765598"/>
              <a:gd name="connsiteX89" fmla="*/ 1541797 w 1844621"/>
              <a:gd name="connsiteY89" fmla="*/ 1326453 h 1765598"/>
              <a:gd name="connsiteX90" fmla="*/ 1671063 w 1844621"/>
              <a:gd name="connsiteY90" fmla="*/ 1421359 h 1765598"/>
              <a:gd name="connsiteX91" fmla="*/ 1652052 w 1844621"/>
              <a:gd name="connsiteY91" fmla="*/ 1425806 h 1765598"/>
              <a:gd name="connsiteX92" fmla="*/ 1648653 w 1844621"/>
              <a:gd name="connsiteY92" fmla="*/ 1427237 h 1765598"/>
              <a:gd name="connsiteX93" fmla="*/ 1530022 w 1844621"/>
              <a:gd name="connsiteY93" fmla="*/ 1340139 h 1765598"/>
              <a:gd name="connsiteX94" fmla="*/ 299862 w 1844621"/>
              <a:gd name="connsiteY94" fmla="*/ 1319225 h 1765598"/>
              <a:gd name="connsiteX95" fmla="*/ 311019 w 1844621"/>
              <a:gd name="connsiteY95" fmla="*/ 1333372 h 1765598"/>
              <a:gd name="connsiteX96" fmla="*/ 178732 w 1844621"/>
              <a:gd name="connsiteY96" fmla="*/ 1428480 h 1765598"/>
              <a:gd name="connsiteX97" fmla="*/ 180377 w 1844621"/>
              <a:gd name="connsiteY97" fmla="*/ 1409027 h 1765598"/>
              <a:gd name="connsiteX98" fmla="*/ 180067 w 1844621"/>
              <a:gd name="connsiteY98" fmla="*/ 1405352 h 1765598"/>
              <a:gd name="connsiteX99" fmla="*/ 1576542 w 1844621"/>
              <a:gd name="connsiteY99" fmla="*/ 1267609 h 1765598"/>
              <a:gd name="connsiteX100" fmla="*/ 1695816 w 1844621"/>
              <a:gd name="connsiteY100" fmla="*/ 1339681 h 1765598"/>
              <a:gd name="connsiteX101" fmla="*/ 1695348 w 1844621"/>
              <a:gd name="connsiteY101" fmla="*/ 1360430 h 1765598"/>
              <a:gd name="connsiteX102" fmla="*/ 1567606 w 1844621"/>
              <a:gd name="connsiteY102" fmla="*/ 1283241 h 1765598"/>
              <a:gd name="connsiteX103" fmla="*/ 263531 w 1844621"/>
              <a:gd name="connsiteY103" fmla="*/ 1261503 h 1765598"/>
              <a:gd name="connsiteX104" fmla="*/ 271723 w 1844621"/>
              <a:gd name="connsiteY104" fmla="*/ 1277570 h 1765598"/>
              <a:gd name="connsiteX105" fmla="*/ 174140 w 1844621"/>
              <a:gd name="connsiteY105" fmla="*/ 1335215 h 1765598"/>
              <a:gd name="connsiteX106" fmla="*/ 172457 w 1844621"/>
              <a:gd name="connsiteY106" fmla="*/ 1315303 h 1765598"/>
              <a:gd name="connsiteX107" fmla="*/ 1610398 w 1844621"/>
              <a:gd name="connsiteY107" fmla="*/ 1208387 h 1765598"/>
              <a:gd name="connsiteX108" fmla="*/ 1697816 w 1844621"/>
              <a:gd name="connsiteY108" fmla="*/ 1251024 h 1765598"/>
              <a:gd name="connsiteX109" fmla="*/ 1697369 w 1844621"/>
              <a:gd name="connsiteY109" fmla="*/ 1270832 h 1765598"/>
              <a:gd name="connsiteX110" fmla="*/ 1601446 w 1844621"/>
              <a:gd name="connsiteY110" fmla="*/ 1224047 h 1765598"/>
              <a:gd name="connsiteX111" fmla="*/ 232566 w 1844621"/>
              <a:gd name="connsiteY111" fmla="*/ 1200770 h 1765598"/>
              <a:gd name="connsiteX112" fmla="*/ 240745 w 1844621"/>
              <a:gd name="connsiteY112" fmla="*/ 1216812 h 1765598"/>
              <a:gd name="connsiteX113" fmla="*/ 160720 w 1844621"/>
              <a:gd name="connsiteY113" fmla="*/ 1254859 h 1765598"/>
              <a:gd name="connsiteX114" fmla="*/ 155991 w 1844621"/>
              <a:gd name="connsiteY114" fmla="*/ 1237178 h 1765598"/>
              <a:gd name="connsiteX115" fmla="*/ 1634958 w 1844621"/>
              <a:gd name="connsiteY115" fmla="*/ 1144690 h 1765598"/>
              <a:gd name="connsiteX116" fmla="*/ 1712099 w 1844621"/>
              <a:gd name="connsiteY116" fmla="*/ 1174082 h 1765598"/>
              <a:gd name="connsiteX117" fmla="*/ 1708482 w 1844621"/>
              <a:gd name="connsiteY117" fmla="*/ 1191966 h 1765598"/>
              <a:gd name="connsiteX118" fmla="*/ 1629176 w 1844621"/>
              <a:gd name="connsiteY118" fmla="*/ 1161750 h 1765598"/>
              <a:gd name="connsiteX119" fmla="*/ 204756 w 1844621"/>
              <a:gd name="connsiteY119" fmla="*/ 1138431 h 1765598"/>
              <a:gd name="connsiteX120" fmla="*/ 210455 w 1844621"/>
              <a:gd name="connsiteY120" fmla="*/ 1155515 h 1765598"/>
              <a:gd name="connsiteX121" fmla="*/ 141015 w 1844621"/>
              <a:gd name="connsiteY121" fmla="*/ 1181182 h 1765598"/>
              <a:gd name="connsiteX122" fmla="*/ 136727 w 1844621"/>
              <a:gd name="connsiteY122" fmla="*/ 1165150 h 1765598"/>
              <a:gd name="connsiteX123" fmla="*/ 136112 w 1844621"/>
              <a:gd name="connsiteY123" fmla="*/ 1163804 h 1765598"/>
              <a:gd name="connsiteX124" fmla="*/ 1656844 w 1844621"/>
              <a:gd name="connsiteY124" fmla="*/ 1080115 h 1765598"/>
              <a:gd name="connsiteX125" fmla="*/ 1729776 w 1844621"/>
              <a:gd name="connsiteY125" fmla="*/ 1100634 h 1765598"/>
              <a:gd name="connsiteX126" fmla="*/ 1723821 w 1844621"/>
              <a:gd name="connsiteY126" fmla="*/ 1116126 h 1765598"/>
              <a:gd name="connsiteX127" fmla="*/ 1723528 w 1844621"/>
              <a:gd name="connsiteY127" fmla="*/ 1117576 h 1765598"/>
              <a:gd name="connsiteX128" fmla="*/ 1651058 w 1844621"/>
              <a:gd name="connsiteY128" fmla="*/ 1097186 h 1765598"/>
              <a:gd name="connsiteX129" fmla="*/ 184625 w 1844621"/>
              <a:gd name="connsiteY129" fmla="*/ 1073110 h 1765598"/>
              <a:gd name="connsiteX130" fmla="*/ 188043 w 1844621"/>
              <a:gd name="connsiteY130" fmla="*/ 1088326 h 1765598"/>
              <a:gd name="connsiteX131" fmla="*/ 188810 w 1844621"/>
              <a:gd name="connsiteY131" fmla="*/ 1090624 h 1765598"/>
              <a:gd name="connsiteX132" fmla="*/ 112145 w 1844621"/>
              <a:gd name="connsiteY132" fmla="*/ 1111372 h 1765598"/>
              <a:gd name="connsiteX133" fmla="*/ 104560 w 1844621"/>
              <a:gd name="connsiteY133" fmla="*/ 1094778 h 1765598"/>
              <a:gd name="connsiteX134" fmla="*/ 1672722 w 1844621"/>
              <a:gd name="connsiteY134" fmla="*/ 1013691 h 1765598"/>
              <a:gd name="connsiteX135" fmla="*/ 1757141 w 1844621"/>
              <a:gd name="connsiteY135" fmla="*/ 1029446 h 1765598"/>
              <a:gd name="connsiteX136" fmla="*/ 1750574 w 1844621"/>
              <a:gd name="connsiteY136" fmla="*/ 1046531 h 1765598"/>
              <a:gd name="connsiteX137" fmla="*/ 1669493 w 1844621"/>
              <a:gd name="connsiteY137" fmla="*/ 1031399 h 1765598"/>
              <a:gd name="connsiteX138" fmla="*/ 170225 w 1844621"/>
              <a:gd name="connsiteY138" fmla="*/ 1006273 h 1765598"/>
              <a:gd name="connsiteX139" fmla="*/ 170936 w 1844621"/>
              <a:gd name="connsiteY139" fmla="*/ 1012170 h 1765598"/>
              <a:gd name="connsiteX140" fmla="*/ 173584 w 1844621"/>
              <a:gd name="connsiteY140" fmla="*/ 1023958 h 1765598"/>
              <a:gd name="connsiteX141" fmla="*/ 78475 w 1844621"/>
              <a:gd name="connsiteY141" fmla="*/ 1040728 h 1765598"/>
              <a:gd name="connsiteX142" fmla="*/ 67193 w 1844621"/>
              <a:gd name="connsiteY142" fmla="*/ 1024440 h 1765598"/>
              <a:gd name="connsiteX143" fmla="*/ 1681368 w 1844621"/>
              <a:gd name="connsiteY143" fmla="*/ 945892 h 1765598"/>
              <a:gd name="connsiteX144" fmla="*/ 1793516 w 1844621"/>
              <a:gd name="connsiteY144" fmla="*/ 956550 h 1765598"/>
              <a:gd name="connsiteX145" fmla="*/ 1783173 w 1844621"/>
              <a:gd name="connsiteY145" fmla="*/ 973649 h 1765598"/>
              <a:gd name="connsiteX146" fmla="*/ 1679909 w 1844621"/>
              <a:gd name="connsiteY146" fmla="*/ 963835 h 1765598"/>
              <a:gd name="connsiteX147" fmla="*/ 162034 w 1844621"/>
              <a:gd name="connsiteY147" fmla="*/ 938372 h 1765598"/>
              <a:gd name="connsiteX148" fmla="*/ 164191 w 1844621"/>
              <a:gd name="connsiteY148" fmla="*/ 956254 h 1765598"/>
              <a:gd name="connsiteX149" fmla="*/ 27981 w 1844621"/>
              <a:gd name="connsiteY149" fmla="*/ 967828 h 1765598"/>
              <a:gd name="connsiteX150" fmla="*/ 16164 w 1844621"/>
              <a:gd name="connsiteY150" fmla="*/ 950767 h 1765598"/>
              <a:gd name="connsiteX151" fmla="*/ 1683923 w 1844621"/>
              <a:gd name="connsiteY151" fmla="*/ 877596 h 1765598"/>
              <a:gd name="connsiteX152" fmla="*/ 1844621 w 1844621"/>
              <a:gd name="connsiteY152" fmla="*/ 878397 h 1765598"/>
              <a:gd name="connsiteX153" fmla="*/ 1831855 w 1844621"/>
              <a:gd name="connsiteY153" fmla="*/ 893168 h 1765598"/>
              <a:gd name="connsiteX154" fmla="*/ 1829946 w 1844621"/>
              <a:gd name="connsiteY154" fmla="*/ 896325 h 1765598"/>
              <a:gd name="connsiteX155" fmla="*/ 1684266 w 1844621"/>
              <a:gd name="connsiteY155" fmla="*/ 895598 h 1765598"/>
              <a:gd name="connsiteX156" fmla="*/ 14676 w 1844621"/>
              <a:gd name="connsiteY156" fmla="*/ 869273 h 1765598"/>
              <a:gd name="connsiteX157" fmla="*/ 160356 w 1844621"/>
              <a:gd name="connsiteY157" fmla="*/ 869999 h 1765598"/>
              <a:gd name="connsiteX158" fmla="*/ 160699 w 1844621"/>
              <a:gd name="connsiteY158" fmla="*/ 888001 h 1765598"/>
              <a:gd name="connsiteX159" fmla="*/ 0 w 1844621"/>
              <a:gd name="connsiteY159" fmla="*/ 887200 h 1765598"/>
              <a:gd name="connsiteX160" fmla="*/ 12766 w 1844621"/>
              <a:gd name="connsiteY160" fmla="*/ 872429 h 1765598"/>
              <a:gd name="connsiteX161" fmla="*/ 1816638 w 1844621"/>
              <a:gd name="connsiteY161" fmla="*/ 797770 h 1765598"/>
              <a:gd name="connsiteX162" fmla="*/ 1828455 w 1844621"/>
              <a:gd name="connsiteY162" fmla="*/ 814831 h 1765598"/>
              <a:gd name="connsiteX163" fmla="*/ 1682588 w 1844621"/>
              <a:gd name="connsiteY163" fmla="*/ 827227 h 1765598"/>
              <a:gd name="connsiteX164" fmla="*/ 1680430 w 1844621"/>
              <a:gd name="connsiteY164" fmla="*/ 809345 h 1765598"/>
              <a:gd name="connsiteX165" fmla="*/ 61447 w 1844621"/>
              <a:gd name="connsiteY165" fmla="*/ 791950 h 1765598"/>
              <a:gd name="connsiteX166" fmla="*/ 164713 w 1844621"/>
              <a:gd name="connsiteY166" fmla="*/ 801763 h 1765598"/>
              <a:gd name="connsiteX167" fmla="*/ 163253 w 1844621"/>
              <a:gd name="connsiteY167" fmla="*/ 819705 h 1765598"/>
              <a:gd name="connsiteX168" fmla="*/ 51105 w 1844621"/>
              <a:gd name="connsiteY168" fmla="*/ 809048 h 1765598"/>
              <a:gd name="connsiteX169" fmla="*/ 1766145 w 1844621"/>
              <a:gd name="connsiteY169" fmla="*/ 724870 h 1765598"/>
              <a:gd name="connsiteX170" fmla="*/ 1777427 w 1844621"/>
              <a:gd name="connsiteY170" fmla="*/ 741158 h 1765598"/>
              <a:gd name="connsiteX171" fmla="*/ 1674396 w 1844621"/>
              <a:gd name="connsiteY171" fmla="*/ 759325 h 1765598"/>
              <a:gd name="connsiteX172" fmla="*/ 1673685 w 1844621"/>
              <a:gd name="connsiteY172" fmla="*/ 753429 h 1765598"/>
              <a:gd name="connsiteX173" fmla="*/ 1670588 w 1844621"/>
              <a:gd name="connsiteY173" fmla="*/ 741719 h 1765598"/>
              <a:gd name="connsiteX174" fmla="*/ 94047 w 1844621"/>
              <a:gd name="connsiteY174" fmla="*/ 719066 h 1765598"/>
              <a:gd name="connsiteX175" fmla="*/ 175129 w 1844621"/>
              <a:gd name="connsiteY175" fmla="*/ 734198 h 1765598"/>
              <a:gd name="connsiteX176" fmla="*/ 171900 w 1844621"/>
              <a:gd name="connsiteY176" fmla="*/ 751906 h 1765598"/>
              <a:gd name="connsiteX177" fmla="*/ 87480 w 1844621"/>
              <a:gd name="connsiteY177" fmla="*/ 736151 h 1765598"/>
              <a:gd name="connsiteX178" fmla="*/ 1732475 w 1844621"/>
              <a:gd name="connsiteY178" fmla="*/ 654227 h 1765598"/>
              <a:gd name="connsiteX179" fmla="*/ 1740061 w 1844621"/>
              <a:gd name="connsiteY179" fmla="*/ 670822 h 1765598"/>
              <a:gd name="connsiteX180" fmla="*/ 1657733 w 1844621"/>
              <a:gd name="connsiteY180" fmla="*/ 693102 h 1765598"/>
              <a:gd name="connsiteX181" fmla="*/ 1653131 w 1844621"/>
              <a:gd name="connsiteY181" fmla="*/ 675699 h 1765598"/>
              <a:gd name="connsiteX182" fmla="*/ 121093 w 1844621"/>
              <a:gd name="connsiteY182" fmla="*/ 648021 h 1765598"/>
              <a:gd name="connsiteX183" fmla="*/ 193564 w 1844621"/>
              <a:gd name="connsiteY183" fmla="*/ 668412 h 1765598"/>
              <a:gd name="connsiteX184" fmla="*/ 187778 w 1844621"/>
              <a:gd name="connsiteY184" fmla="*/ 685483 h 1765598"/>
              <a:gd name="connsiteX185" fmla="*/ 114844 w 1844621"/>
              <a:gd name="connsiteY185" fmla="*/ 664963 h 1765598"/>
              <a:gd name="connsiteX186" fmla="*/ 120799 w 1844621"/>
              <a:gd name="connsiteY186" fmla="*/ 649471 h 1765598"/>
              <a:gd name="connsiteX187" fmla="*/ 1703605 w 1844621"/>
              <a:gd name="connsiteY187" fmla="*/ 584417 h 1765598"/>
              <a:gd name="connsiteX188" fmla="*/ 1707892 w 1844621"/>
              <a:gd name="connsiteY188" fmla="*/ 600448 h 1765598"/>
              <a:gd name="connsiteX189" fmla="*/ 1708508 w 1844621"/>
              <a:gd name="connsiteY189" fmla="*/ 601796 h 1765598"/>
              <a:gd name="connsiteX190" fmla="*/ 1640259 w 1844621"/>
              <a:gd name="connsiteY190" fmla="*/ 627022 h 1765598"/>
              <a:gd name="connsiteX191" fmla="*/ 1639049 w 1844621"/>
              <a:gd name="connsiteY191" fmla="*/ 622444 h 1765598"/>
              <a:gd name="connsiteX192" fmla="*/ 1633440 w 1844621"/>
              <a:gd name="connsiteY192" fmla="*/ 610352 h 1765598"/>
              <a:gd name="connsiteX193" fmla="*/ 136138 w 1844621"/>
              <a:gd name="connsiteY193" fmla="*/ 573632 h 1765598"/>
              <a:gd name="connsiteX194" fmla="*/ 215446 w 1844621"/>
              <a:gd name="connsiteY194" fmla="*/ 603848 h 1765598"/>
              <a:gd name="connsiteX195" fmla="*/ 209665 w 1844621"/>
              <a:gd name="connsiteY195" fmla="*/ 620908 h 1765598"/>
              <a:gd name="connsiteX196" fmla="*/ 132521 w 1844621"/>
              <a:gd name="connsiteY196" fmla="*/ 591516 h 1765598"/>
              <a:gd name="connsiteX197" fmla="*/ 1683900 w 1844621"/>
              <a:gd name="connsiteY197" fmla="*/ 510741 h 1765598"/>
              <a:gd name="connsiteX198" fmla="*/ 1688629 w 1844621"/>
              <a:gd name="connsiteY198" fmla="*/ 528423 h 1765598"/>
              <a:gd name="connsiteX199" fmla="*/ 1612275 w 1844621"/>
              <a:gd name="connsiteY199" fmla="*/ 564725 h 1765598"/>
              <a:gd name="connsiteX200" fmla="*/ 1604700 w 1844621"/>
              <a:gd name="connsiteY200" fmla="*/ 548396 h 1765598"/>
              <a:gd name="connsiteX201" fmla="*/ 147252 w 1844621"/>
              <a:gd name="connsiteY201" fmla="*/ 494765 h 1765598"/>
              <a:gd name="connsiteX202" fmla="*/ 243177 w 1844621"/>
              <a:gd name="connsiteY202" fmla="*/ 541551 h 1765598"/>
              <a:gd name="connsiteX203" fmla="*/ 234224 w 1844621"/>
              <a:gd name="connsiteY203" fmla="*/ 557210 h 1765598"/>
              <a:gd name="connsiteX204" fmla="*/ 146805 w 1844621"/>
              <a:gd name="connsiteY204" fmla="*/ 514573 h 1765598"/>
              <a:gd name="connsiteX205" fmla="*/ 1670480 w 1844621"/>
              <a:gd name="connsiteY205" fmla="*/ 430384 h 1765598"/>
              <a:gd name="connsiteX206" fmla="*/ 1672163 w 1844621"/>
              <a:gd name="connsiteY206" fmla="*/ 450296 h 1765598"/>
              <a:gd name="connsiteX207" fmla="*/ 1583450 w 1844621"/>
              <a:gd name="connsiteY207" fmla="*/ 502701 h 1765598"/>
              <a:gd name="connsiteX208" fmla="*/ 1573155 w 1844621"/>
              <a:gd name="connsiteY208" fmla="*/ 487877 h 1765598"/>
              <a:gd name="connsiteX209" fmla="*/ 149273 w 1844621"/>
              <a:gd name="connsiteY209" fmla="*/ 405169 h 1765598"/>
              <a:gd name="connsiteX210" fmla="*/ 277016 w 1844621"/>
              <a:gd name="connsiteY210" fmla="*/ 482359 h 1765598"/>
              <a:gd name="connsiteX211" fmla="*/ 268080 w 1844621"/>
              <a:gd name="connsiteY211" fmla="*/ 497989 h 1765598"/>
              <a:gd name="connsiteX212" fmla="*/ 148805 w 1844621"/>
              <a:gd name="connsiteY212" fmla="*/ 425916 h 1765598"/>
              <a:gd name="connsiteX213" fmla="*/ 195968 w 1844621"/>
              <a:gd name="connsiteY213" fmla="*/ 338361 h 1765598"/>
              <a:gd name="connsiteX214" fmla="*/ 314600 w 1844621"/>
              <a:gd name="connsiteY214" fmla="*/ 425459 h 1765598"/>
              <a:gd name="connsiteX215" fmla="*/ 302826 w 1844621"/>
              <a:gd name="connsiteY215" fmla="*/ 439145 h 1765598"/>
              <a:gd name="connsiteX216" fmla="*/ 173559 w 1844621"/>
              <a:gd name="connsiteY216" fmla="*/ 344239 h 1765598"/>
              <a:gd name="connsiteX217" fmla="*/ 192568 w 1844621"/>
              <a:gd name="connsiteY217" fmla="*/ 339792 h 1765598"/>
              <a:gd name="connsiteX218" fmla="*/ 1665887 w 1844621"/>
              <a:gd name="connsiteY218" fmla="*/ 337121 h 1765598"/>
              <a:gd name="connsiteX219" fmla="*/ 1664242 w 1844621"/>
              <a:gd name="connsiteY219" fmla="*/ 356571 h 1765598"/>
              <a:gd name="connsiteX220" fmla="*/ 1664553 w 1844621"/>
              <a:gd name="connsiteY220" fmla="*/ 360248 h 1765598"/>
              <a:gd name="connsiteX221" fmla="*/ 1544474 w 1844621"/>
              <a:gd name="connsiteY221" fmla="*/ 446578 h 1765598"/>
              <a:gd name="connsiteX222" fmla="*/ 1534206 w 1844621"/>
              <a:gd name="connsiteY222" fmla="*/ 431793 h 1765598"/>
              <a:gd name="connsiteX223" fmla="*/ 279257 w 1844621"/>
              <a:gd name="connsiteY223" fmla="*/ 303297 h 1765598"/>
              <a:gd name="connsiteX224" fmla="*/ 359087 w 1844621"/>
              <a:gd name="connsiteY224" fmla="*/ 373748 h 1765598"/>
              <a:gd name="connsiteX225" fmla="*/ 347347 w 1844621"/>
              <a:gd name="connsiteY225" fmla="*/ 387394 h 1765598"/>
              <a:gd name="connsiteX226" fmla="*/ 260839 w 1844621"/>
              <a:gd name="connsiteY226" fmla="*/ 311051 h 1765598"/>
              <a:gd name="connsiteX227" fmla="*/ 1595859 w 1844621"/>
              <a:gd name="connsiteY227" fmla="*/ 288337 h 1765598"/>
              <a:gd name="connsiteX228" fmla="*/ 1615448 w 1844621"/>
              <a:gd name="connsiteY228" fmla="*/ 295194 h 1765598"/>
              <a:gd name="connsiteX229" fmla="*/ 1504459 w 1844621"/>
              <a:gd name="connsiteY229" fmla="*/ 391189 h 1765598"/>
              <a:gd name="connsiteX230" fmla="*/ 1491819 w 1844621"/>
              <a:gd name="connsiteY230" fmla="*/ 378322 h 1765598"/>
              <a:gd name="connsiteX231" fmla="*/ 348471 w 1844621"/>
              <a:gd name="connsiteY231" fmla="*/ 263494 h 1765598"/>
              <a:gd name="connsiteX232" fmla="*/ 405504 w 1844621"/>
              <a:gd name="connsiteY232" fmla="*/ 323744 h 1765598"/>
              <a:gd name="connsiteX233" fmla="*/ 394934 w 1844621"/>
              <a:gd name="connsiteY233" fmla="*/ 332080 h 1765598"/>
              <a:gd name="connsiteX234" fmla="*/ 391923 w 1844621"/>
              <a:gd name="connsiteY234" fmla="*/ 335581 h 1765598"/>
              <a:gd name="connsiteX235" fmla="*/ 333116 w 1844621"/>
              <a:gd name="connsiteY235" fmla="*/ 273456 h 1765598"/>
              <a:gd name="connsiteX236" fmla="*/ 1512159 w 1844621"/>
              <a:gd name="connsiteY236" fmla="*/ 259039 h 1765598"/>
              <a:gd name="connsiteX237" fmla="*/ 1530860 w 1844621"/>
              <a:gd name="connsiteY237" fmla="*/ 265585 h 1765598"/>
              <a:gd name="connsiteX238" fmla="*/ 1456606 w 1844621"/>
              <a:gd name="connsiteY238" fmla="*/ 342477 h 1765598"/>
              <a:gd name="connsiteX239" fmla="*/ 1443988 w 1844621"/>
              <a:gd name="connsiteY239" fmla="*/ 329632 h 1765598"/>
              <a:gd name="connsiteX240" fmla="*/ 412110 w 1844621"/>
              <a:gd name="connsiteY240" fmla="*/ 221916 h 1765598"/>
              <a:gd name="connsiteX241" fmla="*/ 459114 w 1844621"/>
              <a:gd name="connsiteY241" fmla="*/ 281464 h 1765598"/>
              <a:gd name="connsiteX242" fmla="*/ 444980 w 1844621"/>
              <a:gd name="connsiteY242" fmla="*/ 292610 h 1765598"/>
              <a:gd name="connsiteX243" fmla="*/ 397097 w 1844621"/>
              <a:gd name="connsiteY243" fmla="*/ 231949 h 1765598"/>
              <a:gd name="connsiteX244" fmla="*/ 411019 w 1844621"/>
              <a:gd name="connsiteY244" fmla="*/ 222917 h 1765598"/>
              <a:gd name="connsiteX245" fmla="*/ 1443396 w 1844621"/>
              <a:gd name="connsiteY245" fmla="*/ 221678 h 1765598"/>
              <a:gd name="connsiteX246" fmla="*/ 1459286 w 1844621"/>
              <a:gd name="connsiteY246" fmla="*/ 230644 h 1765598"/>
              <a:gd name="connsiteX247" fmla="*/ 1406897 w 1844621"/>
              <a:gd name="connsiteY247" fmla="*/ 295670 h 1765598"/>
              <a:gd name="connsiteX248" fmla="*/ 1392300 w 1844621"/>
              <a:gd name="connsiteY248" fmla="*/ 285098 h 1765598"/>
              <a:gd name="connsiteX249" fmla="*/ 1379005 w 1844621"/>
              <a:gd name="connsiteY249" fmla="*/ 182170 h 1765598"/>
              <a:gd name="connsiteX250" fmla="*/ 1391896 w 1844621"/>
              <a:gd name="connsiteY250" fmla="*/ 192619 h 1765598"/>
              <a:gd name="connsiteX251" fmla="*/ 1393186 w 1844621"/>
              <a:gd name="connsiteY251" fmla="*/ 193347 h 1765598"/>
              <a:gd name="connsiteX252" fmla="*/ 1351622 w 1844621"/>
              <a:gd name="connsiteY252" fmla="*/ 255636 h 1765598"/>
              <a:gd name="connsiteX253" fmla="*/ 1337034 w 1844621"/>
              <a:gd name="connsiteY253" fmla="*/ 245070 h 1765598"/>
              <a:gd name="connsiteX254" fmla="*/ 468008 w 1844621"/>
              <a:gd name="connsiteY254" fmla="*/ 170577 h 1765598"/>
              <a:gd name="connsiteX255" fmla="*/ 513069 w 1844621"/>
              <a:gd name="connsiteY255" fmla="*/ 239589 h 1765598"/>
              <a:gd name="connsiteX256" fmla="*/ 510638 w 1844621"/>
              <a:gd name="connsiteY256" fmla="*/ 240828 h 1765598"/>
              <a:gd name="connsiteX257" fmla="*/ 498586 w 1844621"/>
              <a:gd name="connsiteY257" fmla="*/ 250333 h 1765598"/>
              <a:gd name="connsiteX258" fmla="*/ 454568 w 1844621"/>
              <a:gd name="connsiteY258" fmla="*/ 182920 h 1765598"/>
              <a:gd name="connsiteX259" fmla="*/ 1319759 w 1844621"/>
              <a:gd name="connsiteY259" fmla="*/ 134146 h 1765598"/>
              <a:gd name="connsiteX260" fmla="*/ 1333978 w 1844621"/>
              <a:gd name="connsiteY260" fmla="*/ 145672 h 1765598"/>
              <a:gd name="connsiteX261" fmla="*/ 1294036 w 1844621"/>
              <a:gd name="connsiteY261" fmla="*/ 219016 h 1765598"/>
              <a:gd name="connsiteX262" fmla="*/ 1277891 w 1844621"/>
              <a:gd name="connsiteY262" fmla="*/ 211027 h 1765598"/>
              <a:gd name="connsiteX263" fmla="*/ 523355 w 1844621"/>
              <a:gd name="connsiteY263" fmla="*/ 113305 h 1765598"/>
              <a:gd name="connsiteX264" fmla="*/ 573987 w 1844621"/>
              <a:gd name="connsiteY264" fmla="*/ 208530 h 1765598"/>
              <a:gd name="connsiteX265" fmla="*/ 557949 w 1844621"/>
              <a:gd name="connsiteY265" fmla="*/ 216707 h 1765598"/>
              <a:gd name="connsiteX266" fmla="*/ 511350 w 1844621"/>
              <a:gd name="connsiteY266" fmla="*/ 129068 h 1765598"/>
              <a:gd name="connsiteX267" fmla="*/ 1261668 w 1844621"/>
              <a:gd name="connsiteY267" fmla="*/ 77024 h 1765598"/>
              <a:gd name="connsiteX268" fmla="*/ 1274734 w 1844621"/>
              <a:gd name="connsiteY268" fmla="*/ 92144 h 1765598"/>
              <a:gd name="connsiteX269" fmla="*/ 1232872 w 1844621"/>
              <a:gd name="connsiteY269" fmla="*/ 188750 h 1765598"/>
              <a:gd name="connsiteX270" fmla="*/ 1216718 w 1844621"/>
              <a:gd name="connsiteY270" fmla="*/ 180757 h 1765598"/>
              <a:gd name="connsiteX271" fmla="*/ 879964 w 1844621"/>
              <a:gd name="connsiteY271" fmla="*/ 47539 h 1765598"/>
              <a:gd name="connsiteX272" fmla="*/ 896536 w 1844621"/>
              <a:gd name="connsiteY272" fmla="*/ 48415 h 1765598"/>
              <a:gd name="connsiteX273" fmla="*/ 898006 w 1844621"/>
              <a:gd name="connsiteY273" fmla="*/ 48246 h 1765598"/>
              <a:gd name="connsiteX274" fmla="*/ 900930 w 1844621"/>
              <a:gd name="connsiteY274" fmla="*/ 121496 h 1765598"/>
              <a:gd name="connsiteX275" fmla="*/ 882930 w 1844621"/>
              <a:gd name="connsiteY275" fmla="*/ 121839 h 1765598"/>
              <a:gd name="connsiteX276" fmla="*/ 803804 w 1844621"/>
              <a:gd name="connsiteY276" fmla="*/ 43511 h 1765598"/>
              <a:gd name="connsiteX277" fmla="*/ 822082 w 1844621"/>
              <a:gd name="connsiteY277" fmla="*/ 44478 h 1765598"/>
              <a:gd name="connsiteX278" fmla="*/ 832792 w 1844621"/>
              <a:gd name="connsiteY278" fmla="*/ 126618 h 1765598"/>
              <a:gd name="connsiteX279" fmla="*/ 814920 w 1844621"/>
              <a:gd name="connsiteY279" fmla="*/ 128774 h 1765598"/>
              <a:gd name="connsiteX280" fmla="*/ 577653 w 1844621"/>
              <a:gd name="connsiteY280" fmla="*/ 42008 h 1765598"/>
              <a:gd name="connsiteX281" fmla="*/ 634782 w 1844621"/>
              <a:gd name="connsiteY281" fmla="*/ 177534 h 1765598"/>
              <a:gd name="connsiteX282" fmla="*/ 618704 w 1844621"/>
              <a:gd name="connsiteY282" fmla="*/ 185731 h 1765598"/>
              <a:gd name="connsiteX283" fmla="*/ 565079 w 1844621"/>
              <a:gd name="connsiteY283" fmla="*/ 58518 h 1765598"/>
              <a:gd name="connsiteX284" fmla="*/ 973404 w 1844621"/>
              <a:gd name="connsiteY284" fmla="*/ 39567 h 1765598"/>
              <a:gd name="connsiteX285" fmla="*/ 969228 w 1844621"/>
              <a:gd name="connsiteY285" fmla="*/ 123258 h 1765598"/>
              <a:gd name="connsiteX286" fmla="*/ 951312 w 1844621"/>
              <a:gd name="connsiteY286" fmla="*/ 121130 h 1765598"/>
              <a:gd name="connsiteX287" fmla="*/ 955278 w 1844621"/>
              <a:gd name="connsiteY287" fmla="*/ 41654 h 1765598"/>
              <a:gd name="connsiteX288" fmla="*/ 723233 w 1844621"/>
              <a:gd name="connsiteY288" fmla="*/ 31443 h 1765598"/>
              <a:gd name="connsiteX289" fmla="*/ 742691 w 1844621"/>
              <a:gd name="connsiteY289" fmla="*/ 35995 h 1765598"/>
              <a:gd name="connsiteX290" fmla="*/ 765354 w 1844621"/>
              <a:gd name="connsiteY290" fmla="*/ 137622 h 1765598"/>
              <a:gd name="connsiteX291" fmla="*/ 747791 w 1844621"/>
              <a:gd name="connsiteY291" fmla="*/ 141567 h 1765598"/>
              <a:gd name="connsiteX292" fmla="*/ 1051847 w 1844621"/>
              <a:gd name="connsiteY292" fmla="*/ 25765 h 1765598"/>
              <a:gd name="connsiteX293" fmla="*/ 1037014 w 1844621"/>
              <a:gd name="connsiteY293" fmla="*/ 131308 h 1765598"/>
              <a:gd name="connsiteX294" fmla="*/ 1019135 w 1844621"/>
              <a:gd name="connsiteY294" fmla="*/ 129184 h 1765598"/>
              <a:gd name="connsiteX295" fmla="*/ 1032869 w 1844621"/>
              <a:gd name="connsiteY295" fmla="*/ 31462 h 1765598"/>
              <a:gd name="connsiteX296" fmla="*/ 633115 w 1844621"/>
              <a:gd name="connsiteY296" fmla="*/ 6990 h 1765598"/>
              <a:gd name="connsiteX297" fmla="*/ 651107 w 1844621"/>
              <a:gd name="connsiteY297" fmla="*/ 14566 h 1765598"/>
              <a:gd name="connsiteX298" fmla="*/ 654699 w 1844621"/>
              <a:gd name="connsiteY298" fmla="*/ 15406 h 1765598"/>
              <a:gd name="connsiteX299" fmla="*/ 699105 w 1844621"/>
              <a:gd name="connsiteY299" fmla="*/ 154429 h 1765598"/>
              <a:gd name="connsiteX300" fmla="*/ 682029 w 1844621"/>
              <a:gd name="connsiteY300" fmla="*/ 160125 h 1765598"/>
              <a:gd name="connsiteX301" fmla="*/ 1203134 w 1844621"/>
              <a:gd name="connsiteY301" fmla="*/ 4273 h 1765598"/>
              <a:gd name="connsiteX302" fmla="*/ 1213236 w 1844621"/>
              <a:gd name="connsiteY302" fmla="*/ 20976 h 1765598"/>
              <a:gd name="connsiteX303" fmla="*/ 1215649 w 1844621"/>
              <a:gd name="connsiteY303" fmla="*/ 23769 h 1765598"/>
              <a:gd name="connsiteX304" fmla="*/ 1169442 w 1844621"/>
              <a:gd name="connsiteY304" fmla="*/ 163605 h 1765598"/>
              <a:gd name="connsiteX305" fmla="*/ 1152188 w 1844621"/>
              <a:gd name="connsiteY305" fmla="*/ 158449 h 1765598"/>
              <a:gd name="connsiteX306" fmla="*/ 1137683 w 1844621"/>
              <a:gd name="connsiteY306" fmla="*/ 0 h 1765598"/>
              <a:gd name="connsiteX307" fmla="*/ 1104046 w 1844621"/>
              <a:gd name="connsiteY307" fmla="*/ 144062 h 1765598"/>
              <a:gd name="connsiteX308" fmla="*/ 1086767 w 1844621"/>
              <a:gd name="connsiteY308" fmla="*/ 138898 h 1765598"/>
              <a:gd name="connsiteX309" fmla="*/ 1117806 w 1844621"/>
              <a:gd name="connsiteY309" fmla="*/ 5966 h 17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1844621" h="1765598">
                <a:moveTo>
                  <a:pt x="961691" y="1643760"/>
                </a:moveTo>
                <a:lnTo>
                  <a:pt x="964657" y="1718060"/>
                </a:lnTo>
                <a:lnTo>
                  <a:pt x="948083" y="1717184"/>
                </a:lnTo>
                <a:lnTo>
                  <a:pt x="946614" y="1717353"/>
                </a:lnTo>
                <a:lnTo>
                  <a:pt x="943691" y="1644103"/>
                </a:lnTo>
                <a:close/>
                <a:moveTo>
                  <a:pt x="875350" y="1643169"/>
                </a:moveTo>
                <a:lnTo>
                  <a:pt x="893299" y="1644629"/>
                </a:lnTo>
                <a:lnTo>
                  <a:pt x="889341" y="1723945"/>
                </a:lnTo>
                <a:lnTo>
                  <a:pt x="871214" y="1726031"/>
                </a:lnTo>
                <a:close/>
                <a:moveTo>
                  <a:pt x="1029699" y="1636826"/>
                </a:moveTo>
                <a:lnTo>
                  <a:pt x="1040815" y="1722087"/>
                </a:lnTo>
                <a:lnTo>
                  <a:pt x="1022537" y="1721121"/>
                </a:lnTo>
                <a:lnTo>
                  <a:pt x="1011828" y="1638982"/>
                </a:lnTo>
                <a:close/>
                <a:moveTo>
                  <a:pt x="807350" y="1636115"/>
                </a:moveTo>
                <a:lnTo>
                  <a:pt x="822430" y="1638864"/>
                </a:lnTo>
                <a:lnTo>
                  <a:pt x="825110" y="1639083"/>
                </a:lnTo>
                <a:lnTo>
                  <a:pt x="811751" y="1734136"/>
                </a:lnTo>
                <a:lnTo>
                  <a:pt x="792774" y="1739833"/>
                </a:lnTo>
                <a:close/>
                <a:moveTo>
                  <a:pt x="1096827" y="1624033"/>
                </a:moveTo>
                <a:lnTo>
                  <a:pt x="1121385" y="1734155"/>
                </a:lnTo>
                <a:lnTo>
                  <a:pt x="1101928" y="1729603"/>
                </a:lnTo>
                <a:lnTo>
                  <a:pt x="1079265" y="1627978"/>
                </a:lnTo>
                <a:close/>
                <a:moveTo>
                  <a:pt x="740342" y="1622534"/>
                </a:moveTo>
                <a:lnTo>
                  <a:pt x="749046" y="1625484"/>
                </a:lnTo>
                <a:lnTo>
                  <a:pt x="757767" y="1627074"/>
                </a:lnTo>
                <a:lnTo>
                  <a:pt x="726815" y="1759631"/>
                </a:lnTo>
                <a:lnTo>
                  <a:pt x="706937" y="1765598"/>
                </a:lnTo>
                <a:close/>
                <a:moveTo>
                  <a:pt x="1162592" y="1605474"/>
                </a:moveTo>
                <a:lnTo>
                  <a:pt x="1211506" y="1758609"/>
                </a:lnTo>
                <a:lnTo>
                  <a:pt x="1193512" y="1751032"/>
                </a:lnTo>
                <a:lnTo>
                  <a:pt x="1189921" y="1750192"/>
                </a:lnTo>
                <a:lnTo>
                  <a:pt x="1145515" y="1611170"/>
                </a:lnTo>
                <a:close/>
                <a:moveTo>
                  <a:pt x="675637" y="1600604"/>
                </a:moveTo>
                <a:lnTo>
                  <a:pt x="692686" y="1606382"/>
                </a:lnTo>
                <a:lnTo>
                  <a:pt x="641486" y="1761326"/>
                </a:lnTo>
                <a:lnTo>
                  <a:pt x="631383" y="1744623"/>
                </a:lnTo>
                <a:lnTo>
                  <a:pt x="628970" y="1741831"/>
                </a:lnTo>
                <a:close/>
                <a:moveTo>
                  <a:pt x="1225916" y="1579868"/>
                </a:moveTo>
                <a:lnTo>
                  <a:pt x="1279540" y="1707080"/>
                </a:lnTo>
                <a:lnTo>
                  <a:pt x="1266966" y="1723591"/>
                </a:lnTo>
                <a:lnTo>
                  <a:pt x="1209837" y="1588066"/>
                </a:lnTo>
                <a:close/>
                <a:moveTo>
                  <a:pt x="610954" y="1578681"/>
                </a:moveTo>
                <a:lnTo>
                  <a:pt x="628059" y="1584478"/>
                </a:lnTo>
                <a:lnTo>
                  <a:pt x="582951" y="1688574"/>
                </a:lnTo>
                <a:lnTo>
                  <a:pt x="569886" y="1673454"/>
                </a:lnTo>
                <a:close/>
                <a:moveTo>
                  <a:pt x="1286670" y="1548893"/>
                </a:moveTo>
                <a:lnTo>
                  <a:pt x="1333269" y="1636531"/>
                </a:lnTo>
                <a:lnTo>
                  <a:pt x="1321264" y="1652294"/>
                </a:lnTo>
                <a:lnTo>
                  <a:pt x="1270632" y="1557070"/>
                </a:lnTo>
                <a:close/>
                <a:moveTo>
                  <a:pt x="551444" y="1545001"/>
                </a:moveTo>
                <a:lnTo>
                  <a:pt x="567074" y="1553937"/>
                </a:lnTo>
                <a:lnTo>
                  <a:pt x="524862" y="1631452"/>
                </a:lnTo>
                <a:lnTo>
                  <a:pt x="510642" y="1619926"/>
                </a:lnTo>
                <a:close/>
                <a:moveTo>
                  <a:pt x="1346034" y="1515267"/>
                </a:moveTo>
                <a:lnTo>
                  <a:pt x="1390051" y="1582679"/>
                </a:lnTo>
                <a:lnTo>
                  <a:pt x="1376613" y="1595021"/>
                </a:lnTo>
                <a:lnTo>
                  <a:pt x="1331552" y="1526010"/>
                </a:lnTo>
                <a:lnTo>
                  <a:pt x="1333983" y="1524770"/>
                </a:lnTo>
                <a:close/>
                <a:moveTo>
                  <a:pt x="492213" y="1511140"/>
                </a:moveTo>
                <a:lnTo>
                  <a:pt x="507877" y="1520095"/>
                </a:lnTo>
                <a:lnTo>
                  <a:pt x="465615" y="1583429"/>
                </a:lnTo>
                <a:lnTo>
                  <a:pt x="452723" y="1572979"/>
                </a:lnTo>
                <a:lnTo>
                  <a:pt x="451434" y="1572252"/>
                </a:lnTo>
                <a:close/>
                <a:moveTo>
                  <a:pt x="1399641" y="1472989"/>
                </a:moveTo>
                <a:lnTo>
                  <a:pt x="1447523" y="1533649"/>
                </a:lnTo>
                <a:lnTo>
                  <a:pt x="1433600" y="1542681"/>
                </a:lnTo>
                <a:lnTo>
                  <a:pt x="1432510" y="1543682"/>
                </a:lnTo>
                <a:lnTo>
                  <a:pt x="1385507" y="1484135"/>
                </a:lnTo>
                <a:close/>
                <a:moveTo>
                  <a:pt x="439084" y="1468240"/>
                </a:moveTo>
                <a:lnTo>
                  <a:pt x="452737" y="1479985"/>
                </a:lnTo>
                <a:lnTo>
                  <a:pt x="401226" y="1543921"/>
                </a:lnTo>
                <a:lnTo>
                  <a:pt x="385335" y="1534955"/>
                </a:lnTo>
                <a:close/>
                <a:moveTo>
                  <a:pt x="1452700" y="1430017"/>
                </a:moveTo>
                <a:lnTo>
                  <a:pt x="1511505" y="1492141"/>
                </a:lnTo>
                <a:lnTo>
                  <a:pt x="1496150" y="1502102"/>
                </a:lnTo>
                <a:lnTo>
                  <a:pt x="1439119" y="1441854"/>
                </a:lnTo>
                <a:lnTo>
                  <a:pt x="1449687" y="1433519"/>
                </a:lnTo>
                <a:close/>
                <a:moveTo>
                  <a:pt x="387391" y="1423768"/>
                </a:moveTo>
                <a:lnTo>
                  <a:pt x="401059" y="1435526"/>
                </a:lnTo>
                <a:lnTo>
                  <a:pt x="332463" y="1506560"/>
                </a:lnTo>
                <a:lnTo>
                  <a:pt x="313761" y="1500014"/>
                </a:lnTo>
                <a:close/>
                <a:moveTo>
                  <a:pt x="1497274" y="1378205"/>
                </a:moveTo>
                <a:lnTo>
                  <a:pt x="1583781" y="1454547"/>
                </a:lnTo>
                <a:lnTo>
                  <a:pt x="1565364" y="1462300"/>
                </a:lnTo>
                <a:lnTo>
                  <a:pt x="1485535" y="1391850"/>
                </a:lnTo>
                <a:close/>
                <a:moveTo>
                  <a:pt x="342078" y="1372754"/>
                </a:moveTo>
                <a:lnTo>
                  <a:pt x="353236" y="1386902"/>
                </a:lnTo>
                <a:lnTo>
                  <a:pt x="248764" y="1477262"/>
                </a:lnTo>
                <a:lnTo>
                  <a:pt x="229175" y="1470405"/>
                </a:lnTo>
                <a:close/>
                <a:moveTo>
                  <a:pt x="1541797" y="1326453"/>
                </a:moveTo>
                <a:lnTo>
                  <a:pt x="1671063" y="1421359"/>
                </a:lnTo>
                <a:lnTo>
                  <a:pt x="1652052" y="1425806"/>
                </a:lnTo>
                <a:lnTo>
                  <a:pt x="1648653" y="1427237"/>
                </a:lnTo>
                <a:lnTo>
                  <a:pt x="1530022" y="1340139"/>
                </a:lnTo>
                <a:close/>
                <a:moveTo>
                  <a:pt x="299862" y="1319225"/>
                </a:moveTo>
                <a:lnTo>
                  <a:pt x="311019" y="1333372"/>
                </a:lnTo>
                <a:lnTo>
                  <a:pt x="178732" y="1428480"/>
                </a:lnTo>
                <a:lnTo>
                  <a:pt x="180377" y="1409027"/>
                </a:lnTo>
                <a:lnTo>
                  <a:pt x="180067" y="1405352"/>
                </a:lnTo>
                <a:close/>
                <a:moveTo>
                  <a:pt x="1576542" y="1267609"/>
                </a:moveTo>
                <a:lnTo>
                  <a:pt x="1695816" y="1339681"/>
                </a:lnTo>
                <a:lnTo>
                  <a:pt x="1695348" y="1360430"/>
                </a:lnTo>
                <a:lnTo>
                  <a:pt x="1567606" y="1283241"/>
                </a:lnTo>
                <a:close/>
                <a:moveTo>
                  <a:pt x="263531" y="1261503"/>
                </a:moveTo>
                <a:lnTo>
                  <a:pt x="271723" y="1277570"/>
                </a:lnTo>
                <a:lnTo>
                  <a:pt x="174140" y="1335215"/>
                </a:lnTo>
                <a:lnTo>
                  <a:pt x="172457" y="1315303"/>
                </a:lnTo>
                <a:close/>
                <a:moveTo>
                  <a:pt x="1610398" y="1208387"/>
                </a:moveTo>
                <a:lnTo>
                  <a:pt x="1697816" y="1251024"/>
                </a:lnTo>
                <a:lnTo>
                  <a:pt x="1697369" y="1270832"/>
                </a:lnTo>
                <a:lnTo>
                  <a:pt x="1601446" y="1224047"/>
                </a:lnTo>
                <a:close/>
                <a:moveTo>
                  <a:pt x="232566" y="1200770"/>
                </a:moveTo>
                <a:lnTo>
                  <a:pt x="240745" y="1216812"/>
                </a:lnTo>
                <a:lnTo>
                  <a:pt x="160720" y="1254859"/>
                </a:lnTo>
                <a:lnTo>
                  <a:pt x="155991" y="1237178"/>
                </a:lnTo>
                <a:close/>
                <a:moveTo>
                  <a:pt x="1634958" y="1144690"/>
                </a:moveTo>
                <a:lnTo>
                  <a:pt x="1712099" y="1174082"/>
                </a:lnTo>
                <a:lnTo>
                  <a:pt x="1708482" y="1191966"/>
                </a:lnTo>
                <a:lnTo>
                  <a:pt x="1629176" y="1161750"/>
                </a:lnTo>
                <a:close/>
                <a:moveTo>
                  <a:pt x="204756" y="1138431"/>
                </a:moveTo>
                <a:lnTo>
                  <a:pt x="210455" y="1155515"/>
                </a:lnTo>
                <a:lnTo>
                  <a:pt x="141015" y="1181182"/>
                </a:lnTo>
                <a:lnTo>
                  <a:pt x="136727" y="1165150"/>
                </a:lnTo>
                <a:lnTo>
                  <a:pt x="136112" y="1163804"/>
                </a:lnTo>
                <a:close/>
                <a:moveTo>
                  <a:pt x="1656844" y="1080115"/>
                </a:moveTo>
                <a:lnTo>
                  <a:pt x="1729776" y="1100634"/>
                </a:lnTo>
                <a:lnTo>
                  <a:pt x="1723821" y="1116126"/>
                </a:lnTo>
                <a:lnTo>
                  <a:pt x="1723528" y="1117576"/>
                </a:lnTo>
                <a:lnTo>
                  <a:pt x="1651058" y="1097186"/>
                </a:lnTo>
                <a:close/>
                <a:moveTo>
                  <a:pt x="184625" y="1073110"/>
                </a:moveTo>
                <a:lnTo>
                  <a:pt x="188043" y="1088326"/>
                </a:lnTo>
                <a:lnTo>
                  <a:pt x="188810" y="1090624"/>
                </a:lnTo>
                <a:lnTo>
                  <a:pt x="112145" y="1111372"/>
                </a:lnTo>
                <a:lnTo>
                  <a:pt x="104560" y="1094778"/>
                </a:lnTo>
                <a:close/>
                <a:moveTo>
                  <a:pt x="1672722" y="1013691"/>
                </a:moveTo>
                <a:lnTo>
                  <a:pt x="1757141" y="1029446"/>
                </a:lnTo>
                <a:lnTo>
                  <a:pt x="1750574" y="1046531"/>
                </a:lnTo>
                <a:lnTo>
                  <a:pt x="1669493" y="1031399"/>
                </a:lnTo>
                <a:close/>
                <a:moveTo>
                  <a:pt x="170225" y="1006273"/>
                </a:moveTo>
                <a:lnTo>
                  <a:pt x="170936" y="1012170"/>
                </a:lnTo>
                <a:lnTo>
                  <a:pt x="173584" y="1023958"/>
                </a:lnTo>
                <a:lnTo>
                  <a:pt x="78475" y="1040728"/>
                </a:lnTo>
                <a:lnTo>
                  <a:pt x="67193" y="1024440"/>
                </a:lnTo>
                <a:close/>
                <a:moveTo>
                  <a:pt x="1681368" y="945892"/>
                </a:moveTo>
                <a:lnTo>
                  <a:pt x="1793516" y="956550"/>
                </a:lnTo>
                <a:lnTo>
                  <a:pt x="1783173" y="973649"/>
                </a:lnTo>
                <a:lnTo>
                  <a:pt x="1679909" y="963835"/>
                </a:lnTo>
                <a:close/>
                <a:moveTo>
                  <a:pt x="162034" y="938372"/>
                </a:moveTo>
                <a:lnTo>
                  <a:pt x="164191" y="956254"/>
                </a:lnTo>
                <a:lnTo>
                  <a:pt x="27981" y="967828"/>
                </a:lnTo>
                <a:lnTo>
                  <a:pt x="16164" y="950767"/>
                </a:lnTo>
                <a:close/>
                <a:moveTo>
                  <a:pt x="1683923" y="877596"/>
                </a:moveTo>
                <a:lnTo>
                  <a:pt x="1844621" y="878397"/>
                </a:lnTo>
                <a:lnTo>
                  <a:pt x="1831855" y="893168"/>
                </a:lnTo>
                <a:lnTo>
                  <a:pt x="1829946" y="896325"/>
                </a:lnTo>
                <a:lnTo>
                  <a:pt x="1684266" y="895598"/>
                </a:lnTo>
                <a:close/>
                <a:moveTo>
                  <a:pt x="14676" y="869273"/>
                </a:moveTo>
                <a:lnTo>
                  <a:pt x="160356" y="869999"/>
                </a:lnTo>
                <a:lnTo>
                  <a:pt x="160699" y="888001"/>
                </a:lnTo>
                <a:lnTo>
                  <a:pt x="0" y="887200"/>
                </a:lnTo>
                <a:lnTo>
                  <a:pt x="12766" y="872429"/>
                </a:lnTo>
                <a:close/>
                <a:moveTo>
                  <a:pt x="1816638" y="797770"/>
                </a:moveTo>
                <a:lnTo>
                  <a:pt x="1828455" y="814831"/>
                </a:lnTo>
                <a:lnTo>
                  <a:pt x="1682588" y="827227"/>
                </a:lnTo>
                <a:lnTo>
                  <a:pt x="1680430" y="809345"/>
                </a:lnTo>
                <a:close/>
                <a:moveTo>
                  <a:pt x="61447" y="791950"/>
                </a:moveTo>
                <a:lnTo>
                  <a:pt x="164713" y="801763"/>
                </a:lnTo>
                <a:lnTo>
                  <a:pt x="163253" y="819705"/>
                </a:lnTo>
                <a:lnTo>
                  <a:pt x="51105" y="809048"/>
                </a:lnTo>
                <a:close/>
                <a:moveTo>
                  <a:pt x="1766145" y="724870"/>
                </a:moveTo>
                <a:lnTo>
                  <a:pt x="1777427" y="741158"/>
                </a:lnTo>
                <a:lnTo>
                  <a:pt x="1674396" y="759325"/>
                </a:lnTo>
                <a:lnTo>
                  <a:pt x="1673685" y="753429"/>
                </a:lnTo>
                <a:lnTo>
                  <a:pt x="1670588" y="741719"/>
                </a:lnTo>
                <a:close/>
                <a:moveTo>
                  <a:pt x="94047" y="719066"/>
                </a:moveTo>
                <a:lnTo>
                  <a:pt x="175129" y="734198"/>
                </a:lnTo>
                <a:lnTo>
                  <a:pt x="171900" y="751906"/>
                </a:lnTo>
                <a:lnTo>
                  <a:pt x="87480" y="736151"/>
                </a:lnTo>
                <a:close/>
                <a:moveTo>
                  <a:pt x="1732475" y="654227"/>
                </a:moveTo>
                <a:lnTo>
                  <a:pt x="1740061" y="670822"/>
                </a:lnTo>
                <a:lnTo>
                  <a:pt x="1657733" y="693102"/>
                </a:lnTo>
                <a:lnTo>
                  <a:pt x="1653131" y="675699"/>
                </a:lnTo>
                <a:close/>
                <a:moveTo>
                  <a:pt x="121093" y="648021"/>
                </a:moveTo>
                <a:lnTo>
                  <a:pt x="193564" y="668412"/>
                </a:lnTo>
                <a:lnTo>
                  <a:pt x="187778" y="685483"/>
                </a:lnTo>
                <a:lnTo>
                  <a:pt x="114844" y="664963"/>
                </a:lnTo>
                <a:lnTo>
                  <a:pt x="120799" y="649471"/>
                </a:lnTo>
                <a:close/>
                <a:moveTo>
                  <a:pt x="1703605" y="584417"/>
                </a:moveTo>
                <a:lnTo>
                  <a:pt x="1707892" y="600448"/>
                </a:lnTo>
                <a:lnTo>
                  <a:pt x="1708508" y="601796"/>
                </a:lnTo>
                <a:lnTo>
                  <a:pt x="1640259" y="627022"/>
                </a:lnTo>
                <a:lnTo>
                  <a:pt x="1639049" y="622444"/>
                </a:lnTo>
                <a:lnTo>
                  <a:pt x="1633440" y="610352"/>
                </a:lnTo>
                <a:close/>
                <a:moveTo>
                  <a:pt x="136138" y="573632"/>
                </a:moveTo>
                <a:lnTo>
                  <a:pt x="215446" y="603848"/>
                </a:lnTo>
                <a:lnTo>
                  <a:pt x="209665" y="620908"/>
                </a:lnTo>
                <a:lnTo>
                  <a:pt x="132521" y="591516"/>
                </a:lnTo>
                <a:close/>
                <a:moveTo>
                  <a:pt x="1683900" y="510741"/>
                </a:moveTo>
                <a:lnTo>
                  <a:pt x="1688629" y="528423"/>
                </a:lnTo>
                <a:lnTo>
                  <a:pt x="1612275" y="564725"/>
                </a:lnTo>
                <a:lnTo>
                  <a:pt x="1604700" y="548396"/>
                </a:lnTo>
                <a:close/>
                <a:moveTo>
                  <a:pt x="147252" y="494765"/>
                </a:moveTo>
                <a:lnTo>
                  <a:pt x="243177" y="541551"/>
                </a:lnTo>
                <a:lnTo>
                  <a:pt x="234224" y="557210"/>
                </a:lnTo>
                <a:lnTo>
                  <a:pt x="146805" y="514573"/>
                </a:lnTo>
                <a:close/>
                <a:moveTo>
                  <a:pt x="1670480" y="430384"/>
                </a:moveTo>
                <a:lnTo>
                  <a:pt x="1672163" y="450296"/>
                </a:lnTo>
                <a:lnTo>
                  <a:pt x="1583450" y="502701"/>
                </a:lnTo>
                <a:lnTo>
                  <a:pt x="1573155" y="487877"/>
                </a:lnTo>
                <a:close/>
                <a:moveTo>
                  <a:pt x="149273" y="405169"/>
                </a:moveTo>
                <a:lnTo>
                  <a:pt x="277016" y="482359"/>
                </a:lnTo>
                <a:lnTo>
                  <a:pt x="268080" y="497989"/>
                </a:lnTo>
                <a:lnTo>
                  <a:pt x="148805" y="425916"/>
                </a:lnTo>
                <a:close/>
                <a:moveTo>
                  <a:pt x="195968" y="338361"/>
                </a:moveTo>
                <a:lnTo>
                  <a:pt x="314600" y="425459"/>
                </a:lnTo>
                <a:lnTo>
                  <a:pt x="302826" y="439145"/>
                </a:lnTo>
                <a:lnTo>
                  <a:pt x="173559" y="344239"/>
                </a:lnTo>
                <a:lnTo>
                  <a:pt x="192568" y="339792"/>
                </a:lnTo>
                <a:close/>
                <a:moveTo>
                  <a:pt x="1665887" y="337121"/>
                </a:moveTo>
                <a:lnTo>
                  <a:pt x="1664242" y="356571"/>
                </a:lnTo>
                <a:lnTo>
                  <a:pt x="1664553" y="360248"/>
                </a:lnTo>
                <a:lnTo>
                  <a:pt x="1544474" y="446578"/>
                </a:lnTo>
                <a:lnTo>
                  <a:pt x="1534206" y="431793"/>
                </a:lnTo>
                <a:close/>
                <a:moveTo>
                  <a:pt x="279257" y="303297"/>
                </a:moveTo>
                <a:lnTo>
                  <a:pt x="359087" y="373748"/>
                </a:lnTo>
                <a:lnTo>
                  <a:pt x="347347" y="387394"/>
                </a:lnTo>
                <a:lnTo>
                  <a:pt x="260839" y="311051"/>
                </a:lnTo>
                <a:close/>
                <a:moveTo>
                  <a:pt x="1595859" y="288337"/>
                </a:moveTo>
                <a:lnTo>
                  <a:pt x="1615448" y="295194"/>
                </a:lnTo>
                <a:lnTo>
                  <a:pt x="1504459" y="391189"/>
                </a:lnTo>
                <a:lnTo>
                  <a:pt x="1491819" y="378322"/>
                </a:lnTo>
                <a:close/>
                <a:moveTo>
                  <a:pt x="348471" y="263494"/>
                </a:moveTo>
                <a:lnTo>
                  <a:pt x="405504" y="323744"/>
                </a:lnTo>
                <a:lnTo>
                  <a:pt x="394934" y="332080"/>
                </a:lnTo>
                <a:lnTo>
                  <a:pt x="391923" y="335581"/>
                </a:lnTo>
                <a:lnTo>
                  <a:pt x="333116" y="273456"/>
                </a:lnTo>
                <a:close/>
                <a:moveTo>
                  <a:pt x="1512159" y="259039"/>
                </a:moveTo>
                <a:lnTo>
                  <a:pt x="1530860" y="265585"/>
                </a:lnTo>
                <a:lnTo>
                  <a:pt x="1456606" y="342477"/>
                </a:lnTo>
                <a:lnTo>
                  <a:pt x="1443988" y="329632"/>
                </a:lnTo>
                <a:close/>
                <a:moveTo>
                  <a:pt x="412110" y="221916"/>
                </a:moveTo>
                <a:lnTo>
                  <a:pt x="459114" y="281464"/>
                </a:lnTo>
                <a:lnTo>
                  <a:pt x="444980" y="292610"/>
                </a:lnTo>
                <a:lnTo>
                  <a:pt x="397097" y="231949"/>
                </a:lnTo>
                <a:lnTo>
                  <a:pt x="411019" y="222917"/>
                </a:lnTo>
                <a:close/>
                <a:moveTo>
                  <a:pt x="1443396" y="221678"/>
                </a:moveTo>
                <a:lnTo>
                  <a:pt x="1459286" y="230644"/>
                </a:lnTo>
                <a:lnTo>
                  <a:pt x="1406897" y="295670"/>
                </a:lnTo>
                <a:lnTo>
                  <a:pt x="1392300" y="285098"/>
                </a:lnTo>
                <a:close/>
                <a:moveTo>
                  <a:pt x="1379005" y="182170"/>
                </a:moveTo>
                <a:lnTo>
                  <a:pt x="1391896" y="192619"/>
                </a:lnTo>
                <a:lnTo>
                  <a:pt x="1393186" y="193347"/>
                </a:lnTo>
                <a:lnTo>
                  <a:pt x="1351622" y="255636"/>
                </a:lnTo>
                <a:lnTo>
                  <a:pt x="1337034" y="245070"/>
                </a:lnTo>
                <a:close/>
                <a:moveTo>
                  <a:pt x="468008" y="170577"/>
                </a:moveTo>
                <a:lnTo>
                  <a:pt x="513069" y="239589"/>
                </a:lnTo>
                <a:lnTo>
                  <a:pt x="510638" y="240828"/>
                </a:lnTo>
                <a:lnTo>
                  <a:pt x="498586" y="250333"/>
                </a:lnTo>
                <a:lnTo>
                  <a:pt x="454568" y="182920"/>
                </a:lnTo>
                <a:close/>
                <a:moveTo>
                  <a:pt x="1319759" y="134146"/>
                </a:moveTo>
                <a:lnTo>
                  <a:pt x="1333978" y="145672"/>
                </a:lnTo>
                <a:lnTo>
                  <a:pt x="1294036" y="219016"/>
                </a:lnTo>
                <a:lnTo>
                  <a:pt x="1277891" y="211027"/>
                </a:lnTo>
                <a:close/>
                <a:moveTo>
                  <a:pt x="523355" y="113305"/>
                </a:moveTo>
                <a:lnTo>
                  <a:pt x="573987" y="208530"/>
                </a:lnTo>
                <a:lnTo>
                  <a:pt x="557949" y="216707"/>
                </a:lnTo>
                <a:lnTo>
                  <a:pt x="511350" y="129068"/>
                </a:lnTo>
                <a:close/>
                <a:moveTo>
                  <a:pt x="1261668" y="77024"/>
                </a:moveTo>
                <a:lnTo>
                  <a:pt x="1274734" y="92144"/>
                </a:lnTo>
                <a:lnTo>
                  <a:pt x="1232872" y="188750"/>
                </a:lnTo>
                <a:lnTo>
                  <a:pt x="1216718" y="180757"/>
                </a:lnTo>
                <a:close/>
                <a:moveTo>
                  <a:pt x="879964" y="47539"/>
                </a:moveTo>
                <a:lnTo>
                  <a:pt x="896536" y="48415"/>
                </a:lnTo>
                <a:lnTo>
                  <a:pt x="898006" y="48246"/>
                </a:lnTo>
                <a:lnTo>
                  <a:pt x="900930" y="121496"/>
                </a:lnTo>
                <a:lnTo>
                  <a:pt x="882930" y="121839"/>
                </a:lnTo>
                <a:close/>
                <a:moveTo>
                  <a:pt x="803804" y="43511"/>
                </a:moveTo>
                <a:lnTo>
                  <a:pt x="822082" y="44478"/>
                </a:lnTo>
                <a:lnTo>
                  <a:pt x="832792" y="126618"/>
                </a:lnTo>
                <a:lnTo>
                  <a:pt x="814920" y="128774"/>
                </a:lnTo>
                <a:close/>
                <a:moveTo>
                  <a:pt x="577653" y="42008"/>
                </a:moveTo>
                <a:lnTo>
                  <a:pt x="634782" y="177534"/>
                </a:lnTo>
                <a:lnTo>
                  <a:pt x="618704" y="185731"/>
                </a:lnTo>
                <a:lnTo>
                  <a:pt x="565079" y="58518"/>
                </a:lnTo>
                <a:close/>
                <a:moveTo>
                  <a:pt x="973404" y="39567"/>
                </a:moveTo>
                <a:lnTo>
                  <a:pt x="969228" y="123258"/>
                </a:lnTo>
                <a:lnTo>
                  <a:pt x="951312" y="121130"/>
                </a:lnTo>
                <a:lnTo>
                  <a:pt x="955278" y="41654"/>
                </a:lnTo>
                <a:close/>
                <a:moveTo>
                  <a:pt x="723233" y="31443"/>
                </a:moveTo>
                <a:lnTo>
                  <a:pt x="742691" y="35995"/>
                </a:lnTo>
                <a:lnTo>
                  <a:pt x="765354" y="137622"/>
                </a:lnTo>
                <a:lnTo>
                  <a:pt x="747791" y="141567"/>
                </a:lnTo>
                <a:close/>
                <a:moveTo>
                  <a:pt x="1051847" y="25765"/>
                </a:moveTo>
                <a:lnTo>
                  <a:pt x="1037014" y="131308"/>
                </a:lnTo>
                <a:lnTo>
                  <a:pt x="1019135" y="129184"/>
                </a:lnTo>
                <a:lnTo>
                  <a:pt x="1032869" y="31462"/>
                </a:lnTo>
                <a:close/>
                <a:moveTo>
                  <a:pt x="633115" y="6990"/>
                </a:moveTo>
                <a:lnTo>
                  <a:pt x="651107" y="14566"/>
                </a:lnTo>
                <a:lnTo>
                  <a:pt x="654699" y="15406"/>
                </a:lnTo>
                <a:lnTo>
                  <a:pt x="699105" y="154429"/>
                </a:lnTo>
                <a:lnTo>
                  <a:pt x="682029" y="160125"/>
                </a:lnTo>
                <a:close/>
                <a:moveTo>
                  <a:pt x="1203134" y="4273"/>
                </a:moveTo>
                <a:lnTo>
                  <a:pt x="1213236" y="20976"/>
                </a:lnTo>
                <a:lnTo>
                  <a:pt x="1215649" y="23769"/>
                </a:lnTo>
                <a:lnTo>
                  <a:pt x="1169442" y="163605"/>
                </a:lnTo>
                <a:lnTo>
                  <a:pt x="1152188" y="158449"/>
                </a:lnTo>
                <a:close/>
                <a:moveTo>
                  <a:pt x="1137683" y="0"/>
                </a:moveTo>
                <a:lnTo>
                  <a:pt x="1104046" y="144062"/>
                </a:lnTo>
                <a:lnTo>
                  <a:pt x="1086767" y="138898"/>
                </a:lnTo>
                <a:lnTo>
                  <a:pt x="1117806" y="5966"/>
                </a:lnTo>
                <a:close/>
              </a:path>
            </a:pathLst>
          </a:custGeom>
          <a:solidFill>
            <a:srgbClr val="ECCB66"/>
          </a:solidFill>
          <a:ln>
            <a:noFill/>
          </a:ln>
        </p:spPr>
        <p:style>
          <a:lnRef idx="2">
            <a:srgbClr val="FFCA33">
              <a:shade val="50000"/>
            </a:srgbClr>
          </a:lnRef>
          <a:fillRef idx="1">
            <a:srgbClr val="FFCA33"/>
          </a:fillRef>
          <a:effectRef idx="0">
            <a:srgbClr val="FFCA33"/>
          </a:effectRef>
          <a:fontRef idx="minor">
            <a:srgbClr val="FFFFFF"/>
          </a:fontRef>
        </p:style>
        <p:txBody>
          <a:bodyPr rtlCol="0" anchor="ctr">
            <a:normAutofit/>
          </a:bodyP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8" name="任意多边形 17"/>
          <p:cNvSpPr/>
          <p:nvPr>
            <p:custDataLst>
              <p:tags r:id="rId7"/>
            </p:custDataLst>
          </p:nvPr>
        </p:nvSpPr>
        <p:spPr>
          <a:xfrm>
            <a:off x="5239724" y="1509283"/>
            <a:ext cx="1645325" cy="1645326"/>
          </a:xfrm>
          <a:custGeom>
            <a:avLst/>
            <a:gdLst>
              <a:gd name="connsiteX0" fmla="*/ 766985 w 1487101"/>
              <a:gd name="connsiteY0" fmla="*/ 20013 h 1487102"/>
              <a:gd name="connsiteX1" fmla="*/ 620740 w 1487101"/>
              <a:gd name="connsiteY1" fmla="*/ 30273 h 1487102"/>
              <a:gd name="connsiteX2" fmla="*/ 30272 w 1487101"/>
              <a:gd name="connsiteY2" fmla="*/ 866362 h 1487102"/>
              <a:gd name="connsiteX3" fmla="*/ 866362 w 1487101"/>
              <a:gd name="connsiteY3" fmla="*/ 1456830 h 1487102"/>
              <a:gd name="connsiteX4" fmla="*/ 1456829 w 1487101"/>
              <a:gd name="connsiteY4" fmla="*/ 620740 h 1487102"/>
              <a:gd name="connsiteX5" fmla="*/ 766985 w 1487101"/>
              <a:gd name="connsiteY5" fmla="*/ 20013 h 1487102"/>
              <a:gd name="connsiteX6" fmla="*/ 767622 w 1487101"/>
              <a:gd name="connsiteY6" fmla="*/ 364 h 1487102"/>
              <a:gd name="connsiteX7" fmla="*/ 1476200 w 1487101"/>
              <a:gd name="connsiteY7" fmla="*/ 617405 h 1487102"/>
              <a:gd name="connsiteX8" fmla="*/ 869697 w 1487101"/>
              <a:gd name="connsiteY8" fmla="*/ 1476201 h 1487102"/>
              <a:gd name="connsiteX9" fmla="*/ 10901 w 1487101"/>
              <a:gd name="connsiteY9" fmla="*/ 869698 h 1487102"/>
              <a:gd name="connsiteX10" fmla="*/ 617404 w 1487101"/>
              <a:gd name="connsiteY10" fmla="*/ 10902 h 1487102"/>
              <a:gd name="connsiteX11" fmla="*/ 767622 w 1487101"/>
              <a:gd name="connsiteY11" fmla="*/ 364 h 148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7101" h="1487102">
                <a:moveTo>
                  <a:pt x="766985" y="20013"/>
                </a:moveTo>
                <a:cubicBezTo>
                  <a:pt x="718916" y="18506"/>
                  <a:pt x="669981" y="21794"/>
                  <a:pt x="620740" y="30273"/>
                </a:cubicBezTo>
                <a:cubicBezTo>
                  <a:pt x="226807" y="98099"/>
                  <a:pt x="-37554" y="472430"/>
                  <a:pt x="30272" y="866362"/>
                </a:cubicBezTo>
                <a:cubicBezTo>
                  <a:pt x="98099" y="1260295"/>
                  <a:pt x="472430" y="1524656"/>
                  <a:pt x="866362" y="1456830"/>
                </a:cubicBezTo>
                <a:cubicBezTo>
                  <a:pt x="1260295" y="1389003"/>
                  <a:pt x="1524656" y="1014672"/>
                  <a:pt x="1456829" y="620740"/>
                </a:cubicBezTo>
                <a:cubicBezTo>
                  <a:pt x="1397481" y="276049"/>
                  <a:pt x="1103466" y="30561"/>
                  <a:pt x="766985" y="20013"/>
                </a:cubicBezTo>
                <a:close/>
                <a:moveTo>
                  <a:pt x="767622" y="364"/>
                </a:moveTo>
                <a:cubicBezTo>
                  <a:pt x="1113240" y="11198"/>
                  <a:pt x="1415240" y="263352"/>
                  <a:pt x="1476200" y="617405"/>
                </a:cubicBezTo>
                <a:cubicBezTo>
                  <a:pt x="1545869" y="1022036"/>
                  <a:pt x="1274328" y="1406532"/>
                  <a:pt x="869697" y="1476201"/>
                </a:cubicBezTo>
                <a:cubicBezTo>
                  <a:pt x="465066" y="1545869"/>
                  <a:pt x="80570" y="1274329"/>
                  <a:pt x="10901" y="869698"/>
                </a:cubicBezTo>
                <a:cubicBezTo>
                  <a:pt x="-58767" y="465067"/>
                  <a:pt x="212773" y="80570"/>
                  <a:pt x="617404" y="10902"/>
                </a:cubicBezTo>
                <a:cubicBezTo>
                  <a:pt x="667983" y="2193"/>
                  <a:pt x="718248" y="-1184"/>
                  <a:pt x="767622" y="364"/>
                </a:cubicBezTo>
                <a:close/>
              </a:path>
            </a:pathLst>
          </a:custGeom>
          <a:solidFill>
            <a:srgbClr val="ECCB66"/>
          </a:solidFill>
          <a:ln>
            <a:noFill/>
          </a:ln>
        </p:spPr>
        <p:style>
          <a:lnRef idx="2">
            <a:srgbClr val="FFCA33">
              <a:shade val="50000"/>
            </a:srgbClr>
          </a:lnRef>
          <a:fillRef idx="1">
            <a:srgbClr val="FFCA33"/>
          </a:fillRef>
          <a:effectRef idx="0">
            <a:srgbClr val="FFCA33"/>
          </a:effectRef>
          <a:fontRef idx="minor">
            <a:srgbClr val="FFFFFF"/>
          </a:fontRef>
        </p:style>
        <p:txBody>
          <a:bodyPr rtlCol="0" anchor="ctr">
            <a:normAutofit/>
          </a:bodyPr>
          <a:lstStyle/>
          <a:p>
            <a:pPr algn="ctr"/>
            <a:endParaRPr lang="en-US" altLang="zh-CN" dirty="0">
              <a:solidFill>
                <a:srgbClr val="FFCA33"/>
              </a:solidFill>
              <a:latin typeface="Arial" panose="020B0604020202020204" pitchFamily="34" charset="0"/>
              <a:ea typeface="微软雅黑" panose="020B0503020204020204" charset="-122"/>
              <a:sym typeface="Arial" panose="020B0604020202020204" pitchFamily="34" charset="0"/>
            </a:endParaRPr>
          </a:p>
        </p:txBody>
      </p:sp>
      <p:sp>
        <p:nvSpPr>
          <p:cNvPr id="19" name="任意多边形 18"/>
          <p:cNvSpPr/>
          <p:nvPr>
            <p:custDataLst>
              <p:tags r:id="rId8"/>
            </p:custDataLst>
          </p:nvPr>
        </p:nvSpPr>
        <p:spPr>
          <a:xfrm>
            <a:off x="5474154" y="1509283"/>
            <a:ext cx="1176466" cy="248856"/>
          </a:xfrm>
          <a:custGeom>
            <a:avLst/>
            <a:gdLst>
              <a:gd name="connsiteX0" fmla="*/ 650988 w 1301976"/>
              <a:gd name="connsiteY0" fmla="*/ 0 h 275406"/>
              <a:gd name="connsiteX1" fmla="*/ 1294759 w 1301976"/>
              <a:gd name="connsiteY1" fmla="*/ 266659 h 275406"/>
              <a:gd name="connsiteX2" fmla="*/ 1301976 w 1301976"/>
              <a:gd name="connsiteY2" fmla="*/ 275406 h 275406"/>
              <a:gd name="connsiteX3" fmla="*/ 0 w 1301976"/>
              <a:gd name="connsiteY3" fmla="*/ 275406 h 275406"/>
              <a:gd name="connsiteX4" fmla="*/ 7218 w 1301976"/>
              <a:gd name="connsiteY4" fmla="*/ 266659 h 275406"/>
              <a:gd name="connsiteX5" fmla="*/ 650988 w 1301976"/>
              <a:gd name="connsiteY5" fmla="*/ 0 h 275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976" h="275406">
                <a:moveTo>
                  <a:pt x="650988" y="0"/>
                </a:moveTo>
                <a:cubicBezTo>
                  <a:pt x="902396" y="0"/>
                  <a:pt x="1130003" y="101903"/>
                  <a:pt x="1294759" y="266659"/>
                </a:cubicBezTo>
                <a:lnTo>
                  <a:pt x="1301976" y="275406"/>
                </a:lnTo>
                <a:lnTo>
                  <a:pt x="0" y="275406"/>
                </a:lnTo>
                <a:lnTo>
                  <a:pt x="7218" y="266659"/>
                </a:lnTo>
                <a:cubicBezTo>
                  <a:pt x="171973" y="101903"/>
                  <a:pt x="399580" y="0"/>
                  <a:pt x="650988" y="0"/>
                </a:cubicBezTo>
                <a:close/>
              </a:path>
            </a:pathLst>
          </a:custGeom>
          <a:solidFill>
            <a:srgbClr val="ECCB66"/>
          </a:solidFill>
          <a:ln>
            <a:noFill/>
          </a:ln>
        </p:spPr>
        <p:style>
          <a:lnRef idx="2">
            <a:srgbClr val="FFCA33">
              <a:shade val="50000"/>
            </a:srgbClr>
          </a:lnRef>
          <a:fillRef idx="1">
            <a:srgbClr val="FFCA33"/>
          </a:fillRef>
          <a:effectRef idx="0">
            <a:srgbClr val="FFCA33"/>
          </a:effectRef>
          <a:fontRef idx="minor">
            <a:srgbClr val="FFFFFF"/>
          </a:fontRef>
        </p:style>
        <p:txBody>
          <a:bodyPr wrap="square" rtlCol="0" anchor="ctr">
            <a:normAutofit fontScale="72500" lnSpcReduction="20000"/>
          </a:bodyPr>
          <a:lstStyle/>
          <a:p>
            <a:pPr algn="ctr"/>
            <a:r>
              <a:rPr lang="en-US" altLang="zh-CN" sz="1600" dirty="0">
                <a:solidFill>
                  <a:srgbClr val="FFFFFF"/>
                </a:solidFill>
                <a:latin typeface="Arial" panose="020B0604020202020204" pitchFamily="34" charset="0"/>
                <a:ea typeface="微软雅黑" panose="020B0503020204020204" charset="-122"/>
                <a:sym typeface="Arial" panose="020B0604020202020204" pitchFamily="34" charset="0"/>
              </a:rPr>
              <a:t>02</a:t>
            </a:r>
            <a:endParaRPr lang="zh-CN" altLang="en-US" sz="16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20" name="文本框 19"/>
          <p:cNvSpPr txBox="1"/>
          <p:nvPr>
            <p:custDataLst>
              <p:tags r:id="rId9"/>
            </p:custDataLst>
          </p:nvPr>
        </p:nvSpPr>
        <p:spPr>
          <a:xfrm>
            <a:off x="5283852" y="1816604"/>
            <a:ext cx="1557112" cy="1030606"/>
          </a:xfrm>
          <a:prstGeom prst="rect">
            <a:avLst/>
          </a:prstGeom>
          <a:noFill/>
        </p:spPr>
        <p:txBody>
          <a:bodyPr wrap="square" rtlCol="0" anchor="ctr" anchorCtr="0">
            <a:normAutofit/>
          </a:bodyPr>
          <a:lstStyle/>
          <a:p>
            <a:pPr algn="ctr">
              <a:lnSpc>
                <a:spcPct val="120000"/>
              </a:lnSpc>
            </a:pPr>
            <a:r>
              <a:rPr lang="zh-CN" altLang="en-US" sz="3200" b="1" kern="0" spc="300" dirty="0">
                <a:solidFill>
                  <a:srgbClr val="ECCB66">
                    <a:lumMod val="75000"/>
                  </a:srgbClr>
                </a:solidFill>
              </a:rPr>
              <a:t>法国</a:t>
            </a:r>
            <a:endParaRPr sz="3200"/>
          </a:p>
        </p:txBody>
      </p:sp>
      <p:sp>
        <p:nvSpPr>
          <p:cNvPr id="21" name="任意多边形 20"/>
          <p:cNvSpPr/>
          <p:nvPr>
            <p:custDataLst>
              <p:tags r:id="rId10"/>
            </p:custDataLst>
          </p:nvPr>
        </p:nvSpPr>
        <p:spPr>
          <a:xfrm>
            <a:off x="8903855" y="1298509"/>
            <a:ext cx="2159316" cy="2066812"/>
          </a:xfrm>
          <a:custGeom>
            <a:avLst/>
            <a:gdLst>
              <a:gd name="connsiteX0" fmla="*/ 961691 w 1844621"/>
              <a:gd name="connsiteY0" fmla="*/ 1643760 h 1765598"/>
              <a:gd name="connsiteX1" fmla="*/ 964657 w 1844621"/>
              <a:gd name="connsiteY1" fmla="*/ 1718060 h 1765598"/>
              <a:gd name="connsiteX2" fmla="*/ 948083 w 1844621"/>
              <a:gd name="connsiteY2" fmla="*/ 1717184 h 1765598"/>
              <a:gd name="connsiteX3" fmla="*/ 946614 w 1844621"/>
              <a:gd name="connsiteY3" fmla="*/ 1717353 h 1765598"/>
              <a:gd name="connsiteX4" fmla="*/ 943691 w 1844621"/>
              <a:gd name="connsiteY4" fmla="*/ 1644103 h 1765598"/>
              <a:gd name="connsiteX5" fmla="*/ 875350 w 1844621"/>
              <a:gd name="connsiteY5" fmla="*/ 1643169 h 1765598"/>
              <a:gd name="connsiteX6" fmla="*/ 893299 w 1844621"/>
              <a:gd name="connsiteY6" fmla="*/ 1644629 h 1765598"/>
              <a:gd name="connsiteX7" fmla="*/ 889341 w 1844621"/>
              <a:gd name="connsiteY7" fmla="*/ 1723945 h 1765598"/>
              <a:gd name="connsiteX8" fmla="*/ 871214 w 1844621"/>
              <a:gd name="connsiteY8" fmla="*/ 1726031 h 1765598"/>
              <a:gd name="connsiteX9" fmla="*/ 1029699 w 1844621"/>
              <a:gd name="connsiteY9" fmla="*/ 1636826 h 1765598"/>
              <a:gd name="connsiteX10" fmla="*/ 1040815 w 1844621"/>
              <a:gd name="connsiteY10" fmla="*/ 1722087 h 1765598"/>
              <a:gd name="connsiteX11" fmla="*/ 1022537 w 1844621"/>
              <a:gd name="connsiteY11" fmla="*/ 1721121 h 1765598"/>
              <a:gd name="connsiteX12" fmla="*/ 1011828 w 1844621"/>
              <a:gd name="connsiteY12" fmla="*/ 1638982 h 1765598"/>
              <a:gd name="connsiteX13" fmla="*/ 807350 w 1844621"/>
              <a:gd name="connsiteY13" fmla="*/ 1636115 h 1765598"/>
              <a:gd name="connsiteX14" fmla="*/ 822430 w 1844621"/>
              <a:gd name="connsiteY14" fmla="*/ 1638864 h 1765598"/>
              <a:gd name="connsiteX15" fmla="*/ 825110 w 1844621"/>
              <a:gd name="connsiteY15" fmla="*/ 1639083 h 1765598"/>
              <a:gd name="connsiteX16" fmla="*/ 811751 w 1844621"/>
              <a:gd name="connsiteY16" fmla="*/ 1734136 h 1765598"/>
              <a:gd name="connsiteX17" fmla="*/ 792774 w 1844621"/>
              <a:gd name="connsiteY17" fmla="*/ 1739833 h 1765598"/>
              <a:gd name="connsiteX18" fmla="*/ 1096827 w 1844621"/>
              <a:gd name="connsiteY18" fmla="*/ 1624033 h 1765598"/>
              <a:gd name="connsiteX19" fmla="*/ 1121385 w 1844621"/>
              <a:gd name="connsiteY19" fmla="*/ 1734155 h 1765598"/>
              <a:gd name="connsiteX20" fmla="*/ 1101928 w 1844621"/>
              <a:gd name="connsiteY20" fmla="*/ 1729603 h 1765598"/>
              <a:gd name="connsiteX21" fmla="*/ 1079265 w 1844621"/>
              <a:gd name="connsiteY21" fmla="*/ 1627978 h 1765598"/>
              <a:gd name="connsiteX22" fmla="*/ 740342 w 1844621"/>
              <a:gd name="connsiteY22" fmla="*/ 1622534 h 1765598"/>
              <a:gd name="connsiteX23" fmla="*/ 749046 w 1844621"/>
              <a:gd name="connsiteY23" fmla="*/ 1625484 h 1765598"/>
              <a:gd name="connsiteX24" fmla="*/ 757767 w 1844621"/>
              <a:gd name="connsiteY24" fmla="*/ 1627074 h 1765598"/>
              <a:gd name="connsiteX25" fmla="*/ 726815 w 1844621"/>
              <a:gd name="connsiteY25" fmla="*/ 1759631 h 1765598"/>
              <a:gd name="connsiteX26" fmla="*/ 706937 w 1844621"/>
              <a:gd name="connsiteY26" fmla="*/ 1765598 h 1765598"/>
              <a:gd name="connsiteX27" fmla="*/ 1162592 w 1844621"/>
              <a:gd name="connsiteY27" fmla="*/ 1605474 h 1765598"/>
              <a:gd name="connsiteX28" fmla="*/ 1211506 w 1844621"/>
              <a:gd name="connsiteY28" fmla="*/ 1758609 h 1765598"/>
              <a:gd name="connsiteX29" fmla="*/ 1193512 w 1844621"/>
              <a:gd name="connsiteY29" fmla="*/ 1751032 h 1765598"/>
              <a:gd name="connsiteX30" fmla="*/ 1189921 w 1844621"/>
              <a:gd name="connsiteY30" fmla="*/ 1750192 h 1765598"/>
              <a:gd name="connsiteX31" fmla="*/ 1145515 w 1844621"/>
              <a:gd name="connsiteY31" fmla="*/ 1611170 h 1765598"/>
              <a:gd name="connsiteX32" fmla="*/ 675637 w 1844621"/>
              <a:gd name="connsiteY32" fmla="*/ 1600604 h 1765598"/>
              <a:gd name="connsiteX33" fmla="*/ 692686 w 1844621"/>
              <a:gd name="connsiteY33" fmla="*/ 1606382 h 1765598"/>
              <a:gd name="connsiteX34" fmla="*/ 641486 w 1844621"/>
              <a:gd name="connsiteY34" fmla="*/ 1761326 h 1765598"/>
              <a:gd name="connsiteX35" fmla="*/ 631383 w 1844621"/>
              <a:gd name="connsiteY35" fmla="*/ 1744623 h 1765598"/>
              <a:gd name="connsiteX36" fmla="*/ 628970 w 1844621"/>
              <a:gd name="connsiteY36" fmla="*/ 1741831 h 1765598"/>
              <a:gd name="connsiteX37" fmla="*/ 1225916 w 1844621"/>
              <a:gd name="connsiteY37" fmla="*/ 1579868 h 1765598"/>
              <a:gd name="connsiteX38" fmla="*/ 1279540 w 1844621"/>
              <a:gd name="connsiteY38" fmla="*/ 1707080 h 1765598"/>
              <a:gd name="connsiteX39" fmla="*/ 1266966 w 1844621"/>
              <a:gd name="connsiteY39" fmla="*/ 1723591 h 1765598"/>
              <a:gd name="connsiteX40" fmla="*/ 1209837 w 1844621"/>
              <a:gd name="connsiteY40" fmla="*/ 1588066 h 1765598"/>
              <a:gd name="connsiteX41" fmla="*/ 610954 w 1844621"/>
              <a:gd name="connsiteY41" fmla="*/ 1578681 h 1765598"/>
              <a:gd name="connsiteX42" fmla="*/ 628059 w 1844621"/>
              <a:gd name="connsiteY42" fmla="*/ 1584478 h 1765598"/>
              <a:gd name="connsiteX43" fmla="*/ 582951 w 1844621"/>
              <a:gd name="connsiteY43" fmla="*/ 1688574 h 1765598"/>
              <a:gd name="connsiteX44" fmla="*/ 569886 w 1844621"/>
              <a:gd name="connsiteY44" fmla="*/ 1673454 h 1765598"/>
              <a:gd name="connsiteX45" fmla="*/ 1286670 w 1844621"/>
              <a:gd name="connsiteY45" fmla="*/ 1548893 h 1765598"/>
              <a:gd name="connsiteX46" fmla="*/ 1333269 w 1844621"/>
              <a:gd name="connsiteY46" fmla="*/ 1636531 h 1765598"/>
              <a:gd name="connsiteX47" fmla="*/ 1321264 w 1844621"/>
              <a:gd name="connsiteY47" fmla="*/ 1652294 h 1765598"/>
              <a:gd name="connsiteX48" fmla="*/ 1270632 w 1844621"/>
              <a:gd name="connsiteY48" fmla="*/ 1557070 h 1765598"/>
              <a:gd name="connsiteX49" fmla="*/ 551444 w 1844621"/>
              <a:gd name="connsiteY49" fmla="*/ 1545001 h 1765598"/>
              <a:gd name="connsiteX50" fmla="*/ 567074 w 1844621"/>
              <a:gd name="connsiteY50" fmla="*/ 1553937 h 1765598"/>
              <a:gd name="connsiteX51" fmla="*/ 524862 w 1844621"/>
              <a:gd name="connsiteY51" fmla="*/ 1631452 h 1765598"/>
              <a:gd name="connsiteX52" fmla="*/ 510642 w 1844621"/>
              <a:gd name="connsiteY52" fmla="*/ 1619926 h 1765598"/>
              <a:gd name="connsiteX53" fmla="*/ 1346034 w 1844621"/>
              <a:gd name="connsiteY53" fmla="*/ 1515267 h 1765598"/>
              <a:gd name="connsiteX54" fmla="*/ 1390051 w 1844621"/>
              <a:gd name="connsiteY54" fmla="*/ 1582679 h 1765598"/>
              <a:gd name="connsiteX55" fmla="*/ 1376613 w 1844621"/>
              <a:gd name="connsiteY55" fmla="*/ 1595021 h 1765598"/>
              <a:gd name="connsiteX56" fmla="*/ 1331552 w 1844621"/>
              <a:gd name="connsiteY56" fmla="*/ 1526010 h 1765598"/>
              <a:gd name="connsiteX57" fmla="*/ 1333983 w 1844621"/>
              <a:gd name="connsiteY57" fmla="*/ 1524770 h 1765598"/>
              <a:gd name="connsiteX58" fmla="*/ 492213 w 1844621"/>
              <a:gd name="connsiteY58" fmla="*/ 1511140 h 1765598"/>
              <a:gd name="connsiteX59" fmla="*/ 507877 w 1844621"/>
              <a:gd name="connsiteY59" fmla="*/ 1520095 h 1765598"/>
              <a:gd name="connsiteX60" fmla="*/ 465615 w 1844621"/>
              <a:gd name="connsiteY60" fmla="*/ 1583429 h 1765598"/>
              <a:gd name="connsiteX61" fmla="*/ 452723 w 1844621"/>
              <a:gd name="connsiteY61" fmla="*/ 1572979 h 1765598"/>
              <a:gd name="connsiteX62" fmla="*/ 451434 w 1844621"/>
              <a:gd name="connsiteY62" fmla="*/ 1572252 h 1765598"/>
              <a:gd name="connsiteX63" fmla="*/ 1399641 w 1844621"/>
              <a:gd name="connsiteY63" fmla="*/ 1472989 h 1765598"/>
              <a:gd name="connsiteX64" fmla="*/ 1447523 w 1844621"/>
              <a:gd name="connsiteY64" fmla="*/ 1533649 h 1765598"/>
              <a:gd name="connsiteX65" fmla="*/ 1433600 w 1844621"/>
              <a:gd name="connsiteY65" fmla="*/ 1542681 h 1765598"/>
              <a:gd name="connsiteX66" fmla="*/ 1432510 w 1844621"/>
              <a:gd name="connsiteY66" fmla="*/ 1543682 h 1765598"/>
              <a:gd name="connsiteX67" fmla="*/ 1385507 w 1844621"/>
              <a:gd name="connsiteY67" fmla="*/ 1484135 h 1765598"/>
              <a:gd name="connsiteX68" fmla="*/ 439084 w 1844621"/>
              <a:gd name="connsiteY68" fmla="*/ 1468240 h 1765598"/>
              <a:gd name="connsiteX69" fmla="*/ 452737 w 1844621"/>
              <a:gd name="connsiteY69" fmla="*/ 1479985 h 1765598"/>
              <a:gd name="connsiteX70" fmla="*/ 401226 w 1844621"/>
              <a:gd name="connsiteY70" fmla="*/ 1543921 h 1765598"/>
              <a:gd name="connsiteX71" fmla="*/ 385335 w 1844621"/>
              <a:gd name="connsiteY71" fmla="*/ 1534955 h 1765598"/>
              <a:gd name="connsiteX72" fmla="*/ 1452700 w 1844621"/>
              <a:gd name="connsiteY72" fmla="*/ 1430017 h 1765598"/>
              <a:gd name="connsiteX73" fmla="*/ 1511505 w 1844621"/>
              <a:gd name="connsiteY73" fmla="*/ 1492141 h 1765598"/>
              <a:gd name="connsiteX74" fmla="*/ 1496150 w 1844621"/>
              <a:gd name="connsiteY74" fmla="*/ 1502102 h 1765598"/>
              <a:gd name="connsiteX75" fmla="*/ 1439119 w 1844621"/>
              <a:gd name="connsiteY75" fmla="*/ 1441854 h 1765598"/>
              <a:gd name="connsiteX76" fmla="*/ 1449687 w 1844621"/>
              <a:gd name="connsiteY76" fmla="*/ 1433519 h 1765598"/>
              <a:gd name="connsiteX77" fmla="*/ 387391 w 1844621"/>
              <a:gd name="connsiteY77" fmla="*/ 1423768 h 1765598"/>
              <a:gd name="connsiteX78" fmla="*/ 401059 w 1844621"/>
              <a:gd name="connsiteY78" fmla="*/ 1435526 h 1765598"/>
              <a:gd name="connsiteX79" fmla="*/ 332463 w 1844621"/>
              <a:gd name="connsiteY79" fmla="*/ 1506560 h 1765598"/>
              <a:gd name="connsiteX80" fmla="*/ 313761 w 1844621"/>
              <a:gd name="connsiteY80" fmla="*/ 1500014 h 1765598"/>
              <a:gd name="connsiteX81" fmla="*/ 1497274 w 1844621"/>
              <a:gd name="connsiteY81" fmla="*/ 1378205 h 1765598"/>
              <a:gd name="connsiteX82" fmla="*/ 1583781 w 1844621"/>
              <a:gd name="connsiteY82" fmla="*/ 1454547 h 1765598"/>
              <a:gd name="connsiteX83" fmla="*/ 1565364 w 1844621"/>
              <a:gd name="connsiteY83" fmla="*/ 1462300 h 1765598"/>
              <a:gd name="connsiteX84" fmla="*/ 1485535 w 1844621"/>
              <a:gd name="connsiteY84" fmla="*/ 1391850 h 1765598"/>
              <a:gd name="connsiteX85" fmla="*/ 342078 w 1844621"/>
              <a:gd name="connsiteY85" fmla="*/ 1372754 h 1765598"/>
              <a:gd name="connsiteX86" fmla="*/ 353236 w 1844621"/>
              <a:gd name="connsiteY86" fmla="*/ 1386902 h 1765598"/>
              <a:gd name="connsiteX87" fmla="*/ 248764 w 1844621"/>
              <a:gd name="connsiteY87" fmla="*/ 1477262 h 1765598"/>
              <a:gd name="connsiteX88" fmla="*/ 229175 w 1844621"/>
              <a:gd name="connsiteY88" fmla="*/ 1470405 h 1765598"/>
              <a:gd name="connsiteX89" fmla="*/ 1541797 w 1844621"/>
              <a:gd name="connsiteY89" fmla="*/ 1326453 h 1765598"/>
              <a:gd name="connsiteX90" fmla="*/ 1671063 w 1844621"/>
              <a:gd name="connsiteY90" fmla="*/ 1421359 h 1765598"/>
              <a:gd name="connsiteX91" fmla="*/ 1652052 w 1844621"/>
              <a:gd name="connsiteY91" fmla="*/ 1425806 h 1765598"/>
              <a:gd name="connsiteX92" fmla="*/ 1648653 w 1844621"/>
              <a:gd name="connsiteY92" fmla="*/ 1427237 h 1765598"/>
              <a:gd name="connsiteX93" fmla="*/ 1530022 w 1844621"/>
              <a:gd name="connsiteY93" fmla="*/ 1340139 h 1765598"/>
              <a:gd name="connsiteX94" fmla="*/ 299862 w 1844621"/>
              <a:gd name="connsiteY94" fmla="*/ 1319225 h 1765598"/>
              <a:gd name="connsiteX95" fmla="*/ 311019 w 1844621"/>
              <a:gd name="connsiteY95" fmla="*/ 1333372 h 1765598"/>
              <a:gd name="connsiteX96" fmla="*/ 178732 w 1844621"/>
              <a:gd name="connsiteY96" fmla="*/ 1428480 h 1765598"/>
              <a:gd name="connsiteX97" fmla="*/ 180377 w 1844621"/>
              <a:gd name="connsiteY97" fmla="*/ 1409027 h 1765598"/>
              <a:gd name="connsiteX98" fmla="*/ 180067 w 1844621"/>
              <a:gd name="connsiteY98" fmla="*/ 1405352 h 1765598"/>
              <a:gd name="connsiteX99" fmla="*/ 1576542 w 1844621"/>
              <a:gd name="connsiteY99" fmla="*/ 1267609 h 1765598"/>
              <a:gd name="connsiteX100" fmla="*/ 1695816 w 1844621"/>
              <a:gd name="connsiteY100" fmla="*/ 1339681 h 1765598"/>
              <a:gd name="connsiteX101" fmla="*/ 1695348 w 1844621"/>
              <a:gd name="connsiteY101" fmla="*/ 1360430 h 1765598"/>
              <a:gd name="connsiteX102" fmla="*/ 1567606 w 1844621"/>
              <a:gd name="connsiteY102" fmla="*/ 1283241 h 1765598"/>
              <a:gd name="connsiteX103" fmla="*/ 263531 w 1844621"/>
              <a:gd name="connsiteY103" fmla="*/ 1261503 h 1765598"/>
              <a:gd name="connsiteX104" fmla="*/ 271723 w 1844621"/>
              <a:gd name="connsiteY104" fmla="*/ 1277570 h 1765598"/>
              <a:gd name="connsiteX105" fmla="*/ 174140 w 1844621"/>
              <a:gd name="connsiteY105" fmla="*/ 1335215 h 1765598"/>
              <a:gd name="connsiteX106" fmla="*/ 172457 w 1844621"/>
              <a:gd name="connsiteY106" fmla="*/ 1315303 h 1765598"/>
              <a:gd name="connsiteX107" fmla="*/ 1610398 w 1844621"/>
              <a:gd name="connsiteY107" fmla="*/ 1208387 h 1765598"/>
              <a:gd name="connsiteX108" fmla="*/ 1697816 w 1844621"/>
              <a:gd name="connsiteY108" fmla="*/ 1251024 h 1765598"/>
              <a:gd name="connsiteX109" fmla="*/ 1697369 w 1844621"/>
              <a:gd name="connsiteY109" fmla="*/ 1270832 h 1765598"/>
              <a:gd name="connsiteX110" fmla="*/ 1601446 w 1844621"/>
              <a:gd name="connsiteY110" fmla="*/ 1224047 h 1765598"/>
              <a:gd name="connsiteX111" fmla="*/ 232566 w 1844621"/>
              <a:gd name="connsiteY111" fmla="*/ 1200770 h 1765598"/>
              <a:gd name="connsiteX112" fmla="*/ 240745 w 1844621"/>
              <a:gd name="connsiteY112" fmla="*/ 1216812 h 1765598"/>
              <a:gd name="connsiteX113" fmla="*/ 160720 w 1844621"/>
              <a:gd name="connsiteY113" fmla="*/ 1254859 h 1765598"/>
              <a:gd name="connsiteX114" fmla="*/ 155991 w 1844621"/>
              <a:gd name="connsiteY114" fmla="*/ 1237178 h 1765598"/>
              <a:gd name="connsiteX115" fmla="*/ 1634958 w 1844621"/>
              <a:gd name="connsiteY115" fmla="*/ 1144690 h 1765598"/>
              <a:gd name="connsiteX116" fmla="*/ 1712099 w 1844621"/>
              <a:gd name="connsiteY116" fmla="*/ 1174082 h 1765598"/>
              <a:gd name="connsiteX117" fmla="*/ 1708482 w 1844621"/>
              <a:gd name="connsiteY117" fmla="*/ 1191966 h 1765598"/>
              <a:gd name="connsiteX118" fmla="*/ 1629176 w 1844621"/>
              <a:gd name="connsiteY118" fmla="*/ 1161750 h 1765598"/>
              <a:gd name="connsiteX119" fmla="*/ 204756 w 1844621"/>
              <a:gd name="connsiteY119" fmla="*/ 1138431 h 1765598"/>
              <a:gd name="connsiteX120" fmla="*/ 210455 w 1844621"/>
              <a:gd name="connsiteY120" fmla="*/ 1155515 h 1765598"/>
              <a:gd name="connsiteX121" fmla="*/ 141015 w 1844621"/>
              <a:gd name="connsiteY121" fmla="*/ 1181182 h 1765598"/>
              <a:gd name="connsiteX122" fmla="*/ 136727 w 1844621"/>
              <a:gd name="connsiteY122" fmla="*/ 1165150 h 1765598"/>
              <a:gd name="connsiteX123" fmla="*/ 136112 w 1844621"/>
              <a:gd name="connsiteY123" fmla="*/ 1163804 h 1765598"/>
              <a:gd name="connsiteX124" fmla="*/ 1656844 w 1844621"/>
              <a:gd name="connsiteY124" fmla="*/ 1080115 h 1765598"/>
              <a:gd name="connsiteX125" fmla="*/ 1729776 w 1844621"/>
              <a:gd name="connsiteY125" fmla="*/ 1100634 h 1765598"/>
              <a:gd name="connsiteX126" fmla="*/ 1723821 w 1844621"/>
              <a:gd name="connsiteY126" fmla="*/ 1116126 h 1765598"/>
              <a:gd name="connsiteX127" fmla="*/ 1723528 w 1844621"/>
              <a:gd name="connsiteY127" fmla="*/ 1117576 h 1765598"/>
              <a:gd name="connsiteX128" fmla="*/ 1651058 w 1844621"/>
              <a:gd name="connsiteY128" fmla="*/ 1097186 h 1765598"/>
              <a:gd name="connsiteX129" fmla="*/ 184625 w 1844621"/>
              <a:gd name="connsiteY129" fmla="*/ 1073110 h 1765598"/>
              <a:gd name="connsiteX130" fmla="*/ 188043 w 1844621"/>
              <a:gd name="connsiteY130" fmla="*/ 1088326 h 1765598"/>
              <a:gd name="connsiteX131" fmla="*/ 188810 w 1844621"/>
              <a:gd name="connsiteY131" fmla="*/ 1090624 h 1765598"/>
              <a:gd name="connsiteX132" fmla="*/ 112145 w 1844621"/>
              <a:gd name="connsiteY132" fmla="*/ 1111372 h 1765598"/>
              <a:gd name="connsiteX133" fmla="*/ 104560 w 1844621"/>
              <a:gd name="connsiteY133" fmla="*/ 1094778 h 1765598"/>
              <a:gd name="connsiteX134" fmla="*/ 1672722 w 1844621"/>
              <a:gd name="connsiteY134" fmla="*/ 1013691 h 1765598"/>
              <a:gd name="connsiteX135" fmla="*/ 1757141 w 1844621"/>
              <a:gd name="connsiteY135" fmla="*/ 1029446 h 1765598"/>
              <a:gd name="connsiteX136" fmla="*/ 1750574 w 1844621"/>
              <a:gd name="connsiteY136" fmla="*/ 1046531 h 1765598"/>
              <a:gd name="connsiteX137" fmla="*/ 1669493 w 1844621"/>
              <a:gd name="connsiteY137" fmla="*/ 1031399 h 1765598"/>
              <a:gd name="connsiteX138" fmla="*/ 170225 w 1844621"/>
              <a:gd name="connsiteY138" fmla="*/ 1006273 h 1765598"/>
              <a:gd name="connsiteX139" fmla="*/ 170936 w 1844621"/>
              <a:gd name="connsiteY139" fmla="*/ 1012170 h 1765598"/>
              <a:gd name="connsiteX140" fmla="*/ 173584 w 1844621"/>
              <a:gd name="connsiteY140" fmla="*/ 1023958 h 1765598"/>
              <a:gd name="connsiteX141" fmla="*/ 78475 w 1844621"/>
              <a:gd name="connsiteY141" fmla="*/ 1040728 h 1765598"/>
              <a:gd name="connsiteX142" fmla="*/ 67193 w 1844621"/>
              <a:gd name="connsiteY142" fmla="*/ 1024440 h 1765598"/>
              <a:gd name="connsiteX143" fmla="*/ 1681368 w 1844621"/>
              <a:gd name="connsiteY143" fmla="*/ 945892 h 1765598"/>
              <a:gd name="connsiteX144" fmla="*/ 1793516 w 1844621"/>
              <a:gd name="connsiteY144" fmla="*/ 956550 h 1765598"/>
              <a:gd name="connsiteX145" fmla="*/ 1783173 w 1844621"/>
              <a:gd name="connsiteY145" fmla="*/ 973649 h 1765598"/>
              <a:gd name="connsiteX146" fmla="*/ 1679909 w 1844621"/>
              <a:gd name="connsiteY146" fmla="*/ 963835 h 1765598"/>
              <a:gd name="connsiteX147" fmla="*/ 162034 w 1844621"/>
              <a:gd name="connsiteY147" fmla="*/ 938372 h 1765598"/>
              <a:gd name="connsiteX148" fmla="*/ 164191 w 1844621"/>
              <a:gd name="connsiteY148" fmla="*/ 956254 h 1765598"/>
              <a:gd name="connsiteX149" fmla="*/ 27981 w 1844621"/>
              <a:gd name="connsiteY149" fmla="*/ 967828 h 1765598"/>
              <a:gd name="connsiteX150" fmla="*/ 16164 w 1844621"/>
              <a:gd name="connsiteY150" fmla="*/ 950767 h 1765598"/>
              <a:gd name="connsiteX151" fmla="*/ 1683923 w 1844621"/>
              <a:gd name="connsiteY151" fmla="*/ 877596 h 1765598"/>
              <a:gd name="connsiteX152" fmla="*/ 1844621 w 1844621"/>
              <a:gd name="connsiteY152" fmla="*/ 878397 h 1765598"/>
              <a:gd name="connsiteX153" fmla="*/ 1831855 w 1844621"/>
              <a:gd name="connsiteY153" fmla="*/ 893168 h 1765598"/>
              <a:gd name="connsiteX154" fmla="*/ 1829946 w 1844621"/>
              <a:gd name="connsiteY154" fmla="*/ 896325 h 1765598"/>
              <a:gd name="connsiteX155" fmla="*/ 1684266 w 1844621"/>
              <a:gd name="connsiteY155" fmla="*/ 895598 h 1765598"/>
              <a:gd name="connsiteX156" fmla="*/ 14676 w 1844621"/>
              <a:gd name="connsiteY156" fmla="*/ 869273 h 1765598"/>
              <a:gd name="connsiteX157" fmla="*/ 160356 w 1844621"/>
              <a:gd name="connsiteY157" fmla="*/ 869999 h 1765598"/>
              <a:gd name="connsiteX158" fmla="*/ 160699 w 1844621"/>
              <a:gd name="connsiteY158" fmla="*/ 888001 h 1765598"/>
              <a:gd name="connsiteX159" fmla="*/ 0 w 1844621"/>
              <a:gd name="connsiteY159" fmla="*/ 887200 h 1765598"/>
              <a:gd name="connsiteX160" fmla="*/ 12766 w 1844621"/>
              <a:gd name="connsiteY160" fmla="*/ 872429 h 1765598"/>
              <a:gd name="connsiteX161" fmla="*/ 1816638 w 1844621"/>
              <a:gd name="connsiteY161" fmla="*/ 797770 h 1765598"/>
              <a:gd name="connsiteX162" fmla="*/ 1828455 w 1844621"/>
              <a:gd name="connsiteY162" fmla="*/ 814831 h 1765598"/>
              <a:gd name="connsiteX163" fmla="*/ 1682588 w 1844621"/>
              <a:gd name="connsiteY163" fmla="*/ 827227 h 1765598"/>
              <a:gd name="connsiteX164" fmla="*/ 1680430 w 1844621"/>
              <a:gd name="connsiteY164" fmla="*/ 809345 h 1765598"/>
              <a:gd name="connsiteX165" fmla="*/ 61447 w 1844621"/>
              <a:gd name="connsiteY165" fmla="*/ 791950 h 1765598"/>
              <a:gd name="connsiteX166" fmla="*/ 164713 w 1844621"/>
              <a:gd name="connsiteY166" fmla="*/ 801763 h 1765598"/>
              <a:gd name="connsiteX167" fmla="*/ 163253 w 1844621"/>
              <a:gd name="connsiteY167" fmla="*/ 819705 h 1765598"/>
              <a:gd name="connsiteX168" fmla="*/ 51105 w 1844621"/>
              <a:gd name="connsiteY168" fmla="*/ 809048 h 1765598"/>
              <a:gd name="connsiteX169" fmla="*/ 1766145 w 1844621"/>
              <a:gd name="connsiteY169" fmla="*/ 724870 h 1765598"/>
              <a:gd name="connsiteX170" fmla="*/ 1777427 w 1844621"/>
              <a:gd name="connsiteY170" fmla="*/ 741158 h 1765598"/>
              <a:gd name="connsiteX171" fmla="*/ 1674396 w 1844621"/>
              <a:gd name="connsiteY171" fmla="*/ 759325 h 1765598"/>
              <a:gd name="connsiteX172" fmla="*/ 1673685 w 1844621"/>
              <a:gd name="connsiteY172" fmla="*/ 753429 h 1765598"/>
              <a:gd name="connsiteX173" fmla="*/ 1670588 w 1844621"/>
              <a:gd name="connsiteY173" fmla="*/ 741719 h 1765598"/>
              <a:gd name="connsiteX174" fmla="*/ 94047 w 1844621"/>
              <a:gd name="connsiteY174" fmla="*/ 719066 h 1765598"/>
              <a:gd name="connsiteX175" fmla="*/ 175129 w 1844621"/>
              <a:gd name="connsiteY175" fmla="*/ 734198 h 1765598"/>
              <a:gd name="connsiteX176" fmla="*/ 171900 w 1844621"/>
              <a:gd name="connsiteY176" fmla="*/ 751906 h 1765598"/>
              <a:gd name="connsiteX177" fmla="*/ 87480 w 1844621"/>
              <a:gd name="connsiteY177" fmla="*/ 736151 h 1765598"/>
              <a:gd name="connsiteX178" fmla="*/ 1732475 w 1844621"/>
              <a:gd name="connsiteY178" fmla="*/ 654227 h 1765598"/>
              <a:gd name="connsiteX179" fmla="*/ 1740061 w 1844621"/>
              <a:gd name="connsiteY179" fmla="*/ 670822 h 1765598"/>
              <a:gd name="connsiteX180" fmla="*/ 1657733 w 1844621"/>
              <a:gd name="connsiteY180" fmla="*/ 693102 h 1765598"/>
              <a:gd name="connsiteX181" fmla="*/ 1653131 w 1844621"/>
              <a:gd name="connsiteY181" fmla="*/ 675699 h 1765598"/>
              <a:gd name="connsiteX182" fmla="*/ 121093 w 1844621"/>
              <a:gd name="connsiteY182" fmla="*/ 648021 h 1765598"/>
              <a:gd name="connsiteX183" fmla="*/ 193564 w 1844621"/>
              <a:gd name="connsiteY183" fmla="*/ 668412 h 1765598"/>
              <a:gd name="connsiteX184" fmla="*/ 187778 w 1844621"/>
              <a:gd name="connsiteY184" fmla="*/ 685483 h 1765598"/>
              <a:gd name="connsiteX185" fmla="*/ 114844 w 1844621"/>
              <a:gd name="connsiteY185" fmla="*/ 664963 h 1765598"/>
              <a:gd name="connsiteX186" fmla="*/ 120799 w 1844621"/>
              <a:gd name="connsiteY186" fmla="*/ 649471 h 1765598"/>
              <a:gd name="connsiteX187" fmla="*/ 1703605 w 1844621"/>
              <a:gd name="connsiteY187" fmla="*/ 584417 h 1765598"/>
              <a:gd name="connsiteX188" fmla="*/ 1707892 w 1844621"/>
              <a:gd name="connsiteY188" fmla="*/ 600448 h 1765598"/>
              <a:gd name="connsiteX189" fmla="*/ 1708508 w 1844621"/>
              <a:gd name="connsiteY189" fmla="*/ 601796 h 1765598"/>
              <a:gd name="connsiteX190" fmla="*/ 1640259 w 1844621"/>
              <a:gd name="connsiteY190" fmla="*/ 627022 h 1765598"/>
              <a:gd name="connsiteX191" fmla="*/ 1639049 w 1844621"/>
              <a:gd name="connsiteY191" fmla="*/ 622444 h 1765598"/>
              <a:gd name="connsiteX192" fmla="*/ 1633440 w 1844621"/>
              <a:gd name="connsiteY192" fmla="*/ 610352 h 1765598"/>
              <a:gd name="connsiteX193" fmla="*/ 136138 w 1844621"/>
              <a:gd name="connsiteY193" fmla="*/ 573632 h 1765598"/>
              <a:gd name="connsiteX194" fmla="*/ 215446 w 1844621"/>
              <a:gd name="connsiteY194" fmla="*/ 603848 h 1765598"/>
              <a:gd name="connsiteX195" fmla="*/ 209665 w 1844621"/>
              <a:gd name="connsiteY195" fmla="*/ 620908 h 1765598"/>
              <a:gd name="connsiteX196" fmla="*/ 132521 w 1844621"/>
              <a:gd name="connsiteY196" fmla="*/ 591516 h 1765598"/>
              <a:gd name="connsiteX197" fmla="*/ 1683900 w 1844621"/>
              <a:gd name="connsiteY197" fmla="*/ 510741 h 1765598"/>
              <a:gd name="connsiteX198" fmla="*/ 1688629 w 1844621"/>
              <a:gd name="connsiteY198" fmla="*/ 528423 h 1765598"/>
              <a:gd name="connsiteX199" fmla="*/ 1612275 w 1844621"/>
              <a:gd name="connsiteY199" fmla="*/ 564725 h 1765598"/>
              <a:gd name="connsiteX200" fmla="*/ 1604700 w 1844621"/>
              <a:gd name="connsiteY200" fmla="*/ 548396 h 1765598"/>
              <a:gd name="connsiteX201" fmla="*/ 147252 w 1844621"/>
              <a:gd name="connsiteY201" fmla="*/ 494765 h 1765598"/>
              <a:gd name="connsiteX202" fmla="*/ 243177 w 1844621"/>
              <a:gd name="connsiteY202" fmla="*/ 541551 h 1765598"/>
              <a:gd name="connsiteX203" fmla="*/ 234224 w 1844621"/>
              <a:gd name="connsiteY203" fmla="*/ 557210 h 1765598"/>
              <a:gd name="connsiteX204" fmla="*/ 146805 w 1844621"/>
              <a:gd name="connsiteY204" fmla="*/ 514573 h 1765598"/>
              <a:gd name="connsiteX205" fmla="*/ 1670480 w 1844621"/>
              <a:gd name="connsiteY205" fmla="*/ 430384 h 1765598"/>
              <a:gd name="connsiteX206" fmla="*/ 1672163 w 1844621"/>
              <a:gd name="connsiteY206" fmla="*/ 450296 h 1765598"/>
              <a:gd name="connsiteX207" fmla="*/ 1583450 w 1844621"/>
              <a:gd name="connsiteY207" fmla="*/ 502701 h 1765598"/>
              <a:gd name="connsiteX208" fmla="*/ 1573155 w 1844621"/>
              <a:gd name="connsiteY208" fmla="*/ 487877 h 1765598"/>
              <a:gd name="connsiteX209" fmla="*/ 149273 w 1844621"/>
              <a:gd name="connsiteY209" fmla="*/ 405169 h 1765598"/>
              <a:gd name="connsiteX210" fmla="*/ 277016 w 1844621"/>
              <a:gd name="connsiteY210" fmla="*/ 482359 h 1765598"/>
              <a:gd name="connsiteX211" fmla="*/ 268080 w 1844621"/>
              <a:gd name="connsiteY211" fmla="*/ 497989 h 1765598"/>
              <a:gd name="connsiteX212" fmla="*/ 148805 w 1844621"/>
              <a:gd name="connsiteY212" fmla="*/ 425916 h 1765598"/>
              <a:gd name="connsiteX213" fmla="*/ 195968 w 1844621"/>
              <a:gd name="connsiteY213" fmla="*/ 338361 h 1765598"/>
              <a:gd name="connsiteX214" fmla="*/ 314600 w 1844621"/>
              <a:gd name="connsiteY214" fmla="*/ 425459 h 1765598"/>
              <a:gd name="connsiteX215" fmla="*/ 302826 w 1844621"/>
              <a:gd name="connsiteY215" fmla="*/ 439145 h 1765598"/>
              <a:gd name="connsiteX216" fmla="*/ 173559 w 1844621"/>
              <a:gd name="connsiteY216" fmla="*/ 344239 h 1765598"/>
              <a:gd name="connsiteX217" fmla="*/ 192568 w 1844621"/>
              <a:gd name="connsiteY217" fmla="*/ 339792 h 1765598"/>
              <a:gd name="connsiteX218" fmla="*/ 1665887 w 1844621"/>
              <a:gd name="connsiteY218" fmla="*/ 337121 h 1765598"/>
              <a:gd name="connsiteX219" fmla="*/ 1664242 w 1844621"/>
              <a:gd name="connsiteY219" fmla="*/ 356571 h 1765598"/>
              <a:gd name="connsiteX220" fmla="*/ 1664553 w 1844621"/>
              <a:gd name="connsiteY220" fmla="*/ 360248 h 1765598"/>
              <a:gd name="connsiteX221" fmla="*/ 1544474 w 1844621"/>
              <a:gd name="connsiteY221" fmla="*/ 446578 h 1765598"/>
              <a:gd name="connsiteX222" fmla="*/ 1534206 w 1844621"/>
              <a:gd name="connsiteY222" fmla="*/ 431793 h 1765598"/>
              <a:gd name="connsiteX223" fmla="*/ 279257 w 1844621"/>
              <a:gd name="connsiteY223" fmla="*/ 303297 h 1765598"/>
              <a:gd name="connsiteX224" fmla="*/ 359087 w 1844621"/>
              <a:gd name="connsiteY224" fmla="*/ 373748 h 1765598"/>
              <a:gd name="connsiteX225" fmla="*/ 347347 w 1844621"/>
              <a:gd name="connsiteY225" fmla="*/ 387394 h 1765598"/>
              <a:gd name="connsiteX226" fmla="*/ 260839 w 1844621"/>
              <a:gd name="connsiteY226" fmla="*/ 311051 h 1765598"/>
              <a:gd name="connsiteX227" fmla="*/ 1595859 w 1844621"/>
              <a:gd name="connsiteY227" fmla="*/ 288337 h 1765598"/>
              <a:gd name="connsiteX228" fmla="*/ 1615448 w 1844621"/>
              <a:gd name="connsiteY228" fmla="*/ 295194 h 1765598"/>
              <a:gd name="connsiteX229" fmla="*/ 1504459 w 1844621"/>
              <a:gd name="connsiteY229" fmla="*/ 391189 h 1765598"/>
              <a:gd name="connsiteX230" fmla="*/ 1491819 w 1844621"/>
              <a:gd name="connsiteY230" fmla="*/ 378322 h 1765598"/>
              <a:gd name="connsiteX231" fmla="*/ 348471 w 1844621"/>
              <a:gd name="connsiteY231" fmla="*/ 263494 h 1765598"/>
              <a:gd name="connsiteX232" fmla="*/ 405504 w 1844621"/>
              <a:gd name="connsiteY232" fmla="*/ 323744 h 1765598"/>
              <a:gd name="connsiteX233" fmla="*/ 394934 w 1844621"/>
              <a:gd name="connsiteY233" fmla="*/ 332080 h 1765598"/>
              <a:gd name="connsiteX234" fmla="*/ 391923 w 1844621"/>
              <a:gd name="connsiteY234" fmla="*/ 335581 h 1765598"/>
              <a:gd name="connsiteX235" fmla="*/ 333116 w 1844621"/>
              <a:gd name="connsiteY235" fmla="*/ 273456 h 1765598"/>
              <a:gd name="connsiteX236" fmla="*/ 1512159 w 1844621"/>
              <a:gd name="connsiteY236" fmla="*/ 259039 h 1765598"/>
              <a:gd name="connsiteX237" fmla="*/ 1530860 w 1844621"/>
              <a:gd name="connsiteY237" fmla="*/ 265585 h 1765598"/>
              <a:gd name="connsiteX238" fmla="*/ 1456606 w 1844621"/>
              <a:gd name="connsiteY238" fmla="*/ 342477 h 1765598"/>
              <a:gd name="connsiteX239" fmla="*/ 1443988 w 1844621"/>
              <a:gd name="connsiteY239" fmla="*/ 329632 h 1765598"/>
              <a:gd name="connsiteX240" fmla="*/ 412110 w 1844621"/>
              <a:gd name="connsiteY240" fmla="*/ 221916 h 1765598"/>
              <a:gd name="connsiteX241" fmla="*/ 459114 w 1844621"/>
              <a:gd name="connsiteY241" fmla="*/ 281464 h 1765598"/>
              <a:gd name="connsiteX242" fmla="*/ 444980 w 1844621"/>
              <a:gd name="connsiteY242" fmla="*/ 292610 h 1765598"/>
              <a:gd name="connsiteX243" fmla="*/ 397097 w 1844621"/>
              <a:gd name="connsiteY243" fmla="*/ 231949 h 1765598"/>
              <a:gd name="connsiteX244" fmla="*/ 411019 w 1844621"/>
              <a:gd name="connsiteY244" fmla="*/ 222917 h 1765598"/>
              <a:gd name="connsiteX245" fmla="*/ 1443396 w 1844621"/>
              <a:gd name="connsiteY245" fmla="*/ 221678 h 1765598"/>
              <a:gd name="connsiteX246" fmla="*/ 1459286 w 1844621"/>
              <a:gd name="connsiteY246" fmla="*/ 230644 h 1765598"/>
              <a:gd name="connsiteX247" fmla="*/ 1406897 w 1844621"/>
              <a:gd name="connsiteY247" fmla="*/ 295670 h 1765598"/>
              <a:gd name="connsiteX248" fmla="*/ 1392300 w 1844621"/>
              <a:gd name="connsiteY248" fmla="*/ 285098 h 1765598"/>
              <a:gd name="connsiteX249" fmla="*/ 1379005 w 1844621"/>
              <a:gd name="connsiteY249" fmla="*/ 182170 h 1765598"/>
              <a:gd name="connsiteX250" fmla="*/ 1391896 w 1844621"/>
              <a:gd name="connsiteY250" fmla="*/ 192619 h 1765598"/>
              <a:gd name="connsiteX251" fmla="*/ 1393186 w 1844621"/>
              <a:gd name="connsiteY251" fmla="*/ 193347 h 1765598"/>
              <a:gd name="connsiteX252" fmla="*/ 1351622 w 1844621"/>
              <a:gd name="connsiteY252" fmla="*/ 255636 h 1765598"/>
              <a:gd name="connsiteX253" fmla="*/ 1337034 w 1844621"/>
              <a:gd name="connsiteY253" fmla="*/ 245070 h 1765598"/>
              <a:gd name="connsiteX254" fmla="*/ 468008 w 1844621"/>
              <a:gd name="connsiteY254" fmla="*/ 170577 h 1765598"/>
              <a:gd name="connsiteX255" fmla="*/ 513069 w 1844621"/>
              <a:gd name="connsiteY255" fmla="*/ 239589 h 1765598"/>
              <a:gd name="connsiteX256" fmla="*/ 510638 w 1844621"/>
              <a:gd name="connsiteY256" fmla="*/ 240828 h 1765598"/>
              <a:gd name="connsiteX257" fmla="*/ 498586 w 1844621"/>
              <a:gd name="connsiteY257" fmla="*/ 250333 h 1765598"/>
              <a:gd name="connsiteX258" fmla="*/ 454568 w 1844621"/>
              <a:gd name="connsiteY258" fmla="*/ 182920 h 1765598"/>
              <a:gd name="connsiteX259" fmla="*/ 1319759 w 1844621"/>
              <a:gd name="connsiteY259" fmla="*/ 134146 h 1765598"/>
              <a:gd name="connsiteX260" fmla="*/ 1333978 w 1844621"/>
              <a:gd name="connsiteY260" fmla="*/ 145672 h 1765598"/>
              <a:gd name="connsiteX261" fmla="*/ 1294036 w 1844621"/>
              <a:gd name="connsiteY261" fmla="*/ 219016 h 1765598"/>
              <a:gd name="connsiteX262" fmla="*/ 1277891 w 1844621"/>
              <a:gd name="connsiteY262" fmla="*/ 211027 h 1765598"/>
              <a:gd name="connsiteX263" fmla="*/ 523355 w 1844621"/>
              <a:gd name="connsiteY263" fmla="*/ 113305 h 1765598"/>
              <a:gd name="connsiteX264" fmla="*/ 573987 w 1844621"/>
              <a:gd name="connsiteY264" fmla="*/ 208530 h 1765598"/>
              <a:gd name="connsiteX265" fmla="*/ 557949 w 1844621"/>
              <a:gd name="connsiteY265" fmla="*/ 216707 h 1765598"/>
              <a:gd name="connsiteX266" fmla="*/ 511350 w 1844621"/>
              <a:gd name="connsiteY266" fmla="*/ 129068 h 1765598"/>
              <a:gd name="connsiteX267" fmla="*/ 1261668 w 1844621"/>
              <a:gd name="connsiteY267" fmla="*/ 77024 h 1765598"/>
              <a:gd name="connsiteX268" fmla="*/ 1274734 w 1844621"/>
              <a:gd name="connsiteY268" fmla="*/ 92144 h 1765598"/>
              <a:gd name="connsiteX269" fmla="*/ 1232872 w 1844621"/>
              <a:gd name="connsiteY269" fmla="*/ 188750 h 1765598"/>
              <a:gd name="connsiteX270" fmla="*/ 1216718 w 1844621"/>
              <a:gd name="connsiteY270" fmla="*/ 180757 h 1765598"/>
              <a:gd name="connsiteX271" fmla="*/ 879964 w 1844621"/>
              <a:gd name="connsiteY271" fmla="*/ 47539 h 1765598"/>
              <a:gd name="connsiteX272" fmla="*/ 896536 w 1844621"/>
              <a:gd name="connsiteY272" fmla="*/ 48415 h 1765598"/>
              <a:gd name="connsiteX273" fmla="*/ 898006 w 1844621"/>
              <a:gd name="connsiteY273" fmla="*/ 48246 h 1765598"/>
              <a:gd name="connsiteX274" fmla="*/ 900930 w 1844621"/>
              <a:gd name="connsiteY274" fmla="*/ 121496 h 1765598"/>
              <a:gd name="connsiteX275" fmla="*/ 882930 w 1844621"/>
              <a:gd name="connsiteY275" fmla="*/ 121839 h 1765598"/>
              <a:gd name="connsiteX276" fmla="*/ 803804 w 1844621"/>
              <a:gd name="connsiteY276" fmla="*/ 43511 h 1765598"/>
              <a:gd name="connsiteX277" fmla="*/ 822082 w 1844621"/>
              <a:gd name="connsiteY277" fmla="*/ 44478 h 1765598"/>
              <a:gd name="connsiteX278" fmla="*/ 832792 w 1844621"/>
              <a:gd name="connsiteY278" fmla="*/ 126618 h 1765598"/>
              <a:gd name="connsiteX279" fmla="*/ 814920 w 1844621"/>
              <a:gd name="connsiteY279" fmla="*/ 128774 h 1765598"/>
              <a:gd name="connsiteX280" fmla="*/ 577653 w 1844621"/>
              <a:gd name="connsiteY280" fmla="*/ 42008 h 1765598"/>
              <a:gd name="connsiteX281" fmla="*/ 634782 w 1844621"/>
              <a:gd name="connsiteY281" fmla="*/ 177534 h 1765598"/>
              <a:gd name="connsiteX282" fmla="*/ 618704 w 1844621"/>
              <a:gd name="connsiteY282" fmla="*/ 185731 h 1765598"/>
              <a:gd name="connsiteX283" fmla="*/ 565079 w 1844621"/>
              <a:gd name="connsiteY283" fmla="*/ 58518 h 1765598"/>
              <a:gd name="connsiteX284" fmla="*/ 973404 w 1844621"/>
              <a:gd name="connsiteY284" fmla="*/ 39567 h 1765598"/>
              <a:gd name="connsiteX285" fmla="*/ 969228 w 1844621"/>
              <a:gd name="connsiteY285" fmla="*/ 123258 h 1765598"/>
              <a:gd name="connsiteX286" fmla="*/ 951312 w 1844621"/>
              <a:gd name="connsiteY286" fmla="*/ 121130 h 1765598"/>
              <a:gd name="connsiteX287" fmla="*/ 955278 w 1844621"/>
              <a:gd name="connsiteY287" fmla="*/ 41654 h 1765598"/>
              <a:gd name="connsiteX288" fmla="*/ 723233 w 1844621"/>
              <a:gd name="connsiteY288" fmla="*/ 31443 h 1765598"/>
              <a:gd name="connsiteX289" fmla="*/ 742691 w 1844621"/>
              <a:gd name="connsiteY289" fmla="*/ 35995 h 1765598"/>
              <a:gd name="connsiteX290" fmla="*/ 765354 w 1844621"/>
              <a:gd name="connsiteY290" fmla="*/ 137622 h 1765598"/>
              <a:gd name="connsiteX291" fmla="*/ 747791 w 1844621"/>
              <a:gd name="connsiteY291" fmla="*/ 141567 h 1765598"/>
              <a:gd name="connsiteX292" fmla="*/ 1051847 w 1844621"/>
              <a:gd name="connsiteY292" fmla="*/ 25765 h 1765598"/>
              <a:gd name="connsiteX293" fmla="*/ 1037014 w 1844621"/>
              <a:gd name="connsiteY293" fmla="*/ 131308 h 1765598"/>
              <a:gd name="connsiteX294" fmla="*/ 1019135 w 1844621"/>
              <a:gd name="connsiteY294" fmla="*/ 129184 h 1765598"/>
              <a:gd name="connsiteX295" fmla="*/ 1032869 w 1844621"/>
              <a:gd name="connsiteY295" fmla="*/ 31462 h 1765598"/>
              <a:gd name="connsiteX296" fmla="*/ 633115 w 1844621"/>
              <a:gd name="connsiteY296" fmla="*/ 6990 h 1765598"/>
              <a:gd name="connsiteX297" fmla="*/ 651107 w 1844621"/>
              <a:gd name="connsiteY297" fmla="*/ 14566 h 1765598"/>
              <a:gd name="connsiteX298" fmla="*/ 654699 w 1844621"/>
              <a:gd name="connsiteY298" fmla="*/ 15406 h 1765598"/>
              <a:gd name="connsiteX299" fmla="*/ 699105 w 1844621"/>
              <a:gd name="connsiteY299" fmla="*/ 154429 h 1765598"/>
              <a:gd name="connsiteX300" fmla="*/ 682029 w 1844621"/>
              <a:gd name="connsiteY300" fmla="*/ 160125 h 1765598"/>
              <a:gd name="connsiteX301" fmla="*/ 1203134 w 1844621"/>
              <a:gd name="connsiteY301" fmla="*/ 4273 h 1765598"/>
              <a:gd name="connsiteX302" fmla="*/ 1213236 w 1844621"/>
              <a:gd name="connsiteY302" fmla="*/ 20976 h 1765598"/>
              <a:gd name="connsiteX303" fmla="*/ 1215649 w 1844621"/>
              <a:gd name="connsiteY303" fmla="*/ 23769 h 1765598"/>
              <a:gd name="connsiteX304" fmla="*/ 1169442 w 1844621"/>
              <a:gd name="connsiteY304" fmla="*/ 163605 h 1765598"/>
              <a:gd name="connsiteX305" fmla="*/ 1152188 w 1844621"/>
              <a:gd name="connsiteY305" fmla="*/ 158449 h 1765598"/>
              <a:gd name="connsiteX306" fmla="*/ 1137683 w 1844621"/>
              <a:gd name="connsiteY306" fmla="*/ 0 h 1765598"/>
              <a:gd name="connsiteX307" fmla="*/ 1104046 w 1844621"/>
              <a:gd name="connsiteY307" fmla="*/ 144062 h 1765598"/>
              <a:gd name="connsiteX308" fmla="*/ 1086767 w 1844621"/>
              <a:gd name="connsiteY308" fmla="*/ 138898 h 1765598"/>
              <a:gd name="connsiteX309" fmla="*/ 1117806 w 1844621"/>
              <a:gd name="connsiteY309" fmla="*/ 5966 h 17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1844621" h="1765598">
                <a:moveTo>
                  <a:pt x="961691" y="1643760"/>
                </a:moveTo>
                <a:lnTo>
                  <a:pt x="964657" y="1718060"/>
                </a:lnTo>
                <a:lnTo>
                  <a:pt x="948083" y="1717184"/>
                </a:lnTo>
                <a:lnTo>
                  <a:pt x="946614" y="1717353"/>
                </a:lnTo>
                <a:lnTo>
                  <a:pt x="943691" y="1644103"/>
                </a:lnTo>
                <a:close/>
                <a:moveTo>
                  <a:pt x="875350" y="1643169"/>
                </a:moveTo>
                <a:lnTo>
                  <a:pt x="893299" y="1644629"/>
                </a:lnTo>
                <a:lnTo>
                  <a:pt x="889341" y="1723945"/>
                </a:lnTo>
                <a:lnTo>
                  <a:pt x="871214" y="1726031"/>
                </a:lnTo>
                <a:close/>
                <a:moveTo>
                  <a:pt x="1029699" y="1636826"/>
                </a:moveTo>
                <a:lnTo>
                  <a:pt x="1040815" y="1722087"/>
                </a:lnTo>
                <a:lnTo>
                  <a:pt x="1022537" y="1721121"/>
                </a:lnTo>
                <a:lnTo>
                  <a:pt x="1011828" y="1638982"/>
                </a:lnTo>
                <a:close/>
                <a:moveTo>
                  <a:pt x="807350" y="1636115"/>
                </a:moveTo>
                <a:lnTo>
                  <a:pt x="822430" y="1638864"/>
                </a:lnTo>
                <a:lnTo>
                  <a:pt x="825110" y="1639083"/>
                </a:lnTo>
                <a:lnTo>
                  <a:pt x="811751" y="1734136"/>
                </a:lnTo>
                <a:lnTo>
                  <a:pt x="792774" y="1739833"/>
                </a:lnTo>
                <a:close/>
                <a:moveTo>
                  <a:pt x="1096827" y="1624033"/>
                </a:moveTo>
                <a:lnTo>
                  <a:pt x="1121385" y="1734155"/>
                </a:lnTo>
                <a:lnTo>
                  <a:pt x="1101928" y="1729603"/>
                </a:lnTo>
                <a:lnTo>
                  <a:pt x="1079265" y="1627978"/>
                </a:lnTo>
                <a:close/>
                <a:moveTo>
                  <a:pt x="740342" y="1622534"/>
                </a:moveTo>
                <a:lnTo>
                  <a:pt x="749046" y="1625484"/>
                </a:lnTo>
                <a:lnTo>
                  <a:pt x="757767" y="1627074"/>
                </a:lnTo>
                <a:lnTo>
                  <a:pt x="726815" y="1759631"/>
                </a:lnTo>
                <a:lnTo>
                  <a:pt x="706937" y="1765598"/>
                </a:lnTo>
                <a:close/>
                <a:moveTo>
                  <a:pt x="1162592" y="1605474"/>
                </a:moveTo>
                <a:lnTo>
                  <a:pt x="1211506" y="1758609"/>
                </a:lnTo>
                <a:lnTo>
                  <a:pt x="1193512" y="1751032"/>
                </a:lnTo>
                <a:lnTo>
                  <a:pt x="1189921" y="1750192"/>
                </a:lnTo>
                <a:lnTo>
                  <a:pt x="1145515" y="1611170"/>
                </a:lnTo>
                <a:close/>
                <a:moveTo>
                  <a:pt x="675637" y="1600604"/>
                </a:moveTo>
                <a:lnTo>
                  <a:pt x="692686" y="1606382"/>
                </a:lnTo>
                <a:lnTo>
                  <a:pt x="641486" y="1761326"/>
                </a:lnTo>
                <a:lnTo>
                  <a:pt x="631383" y="1744623"/>
                </a:lnTo>
                <a:lnTo>
                  <a:pt x="628970" y="1741831"/>
                </a:lnTo>
                <a:close/>
                <a:moveTo>
                  <a:pt x="1225916" y="1579868"/>
                </a:moveTo>
                <a:lnTo>
                  <a:pt x="1279540" y="1707080"/>
                </a:lnTo>
                <a:lnTo>
                  <a:pt x="1266966" y="1723591"/>
                </a:lnTo>
                <a:lnTo>
                  <a:pt x="1209837" y="1588066"/>
                </a:lnTo>
                <a:close/>
                <a:moveTo>
                  <a:pt x="610954" y="1578681"/>
                </a:moveTo>
                <a:lnTo>
                  <a:pt x="628059" y="1584478"/>
                </a:lnTo>
                <a:lnTo>
                  <a:pt x="582951" y="1688574"/>
                </a:lnTo>
                <a:lnTo>
                  <a:pt x="569886" y="1673454"/>
                </a:lnTo>
                <a:close/>
                <a:moveTo>
                  <a:pt x="1286670" y="1548893"/>
                </a:moveTo>
                <a:lnTo>
                  <a:pt x="1333269" y="1636531"/>
                </a:lnTo>
                <a:lnTo>
                  <a:pt x="1321264" y="1652294"/>
                </a:lnTo>
                <a:lnTo>
                  <a:pt x="1270632" y="1557070"/>
                </a:lnTo>
                <a:close/>
                <a:moveTo>
                  <a:pt x="551444" y="1545001"/>
                </a:moveTo>
                <a:lnTo>
                  <a:pt x="567074" y="1553937"/>
                </a:lnTo>
                <a:lnTo>
                  <a:pt x="524862" y="1631452"/>
                </a:lnTo>
                <a:lnTo>
                  <a:pt x="510642" y="1619926"/>
                </a:lnTo>
                <a:close/>
                <a:moveTo>
                  <a:pt x="1346034" y="1515267"/>
                </a:moveTo>
                <a:lnTo>
                  <a:pt x="1390051" y="1582679"/>
                </a:lnTo>
                <a:lnTo>
                  <a:pt x="1376613" y="1595021"/>
                </a:lnTo>
                <a:lnTo>
                  <a:pt x="1331552" y="1526010"/>
                </a:lnTo>
                <a:lnTo>
                  <a:pt x="1333983" y="1524770"/>
                </a:lnTo>
                <a:close/>
                <a:moveTo>
                  <a:pt x="492213" y="1511140"/>
                </a:moveTo>
                <a:lnTo>
                  <a:pt x="507877" y="1520095"/>
                </a:lnTo>
                <a:lnTo>
                  <a:pt x="465615" y="1583429"/>
                </a:lnTo>
                <a:lnTo>
                  <a:pt x="452723" y="1572979"/>
                </a:lnTo>
                <a:lnTo>
                  <a:pt x="451434" y="1572252"/>
                </a:lnTo>
                <a:close/>
                <a:moveTo>
                  <a:pt x="1399641" y="1472989"/>
                </a:moveTo>
                <a:lnTo>
                  <a:pt x="1447523" y="1533649"/>
                </a:lnTo>
                <a:lnTo>
                  <a:pt x="1433600" y="1542681"/>
                </a:lnTo>
                <a:lnTo>
                  <a:pt x="1432510" y="1543682"/>
                </a:lnTo>
                <a:lnTo>
                  <a:pt x="1385507" y="1484135"/>
                </a:lnTo>
                <a:close/>
                <a:moveTo>
                  <a:pt x="439084" y="1468240"/>
                </a:moveTo>
                <a:lnTo>
                  <a:pt x="452737" y="1479985"/>
                </a:lnTo>
                <a:lnTo>
                  <a:pt x="401226" y="1543921"/>
                </a:lnTo>
                <a:lnTo>
                  <a:pt x="385335" y="1534955"/>
                </a:lnTo>
                <a:close/>
                <a:moveTo>
                  <a:pt x="1452700" y="1430017"/>
                </a:moveTo>
                <a:lnTo>
                  <a:pt x="1511505" y="1492141"/>
                </a:lnTo>
                <a:lnTo>
                  <a:pt x="1496150" y="1502102"/>
                </a:lnTo>
                <a:lnTo>
                  <a:pt x="1439119" y="1441854"/>
                </a:lnTo>
                <a:lnTo>
                  <a:pt x="1449687" y="1433519"/>
                </a:lnTo>
                <a:close/>
                <a:moveTo>
                  <a:pt x="387391" y="1423768"/>
                </a:moveTo>
                <a:lnTo>
                  <a:pt x="401059" y="1435526"/>
                </a:lnTo>
                <a:lnTo>
                  <a:pt x="332463" y="1506560"/>
                </a:lnTo>
                <a:lnTo>
                  <a:pt x="313761" y="1500014"/>
                </a:lnTo>
                <a:close/>
                <a:moveTo>
                  <a:pt x="1497274" y="1378205"/>
                </a:moveTo>
                <a:lnTo>
                  <a:pt x="1583781" y="1454547"/>
                </a:lnTo>
                <a:lnTo>
                  <a:pt x="1565364" y="1462300"/>
                </a:lnTo>
                <a:lnTo>
                  <a:pt x="1485535" y="1391850"/>
                </a:lnTo>
                <a:close/>
                <a:moveTo>
                  <a:pt x="342078" y="1372754"/>
                </a:moveTo>
                <a:lnTo>
                  <a:pt x="353236" y="1386902"/>
                </a:lnTo>
                <a:lnTo>
                  <a:pt x="248764" y="1477262"/>
                </a:lnTo>
                <a:lnTo>
                  <a:pt x="229175" y="1470405"/>
                </a:lnTo>
                <a:close/>
                <a:moveTo>
                  <a:pt x="1541797" y="1326453"/>
                </a:moveTo>
                <a:lnTo>
                  <a:pt x="1671063" y="1421359"/>
                </a:lnTo>
                <a:lnTo>
                  <a:pt x="1652052" y="1425806"/>
                </a:lnTo>
                <a:lnTo>
                  <a:pt x="1648653" y="1427237"/>
                </a:lnTo>
                <a:lnTo>
                  <a:pt x="1530022" y="1340139"/>
                </a:lnTo>
                <a:close/>
                <a:moveTo>
                  <a:pt x="299862" y="1319225"/>
                </a:moveTo>
                <a:lnTo>
                  <a:pt x="311019" y="1333372"/>
                </a:lnTo>
                <a:lnTo>
                  <a:pt x="178732" y="1428480"/>
                </a:lnTo>
                <a:lnTo>
                  <a:pt x="180377" y="1409027"/>
                </a:lnTo>
                <a:lnTo>
                  <a:pt x="180067" y="1405352"/>
                </a:lnTo>
                <a:close/>
                <a:moveTo>
                  <a:pt x="1576542" y="1267609"/>
                </a:moveTo>
                <a:lnTo>
                  <a:pt x="1695816" y="1339681"/>
                </a:lnTo>
                <a:lnTo>
                  <a:pt x="1695348" y="1360430"/>
                </a:lnTo>
                <a:lnTo>
                  <a:pt x="1567606" y="1283241"/>
                </a:lnTo>
                <a:close/>
                <a:moveTo>
                  <a:pt x="263531" y="1261503"/>
                </a:moveTo>
                <a:lnTo>
                  <a:pt x="271723" y="1277570"/>
                </a:lnTo>
                <a:lnTo>
                  <a:pt x="174140" y="1335215"/>
                </a:lnTo>
                <a:lnTo>
                  <a:pt x="172457" y="1315303"/>
                </a:lnTo>
                <a:close/>
                <a:moveTo>
                  <a:pt x="1610398" y="1208387"/>
                </a:moveTo>
                <a:lnTo>
                  <a:pt x="1697816" y="1251024"/>
                </a:lnTo>
                <a:lnTo>
                  <a:pt x="1697369" y="1270832"/>
                </a:lnTo>
                <a:lnTo>
                  <a:pt x="1601446" y="1224047"/>
                </a:lnTo>
                <a:close/>
                <a:moveTo>
                  <a:pt x="232566" y="1200770"/>
                </a:moveTo>
                <a:lnTo>
                  <a:pt x="240745" y="1216812"/>
                </a:lnTo>
                <a:lnTo>
                  <a:pt x="160720" y="1254859"/>
                </a:lnTo>
                <a:lnTo>
                  <a:pt x="155991" y="1237178"/>
                </a:lnTo>
                <a:close/>
                <a:moveTo>
                  <a:pt x="1634958" y="1144690"/>
                </a:moveTo>
                <a:lnTo>
                  <a:pt x="1712099" y="1174082"/>
                </a:lnTo>
                <a:lnTo>
                  <a:pt x="1708482" y="1191966"/>
                </a:lnTo>
                <a:lnTo>
                  <a:pt x="1629176" y="1161750"/>
                </a:lnTo>
                <a:close/>
                <a:moveTo>
                  <a:pt x="204756" y="1138431"/>
                </a:moveTo>
                <a:lnTo>
                  <a:pt x="210455" y="1155515"/>
                </a:lnTo>
                <a:lnTo>
                  <a:pt x="141015" y="1181182"/>
                </a:lnTo>
                <a:lnTo>
                  <a:pt x="136727" y="1165150"/>
                </a:lnTo>
                <a:lnTo>
                  <a:pt x="136112" y="1163804"/>
                </a:lnTo>
                <a:close/>
                <a:moveTo>
                  <a:pt x="1656844" y="1080115"/>
                </a:moveTo>
                <a:lnTo>
                  <a:pt x="1729776" y="1100634"/>
                </a:lnTo>
                <a:lnTo>
                  <a:pt x="1723821" y="1116126"/>
                </a:lnTo>
                <a:lnTo>
                  <a:pt x="1723528" y="1117576"/>
                </a:lnTo>
                <a:lnTo>
                  <a:pt x="1651058" y="1097186"/>
                </a:lnTo>
                <a:close/>
                <a:moveTo>
                  <a:pt x="184625" y="1073110"/>
                </a:moveTo>
                <a:lnTo>
                  <a:pt x="188043" y="1088326"/>
                </a:lnTo>
                <a:lnTo>
                  <a:pt x="188810" y="1090624"/>
                </a:lnTo>
                <a:lnTo>
                  <a:pt x="112145" y="1111372"/>
                </a:lnTo>
                <a:lnTo>
                  <a:pt x="104560" y="1094778"/>
                </a:lnTo>
                <a:close/>
                <a:moveTo>
                  <a:pt x="1672722" y="1013691"/>
                </a:moveTo>
                <a:lnTo>
                  <a:pt x="1757141" y="1029446"/>
                </a:lnTo>
                <a:lnTo>
                  <a:pt x="1750574" y="1046531"/>
                </a:lnTo>
                <a:lnTo>
                  <a:pt x="1669493" y="1031399"/>
                </a:lnTo>
                <a:close/>
                <a:moveTo>
                  <a:pt x="170225" y="1006273"/>
                </a:moveTo>
                <a:lnTo>
                  <a:pt x="170936" y="1012170"/>
                </a:lnTo>
                <a:lnTo>
                  <a:pt x="173584" y="1023958"/>
                </a:lnTo>
                <a:lnTo>
                  <a:pt x="78475" y="1040728"/>
                </a:lnTo>
                <a:lnTo>
                  <a:pt x="67193" y="1024440"/>
                </a:lnTo>
                <a:close/>
                <a:moveTo>
                  <a:pt x="1681368" y="945892"/>
                </a:moveTo>
                <a:lnTo>
                  <a:pt x="1793516" y="956550"/>
                </a:lnTo>
                <a:lnTo>
                  <a:pt x="1783173" y="973649"/>
                </a:lnTo>
                <a:lnTo>
                  <a:pt x="1679909" y="963835"/>
                </a:lnTo>
                <a:close/>
                <a:moveTo>
                  <a:pt x="162034" y="938372"/>
                </a:moveTo>
                <a:lnTo>
                  <a:pt x="164191" y="956254"/>
                </a:lnTo>
                <a:lnTo>
                  <a:pt x="27981" y="967828"/>
                </a:lnTo>
                <a:lnTo>
                  <a:pt x="16164" y="950767"/>
                </a:lnTo>
                <a:close/>
                <a:moveTo>
                  <a:pt x="1683923" y="877596"/>
                </a:moveTo>
                <a:lnTo>
                  <a:pt x="1844621" y="878397"/>
                </a:lnTo>
                <a:lnTo>
                  <a:pt x="1831855" y="893168"/>
                </a:lnTo>
                <a:lnTo>
                  <a:pt x="1829946" y="896325"/>
                </a:lnTo>
                <a:lnTo>
                  <a:pt x="1684266" y="895598"/>
                </a:lnTo>
                <a:close/>
                <a:moveTo>
                  <a:pt x="14676" y="869273"/>
                </a:moveTo>
                <a:lnTo>
                  <a:pt x="160356" y="869999"/>
                </a:lnTo>
                <a:lnTo>
                  <a:pt x="160699" y="888001"/>
                </a:lnTo>
                <a:lnTo>
                  <a:pt x="0" y="887200"/>
                </a:lnTo>
                <a:lnTo>
                  <a:pt x="12766" y="872429"/>
                </a:lnTo>
                <a:close/>
                <a:moveTo>
                  <a:pt x="1816638" y="797770"/>
                </a:moveTo>
                <a:lnTo>
                  <a:pt x="1828455" y="814831"/>
                </a:lnTo>
                <a:lnTo>
                  <a:pt x="1682588" y="827227"/>
                </a:lnTo>
                <a:lnTo>
                  <a:pt x="1680430" y="809345"/>
                </a:lnTo>
                <a:close/>
                <a:moveTo>
                  <a:pt x="61447" y="791950"/>
                </a:moveTo>
                <a:lnTo>
                  <a:pt x="164713" y="801763"/>
                </a:lnTo>
                <a:lnTo>
                  <a:pt x="163253" y="819705"/>
                </a:lnTo>
                <a:lnTo>
                  <a:pt x="51105" y="809048"/>
                </a:lnTo>
                <a:close/>
                <a:moveTo>
                  <a:pt x="1766145" y="724870"/>
                </a:moveTo>
                <a:lnTo>
                  <a:pt x="1777427" y="741158"/>
                </a:lnTo>
                <a:lnTo>
                  <a:pt x="1674396" y="759325"/>
                </a:lnTo>
                <a:lnTo>
                  <a:pt x="1673685" y="753429"/>
                </a:lnTo>
                <a:lnTo>
                  <a:pt x="1670588" y="741719"/>
                </a:lnTo>
                <a:close/>
                <a:moveTo>
                  <a:pt x="94047" y="719066"/>
                </a:moveTo>
                <a:lnTo>
                  <a:pt x="175129" y="734198"/>
                </a:lnTo>
                <a:lnTo>
                  <a:pt x="171900" y="751906"/>
                </a:lnTo>
                <a:lnTo>
                  <a:pt x="87480" y="736151"/>
                </a:lnTo>
                <a:close/>
                <a:moveTo>
                  <a:pt x="1732475" y="654227"/>
                </a:moveTo>
                <a:lnTo>
                  <a:pt x="1740061" y="670822"/>
                </a:lnTo>
                <a:lnTo>
                  <a:pt x="1657733" y="693102"/>
                </a:lnTo>
                <a:lnTo>
                  <a:pt x="1653131" y="675699"/>
                </a:lnTo>
                <a:close/>
                <a:moveTo>
                  <a:pt x="121093" y="648021"/>
                </a:moveTo>
                <a:lnTo>
                  <a:pt x="193564" y="668412"/>
                </a:lnTo>
                <a:lnTo>
                  <a:pt x="187778" y="685483"/>
                </a:lnTo>
                <a:lnTo>
                  <a:pt x="114844" y="664963"/>
                </a:lnTo>
                <a:lnTo>
                  <a:pt x="120799" y="649471"/>
                </a:lnTo>
                <a:close/>
                <a:moveTo>
                  <a:pt x="1703605" y="584417"/>
                </a:moveTo>
                <a:lnTo>
                  <a:pt x="1707892" y="600448"/>
                </a:lnTo>
                <a:lnTo>
                  <a:pt x="1708508" y="601796"/>
                </a:lnTo>
                <a:lnTo>
                  <a:pt x="1640259" y="627022"/>
                </a:lnTo>
                <a:lnTo>
                  <a:pt x="1639049" y="622444"/>
                </a:lnTo>
                <a:lnTo>
                  <a:pt x="1633440" y="610352"/>
                </a:lnTo>
                <a:close/>
                <a:moveTo>
                  <a:pt x="136138" y="573632"/>
                </a:moveTo>
                <a:lnTo>
                  <a:pt x="215446" y="603848"/>
                </a:lnTo>
                <a:lnTo>
                  <a:pt x="209665" y="620908"/>
                </a:lnTo>
                <a:lnTo>
                  <a:pt x="132521" y="591516"/>
                </a:lnTo>
                <a:close/>
                <a:moveTo>
                  <a:pt x="1683900" y="510741"/>
                </a:moveTo>
                <a:lnTo>
                  <a:pt x="1688629" y="528423"/>
                </a:lnTo>
                <a:lnTo>
                  <a:pt x="1612275" y="564725"/>
                </a:lnTo>
                <a:lnTo>
                  <a:pt x="1604700" y="548396"/>
                </a:lnTo>
                <a:close/>
                <a:moveTo>
                  <a:pt x="147252" y="494765"/>
                </a:moveTo>
                <a:lnTo>
                  <a:pt x="243177" y="541551"/>
                </a:lnTo>
                <a:lnTo>
                  <a:pt x="234224" y="557210"/>
                </a:lnTo>
                <a:lnTo>
                  <a:pt x="146805" y="514573"/>
                </a:lnTo>
                <a:close/>
                <a:moveTo>
                  <a:pt x="1670480" y="430384"/>
                </a:moveTo>
                <a:lnTo>
                  <a:pt x="1672163" y="450296"/>
                </a:lnTo>
                <a:lnTo>
                  <a:pt x="1583450" y="502701"/>
                </a:lnTo>
                <a:lnTo>
                  <a:pt x="1573155" y="487877"/>
                </a:lnTo>
                <a:close/>
                <a:moveTo>
                  <a:pt x="149273" y="405169"/>
                </a:moveTo>
                <a:lnTo>
                  <a:pt x="277016" y="482359"/>
                </a:lnTo>
                <a:lnTo>
                  <a:pt x="268080" y="497989"/>
                </a:lnTo>
                <a:lnTo>
                  <a:pt x="148805" y="425916"/>
                </a:lnTo>
                <a:close/>
                <a:moveTo>
                  <a:pt x="195968" y="338361"/>
                </a:moveTo>
                <a:lnTo>
                  <a:pt x="314600" y="425459"/>
                </a:lnTo>
                <a:lnTo>
                  <a:pt x="302826" y="439145"/>
                </a:lnTo>
                <a:lnTo>
                  <a:pt x="173559" y="344239"/>
                </a:lnTo>
                <a:lnTo>
                  <a:pt x="192568" y="339792"/>
                </a:lnTo>
                <a:close/>
                <a:moveTo>
                  <a:pt x="1665887" y="337121"/>
                </a:moveTo>
                <a:lnTo>
                  <a:pt x="1664242" y="356571"/>
                </a:lnTo>
                <a:lnTo>
                  <a:pt x="1664553" y="360248"/>
                </a:lnTo>
                <a:lnTo>
                  <a:pt x="1544474" y="446578"/>
                </a:lnTo>
                <a:lnTo>
                  <a:pt x="1534206" y="431793"/>
                </a:lnTo>
                <a:close/>
                <a:moveTo>
                  <a:pt x="279257" y="303297"/>
                </a:moveTo>
                <a:lnTo>
                  <a:pt x="359087" y="373748"/>
                </a:lnTo>
                <a:lnTo>
                  <a:pt x="347347" y="387394"/>
                </a:lnTo>
                <a:lnTo>
                  <a:pt x="260839" y="311051"/>
                </a:lnTo>
                <a:close/>
                <a:moveTo>
                  <a:pt x="1595859" y="288337"/>
                </a:moveTo>
                <a:lnTo>
                  <a:pt x="1615448" y="295194"/>
                </a:lnTo>
                <a:lnTo>
                  <a:pt x="1504459" y="391189"/>
                </a:lnTo>
                <a:lnTo>
                  <a:pt x="1491819" y="378322"/>
                </a:lnTo>
                <a:close/>
                <a:moveTo>
                  <a:pt x="348471" y="263494"/>
                </a:moveTo>
                <a:lnTo>
                  <a:pt x="405504" y="323744"/>
                </a:lnTo>
                <a:lnTo>
                  <a:pt x="394934" y="332080"/>
                </a:lnTo>
                <a:lnTo>
                  <a:pt x="391923" y="335581"/>
                </a:lnTo>
                <a:lnTo>
                  <a:pt x="333116" y="273456"/>
                </a:lnTo>
                <a:close/>
                <a:moveTo>
                  <a:pt x="1512159" y="259039"/>
                </a:moveTo>
                <a:lnTo>
                  <a:pt x="1530860" y="265585"/>
                </a:lnTo>
                <a:lnTo>
                  <a:pt x="1456606" y="342477"/>
                </a:lnTo>
                <a:lnTo>
                  <a:pt x="1443988" y="329632"/>
                </a:lnTo>
                <a:close/>
                <a:moveTo>
                  <a:pt x="412110" y="221916"/>
                </a:moveTo>
                <a:lnTo>
                  <a:pt x="459114" y="281464"/>
                </a:lnTo>
                <a:lnTo>
                  <a:pt x="444980" y="292610"/>
                </a:lnTo>
                <a:lnTo>
                  <a:pt x="397097" y="231949"/>
                </a:lnTo>
                <a:lnTo>
                  <a:pt x="411019" y="222917"/>
                </a:lnTo>
                <a:close/>
                <a:moveTo>
                  <a:pt x="1443396" y="221678"/>
                </a:moveTo>
                <a:lnTo>
                  <a:pt x="1459286" y="230644"/>
                </a:lnTo>
                <a:lnTo>
                  <a:pt x="1406897" y="295670"/>
                </a:lnTo>
                <a:lnTo>
                  <a:pt x="1392300" y="285098"/>
                </a:lnTo>
                <a:close/>
                <a:moveTo>
                  <a:pt x="1379005" y="182170"/>
                </a:moveTo>
                <a:lnTo>
                  <a:pt x="1391896" y="192619"/>
                </a:lnTo>
                <a:lnTo>
                  <a:pt x="1393186" y="193347"/>
                </a:lnTo>
                <a:lnTo>
                  <a:pt x="1351622" y="255636"/>
                </a:lnTo>
                <a:lnTo>
                  <a:pt x="1337034" y="245070"/>
                </a:lnTo>
                <a:close/>
                <a:moveTo>
                  <a:pt x="468008" y="170577"/>
                </a:moveTo>
                <a:lnTo>
                  <a:pt x="513069" y="239589"/>
                </a:lnTo>
                <a:lnTo>
                  <a:pt x="510638" y="240828"/>
                </a:lnTo>
                <a:lnTo>
                  <a:pt x="498586" y="250333"/>
                </a:lnTo>
                <a:lnTo>
                  <a:pt x="454568" y="182920"/>
                </a:lnTo>
                <a:close/>
                <a:moveTo>
                  <a:pt x="1319759" y="134146"/>
                </a:moveTo>
                <a:lnTo>
                  <a:pt x="1333978" y="145672"/>
                </a:lnTo>
                <a:lnTo>
                  <a:pt x="1294036" y="219016"/>
                </a:lnTo>
                <a:lnTo>
                  <a:pt x="1277891" y="211027"/>
                </a:lnTo>
                <a:close/>
                <a:moveTo>
                  <a:pt x="523355" y="113305"/>
                </a:moveTo>
                <a:lnTo>
                  <a:pt x="573987" y="208530"/>
                </a:lnTo>
                <a:lnTo>
                  <a:pt x="557949" y="216707"/>
                </a:lnTo>
                <a:lnTo>
                  <a:pt x="511350" y="129068"/>
                </a:lnTo>
                <a:close/>
                <a:moveTo>
                  <a:pt x="1261668" y="77024"/>
                </a:moveTo>
                <a:lnTo>
                  <a:pt x="1274734" y="92144"/>
                </a:lnTo>
                <a:lnTo>
                  <a:pt x="1232872" y="188750"/>
                </a:lnTo>
                <a:lnTo>
                  <a:pt x="1216718" y="180757"/>
                </a:lnTo>
                <a:close/>
                <a:moveTo>
                  <a:pt x="879964" y="47539"/>
                </a:moveTo>
                <a:lnTo>
                  <a:pt x="896536" y="48415"/>
                </a:lnTo>
                <a:lnTo>
                  <a:pt x="898006" y="48246"/>
                </a:lnTo>
                <a:lnTo>
                  <a:pt x="900930" y="121496"/>
                </a:lnTo>
                <a:lnTo>
                  <a:pt x="882930" y="121839"/>
                </a:lnTo>
                <a:close/>
                <a:moveTo>
                  <a:pt x="803804" y="43511"/>
                </a:moveTo>
                <a:lnTo>
                  <a:pt x="822082" y="44478"/>
                </a:lnTo>
                <a:lnTo>
                  <a:pt x="832792" y="126618"/>
                </a:lnTo>
                <a:lnTo>
                  <a:pt x="814920" y="128774"/>
                </a:lnTo>
                <a:close/>
                <a:moveTo>
                  <a:pt x="577653" y="42008"/>
                </a:moveTo>
                <a:lnTo>
                  <a:pt x="634782" y="177534"/>
                </a:lnTo>
                <a:lnTo>
                  <a:pt x="618704" y="185731"/>
                </a:lnTo>
                <a:lnTo>
                  <a:pt x="565079" y="58518"/>
                </a:lnTo>
                <a:close/>
                <a:moveTo>
                  <a:pt x="973404" y="39567"/>
                </a:moveTo>
                <a:lnTo>
                  <a:pt x="969228" y="123258"/>
                </a:lnTo>
                <a:lnTo>
                  <a:pt x="951312" y="121130"/>
                </a:lnTo>
                <a:lnTo>
                  <a:pt x="955278" y="41654"/>
                </a:lnTo>
                <a:close/>
                <a:moveTo>
                  <a:pt x="723233" y="31443"/>
                </a:moveTo>
                <a:lnTo>
                  <a:pt x="742691" y="35995"/>
                </a:lnTo>
                <a:lnTo>
                  <a:pt x="765354" y="137622"/>
                </a:lnTo>
                <a:lnTo>
                  <a:pt x="747791" y="141567"/>
                </a:lnTo>
                <a:close/>
                <a:moveTo>
                  <a:pt x="1051847" y="25765"/>
                </a:moveTo>
                <a:lnTo>
                  <a:pt x="1037014" y="131308"/>
                </a:lnTo>
                <a:lnTo>
                  <a:pt x="1019135" y="129184"/>
                </a:lnTo>
                <a:lnTo>
                  <a:pt x="1032869" y="31462"/>
                </a:lnTo>
                <a:close/>
                <a:moveTo>
                  <a:pt x="633115" y="6990"/>
                </a:moveTo>
                <a:lnTo>
                  <a:pt x="651107" y="14566"/>
                </a:lnTo>
                <a:lnTo>
                  <a:pt x="654699" y="15406"/>
                </a:lnTo>
                <a:lnTo>
                  <a:pt x="699105" y="154429"/>
                </a:lnTo>
                <a:lnTo>
                  <a:pt x="682029" y="160125"/>
                </a:lnTo>
                <a:close/>
                <a:moveTo>
                  <a:pt x="1203134" y="4273"/>
                </a:moveTo>
                <a:lnTo>
                  <a:pt x="1213236" y="20976"/>
                </a:lnTo>
                <a:lnTo>
                  <a:pt x="1215649" y="23769"/>
                </a:lnTo>
                <a:lnTo>
                  <a:pt x="1169442" y="163605"/>
                </a:lnTo>
                <a:lnTo>
                  <a:pt x="1152188" y="158449"/>
                </a:lnTo>
                <a:close/>
                <a:moveTo>
                  <a:pt x="1137683" y="0"/>
                </a:moveTo>
                <a:lnTo>
                  <a:pt x="1104046" y="144062"/>
                </a:lnTo>
                <a:lnTo>
                  <a:pt x="1086767" y="138898"/>
                </a:lnTo>
                <a:lnTo>
                  <a:pt x="1117806" y="5966"/>
                </a:lnTo>
                <a:close/>
              </a:path>
            </a:pathLst>
          </a:custGeom>
          <a:solidFill>
            <a:srgbClr val="D5CB8F"/>
          </a:solidFill>
          <a:ln>
            <a:noFill/>
          </a:ln>
        </p:spPr>
        <p:style>
          <a:lnRef idx="2">
            <a:srgbClr val="FFCA33">
              <a:shade val="50000"/>
            </a:srgbClr>
          </a:lnRef>
          <a:fillRef idx="1">
            <a:srgbClr val="FFCA33"/>
          </a:fillRef>
          <a:effectRef idx="0">
            <a:srgbClr val="FFCA33"/>
          </a:effectRef>
          <a:fontRef idx="minor">
            <a:srgbClr val="FFFFFF"/>
          </a:fontRef>
        </p:style>
        <p:txBody>
          <a:bodyPr rtlCol="0" anchor="ctr">
            <a:normAutofit/>
          </a:bodyP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2" name="任意多边形 21"/>
          <p:cNvSpPr/>
          <p:nvPr>
            <p:custDataLst>
              <p:tags r:id="rId11"/>
            </p:custDataLst>
          </p:nvPr>
        </p:nvSpPr>
        <p:spPr>
          <a:xfrm>
            <a:off x="9160851" y="1509283"/>
            <a:ext cx="1645325" cy="1645326"/>
          </a:xfrm>
          <a:custGeom>
            <a:avLst/>
            <a:gdLst>
              <a:gd name="connsiteX0" fmla="*/ 766985 w 1487101"/>
              <a:gd name="connsiteY0" fmla="*/ 20013 h 1487102"/>
              <a:gd name="connsiteX1" fmla="*/ 620740 w 1487101"/>
              <a:gd name="connsiteY1" fmla="*/ 30273 h 1487102"/>
              <a:gd name="connsiteX2" fmla="*/ 30272 w 1487101"/>
              <a:gd name="connsiteY2" fmla="*/ 866362 h 1487102"/>
              <a:gd name="connsiteX3" fmla="*/ 866362 w 1487101"/>
              <a:gd name="connsiteY3" fmla="*/ 1456830 h 1487102"/>
              <a:gd name="connsiteX4" fmla="*/ 1456829 w 1487101"/>
              <a:gd name="connsiteY4" fmla="*/ 620740 h 1487102"/>
              <a:gd name="connsiteX5" fmla="*/ 766985 w 1487101"/>
              <a:gd name="connsiteY5" fmla="*/ 20013 h 1487102"/>
              <a:gd name="connsiteX6" fmla="*/ 767622 w 1487101"/>
              <a:gd name="connsiteY6" fmla="*/ 364 h 1487102"/>
              <a:gd name="connsiteX7" fmla="*/ 1476200 w 1487101"/>
              <a:gd name="connsiteY7" fmla="*/ 617405 h 1487102"/>
              <a:gd name="connsiteX8" fmla="*/ 869697 w 1487101"/>
              <a:gd name="connsiteY8" fmla="*/ 1476201 h 1487102"/>
              <a:gd name="connsiteX9" fmla="*/ 10901 w 1487101"/>
              <a:gd name="connsiteY9" fmla="*/ 869698 h 1487102"/>
              <a:gd name="connsiteX10" fmla="*/ 617404 w 1487101"/>
              <a:gd name="connsiteY10" fmla="*/ 10902 h 1487102"/>
              <a:gd name="connsiteX11" fmla="*/ 767622 w 1487101"/>
              <a:gd name="connsiteY11" fmla="*/ 364 h 148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7101" h="1487102">
                <a:moveTo>
                  <a:pt x="766985" y="20013"/>
                </a:moveTo>
                <a:cubicBezTo>
                  <a:pt x="718916" y="18506"/>
                  <a:pt x="669981" y="21794"/>
                  <a:pt x="620740" y="30273"/>
                </a:cubicBezTo>
                <a:cubicBezTo>
                  <a:pt x="226807" y="98099"/>
                  <a:pt x="-37554" y="472430"/>
                  <a:pt x="30272" y="866362"/>
                </a:cubicBezTo>
                <a:cubicBezTo>
                  <a:pt x="98099" y="1260295"/>
                  <a:pt x="472430" y="1524656"/>
                  <a:pt x="866362" y="1456830"/>
                </a:cubicBezTo>
                <a:cubicBezTo>
                  <a:pt x="1260295" y="1389003"/>
                  <a:pt x="1524656" y="1014672"/>
                  <a:pt x="1456829" y="620740"/>
                </a:cubicBezTo>
                <a:cubicBezTo>
                  <a:pt x="1397481" y="276049"/>
                  <a:pt x="1103466" y="30561"/>
                  <a:pt x="766985" y="20013"/>
                </a:cubicBezTo>
                <a:close/>
                <a:moveTo>
                  <a:pt x="767622" y="364"/>
                </a:moveTo>
                <a:cubicBezTo>
                  <a:pt x="1113240" y="11198"/>
                  <a:pt x="1415240" y="263352"/>
                  <a:pt x="1476200" y="617405"/>
                </a:cubicBezTo>
                <a:cubicBezTo>
                  <a:pt x="1545869" y="1022036"/>
                  <a:pt x="1274328" y="1406532"/>
                  <a:pt x="869697" y="1476201"/>
                </a:cubicBezTo>
                <a:cubicBezTo>
                  <a:pt x="465066" y="1545869"/>
                  <a:pt x="80570" y="1274329"/>
                  <a:pt x="10901" y="869698"/>
                </a:cubicBezTo>
                <a:cubicBezTo>
                  <a:pt x="-58767" y="465067"/>
                  <a:pt x="212773" y="80570"/>
                  <a:pt x="617404" y="10902"/>
                </a:cubicBezTo>
                <a:cubicBezTo>
                  <a:pt x="667983" y="2193"/>
                  <a:pt x="718248" y="-1184"/>
                  <a:pt x="767622" y="364"/>
                </a:cubicBezTo>
                <a:close/>
              </a:path>
            </a:pathLst>
          </a:custGeom>
          <a:solidFill>
            <a:srgbClr val="D5CB8F"/>
          </a:solidFill>
          <a:ln>
            <a:noFill/>
          </a:ln>
        </p:spPr>
        <p:style>
          <a:lnRef idx="2">
            <a:srgbClr val="FFCA33">
              <a:shade val="50000"/>
            </a:srgbClr>
          </a:lnRef>
          <a:fillRef idx="1">
            <a:srgbClr val="FFCA33"/>
          </a:fillRef>
          <a:effectRef idx="0">
            <a:srgbClr val="FFCA33"/>
          </a:effectRef>
          <a:fontRef idx="minor">
            <a:srgbClr val="FFFFFF"/>
          </a:fontRef>
        </p:style>
        <p:txBody>
          <a:bodyPr rtlCol="0" anchor="ctr">
            <a:normAutofit/>
          </a:bodyPr>
          <a:lstStyle/>
          <a:p>
            <a:pPr algn="ctr"/>
            <a:endParaRPr lang="en-US" altLang="zh-CN" dirty="0">
              <a:solidFill>
                <a:srgbClr val="FFCA33"/>
              </a:solidFill>
              <a:latin typeface="Arial" panose="020B0604020202020204" pitchFamily="34" charset="0"/>
              <a:ea typeface="微软雅黑" panose="020B0503020204020204" charset="-122"/>
              <a:sym typeface="Arial" panose="020B0604020202020204" pitchFamily="34" charset="0"/>
            </a:endParaRPr>
          </a:p>
        </p:txBody>
      </p:sp>
      <p:sp>
        <p:nvSpPr>
          <p:cNvPr id="23" name="任意多边形 22"/>
          <p:cNvSpPr/>
          <p:nvPr>
            <p:custDataLst>
              <p:tags r:id="rId12"/>
            </p:custDataLst>
          </p:nvPr>
        </p:nvSpPr>
        <p:spPr>
          <a:xfrm>
            <a:off x="9395281" y="1509283"/>
            <a:ext cx="1176466" cy="248856"/>
          </a:xfrm>
          <a:custGeom>
            <a:avLst/>
            <a:gdLst>
              <a:gd name="connsiteX0" fmla="*/ 650988 w 1301976"/>
              <a:gd name="connsiteY0" fmla="*/ 0 h 275406"/>
              <a:gd name="connsiteX1" fmla="*/ 1294759 w 1301976"/>
              <a:gd name="connsiteY1" fmla="*/ 266659 h 275406"/>
              <a:gd name="connsiteX2" fmla="*/ 1301976 w 1301976"/>
              <a:gd name="connsiteY2" fmla="*/ 275406 h 275406"/>
              <a:gd name="connsiteX3" fmla="*/ 0 w 1301976"/>
              <a:gd name="connsiteY3" fmla="*/ 275406 h 275406"/>
              <a:gd name="connsiteX4" fmla="*/ 7218 w 1301976"/>
              <a:gd name="connsiteY4" fmla="*/ 266659 h 275406"/>
              <a:gd name="connsiteX5" fmla="*/ 650988 w 1301976"/>
              <a:gd name="connsiteY5" fmla="*/ 0 h 275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1976" h="275406">
                <a:moveTo>
                  <a:pt x="650988" y="0"/>
                </a:moveTo>
                <a:cubicBezTo>
                  <a:pt x="902396" y="0"/>
                  <a:pt x="1130003" y="101903"/>
                  <a:pt x="1294759" y="266659"/>
                </a:cubicBezTo>
                <a:lnTo>
                  <a:pt x="1301976" y="275406"/>
                </a:lnTo>
                <a:lnTo>
                  <a:pt x="0" y="275406"/>
                </a:lnTo>
                <a:lnTo>
                  <a:pt x="7218" y="266659"/>
                </a:lnTo>
                <a:cubicBezTo>
                  <a:pt x="171973" y="101903"/>
                  <a:pt x="399580" y="0"/>
                  <a:pt x="650988" y="0"/>
                </a:cubicBezTo>
                <a:close/>
              </a:path>
            </a:pathLst>
          </a:custGeom>
          <a:solidFill>
            <a:srgbClr val="D5CB8F"/>
          </a:solidFill>
          <a:ln>
            <a:noFill/>
          </a:ln>
        </p:spPr>
        <p:style>
          <a:lnRef idx="2">
            <a:srgbClr val="FFCA33">
              <a:shade val="50000"/>
            </a:srgbClr>
          </a:lnRef>
          <a:fillRef idx="1">
            <a:srgbClr val="FFCA33"/>
          </a:fillRef>
          <a:effectRef idx="0">
            <a:srgbClr val="FFCA33"/>
          </a:effectRef>
          <a:fontRef idx="minor">
            <a:srgbClr val="FFFFFF"/>
          </a:fontRef>
        </p:style>
        <p:txBody>
          <a:bodyPr wrap="square" rtlCol="0" anchor="ctr">
            <a:normAutofit fontScale="72500" lnSpcReduction="20000"/>
          </a:bodyPr>
          <a:lstStyle/>
          <a:p>
            <a:pPr algn="ctr"/>
            <a:r>
              <a:rPr lang="en-US" altLang="zh-CN" sz="1600" dirty="0">
                <a:solidFill>
                  <a:srgbClr val="FFFFFF"/>
                </a:solidFill>
                <a:latin typeface="Arial" panose="020B0604020202020204" pitchFamily="34" charset="0"/>
                <a:ea typeface="微软雅黑" panose="020B0503020204020204" charset="-122"/>
                <a:sym typeface="Arial" panose="020B0604020202020204" pitchFamily="34" charset="0"/>
              </a:rPr>
              <a:t>03</a:t>
            </a:r>
            <a:endParaRPr lang="zh-CN" altLang="en-US" sz="16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58" name="文本框 57"/>
          <p:cNvSpPr txBox="1"/>
          <p:nvPr>
            <p:custDataLst>
              <p:tags r:id="rId13"/>
            </p:custDataLst>
          </p:nvPr>
        </p:nvSpPr>
        <p:spPr>
          <a:xfrm>
            <a:off x="9204957" y="1816604"/>
            <a:ext cx="1557112" cy="1030606"/>
          </a:xfrm>
          <a:prstGeom prst="rect">
            <a:avLst/>
          </a:prstGeom>
          <a:noFill/>
        </p:spPr>
        <p:txBody>
          <a:bodyPr wrap="square" rtlCol="0" anchor="ctr" anchorCtr="0">
            <a:noAutofit/>
          </a:bodyPr>
          <a:lstStyle/>
          <a:p>
            <a:pPr algn="ctr">
              <a:lnSpc>
                <a:spcPct val="120000"/>
              </a:lnSpc>
            </a:pPr>
            <a:r>
              <a:rPr lang="zh-CN" altLang="en-US" sz="3200" b="1" kern="0" spc="300" dirty="0">
                <a:solidFill>
                  <a:srgbClr val="D5CB8F">
                    <a:lumMod val="75000"/>
                  </a:srgbClr>
                </a:solidFill>
              </a:rPr>
              <a:t>美国</a:t>
            </a:r>
            <a:endParaRPr sz="3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2068830" cy="306705"/>
          </a:xfrm>
          <a:prstGeom prst="rect">
            <a:avLst/>
          </a:prstGeom>
        </p:spPr>
        <p:txBody>
          <a:bodyPr wrap="none">
            <a:spAutoFit/>
          </a:bodyPr>
          <a:lstStyle/>
          <a:p>
            <a:pPr algn="l"/>
            <a:r>
              <a:rPr lang="zh-CN" altLang="en-US" sz="1400" b="1" dirty="0"/>
              <a:t>PART THREE 方法实现</a:t>
            </a:r>
            <a:endParaRPr lang="zh-CN" altLang="en-US" sz="1400" b="1" dirty="0"/>
          </a:p>
        </p:txBody>
      </p:sp>
      <p:sp>
        <p:nvSpPr>
          <p:cNvPr id="3" name="椭圆 2"/>
          <p:cNvSpPr/>
          <p:nvPr/>
        </p:nvSpPr>
        <p:spPr>
          <a:xfrm>
            <a:off x="1953525" y="157740"/>
            <a:ext cx="130917" cy="113341"/>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grpSp>
        <p:nvGrpSpPr>
          <p:cNvPr id="11" name="组合 10"/>
          <p:cNvGrpSpPr/>
          <p:nvPr/>
        </p:nvGrpSpPr>
        <p:grpSpPr>
          <a:xfrm>
            <a:off x="3561639" y="5435820"/>
            <a:ext cx="2300757" cy="509896"/>
            <a:chOff x="888096" y="1000203"/>
            <a:chExt cx="4259825" cy="944066"/>
          </a:xfrm>
        </p:grpSpPr>
        <p:sp>
          <p:nvSpPr>
            <p:cNvPr id="12" name="矩形 11"/>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椭圆 12"/>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椭圆 13"/>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椭圆 14"/>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椭圆 15"/>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7" name="矩形 16"/>
          <p:cNvSpPr/>
          <p:nvPr/>
        </p:nvSpPr>
        <p:spPr>
          <a:xfrm>
            <a:off x="4049125" y="5506618"/>
            <a:ext cx="1325880" cy="368300"/>
          </a:xfrm>
          <a:prstGeom prst="rect">
            <a:avLst/>
          </a:prstGeom>
        </p:spPr>
        <p:txBody>
          <a:bodyPr wrap="none">
            <a:spAutoFit/>
          </a:bodyPr>
          <a:lstStyle/>
          <a:p>
            <a:r>
              <a:rPr lang="zh-CN" altLang="en-US" dirty="0">
                <a:solidFill>
                  <a:schemeClr val="tx1"/>
                </a:solidFill>
              </a:rPr>
              <a:t>原始数据表</a:t>
            </a:r>
            <a:endParaRPr lang="zh-CN" altLang="en-US" dirty="0">
              <a:solidFill>
                <a:schemeClr val="tx1"/>
              </a:solidFill>
            </a:endParaRPr>
          </a:p>
        </p:txBody>
      </p:sp>
      <p:sp>
        <p:nvSpPr>
          <p:cNvPr id="18" name="矩形 17"/>
          <p:cNvSpPr/>
          <p:nvPr/>
        </p:nvSpPr>
        <p:spPr>
          <a:xfrm>
            <a:off x="959621" y="5929205"/>
            <a:ext cx="7193779" cy="650240"/>
          </a:xfrm>
          <a:prstGeom prst="rect">
            <a:avLst/>
          </a:prstGeom>
        </p:spPr>
        <p:txBody>
          <a:bodyPr wrap="square">
            <a:spAutoFit/>
          </a:bodyPr>
          <a:lstStyle/>
          <a:p>
            <a:pPr>
              <a:lnSpc>
                <a:spcPct val="130000"/>
              </a:lnSpc>
            </a:pPr>
            <a:r>
              <a:rPr lang="zh-CN" altLang="en-US" sz="1400" dirty="0">
                <a:solidFill>
                  <a:schemeClr val="bg1">
                    <a:lumMod val="50000"/>
                  </a:schemeClr>
                </a:solidFill>
                <a:latin typeface="微软雅黑" panose="020B0503020204020204" charset="-122"/>
                <a:ea typeface="微软雅黑" panose="020B0503020204020204" charset="-122"/>
              </a:rPr>
              <a:t>数据来源：</a:t>
            </a:r>
            <a:r>
              <a:rPr lang="en-US" altLang="zh-CN" sz="1400" dirty="0">
                <a:solidFill>
                  <a:schemeClr val="bg1">
                    <a:lumMod val="50000"/>
                  </a:schemeClr>
                </a:solidFill>
                <a:latin typeface="微软雅黑" panose="020B0503020204020204" charset="-122"/>
                <a:ea typeface="微软雅黑" panose="020B0503020204020204" charset="-122"/>
              </a:rPr>
              <a:t>2023</a:t>
            </a:r>
            <a:r>
              <a:rPr lang="zh-CN" altLang="en-US" sz="1400" dirty="0">
                <a:solidFill>
                  <a:schemeClr val="bg1">
                    <a:lumMod val="50000"/>
                  </a:schemeClr>
                </a:solidFill>
                <a:latin typeface="微软雅黑" panose="020B0503020204020204" charset="-122"/>
                <a:ea typeface="微软雅黑" panose="020B0503020204020204" charset="-122"/>
              </a:rPr>
              <a:t>年泰晤士大学排名；2023-2024QS世界大学排名(QS World University Rankings)；incopat数据库等。</a:t>
            </a:r>
            <a:endParaRPr lang="zh-CN" altLang="en-US" sz="1400" dirty="0">
              <a:solidFill>
                <a:schemeClr val="bg1">
                  <a:lumMod val="50000"/>
                </a:schemeClr>
              </a:solidFill>
              <a:latin typeface="微软雅黑" panose="020B0503020204020204" charset="-122"/>
              <a:ea typeface="微软雅黑" panose="020B0503020204020204" charset="-122"/>
            </a:endParaRPr>
          </a:p>
        </p:txBody>
      </p:sp>
      <p:pic>
        <p:nvPicPr>
          <p:cNvPr id="4" name="图片 3" descr="upload_post_object_v2_3437408190"/>
          <p:cNvPicPr>
            <a:picLocks noChangeAspect="1"/>
          </p:cNvPicPr>
          <p:nvPr/>
        </p:nvPicPr>
        <p:blipFill>
          <a:blip r:embed="rId1"/>
          <a:srcRect l="10408" t="-204" r="15212" b="204"/>
          <a:stretch>
            <a:fillRect/>
          </a:stretch>
        </p:blipFill>
        <p:spPr>
          <a:xfrm>
            <a:off x="1364192" y="349663"/>
            <a:ext cx="6695640" cy="5051965"/>
          </a:xfrm>
          <a:prstGeom prst="rect">
            <a:avLst/>
          </a:prstGeom>
          <a:ln w="0">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userDrawn="1"/>
        </p:nvSpPr>
        <p:spPr>
          <a:xfrm>
            <a:off x="7303380" y="4076456"/>
            <a:ext cx="2903879" cy="1770578"/>
          </a:xfrm>
          <a:prstGeom prst="roundRect">
            <a:avLst/>
          </a:prstGeom>
          <a:solidFill>
            <a:srgbClr val="FFF2CC">
              <a:alpha val="100000"/>
            </a:srgbClr>
          </a:solidFill>
          <a:ln w="12700" cap="flat" cmpd="sng" algn="ctr">
            <a:solidFill>
              <a:srgbClr val="ED7D31">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57" name="圆角矩形 56"/>
          <p:cNvSpPr/>
          <p:nvPr userDrawn="1"/>
        </p:nvSpPr>
        <p:spPr>
          <a:xfrm>
            <a:off x="2534279" y="4194697"/>
            <a:ext cx="2812039" cy="1770578"/>
          </a:xfrm>
          <a:prstGeom prst="roundRect">
            <a:avLst/>
          </a:prstGeom>
          <a:solidFill>
            <a:srgbClr val="FFF2CC">
              <a:alpha val="100000"/>
            </a:srgbClr>
          </a:solidFill>
          <a:ln w="12700" cap="flat" cmpd="sng" algn="ctr">
            <a:solidFill>
              <a:srgbClr val="ED7D31">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45" name="圆角矩形 44"/>
          <p:cNvSpPr/>
          <p:nvPr userDrawn="1"/>
        </p:nvSpPr>
        <p:spPr>
          <a:xfrm>
            <a:off x="5109657" y="1002429"/>
            <a:ext cx="3225321" cy="1770578"/>
          </a:xfrm>
          <a:prstGeom prst="roundRect">
            <a:avLst/>
          </a:prstGeom>
          <a:solidFill>
            <a:srgbClr val="FFF2CC">
              <a:alpha val="100000"/>
            </a:srgbClr>
          </a:solidFill>
          <a:ln w="12700" cap="flat" cmpd="sng" algn="ctr">
            <a:solidFill>
              <a:srgbClr val="ED7D31">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44" name="圆角矩形 43"/>
          <p:cNvSpPr/>
          <p:nvPr userDrawn="1"/>
        </p:nvSpPr>
        <p:spPr>
          <a:xfrm>
            <a:off x="1056165" y="996354"/>
            <a:ext cx="2812039" cy="1770578"/>
          </a:xfrm>
          <a:prstGeom prst="roundRect">
            <a:avLst/>
          </a:prstGeom>
          <a:solidFill>
            <a:srgbClr val="FFF2CC">
              <a:alpha val="100000"/>
            </a:srgbClr>
          </a:solidFill>
          <a:ln w="12700" cap="flat" cmpd="sng" algn="ctr">
            <a:solidFill>
              <a:srgbClr val="ED7D31">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 name="矩形 1"/>
          <p:cNvSpPr/>
          <p:nvPr/>
        </p:nvSpPr>
        <p:spPr>
          <a:xfrm>
            <a:off x="0" y="60523"/>
            <a:ext cx="2068830" cy="306705"/>
          </a:xfrm>
          <a:prstGeom prst="rect">
            <a:avLst/>
          </a:prstGeom>
        </p:spPr>
        <p:txBody>
          <a:bodyPr wrap="none">
            <a:spAutoFit/>
          </a:bodyPr>
          <a:lstStyle/>
          <a:p>
            <a:pPr algn="l"/>
            <a:r>
              <a:rPr lang="zh-CN" altLang="en-US" sz="1400" b="1" dirty="0"/>
              <a:t>PART THREE 方法实现</a:t>
            </a:r>
            <a:endParaRPr lang="zh-CN" altLang="en-US" sz="1400" b="1" dirty="0"/>
          </a:p>
        </p:txBody>
      </p:sp>
      <p:sp>
        <p:nvSpPr>
          <p:cNvPr id="3" name="椭圆 2"/>
          <p:cNvSpPr/>
          <p:nvPr/>
        </p:nvSpPr>
        <p:spPr>
          <a:xfrm>
            <a:off x="1943304" y="157740"/>
            <a:ext cx="125540" cy="133783"/>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grpSp>
        <p:nvGrpSpPr>
          <p:cNvPr id="22" name="组合 21"/>
          <p:cNvGrpSpPr/>
          <p:nvPr/>
        </p:nvGrpSpPr>
        <p:grpSpPr>
          <a:xfrm>
            <a:off x="-211666" y="2970613"/>
            <a:ext cx="12778491" cy="912541"/>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等腰三角形 16"/>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椭圆 22"/>
          <p:cNvSpPr/>
          <p:nvPr/>
        </p:nvSpPr>
        <p:spPr>
          <a:xfrm flipH="1">
            <a:off x="258956" y="291304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flipH="1">
            <a:off x="787152" y="3823548"/>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flipH="1">
            <a:off x="13208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flipH="1">
            <a:off x="23876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flipH="1">
            <a:off x="34544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flipH="1">
            <a:off x="45212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flipH="1">
            <a:off x="55880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flipH="1">
            <a:off x="66548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flipH="1">
            <a:off x="77216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flipH="1">
            <a:off x="87884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flipH="1">
            <a:off x="98552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flipH="1">
            <a:off x="109220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flipH="1">
            <a:off x="11988800" y="29083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flipH="1">
            <a:off x="18542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flipH="1">
            <a:off x="29210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flipH="1">
            <a:off x="39878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flipH="1">
            <a:off x="50546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flipH="1">
            <a:off x="61214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flipH="1">
            <a:off x="71882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flipH="1">
            <a:off x="82550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flipH="1">
            <a:off x="93218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flipH="1">
            <a:off x="103886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flipH="1">
            <a:off x="11455400" y="3822700"/>
            <a:ext cx="115146" cy="1151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8343900" y="2732405"/>
            <a:ext cx="57150" cy="4064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9" name="矩形 98"/>
          <p:cNvSpPr/>
          <p:nvPr/>
        </p:nvSpPr>
        <p:spPr>
          <a:xfrm>
            <a:off x="1065718" y="1840090"/>
            <a:ext cx="2802486" cy="909005"/>
          </a:xfrm>
          <a:prstGeom prst="rect">
            <a:avLst/>
          </a:prstGeom>
        </p:spPr>
        <p:txBody>
          <a:bodyPr wrap="square">
            <a:noAutofit/>
          </a:bodyPr>
          <a:lstStyle/>
          <a:p>
            <a:pPr lvl="0">
              <a:lnSpc>
                <a:spcPct val="130000"/>
              </a:lnSpc>
            </a:pPr>
            <a:r>
              <a:rPr lang="zh-CN" altLang="en-US" sz="1400" dirty="0">
                <a:solidFill>
                  <a:srgbClr val="000000"/>
                </a:solidFill>
                <a:latin typeface="宋体" panose="02010600030101010101" pitchFamily="2" charset="-122"/>
                <a:ea typeface="宋体" panose="02010600030101010101" pitchFamily="2" charset="-122"/>
                <a:cs typeface="宋体" panose="02010600030101010101" pitchFamily="2" charset="-122"/>
              </a:rPr>
              <a:t> </a:t>
            </a:r>
            <a:r>
              <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rPr>
              <a:t>标准化处理：去除量纲以及数据尺度范围的影响</a:t>
            </a:r>
            <a:endPar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107" name="矩形 106"/>
          <p:cNvSpPr/>
          <p:nvPr/>
        </p:nvSpPr>
        <p:spPr>
          <a:xfrm>
            <a:off x="2649615" y="5193176"/>
            <a:ext cx="2569217" cy="410725"/>
          </a:xfrm>
          <a:prstGeom prst="rect">
            <a:avLst/>
          </a:prstGeom>
        </p:spPr>
        <p:txBody>
          <a:bodyPr wrap="square">
            <a:noAutofit/>
          </a:bodyPr>
          <a:lstStyle/>
          <a:p>
            <a:pPr lvl="0">
              <a:lnSpc>
                <a:spcPct val="130000"/>
              </a:lnSpc>
            </a:pPr>
            <a:r>
              <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rPr>
              <a:t>得到该指标的差异度指数</a:t>
            </a:r>
            <a:endPar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pic>
        <p:nvPicPr>
          <p:cNvPr id="100" name="图片 99"/>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
        <p:nvSpPr>
          <p:cNvPr id="4" name="文本框 3"/>
          <p:cNvSpPr txBox="1"/>
          <p:nvPr/>
        </p:nvSpPr>
        <p:spPr>
          <a:xfrm>
            <a:off x="3581400" y="369162"/>
            <a:ext cx="4140245" cy="369570"/>
          </a:xfrm>
          <a:prstGeom prst="rect">
            <a:avLst/>
          </a:prstGeom>
          <a:noFill/>
        </p:spPr>
        <p:txBody>
          <a:bodyPr wrap="square" rtlCol="0" anchor="t">
            <a:noAutofit/>
          </a:bodyPr>
          <a:lstStyle/>
          <a:p>
            <a:r>
              <a:rPr lang="zh-CN" altLang="en-US" sz="2400">
                <a:latin typeface="楷体" panose="02010609060101010101" charset="-122"/>
                <a:ea typeface="楷体" panose="02010609060101010101" charset="-122"/>
                <a:cs typeface="楷体" panose="02010609060101010101" charset="-122"/>
              </a:rPr>
              <a:t> </a:t>
            </a:r>
            <a:r>
              <a:rPr lang="en-US" altLang="zh-CN" sz="2400">
                <a:latin typeface="楷体" panose="02010609060101010101" charset="-122"/>
                <a:ea typeface="楷体" panose="02010609060101010101" charset="-122"/>
                <a:cs typeface="楷体" panose="02010609060101010101" charset="-122"/>
              </a:rPr>
              <a:t>1.</a:t>
            </a:r>
            <a:r>
              <a:rPr lang="zh-CN" altLang="en-US" sz="2400" b="1">
                <a:latin typeface="楷体" panose="02010609060101010101" charset="-122"/>
                <a:ea typeface="楷体" panose="02010609060101010101" charset="-122"/>
                <a:cs typeface="楷体" panose="02010609060101010101" charset="-122"/>
              </a:rPr>
              <a:t>熵权TOPSIS处理二级指标</a:t>
            </a:r>
            <a:endParaRPr lang="zh-CN" altLang="en-US" sz="2400" b="1">
              <a:latin typeface="楷体" panose="02010609060101010101" charset="-122"/>
              <a:ea typeface="楷体" panose="02010609060101010101" charset="-122"/>
              <a:cs typeface="楷体" panose="02010609060101010101" charset="-122"/>
            </a:endParaRPr>
          </a:p>
        </p:txBody>
      </p:sp>
      <p:pic>
        <p:nvPicPr>
          <p:cNvPr id="19" name="图片 18" descr="C:/Users/Administrator/Desktop/图片1.png图片1"/>
          <p:cNvPicPr>
            <a:picLocks noChangeAspect="1"/>
          </p:cNvPicPr>
          <p:nvPr/>
        </p:nvPicPr>
        <p:blipFill>
          <a:blip r:embed="rId2"/>
          <a:srcRect t="7291" b="7291"/>
          <a:stretch>
            <a:fillRect/>
          </a:stretch>
        </p:blipFill>
        <p:spPr>
          <a:xfrm>
            <a:off x="1435925" y="1138247"/>
            <a:ext cx="1749243" cy="638719"/>
          </a:xfrm>
          <a:prstGeom prst="rect">
            <a:avLst/>
          </a:prstGeom>
        </p:spPr>
      </p:pic>
      <p:pic>
        <p:nvPicPr>
          <p:cNvPr id="21" name="图片 20" descr="C:/Users/Administrator/Desktop/图片3.png图片3"/>
          <p:cNvPicPr>
            <a:picLocks noChangeAspect="1"/>
          </p:cNvPicPr>
          <p:nvPr/>
        </p:nvPicPr>
        <p:blipFill>
          <a:blip r:embed="rId3"/>
          <a:srcRect l="357" r="357"/>
          <a:stretch>
            <a:fillRect/>
          </a:stretch>
        </p:blipFill>
        <p:spPr>
          <a:xfrm>
            <a:off x="5218880" y="1341022"/>
            <a:ext cx="2987149" cy="487347"/>
          </a:xfrm>
          <a:prstGeom prst="rect">
            <a:avLst/>
          </a:prstGeom>
        </p:spPr>
      </p:pic>
      <p:sp>
        <p:nvSpPr>
          <p:cNvPr id="38" name="文本框 37"/>
          <p:cNvSpPr txBox="1"/>
          <p:nvPr userDrawn="1"/>
        </p:nvSpPr>
        <p:spPr>
          <a:xfrm>
            <a:off x="5360935" y="2013818"/>
            <a:ext cx="2519680" cy="410845"/>
          </a:xfrm>
          <a:prstGeom prst="rect">
            <a:avLst/>
          </a:prstGeom>
        </p:spPr>
        <p:txBody>
          <a:bodyPr wrap="none" rtlCol="0">
            <a:spAutoFit/>
          </a:bodyPr>
          <a:lstStyle/>
          <a:p>
            <a:pPr marL="0" lvl="0" indent="0" algn="l" defTabSz="0" rtl="0" eaLnBrk="1" latinLnBrk="0" hangingPunct="1">
              <a:lnSpc>
                <a:spcPct val="130000"/>
              </a:lnSpc>
              <a:spcBef>
                <a:spcPct val="0"/>
              </a:spcBef>
              <a:spcAft>
                <a:spcPct val="0"/>
              </a:spcAft>
              <a:buNone/>
            </a:pPr>
            <a:r>
              <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rPr>
              <a:t>熵值法处理：计算信息熵e</a:t>
            </a:r>
            <a:endPar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pic>
        <p:nvPicPr>
          <p:cNvPr id="40" name="图片 39" descr="C:/Users/Administrator/Desktop/图片2.png图片2"/>
          <p:cNvPicPr>
            <a:picLocks noChangeAspect="1"/>
          </p:cNvPicPr>
          <p:nvPr/>
        </p:nvPicPr>
        <p:blipFill>
          <a:blip r:embed="rId4"/>
          <a:srcRect t="4" b="4"/>
          <a:stretch>
            <a:fillRect/>
          </a:stretch>
        </p:blipFill>
        <p:spPr>
          <a:xfrm>
            <a:off x="3257261" y="4454156"/>
            <a:ext cx="1365992" cy="533070"/>
          </a:xfrm>
          <a:prstGeom prst="rect">
            <a:avLst/>
          </a:prstGeom>
        </p:spPr>
      </p:pic>
      <p:pic>
        <p:nvPicPr>
          <p:cNvPr id="41" name="图片 40" descr="C:/Users/Administrator/Desktop/图片4.png图片4"/>
          <p:cNvPicPr>
            <a:picLocks noChangeAspect="1"/>
          </p:cNvPicPr>
          <p:nvPr/>
        </p:nvPicPr>
        <p:blipFill>
          <a:blip r:embed="rId5"/>
          <a:srcRect l="3351" r="3351"/>
          <a:stretch>
            <a:fillRect/>
          </a:stretch>
        </p:blipFill>
        <p:spPr>
          <a:xfrm>
            <a:off x="7393774" y="4194708"/>
            <a:ext cx="2661761" cy="712602"/>
          </a:xfrm>
          <a:prstGeom prst="rect">
            <a:avLst/>
          </a:prstGeom>
        </p:spPr>
      </p:pic>
      <p:sp>
        <p:nvSpPr>
          <p:cNvPr id="42" name="文本框 41"/>
          <p:cNvSpPr txBox="1"/>
          <p:nvPr userDrawn="1"/>
        </p:nvSpPr>
        <p:spPr>
          <a:xfrm>
            <a:off x="7552231" y="5193232"/>
            <a:ext cx="2418080" cy="337185"/>
          </a:xfrm>
          <a:prstGeom prst="rect">
            <a:avLst/>
          </a:prstGeom>
        </p:spPr>
        <p:txBody>
          <a:bodyPr wrap="none" rtlCol="0">
            <a:spAutoFit/>
          </a:bodyPr>
          <a:lstStyle/>
          <a:p>
            <a:pPr marL="0" lvl="0" indent="0" algn="l" defTabSz="0" rtl="0" eaLnBrk="1" latinLnBrk="0" hangingPunct="1">
              <a:lnSpc>
                <a:spcPct val="130000"/>
              </a:lnSpc>
              <a:spcBef>
                <a:spcPct val="0"/>
              </a:spcBef>
              <a:spcAft>
                <a:spcPct val="0"/>
              </a:spcAft>
              <a:buNone/>
            </a:pPr>
            <a:r>
              <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rPr>
              <a:t>得到二级指标的对应权重</a:t>
            </a:r>
            <a:endParaRPr lang="zh-CN" altLang="en-US" sz="1600" dirty="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9"/>
                                        </p:tgtEl>
                                        <p:attrNameLst>
                                          <p:attrName>style.visibility</p:attrName>
                                        </p:attrNameLst>
                                      </p:cBhvr>
                                      <p:to>
                                        <p:strVal val="visible"/>
                                      </p:to>
                                    </p:set>
                                    <p:animEffect transition="in" filter="wipe(down)">
                                      <p:cBhvr>
                                        <p:cTn id="10" dur="500"/>
                                        <p:tgtEl>
                                          <p:spTgt spid="99"/>
                                        </p:tgtEl>
                                      </p:cBhvr>
                                    </p:animEffect>
                                  </p:childTnLst>
                                </p:cTn>
                              </p:par>
                              <p:par>
                                <p:cTn id="11" presetID="22" presetClass="entr" presetSubtype="4"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down)">
                                      <p:cBhvr>
                                        <p:cTn id="16" dur="500"/>
                                        <p:tgtEl>
                                          <p:spTgt spid="38"/>
                                        </p:tgtEl>
                                      </p:cBhvr>
                                    </p:animEffect>
                                  </p:childTnLst>
                                </p:cTn>
                              </p:par>
                              <p:par>
                                <p:cTn id="17" presetID="22" presetClass="entr" presetSubtype="4"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down)">
                                      <p:cBhvr>
                                        <p:cTn id="19" dur="500"/>
                                        <p:tgtEl>
                                          <p:spTgt spid="4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wipe(down)">
                                      <p:cBhvr>
                                        <p:cTn id="22" dur="500"/>
                                        <p:tgtEl>
                                          <p:spTgt spid="107"/>
                                        </p:tgtEl>
                                      </p:cBhvr>
                                    </p:animEffect>
                                  </p:childTnLst>
                                </p:cTn>
                              </p:par>
                              <p:par>
                                <p:cTn id="23" presetID="22" presetClass="entr" presetSubtype="4"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down)">
                                      <p:cBhvr>
                                        <p:cTn id="25" dur="500"/>
                                        <p:tgtEl>
                                          <p:spTgt spid="4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wipe(down)">
                                      <p:cBhvr>
                                        <p:cTn id="2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7" grpId="0"/>
      <p:bldP spid="38" grpId="0"/>
      <p:bldP spid="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2001125" cy="307777"/>
          </a:xfrm>
          <a:prstGeom prst="rect">
            <a:avLst/>
          </a:prstGeom>
        </p:spPr>
        <p:txBody>
          <a:bodyPr wrap="none">
            <a:spAutoFit/>
          </a:bodyPr>
          <a:lstStyle/>
          <a:p>
            <a:r>
              <a:rPr lang="en-US" altLang="zh-CN" sz="1400" b="1" dirty="0"/>
              <a:t>PART THREE </a:t>
            </a:r>
            <a:r>
              <a:rPr lang="zh-CN" altLang="en-US" sz="1400" b="1" dirty="0"/>
              <a:t>研究方法</a:t>
            </a:r>
            <a:endParaRPr lang="zh-CN" altLang="en-US" sz="1400" b="1" dirty="0"/>
          </a:p>
        </p:txBody>
      </p:sp>
      <p:sp>
        <p:nvSpPr>
          <p:cNvPr id="3" name="椭圆 2"/>
          <p:cNvSpPr/>
          <p:nvPr/>
        </p:nvSpPr>
        <p:spPr>
          <a:xfrm>
            <a:off x="1953525" y="157740"/>
            <a:ext cx="130917" cy="113341"/>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sp>
        <p:nvSpPr>
          <p:cNvPr id="12" name="矩形 11"/>
          <p:cNvSpPr/>
          <p:nvPr/>
        </p:nvSpPr>
        <p:spPr>
          <a:xfrm>
            <a:off x="698016" y="580617"/>
            <a:ext cx="1097280" cy="368300"/>
          </a:xfrm>
          <a:prstGeom prst="rect">
            <a:avLst/>
          </a:prstGeom>
        </p:spPr>
        <p:txBody>
          <a:bodyPr wrap="none">
            <a:spAutoFit/>
          </a:bodyPr>
          <a:lstStyle/>
          <a:p>
            <a:r>
              <a:rPr lang="zh-CN" altLang="en-US" dirty="0"/>
              <a:t>数据结果</a:t>
            </a:r>
            <a:endParaRPr lang="zh-CN" altLang="en-US" dirty="0"/>
          </a:p>
        </p:txBody>
      </p:sp>
      <p:grpSp>
        <p:nvGrpSpPr>
          <p:cNvPr id="14" name="组合 13"/>
          <p:cNvGrpSpPr/>
          <p:nvPr/>
        </p:nvGrpSpPr>
        <p:grpSpPr>
          <a:xfrm>
            <a:off x="606545" y="483462"/>
            <a:ext cx="1280221" cy="509896"/>
            <a:chOff x="888096" y="1000203"/>
            <a:chExt cx="4259825" cy="944066"/>
          </a:xfrm>
        </p:grpSpPr>
        <p:sp>
          <p:nvSpPr>
            <p:cNvPr id="15" name="矩形 14"/>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椭圆 15"/>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椭圆 16"/>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椭圆 17"/>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椭圆 18"/>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4" name="图片 3" descr="upload_post_object_v2_1536404410"/>
          <p:cNvPicPr>
            <a:picLocks noChangeAspect="1"/>
          </p:cNvPicPr>
          <p:nvPr/>
        </p:nvPicPr>
        <p:blipFill>
          <a:blip r:embed="rId1"/>
          <a:srcRect l="14392" r="12744"/>
          <a:stretch>
            <a:fillRect/>
          </a:stretch>
        </p:blipFill>
        <p:spPr>
          <a:xfrm>
            <a:off x="3371548" y="271054"/>
            <a:ext cx="8487452" cy="630010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2068830" cy="306705"/>
          </a:xfrm>
          <a:prstGeom prst="rect">
            <a:avLst/>
          </a:prstGeom>
        </p:spPr>
        <p:txBody>
          <a:bodyPr wrap="none">
            <a:spAutoFit/>
          </a:bodyPr>
          <a:lstStyle/>
          <a:p>
            <a:r>
              <a:rPr lang="en-US" altLang="zh-CN" sz="1400" b="1" dirty="0"/>
              <a:t>PART THREE </a:t>
            </a:r>
            <a:r>
              <a:rPr lang="zh-CN" altLang="en-US" sz="1400" b="1" dirty="0"/>
              <a:t>研究方法</a:t>
            </a:r>
            <a:endParaRPr lang="zh-CN" altLang="en-US" sz="1400" b="1" dirty="0"/>
          </a:p>
        </p:txBody>
      </p:sp>
      <p:sp>
        <p:nvSpPr>
          <p:cNvPr id="3" name="椭圆 2"/>
          <p:cNvSpPr/>
          <p:nvPr/>
        </p:nvSpPr>
        <p:spPr>
          <a:xfrm>
            <a:off x="1953525" y="157740"/>
            <a:ext cx="130917" cy="113341"/>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sp>
        <p:nvSpPr>
          <p:cNvPr id="6" name="矩形 5"/>
          <p:cNvSpPr/>
          <p:nvPr/>
        </p:nvSpPr>
        <p:spPr>
          <a:xfrm>
            <a:off x="676275" y="1398164"/>
            <a:ext cx="4998493" cy="1486824"/>
          </a:xfrm>
          <a:prstGeom prst="rect">
            <a:avLst/>
          </a:prstGeom>
        </p:spPr>
        <p:txBody>
          <a:bodyPr wrap="square">
            <a:noAutofit/>
          </a:bodyPr>
          <a:lstStyle/>
          <a:p>
            <a:pPr>
              <a:lnSpc>
                <a:spcPct val="130000"/>
              </a:lnSpc>
            </a:pPr>
            <a:r>
              <a:rPr lang="zh-CN" altLang="en-US" sz="1400" b="1" dirty="0">
                <a:solidFill>
                  <a:schemeClr val="bg1">
                    <a:lumMod val="50000"/>
                  </a:schemeClr>
                </a:solidFill>
                <a:latin typeface="微软雅黑" panose="020B0503020204020204" charset="-122"/>
                <a:ea typeface="微软雅黑" panose="020B0503020204020204" charset="-122"/>
              </a:rPr>
              <a:t>     准则层即为4个一级指标，这四个指标及其权重全部引自《多元分类视角的高等工程教育评价指标体系构建及其应用——以97所“双一流”建设高校为样本》一文。运用层次分析法，通过在多所高校调查，得到该权重。</a:t>
            </a:r>
            <a:endParaRPr lang="zh-CN" altLang="en-US" sz="1400" b="1" dirty="0">
              <a:solidFill>
                <a:schemeClr val="bg1">
                  <a:lumMod val="50000"/>
                </a:schemeClr>
              </a:solidFill>
              <a:latin typeface="微软雅黑" panose="020B0503020204020204" charset="-122"/>
              <a:ea typeface="微软雅黑" panose="020B0503020204020204" charset="-122"/>
            </a:endParaRPr>
          </a:p>
        </p:txBody>
      </p:sp>
      <p:sp>
        <p:nvSpPr>
          <p:cNvPr id="16" name="矩形 15"/>
          <p:cNvSpPr/>
          <p:nvPr/>
        </p:nvSpPr>
        <p:spPr>
          <a:xfrm>
            <a:off x="6426200" y="1398164"/>
            <a:ext cx="5124858" cy="650240"/>
          </a:xfrm>
          <a:prstGeom prst="rect">
            <a:avLst/>
          </a:prstGeom>
        </p:spPr>
        <p:txBody>
          <a:bodyPr wrap="square">
            <a:noAutofit/>
          </a:bodyPr>
          <a:lstStyle/>
          <a:p>
            <a:pPr>
              <a:lnSpc>
                <a:spcPct val="130000"/>
              </a:lnSpc>
            </a:pPr>
            <a:r>
              <a:rPr lang="zh-CN" altLang="en-US" sz="1400" dirty="0">
                <a:solidFill>
                  <a:schemeClr val="bg1">
                    <a:lumMod val="50000"/>
                  </a:schemeClr>
                </a:solidFill>
                <a:latin typeface="微软雅黑" panose="020B0503020204020204" charset="-122"/>
                <a:ea typeface="微软雅黑" panose="020B0503020204020204" charset="-122"/>
              </a:rPr>
              <a:t>   </a:t>
            </a:r>
            <a:r>
              <a:rPr lang="zh-CN" altLang="en-US" sz="1400" b="1" dirty="0">
                <a:solidFill>
                  <a:schemeClr val="bg1">
                    <a:lumMod val="50000"/>
                  </a:schemeClr>
                </a:solidFill>
                <a:latin typeface="微软雅黑" panose="020B0503020204020204" charset="-122"/>
                <a:ea typeface="微软雅黑" panose="020B0503020204020204" charset="-122"/>
              </a:rPr>
              <a:t> 三所大学分别对四个一级指标加权求和，得到最终每所大学在工程教育领域的得分。分别表示三个国家的工程教育水平。</a:t>
            </a:r>
            <a:endParaRPr lang="zh-CN" altLang="en-US" sz="1400" b="1" dirty="0">
              <a:solidFill>
                <a:schemeClr val="bg1">
                  <a:lumMod val="50000"/>
                </a:schemeClr>
              </a:solidFill>
              <a:latin typeface="微软雅黑" panose="020B0503020204020204" charset="-122"/>
              <a:ea typeface="微软雅黑" panose="020B0503020204020204" charset="-122"/>
            </a:endParaRPr>
          </a:p>
        </p:txBody>
      </p:sp>
      <p:sp>
        <p:nvSpPr>
          <p:cNvPr id="4" name="文本框 3"/>
          <p:cNvSpPr txBox="1"/>
          <p:nvPr userDrawn="1"/>
        </p:nvSpPr>
        <p:spPr>
          <a:xfrm>
            <a:off x="4773265" y="422078"/>
            <a:ext cx="2645470" cy="436336"/>
          </a:xfrm>
          <a:prstGeom prst="rect">
            <a:avLst/>
          </a:prstGeom>
        </p:spPr>
        <p:txBody>
          <a:bodyPr wrap="square" rtlCol="0">
            <a:noAutofit/>
          </a:bodyPr>
          <a:lstStyle/>
          <a:p>
            <a:r>
              <a:rPr lang="en-US" altLang="zh-CN" sz="2800" b="1">
                <a:latin typeface="楷体" panose="02010609060101010101" charset="-122"/>
                <a:ea typeface="楷体" panose="02010609060101010101" charset="-122"/>
                <a:cs typeface="楷体" panose="02010609060101010101" charset="-122"/>
              </a:rPr>
              <a:t>2.</a:t>
            </a:r>
            <a:r>
              <a:rPr lang="zh-CN" altLang="en-US" sz="2800" b="1">
                <a:latin typeface="楷体" panose="02010609060101010101" charset="-122"/>
                <a:ea typeface="楷体" panose="02010609060101010101" charset="-122"/>
                <a:cs typeface="楷体" panose="02010609060101010101" charset="-122"/>
              </a:rPr>
              <a:t>层次分析法</a:t>
            </a:r>
            <a:endParaRPr lang="zh-CN" altLang="en-US" sz="2800" b="1">
              <a:latin typeface="楷体" panose="02010609060101010101" charset="-122"/>
              <a:ea typeface="楷体" panose="02010609060101010101" charset="-122"/>
              <a:cs typeface="楷体" panose="02010609060101010101" charset="-122"/>
            </a:endParaRPr>
          </a:p>
        </p:txBody>
      </p:sp>
      <p:pic>
        <p:nvPicPr>
          <p:cNvPr id="13" name="图片 12" descr="upload_post_object_v2_2702838616"/>
          <p:cNvPicPr>
            <a:picLocks noChangeAspect="1"/>
          </p:cNvPicPr>
          <p:nvPr/>
        </p:nvPicPr>
        <p:blipFill>
          <a:blip r:embed="rId1"/>
          <a:srcRect l="4275" t="8942" r="3269" b="13413"/>
          <a:stretch>
            <a:fillRect/>
          </a:stretch>
        </p:blipFill>
        <p:spPr>
          <a:xfrm>
            <a:off x="512918" y="3003233"/>
            <a:ext cx="5325223" cy="2515607"/>
          </a:xfrm>
          <a:prstGeom prst="rect">
            <a:avLst/>
          </a:prstGeom>
        </p:spPr>
      </p:pic>
      <p:pic>
        <p:nvPicPr>
          <p:cNvPr id="14" name="图片 13" descr="upload_post_object_v2_4043306467"/>
          <p:cNvPicPr>
            <a:picLocks noChangeAspect="1"/>
          </p:cNvPicPr>
          <p:nvPr/>
        </p:nvPicPr>
        <p:blipFill>
          <a:blip r:embed="rId2"/>
          <a:srcRect l="7227" t="4572" r="6023" b="8230"/>
          <a:stretch>
            <a:fillRect/>
          </a:stretch>
        </p:blipFill>
        <p:spPr>
          <a:xfrm>
            <a:off x="6279409" y="2133071"/>
            <a:ext cx="5631498" cy="37279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94927" y="3280457"/>
            <a:ext cx="3602146" cy="880306"/>
          </a:xfrm>
          <a:prstGeom prst="rect">
            <a:avLst/>
          </a:prstGeom>
          <a:noFill/>
        </p:spPr>
        <p:txBody>
          <a:bodyPr wrap="square" rtlCol="0">
            <a:spAutoFit/>
          </a:bodyPr>
          <a:lstStyle/>
          <a:p>
            <a:pPr algn="ctr" defTabSz="609600">
              <a:lnSpc>
                <a:spcPct val="130000"/>
              </a:lnSpc>
            </a:pPr>
            <a:r>
              <a:rPr lang="en-US" altLang="zh-CN" sz="4400" b="1" dirty="0">
                <a:latin typeface="+mj-lt"/>
                <a:ea typeface="微软雅黑" panose="020B0503020204020204" charset="-122"/>
              </a:rPr>
              <a:t>PART FOUR</a:t>
            </a:r>
            <a:endParaRPr lang="en-US" altLang="zh-CN" sz="4400" b="1" dirty="0">
              <a:latin typeface="+mj-lt"/>
              <a:ea typeface="微软雅黑" panose="020B0503020204020204" charset="-122"/>
            </a:endParaRPr>
          </a:p>
        </p:txBody>
      </p:sp>
      <p:sp>
        <p:nvSpPr>
          <p:cNvPr id="3" name="文本框 2"/>
          <p:cNvSpPr txBox="1"/>
          <p:nvPr/>
        </p:nvSpPr>
        <p:spPr>
          <a:xfrm>
            <a:off x="1866081" y="1919522"/>
            <a:ext cx="8265074" cy="1625747"/>
          </a:xfrm>
          <a:prstGeom prst="rect">
            <a:avLst/>
          </a:prstGeom>
          <a:noFill/>
        </p:spPr>
        <p:txBody>
          <a:bodyPr wrap="square" rtlCol="0">
            <a:noAutofit/>
          </a:bodyPr>
          <a:lstStyle/>
          <a:p>
            <a:pPr marL="0" indent="0" algn="ctr" defTabSz="609600" rtl="0" eaLnBrk="1" latinLnBrk="0" hangingPunct="1">
              <a:lnSpc>
                <a:spcPct val="130000"/>
              </a:lnSpc>
              <a:spcBef>
                <a:spcPct val="0"/>
              </a:spcBef>
              <a:spcAft>
                <a:spcPct val="0"/>
              </a:spcAft>
              <a:buNone/>
            </a:pPr>
            <a:r>
              <a:rPr lang="zh-CN" altLang="en-US" sz="3600" dirty="0">
                <a:solidFill>
                  <a:schemeClr val="tx1"/>
                </a:solidFill>
                <a:ea typeface="微软雅黑" panose="020B0503020204020204" charset="-122"/>
              </a:rPr>
              <a:t>研究结论</a:t>
            </a:r>
            <a:endParaRPr lang="zh-CN" altLang="en-US" sz="3600" dirty="0">
              <a:solidFill>
                <a:schemeClr val="tx1"/>
              </a:solidFill>
              <a:ea typeface="微软雅黑" panose="020B0503020204020204" charset="-122"/>
            </a:endParaRPr>
          </a:p>
          <a:p>
            <a:pPr marL="0" indent="0" algn="ctr" defTabSz="609600" rtl="0" eaLnBrk="1" latinLnBrk="0" hangingPunct="1">
              <a:lnSpc>
                <a:spcPct val="130000"/>
              </a:lnSpc>
              <a:spcBef>
                <a:spcPct val="0"/>
              </a:spcBef>
              <a:spcAft>
                <a:spcPct val="0"/>
              </a:spcAft>
              <a:buNone/>
            </a:pPr>
            <a:r>
              <a:rPr lang="zh-CN" altLang="en-US" sz="3600" dirty="0">
                <a:solidFill>
                  <a:schemeClr val="tx1"/>
                </a:solidFill>
                <a:ea typeface="微软雅黑" panose="020B0503020204020204" charset="-122"/>
              </a:rPr>
              <a:t>缺陷分析</a:t>
            </a:r>
            <a:endParaRPr lang="zh-CN" altLang="en-US" sz="3600" dirty="0">
              <a:solidFill>
                <a:schemeClr val="tx1"/>
              </a:solidFill>
              <a:ea typeface="微软雅黑" panose="020B0503020204020204" charset="-122"/>
            </a:endParaRPr>
          </a:p>
        </p:txBody>
      </p:sp>
      <p:sp>
        <p:nvSpPr>
          <p:cNvPr id="4" name="矩形 3"/>
          <p:cNvSpPr/>
          <p:nvPr/>
        </p:nvSpPr>
        <p:spPr>
          <a:xfrm>
            <a:off x="4889817" y="4139690"/>
            <a:ext cx="2412366" cy="11334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7" name="图片 6"/>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diamond(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1903730" cy="306705"/>
          </a:xfrm>
          <a:prstGeom prst="rect">
            <a:avLst/>
          </a:prstGeom>
        </p:spPr>
        <p:txBody>
          <a:bodyPr wrap="none">
            <a:spAutoFit/>
          </a:bodyPr>
          <a:lstStyle/>
          <a:p>
            <a:r>
              <a:rPr lang="en-US" altLang="zh-CN" sz="1400" b="1" dirty="0"/>
              <a:t>PART FOUR </a:t>
            </a:r>
            <a:r>
              <a:rPr lang="zh-CN" altLang="en-US" sz="1400" b="1" dirty="0"/>
              <a:t>研究结论</a:t>
            </a:r>
            <a:endParaRPr lang="zh-CN" altLang="en-US" sz="1400" b="1" dirty="0"/>
          </a:p>
        </p:txBody>
      </p:sp>
      <p:sp>
        <p:nvSpPr>
          <p:cNvPr id="3" name="椭圆 2"/>
          <p:cNvSpPr/>
          <p:nvPr/>
        </p:nvSpPr>
        <p:spPr>
          <a:xfrm>
            <a:off x="1898544" y="158171"/>
            <a:ext cx="130917" cy="11334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5" name="图片 4"/>
          <p:cNvPicPr>
            <a:picLocks noChangeAspect="1"/>
          </p:cNvPicPr>
          <p:nvPr/>
        </p:nvPicPr>
        <p:blipFill rotWithShape="1">
          <a:blip r:embed="rId1"/>
          <a:srcRect l="54115" t="14479" r="4250" b="12370"/>
          <a:stretch>
            <a:fillRect/>
          </a:stretch>
        </p:blipFill>
        <p:spPr>
          <a:xfrm>
            <a:off x="3848772" y="1363132"/>
            <a:ext cx="4587588" cy="4262632"/>
          </a:xfrm>
          <a:prstGeom prst="rect">
            <a:avLst/>
          </a:prstGeom>
        </p:spPr>
      </p:pic>
      <p:sp>
        <p:nvSpPr>
          <p:cNvPr id="6" name="菱形 5"/>
          <p:cNvSpPr/>
          <p:nvPr/>
        </p:nvSpPr>
        <p:spPr>
          <a:xfrm>
            <a:off x="4129617" y="1416050"/>
            <a:ext cx="4025900" cy="4025900"/>
          </a:xfrm>
          <a:prstGeom prst="diamond">
            <a:avLst/>
          </a:prstGeom>
          <a:gradFill flip="none" rotWithShape="1">
            <a:gsLst>
              <a:gs pos="0">
                <a:schemeClr val="accent3">
                  <a:lumMod val="5000"/>
                  <a:lumOff val="95000"/>
                  <a:alpha val="3000"/>
                </a:schemeClr>
              </a:gs>
              <a:gs pos="83000">
                <a:schemeClr val="accent3">
                  <a:lumMod val="45000"/>
                  <a:lumOff val="55000"/>
                  <a:alpha val="57000"/>
                </a:schemeClr>
              </a:gs>
              <a:gs pos="100000">
                <a:schemeClr val="accent3">
                  <a:lumMod val="30000"/>
                  <a:lumOff val="70000"/>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600" b="1" dirty="0">
                <a:solidFill>
                  <a:schemeClr val="tx1">
                    <a:lumMod val="75000"/>
                    <a:lumOff val="25000"/>
                  </a:schemeClr>
                </a:solidFill>
              </a:rPr>
              <a:t>结论</a:t>
            </a:r>
            <a:endParaRPr lang="zh-CN" altLang="en-US" sz="6600" b="1" dirty="0">
              <a:solidFill>
                <a:schemeClr val="tx1">
                  <a:lumMod val="75000"/>
                  <a:lumOff val="25000"/>
                </a:schemeClr>
              </a:solidFill>
            </a:endParaRPr>
          </a:p>
        </p:txBody>
      </p:sp>
      <p:grpSp>
        <p:nvGrpSpPr>
          <p:cNvPr id="7" name="组合 6"/>
          <p:cNvGrpSpPr/>
          <p:nvPr/>
        </p:nvGrpSpPr>
        <p:grpSpPr>
          <a:xfrm>
            <a:off x="1120805" y="744119"/>
            <a:ext cx="1316507" cy="509896"/>
            <a:chOff x="888096" y="1000203"/>
            <a:chExt cx="4259825" cy="944066"/>
          </a:xfrm>
        </p:grpSpPr>
        <p:sp>
          <p:nvSpPr>
            <p:cNvPr id="8" name="矩形 7"/>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椭圆 8"/>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椭圆 9"/>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椭圆 10"/>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椭圆 11"/>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3" name="矩形 12"/>
          <p:cNvSpPr/>
          <p:nvPr/>
        </p:nvSpPr>
        <p:spPr>
          <a:xfrm>
            <a:off x="1258430" y="814275"/>
            <a:ext cx="1097280" cy="368300"/>
          </a:xfrm>
          <a:prstGeom prst="rect">
            <a:avLst/>
          </a:prstGeom>
        </p:spPr>
        <p:txBody>
          <a:bodyPr wrap="none">
            <a:spAutoFit/>
          </a:bodyPr>
          <a:lstStyle/>
          <a:p>
            <a:r>
              <a:rPr lang="zh-CN" altLang="en-US" dirty="0"/>
              <a:t>总体评价</a:t>
            </a:r>
            <a:endParaRPr lang="zh-CN" altLang="en-US" dirty="0"/>
          </a:p>
        </p:txBody>
      </p:sp>
      <p:sp>
        <p:nvSpPr>
          <p:cNvPr id="14" name="矩形 13"/>
          <p:cNvSpPr/>
          <p:nvPr/>
        </p:nvSpPr>
        <p:spPr>
          <a:xfrm>
            <a:off x="458152" y="1363133"/>
            <a:ext cx="3686493" cy="1050290"/>
          </a:xfrm>
          <a:prstGeom prst="rect">
            <a:avLst/>
          </a:prstGeom>
        </p:spPr>
        <p:txBody>
          <a:bodyPr wrap="square">
            <a:noAutofit/>
          </a:bodyPr>
          <a:lstStyle/>
          <a:p>
            <a:pPr>
              <a:lnSpc>
                <a:spcPct val="130000"/>
              </a:lnSpc>
            </a:pPr>
            <a:r>
              <a:rPr lang="zh-CN" altLang="en-US" sz="1200" dirty="0">
                <a:solidFill>
                  <a:schemeClr val="bg1">
                    <a:lumMod val="50000"/>
                  </a:schemeClr>
                </a:solidFill>
                <a:latin typeface="微软雅黑" panose="020B0503020204020204" charset="-122"/>
                <a:ea typeface="微软雅黑" panose="020B0503020204020204" charset="-122"/>
              </a:rPr>
              <a:t>  </a:t>
            </a:r>
            <a:r>
              <a:rPr lang="zh-CN" altLang="en-US" sz="1400" dirty="0">
                <a:solidFill>
                  <a:srgbClr val="000000"/>
                </a:solidFill>
                <a:latin typeface="微软雅黑" panose="020B0503020204020204" charset="-122"/>
                <a:ea typeface="微软雅黑" panose="020B0503020204020204" charset="-122"/>
              </a:rPr>
              <a:t>美国工程教育综合得分大于中国综合得分，大于法国综合得分。即中国与法国的工程教育水平总体相对于美国仍有差距，需要努力。</a:t>
            </a:r>
            <a:endParaRPr lang="zh-CN" altLang="en-US" sz="1400" dirty="0">
              <a:solidFill>
                <a:srgbClr val="000000"/>
              </a:solidFill>
              <a:latin typeface="微软雅黑" panose="020B0503020204020204" charset="-122"/>
              <a:ea typeface="微软雅黑" panose="020B0503020204020204" charset="-122"/>
            </a:endParaRPr>
          </a:p>
        </p:txBody>
      </p:sp>
      <p:sp>
        <p:nvSpPr>
          <p:cNvPr id="22" name="矩形 21"/>
          <p:cNvSpPr/>
          <p:nvPr/>
        </p:nvSpPr>
        <p:spPr>
          <a:xfrm>
            <a:off x="5598160" y="892810"/>
            <a:ext cx="5772150" cy="453390"/>
          </a:xfrm>
          <a:prstGeom prst="rect">
            <a:avLst/>
          </a:prstGeom>
        </p:spPr>
        <p:txBody>
          <a:bodyPr wrap="square">
            <a:noAutofit/>
          </a:bodyPr>
          <a:lstStyle/>
          <a:p>
            <a:pPr>
              <a:lnSpc>
                <a:spcPct val="130000"/>
              </a:lnSpc>
            </a:pPr>
            <a:r>
              <a:rPr lang="zh-CN" altLang="en-US" sz="1400" b="1" dirty="0">
                <a:solidFill>
                  <a:schemeClr val="bg1">
                    <a:lumMod val="50000"/>
                  </a:schemeClr>
                </a:solidFill>
                <a:latin typeface="微软雅黑" panose="020B0503020204020204" charset="-122"/>
                <a:ea typeface="微软雅黑" panose="020B0503020204020204" charset="-122"/>
              </a:rPr>
              <a:t>    </a:t>
            </a:r>
            <a:r>
              <a:rPr lang="zh-CN" altLang="en-US" b="1" dirty="0">
                <a:solidFill>
                  <a:schemeClr val="bg1">
                    <a:lumMod val="50000"/>
                  </a:schemeClr>
                </a:solidFill>
                <a:latin typeface="微软雅黑" panose="020B0503020204020204" charset="-122"/>
                <a:ea typeface="微软雅黑" panose="020B0503020204020204" charset="-122"/>
              </a:rPr>
              <a:t> 通过总体评价与各维度的评价可以得到三个结论</a:t>
            </a:r>
            <a:endParaRPr lang="zh-CN" altLang="en-US" b="1" dirty="0">
              <a:solidFill>
                <a:schemeClr val="bg1">
                  <a:lumMod val="50000"/>
                </a:schemeClr>
              </a:solidFill>
              <a:latin typeface="微软雅黑" panose="020B0503020204020204" charset="-122"/>
              <a:ea typeface="微软雅黑" panose="020B0503020204020204" charset="-122"/>
            </a:endParaRPr>
          </a:p>
        </p:txBody>
      </p:sp>
      <p:grpSp>
        <p:nvGrpSpPr>
          <p:cNvPr id="23" name="组合 22"/>
          <p:cNvGrpSpPr/>
          <p:nvPr/>
        </p:nvGrpSpPr>
        <p:grpSpPr>
          <a:xfrm>
            <a:off x="1116995" y="2335429"/>
            <a:ext cx="1295340" cy="509896"/>
            <a:chOff x="888096" y="1000203"/>
            <a:chExt cx="4259825" cy="944066"/>
          </a:xfrm>
        </p:grpSpPr>
        <p:sp>
          <p:nvSpPr>
            <p:cNvPr id="24" name="矩形 23"/>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椭圆 24"/>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6" name="椭圆 25"/>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椭圆 26"/>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8" name="椭圆 27"/>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9" name="矩形 28"/>
          <p:cNvSpPr/>
          <p:nvPr/>
        </p:nvSpPr>
        <p:spPr>
          <a:xfrm>
            <a:off x="1213908" y="2413423"/>
            <a:ext cx="1097280" cy="368300"/>
          </a:xfrm>
          <a:prstGeom prst="rect">
            <a:avLst/>
          </a:prstGeom>
        </p:spPr>
        <p:txBody>
          <a:bodyPr wrap="none">
            <a:spAutoFit/>
          </a:bodyPr>
          <a:lstStyle/>
          <a:p>
            <a:r>
              <a:rPr lang="zh-CN" altLang="en-US" dirty="0"/>
              <a:t>单个维度</a:t>
            </a:r>
            <a:endParaRPr lang="zh-CN" altLang="en-US" dirty="0"/>
          </a:p>
        </p:txBody>
      </p:sp>
      <p:sp>
        <p:nvSpPr>
          <p:cNvPr id="30" name="矩形 29"/>
          <p:cNvSpPr/>
          <p:nvPr/>
        </p:nvSpPr>
        <p:spPr>
          <a:xfrm>
            <a:off x="397566" y="3023870"/>
            <a:ext cx="3747079" cy="810260"/>
          </a:xfrm>
          <a:prstGeom prst="rect">
            <a:avLst/>
          </a:prstGeom>
        </p:spPr>
        <p:txBody>
          <a:bodyPr wrap="square">
            <a:noAutofit/>
          </a:bodyPr>
          <a:lstStyle/>
          <a:p>
            <a:pPr algn="l">
              <a:lnSpc>
                <a:spcPct val="130000"/>
              </a:lnSpc>
            </a:pPr>
            <a:r>
              <a:rPr lang="zh-CN" altLang="en-US" sz="1200" dirty="0">
                <a:solidFill>
                  <a:schemeClr val="bg1">
                    <a:lumMod val="50000"/>
                  </a:schemeClr>
                </a:solidFill>
                <a:latin typeface="微软雅黑" panose="020B0503020204020204" charset="-122"/>
                <a:ea typeface="微软雅黑" panose="020B0503020204020204" charset="-122"/>
              </a:rPr>
              <a:t>   </a:t>
            </a:r>
            <a:r>
              <a:rPr lang="zh-CN" altLang="en-US" sz="1400" dirty="0">
                <a:solidFill>
                  <a:srgbClr val="000000"/>
                </a:solidFill>
                <a:latin typeface="微软雅黑" panose="020B0503020204020204" charset="-122"/>
                <a:ea typeface="微软雅黑" panose="020B0503020204020204" charset="-122"/>
              </a:rPr>
              <a:t>中国工程教育水平研究质量方面领先，而在其他三个维度仍然落后于美国，需要针对这些方面加强提升。</a:t>
            </a:r>
            <a:endParaRPr lang="zh-CN" altLang="en-US" sz="1400" dirty="0">
              <a:solidFill>
                <a:srgbClr val="000000"/>
              </a:solidFill>
              <a:latin typeface="微软雅黑" panose="020B0503020204020204" charset="-122"/>
              <a:ea typeface="微软雅黑" panose="020B0503020204020204" charset="-122"/>
            </a:endParaRPr>
          </a:p>
        </p:txBody>
      </p:sp>
      <p:grpSp>
        <p:nvGrpSpPr>
          <p:cNvPr id="31" name="组合 30"/>
          <p:cNvGrpSpPr/>
          <p:nvPr/>
        </p:nvGrpSpPr>
        <p:grpSpPr>
          <a:xfrm>
            <a:off x="1116995" y="3948430"/>
            <a:ext cx="1171016" cy="509896"/>
            <a:chOff x="888096" y="1000203"/>
            <a:chExt cx="4259825" cy="944066"/>
          </a:xfrm>
        </p:grpSpPr>
        <p:sp>
          <p:nvSpPr>
            <p:cNvPr id="32" name="矩形 31"/>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3" name="椭圆 32"/>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椭圆 33"/>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椭圆 34"/>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6" name="椭圆 35"/>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37" name="矩形 36"/>
          <p:cNvSpPr/>
          <p:nvPr/>
        </p:nvSpPr>
        <p:spPr>
          <a:xfrm>
            <a:off x="1380490" y="4023678"/>
            <a:ext cx="640080" cy="368300"/>
          </a:xfrm>
          <a:prstGeom prst="rect">
            <a:avLst/>
          </a:prstGeom>
        </p:spPr>
        <p:txBody>
          <a:bodyPr wrap="none">
            <a:spAutoFit/>
          </a:bodyPr>
          <a:lstStyle/>
          <a:p>
            <a:r>
              <a:rPr lang="zh-CN" altLang="en-US" dirty="0"/>
              <a:t>总结</a:t>
            </a:r>
            <a:endParaRPr lang="zh-CN" altLang="en-US" dirty="0"/>
          </a:p>
        </p:txBody>
      </p:sp>
      <p:sp>
        <p:nvSpPr>
          <p:cNvPr id="38" name="矩形 37"/>
          <p:cNvSpPr/>
          <p:nvPr/>
        </p:nvSpPr>
        <p:spPr>
          <a:xfrm>
            <a:off x="458177" y="4618272"/>
            <a:ext cx="3891169" cy="2489200"/>
          </a:xfrm>
          <a:prstGeom prst="rect">
            <a:avLst/>
          </a:prstGeom>
        </p:spPr>
        <p:txBody>
          <a:bodyPr wrap="square">
            <a:noAutofit/>
          </a:bodyPr>
          <a:lstStyle/>
          <a:p>
            <a:pPr algn="l">
              <a:lnSpc>
                <a:spcPct val="130000"/>
              </a:lnSpc>
            </a:pPr>
            <a:r>
              <a:rPr lang="zh-CN" altLang="en-US" sz="1200" dirty="0">
                <a:solidFill>
                  <a:schemeClr val="bg1">
                    <a:lumMod val="50000"/>
                  </a:schemeClr>
                </a:solidFill>
                <a:latin typeface="微软雅黑" panose="020B0503020204020204" charset="-122"/>
                <a:ea typeface="微软雅黑" panose="020B0503020204020204" charset="-122"/>
              </a:rPr>
              <a:t>  </a:t>
            </a:r>
            <a:r>
              <a:rPr lang="zh-CN" altLang="en-US" sz="1400" dirty="0">
                <a:solidFill>
                  <a:srgbClr val="000000"/>
                </a:solidFill>
                <a:latin typeface="微软雅黑" panose="020B0503020204020204" charset="-122"/>
                <a:ea typeface="微软雅黑" panose="020B0503020204020204" charset="-122"/>
              </a:rPr>
              <a:t> 美国工程教育在综合评价中表现最优，其工程教育在多个方面均达到了较高的水平。中国和法国的工程教育也表现出色，有自己的优势，但在某些方面仍有提升空间。未来，我们可以进一步拓展研究范围，纵横纳入更多国家及其顶尖大学，以更全面地了解全球工程教育的发展趋势和特点。</a:t>
            </a:r>
            <a:endParaRPr lang="en-US" altLang="zh-CN" sz="1400" dirty="0">
              <a:solidFill>
                <a:srgbClr val="000000"/>
              </a:solidFill>
              <a:latin typeface="微软雅黑" panose="020B0503020204020204" charset="-122"/>
              <a:ea typeface="微软雅黑" panose="020B0503020204020204" charset="-122"/>
            </a:endParaRPr>
          </a:p>
        </p:txBody>
      </p:sp>
      <p:pic>
        <p:nvPicPr>
          <p:cNvPr id="39" name="图片 38"/>
          <p:cNvPicPr>
            <a:picLocks noChangeAspect="1"/>
          </p:cNvPicPr>
          <p:nvPr/>
        </p:nvPicPr>
        <p:blipFill>
          <a:blip r:embed="rId2">
            <a:duotone>
              <a:prstClr val="black"/>
              <a:schemeClr val="tx2">
                <a:tint val="45000"/>
                <a:satMod val="400000"/>
              </a:schemeClr>
            </a:duotone>
          </a:blip>
          <a:stretch>
            <a:fillRect/>
          </a:stretch>
        </p:blipFill>
        <p:spPr>
          <a:xfrm>
            <a:off x="5037156" y="6093921"/>
            <a:ext cx="2117688" cy="570755"/>
          </a:xfrm>
          <a:prstGeom prst="rect">
            <a:avLst/>
          </a:prstGeom>
        </p:spPr>
      </p:pic>
      <p:pic>
        <p:nvPicPr>
          <p:cNvPr id="4" name="图片 3" descr="upload_post_object_v2_3535291911"/>
          <p:cNvPicPr>
            <a:picLocks noChangeAspect="1"/>
          </p:cNvPicPr>
          <p:nvPr/>
        </p:nvPicPr>
        <p:blipFill>
          <a:blip r:embed="rId3"/>
          <a:srcRect l="6392" t="4909" r="5731" b="7855"/>
          <a:stretch>
            <a:fillRect/>
          </a:stretch>
        </p:blipFill>
        <p:spPr>
          <a:xfrm>
            <a:off x="4998720" y="1403985"/>
            <a:ext cx="6971665" cy="4660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22">
                                            <p:txEl>
                                              <p:pRg st="0" end="0"/>
                                            </p:txEl>
                                          </p:spTgt>
                                        </p:tgtEl>
                                        <p:attrNameLst>
                                          <p:attrName>style.visibility</p:attrName>
                                        </p:attrNameLst>
                                      </p:cBhvr>
                                      <p:to>
                                        <p:strVal val="visible"/>
                                      </p:to>
                                    </p:set>
                                    <p:anim calcmode="discrete" valueType="clr">
                                      <p:cBhvr override="childStyle">
                                        <p:cTn id="15" dur="80"/>
                                        <p:tgtEl>
                                          <p:spTgt spid="2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22">
                                            <p:txEl>
                                              <p:pRg st="0" end="0"/>
                                            </p:txEl>
                                          </p:spTgt>
                                        </p:tgtEl>
                                        <p:attrNameLst>
                                          <p:attrName>fillcolor</p:attrName>
                                        </p:attrNameLst>
                                      </p:cBhvr>
                                      <p:tavLst>
                                        <p:tav tm="0">
                                          <p:val>
                                            <p:clrVal>
                                              <a:schemeClr val="accent2"/>
                                            </p:clrVal>
                                          </p:val>
                                        </p:tav>
                                        <p:tav tm="50000">
                                          <p:val>
                                            <p:clrVal>
                                              <a:schemeClr val="hlink"/>
                                            </p:clrVal>
                                          </p:val>
                                        </p:tav>
                                      </p:tavLst>
                                    </p:anim>
                                    <p:set>
                                      <p:cBhvr>
                                        <p:cTn id="17" dur="80"/>
                                        <p:tgtEl>
                                          <p:spTgt spid="22">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heckerboard(across)">
                                      <p:cBhvr>
                                        <p:cTn id="27" dur="500"/>
                                        <p:tgtEl>
                                          <p:spTgt spid="14"/>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checkerboard(across)">
                                      <p:cBhvr>
                                        <p:cTn id="30" dur="500"/>
                                        <p:tgtEl>
                                          <p:spTgt spid="30"/>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checkerboard(across)">
                                      <p:cBhvr>
                                        <p:cTn id="3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4" grpId="0"/>
      <p:bldP spid="30" grpId="0"/>
      <p:bldP spid="38" grpId="0"/>
      <p:bldP spid="14" grpId="1"/>
      <p:bldP spid="30" grpId="1"/>
      <p:bldP spid="3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userDrawn="1"/>
        </p:nvSpPr>
        <p:spPr>
          <a:xfrm>
            <a:off x="943283" y="490434"/>
            <a:ext cx="6386219" cy="368300"/>
          </a:xfrm>
          <a:prstGeom prst="rect">
            <a:avLst/>
          </a:prstGeom>
        </p:spPr>
        <p:txBody>
          <a:bodyPr wrap="none" rtlCol="0">
            <a:noAutofit/>
          </a:bodyPr>
          <a:lstStyle/>
          <a:p>
            <a:pPr marL="0" indent="0" algn="l" defTabSz="0" rtl="0" eaLnBrk="1" latinLnBrk="0" hangingPunct="1">
              <a:spcBef>
                <a:spcPct val="0"/>
              </a:spcBef>
              <a:spcAft>
                <a:spcPct val="0"/>
              </a:spcAft>
              <a:buNone/>
            </a:pPr>
            <a:r>
              <a:rPr lang="en-US" altLang="zh-CN" sz="2800" b="1">
                <a:solidFill>
                  <a:schemeClr val="tx1"/>
                </a:solidFill>
                <a:latin typeface="楷体" panose="02010609060101010101" charset="-122"/>
                <a:ea typeface="楷体" panose="02010609060101010101" charset="-122"/>
                <a:cs typeface="楷体" panose="02010609060101010101" charset="-122"/>
              </a:rPr>
              <a:t>方法缺陷分析</a:t>
            </a:r>
            <a:endParaRPr lang="en-US" altLang="zh-CN" sz="2800" b="1">
              <a:solidFill>
                <a:schemeClr val="tx1"/>
              </a:solidFill>
              <a:latin typeface="楷体" panose="02010609060101010101" charset="-122"/>
              <a:ea typeface="楷体" panose="02010609060101010101" charset="-122"/>
              <a:cs typeface="楷体" panose="02010609060101010101" charset="-122"/>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98184" y="490396"/>
            <a:ext cx="562512" cy="562512"/>
          </a:xfrm>
          <a:prstGeom prst="rect">
            <a:avLst/>
          </a:prstGeom>
        </p:spPr>
      </p:pic>
      <p:sp>
        <p:nvSpPr>
          <p:cNvPr id="6" name="文本框 5"/>
          <p:cNvSpPr txBox="1"/>
          <p:nvPr userDrawn="1"/>
        </p:nvSpPr>
        <p:spPr>
          <a:xfrm>
            <a:off x="133473" y="90655"/>
            <a:ext cx="2388426" cy="317046"/>
          </a:xfrm>
          <a:prstGeom prst="rect">
            <a:avLst/>
          </a:prstGeom>
        </p:spPr>
        <p:txBody>
          <a:bodyPr wrap="none" rtlCol="0">
            <a:noAutofit/>
          </a:bodyPr>
          <a:lstStyle/>
          <a:p>
            <a:pPr marL="0" indent="0" algn="l" defTabSz="0" rtl="0" eaLnBrk="1" latinLnBrk="0" hangingPunct="1">
              <a:spcBef>
                <a:spcPct val="0"/>
              </a:spcBef>
              <a:spcAft>
                <a:spcPct val="0"/>
              </a:spcAft>
              <a:buNone/>
            </a:pPr>
            <a:r>
              <a:rPr lang="en-US" altLang="zh-CN" sz="1400" b="1" dirty="0">
                <a:solidFill>
                  <a:schemeClr val="tx1"/>
                </a:solidFill>
              </a:rPr>
              <a:t>PART FOUR </a:t>
            </a:r>
            <a:r>
              <a:rPr lang="zh-CN" altLang="en-US" sz="1400" b="1" dirty="0">
                <a:solidFill>
                  <a:schemeClr val="tx1"/>
                </a:solidFill>
              </a:rPr>
              <a:t>缺陷分析</a:t>
            </a:r>
            <a:endParaRPr lang="zh-CN" altLang="en-US" sz="1400" b="1" dirty="0">
              <a:solidFill>
                <a:schemeClr val="tx1"/>
              </a:solidFill>
            </a:endParaRPr>
          </a:p>
        </p:txBody>
      </p:sp>
      <p:sp>
        <p:nvSpPr>
          <p:cNvPr id="8" name="椭圆 7"/>
          <p:cNvSpPr/>
          <p:nvPr userDrawn="1"/>
        </p:nvSpPr>
        <p:spPr>
          <a:xfrm>
            <a:off x="2009361" y="203413"/>
            <a:ext cx="123009" cy="123009"/>
          </a:xfrm>
          <a:prstGeom prst="ellipse">
            <a:avLst/>
          </a:prstGeom>
          <a:solidFill>
            <a:srgbClr val="00B0F0">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000000"/>
              </a:solidFill>
            </a:endParaRPr>
          </a:p>
        </p:txBody>
      </p:sp>
      <p:sp>
        <p:nvSpPr>
          <p:cNvPr id="28" name="矩形 27"/>
          <p:cNvSpPr/>
          <p:nvPr>
            <p:custDataLst>
              <p:tags r:id="rId3"/>
            </p:custDataLst>
          </p:nvPr>
        </p:nvSpPr>
        <p:spPr>
          <a:xfrm>
            <a:off x="964205" y="2084122"/>
            <a:ext cx="608932" cy="46989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ctr">
              <a:lnSpc>
                <a:spcPct val="120000"/>
              </a:lnSpc>
            </a:pPr>
            <a:r>
              <a:rPr lang="en-US" altLang="zh-CN" dirty="0">
                <a:solidFill>
                  <a:schemeClr val="bg1"/>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4"/>
            </p:custDataLst>
          </p:nvPr>
        </p:nvSpPr>
        <p:spPr>
          <a:xfrm>
            <a:off x="1345966" y="1863549"/>
            <a:ext cx="378933" cy="360552"/>
          </a:xfrm>
          <a:prstGeom prst="rect">
            <a:avLst/>
          </a:prstGeom>
          <a:solidFill>
            <a:schemeClr val="accent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95000" lnSpcReduction="10000"/>
          </a:bodyPr>
          <a:lstStyle/>
          <a:p>
            <a:pPr algn="ctr">
              <a:lnSpc>
                <a:spcPct val="12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30" name="文本框 29"/>
          <p:cNvSpPr txBox="1"/>
          <p:nvPr>
            <p:custDataLst>
              <p:tags r:id="rId5"/>
            </p:custDataLst>
          </p:nvPr>
        </p:nvSpPr>
        <p:spPr>
          <a:xfrm>
            <a:off x="1013693" y="2227872"/>
            <a:ext cx="509958" cy="267704"/>
          </a:xfrm>
          <a:prstGeom prst="rect">
            <a:avLst/>
          </a:prstGeom>
          <a:noFill/>
        </p:spPr>
        <p:txBody>
          <a:bodyPr wrap="square" rtlCol="0" anchor="ctr">
            <a:normAutofit/>
          </a:bodyPr>
          <a:lstStyle/>
          <a:p>
            <a:pPr algn="ctr">
              <a:lnSpc>
                <a:spcPct val="120000"/>
              </a:lnSpc>
            </a:pPr>
            <a:r>
              <a:rPr lang="en-US" altLang="zh-CN" sz="1000" b="1" spc="150" dirty="0">
                <a:solidFill>
                  <a:schemeClr val="bg1"/>
                </a:solidFill>
                <a:latin typeface="Arial" panose="020B0604020202020204" pitchFamily="34" charset="0"/>
                <a:ea typeface="微软雅黑" panose="020B0503020204020204" charset="-122"/>
                <a:sym typeface="Arial" panose="020B0604020202020204" pitchFamily="34" charset="0"/>
              </a:rPr>
              <a:t>1</a:t>
            </a:r>
            <a:endParaRPr lang="en-US" altLang="zh-CN" sz="1000" b="1" spc="150"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31" name="矩形 30"/>
          <p:cNvSpPr/>
          <p:nvPr>
            <p:custDataLst>
              <p:tags r:id="rId6"/>
            </p:custDataLst>
          </p:nvPr>
        </p:nvSpPr>
        <p:spPr>
          <a:xfrm>
            <a:off x="1246049" y="1765517"/>
            <a:ext cx="237540" cy="241782"/>
          </a:xfrm>
          <a:prstGeom prst="rect">
            <a:avLst/>
          </a:prstGeom>
          <a:solidFill>
            <a:schemeClr val="accent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47500" lnSpcReduction="10000"/>
          </a:bodyPr>
          <a:lstStyle/>
          <a:p>
            <a:pPr algn="ctr">
              <a:lnSpc>
                <a:spcPct val="140000"/>
              </a:lnSpc>
            </a:pPr>
            <a:r>
              <a:rPr lang="en-US" altLang="zh-CN" dirty="0">
                <a:solidFill>
                  <a:schemeClr val="bg1"/>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32" name="矩形 31"/>
          <p:cNvSpPr/>
          <p:nvPr>
            <p:custDataLst>
              <p:tags r:id="rId7"/>
            </p:custDataLst>
          </p:nvPr>
        </p:nvSpPr>
        <p:spPr>
          <a:xfrm>
            <a:off x="1061767" y="1863549"/>
            <a:ext cx="132909" cy="131024"/>
          </a:xfrm>
          <a:prstGeom prst="rect">
            <a:avLst/>
          </a:prstGeom>
          <a:solidFill>
            <a:schemeClr val="accent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25000" lnSpcReduction="2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33" name="矩形 32"/>
          <p:cNvSpPr/>
          <p:nvPr>
            <p:custDataLst>
              <p:tags r:id="rId8"/>
            </p:custDataLst>
          </p:nvPr>
        </p:nvSpPr>
        <p:spPr>
          <a:xfrm>
            <a:off x="964205" y="1765517"/>
            <a:ext cx="69282" cy="73996"/>
          </a:xfrm>
          <a:prstGeom prst="rect">
            <a:avLst/>
          </a:prstGeom>
          <a:solidFill>
            <a:schemeClr val="accent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25000" lnSpcReduction="2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34" name="矩形 33"/>
          <p:cNvSpPr/>
          <p:nvPr>
            <p:custDataLst>
              <p:tags r:id="rId9"/>
            </p:custDataLst>
          </p:nvPr>
        </p:nvSpPr>
        <p:spPr>
          <a:xfrm>
            <a:off x="401461" y="2695884"/>
            <a:ext cx="1734422" cy="1410160"/>
          </a:xfrm>
          <a:prstGeom prst="rect">
            <a:avLst/>
          </a:prstGeom>
        </p:spPr>
        <p:txBody>
          <a:bodyPr wrap="square" lIns="91440" tIns="45720" rIns="91440" bIns="45720" anchor="t" anchorCtr="0">
            <a:normAutofit/>
          </a:bodyPr>
          <a:lstStyle/>
          <a:p>
            <a:pPr marL="0" indent="0" algn="ctr" fontAlgn="auto">
              <a:lnSpc>
                <a:spcPct val="130000"/>
              </a:lnSpc>
              <a:spcBef>
                <a:spcPts val="0"/>
              </a:spcBef>
              <a:spcAft>
                <a:spcPts val="0"/>
              </a:spcAft>
              <a:buSzPct val="100000"/>
            </a:pPr>
            <a:r>
              <a:rPr lang="zh-CN" altLang="en-US" sz="1400" spc="150">
                <a:solidFill>
                  <a:schemeClr val="tx1">
                    <a:lumMod val="85000"/>
                    <a:lumOff val="15000"/>
                  </a:schemeClr>
                </a:solidFill>
                <a:latin typeface="Arial" panose="020B0604020202020204" pitchFamily="34" charset="0"/>
                <a:ea typeface="微软雅黑" panose="020B0503020204020204" charset="-122"/>
                <a:cs typeface="+mn-ea"/>
                <a:sym typeface="Arial" panose="020B0604020202020204" pitchFamily="34" charset="0"/>
              </a:rPr>
              <a:t>以三所顶尖高校代表整个国家的工程教育水平不够全面。</a:t>
            </a:r>
            <a:endParaRPr lang="zh-CN" altLang="en-US" sz="1400" spc="150">
              <a:solidFill>
                <a:schemeClr val="tx1">
                  <a:lumMod val="85000"/>
                  <a:lumOff val="1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5" name="矩形 34"/>
          <p:cNvSpPr/>
          <p:nvPr>
            <p:custDataLst>
              <p:tags r:id="rId10"/>
            </p:custDataLst>
          </p:nvPr>
        </p:nvSpPr>
        <p:spPr>
          <a:xfrm>
            <a:off x="3831656" y="2084122"/>
            <a:ext cx="608932" cy="469896"/>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ctr">
              <a:lnSpc>
                <a:spcPct val="120000"/>
              </a:lnSpc>
            </a:pPr>
            <a:r>
              <a:rPr lang="en-US" altLang="zh-CN" dirty="0">
                <a:solidFill>
                  <a:schemeClr val="bg1"/>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37" name="矩形 36"/>
          <p:cNvSpPr/>
          <p:nvPr>
            <p:custDataLst>
              <p:tags r:id="rId11"/>
            </p:custDataLst>
          </p:nvPr>
        </p:nvSpPr>
        <p:spPr>
          <a:xfrm>
            <a:off x="4213417" y="1863549"/>
            <a:ext cx="378933" cy="360552"/>
          </a:xfrm>
          <a:prstGeom prst="rect">
            <a:avLst/>
          </a:prstGeom>
          <a:solidFill>
            <a:schemeClr val="accent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95000" lnSpcReduction="10000"/>
          </a:bodyPr>
          <a:lstStyle/>
          <a:p>
            <a:pPr algn="ctr">
              <a:lnSpc>
                <a:spcPct val="12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38" name="文本框 37"/>
          <p:cNvSpPr txBox="1"/>
          <p:nvPr>
            <p:custDataLst>
              <p:tags r:id="rId12"/>
            </p:custDataLst>
          </p:nvPr>
        </p:nvSpPr>
        <p:spPr>
          <a:xfrm>
            <a:off x="3881143" y="2227872"/>
            <a:ext cx="509958" cy="267704"/>
          </a:xfrm>
          <a:prstGeom prst="rect">
            <a:avLst/>
          </a:prstGeom>
          <a:noFill/>
        </p:spPr>
        <p:txBody>
          <a:bodyPr wrap="square" rtlCol="0" anchor="ctr">
            <a:normAutofit/>
          </a:bodyPr>
          <a:lstStyle/>
          <a:p>
            <a:pPr algn="ctr">
              <a:lnSpc>
                <a:spcPct val="120000"/>
              </a:lnSpc>
            </a:pPr>
            <a:r>
              <a:rPr lang="en-US" altLang="zh-CN" sz="1000" b="1" spc="150">
                <a:solidFill>
                  <a:schemeClr val="bg1"/>
                </a:solidFill>
                <a:latin typeface="Arial" panose="020B0604020202020204" pitchFamily="34" charset="0"/>
                <a:ea typeface="微软雅黑" panose="020B0503020204020204" charset="-122"/>
                <a:sym typeface="Arial" panose="020B0604020202020204" pitchFamily="34" charset="0"/>
              </a:rPr>
              <a:t>2</a:t>
            </a:r>
            <a:endParaRPr lang="en-US" altLang="zh-CN" sz="1000" b="1" spc="15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13"/>
            </p:custDataLst>
          </p:nvPr>
        </p:nvSpPr>
        <p:spPr>
          <a:xfrm>
            <a:off x="4113500" y="1765517"/>
            <a:ext cx="237540" cy="241782"/>
          </a:xfrm>
          <a:prstGeom prst="rect">
            <a:avLst/>
          </a:prstGeom>
          <a:solidFill>
            <a:schemeClr val="accent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47500" lnSpcReduction="1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0" name="矩形 39"/>
          <p:cNvSpPr/>
          <p:nvPr>
            <p:custDataLst>
              <p:tags r:id="rId14"/>
            </p:custDataLst>
          </p:nvPr>
        </p:nvSpPr>
        <p:spPr>
          <a:xfrm>
            <a:off x="3929217" y="1863549"/>
            <a:ext cx="132909" cy="131024"/>
          </a:xfrm>
          <a:prstGeom prst="rect">
            <a:avLst/>
          </a:prstGeom>
          <a:solidFill>
            <a:schemeClr val="accent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25000" lnSpcReduction="2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1" name="矩形 40"/>
          <p:cNvSpPr/>
          <p:nvPr>
            <p:custDataLst>
              <p:tags r:id="rId15"/>
            </p:custDataLst>
          </p:nvPr>
        </p:nvSpPr>
        <p:spPr>
          <a:xfrm>
            <a:off x="3831656" y="1765517"/>
            <a:ext cx="69282" cy="73996"/>
          </a:xfrm>
          <a:prstGeom prst="rect">
            <a:avLst/>
          </a:prstGeom>
          <a:solidFill>
            <a:schemeClr val="accent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25000" lnSpcReduction="2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2" name="矩形 41"/>
          <p:cNvSpPr/>
          <p:nvPr>
            <p:custDataLst>
              <p:tags r:id="rId16"/>
            </p:custDataLst>
          </p:nvPr>
        </p:nvSpPr>
        <p:spPr>
          <a:xfrm>
            <a:off x="3268440" y="2695884"/>
            <a:ext cx="1735364" cy="1410187"/>
          </a:xfrm>
          <a:prstGeom prst="rect">
            <a:avLst/>
          </a:prstGeom>
        </p:spPr>
        <p:txBody>
          <a:bodyPr wrap="square" lIns="91440" tIns="45720" rIns="91440" bIns="45720" anchor="t" anchorCtr="0">
            <a:normAutofit/>
          </a:bodyPr>
          <a:lstStyle/>
          <a:p>
            <a:pPr marL="0" indent="0" algn="ctr" fontAlgn="auto">
              <a:lnSpc>
                <a:spcPct val="130000"/>
              </a:lnSpc>
              <a:spcBef>
                <a:spcPts val="0"/>
              </a:spcBef>
              <a:spcAft>
                <a:spcPts val="0"/>
              </a:spcAft>
              <a:buSzPct val="100000"/>
            </a:pPr>
            <a:r>
              <a:rPr lang="zh-CN" altLang="en-US" sz="1400" spc="150">
                <a:solidFill>
                  <a:schemeClr val="tx1">
                    <a:lumMod val="85000"/>
                    <a:lumOff val="15000"/>
                  </a:schemeClr>
                </a:solidFill>
                <a:latin typeface="Arial" panose="020B0604020202020204" pitchFamily="34" charset="0"/>
                <a:ea typeface="微软雅黑" panose="020B0503020204020204" charset="-122"/>
                <a:cs typeface="+mn-ea"/>
                <a:sym typeface="Arial" panose="020B0604020202020204" pitchFamily="34" charset="0"/>
              </a:rPr>
              <a:t>数据来源和质量可能存在一定的差异和偏差</a:t>
            </a:r>
            <a:endParaRPr lang="zh-CN" altLang="en-US" sz="1400" spc="150">
              <a:solidFill>
                <a:schemeClr val="tx1">
                  <a:lumMod val="85000"/>
                  <a:lumOff val="1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3" name="矩形 42"/>
          <p:cNvSpPr/>
          <p:nvPr>
            <p:custDataLst>
              <p:tags r:id="rId17"/>
            </p:custDataLst>
          </p:nvPr>
        </p:nvSpPr>
        <p:spPr>
          <a:xfrm>
            <a:off x="6699108" y="2084122"/>
            <a:ext cx="608932" cy="469896"/>
          </a:xfrm>
          <a:prstGeom prst="rect">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ctr">
              <a:lnSpc>
                <a:spcPct val="12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4" name="矩形 43"/>
          <p:cNvSpPr/>
          <p:nvPr>
            <p:custDataLst>
              <p:tags r:id="rId18"/>
            </p:custDataLst>
          </p:nvPr>
        </p:nvSpPr>
        <p:spPr>
          <a:xfrm>
            <a:off x="7080869" y="1863549"/>
            <a:ext cx="378933" cy="360552"/>
          </a:xfrm>
          <a:prstGeom prst="rect">
            <a:avLst/>
          </a:prstGeom>
          <a:solidFill>
            <a:schemeClr val="accent3">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95000" lnSpcReduction="10000"/>
          </a:bodyPr>
          <a:lstStyle/>
          <a:p>
            <a:pPr algn="ctr">
              <a:lnSpc>
                <a:spcPct val="12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5" name="文本框 44"/>
          <p:cNvSpPr txBox="1"/>
          <p:nvPr>
            <p:custDataLst>
              <p:tags r:id="rId19"/>
            </p:custDataLst>
          </p:nvPr>
        </p:nvSpPr>
        <p:spPr>
          <a:xfrm>
            <a:off x="6748595" y="2227872"/>
            <a:ext cx="509958" cy="267704"/>
          </a:xfrm>
          <a:prstGeom prst="rect">
            <a:avLst/>
          </a:prstGeom>
          <a:noFill/>
        </p:spPr>
        <p:txBody>
          <a:bodyPr wrap="square" rtlCol="0" anchor="ctr">
            <a:normAutofit/>
          </a:bodyPr>
          <a:lstStyle/>
          <a:p>
            <a:pPr algn="ctr">
              <a:lnSpc>
                <a:spcPct val="120000"/>
              </a:lnSpc>
            </a:pPr>
            <a:r>
              <a:rPr lang="en-US" altLang="zh-CN" sz="1000" b="1" spc="150">
                <a:solidFill>
                  <a:srgbClr val="000000"/>
                </a:solidFill>
                <a:latin typeface="Arial" panose="020B0604020202020204" pitchFamily="34" charset="0"/>
                <a:ea typeface="微软雅黑" panose="020B0503020204020204" charset="-122"/>
                <a:sym typeface="Arial" panose="020B0604020202020204" pitchFamily="34" charset="0"/>
              </a:rPr>
              <a:t>3</a:t>
            </a:r>
            <a:endParaRPr lang="en-US" altLang="zh-CN" sz="1000" b="1" spc="15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6" name="矩形 45"/>
          <p:cNvSpPr/>
          <p:nvPr>
            <p:custDataLst>
              <p:tags r:id="rId20"/>
            </p:custDataLst>
          </p:nvPr>
        </p:nvSpPr>
        <p:spPr>
          <a:xfrm>
            <a:off x="6980951" y="1765517"/>
            <a:ext cx="237540" cy="241782"/>
          </a:xfrm>
          <a:prstGeom prst="rect">
            <a:avLst/>
          </a:prstGeom>
          <a:solidFill>
            <a:schemeClr val="accent3">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47500" lnSpcReduction="1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7" name="矩形 46"/>
          <p:cNvSpPr/>
          <p:nvPr>
            <p:custDataLst>
              <p:tags r:id="rId21"/>
            </p:custDataLst>
          </p:nvPr>
        </p:nvSpPr>
        <p:spPr>
          <a:xfrm>
            <a:off x="6796669" y="1863549"/>
            <a:ext cx="132909" cy="131024"/>
          </a:xfrm>
          <a:prstGeom prst="rect">
            <a:avLst/>
          </a:prstGeom>
          <a:solidFill>
            <a:schemeClr val="accent3">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25000" lnSpcReduction="2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8" name="矩形 47"/>
          <p:cNvSpPr/>
          <p:nvPr>
            <p:custDataLst>
              <p:tags r:id="rId22"/>
            </p:custDataLst>
          </p:nvPr>
        </p:nvSpPr>
        <p:spPr>
          <a:xfrm>
            <a:off x="6699108" y="1765517"/>
            <a:ext cx="69282" cy="73996"/>
          </a:xfrm>
          <a:prstGeom prst="rect">
            <a:avLst/>
          </a:prstGeom>
          <a:solidFill>
            <a:schemeClr val="accent3">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fontScale="25000" lnSpcReduction="20000"/>
          </a:bodyPr>
          <a:lstStyle/>
          <a:p>
            <a:pPr algn="ctr">
              <a:lnSpc>
                <a:spcPct val="140000"/>
              </a:lnSpc>
            </a:pPr>
            <a:r>
              <a:rPr lang="en-US" altLang="zh-CN" dirty="0">
                <a:solidFill>
                  <a:srgbClr val="000000"/>
                </a:solidFill>
                <a:latin typeface="Arial" panose="020B0604020202020204" pitchFamily="34" charset="0"/>
                <a:ea typeface="微软雅黑" panose="020B0503020204020204" charset="-122"/>
                <a:sym typeface="Arial" panose="020B0604020202020204" pitchFamily="34" charset="0"/>
              </a:rPr>
              <a:t> </a:t>
            </a:r>
            <a:endParaRPr lang="en-US" altLang="zh-CN" dirty="0">
              <a:solidFill>
                <a:srgbClr val="000000"/>
              </a:solidFill>
              <a:latin typeface="Arial" panose="020B0604020202020204" pitchFamily="34" charset="0"/>
              <a:ea typeface="微软雅黑" panose="020B0503020204020204" charset="-122"/>
              <a:sym typeface="Arial" panose="020B0604020202020204" pitchFamily="34" charset="0"/>
            </a:endParaRPr>
          </a:p>
        </p:txBody>
      </p:sp>
      <p:sp>
        <p:nvSpPr>
          <p:cNvPr id="49" name="矩形 48"/>
          <p:cNvSpPr/>
          <p:nvPr>
            <p:custDataLst>
              <p:tags r:id="rId23"/>
            </p:custDataLst>
          </p:nvPr>
        </p:nvSpPr>
        <p:spPr>
          <a:xfrm>
            <a:off x="6135892" y="2695884"/>
            <a:ext cx="1735364" cy="1410160"/>
          </a:xfrm>
          <a:prstGeom prst="rect">
            <a:avLst/>
          </a:prstGeom>
        </p:spPr>
        <p:txBody>
          <a:bodyPr wrap="square" lIns="91440" tIns="45720" rIns="91440" bIns="45720" anchor="t" anchorCtr="0">
            <a:normAutofit fontScale="90000"/>
          </a:bodyPr>
          <a:lstStyle/>
          <a:p>
            <a:pPr marL="0" indent="0" algn="ctr" fontAlgn="auto">
              <a:lnSpc>
                <a:spcPct val="130000"/>
              </a:lnSpc>
              <a:spcBef>
                <a:spcPts val="0"/>
              </a:spcBef>
              <a:spcAft>
                <a:spcPts val="0"/>
              </a:spcAft>
              <a:buSzPct val="100000"/>
            </a:pPr>
            <a:r>
              <a:rPr lang="zh-CN" altLang="en-US" sz="1600" spc="150">
                <a:solidFill>
                  <a:schemeClr val="tx1">
                    <a:lumMod val="85000"/>
                    <a:lumOff val="15000"/>
                  </a:schemeClr>
                </a:solidFill>
                <a:latin typeface="Arial" panose="020B0604020202020204" pitchFamily="34" charset="0"/>
                <a:ea typeface="微软雅黑" panose="020B0503020204020204" charset="-122"/>
                <a:cs typeface="+mn-ea"/>
                <a:sym typeface="Arial" panose="020B0604020202020204" pitchFamily="34" charset="0"/>
              </a:rPr>
              <a:t>权重确定过程中存在一定的主观性和对特殊情况的不敏感性。</a:t>
            </a:r>
            <a:endParaRPr lang="zh-CN" altLang="en-US" sz="1600" spc="150">
              <a:solidFill>
                <a:schemeClr val="tx1">
                  <a:lumMod val="85000"/>
                  <a:lumOff val="1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9" name="文本框 8"/>
          <p:cNvSpPr txBox="1"/>
          <p:nvPr userDrawn="1"/>
        </p:nvSpPr>
        <p:spPr>
          <a:xfrm>
            <a:off x="401500" y="4301393"/>
            <a:ext cx="7399639" cy="982352"/>
          </a:xfrm>
          <a:prstGeom prst="rect">
            <a:avLst/>
          </a:prstGeom>
        </p:spPr>
        <p:txBody>
          <a:bodyPr wrap="none" rtlCol="0">
            <a:noAutofit/>
          </a:bodyPr>
          <a:lstStyle/>
          <a:p>
            <a:pPr algn="l"/>
            <a:r>
              <a:rPr lang="zh-CN" altLang="en-US" sz="1600" b="1"/>
              <a:t>在方法上，本研究虽然采用了熵权法TOPSIS和层次分析法对工程教育进行了深入分析，但仍存在</a:t>
            </a:r>
            <a:endParaRPr lang="zh-CN" altLang="en-US" sz="1600" b="1"/>
          </a:p>
          <a:p>
            <a:pPr algn="l"/>
            <a:r>
              <a:rPr lang="zh-CN" altLang="en-US" sz="1600" b="1"/>
              <a:t>局限性。在后续研究中应进一步拓展数据源，完善指标体系，以提高研究的准确性和可靠性。</a:t>
            </a:r>
            <a:endParaRPr lang="zh-CN" altLang="en-US" sz="16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000" fill="hold">
                                          <p:stCondLst>
                                            <p:cond delay="0"/>
                                          </p:stCondLst>
                                        </p:cTn>
                                        <p:tgtEl>
                                          <p:spTgt spid="9"/>
                                        </p:tgtEl>
                                        <p:attrNameLst>
                                          <p:attrName>style.visibility</p:attrName>
                                        </p:attrNameLst>
                                      </p:cBhvr>
                                      <p:to>
                                        <p:strVal val="visible"/>
                                      </p:to>
                                    </p:set>
                                    <p:animEffect transition="in" filter="diamond(in)">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ox(in)">
                                      <p:cBhvr>
                                        <p:cTn id="17" dur="20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dissolve">
                                      <p:cBhvr>
                                        <p:cTn id="2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4" grpId="0"/>
      <p:bldP spid="34" grpId="1"/>
      <p:bldP spid="42" grpId="0"/>
      <p:bldP spid="42" grpId="1"/>
      <p:bldP spid="49" grpId="0"/>
      <p:bldP spid="49"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94927" y="3280457"/>
            <a:ext cx="3602146" cy="880306"/>
          </a:xfrm>
          <a:prstGeom prst="rect">
            <a:avLst/>
          </a:prstGeom>
          <a:noFill/>
        </p:spPr>
        <p:txBody>
          <a:bodyPr wrap="square" rtlCol="0">
            <a:spAutoFit/>
          </a:bodyPr>
          <a:lstStyle/>
          <a:p>
            <a:pPr algn="ctr" defTabSz="609600">
              <a:lnSpc>
                <a:spcPct val="130000"/>
              </a:lnSpc>
            </a:pPr>
            <a:r>
              <a:rPr lang="en-US" altLang="zh-CN" sz="4400" b="1" dirty="0">
                <a:latin typeface="+mj-lt"/>
                <a:ea typeface="微软雅黑" panose="020B0503020204020204" charset="-122"/>
              </a:rPr>
              <a:t>PART FIVE</a:t>
            </a:r>
            <a:endParaRPr lang="en-US" altLang="zh-CN" sz="4400" b="1" dirty="0">
              <a:latin typeface="+mj-lt"/>
              <a:ea typeface="微软雅黑" panose="020B0503020204020204" charset="-122"/>
            </a:endParaRPr>
          </a:p>
        </p:txBody>
      </p:sp>
      <p:sp>
        <p:nvSpPr>
          <p:cNvPr id="3" name="文本框 2"/>
          <p:cNvSpPr txBox="1"/>
          <p:nvPr/>
        </p:nvSpPr>
        <p:spPr>
          <a:xfrm>
            <a:off x="3936733" y="2417412"/>
            <a:ext cx="4318534" cy="1173976"/>
          </a:xfrm>
          <a:prstGeom prst="rect">
            <a:avLst/>
          </a:prstGeom>
          <a:noFill/>
        </p:spPr>
        <p:txBody>
          <a:bodyPr wrap="square" rtlCol="0">
            <a:spAutoFit/>
          </a:bodyPr>
          <a:lstStyle/>
          <a:p>
            <a:pPr algn="ctr" defTabSz="609600">
              <a:lnSpc>
                <a:spcPct val="130000"/>
              </a:lnSpc>
            </a:pPr>
            <a:r>
              <a:rPr lang="zh-CN" altLang="en-US" sz="6000" dirty="0">
                <a:latin typeface="+mj-lt"/>
                <a:ea typeface="微软雅黑" panose="020B0503020204020204" charset="-122"/>
              </a:rPr>
              <a:t>参考文献</a:t>
            </a:r>
            <a:endParaRPr lang="zh-CN" altLang="en-US" sz="6000" dirty="0">
              <a:latin typeface="+mj-lt"/>
              <a:ea typeface="微软雅黑" panose="020B0503020204020204" charset="-122"/>
            </a:endParaRPr>
          </a:p>
        </p:txBody>
      </p:sp>
      <p:sp>
        <p:nvSpPr>
          <p:cNvPr id="4" name="矩形 3"/>
          <p:cNvSpPr/>
          <p:nvPr/>
        </p:nvSpPr>
        <p:spPr>
          <a:xfrm>
            <a:off x="4889817" y="4139690"/>
            <a:ext cx="2412366" cy="11334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7" name="图片 6"/>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diamond(i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0523"/>
            <a:ext cx="1794510" cy="306705"/>
          </a:xfrm>
          <a:prstGeom prst="rect">
            <a:avLst/>
          </a:prstGeom>
        </p:spPr>
        <p:txBody>
          <a:bodyPr wrap="none">
            <a:spAutoFit/>
          </a:bodyPr>
          <a:lstStyle/>
          <a:p>
            <a:r>
              <a:rPr lang="en-US" altLang="zh-CN" sz="1400" b="1" dirty="0"/>
              <a:t>PART FIVE </a:t>
            </a:r>
            <a:r>
              <a:rPr lang="zh-CN" altLang="en-US" sz="1400" b="1" dirty="0"/>
              <a:t>参考文献</a:t>
            </a:r>
            <a:endParaRPr lang="zh-CN" altLang="en-US" sz="1400" b="1" dirty="0"/>
          </a:p>
        </p:txBody>
      </p:sp>
      <p:sp>
        <p:nvSpPr>
          <p:cNvPr id="3" name="椭圆 2"/>
          <p:cNvSpPr/>
          <p:nvPr/>
        </p:nvSpPr>
        <p:spPr>
          <a:xfrm>
            <a:off x="1767675" y="157740"/>
            <a:ext cx="130917" cy="11334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p>
        </p:txBody>
      </p:sp>
      <p:pic>
        <p:nvPicPr>
          <p:cNvPr id="6" name="图片 5"/>
          <p:cNvPicPr>
            <a:picLocks noChangeAspect="1"/>
          </p:cNvPicPr>
          <p:nvPr/>
        </p:nvPicPr>
        <p:blipFill rotWithShape="1">
          <a:blip r:embed="rId1"/>
          <a:srcRect l="48897"/>
          <a:stretch>
            <a:fillRect/>
          </a:stretch>
        </p:blipFill>
        <p:spPr>
          <a:xfrm>
            <a:off x="0" y="356349"/>
            <a:ext cx="3137336" cy="6145301"/>
          </a:xfrm>
          <a:prstGeom prst="rect">
            <a:avLst/>
          </a:prstGeom>
        </p:spPr>
      </p:pic>
      <p:grpSp>
        <p:nvGrpSpPr>
          <p:cNvPr id="77" name="组合 76"/>
          <p:cNvGrpSpPr/>
          <p:nvPr/>
        </p:nvGrpSpPr>
        <p:grpSpPr>
          <a:xfrm>
            <a:off x="-573087" y="970655"/>
            <a:ext cx="4494766" cy="5563200"/>
            <a:chOff x="-25400" y="646062"/>
            <a:chExt cx="4494766" cy="5563200"/>
          </a:xfrm>
        </p:grpSpPr>
        <p:grpSp>
          <p:nvGrpSpPr>
            <p:cNvPr id="12" name="组合 11"/>
            <p:cNvGrpSpPr/>
            <p:nvPr/>
          </p:nvGrpSpPr>
          <p:grpSpPr>
            <a:xfrm>
              <a:off x="-25400" y="702733"/>
              <a:ext cx="4470400" cy="2751667"/>
              <a:chOff x="-25400" y="702733"/>
              <a:chExt cx="4470400" cy="2751667"/>
            </a:xfrm>
          </p:grpSpPr>
          <p:sp>
            <p:nvSpPr>
              <p:cNvPr id="9" name="任意多边形 8"/>
              <p:cNvSpPr/>
              <p:nvPr/>
            </p:nvSpPr>
            <p:spPr>
              <a:xfrm>
                <a:off x="-8467" y="702733"/>
                <a:ext cx="4453467" cy="2743200"/>
              </a:xfrm>
              <a:custGeom>
                <a:avLst/>
                <a:gdLst>
                  <a:gd name="connsiteX0" fmla="*/ 0 w 4453467"/>
                  <a:gd name="connsiteY0" fmla="*/ 2743200 h 2743200"/>
                  <a:gd name="connsiteX1" fmla="*/ 1837267 w 4453467"/>
                  <a:gd name="connsiteY1" fmla="*/ 0 h 2743200"/>
                  <a:gd name="connsiteX2" fmla="*/ 4453467 w 4453467"/>
                  <a:gd name="connsiteY2" fmla="*/ 0 h 2743200"/>
                </a:gdLst>
                <a:ahLst/>
                <a:cxnLst>
                  <a:cxn ang="0">
                    <a:pos x="connsiteX0" y="connsiteY0"/>
                  </a:cxn>
                  <a:cxn ang="0">
                    <a:pos x="connsiteX1" y="connsiteY1"/>
                  </a:cxn>
                  <a:cxn ang="0">
                    <a:pos x="connsiteX2" y="connsiteY2"/>
                  </a:cxn>
                </a:cxnLst>
                <a:rect l="l" t="t" r="r" b="b"/>
                <a:pathLst>
                  <a:path w="4453467" h="2743200">
                    <a:moveTo>
                      <a:pt x="0" y="2743200"/>
                    </a:moveTo>
                    <a:lnTo>
                      <a:pt x="1837267" y="0"/>
                    </a:lnTo>
                    <a:lnTo>
                      <a:pt x="4453467"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a:xfrm>
                <a:off x="-25400" y="1786467"/>
                <a:ext cx="4445000" cy="1659466"/>
              </a:xfrm>
              <a:custGeom>
                <a:avLst/>
                <a:gdLst>
                  <a:gd name="connsiteX0" fmla="*/ 0 w 4445000"/>
                  <a:gd name="connsiteY0" fmla="*/ 1659466 h 1659466"/>
                  <a:gd name="connsiteX1" fmla="*/ 2472267 w 4445000"/>
                  <a:gd name="connsiteY1" fmla="*/ 0 h 1659466"/>
                  <a:gd name="connsiteX2" fmla="*/ 4445000 w 4445000"/>
                  <a:gd name="connsiteY2" fmla="*/ 0 h 1659466"/>
                </a:gdLst>
                <a:ahLst/>
                <a:cxnLst>
                  <a:cxn ang="0">
                    <a:pos x="connsiteX0" y="connsiteY0"/>
                  </a:cxn>
                  <a:cxn ang="0">
                    <a:pos x="connsiteX1" y="connsiteY1"/>
                  </a:cxn>
                  <a:cxn ang="0">
                    <a:pos x="connsiteX2" y="connsiteY2"/>
                  </a:cxn>
                </a:cxnLst>
                <a:rect l="l" t="t" r="r" b="b"/>
                <a:pathLst>
                  <a:path w="4445000" h="1659466">
                    <a:moveTo>
                      <a:pt x="0" y="1659466"/>
                    </a:moveTo>
                    <a:lnTo>
                      <a:pt x="2472267" y="0"/>
                    </a:lnTo>
                    <a:lnTo>
                      <a:pt x="444500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25400" y="2861733"/>
                <a:ext cx="4394200" cy="592667"/>
              </a:xfrm>
              <a:custGeom>
                <a:avLst/>
                <a:gdLst>
                  <a:gd name="connsiteX0" fmla="*/ 0 w 4394200"/>
                  <a:gd name="connsiteY0" fmla="*/ 592667 h 592667"/>
                  <a:gd name="connsiteX1" fmla="*/ 2912533 w 4394200"/>
                  <a:gd name="connsiteY1" fmla="*/ 0 h 592667"/>
                  <a:gd name="connsiteX2" fmla="*/ 4394200 w 4394200"/>
                  <a:gd name="connsiteY2" fmla="*/ 0 h 592667"/>
                </a:gdLst>
                <a:ahLst/>
                <a:cxnLst>
                  <a:cxn ang="0">
                    <a:pos x="connsiteX0" y="connsiteY0"/>
                  </a:cxn>
                  <a:cxn ang="0">
                    <a:pos x="connsiteX1" y="connsiteY1"/>
                  </a:cxn>
                  <a:cxn ang="0">
                    <a:pos x="connsiteX2" y="connsiteY2"/>
                  </a:cxn>
                </a:cxnLst>
                <a:rect l="l" t="t" r="r" b="b"/>
                <a:pathLst>
                  <a:path w="4394200" h="592667">
                    <a:moveTo>
                      <a:pt x="0" y="592667"/>
                    </a:moveTo>
                    <a:lnTo>
                      <a:pt x="2912533" y="0"/>
                    </a:lnTo>
                    <a:lnTo>
                      <a:pt x="439420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V="1">
              <a:off x="-25400" y="3403598"/>
              <a:ext cx="4470400" cy="2751667"/>
              <a:chOff x="-25400" y="702733"/>
              <a:chExt cx="4470400" cy="2751667"/>
            </a:xfrm>
          </p:grpSpPr>
          <p:sp>
            <p:nvSpPr>
              <p:cNvPr id="14" name="任意多边形 13"/>
              <p:cNvSpPr/>
              <p:nvPr/>
            </p:nvSpPr>
            <p:spPr>
              <a:xfrm>
                <a:off x="-8467" y="702733"/>
                <a:ext cx="4453467" cy="2743200"/>
              </a:xfrm>
              <a:custGeom>
                <a:avLst/>
                <a:gdLst>
                  <a:gd name="connsiteX0" fmla="*/ 0 w 4453467"/>
                  <a:gd name="connsiteY0" fmla="*/ 2743200 h 2743200"/>
                  <a:gd name="connsiteX1" fmla="*/ 1837267 w 4453467"/>
                  <a:gd name="connsiteY1" fmla="*/ 0 h 2743200"/>
                  <a:gd name="connsiteX2" fmla="*/ 4453467 w 4453467"/>
                  <a:gd name="connsiteY2" fmla="*/ 0 h 2743200"/>
                </a:gdLst>
                <a:ahLst/>
                <a:cxnLst>
                  <a:cxn ang="0">
                    <a:pos x="connsiteX0" y="connsiteY0"/>
                  </a:cxn>
                  <a:cxn ang="0">
                    <a:pos x="connsiteX1" y="connsiteY1"/>
                  </a:cxn>
                  <a:cxn ang="0">
                    <a:pos x="connsiteX2" y="connsiteY2"/>
                  </a:cxn>
                </a:cxnLst>
                <a:rect l="l" t="t" r="r" b="b"/>
                <a:pathLst>
                  <a:path w="4453467" h="2743200">
                    <a:moveTo>
                      <a:pt x="0" y="2743200"/>
                    </a:moveTo>
                    <a:lnTo>
                      <a:pt x="1837267" y="0"/>
                    </a:lnTo>
                    <a:lnTo>
                      <a:pt x="4453467"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25400" y="1786467"/>
                <a:ext cx="4445000" cy="1659466"/>
              </a:xfrm>
              <a:custGeom>
                <a:avLst/>
                <a:gdLst>
                  <a:gd name="connsiteX0" fmla="*/ 0 w 4445000"/>
                  <a:gd name="connsiteY0" fmla="*/ 1659466 h 1659466"/>
                  <a:gd name="connsiteX1" fmla="*/ 2472267 w 4445000"/>
                  <a:gd name="connsiteY1" fmla="*/ 0 h 1659466"/>
                  <a:gd name="connsiteX2" fmla="*/ 4445000 w 4445000"/>
                  <a:gd name="connsiteY2" fmla="*/ 0 h 1659466"/>
                </a:gdLst>
                <a:ahLst/>
                <a:cxnLst>
                  <a:cxn ang="0">
                    <a:pos x="connsiteX0" y="connsiteY0"/>
                  </a:cxn>
                  <a:cxn ang="0">
                    <a:pos x="connsiteX1" y="connsiteY1"/>
                  </a:cxn>
                  <a:cxn ang="0">
                    <a:pos x="connsiteX2" y="connsiteY2"/>
                  </a:cxn>
                </a:cxnLst>
                <a:rect l="l" t="t" r="r" b="b"/>
                <a:pathLst>
                  <a:path w="4445000" h="1659466">
                    <a:moveTo>
                      <a:pt x="0" y="1659466"/>
                    </a:moveTo>
                    <a:lnTo>
                      <a:pt x="2472267" y="0"/>
                    </a:lnTo>
                    <a:lnTo>
                      <a:pt x="444500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25400" y="2861733"/>
                <a:ext cx="4394200" cy="592667"/>
              </a:xfrm>
              <a:custGeom>
                <a:avLst/>
                <a:gdLst>
                  <a:gd name="connsiteX0" fmla="*/ 0 w 4394200"/>
                  <a:gd name="connsiteY0" fmla="*/ 592667 h 592667"/>
                  <a:gd name="connsiteX1" fmla="*/ 2912533 w 4394200"/>
                  <a:gd name="connsiteY1" fmla="*/ 0 h 592667"/>
                  <a:gd name="connsiteX2" fmla="*/ 4394200 w 4394200"/>
                  <a:gd name="connsiteY2" fmla="*/ 0 h 592667"/>
                </a:gdLst>
                <a:ahLst/>
                <a:cxnLst>
                  <a:cxn ang="0">
                    <a:pos x="connsiteX0" y="connsiteY0"/>
                  </a:cxn>
                  <a:cxn ang="0">
                    <a:pos x="connsiteX1" y="connsiteY1"/>
                  </a:cxn>
                  <a:cxn ang="0">
                    <a:pos x="connsiteX2" y="connsiteY2"/>
                  </a:cxn>
                </a:cxnLst>
                <a:rect l="l" t="t" r="r" b="b"/>
                <a:pathLst>
                  <a:path w="4394200" h="592667">
                    <a:moveTo>
                      <a:pt x="0" y="592667"/>
                    </a:moveTo>
                    <a:lnTo>
                      <a:pt x="2912533" y="0"/>
                    </a:lnTo>
                    <a:lnTo>
                      <a:pt x="439420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p:cNvSpPr/>
            <p:nvPr/>
          </p:nvSpPr>
          <p:spPr>
            <a:xfrm>
              <a:off x="4361366" y="646062"/>
              <a:ext cx="108000" cy="10800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椭圆 17"/>
            <p:cNvSpPr/>
            <p:nvPr/>
          </p:nvSpPr>
          <p:spPr>
            <a:xfrm>
              <a:off x="4361366" y="1732467"/>
              <a:ext cx="108000" cy="108000"/>
            </a:xfrm>
            <a:prstGeom prst="ellipse">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椭圆 18"/>
            <p:cNvSpPr/>
            <p:nvPr/>
          </p:nvSpPr>
          <p:spPr>
            <a:xfrm>
              <a:off x="4361366" y="2814032"/>
              <a:ext cx="108000" cy="108000"/>
            </a:xfrm>
            <a:prstGeom prst="ellipse">
              <a:avLst/>
            </a:prstGeom>
            <a:solidFill>
              <a:srgbClr val="FFFF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椭圆 19"/>
            <p:cNvSpPr/>
            <p:nvPr/>
          </p:nvSpPr>
          <p:spPr>
            <a:xfrm>
              <a:off x="4361366" y="3933800"/>
              <a:ext cx="108000" cy="108000"/>
            </a:xfrm>
            <a:prstGeom prst="ellipse">
              <a:avLst/>
            </a:prstGeom>
            <a:solidFill>
              <a:srgbClr val="92D05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椭圆 20"/>
            <p:cNvSpPr/>
            <p:nvPr/>
          </p:nvSpPr>
          <p:spPr>
            <a:xfrm>
              <a:off x="4361366" y="5017531"/>
              <a:ext cx="108000" cy="108000"/>
            </a:xfrm>
            <a:prstGeom prst="ellipse">
              <a:avLst/>
            </a:prstGeom>
            <a:solidFill>
              <a:srgbClr val="00B0F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椭圆 21"/>
            <p:cNvSpPr/>
            <p:nvPr/>
          </p:nvSpPr>
          <p:spPr>
            <a:xfrm>
              <a:off x="4361366" y="6101262"/>
              <a:ext cx="108000" cy="108000"/>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pic>
        <p:nvPicPr>
          <p:cNvPr id="5" name="图片 4"/>
          <p:cNvPicPr>
            <a:picLocks noChangeAspect="1"/>
          </p:cNvPicPr>
          <p:nvPr/>
        </p:nvPicPr>
        <p:blipFill rotWithShape="1">
          <a:blip r:embed="rId2"/>
          <a:srcRect l="49574"/>
          <a:stretch>
            <a:fillRect/>
          </a:stretch>
        </p:blipFill>
        <p:spPr>
          <a:xfrm>
            <a:off x="-8468" y="2435266"/>
            <a:ext cx="1002201" cy="1987468"/>
          </a:xfrm>
          <a:prstGeom prst="rect">
            <a:avLst/>
          </a:prstGeom>
        </p:spPr>
      </p:pic>
      <p:sp>
        <p:nvSpPr>
          <p:cNvPr id="7" name="文本框 6"/>
          <p:cNvSpPr txBox="1"/>
          <p:nvPr userDrawn="1"/>
        </p:nvSpPr>
        <p:spPr>
          <a:xfrm>
            <a:off x="3921681" y="1078706"/>
            <a:ext cx="7580114" cy="922020"/>
          </a:xfrm>
          <a:prstGeom prst="rect">
            <a:avLst/>
          </a:prstGeom>
        </p:spPr>
        <p:txBody>
          <a:bodyPr wrap="square" rtlCol="0">
            <a:noAutofit/>
          </a:bodyPr>
          <a:lstStyle/>
          <a:p>
            <a:pPr algn="l"/>
            <a:r>
              <a:rPr lang="zh-CN" altLang="en-US">
                <a:solidFill>
                  <a:srgbClr val="7F7F7F"/>
                </a:solidFill>
              </a:rPr>
              <a:t>    多元分类视角的高等工程教育评价指标体系构建及其应用——以97所</a:t>
            </a:r>
            <a:endParaRPr lang="zh-CN" altLang="en-US">
              <a:solidFill>
                <a:srgbClr val="7F7F7F"/>
              </a:solidFill>
            </a:endParaRPr>
          </a:p>
          <a:p>
            <a:pPr algn="l"/>
            <a:r>
              <a:rPr lang="zh-CN" altLang="en-US">
                <a:solidFill>
                  <a:srgbClr val="7F7F7F"/>
                </a:solidFill>
              </a:rPr>
              <a:t>“双一流” 建设高校为样本 [J]. 中国高教研究</a:t>
            </a:r>
            <a:endParaRPr lang="zh-CN" altLang="en-US">
              <a:solidFill>
                <a:srgbClr val="7F7F7F"/>
              </a:solidFill>
            </a:endParaRPr>
          </a:p>
          <a:p>
            <a:pPr algn="r"/>
            <a:r>
              <a:rPr lang="zh-CN" altLang="en-US">
                <a:solidFill>
                  <a:srgbClr val="7F7F7F"/>
                </a:solidFill>
              </a:rPr>
              <a:t>—— 张炜,邓勇新,辛越优,等</a:t>
            </a:r>
            <a:endParaRPr lang="zh-CN" altLang="en-US">
              <a:solidFill>
                <a:srgbClr val="7F7F7F"/>
              </a:solidFill>
            </a:endParaRPr>
          </a:p>
        </p:txBody>
      </p:sp>
      <p:sp>
        <p:nvSpPr>
          <p:cNvPr id="8" name="文本框 7"/>
          <p:cNvSpPr txBox="1"/>
          <p:nvPr userDrawn="1"/>
        </p:nvSpPr>
        <p:spPr>
          <a:xfrm>
            <a:off x="4051181" y="2541191"/>
            <a:ext cx="7406005" cy="645160"/>
          </a:xfrm>
          <a:prstGeom prst="rect">
            <a:avLst/>
          </a:prstGeom>
        </p:spPr>
        <p:txBody>
          <a:bodyPr wrap="square" rtlCol="0">
            <a:noAutofit/>
          </a:bodyPr>
          <a:lstStyle/>
          <a:p>
            <a:pPr algn="l"/>
            <a:r>
              <a:rPr lang="zh-CN" altLang="en-US">
                <a:solidFill>
                  <a:srgbClr val="7F7F7F"/>
                </a:solidFill>
              </a:rPr>
              <a:t>  优志愿. 大学白皮书： 清华和北大到底哪个好？ 院校综合实力对比分析. </a:t>
            </a:r>
            <a:endParaRPr lang="zh-CN" altLang="en-US">
              <a:solidFill>
                <a:srgbClr val="7F7F7F"/>
              </a:solidFill>
            </a:endParaRPr>
          </a:p>
          <a:p>
            <a:pPr algn="r"/>
            <a:r>
              <a:rPr lang="zh-CN" altLang="en-US">
                <a:solidFill>
                  <a:srgbClr val="7F7F7F"/>
                </a:solidFill>
              </a:rPr>
              <a:t>——知乎.https://zhuanlan.zhihu.com/p/87935232</a:t>
            </a:r>
            <a:endParaRPr lang="zh-CN" altLang="en-US">
              <a:solidFill>
                <a:srgbClr val="7F7F7F"/>
              </a:solidFill>
            </a:endParaRPr>
          </a:p>
        </p:txBody>
      </p:sp>
      <p:sp>
        <p:nvSpPr>
          <p:cNvPr id="31" name="文本框 30"/>
          <p:cNvSpPr txBox="1"/>
          <p:nvPr userDrawn="1"/>
        </p:nvSpPr>
        <p:spPr>
          <a:xfrm>
            <a:off x="4229695" y="3916283"/>
            <a:ext cx="7227451" cy="645160"/>
          </a:xfrm>
          <a:prstGeom prst="rect">
            <a:avLst/>
          </a:prstGeom>
        </p:spPr>
        <p:txBody>
          <a:bodyPr wrap="square" rtlCol="0">
            <a:noAutofit/>
          </a:bodyPr>
          <a:lstStyle/>
          <a:p>
            <a:r>
              <a:rPr lang="en-US" altLang="zh-CN" dirty="0">
                <a:solidFill>
                  <a:srgbClr val="7F7F7F"/>
                </a:solidFill>
              </a:rPr>
              <a:t>2023</a:t>
            </a:r>
            <a:r>
              <a:rPr lang="zh-CN" altLang="en-US" dirty="0">
                <a:solidFill>
                  <a:srgbClr val="7F7F7F"/>
                </a:solidFill>
              </a:rPr>
              <a:t>世界大学排名</a:t>
            </a:r>
            <a:endParaRPr lang="en-US" altLang="zh-CN" dirty="0">
              <a:solidFill>
                <a:srgbClr val="7F7F7F"/>
              </a:solidFill>
            </a:endParaRPr>
          </a:p>
          <a:p>
            <a:pPr algn="r"/>
            <a:r>
              <a:rPr lang="zh-CN" altLang="en-US" dirty="0">
                <a:solidFill>
                  <a:srgbClr val="7F7F7F"/>
                </a:solidFill>
              </a:rPr>
              <a:t>——泰晤士高等教育(Times Higher Education).</a:t>
            </a:r>
            <a:endParaRPr lang="zh-CN" altLang="en-US" dirty="0">
              <a:solidFill>
                <a:srgbClr val="7F7F7F"/>
              </a:solidFill>
            </a:endParaRPr>
          </a:p>
        </p:txBody>
      </p:sp>
      <p:sp>
        <p:nvSpPr>
          <p:cNvPr id="32" name="文本框 31"/>
          <p:cNvSpPr txBox="1"/>
          <p:nvPr userDrawn="1"/>
        </p:nvSpPr>
        <p:spPr>
          <a:xfrm>
            <a:off x="4095810" y="5197078"/>
            <a:ext cx="7316748" cy="922020"/>
          </a:xfrm>
          <a:prstGeom prst="rect">
            <a:avLst/>
          </a:prstGeom>
        </p:spPr>
        <p:txBody>
          <a:bodyPr wrap="square" rtlCol="0">
            <a:noAutofit/>
          </a:bodyPr>
          <a:lstStyle/>
          <a:p>
            <a:pPr algn="l"/>
            <a:r>
              <a:rPr lang="zh-CN" altLang="en-US">
                <a:solidFill>
                  <a:srgbClr val="7F7F7F"/>
                </a:solidFill>
              </a:rPr>
              <a:t> QS世界大学排名. 2023年世界大学排名.</a:t>
            </a:r>
            <a:endParaRPr lang="zh-CN" altLang="en-US">
              <a:solidFill>
                <a:srgbClr val="7F7F7F"/>
              </a:solidFill>
            </a:endParaRPr>
          </a:p>
          <a:p>
            <a:pPr algn="r"/>
            <a:r>
              <a:rPr lang="zh-CN" altLang="en-US">
                <a:solidFill>
                  <a:srgbClr val="7F7F7F"/>
                </a:solidFill>
              </a:rPr>
              <a:t>—— https://www.qschina.cn/</a:t>
            </a:r>
            <a:endParaRPr lang="zh-CN" altLang="en-US">
              <a:solidFill>
                <a:srgbClr val="7F7F7F"/>
              </a:solidFill>
            </a:endParaRPr>
          </a:p>
          <a:p>
            <a:pPr algn="r"/>
            <a:r>
              <a:rPr lang="zh-CN" altLang="en-US">
                <a:solidFill>
                  <a:srgbClr val="7F7F7F"/>
                </a:solidFill>
              </a:rPr>
              <a:t>university-rankings/worlduniversity-rankings/2023</a:t>
            </a:r>
            <a:endParaRPr lang="zh-CN" altLang="en-US">
              <a:solidFill>
                <a:srgbClr val="7F7F7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93700" y="2360410"/>
            <a:ext cx="8604600" cy="830997"/>
          </a:xfrm>
          <a:prstGeom prst="rect">
            <a:avLst/>
          </a:prstGeom>
        </p:spPr>
        <p:txBody>
          <a:bodyPr wrap="none">
            <a:spAutoFit/>
          </a:bodyPr>
          <a:lstStyle/>
          <a:p>
            <a:pPr algn="ctr"/>
            <a:r>
              <a:rPr lang="en-US" altLang="zh-CN" sz="4800" b="1" dirty="0"/>
              <a:t>THANK YOU FOR WATCHING</a:t>
            </a:r>
            <a:endParaRPr lang="en-US" altLang="zh-CN" sz="4800" b="1" dirty="0"/>
          </a:p>
        </p:txBody>
      </p:sp>
      <p:sp>
        <p:nvSpPr>
          <p:cNvPr id="9" name="椭圆 8"/>
          <p:cNvSpPr/>
          <p:nvPr/>
        </p:nvSpPr>
        <p:spPr>
          <a:xfrm>
            <a:off x="2312493" y="60523"/>
            <a:ext cx="307776" cy="30777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248720" y="3538899"/>
            <a:ext cx="2683933" cy="58420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dirty="0">
                <a:solidFill>
                  <a:schemeClr val="tx1"/>
                </a:solidFill>
              </a:rPr>
              <a:t>工程概论</a:t>
            </a:r>
            <a:r>
              <a:rPr lang="en-US" altLang="zh-CN" sz="1400" dirty="0">
                <a:solidFill>
                  <a:schemeClr val="tx1"/>
                </a:solidFill>
              </a:rPr>
              <a:t>12</a:t>
            </a:r>
            <a:r>
              <a:rPr lang="zh-CN" altLang="en-US" sz="1400" dirty="0">
                <a:solidFill>
                  <a:schemeClr val="tx1"/>
                </a:solidFill>
              </a:rPr>
              <a:t>组</a:t>
            </a:r>
            <a:endParaRPr lang="en-US" altLang="zh-CN" sz="1400" dirty="0">
              <a:solidFill>
                <a:schemeClr val="tx1"/>
              </a:solidFill>
            </a:endParaRPr>
          </a:p>
        </p:txBody>
      </p:sp>
      <p:pic>
        <p:nvPicPr>
          <p:cNvPr id="10" name="图片 9"/>
          <p:cNvPicPr>
            <a:picLocks noChangeAspect="1"/>
          </p:cNvPicPr>
          <p:nvPr/>
        </p:nvPicPr>
        <p:blipFill>
          <a:blip r:embed="rId1">
            <a:duotone>
              <a:prstClr val="black"/>
              <a:schemeClr val="tx2">
                <a:tint val="45000"/>
                <a:satMod val="400000"/>
              </a:schemeClr>
            </a:duotone>
          </a:blip>
          <a:stretch>
            <a:fillRect/>
          </a:stretch>
        </p:blipFill>
        <p:spPr>
          <a:xfrm>
            <a:off x="5037156" y="6093921"/>
            <a:ext cx="2117688" cy="570755"/>
          </a:xfrm>
          <a:prstGeom prst="rect">
            <a:avLst/>
          </a:prstGeom>
        </p:spPr>
      </p:pic>
      <p:sp>
        <p:nvSpPr>
          <p:cNvPr id="2" name="文本框 1"/>
          <p:cNvSpPr txBox="1"/>
          <p:nvPr userDrawn="1"/>
        </p:nvSpPr>
        <p:spPr>
          <a:xfrm>
            <a:off x="8202634" y="4417143"/>
            <a:ext cx="3852517" cy="1881019"/>
          </a:xfrm>
          <a:prstGeom prst="rect">
            <a:avLst/>
          </a:prstGeom>
        </p:spPr>
        <p:txBody>
          <a:bodyPr wrap="none" rtlCol="0">
            <a:noAutofit/>
          </a:bodyPr>
          <a:lstStyle/>
          <a:p>
            <a:r>
              <a:rPr lang="zh-CN" altLang="en-US" dirty="0"/>
              <a:t>魏朝旭  论文排版及数学建模及答辩</a:t>
            </a:r>
            <a:endParaRPr lang="zh-CN" altLang="en-US" dirty="0"/>
          </a:p>
          <a:p>
            <a:r>
              <a:rPr lang="zh-CN" altLang="en-US" dirty="0"/>
              <a:t>梁亚冰  查阅文献及ppt 制作</a:t>
            </a:r>
            <a:endParaRPr lang="en-US" altLang="zh-CN" dirty="0"/>
          </a:p>
          <a:p>
            <a:r>
              <a:rPr lang="zh-CN" altLang="en-US" dirty="0"/>
              <a:t>景妍      查阅文献及辅助ppt制作</a:t>
            </a:r>
            <a:endParaRPr lang="zh-CN" altLang="en-US" dirty="0"/>
          </a:p>
          <a:p>
            <a:pPr algn="l"/>
            <a:r>
              <a:rPr lang="zh-CN" altLang="en-US" dirty="0"/>
              <a:t>白婧玉  图表制作</a:t>
            </a:r>
            <a:endParaRPr lang="zh-CN" altLang="en-US" dirty="0"/>
          </a:p>
          <a:p>
            <a:pPr algn="l"/>
            <a:r>
              <a:rPr lang="zh-CN" altLang="en-US" dirty="0"/>
              <a:t>张云冕  数据处理及结论</a:t>
            </a:r>
            <a:endParaRPr lang="zh-CN" altLang="en-US" dirty="0"/>
          </a:p>
          <a:p>
            <a:pPr algn="l"/>
            <a:r>
              <a:rPr lang="zh-CN" altLang="en-US" dirty="0"/>
              <a:t>雷皓程  摘要及引言</a:t>
            </a:r>
            <a:endParaRPr lang="zh-CN" altLang="en-US" dirty="0"/>
          </a:p>
        </p:txBody>
      </p:sp>
    </p:spTree>
  </p:cSld>
  <p:clrMapOvr>
    <a:masterClrMapping/>
  </p:clrMapOvr>
  <p:transition spd="slow">
    <p:push dir="u"/>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18_2*l_h_i*1_3_1"/>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160418_2*l_h_i*1_3_2"/>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3.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18_2*l_h_f*1_3_1"/>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18_2*l_h_i*1_1_1"/>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160418_2*l_h_i*1_1_2"/>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6.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18_2*l_h_f*1_1_1"/>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18_2*l_h_i*1_2_1"/>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160418_2*l_h_i*1_2_2"/>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9.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18_2*l_h_f*1_2_1"/>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3"/>
  <p:tag name="KSO_WM_UNIT_ID" val="diagram160418_2*l_h_i*1_1_3"/>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3"/>
  <p:tag name="KSO_WM_UNIT_ID" val="diagram160418_2*l_h_i*1_2_3"/>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3"/>
  <p:tag name="KSO_WM_UNIT_ID" val="diagram160418_2*l_h_i*1_3_3"/>
  <p:tag name="KSO_WM_TEMPLATE_CATEGORY" val="diagram"/>
  <p:tag name="KSO_WM_TEMPLATE_INDEX" val="160418"/>
  <p:tag name="KSO_WM_UNIT_LAYERLEVEL" val="1_1_1"/>
  <p:tag name="KSO_WM_TAG_VERSION" val="1.0"/>
  <p:tag name="KSO_WM_BEAUTIFY_FLAG" val="#wm#"/>
  <p:tag name="KSO_WM_DIAGRAM_VIRTUALLY_FRAME" val="{&quot;height&quot;:279.101962288937,&quot;left&quot;:28.851327690786718,&quot;top&quot;:166.97055739610235,&quot;width&quot;:605.4265463249614}"/>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307_3*l_h_i*1_1_1"/>
  <p:tag name="KSO_WM_TEMPLATE_CATEGORY" val="diagram"/>
  <p:tag name="KSO_WM_TEMPLATE_INDEX" val="307"/>
  <p:tag name="KSO_WM_UNIT_LAYERLEVEL" val="1_1_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307_3*l_h_i*1_1_2"/>
  <p:tag name="KSO_WM_TEMPLATE_CATEGORY" val="diagram"/>
  <p:tag name="KSO_WM_TEMPLATE_INDEX" val="307"/>
  <p:tag name="KSO_WM_UNIT_LAYERLEVEL" val="1_1_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3"/>
  <p:tag name="KSO_WM_UNIT_ID" val="diagram307_3*l_h_i*1_1_3"/>
  <p:tag name="KSO_WM_TEMPLATE_CATEGORY" val="diagram"/>
  <p:tag name="KSO_WM_TEMPLATE_INDEX" val="307"/>
  <p:tag name="KSO_WM_UNIT_LAYERLEVEL" val="1_1_1"/>
  <p:tag name="KSO_WM_TAG_VERSION" val="1.0"/>
  <p:tag name="KSO_WM_BEAUTIFY_FLAG" val="#wm#"/>
</p:tagLst>
</file>

<file path=ppt/tags/tag16.xml><?xml version="1.0" encoding="utf-8"?>
<p:tagLst xmlns:p="http://schemas.openxmlformats.org/presentationml/2006/main">
  <p:tag name="KSO_WM_UNIT_SUBTYPE" val="a"/>
  <p:tag name="KSO_WM_UNIT_PRESET_TEXT" val="添加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307_3*l_h_f*1_1_1"/>
  <p:tag name="KSO_WM_TEMPLATE_CATEGORY" val="diagram"/>
  <p:tag name="KSO_WM_TEMPLATE_INDEX" val="307"/>
  <p:tag name="KSO_WM_UNIT_LAYERLEVEL" val="1_1_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307_3*l_h_i*1_2_1"/>
  <p:tag name="KSO_WM_TEMPLATE_CATEGORY" val="diagram"/>
  <p:tag name="KSO_WM_TEMPLATE_INDEX" val="307"/>
  <p:tag name="KSO_WM_UNIT_LAYERLEVEL" val="1_1_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307_3*l_h_i*1_2_2"/>
  <p:tag name="KSO_WM_TEMPLATE_CATEGORY" val="diagram"/>
  <p:tag name="KSO_WM_TEMPLATE_INDEX" val="307"/>
  <p:tag name="KSO_WM_UNIT_LAYERLEVEL" val="1_1_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3"/>
  <p:tag name="KSO_WM_UNIT_ID" val="diagram307_3*l_h_i*1_2_3"/>
  <p:tag name="KSO_WM_TEMPLATE_CATEGORY" val="diagram"/>
  <p:tag name="KSO_WM_TEMPLATE_INDEX" val="307"/>
  <p:tag name="KSO_WM_UNIT_LAYERLEVEL" val="1_1_1"/>
  <p:tag name="KSO_WM_TAG_VERSION" val="1.0"/>
  <p:tag name="KSO_WM_BEAUTIFY_FLAG" val="#wm#"/>
</p:tagLst>
</file>

<file path=ppt/tags/tag20.xml><?xml version="1.0" encoding="utf-8"?>
<p:tagLst xmlns:p="http://schemas.openxmlformats.org/presentationml/2006/main">
  <p:tag name="KSO_WM_UNIT_SUBTYPE" val="a"/>
  <p:tag name="KSO_WM_UNIT_PRESET_TEXT" val="添加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307_3*l_h_f*1_2_1"/>
  <p:tag name="KSO_WM_TEMPLATE_CATEGORY" val="diagram"/>
  <p:tag name="KSO_WM_TEMPLATE_INDEX" val="307"/>
  <p:tag name="KSO_WM_UNIT_LAYERLEVEL" val="1_1_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307_3*l_h_i*1_3_1"/>
  <p:tag name="KSO_WM_TEMPLATE_CATEGORY" val="diagram"/>
  <p:tag name="KSO_WM_TEMPLATE_INDEX" val="307"/>
  <p:tag name="KSO_WM_UNIT_LAYERLEVEL" val="1_1_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307_3*l_h_i*1_3_2"/>
  <p:tag name="KSO_WM_TEMPLATE_CATEGORY" val="diagram"/>
  <p:tag name="KSO_WM_TEMPLATE_INDEX" val="307"/>
  <p:tag name="KSO_WM_UNIT_LAYERLEVEL" val="1_1_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3"/>
  <p:tag name="KSO_WM_UNIT_ID" val="diagram307_3*l_h_i*1_3_3"/>
  <p:tag name="KSO_WM_TEMPLATE_CATEGORY" val="diagram"/>
  <p:tag name="KSO_WM_TEMPLATE_INDEX" val="307"/>
  <p:tag name="KSO_WM_UNIT_LAYERLEVEL" val="1_1_1"/>
  <p:tag name="KSO_WM_TAG_VERSION" val="1.0"/>
  <p:tag name="KSO_WM_BEAUTIFY_FLAG" val="#wm#"/>
</p:tagLst>
</file>

<file path=ppt/tags/tag24.xml><?xml version="1.0" encoding="utf-8"?>
<p:tagLst xmlns:p="http://schemas.openxmlformats.org/presentationml/2006/main">
  <p:tag name="KSO_WM_UNIT_SUBTYPE" val="a"/>
  <p:tag name="KSO_WM_UNIT_PRESET_TEXT" val="添加标题"/>
  <p:tag name="KSO_WM_UNIT_NOCLEAR" val="0"/>
  <p:tag name="KSO_WM_UNIT_VALUE" val="15"/>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307_3*l_h_f*1_3_1"/>
  <p:tag name="KSO_WM_TEMPLATE_CATEGORY" val="diagram"/>
  <p:tag name="KSO_WM_TEMPLATE_INDEX" val="307"/>
  <p:tag name="KSO_WM_UNIT_LAYERLEVEL" val="1_1_1"/>
  <p:tag name="KSO_WM_TAG_VERSION" val="1.0"/>
  <p:tag name="KSO_WM_BEAUTIFY_FLAG" val="#wm#"/>
</p:tagLst>
</file>

<file path=ppt/tags/tag2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546_2*l_h_i*1_1_1"/>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2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160546_2*l_h_i*1_1_3"/>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160546_2*l_h_i*1_1_2"/>
  <p:tag name="KSO_WM_TEMPLATE_CATEGORY" val="diagram"/>
  <p:tag name="KSO_WM_TEMPLATE_INDEX" val="160546"/>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2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160546_2*l_h_i*1_1_4"/>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2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160546_2*l_h_i*1_1_5"/>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6"/>
  <p:tag name="KSO_WM_UNIT_ID" val="diagram160546_2*l_h_i*1_1_6"/>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1.xml><?xml version="1.0" encoding="utf-8"?>
<p:tagLst xmlns:p="http://schemas.openxmlformats.org/presentationml/2006/main">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ID" val="diagram160546_2*l_h_f*1_1_1"/>
  <p:tag name="KSO_WM_TEMPLATE_CATEGORY" val="diagram"/>
  <p:tag name="KSO_WM_TEMPLATE_INDEX" val="160546"/>
  <p:tag name="KSO_WM_UNIT_LAYERLEVEL" val="1_1_1"/>
  <p:tag name="KSO_WM_TAG_VERSION" val="1.0"/>
  <p:tag name="KSO_WM_UNIT_PRESET_TEXT" val="单击此处添加文本具体内容简明扼要的阐述您的观点"/>
  <p:tag name="KSO_WM_UNIT_SUBTYPE" val="a"/>
  <p:tag name="KSO_WM_UNIT_TEXT_FILL_FORE_SCHEMECOLOR_INDEX_BRIGHTNESS" val="0.15"/>
  <p:tag name="KSO_WM_UNIT_TEXT_FILL_FORE_SCHEMECOLOR_INDEX" val="13"/>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546_2*l_h_i*1_2_1"/>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160546_2*l_h_i*1_2_3"/>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160546_2*l_h_i*1_2_2"/>
  <p:tag name="KSO_WM_TEMPLATE_CATEGORY" val="diagram"/>
  <p:tag name="KSO_WM_TEMPLATE_INDEX" val="160546"/>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160546_2*l_h_i*1_2_4"/>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160546_2*l_h_i*1_2_5"/>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6"/>
  <p:tag name="KSO_WM_UNIT_ID" val="diagram160546_2*l_h_i*1_2_6"/>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8.xml><?xml version="1.0" encoding="utf-8"?>
<p:tagLst xmlns:p="http://schemas.openxmlformats.org/presentationml/2006/main">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ID" val="diagram160546_2*l_h_f*1_2_1"/>
  <p:tag name="KSO_WM_TEMPLATE_CATEGORY" val="diagram"/>
  <p:tag name="KSO_WM_TEMPLATE_INDEX" val="160546"/>
  <p:tag name="KSO_WM_UNIT_LAYERLEVEL" val="1_1_1"/>
  <p:tag name="KSO_WM_TAG_VERSION" val="1.0"/>
  <p:tag name="KSO_WM_UNIT_PRESET_TEXT" val="单击此处添加文本具体内容简明扼要的阐述您的观点"/>
  <p:tag name="KSO_WM_UNIT_SUBTYPE" val="a"/>
  <p:tag name="KSO_WM_UNIT_TEXT_FILL_FORE_SCHEMECOLOR_INDEX_BRIGHTNESS" val="0.15"/>
  <p:tag name="KSO_WM_UNIT_TEXT_FILL_FORE_SCHEMECOLOR_INDEX" val="13"/>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3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6"/>
  <p:tag name="KSO_WM_UNIT_ID" val="diagram160546_2*l_h_i*1_3_6"/>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5"/>
  <p:tag name="KSO_WM_UNIT_ID" val="diagram160546_2*l_h_i*1_3_5"/>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160546_2*l_h_i*1_3_1"/>
  <p:tag name="KSO_WM_TEMPLATE_CATEGORY" val="diagram"/>
  <p:tag name="KSO_WM_TEMPLATE_INDEX" val="160546"/>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160546_2*l_h_i*1_3_4"/>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160546_2*l_h_i*1_3_3"/>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160546_2*l_h_i*1_3_2"/>
  <p:tag name="KSO_WM_TEMPLATE_CATEGORY" val="diagram"/>
  <p:tag name="KSO_WM_TEMPLATE_INDEX" val="160546"/>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5.xml><?xml version="1.0" encoding="utf-8"?>
<p:tagLst xmlns:p="http://schemas.openxmlformats.org/presentationml/2006/main">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ID" val="diagram160546_2*l_h_f*1_3_1"/>
  <p:tag name="KSO_WM_TEMPLATE_CATEGORY" val="diagram"/>
  <p:tag name="KSO_WM_TEMPLATE_INDEX" val="160546"/>
  <p:tag name="KSO_WM_UNIT_LAYERLEVEL" val="1_1_1"/>
  <p:tag name="KSO_WM_TAG_VERSION" val="1.0"/>
  <p:tag name="KSO_WM_UNIT_PRESET_TEXT" val="单击此处添加文本具体内容简明扼要的阐述您的观点"/>
  <p:tag name="KSO_WM_UNIT_SUBTYPE" val="a"/>
  <p:tag name="KSO_WM_UNIT_TEXT_FILL_FORE_SCHEMECOLOR_INDEX_BRIGHTNESS" val="0.15"/>
  <p:tag name="KSO_WM_UNIT_TEXT_FILL_FORE_SCHEMECOLOR_INDEX" val="13"/>
  <p:tag name="KSO_WM_UNIT_TEXT_FILL_TYPE" val="1"/>
  <p:tag name="KSO_WM_UNIT_USESOURCEFORMAT_APPLY" val="0"/>
  <p:tag name="KSO_WM_DIAGRAM_VIRTUALLY_FRAME" val="{&quot;height&quot;:184.29559055118108,&quot;left&quot;:31.611102362204726,&quot;top&quot;:139.01708661417322,&quot;width&quot;:588.1728346456692}"/>
</p:tagLst>
</file>

<file path=ppt/tags/tag46.xml><?xml version="1.0" encoding="utf-8"?>
<p:tagLst xmlns:p="http://schemas.openxmlformats.org/presentationml/2006/main">
  <p:tag name="commondata" val="eyJoZGlkIjoiNWY0ZTA5YzFmOTU5MWNhOTM2YTFmZWVkOTUzMzgxMj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2857</Words>
  <Application>WPS 演示</Application>
  <PresentationFormat>宽屏</PresentationFormat>
  <Paragraphs>284</Paragraphs>
  <Slides>21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宋体</vt:lpstr>
      <vt:lpstr>Wingdings</vt:lpstr>
      <vt:lpstr>Segoe UI Light</vt:lpstr>
      <vt:lpstr>Segoe UI Light</vt:lpstr>
      <vt:lpstr>微软雅黑</vt:lpstr>
      <vt:lpstr>Century Gothic</vt:lpstr>
      <vt:lpstr>楷体</vt:lpstr>
      <vt:lpstr>Segoe UI</vt:lpstr>
      <vt:lpstr>Arial Unicode MS</vt:lpstr>
      <vt:lpstr>Calibri</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OfficePLUS</dc:creator>
  <cp:lastModifiedBy>秋萤野马</cp:lastModifiedBy>
  <cp:revision>3</cp:revision>
  <dcterms:created xsi:type="dcterms:W3CDTF">2024-04-28T04:06:00Z</dcterms:created>
  <dcterms:modified xsi:type="dcterms:W3CDTF">2024-04-28T05:47:00Z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2052-12.1.0.16729</vt:lpwstr>
  </property>
</Properties>
</file>