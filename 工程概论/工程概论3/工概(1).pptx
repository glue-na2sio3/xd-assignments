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367" r:id="rId2"/>
    <p:sldId id="368" r:id="rId3"/>
    <p:sldId id="372" r:id="rId4"/>
    <p:sldId id="369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67"/>
            <p14:sldId id="368"/>
            <p14:sldId id="372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4" pos="7289" userDrawn="1">
          <p15:clr>
            <a:srgbClr val="A4A3A4"/>
          </p15:clr>
        </p15:guide>
        <p15:guide id="5" orient="horz" pos="278" userDrawn="1">
          <p15:clr>
            <a:srgbClr val="A4A3A4"/>
          </p15:clr>
        </p15:guide>
        <p15:guide id="6" orient="horz" pos="4004" userDrawn="1">
          <p15:clr>
            <a:srgbClr val="A4A3A4"/>
          </p15:clr>
        </p15:guide>
        <p15:guide id="7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0FF"/>
    <a:srgbClr val="28A745"/>
    <a:srgbClr val="FF6B6B"/>
    <a:srgbClr val="F07F09"/>
    <a:srgbClr val="E8857F"/>
    <a:srgbClr val="F5C1BC"/>
    <a:srgbClr val="FEFBF9"/>
    <a:srgbClr val="FBD9D5"/>
    <a:srgbClr val="A6A6A6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45" autoAdjust="0"/>
    <p:restoredTop sz="90945" autoAdjust="0"/>
  </p:normalViewPr>
  <p:slideViewPr>
    <p:cSldViewPr snapToGrid="0" showGuides="1">
      <p:cViewPr varScale="1">
        <p:scale>
          <a:sx n="88" d="100"/>
          <a:sy n="88" d="100"/>
        </p:scale>
        <p:origin x="96" y="608"/>
      </p:cViewPr>
      <p:guideLst>
        <p:guide pos="7289"/>
        <p:guide orient="horz" pos="278"/>
        <p:guide orient="horz" pos="4004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wsl3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比例</a:t>
            </a:r>
            <a:endParaRPr lang="zh-CN" dirty="0"/>
          </a:p>
        </c:rich>
      </c:tx>
      <c:layout>
        <c:manualLayout>
          <c:xMode val="edge"/>
          <c:yMode val="edge"/>
          <c:x val="0.43983129875055349"/>
          <c:y val="0.130616122540453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7823792782107101E-2"/>
          <c:y val="0.148318990056969"/>
          <c:w val="0.94128047893244304"/>
          <c:h val="0.55309216938930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Sheet1!$H$3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69D-4C2D-A505-9DBF50DED2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83%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9D-4C2D-A505-9DBF50DED2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69D-4C2D-A505-9DBF50DED2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69D-4C2D-A505-9DBF50DED24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/>
                      <a:t>66%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9D-4C2D-A505-9DBF50DED24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69D-4C2D-A505-9DBF50DED24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69D-4C2D-A505-9DBF50DED24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69D-4C2D-A505-9DBF50DED2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Sheet1!$I$2:$P$2</c:f>
              <c:strCache>
                <c:ptCount val="8"/>
                <c:pt idx="0">
                  <c:v>被父母催婚</c:v>
                </c:pt>
                <c:pt idx="1">
                  <c:v>拓展新交友圈</c:v>
                </c:pt>
                <c:pt idx="2">
                  <c:v>偏向异性交友</c:v>
                </c:pt>
                <c:pt idx="3">
                  <c:v>偏向同性交友</c:v>
                </c:pt>
                <c:pt idx="4">
                  <c:v>单身</c:v>
                </c:pt>
                <c:pt idx="5">
                  <c:v>使用交友软件</c:v>
                </c:pt>
                <c:pt idx="6">
                  <c:v>对线上交友安全有担忧</c:v>
                </c:pt>
                <c:pt idx="7">
                  <c:v>有调侃朋友单身</c:v>
                </c:pt>
              </c:strCache>
            </c:strRef>
          </c:cat>
          <c:val>
            <c:numRef>
              <c:f>Sheet1!$I$3:$P$3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69D-4C2D-A505-9DBF50DED2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886848511"/>
        <c:axId val="1886849343"/>
      </c:barChart>
      <c:catAx>
        <c:axId val="18868485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65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6849343"/>
        <c:crosses val="autoZero"/>
        <c:auto val="1"/>
        <c:lblAlgn val="ctr"/>
        <c:lblOffset val="100"/>
        <c:noMultiLvlLbl val="0"/>
      </c:catAx>
      <c:valAx>
        <c:axId val="18868493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684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7baf6-7819-4a6a-89a3-4bca7f77a0e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5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0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75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729402E-8143-4E0C-B6E4-596ED352E2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A37EBA-AFDC-42D0-9A61-CD30E641D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283FF3B-A9EC-400D-BBD8-2B416BD96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086BEB-7F32-430B-8496-29312F8C97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BEA4F8-3E16-4C59-891A-2C159CDDF8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3B62919-9F04-4043-AD50-FEF679483A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418D875-80C6-4A5D-A911-5A3EC53F8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ECE605-304C-49AC-ACC1-7BBDC8DE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E3E6385-30FA-4171-9F4B-B9FC38D91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9B452A-2D55-4BBD-BE12-7A691AF04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1D2782-0A55-4435-B6D0-EC34E9F164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BAE036-4665-4BCA-BFD7-85FF6B7BC5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F5AE494-9BF9-4E3E-A927-AC5947F87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CD05A8-8196-4B84-B154-D2D237659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9CD49-8599-D731-5417-80E84B0E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3.1 </a:t>
            </a:r>
            <a:r>
              <a:rPr lang="zh-CN" altLang="en-US" dirty="0"/>
              <a:t>行业分析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9F1AFF-46B9-4123-991F-ED282D73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E8D46-40DF-5E1C-F9FB-DFD782A2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9A3F35-5F2B-F983-2C7C-0DF9B8F9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204375-751F-7402-46D5-8DE3E1FAA4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61F910C-651E-7CFC-1D8A-7902AF44AFA5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3.1.1</a:t>
            </a:r>
            <a:r>
              <a:rPr lang="zh-CN" altLang="en-US" dirty="0"/>
              <a:t> 行业现状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B5201A-8012-0A04-FFBB-93C6F556C1A9}"/>
              </a:ext>
            </a:extLst>
          </p:cNvPr>
          <p:cNvSpPr/>
          <p:nvPr/>
        </p:nvSpPr>
        <p:spPr>
          <a:xfrm>
            <a:off x="1340005" y="1750413"/>
            <a:ext cx="9511990" cy="4415609"/>
          </a:xfrm>
          <a:prstGeom prst="rect">
            <a:avLst/>
          </a:prstGeom>
          <a:gradFill>
            <a:gsLst>
              <a:gs pos="19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89BDB7-6A3E-298F-DDC3-B3C76FD1F2E6}"/>
              </a:ext>
            </a:extLst>
          </p:cNvPr>
          <p:cNvSpPr txBox="1"/>
          <p:nvPr/>
        </p:nvSpPr>
        <p:spPr>
          <a:xfrm>
            <a:off x="1396991" y="2069306"/>
            <a:ext cx="9398017" cy="398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通过对</a:t>
            </a:r>
            <a:r>
              <a:rPr lang="en-US" altLang="zh-CN" dirty="0"/>
              <a:t>3</a:t>
            </a:r>
            <a:r>
              <a:rPr lang="zh-CN" altLang="zh-CN" dirty="0"/>
              <a:t>份主要相关报告：《</a:t>
            </a:r>
            <a:r>
              <a:rPr lang="en-US" altLang="zh-CN" dirty="0"/>
              <a:t>2024</a:t>
            </a:r>
            <a:r>
              <a:rPr lang="zh-CN" altLang="zh-CN" dirty="0"/>
              <a:t>陌生人社交深度报告》《</a:t>
            </a:r>
            <a:r>
              <a:rPr lang="en-US" altLang="zh-CN" dirty="0"/>
              <a:t>2024</a:t>
            </a:r>
            <a:r>
              <a:rPr lang="zh-CN" altLang="zh-CN" dirty="0"/>
              <a:t>年中国移动互联网半年报告》《恋爱社交</a:t>
            </a:r>
            <a:r>
              <a:rPr lang="en-US" altLang="zh-CN" dirty="0"/>
              <a:t>App</a:t>
            </a:r>
            <a:r>
              <a:rPr lang="zh-CN" altLang="zh-CN" dirty="0"/>
              <a:t>产品分析报告》，进行研究，发现随着社会发展，</a:t>
            </a:r>
            <a:r>
              <a:rPr lang="zh-CN" altLang="zh-CN" dirty="0">
                <a:solidFill>
                  <a:srgbClr val="FF0000"/>
                </a:solidFill>
              </a:rPr>
              <a:t>单身人群数量不断上升，尤其在校园的年轻群体中更为明显</a:t>
            </a:r>
            <a:r>
              <a:rPr lang="zh-CN" altLang="zh-CN" dirty="0"/>
              <a:t>，这为婚恋社交市场带来了庞大的潜在用户群体。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然而，当前恋爱相亲平台存在诸多</a:t>
            </a:r>
            <a:r>
              <a:rPr lang="zh-CN" altLang="zh-CN" dirty="0">
                <a:solidFill>
                  <a:srgbClr val="FF0000"/>
                </a:solidFill>
              </a:rPr>
              <a:t>问题</a:t>
            </a:r>
            <a:r>
              <a:rPr lang="zh-CN" altLang="zh-CN" dirty="0"/>
              <a:t>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其一</a:t>
            </a:r>
            <a:r>
              <a:rPr lang="zh-CN" altLang="zh-CN" dirty="0"/>
              <a:t>，匹配算法不够精准，且匹配效率底下（现有平台平均匹配响应时间＞</a:t>
            </a:r>
            <a:r>
              <a:rPr lang="en-US" altLang="zh-CN" dirty="0"/>
              <a:t>72</a:t>
            </a:r>
            <a:r>
              <a:rPr lang="zh-CN" altLang="zh-CN" dirty="0"/>
              <a:t>小），难以满足用户找到情投意合的恋爱对象的需求；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其二</a:t>
            </a:r>
            <a:r>
              <a:rPr lang="zh-CN" altLang="zh-CN" dirty="0"/>
              <a:t>，社区环境参差不齐，部分平台充斥不良信息，对在校年轻人不友好，用户隐私保护也存在漏洞，个人信息泄露风险较高。</a:t>
            </a:r>
            <a:r>
              <a:rPr lang="en-US" altLang="zh-CN" dirty="0"/>
              <a:t>2023</a:t>
            </a:r>
            <a:r>
              <a:rPr lang="zh-CN" altLang="zh-CN" dirty="0"/>
              <a:t>年</a:t>
            </a:r>
            <a:r>
              <a:rPr lang="en-US" altLang="zh-CN" dirty="0"/>
              <a:t>Q3</a:t>
            </a:r>
            <a:r>
              <a:rPr lang="zh-CN" altLang="zh-CN" dirty="0"/>
              <a:t>网络诈骗案件中，</a:t>
            </a:r>
            <a:r>
              <a:rPr lang="en-US" altLang="zh-CN" dirty="0"/>
              <a:t>23%</a:t>
            </a:r>
            <a:r>
              <a:rPr lang="zh-CN" altLang="zh-CN" dirty="0"/>
              <a:t>源于社交平台。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其三</a:t>
            </a:r>
            <a:r>
              <a:rPr lang="zh-CN" altLang="zh-CN" dirty="0"/>
              <a:t>，线下恋爱场景缺失，</a:t>
            </a:r>
            <a:r>
              <a:rPr lang="en-US" altLang="zh-CN" dirty="0"/>
              <a:t>68%</a:t>
            </a:r>
            <a:r>
              <a:rPr lang="zh-CN" altLang="zh-CN" dirty="0"/>
              <a:t>大学生期待</a:t>
            </a:r>
            <a:r>
              <a:rPr lang="en-US" altLang="zh-CN" dirty="0"/>
              <a:t>"</a:t>
            </a:r>
            <a:r>
              <a:rPr lang="zh-CN" altLang="zh-CN" dirty="0"/>
              <a:t>从线上匹配到线下活动</a:t>
            </a:r>
            <a:r>
              <a:rPr lang="en-US" altLang="zh-CN" dirty="0"/>
              <a:t>"</a:t>
            </a:r>
            <a:r>
              <a:rPr lang="zh-CN" altLang="zh-CN" dirty="0"/>
              <a:t>的全链路服务。</a:t>
            </a:r>
            <a:endParaRPr lang="zh-CN" altLang="en-US" dirty="0"/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75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7816-0276-D4D9-170E-F3E9BF99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5DFC5-C691-1CCF-4B99-4B740E30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3.1 </a:t>
            </a:r>
            <a:r>
              <a:rPr lang="zh-CN" altLang="en-US" dirty="0"/>
              <a:t>行业分析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E8C73B-0D57-1365-C166-E72F7CD9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C9CF22-417D-C11B-D6FE-52B989FB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西安电子科技大学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8F859C-0E7A-17AD-FEC6-D800A992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E31A0D-1DEF-2E76-6A8A-E20D1E8DB5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5858D37-7A1D-3E12-F554-F5091B1CB6E3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3.1.2</a:t>
            </a:r>
            <a:r>
              <a:rPr lang="zh-CN" altLang="en-US" dirty="0"/>
              <a:t> 行业发展趋势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BDEF7A-F4AB-2651-2800-8314B7194329}"/>
              </a:ext>
            </a:extLst>
          </p:cNvPr>
          <p:cNvSpPr txBox="1"/>
          <p:nvPr/>
        </p:nvSpPr>
        <p:spPr>
          <a:xfrm>
            <a:off x="1184189" y="2047463"/>
            <a:ext cx="39342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</a:t>
            </a:r>
            <a:r>
              <a:rPr lang="zh-CN" altLang="zh-CN" dirty="0"/>
              <a:t>据相关报告显示，线上匹配相亲市场规模持续增长。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zh-CN" dirty="0"/>
              <a:t>据艾媒咨询报告，</a:t>
            </a:r>
            <a:r>
              <a:rPr lang="en-US" altLang="zh-CN" dirty="0"/>
              <a:t>2023</a:t>
            </a:r>
            <a:r>
              <a:rPr lang="zh-CN" altLang="zh-CN" dirty="0"/>
              <a:t>年中国互联网婚恋市场规模达</a:t>
            </a:r>
            <a:r>
              <a:rPr lang="en-US" altLang="zh-CN" dirty="0">
                <a:solidFill>
                  <a:srgbClr val="FF0000"/>
                </a:solidFill>
              </a:rPr>
              <a:t> </a:t>
            </a:r>
            <a:r>
              <a:rPr lang="en-US" altLang="zh-CN" dirty="0"/>
              <a:t>72.6</a:t>
            </a:r>
            <a:r>
              <a:rPr lang="zh-CN" altLang="zh-CN" dirty="0"/>
              <a:t>亿元，其中</a:t>
            </a:r>
            <a:r>
              <a:rPr lang="en-US" altLang="zh-CN" dirty="0"/>
              <a:t>Z</a:t>
            </a:r>
            <a:r>
              <a:rPr lang="zh-CN" altLang="zh-CN" dirty="0"/>
              <a:t>世代（含大学生）占比超</a:t>
            </a:r>
            <a:r>
              <a:rPr lang="en-US" altLang="zh-CN" dirty="0">
                <a:solidFill>
                  <a:srgbClr val="FF0000"/>
                </a:solidFill>
              </a:rPr>
              <a:t>30%</a:t>
            </a:r>
            <a:r>
              <a:rPr lang="zh-CN" altLang="zh-CN" dirty="0"/>
              <a:t>，校园垂直类应用下载量年均增长约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FF0000"/>
                </a:solidFill>
              </a:rPr>
              <a:t>15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FBA115-C2B6-4BAF-BC3C-5A0B29335A23}"/>
              </a:ext>
            </a:extLst>
          </p:cNvPr>
          <p:cNvSpPr txBox="1"/>
          <p:nvPr/>
        </p:nvSpPr>
        <p:spPr>
          <a:xfrm>
            <a:off x="590265" y="4894796"/>
            <a:ext cx="11011469" cy="1461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未来，交友平台将朝着更加智能化、个性化、安全化的方向发展。利用人工智能和大数据技术优化匹配算法，提高匹配精度；加强隐私保护技术研发，保障用户信息安全；打造优质社区环境，增强用户粘性，将成为行业发展的关键趋势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272640F-2A7C-7465-437A-182BE7775394}"/>
              </a:ext>
            </a:extLst>
          </p:cNvPr>
          <p:cNvGrpSpPr/>
          <p:nvPr/>
        </p:nvGrpSpPr>
        <p:grpSpPr>
          <a:xfrm>
            <a:off x="5288621" y="1470274"/>
            <a:ext cx="6313113" cy="3162512"/>
            <a:chOff x="5288621" y="1470274"/>
            <a:chExt cx="6313113" cy="316251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36F82B2-8117-D5E7-33E8-C2DCE3E02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8621" y="1470274"/>
              <a:ext cx="6313113" cy="3162512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95169CE-4B5A-E5DD-F123-E24CFF22568E}"/>
                </a:ext>
              </a:extLst>
            </p:cNvPr>
            <p:cNvSpPr/>
            <p:nvPr/>
          </p:nvSpPr>
          <p:spPr>
            <a:xfrm>
              <a:off x="5375189" y="1470274"/>
              <a:ext cx="720811" cy="37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27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EAE8-A66B-E523-06FC-ACE01B2A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E8C9C-458A-1B72-B4DF-7A32A0BE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18" y="585902"/>
            <a:ext cx="10515600" cy="36512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市场分析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ADB9FF-919F-B649-35EB-F913A51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04D2F-C188-0E69-32E5-89D57711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9C84BE-040E-5718-AC3B-0CA45DD3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3C11566-3DD0-C2C3-D9E7-EF8FF85513C4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3.2.1 </a:t>
            </a:r>
            <a:r>
              <a:rPr lang="zh-CN" altLang="en-US" dirty="0">
                <a:sym typeface="Arial" panose="020B0604020202020204" pitchFamily="34" charset="0"/>
              </a:rPr>
              <a:t>用户访谈数据分析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556BAC61-ADDC-C5A6-B3DB-9D780965B3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7384847"/>
              </p:ext>
            </p:extLst>
          </p:nvPr>
        </p:nvGraphicFramePr>
        <p:xfrm>
          <a:off x="282265" y="1876615"/>
          <a:ext cx="8126318" cy="418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文本框 1">
            <a:extLst>
              <a:ext uri="{FF2B5EF4-FFF2-40B4-BE49-F238E27FC236}">
                <a16:creationId xmlns:a16="http://schemas.microsoft.com/office/drawing/2014/main" id="{429D4B65-E186-2375-9403-3846294F190D}"/>
              </a:ext>
            </a:extLst>
          </p:cNvPr>
          <p:cNvSpPr txBox="1"/>
          <p:nvPr/>
        </p:nvSpPr>
        <p:spPr>
          <a:xfrm>
            <a:off x="1124665" y="1702737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以下是根据访谈结果获得的统计数据</a:t>
            </a:r>
          </a:p>
        </p:txBody>
      </p:sp>
      <p:pic>
        <p:nvPicPr>
          <p:cNvPr id="10" name="http://photo-static-api.fotomore.com/creative/vcg/400/new/VCG211353426615.jpg" descr="&amp;pky270_sjzg_VCG211353426615&amp;2&amp;src_toppic_inpsrchzd1&amp;">
            <a:extLst>
              <a:ext uri="{FF2B5EF4-FFF2-40B4-BE49-F238E27FC236}">
                <a16:creationId xmlns:a16="http://schemas.microsoft.com/office/drawing/2014/main" id="{0BE2860F-D790-7FE8-025F-C3D0ECF667B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94372" y="1239069"/>
            <a:ext cx="3603497" cy="18706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文本框 19">
            <a:extLst>
              <a:ext uri="{FF2B5EF4-FFF2-40B4-BE49-F238E27FC236}">
                <a16:creationId xmlns:a16="http://schemas.microsoft.com/office/drawing/2014/main" id="{26298985-EEB4-4759-1F7C-86DE0A2E2A15}"/>
              </a:ext>
            </a:extLst>
          </p:cNvPr>
          <p:cNvSpPr txBox="1"/>
          <p:nvPr/>
        </p:nvSpPr>
        <p:spPr>
          <a:xfrm>
            <a:off x="8153400" y="3460240"/>
            <a:ext cx="39213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分析显示，大部分人对线上恋爱有较高兴趣，同时更看重恋爱对象的内在品质而非外貌。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在当前工作较高压力的社会情况下，大家对于交友的需求更偏向于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soul mate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，而不仅是单纯的物质交换。</a:t>
            </a:r>
          </a:p>
        </p:txBody>
      </p:sp>
    </p:spTree>
    <p:extLst>
      <p:ext uri="{BB962C8B-B14F-4D97-AF65-F5344CB8AC3E}">
        <p14:creationId xmlns:p14="http://schemas.microsoft.com/office/powerpoint/2010/main" val="135755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CAC1-2AF6-48E9-5399-083822C5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9573D-3440-59B9-A6BC-0132D0D8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18" y="585902"/>
            <a:ext cx="10515600" cy="36512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市场分析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FC0790-BC07-F245-56C5-D6800E72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D07840-EA07-0C1A-B05D-7D391D86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441572-2AC8-CCEF-C7E3-AC22A32D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5A03984-24A6-9DC1-7A99-40BB40BA3A11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3.2.2 </a:t>
            </a:r>
            <a:r>
              <a:rPr lang="zh-CN" altLang="en-US" dirty="0"/>
              <a:t>市场分析结论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FEE0BF-2F48-2760-91AF-7B55B5D1F654}"/>
              </a:ext>
            </a:extLst>
          </p:cNvPr>
          <p:cNvSpPr txBox="1"/>
          <p:nvPr/>
        </p:nvSpPr>
        <p:spPr>
          <a:xfrm>
            <a:off x="1016000" y="1820108"/>
            <a:ext cx="4528163" cy="4536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行业呈现 “需求旺盛但痛点突出，技术与规范驱动升级” 的核心特征。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需求端</a:t>
            </a:r>
            <a:r>
              <a:rPr lang="zh-CN" altLang="en-US" dirty="0"/>
              <a:t>：单身群体扩张（尤其校园年轻群体）带动需求，</a:t>
            </a:r>
            <a:r>
              <a:rPr lang="en-US" altLang="zh-CN" dirty="0"/>
              <a:t>Z </a:t>
            </a:r>
            <a:r>
              <a:rPr lang="zh-CN" altLang="en-US" dirty="0"/>
              <a:t>世代成为核心消费力量，需求规模持续增长且潜力可观。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现存痛点</a:t>
            </a:r>
            <a:r>
              <a:rPr lang="zh-CN" altLang="en-US" dirty="0"/>
              <a:t>：匹配精准度与效率不足、平台安全及隐私保护薄弱、线上线下服务链路断裂，制约行业发展。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发展方向</a:t>
            </a:r>
            <a:r>
              <a:rPr lang="zh-CN" altLang="en-US" dirty="0"/>
              <a:t>：以人工智能、大数据等技术优化匹配与安全保障，聚焦个性化、全链路服务创新，同时行业规范化程度将持续提升，成为长期发展核心逻辑。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2C9414E-96C6-9A6C-61D2-F8B05284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18"/>
          <a:stretch>
            <a:fillRect/>
          </a:stretch>
        </p:blipFill>
        <p:spPr>
          <a:xfrm>
            <a:off x="7199375" y="1476856"/>
            <a:ext cx="3388508" cy="279370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DCA461B-478F-9505-76B4-BB45468ED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73359"/>
              </p:ext>
            </p:extLst>
          </p:nvPr>
        </p:nvGraphicFramePr>
        <p:xfrm>
          <a:off x="6249410" y="4574317"/>
          <a:ext cx="510439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195">
                  <a:extLst>
                    <a:ext uri="{9D8B030D-6E8A-4147-A177-3AD203B41FA5}">
                      <a16:colId xmlns:a16="http://schemas.microsoft.com/office/drawing/2014/main" val="3102317594"/>
                    </a:ext>
                  </a:extLst>
                </a:gridCol>
                <a:gridCol w="2552195">
                  <a:extLst>
                    <a:ext uri="{9D8B030D-6E8A-4147-A177-3AD203B41FA5}">
                      <a16:colId xmlns:a16="http://schemas.microsoft.com/office/drawing/2014/main" val="1293446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已有交友软件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产品痛点分析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83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探探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ym typeface="+mn-ea"/>
                        </a:rPr>
                        <a:t>颜值交友，缺乏精神交流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56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Soul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ym typeface="+mn-ea"/>
                        </a:rPr>
                        <a:t>突出性格匹配，但不真实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60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陌陌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ym typeface="+mn-ea"/>
                        </a:rPr>
                        <a:t>基于地理位置，范围受限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3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8256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cd07bc45-8cf5-48a2-8d1d-e901e39ba763"/>
  <p:tag name="COMMONDATA" val="eyJoZGlkIjoiNGZmYzQ3OGNjMTFkZGQ4YjU2NjcxMDAxMmMzNzg5MDIifQ=="/>
</p:tagLst>
</file>

<file path=ppt/theme/theme1.xml><?xml version="1.0" encoding="utf-8"?>
<a:theme xmlns:a="http://schemas.openxmlformats.org/drawingml/2006/main" name="Office 主题​​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580</Words>
  <Application>Microsoft Office PowerPoint</Application>
  <PresentationFormat>宽屏</PresentationFormat>
  <Paragraphs>60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华文楷体</vt:lpstr>
      <vt:lpstr>思源黑体 CN Heavy</vt:lpstr>
      <vt:lpstr>思源黑体 CN Medium</vt:lpstr>
      <vt:lpstr>思源黑体 CN Normal</vt:lpstr>
      <vt:lpstr>微软雅黑</vt:lpstr>
      <vt:lpstr>Arial</vt:lpstr>
      <vt:lpstr>Wingdings</vt:lpstr>
      <vt:lpstr>Office 主题​​</vt:lpstr>
      <vt:lpstr>3.1 行业分析</vt:lpstr>
      <vt:lpstr>3.1 行业分析</vt:lpstr>
      <vt:lpstr>3.2 市场分析</vt:lpstr>
      <vt:lpstr>3.2 市场分析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sparkle L</cp:lastModifiedBy>
  <cp:revision>190</cp:revision>
  <dcterms:created xsi:type="dcterms:W3CDTF">2024-11-07T03:24:30Z</dcterms:created>
  <dcterms:modified xsi:type="dcterms:W3CDTF">2025-11-06T05:26:40Z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21CB3FEED88CACABD0C534667F7C861A_43</vt:lpwstr>
  </property>
  <property fmtid="{D5CDD505-2E9C-101B-9397-08002B2CF9AE}" pid="3" name="KSOProductBuildVer">
    <vt:lpwstr>2052-6.7.1.8828</vt:lpwstr>
  </property>
</Properties>
</file>