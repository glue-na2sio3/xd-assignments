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355" r:id="rId2"/>
    <p:sldId id="364" r:id="rId3"/>
    <p:sldId id="347" r:id="rId4"/>
    <p:sldId id="365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正文" id="{74A88C6D-78C6-4E80-930D-4DCDE2FA78E2}">
          <p14:sldIdLst>
            <p14:sldId id="355"/>
            <p14:sldId id="364"/>
            <p14:sldId id="347"/>
            <p14:sldId id="365"/>
          </p14:sldIdLst>
        </p14:section>
      </p14:sectionLst>
    </p:ext>
    <p:ext uri="{EFAFB233-063F-42B5-8137-9DF3F51BA10A}">
      <p15:sldGuideLst xmlns:p15="http://schemas.microsoft.com/office/powerpoint/2012/main">
        <p15:guide id="4" pos="7289" userDrawn="1">
          <p15:clr>
            <a:srgbClr val="A4A3A4"/>
          </p15:clr>
        </p15:guide>
        <p15:guide id="5" orient="horz" pos="278" userDrawn="1">
          <p15:clr>
            <a:srgbClr val="A4A3A4"/>
          </p15:clr>
        </p15:guide>
        <p15:guide id="6" orient="horz" pos="4004" userDrawn="1">
          <p15:clr>
            <a:srgbClr val="A4A3A4"/>
          </p15:clr>
        </p15:guide>
        <p15:guide id="7" pos="3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90FF"/>
    <a:srgbClr val="28A745"/>
    <a:srgbClr val="FF6B6B"/>
    <a:srgbClr val="F07F09"/>
    <a:srgbClr val="E8857F"/>
    <a:srgbClr val="F5C1BC"/>
    <a:srgbClr val="FEFBF9"/>
    <a:srgbClr val="FBD9D5"/>
    <a:srgbClr val="A6A6A6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4" autoAdjust="0"/>
    <p:restoredTop sz="90945" autoAdjust="0"/>
  </p:normalViewPr>
  <p:slideViewPr>
    <p:cSldViewPr snapToGrid="0" showGuides="1">
      <p:cViewPr varScale="1">
        <p:scale>
          <a:sx n="82" d="100"/>
          <a:sy n="82" d="100"/>
        </p:scale>
        <p:origin x="546" y="96"/>
      </p:cViewPr>
      <p:guideLst>
        <p:guide pos="7289"/>
        <p:guide orient="horz" pos="278"/>
        <p:guide orient="horz" pos="4004"/>
        <p:guide pos="3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5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98B9C-87B0-4F8A-8876-781DF9777B38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03E7F-BD71-4F7F-BEAF-CA83D5F341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729402E-8143-4E0C-B6E4-596ED352E2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7080179" y="997618"/>
            <a:ext cx="4436181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932613" y="1124653"/>
            <a:ext cx="4421187" cy="2943346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8A37EBA-AFDC-42D0-9A61-CD30E641D2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0" y="2290573"/>
            <a:ext cx="12192000" cy="3094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 rot="20772240">
            <a:off x="7401365" y="1683034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9"/>
          <p:cNvSpPr>
            <a:spLocks noGrp="1"/>
          </p:cNvSpPr>
          <p:nvPr>
            <p:ph type="pic" sz="quarter" idx="15"/>
          </p:nvPr>
        </p:nvSpPr>
        <p:spPr>
          <a:xfrm rot="668217">
            <a:off x="7665854" y="3726070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283FF3B-A9EC-400D-BBD8-2B416BD96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85565" y="1398880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493965" y="1410888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9"/>
          <p:cNvSpPr>
            <a:spLocks noGrp="1"/>
          </p:cNvSpPr>
          <p:nvPr>
            <p:ph type="pic" sz="quarter" idx="16"/>
          </p:nvPr>
        </p:nvSpPr>
        <p:spPr>
          <a:xfrm>
            <a:off x="8239589" y="1386104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7086BEB-7F32-430B-8496-29312F8C97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项横向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624221" y="148619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624220" y="358132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148169" y="148254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148168" y="357767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 userDrawn="1"/>
        </p:nvSpPr>
        <p:spPr>
          <a:xfrm flipH="1" flipV="1">
            <a:off x="5425531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/>
          <p:cNvSpPr/>
          <p:nvPr userDrawn="1"/>
        </p:nvSpPr>
        <p:spPr>
          <a:xfrm flipH="1" flipV="1">
            <a:off x="10962103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 userDrawn="1"/>
        </p:nvSpPr>
        <p:spPr>
          <a:xfrm flipH="1" flipV="1">
            <a:off x="5425531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直角三角形 19"/>
          <p:cNvSpPr/>
          <p:nvPr userDrawn="1"/>
        </p:nvSpPr>
        <p:spPr>
          <a:xfrm flipH="1" flipV="1">
            <a:off x="10962103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50888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62300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9"/>
          <p:cNvSpPr>
            <a:spLocks noGrp="1"/>
          </p:cNvSpPr>
          <p:nvPr>
            <p:ph type="pic" sz="quarter" idx="16"/>
          </p:nvPr>
        </p:nvSpPr>
        <p:spPr>
          <a:xfrm>
            <a:off x="6278410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9"/>
          <p:cNvSpPr>
            <a:spLocks noGrp="1"/>
          </p:cNvSpPr>
          <p:nvPr>
            <p:ph type="pic" sz="quarter" idx="17"/>
          </p:nvPr>
        </p:nvSpPr>
        <p:spPr>
          <a:xfrm>
            <a:off x="6289822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DBEA4F8-3E16-4C59-891A-2C159CDDF8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3B62919-9F04-4043-AD50-FEF679483A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截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/>
        </p:nvSpPr>
        <p:spPr>
          <a:xfrm>
            <a:off x="0" y="2438400"/>
            <a:ext cx="12192000" cy="2651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640" y="1227371"/>
            <a:ext cx="6553200" cy="51893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5"/>
          </p:nvPr>
        </p:nvSpPr>
        <p:spPr>
          <a:xfrm>
            <a:off x="4094003" y="146110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6"/>
          </p:nvPr>
        </p:nvSpPr>
        <p:spPr>
          <a:xfrm>
            <a:off x="1360455" y="147126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7"/>
          </p:nvPr>
        </p:nvSpPr>
        <p:spPr>
          <a:xfrm>
            <a:off x="-1403065" y="1466132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418D875-80C6-4A5D-A911-5A3EC53F8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ECE605-304C-49AC-ACC1-7BBDC8DEC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565422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5"/>
          </p:nvPr>
        </p:nvSpPr>
        <p:spPr>
          <a:xfrm>
            <a:off x="2591276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6"/>
          </p:nvPr>
        </p:nvSpPr>
        <p:spPr>
          <a:xfrm>
            <a:off x="565422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7"/>
          </p:nvPr>
        </p:nvSpPr>
        <p:spPr>
          <a:xfrm>
            <a:off x="2591276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8"/>
          </p:nvPr>
        </p:nvSpPr>
        <p:spPr>
          <a:xfrm>
            <a:off x="565422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591276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E3E6385-30FA-4171-9F4B-B9FC38D918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480" y="1171575"/>
            <a:ext cx="6255849" cy="4558665"/>
          </a:xfrm>
          <a:prstGeom prst="rect">
            <a:avLst/>
          </a:prstGeom>
        </p:spPr>
      </p:pic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335088" y="1554163"/>
            <a:ext cx="4297362" cy="285115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B9B452A-2D55-4BBD-BE12-7A691AF046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 userDrawn="1"/>
        </p:nvSpPr>
        <p:spPr>
          <a:xfrm>
            <a:off x="587375" y="6030223"/>
            <a:ext cx="1444197" cy="38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▶▶▶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7421356" y="-2690075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7634978" y="-2781431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640991" y="381570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25674" y="493521"/>
            <a:ext cx="4627265" cy="58709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1D2782-0A55-4435-B6D0-EC34E9F164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 userDrawn="1"/>
        </p:nvSpPr>
        <p:spPr>
          <a:xfrm>
            <a:off x="-6397120" y="-2781431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576322" y="-2782222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231" y="606743"/>
            <a:ext cx="4816257" cy="58648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BAE036-4665-4BCA-BFD7-85FF6B7BC5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F5AE494-9BF9-4E3E-A927-AC5947F87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95301"/>
            <a:ext cx="8364310" cy="51696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60500" y="6362699"/>
            <a:ext cx="2743200" cy="365125"/>
          </a:xfrm>
        </p:spPr>
        <p:txBody>
          <a:bodyPr/>
          <a:lstStyle/>
          <a:p>
            <a:fld id="{F548A5D5-F967-4973-BC3E-B6E1F1E79406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864102" y="6362699"/>
            <a:ext cx="3124200" cy="365124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48704" y="6362698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828800" y="1084462"/>
            <a:ext cx="5956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0" y="11151"/>
            <a:ext cx="1244600" cy="172243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0" y="1721005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4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0" y="3443443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0" y="5165881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CD05A8-8196-4B84-B154-D2D237659B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EE87-E84D-4794-AAE5-5EBFA06D5749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163-3264-45B9-8805-38B3DB57BD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548A5D5-F967-4973-BC3E-B6E1F1E79406}" type="datetime1">
              <a:rPr lang="zh-CN" altLang="en-US" smtClean="0"/>
              <a:t>2025-11-06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 err="1">
                <a:effectLst/>
                <a:cs typeface="Times New Roman" panose="02020603050405020304" pitchFamily="18" charset="0"/>
              </a:rPr>
              <a:t>组织结构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2D1855-97D0-406F-A8CD-42AACAD7B935}"/>
              </a:ext>
            </a:extLst>
          </p:cNvPr>
          <p:cNvSpPr txBox="1"/>
          <p:nvPr/>
        </p:nvSpPr>
        <p:spPr>
          <a:xfrm>
            <a:off x="1520518" y="1258431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魏朝旭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项目总负责人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en-US" altLang="zh-CN" sz="1600" spc="100" dirty="0">
                <a:latin typeface="+mn-ea"/>
              </a:rPr>
              <a:t>      </a:t>
            </a:r>
            <a:r>
              <a:rPr lang="zh-CN" altLang="en-US" sz="1600" spc="100" dirty="0">
                <a:latin typeface="+mn-ea"/>
              </a:rPr>
              <a:t>曾担任科研项目负责人，积累了项目规划、资源调配、进度把控等经验；作为竞赛队长，锻炼了组织团队、应对竞争和解决突发问题的能力。拥有出色的沟通能力，强烈的责任感与使命感，出于对创业的热情和对团队发展的坚定信念，坚信能带领团队在创业道路上取得佳绩。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D6A6DBF-0AB5-44B5-A779-419E13D92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69" b="99688" l="2292" r="99583">
                        <a14:foregroundMark x1="30833" y1="9531" x2="64792" y2="7969"/>
                        <a14:foregroundMark x1="64792" y1="7969" x2="37708" y2="8594"/>
                        <a14:foregroundMark x1="31667" y1="12656" x2="51875" y2="8594"/>
                        <a14:foregroundMark x1="25000" y1="73125" x2="21042" y2="74375"/>
                        <a14:foregroundMark x1="75625" y1="74063" x2="91250" y2="99688"/>
                        <a14:foregroundMark x1="91250" y1="99688" x2="2708" y2="84531"/>
                        <a14:foregroundMark x1="2708" y1="84531" x2="46042" y2="98594"/>
                        <a14:foregroundMark x1="46042" y1="98594" x2="65417" y2="99688"/>
                        <a14:foregroundMark x1="2292" y1="80781" x2="3125" y2="98438"/>
                        <a14:foregroundMark x1="83750" y1="75313" x2="99583" y2="770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22" y="1329626"/>
            <a:ext cx="929356" cy="123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02F9C0-6BEF-4A6E-A788-33FE29479156}"/>
              </a:ext>
            </a:extLst>
          </p:cNvPr>
          <p:cNvSpPr txBox="1"/>
          <p:nvPr/>
        </p:nvSpPr>
        <p:spPr>
          <a:xfrm>
            <a:off x="1520518" y="3026605"/>
            <a:ext cx="9745186" cy="142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王奕璇</a:t>
            </a:r>
            <a:r>
              <a:rPr lang="en-US" altLang="zh-CN" b="1" spc="100" dirty="0">
                <a:latin typeface="+mn-ea"/>
              </a:rPr>
              <a:t>|</a:t>
            </a:r>
            <a:r>
              <a:rPr lang="zh-CN" altLang="en-US" b="1" spc="100" dirty="0">
                <a:latin typeface="+mn-ea"/>
              </a:rPr>
              <a:t>王国荣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技术负责人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曾担任科研项目负责人，并拥有多次竞赛经历，在竞赛中锻炼了快速解决问题、团队协作以及创新思维的能力。对新兴技术充满热情，乐于学习新事物，并且不局限于理论知识，会深入思考如何将这些新技术应用到实际的业务场景中，为项目带来创新和价值提升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FFD4A2-67B8-4D71-9DFB-15B2DD293DA4}"/>
              </a:ext>
            </a:extLst>
          </p:cNvPr>
          <p:cNvSpPr txBox="1"/>
          <p:nvPr/>
        </p:nvSpPr>
        <p:spPr>
          <a:xfrm>
            <a:off x="1520518" y="4974639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田栋栋</a:t>
            </a:r>
            <a:r>
              <a:rPr lang="en-US" altLang="zh-CN" b="1" spc="100" dirty="0">
                <a:latin typeface="+mn-ea"/>
              </a:rPr>
              <a:t>|</a:t>
            </a:r>
            <a:r>
              <a:rPr lang="zh-CN" altLang="en-US" b="1" spc="100">
                <a:latin typeface="+mn-ea"/>
              </a:rPr>
              <a:t>欧阳宜达</a:t>
            </a:r>
            <a:r>
              <a:rPr lang="en-US" altLang="zh-CN" b="1" spc="10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技术负责人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拥有丰富的竞赛经历，在各类技术竞赛中，锻炼了快速学习新知识、解决实际问题以及团队协作的能力，同时也积累了应对高压力、高强度工作的经验。沟通出色，能精准传意且化繁为简。责任感强，以团队目标为己任。热衷创业，愿凭技术创新助项目成功，为团队发展献力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团队介绍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2D1855-97D0-406F-A8CD-42AACAD7B935}"/>
              </a:ext>
            </a:extLst>
          </p:cNvPr>
          <p:cNvSpPr txBox="1"/>
          <p:nvPr/>
        </p:nvSpPr>
        <p:spPr>
          <a:xfrm>
            <a:off x="1520518" y="1258431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刘一力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市场负责人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拥有丰富的竞赛经历，锻炼了方案策划、团队协作以及应变能力，积累了在竞争环境中脱颖而出的宝贵经验。具敏锐市场洞察力，善用多渠道挖掘用户真实需求，精准把握行业动态、竞品策略等趋势。能高效筛选分析信息，为市场决策提供有力支撑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02F9C0-6BEF-4A6E-A788-33FE29479156}"/>
              </a:ext>
            </a:extLst>
          </p:cNvPr>
          <p:cNvSpPr txBox="1"/>
          <p:nvPr/>
        </p:nvSpPr>
        <p:spPr>
          <a:xfrm>
            <a:off x="1520518" y="3026605"/>
            <a:ext cx="9745186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刘凯丽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市场负责人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参演</a:t>
            </a:r>
            <a:r>
              <a:rPr lang="en-US" altLang="zh-CN" sz="1600" spc="100" dirty="0">
                <a:latin typeface="+mn-ea"/>
              </a:rPr>
              <a:t>2023</a:t>
            </a:r>
            <a:r>
              <a:rPr lang="zh-CN" altLang="en-US" sz="1600" spc="100" dirty="0">
                <a:latin typeface="+mn-ea"/>
              </a:rPr>
              <a:t>西电钢琴团音乐会，高中担任班级合唱活动指挥，具备组织协调和领导能力，这些能力有助于在市场工作中更好地策划和执行活动。擅善用多途径搜集市场信息，精准把握需求，为产品服务定位助力。性格大方自信，路演时能流畅展示亮点，活跃气氛，吸引客户与伙伴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FFD4A2-67B8-4D71-9DFB-15B2DD293DA4}"/>
              </a:ext>
            </a:extLst>
          </p:cNvPr>
          <p:cNvSpPr txBox="1"/>
          <p:nvPr/>
        </p:nvSpPr>
        <p:spPr>
          <a:xfrm>
            <a:off x="1520518" y="4974639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孙长青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设计负责人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拥有一定的项目经历，积累了从项目启动、方案设计到最终交付的全流程经验，具备应对各种设计挑战和团队协作的能力。善于倾听，能理解成员想法与工作进度，在设计项目中有效协调资源，保障工作推进与环节衔接。</a:t>
            </a:r>
          </a:p>
        </p:txBody>
      </p:sp>
    </p:spTree>
    <p:extLst>
      <p:ext uri="{BB962C8B-B14F-4D97-AF65-F5344CB8AC3E}">
        <p14:creationId xmlns:p14="http://schemas.microsoft.com/office/powerpoint/2010/main" val="115628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 err="1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人力资源配置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3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6E36CFE-855E-4189-94B9-A621ED552341}"/>
              </a:ext>
            </a:extLst>
          </p:cNvPr>
          <p:cNvGrpSpPr/>
          <p:nvPr/>
        </p:nvGrpSpPr>
        <p:grpSpPr>
          <a:xfrm>
            <a:off x="481139" y="1727726"/>
            <a:ext cx="4920332" cy="4105023"/>
            <a:chOff x="1917191" y="-1028796"/>
            <a:chExt cx="8557667" cy="8832999"/>
          </a:xfrm>
        </p:grpSpPr>
        <p:pic>
          <p:nvPicPr>
            <p:cNvPr id="9" name="Image 3">
              <a:extLst>
                <a:ext uri="{FF2B5EF4-FFF2-40B4-BE49-F238E27FC236}">
                  <a16:creationId xmlns:a16="http://schemas.microsoft.com/office/drawing/2014/main" id="{740D9A8D-F9F3-4FB3-A69C-20E1605F9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917191" y="-672085"/>
              <a:ext cx="8557667" cy="3632795"/>
            </a:xfrm>
            <a:prstGeom prst="rect">
              <a:avLst/>
            </a:prstGeom>
          </p:spPr>
        </p:pic>
        <p:pic>
          <p:nvPicPr>
            <p:cNvPr id="10" name="Image 4">
              <a:extLst>
                <a:ext uri="{FF2B5EF4-FFF2-40B4-BE49-F238E27FC236}">
                  <a16:creationId xmlns:a16="http://schemas.microsoft.com/office/drawing/2014/main" id="{E58B8608-AD66-42FB-A159-814F20F89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4596383" y="-964693"/>
              <a:ext cx="3071023" cy="608587"/>
            </a:xfrm>
            <a:prstGeom prst="rect">
              <a:avLst/>
            </a:prstGeom>
          </p:spPr>
        </p:pic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B0585881-9BB1-46D5-A6D6-9DB046BFE589}"/>
                </a:ext>
              </a:extLst>
            </p:cNvPr>
            <p:cNvSpPr/>
            <p:nvPr/>
          </p:nvSpPr>
          <p:spPr>
            <a:xfrm>
              <a:off x="5300471" y="-1028796"/>
              <a:ext cx="1638504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研发</a:t>
              </a:r>
              <a:endParaRPr lang="en-US" sz="1400" dirty="0"/>
            </a:p>
          </p:txBody>
        </p:sp>
        <p:pic>
          <p:nvPicPr>
            <p:cNvPr id="12" name="Image 5">
              <a:extLst>
                <a:ext uri="{FF2B5EF4-FFF2-40B4-BE49-F238E27FC236}">
                  <a16:creationId xmlns:a16="http://schemas.microsoft.com/office/drawing/2014/main" id="{2C06E5C0-B409-44E0-AD39-F0DFFAFDD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917191" y="2994659"/>
              <a:ext cx="8557667" cy="3632795"/>
            </a:xfrm>
            <a:prstGeom prst="rect">
              <a:avLst/>
            </a:prstGeom>
          </p:spPr>
        </p:pic>
        <p:pic>
          <p:nvPicPr>
            <p:cNvPr id="17" name="Image 6">
              <a:extLst>
                <a:ext uri="{FF2B5EF4-FFF2-40B4-BE49-F238E27FC236}">
                  <a16:creationId xmlns:a16="http://schemas.microsoft.com/office/drawing/2014/main" id="{2AD3FAD2-17DB-475B-BC41-BD72314DB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4596383" y="6249923"/>
              <a:ext cx="3071023" cy="608587"/>
            </a:xfrm>
            <a:prstGeom prst="rect">
              <a:avLst/>
            </a:prstGeom>
          </p:spPr>
        </p:pic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93291AE4-65CF-4128-8543-CF966F3F675C}"/>
                </a:ext>
              </a:extLst>
            </p:cNvPr>
            <p:cNvSpPr/>
            <p:nvPr/>
          </p:nvSpPr>
          <p:spPr>
            <a:xfrm>
              <a:off x="5376772" y="6181477"/>
              <a:ext cx="1638504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推广</a:t>
              </a:r>
              <a:endParaRPr lang="en-US" sz="140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88B5C6A2-7994-4419-8AA2-C1F1FCEEA009}"/>
                </a:ext>
              </a:extLst>
            </p:cNvPr>
            <p:cNvSpPr/>
            <p:nvPr/>
          </p:nvSpPr>
          <p:spPr>
            <a:xfrm rot="21600000">
              <a:off x="4258055" y="7301484"/>
              <a:ext cx="3754513" cy="502719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4080"/>
                </a:lnSpc>
                <a:buNone/>
              </a:pPr>
              <a:endParaRPr lang="en-US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AED95483-1FE2-4529-8153-F819DEEADC04}"/>
                </a:ext>
              </a:extLst>
            </p:cNvPr>
            <p:cNvSpPr/>
            <p:nvPr/>
          </p:nvSpPr>
          <p:spPr>
            <a:xfrm>
              <a:off x="5436506" y="1708121"/>
              <a:ext cx="2733959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服务器采购</a:t>
              </a:r>
              <a:endParaRPr lang="en-US" sz="1400" dirty="0"/>
            </a:p>
          </p:txBody>
        </p:sp>
        <p:pic>
          <p:nvPicPr>
            <p:cNvPr id="21" name="Image 7">
              <a:extLst>
                <a:ext uri="{FF2B5EF4-FFF2-40B4-BE49-F238E27FC236}">
                  <a16:creationId xmlns:a16="http://schemas.microsoft.com/office/drawing/2014/main" id="{C4194A57-1BD8-4BB5-BBEB-DD34D06E9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861559" y="1906524"/>
              <a:ext cx="290249" cy="365152"/>
            </a:xfrm>
            <a:prstGeom prst="rect">
              <a:avLst/>
            </a:prstGeom>
          </p:spPr>
        </p:pic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2C91E9F1-E77E-4951-AFF4-CACB9688B843}"/>
                </a:ext>
              </a:extLst>
            </p:cNvPr>
            <p:cNvSpPr/>
            <p:nvPr/>
          </p:nvSpPr>
          <p:spPr>
            <a:xfrm>
              <a:off x="5483351" y="5141918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品牌宣传</a:t>
              </a:r>
              <a:endParaRPr lang="en-US" sz="1400" dirty="0"/>
            </a:p>
          </p:txBody>
        </p:sp>
        <p:pic>
          <p:nvPicPr>
            <p:cNvPr id="23" name="Image 8">
              <a:extLst>
                <a:ext uri="{FF2B5EF4-FFF2-40B4-BE49-F238E27FC236}">
                  <a16:creationId xmlns:a16="http://schemas.microsoft.com/office/drawing/2014/main" id="{0D7BC10D-571F-4C10-B3D7-F94AF9D34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843271" y="5317235"/>
              <a:ext cx="393241" cy="411967"/>
            </a:xfrm>
            <a:prstGeom prst="rect">
              <a:avLst/>
            </a:prstGeom>
          </p:spPr>
        </p:pic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AB10E102-635E-4462-A2EE-CDDE6552591C}"/>
                </a:ext>
              </a:extLst>
            </p:cNvPr>
            <p:cNvSpPr/>
            <p:nvPr/>
          </p:nvSpPr>
          <p:spPr>
            <a:xfrm>
              <a:off x="5419343" y="-119869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产品原型</a:t>
              </a:r>
              <a:endParaRPr lang="en-US" sz="1400" dirty="0"/>
            </a:p>
          </p:txBody>
        </p:sp>
        <p:pic>
          <p:nvPicPr>
            <p:cNvPr id="25" name="Image 9">
              <a:extLst>
                <a:ext uri="{FF2B5EF4-FFF2-40B4-BE49-F238E27FC236}">
                  <a16:creationId xmlns:a16="http://schemas.microsoft.com/office/drawing/2014/main" id="{98ED62AF-AE0C-4FF1-99A4-E62FDE88F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4788407" y="77723"/>
              <a:ext cx="393241" cy="393241"/>
            </a:xfrm>
            <a:prstGeom prst="rect">
              <a:avLst/>
            </a:prstGeom>
          </p:spPr>
        </p:pic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A0732D25-D183-43F6-87BF-9B54E1472A85}"/>
                </a:ext>
              </a:extLst>
            </p:cNvPr>
            <p:cNvSpPr/>
            <p:nvPr/>
          </p:nvSpPr>
          <p:spPr>
            <a:xfrm>
              <a:off x="5420761" y="836874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技术薪酬</a:t>
              </a:r>
              <a:endParaRPr lang="en-US" sz="1400" dirty="0"/>
            </a:p>
          </p:txBody>
        </p:sp>
        <p:pic>
          <p:nvPicPr>
            <p:cNvPr id="27" name="Image 10">
              <a:extLst>
                <a:ext uri="{FF2B5EF4-FFF2-40B4-BE49-F238E27FC236}">
                  <a16:creationId xmlns:a16="http://schemas.microsoft.com/office/drawing/2014/main" id="{FA34CD25-E6B7-42BD-9649-1DB97976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4824983" y="1010411"/>
              <a:ext cx="327701" cy="365153"/>
            </a:xfrm>
            <a:prstGeom prst="rect">
              <a:avLst/>
            </a:prstGeom>
          </p:spPr>
        </p:pic>
        <p:pic>
          <p:nvPicPr>
            <p:cNvPr id="28" name="Image 11">
              <a:extLst>
                <a:ext uri="{FF2B5EF4-FFF2-40B4-BE49-F238E27FC236}">
                  <a16:creationId xmlns:a16="http://schemas.microsoft.com/office/drawing/2014/main" id="{D7CA3A92-D204-4D02-A3C4-EEF731454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4843272" y="3561588"/>
              <a:ext cx="411966" cy="411966"/>
            </a:xfrm>
            <a:prstGeom prst="rect">
              <a:avLst/>
            </a:prstGeom>
          </p:spPr>
        </p:pic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C976EB75-8A19-4C51-AE8D-F9553B4522A9}"/>
                </a:ext>
              </a:extLst>
            </p:cNvPr>
            <p:cNvSpPr/>
            <p:nvPr/>
          </p:nvSpPr>
          <p:spPr>
            <a:xfrm>
              <a:off x="5483351" y="3414894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线下活动</a:t>
              </a:r>
              <a:endParaRPr lang="en-US" sz="1400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96E4F755-D501-4989-A974-3ED37DD2CC1A}"/>
                </a:ext>
              </a:extLst>
            </p:cNvPr>
            <p:cNvSpPr/>
            <p:nvPr/>
          </p:nvSpPr>
          <p:spPr>
            <a:xfrm>
              <a:off x="5483351" y="4301862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广告投放</a:t>
              </a:r>
              <a:endParaRPr lang="en-US" sz="1400" dirty="0"/>
            </a:p>
          </p:txBody>
        </p:sp>
        <p:pic>
          <p:nvPicPr>
            <p:cNvPr id="31" name="Image 12">
              <a:extLst>
                <a:ext uri="{FF2B5EF4-FFF2-40B4-BE49-F238E27FC236}">
                  <a16:creationId xmlns:a16="http://schemas.microsoft.com/office/drawing/2014/main" id="{35C599AF-F0D2-4F64-83E2-3B8749D93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4861560" y="4475988"/>
              <a:ext cx="365152" cy="365152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CB9DA9-FEEC-4127-A1E2-674773ECEF14}"/>
              </a:ext>
            </a:extLst>
          </p:cNvPr>
          <p:cNvSpPr txBox="1"/>
          <p:nvPr/>
        </p:nvSpPr>
        <p:spPr>
          <a:xfrm>
            <a:off x="6024230" y="1727726"/>
            <a:ext cx="203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zh-CN" altLang="zh-CN" sz="1800" b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技术研发部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9161D3-CE9D-400A-B230-6D15B602E3F6}"/>
              </a:ext>
            </a:extLst>
          </p:cNvPr>
          <p:cNvSpPr txBox="1"/>
          <p:nvPr/>
        </p:nvSpPr>
        <p:spPr>
          <a:xfrm>
            <a:off x="5870321" y="2076215"/>
            <a:ext cx="48444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前端开发工程师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人：熟悉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React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Vue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等前端框架，具备移动端适配能力。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后端开发工程师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人：熟悉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Python/Node.js/Java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后端开发，数据库设计与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API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架构经验。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算法与数据分析工程师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人：精通大模型应用、图神经网络及数据挖掘技术。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00227D-6B12-45EC-9491-80ED49AFDE30}"/>
              </a:ext>
            </a:extLst>
          </p:cNvPr>
          <p:cNvSpPr txBox="1"/>
          <p:nvPr/>
        </p:nvSpPr>
        <p:spPr>
          <a:xfrm>
            <a:off x="5870321" y="4250240"/>
            <a:ext cx="227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zh-CN" altLang="zh-CN" sz="1800" b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市场与运营部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899C15A-72F1-477D-8367-3FEE3907AB75}"/>
              </a:ext>
            </a:extLst>
          </p:cNvPr>
          <p:cNvSpPr txBox="1"/>
          <p:nvPr/>
        </p:nvSpPr>
        <p:spPr>
          <a:xfrm>
            <a:off x="6295351" y="4772691"/>
            <a:ext cx="49703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市场策划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人：擅长市场调研、活动策划、数据分析。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活动执行与社区运营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人：负责校园推广、用户互动及内容运营。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 err="1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员工培训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4</a:t>
            </a:fld>
            <a:endParaRPr lang="zh-CN" altLang="en-US" dirty="0"/>
          </a:p>
        </p:txBody>
      </p:sp>
      <p:pic>
        <p:nvPicPr>
          <p:cNvPr id="39" name="Image 3">
            <a:extLst>
              <a:ext uri="{FF2B5EF4-FFF2-40B4-BE49-F238E27FC236}">
                <a16:creationId xmlns:a16="http://schemas.microsoft.com/office/drawing/2014/main" id="{E7FEC7FB-827D-443C-8599-4474E9E46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04" y="2303426"/>
            <a:ext cx="727605" cy="71280"/>
          </a:xfrm>
          <a:prstGeom prst="rect">
            <a:avLst/>
          </a:prstGeom>
        </p:spPr>
      </p:pic>
      <p:pic>
        <p:nvPicPr>
          <p:cNvPr id="40" name="Image 4">
            <a:extLst>
              <a:ext uri="{FF2B5EF4-FFF2-40B4-BE49-F238E27FC236}">
                <a16:creationId xmlns:a16="http://schemas.microsoft.com/office/drawing/2014/main" id="{19D8956E-8A00-481D-B70A-92D347A2F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70" y="2303426"/>
            <a:ext cx="727605" cy="71280"/>
          </a:xfrm>
          <a:prstGeom prst="rect">
            <a:avLst/>
          </a:prstGeom>
        </p:spPr>
      </p:pic>
      <p:pic>
        <p:nvPicPr>
          <p:cNvPr id="41" name="Image 5">
            <a:extLst>
              <a:ext uri="{FF2B5EF4-FFF2-40B4-BE49-F238E27FC236}">
                <a16:creationId xmlns:a16="http://schemas.microsoft.com/office/drawing/2014/main" id="{F3FD8EA3-7B21-4CBC-B01B-BD4DB57BF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99" y="2303426"/>
            <a:ext cx="2041227" cy="75240"/>
          </a:xfrm>
          <a:prstGeom prst="rect">
            <a:avLst/>
          </a:prstGeom>
        </p:spPr>
      </p:pic>
      <p:pic>
        <p:nvPicPr>
          <p:cNvPr id="42" name="Image 6">
            <a:extLst>
              <a:ext uri="{FF2B5EF4-FFF2-40B4-BE49-F238E27FC236}">
                <a16:creationId xmlns:a16="http://schemas.microsoft.com/office/drawing/2014/main" id="{FB8CCD99-0CA5-4DF0-B4D1-FFA0AEAD0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884" y="2307386"/>
            <a:ext cx="2041227" cy="71280"/>
          </a:xfrm>
          <a:prstGeom prst="rect">
            <a:avLst/>
          </a:prstGeom>
        </p:spPr>
      </p:pic>
      <p:pic>
        <p:nvPicPr>
          <p:cNvPr id="43" name="Image 7">
            <a:extLst>
              <a:ext uri="{FF2B5EF4-FFF2-40B4-BE49-F238E27FC236}">
                <a16:creationId xmlns:a16="http://schemas.microsoft.com/office/drawing/2014/main" id="{8A01B682-BC13-48C1-8CD7-013E1A198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933" y="1792587"/>
            <a:ext cx="1010781" cy="1017718"/>
          </a:xfrm>
          <a:prstGeom prst="rect">
            <a:avLst/>
          </a:prstGeom>
        </p:spPr>
      </p:pic>
      <p:pic>
        <p:nvPicPr>
          <p:cNvPr id="44" name="Image 8">
            <a:extLst>
              <a:ext uri="{FF2B5EF4-FFF2-40B4-BE49-F238E27FC236}">
                <a16:creationId xmlns:a16="http://schemas.microsoft.com/office/drawing/2014/main" id="{BF32DD30-46DA-4B6B-8299-1D74A25F1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5841" y="2125226"/>
            <a:ext cx="424764" cy="352439"/>
          </a:xfrm>
          <a:prstGeom prst="rect">
            <a:avLst/>
          </a:prstGeom>
        </p:spPr>
      </p:pic>
      <p:pic>
        <p:nvPicPr>
          <p:cNvPr id="45" name="Image 9">
            <a:extLst>
              <a:ext uri="{FF2B5EF4-FFF2-40B4-BE49-F238E27FC236}">
                <a16:creationId xmlns:a16="http://schemas.microsoft.com/office/drawing/2014/main" id="{29F86FDA-53A9-4AA1-833E-7786A6D00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649" y="1792587"/>
            <a:ext cx="1010781" cy="1017718"/>
          </a:xfrm>
          <a:prstGeom prst="rect">
            <a:avLst/>
          </a:prstGeom>
        </p:spPr>
      </p:pic>
      <p:pic>
        <p:nvPicPr>
          <p:cNvPr id="46" name="Image 10">
            <a:extLst>
              <a:ext uri="{FF2B5EF4-FFF2-40B4-BE49-F238E27FC236}">
                <a16:creationId xmlns:a16="http://schemas.microsoft.com/office/drawing/2014/main" id="{0D5189C2-7018-492C-8ADD-EC36A3B3CF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753" y="2105426"/>
            <a:ext cx="334305" cy="392039"/>
          </a:xfrm>
          <a:prstGeom prst="rect">
            <a:avLst/>
          </a:prstGeom>
        </p:spPr>
      </p:pic>
      <p:pic>
        <p:nvPicPr>
          <p:cNvPr id="47" name="Image 11">
            <a:extLst>
              <a:ext uri="{FF2B5EF4-FFF2-40B4-BE49-F238E27FC236}">
                <a16:creationId xmlns:a16="http://schemas.microsoft.com/office/drawing/2014/main" id="{AC0EF679-53F0-4DB2-B034-60D0B125F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829" y="1808427"/>
            <a:ext cx="1010781" cy="1017718"/>
          </a:xfrm>
          <a:prstGeom prst="rect">
            <a:avLst/>
          </a:prstGeom>
        </p:spPr>
      </p:pic>
      <p:pic>
        <p:nvPicPr>
          <p:cNvPr id="48" name="Image 12">
            <a:extLst>
              <a:ext uri="{FF2B5EF4-FFF2-40B4-BE49-F238E27FC236}">
                <a16:creationId xmlns:a16="http://schemas.microsoft.com/office/drawing/2014/main" id="{711F88F0-7822-4721-8B5A-D236DB62C1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8469" y="2164826"/>
            <a:ext cx="393300" cy="3563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6C6EAA3-C416-413F-A750-BA2955AE1E88}"/>
              </a:ext>
            </a:extLst>
          </p:cNvPr>
          <p:cNvSpPr txBox="1"/>
          <p:nvPr/>
        </p:nvSpPr>
        <p:spPr>
          <a:xfrm>
            <a:off x="1958325" y="3051708"/>
            <a:ext cx="1107996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800" b="1" dirty="0" err="1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入职培训</a:t>
            </a:r>
            <a:endParaRPr lang="zh-CN" altLang="en-US" b="1" spc="100" dirty="0"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6C9464-FEA5-4F26-B7CB-0CC6D6AC956B}"/>
              </a:ext>
            </a:extLst>
          </p:cNvPr>
          <p:cNvSpPr txBox="1"/>
          <p:nvPr/>
        </p:nvSpPr>
        <p:spPr>
          <a:xfrm>
            <a:off x="1606101" y="3749181"/>
            <a:ext cx="2213423" cy="14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800" dirty="0" err="1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新员工入职初期进行公司文化、岗位职责、产品功能及安全规范培训</a:t>
            </a:r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CBF192-E7F1-4ED9-9C86-0678A469C3E8}"/>
              </a:ext>
            </a:extLst>
          </p:cNvPr>
          <p:cNvSpPr txBox="1"/>
          <p:nvPr/>
        </p:nvSpPr>
        <p:spPr>
          <a:xfrm>
            <a:off x="5369649" y="3051708"/>
            <a:ext cx="1107996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800" b="1" dirty="0" err="1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技术培训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B54692-51B7-4038-8E32-C4372E40C4C4}"/>
              </a:ext>
            </a:extLst>
          </p:cNvPr>
          <p:cNvSpPr txBox="1"/>
          <p:nvPr/>
        </p:nvSpPr>
        <p:spPr>
          <a:xfrm>
            <a:off x="5034508" y="3710469"/>
            <a:ext cx="2041227" cy="185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800" dirty="0" err="1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定期组织技术分享会、算法模型研讨及前沿技术学习，提高团队整体技术水平</a:t>
            </a:r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A465D60-F1FE-4AD1-9A69-BD81CF4A94B0}"/>
              </a:ext>
            </a:extLst>
          </p:cNvPr>
          <p:cNvSpPr txBox="1"/>
          <p:nvPr/>
        </p:nvSpPr>
        <p:spPr>
          <a:xfrm>
            <a:off x="8409077" y="3051708"/>
            <a:ext cx="1800493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800" b="1" dirty="0" err="1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市场与运营培训</a:t>
            </a:r>
            <a:endParaRPr lang="zh-CN" altLang="en-US" b="1" spc="100" dirty="0">
              <a:latin typeface="+mj-ea"/>
              <a:ea typeface="+mj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0CD2F82-3C08-4B9D-8DA8-2F7D165FECDA}"/>
              </a:ext>
            </a:extLst>
          </p:cNvPr>
          <p:cNvSpPr txBox="1"/>
          <p:nvPr/>
        </p:nvSpPr>
        <p:spPr>
          <a:xfrm>
            <a:off x="8381894" y="3710469"/>
            <a:ext cx="1854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针对校园营销活动、用户行为分析、品牌运营方法进行培训。</a:t>
            </a:r>
          </a:p>
        </p:txBody>
      </p:sp>
    </p:spTree>
    <p:extLst>
      <p:ext uri="{BB962C8B-B14F-4D97-AF65-F5344CB8AC3E}">
        <p14:creationId xmlns:p14="http://schemas.microsoft.com/office/powerpoint/2010/main" val="2555753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cd07bc45-8cf5-48a2-8d1d-e901e39ba763"/>
  <p:tag name="COMMONDATA" val="eyJoZGlkIjoiNGZmYzQ3OGNjMTFkZGQ4YjU2NjcxMDAxMmMzNzg5MDIifQ=="/>
</p:tagLst>
</file>

<file path=ppt/theme/theme1.xml><?xml version="1.0" encoding="utf-8"?>
<a:theme xmlns:a="http://schemas.openxmlformats.org/drawingml/2006/main" name="Office 主题​​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sz="1600" spc="100" dirty="0">
            <a:solidFill>
              <a:schemeClr val="accent4">
                <a:lumMod val="20000"/>
                <a:lumOff val="80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616</Words>
  <Application>Microsoft Office PowerPoint</Application>
  <PresentationFormat>宽屏</PresentationFormat>
  <Paragraphs>41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NotoSansSC-Bold</vt:lpstr>
      <vt:lpstr>等线</vt:lpstr>
      <vt:lpstr>思源黑体 CN Heavy</vt:lpstr>
      <vt:lpstr>思源黑体 CN Medium</vt:lpstr>
      <vt:lpstr>思源黑体 CN Normal</vt:lpstr>
      <vt:lpstr>宋体</vt:lpstr>
      <vt:lpstr>微软雅黑</vt:lpstr>
      <vt:lpstr>Arial</vt:lpstr>
      <vt:lpstr>Courier New</vt:lpstr>
      <vt:lpstr>Wingdings</vt:lpstr>
      <vt:lpstr>Office 主题​​</vt:lpstr>
      <vt:lpstr>组织结构</vt:lpstr>
      <vt:lpstr>团队介绍</vt:lpstr>
      <vt:lpstr>人力资源配置</vt:lpstr>
      <vt:lpstr>员工培训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dy</dc:creator>
  <cp:lastModifiedBy>栋栋 田</cp:lastModifiedBy>
  <cp:revision>186</cp:revision>
  <dcterms:created xsi:type="dcterms:W3CDTF">2024-11-07T03:24:30Z</dcterms:created>
  <dcterms:modified xsi:type="dcterms:W3CDTF">2025-11-06T09:09:33Z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21CB3FEED88CACABD0C534667F7C861A_43</vt:lpwstr>
  </property>
  <property fmtid="{D5CDD505-2E9C-101B-9397-08002B2CF9AE}" pid="3" name="KSOProductBuildVer">
    <vt:lpwstr>2052-6.7.1.8828</vt:lpwstr>
  </property>
</Properties>
</file>