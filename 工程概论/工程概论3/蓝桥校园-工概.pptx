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9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66" r:id="rId2"/>
  </p:sldMasterIdLst>
  <p:notesMasterIdLst>
    <p:notesMasterId r:id="rId30"/>
  </p:notesMasterIdLst>
  <p:sldIdLst>
    <p:sldId id="356" r:id="rId3"/>
    <p:sldId id="378" r:id="rId4"/>
    <p:sldId id="379" r:id="rId5"/>
    <p:sldId id="380" r:id="rId6"/>
    <p:sldId id="381" r:id="rId7"/>
    <p:sldId id="382" r:id="rId8"/>
    <p:sldId id="383" r:id="rId9"/>
    <p:sldId id="384" r:id="rId10"/>
    <p:sldId id="367" r:id="rId11"/>
    <p:sldId id="368" r:id="rId12"/>
    <p:sldId id="346" r:id="rId13"/>
    <p:sldId id="338" r:id="rId14"/>
    <p:sldId id="374" r:id="rId15"/>
    <p:sldId id="355" r:id="rId16"/>
    <p:sldId id="364" r:id="rId17"/>
    <p:sldId id="385" r:id="rId18"/>
    <p:sldId id="347" r:id="rId19"/>
    <p:sldId id="365" r:id="rId20"/>
    <p:sldId id="376" r:id="rId21"/>
    <p:sldId id="259" r:id="rId22"/>
    <p:sldId id="263" r:id="rId23"/>
    <p:sldId id="262" r:id="rId24"/>
    <p:sldId id="264" r:id="rId25"/>
    <p:sldId id="265" r:id="rId26"/>
    <p:sldId id="257" r:id="rId27"/>
    <p:sldId id="258" r:id="rId28"/>
    <p:sldId id="293" r:id="rId29"/>
  </p:sldIdLst>
  <p:sldSz cx="12192000" cy="6858000"/>
  <p:notesSz cx="6858000" cy="9144000"/>
  <p:custDataLst>
    <p:tags r:id="rId3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模板正文" id="{74A88C6D-78C6-4E80-930D-4DCDE2FA78E2}">
          <p14:sldIdLst>
            <p14:sldId id="356"/>
          </p14:sldIdLst>
        </p14:section>
        <p14:section name="模板正文" id="{F72BB966-49E5-4CA4-BB4D-D3902E874333}">
          <p14:sldIdLst>
            <p14:sldId id="378"/>
            <p14:sldId id="379"/>
            <p14:sldId id="380"/>
            <p14:sldId id="381"/>
            <p14:sldId id="382"/>
            <p14:sldId id="383"/>
            <p14:sldId id="384"/>
            <p14:sldId id="367"/>
            <p14:sldId id="368"/>
            <p14:sldId id="346"/>
            <p14:sldId id="338"/>
            <p14:sldId id="374"/>
            <p14:sldId id="355"/>
            <p14:sldId id="364"/>
            <p14:sldId id="385"/>
            <p14:sldId id="347"/>
            <p14:sldId id="365"/>
            <p14:sldId id="376"/>
            <p14:sldId id="259"/>
            <p14:sldId id="263"/>
            <p14:sldId id="262"/>
            <p14:sldId id="264"/>
            <p14:sldId id="265"/>
            <p14:sldId id="257"/>
            <p14:sldId id="258"/>
          </p14:sldIdLst>
        </p14:section>
        <p14:section name="模板正文" id="{AA63C073-0912-46F0-A89D-528BC5751BCC}">
          <p14:sldIdLst>
            <p14:sldId id="293"/>
          </p14:sldIdLst>
        </p14:section>
      </p14:sectionLst>
    </p:ext>
    <p:ext uri="{EFAFB233-063F-42B5-8137-9DF3F51BA10A}">
      <p15:sldGuideLst xmlns:p15="http://schemas.microsoft.com/office/powerpoint/2012/main">
        <p15:guide id="4" pos="7289" userDrawn="1">
          <p15:clr>
            <a:srgbClr val="A4A3A4"/>
          </p15:clr>
        </p15:guide>
        <p15:guide id="5" orient="horz" pos="278" userDrawn="1">
          <p15:clr>
            <a:srgbClr val="A4A3A4"/>
          </p15:clr>
        </p15:guide>
        <p15:guide id="6" orient="horz" pos="4004" userDrawn="1">
          <p15:clr>
            <a:srgbClr val="A4A3A4"/>
          </p15:clr>
        </p15:guide>
        <p15:guide id="7" pos="37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A90FF"/>
    <a:srgbClr val="28A745"/>
    <a:srgbClr val="FF6B6B"/>
    <a:srgbClr val="F07F09"/>
    <a:srgbClr val="E8857F"/>
    <a:srgbClr val="F5C1BC"/>
    <a:srgbClr val="FEFBF9"/>
    <a:srgbClr val="FBD9D5"/>
    <a:srgbClr val="A6A6A6"/>
    <a:srgbClr val="4F81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374" autoAdjust="0"/>
    <p:restoredTop sz="90945" autoAdjust="0"/>
  </p:normalViewPr>
  <p:slideViewPr>
    <p:cSldViewPr snapToGrid="0" showGuides="1">
      <p:cViewPr varScale="1">
        <p:scale>
          <a:sx n="106" d="100"/>
          <a:sy n="106" d="100"/>
        </p:scale>
        <p:origin x="126" y="150"/>
      </p:cViewPr>
      <p:guideLst>
        <p:guide pos="7289"/>
        <p:guide orient="horz" pos="278"/>
        <p:guide orient="horz" pos="4004"/>
        <p:guide pos="37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-158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gs" Target="tags/tag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wsl3\Desktop\&#26032;&#24314;%20Microsoft%20Excel%20&#24037;&#20316;&#34920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2130" b="1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dirty="0"/>
              <a:t>比例</a:t>
            </a:r>
            <a:endParaRPr lang="zh-CN" dirty="0"/>
          </a:p>
        </c:rich>
      </c:tx>
      <c:layout>
        <c:manualLayout>
          <c:xMode val="edge"/>
          <c:yMode val="edge"/>
          <c:x val="0.43983129875055299"/>
          <c:y val="0.1306161225404539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2130" b="1" i="0" u="none" strike="noStrike" kern="1200" cap="all" spc="120" normalizeH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2.7823792782107101E-2"/>
          <c:y val="0.148318990056969"/>
          <c:w val="0.94128047893244304"/>
          <c:h val="0.5530921693893090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Sheet1!$H$3</c:f>
              <c:strCache>
                <c:ptCount val="1"/>
                <c:pt idx="0">
                  <c:v>人数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zh-CN"/>
                      <a:t>50%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D6DA-460B-8F7F-38BE1BBA77A6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zh-CN"/>
                      <a:t>83%</a:t>
                    </a:r>
                    <a:endParaRPr lang="en-US" altLang="zh-CN" dirty="0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D6DA-460B-8F7F-38BE1BBA77A6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zh-CN"/>
                      <a:t>50%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D6DA-460B-8F7F-38BE1BBA77A6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zh-CN"/>
                      <a:t>30%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D6DA-460B-8F7F-38BE1BBA77A6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altLang="zh-CN"/>
                      <a:t>66%</a:t>
                    </a:r>
                    <a:endParaRPr lang="en-US" altLang="zh-CN" dirty="0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D6DA-460B-8F7F-38BE1BBA77A6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altLang="zh-CN"/>
                      <a:t>100%</a:t>
                    </a:r>
                    <a:endParaRPr lang="en-US" altLang="zh-CN" dirty="0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D6DA-460B-8F7F-38BE1BBA77A6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altLang="zh-CN"/>
                      <a:t>100%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D6DA-460B-8F7F-38BE1BBA77A6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altLang="zh-CN"/>
                      <a:t>50%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D6DA-460B-8F7F-38BE1BBA77A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Sheet1!$I$2:$P$2</c:f>
              <c:strCache>
                <c:ptCount val="8"/>
                <c:pt idx="0">
                  <c:v>被父母催婚</c:v>
                </c:pt>
                <c:pt idx="1">
                  <c:v>拓展新交友圈</c:v>
                </c:pt>
                <c:pt idx="2">
                  <c:v>偏向异性交友</c:v>
                </c:pt>
                <c:pt idx="3">
                  <c:v>偏向同性交友</c:v>
                </c:pt>
                <c:pt idx="4">
                  <c:v>单身</c:v>
                </c:pt>
                <c:pt idx="5">
                  <c:v>使用交友软件</c:v>
                </c:pt>
                <c:pt idx="6">
                  <c:v>对线上交友安全有担忧</c:v>
                </c:pt>
                <c:pt idx="7">
                  <c:v>有调侃朋友单身</c:v>
                </c:pt>
              </c:strCache>
            </c:strRef>
          </c:cat>
          <c:val>
            <c:numRef>
              <c:f>Sheet1!$I$3:$P$3</c:f>
              <c:numCache>
                <c:formatCode>General</c:formatCode>
                <c:ptCount val="8"/>
                <c:pt idx="0">
                  <c:v>3</c:v>
                </c:pt>
                <c:pt idx="1">
                  <c:v>5</c:v>
                </c:pt>
                <c:pt idx="2">
                  <c:v>3</c:v>
                </c:pt>
                <c:pt idx="3">
                  <c:v>2</c:v>
                </c:pt>
                <c:pt idx="4">
                  <c:v>4</c:v>
                </c:pt>
                <c:pt idx="5">
                  <c:v>6</c:v>
                </c:pt>
                <c:pt idx="6">
                  <c:v>6</c:v>
                </c:pt>
                <c:pt idx="7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6DA-460B-8F7F-38BE1BBA77A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9"/>
        <c:overlap val="100"/>
        <c:axId val="1886848511"/>
        <c:axId val="1886849343"/>
      </c:barChart>
      <c:catAx>
        <c:axId val="188684851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65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86849343"/>
        <c:crosses val="autoZero"/>
        <c:auto val="1"/>
        <c:lblAlgn val="ctr"/>
        <c:lblOffset val="100"/>
        <c:noMultiLvlLbl val="0"/>
      </c:catAx>
      <c:valAx>
        <c:axId val="188684934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88684851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cc77baf6-7819-4a6a-89a3-4bca7f77a0eb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5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5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lt1"/>
    </cs:fontRef>
    <cs:defRPr sz="1195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30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5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598B9C-87B0-4F8A-8876-781DF9777B38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C03E7F-BD71-4F7F-BEAF-CA83D5F3412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03E7F-BD71-4F7F-BEAF-CA83D5F3412C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过去，中国的婚恋观念相对传统，婚姻通常由家长安排，但随着社会观念的变革，越来越多的年轻人选择自主择偶，推动了婚恋市场的发展。随着生活节奏的加快，很多人将更多的时间花费在工作和个人发展上，导致了社交圈子的缩小。线上婚恋交友平台为这些人提供了更加便捷的社交方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03E7F-BD71-4F7F-BEAF-CA83D5F3412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68483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过去，中国的婚恋观念相对传统，婚姻通常由家长安排，但随着社会观念的变革，越来越多的年轻人选择自主择偶，推动了婚恋市场的发展。随着生活节奏的加快，很多人将更多的时间花费在工作和个人发展上，导致了社交圈子的缩小。线上婚恋交友平台为这些人提供了更加便捷的社交方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03E7F-BD71-4F7F-BEAF-CA83D5F3412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41481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latin typeface="华文楷体" panose="02010600040101010101" pitchFamily="2" charset="-122"/>
                <a:ea typeface="华文楷体" panose="02010600040101010101" pitchFamily="2" charset="-122"/>
              </a:rPr>
              <a:t>分析显示，大部分人对线上交友和拓展新社交圈有较高兴趣，同时更看重交友对象的内在品质而非外貌。关于交友安全，许多人关注人身和财产安全，反映大家在使用交友软件时注重隐私保护。</a:t>
            </a:r>
          </a:p>
          <a:p>
            <a:r>
              <a:rPr lang="zh-CN" altLang="en-US" sz="12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此外，关于父母催婚和同性交友的问题，较少人提及，说明这些问题对大多数人影响较小。总体来看，大家倾向于通过安全和健康的方式进行社交。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03E7F-BD71-4F7F-BEAF-CA83D5F3412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65724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03E7F-BD71-4F7F-BEAF-CA83D5F3412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00061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03E7F-BD71-4F7F-BEAF-CA83D5F3412C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87568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03E7F-BD71-4F7F-BEAF-CA83D5F3412C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62764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03E7F-BD71-4F7F-BEAF-CA83D5F3412C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12067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03E7F-BD71-4F7F-BEAF-CA83D5F3412C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38713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03E7F-BD71-4F7F-BEAF-CA83D5F3412C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2476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03E7F-BD71-4F7F-BEAF-CA83D5F3412C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45540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03E7F-BD71-4F7F-BEAF-CA83D5F3412C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659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03E7F-BD71-4F7F-BEAF-CA83D5F3412C}" type="slidenum">
              <a:rPr lang="zh-CN" altLang="en-US" smtClean="0"/>
              <a:t>27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2A5AA-0ADE-4A24-8106-207C03497465}" type="datetime1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西安电子科技大学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0104" y="441325"/>
            <a:ext cx="10515600" cy="365125"/>
          </a:xfrm>
        </p:spPr>
        <p:txBody>
          <a:bodyPr>
            <a:normAutofit/>
          </a:bodyPr>
          <a:lstStyle>
            <a:lvl1pPr>
              <a:defRPr sz="2400" b="1"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defRPr>
            </a:lvl1pPr>
          </a:lstStyle>
          <a:p>
            <a:fld id="{4DB44E30-715F-4973-8179-B4178D7E09F0}" type="datetime1">
              <a:rPr lang="zh-CN" altLang="en-US" smtClean="0"/>
              <a:t>2025/11/6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defRPr>
            </a:lvl1pPr>
          </a:lstStyle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defRPr>
            </a:lvl1pPr>
          </a:lstStyle>
          <a:p>
            <a:fld id="{33B9A5AF-BDD6-4E14-989F-CF034C94E4CA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8729402E-8143-4E0C-B6E4-596ED352E29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2051" y="514827"/>
            <a:ext cx="1228693" cy="692023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697584C2-5596-461C-9B8F-070CD3C385BD}"/>
              </a:ext>
            </a:extLst>
          </p:cNvPr>
          <p:cNvSpPr/>
          <p:nvPr userDrawn="1"/>
        </p:nvSpPr>
        <p:spPr>
          <a:xfrm>
            <a:off x="0" y="-114959"/>
            <a:ext cx="12192000" cy="7049559"/>
          </a:xfrm>
          <a:prstGeom prst="rect">
            <a:avLst/>
          </a:prstGeom>
          <a:solidFill>
            <a:schemeClr val="bg1"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8D83813-8247-41C2-AA97-ADA1BD4DAC4F}"/>
              </a:ext>
            </a:extLst>
          </p:cNvPr>
          <p:cNvSpPr/>
          <p:nvPr userDrawn="1"/>
        </p:nvSpPr>
        <p:spPr>
          <a:xfrm>
            <a:off x="570610" y="409575"/>
            <a:ext cx="101385" cy="4381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项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0104" y="441325"/>
            <a:ext cx="10515600" cy="365125"/>
          </a:xfrm>
        </p:spPr>
        <p:txBody>
          <a:bodyPr>
            <a:normAutofit/>
          </a:bodyPr>
          <a:lstStyle>
            <a:lvl1pPr>
              <a:defRPr sz="2400" b="1"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fld id="{4DB44E30-715F-4973-8179-B4178D7E09F0}" type="datetime1">
              <a:rPr lang="zh-CN" altLang="en-US" smtClean="0"/>
              <a:t>2025/11/6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fld id="{33B9A5AF-BDD6-4E14-989F-CF034C94E4CA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570610" y="441325"/>
            <a:ext cx="101385" cy="59446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内容占位符 16"/>
          <p:cNvSpPr>
            <a:spLocks noGrp="1"/>
          </p:cNvSpPr>
          <p:nvPr>
            <p:ph sz="quarter" idx="13" hasCustomPrompt="1"/>
          </p:nvPr>
        </p:nvSpPr>
        <p:spPr>
          <a:xfrm>
            <a:off x="750888" y="806450"/>
            <a:ext cx="10515600" cy="2286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单击此处编辑英文标题</a:t>
            </a:r>
          </a:p>
        </p:txBody>
      </p:sp>
      <p:sp>
        <p:nvSpPr>
          <p:cNvPr id="14" name="矩形 13"/>
          <p:cNvSpPr/>
          <p:nvPr userDrawn="1"/>
        </p:nvSpPr>
        <p:spPr>
          <a:xfrm>
            <a:off x="7080179" y="997618"/>
            <a:ext cx="4436181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sz="quarter" idx="14"/>
          </p:nvPr>
        </p:nvSpPr>
        <p:spPr>
          <a:xfrm>
            <a:off x="6932613" y="1124653"/>
            <a:ext cx="4421187" cy="2943346"/>
          </a:xfrm>
        </p:spPr>
        <p:txBody>
          <a:bodyPr/>
          <a:lstStyle/>
          <a:p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28A37EBA-AFDC-42D0-9A61-CD30E641D29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2051" y="514827"/>
            <a:ext cx="1228693" cy="69202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项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0104" y="441325"/>
            <a:ext cx="10515600" cy="365125"/>
          </a:xfrm>
        </p:spPr>
        <p:txBody>
          <a:bodyPr>
            <a:normAutofit/>
          </a:bodyPr>
          <a:lstStyle>
            <a:lvl1pPr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DB44E30-715F-4973-8179-B4178D7E09F0}" type="datetime1">
              <a:rPr lang="zh-CN" altLang="en-US" smtClean="0"/>
              <a:t>2025/11/6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3B9A5AF-BDD6-4E14-989F-CF034C94E4CA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570610" y="441325"/>
            <a:ext cx="101385" cy="59446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内容占位符 16"/>
          <p:cNvSpPr>
            <a:spLocks noGrp="1"/>
          </p:cNvSpPr>
          <p:nvPr>
            <p:ph sz="quarter" idx="13" hasCustomPrompt="1"/>
          </p:nvPr>
        </p:nvSpPr>
        <p:spPr>
          <a:xfrm>
            <a:off x="750888" y="806450"/>
            <a:ext cx="10515600" cy="2286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单击此处编辑英文标题</a:t>
            </a:r>
          </a:p>
        </p:txBody>
      </p:sp>
      <p:sp>
        <p:nvSpPr>
          <p:cNvPr id="12" name="矩形 11"/>
          <p:cNvSpPr/>
          <p:nvPr userDrawn="1"/>
        </p:nvSpPr>
        <p:spPr>
          <a:xfrm>
            <a:off x="0" y="2290573"/>
            <a:ext cx="12192000" cy="30942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sz="quarter" idx="14"/>
          </p:nvPr>
        </p:nvSpPr>
        <p:spPr>
          <a:xfrm rot="20772240">
            <a:off x="7401365" y="1683034"/>
            <a:ext cx="3598217" cy="2242686"/>
          </a:xfrm>
          <a:ln w="88900">
            <a:solidFill>
              <a:srgbClr val="FFFFFF"/>
            </a:solidFill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图片占位符 9"/>
          <p:cNvSpPr>
            <a:spLocks noGrp="1"/>
          </p:cNvSpPr>
          <p:nvPr>
            <p:ph type="pic" sz="quarter" idx="15"/>
          </p:nvPr>
        </p:nvSpPr>
        <p:spPr>
          <a:xfrm rot="668217">
            <a:off x="7665854" y="3726070"/>
            <a:ext cx="3598217" cy="2242686"/>
          </a:xfrm>
          <a:ln w="88900">
            <a:solidFill>
              <a:srgbClr val="FFFFFF"/>
            </a:solidFill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6283FF3B-A9EC-400D-BBD8-2B416BD9623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2051" y="514827"/>
            <a:ext cx="1228693" cy="69202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项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0104" y="441325"/>
            <a:ext cx="10515600" cy="365125"/>
          </a:xfrm>
        </p:spPr>
        <p:txBody>
          <a:bodyPr>
            <a:normAutofit/>
          </a:bodyPr>
          <a:lstStyle>
            <a:lvl1pPr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DB44E30-715F-4973-8179-B4178D7E09F0}" type="datetime1">
              <a:rPr lang="zh-CN" altLang="en-US" smtClean="0"/>
              <a:t>2025/11/6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3B9A5AF-BDD6-4E14-989F-CF034C94E4CA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570610" y="441325"/>
            <a:ext cx="101385" cy="59446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内容占位符 16"/>
          <p:cNvSpPr>
            <a:spLocks noGrp="1"/>
          </p:cNvSpPr>
          <p:nvPr>
            <p:ph sz="quarter" idx="13" hasCustomPrompt="1"/>
          </p:nvPr>
        </p:nvSpPr>
        <p:spPr>
          <a:xfrm>
            <a:off x="750888" y="806450"/>
            <a:ext cx="10515600" cy="2286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单击此处编辑英文标题</a:t>
            </a:r>
          </a:p>
        </p:txBody>
      </p:sp>
      <p:sp>
        <p:nvSpPr>
          <p:cNvPr id="10" name="图片占位符 9"/>
          <p:cNvSpPr>
            <a:spLocks noGrp="1"/>
          </p:cNvSpPr>
          <p:nvPr>
            <p:ph type="pic" sz="quarter" idx="14"/>
          </p:nvPr>
        </p:nvSpPr>
        <p:spPr>
          <a:xfrm>
            <a:off x="785565" y="1398880"/>
            <a:ext cx="3187948" cy="3225508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6" name="图片占位符 9"/>
          <p:cNvSpPr>
            <a:spLocks noGrp="1"/>
          </p:cNvSpPr>
          <p:nvPr>
            <p:ph type="pic" sz="quarter" idx="15"/>
          </p:nvPr>
        </p:nvSpPr>
        <p:spPr>
          <a:xfrm>
            <a:off x="4493965" y="1410888"/>
            <a:ext cx="3187948" cy="3225508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8" name="图片占位符 9"/>
          <p:cNvSpPr>
            <a:spLocks noGrp="1"/>
          </p:cNvSpPr>
          <p:nvPr>
            <p:ph type="pic" sz="quarter" idx="16"/>
          </p:nvPr>
        </p:nvSpPr>
        <p:spPr>
          <a:xfrm>
            <a:off x="8239589" y="1386104"/>
            <a:ext cx="3187948" cy="3225508"/>
          </a:xfrm>
        </p:spPr>
        <p:txBody>
          <a:bodyPr/>
          <a:lstStyle/>
          <a:p>
            <a:endParaRPr lang="zh-CN" altLang="en-US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87086BEB-7F32-430B-8496-29312F8C972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2051" y="514827"/>
            <a:ext cx="1228693" cy="69202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项横向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0104" y="441325"/>
            <a:ext cx="10515600" cy="365125"/>
          </a:xfrm>
        </p:spPr>
        <p:txBody>
          <a:bodyPr>
            <a:normAutofit/>
          </a:bodyPr>
          <a:lstStyle>
            <a:lvl1pPr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DB44E30-715F-4973-8179-B4178D7E09F0}" type="datetime1">
              <a:rPr lang="zh-CN" altLang="en-US" smtClean="0"/>
              <a:t>2025/11/6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3B9A5AF-BDD6-4E14-989F-CF034C94E4CA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570610" y="441325"/>
            <a:ext cx="101385" cy="59446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内容占位符 16"/>
          <p:cNvSpPr>
            <a:spLocks noGrp="1"/>
          </p:cNvSpPr>
          <p:nvPr>
            <p:ph sz="quarter" idx="13" hasCustomPrompt="1"/>
          </p:nvPr>
        </p:nvSpPr>
        <p:spPr>
          <a:xfrm>
            <a:off x="750888" y="806450"/>
            <a:ext cx="10515600" cy="2286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单击此处编辑英文标题</a:t>
            </a:r>
          </a:p>
        </p:txBody>
      </p:sp>
      <p:sp>
        <p:nvSpPr>
          <p:cNvPr id="12" name="矩形 11"/>
          <p:cNvSpPr/>
          <p:nvPr userDrawn="1"/>
        </p:nvSpPr>
        <p:spPr>
          <a:xfrm>
            <a:off x="624221" y="1486197"/>
            <a:ext cx="5334031" cy="194280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 userDrawn="1"/>
        </p:nvSpPr>
        <p:spPr>
          <a:xfrm>
            <a:off x="624220" y="3581327"/>
            <a:ext cx="5334031" cy="194280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 userDrawn="1"/>
        </p:nvSpPr>
        <p:spPr>
          <a:xfrm>
            <a:off x="6148169" y="1482545"/>
            <a:ext cx="5334031" cy="194280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 userDrawn="1"/>
        </p:nvSpPr>
        <p:spPr>
          <a:xfrm>
            <a:off x="6148168" y="3577675"/>
            <a:ext cx="5334031" cy="194280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直角三角形 15"/>
          <p:cNvSpPr/>
          <p:nvPr userDrawn="1"/>
        </p:nvSpPr>
        <p:spPr>
          <a:xfrm flipH="1" flipV="1">
            <a:off x="5425531" y="1476181"/>
            <a:ext cx="529296" cy="529296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直角三角形 17"/>
          <p:cNvSpPr/>
          <p:nvPr userDrawn="1"/>
        </p:nvSpPr>
        <p:spPr>
          <a:xfrm flipH="1" flipV="1">
            <a:off x="10962103" y="1476181"/>
            <a:ext cx="529296" cy="529296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直角三角形 18"/>
          <p:cNvSpPr/>
          <p:nvPr userDrawn="1"/>
        </p:nvSpPr>
        <p:spPr>
          <a:xfrm flipH="1" flipV="1">
            <a:off x="5425531" y="3584803"/>
            <a:ext cx="529296" cy="529296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直角三角形 19"/>
          <p:cNvSpPr/>
          <p:nvPr userDrawn="1"/>
        </p:nvSpPr>
        <p:spPr>
          <a:xfrm flipH="1" flipV="1">
            <a:off x="10962103" y="3584803"/>
            <a:ext cx="529296" cy="529296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sz="quarter" idx="14"/>
          </p:nvPr>
        </p:nvSpPr>
        <p:spPr>
          <a:xfrm>
            <a:off x="750888" y="1620838"/>
            <a:ext cx="1601787" cy="1601787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5" name="图片占位符 9"/>
          <p:cNvSpPr>
            <a:spLocks noGrp="1"/>
          </p:cNvSpPr>
          <p:nvPr>
            <p:ph type="pic" sz="quarter" idx="15"/>
          </p:nvPr>
        </p:nvSpPr>
        <p:spPr>
          <a:xfrm>
            <a:off x="762300" y="3748182"/>
            <a:ext cx="1601787" cy="1601787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6" name="图片占位符 9"/>
          <p:cNvSpPr>
            <a:spLocks noGrp="1"/>
          </p:cNvSpPr>
          <p:nvPr>
            <p:ph type="pic" sz="quarter" idx="16"/>
          </p:nvPr>
        </p:nvSpPr>
        <p:spPr>
          <a:xfrm>
            <a:off x="6278410" y="1620838"/>
            <a:ext cx="1601787" cy="1601787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7" name="图片占位符 9"/>
          <p:cNvSpPr>
            <a:spLocks noGrp="1"/>
          </p:cNvSpPr>
          <p:nvPr>
            <p:ph type="pic" sz="quarter" idx="17"/>
          </p:nvPr>
        </p:nvSpPr>
        <p:spPr>
          <a:xfrm>
            <a:off x="6289822" y="3748182"/>
            <a:ext cx="1601787" cy="1601787"/>
          </a:xfrm>
        </p:spPr>
        <p:txBody>
          <a:bodyPr/>
          <a:lstStyle/>
          <a:p>
            <a:endParaRPr lang="zh-CN" altLang="en-US"/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8DBEA4F8-3E16-4C59-891A-2C159CDDF84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2051" y="514827"/>
            <a:ext cx="1228693" cy="69202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DB44E30-715F-4973-8179-B4178D7E09F0}" type="datetime1">
              <a:rPr lang="zh-CN" altLang="en-US" smtClean="0"/>
              <a:t>2025/11/6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3B9A5AF-BDD6-4E14-989F-CF034C94E4CA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3B62919-9F04-4043-AD50-FEF679483A5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2051" y="514827"/>
            <a:ext cx="1228693" cy="69202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+截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/>
          <p:cNvSpPr/>
          <p:nvPr userDrawn="1"/>
        </p:nvSpPr>
        <p:spPr>
          <a:xfrm>
            <a:off x="0" y="2438400"/>
            <a:ext cx="12192000" cy="26517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40640" y="1227371"/>
            <a:ext cx="6553200" cy="518930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0104" y="441325"/>
            <a:ext cx="10515600" cy="365125"/>
          </a:xfrm>
        </p:spPr>
        <p:txBody>
          <a:bodyPr>
            <a:normAutofit/>
          </a:bodyPr>
          <a:lstStyle>
            <a:lvl1pPr>
              <a:defRPr sz="2400" b="1"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DB44E30-715F-4973-8179-B4178D7E09F0}" type="datetime1">
              <a:rPr lang="zh-CN" altLang="en-US" smtClean="0"/>
              <a:t>2025/11/6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3B9A5AF-BDD6-4E14-989F-CF034C94E4CA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570610" y="441325"/>
            <a:ext cx="101385" cy="59446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内容占位符 16"/>
          <p:cNvSpPr>
            <a:spLocks noGrp="1"/>
          </p:cNvSpPr>
          <p:nvPr>
            <p:ph sz="quarter" idx="13" hasCustomPrompt="1"/>
          </p:nvPr>
        </p:nvSpPr>
        <p:spPr>
          <a:xfrm>
            <a:off x="750888" y="806450"/>
            <a:ext cx="10515600" cy="2286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单击此处编辑英文标题</a:t>
            </a:r>
          </a:p>
        </p:txBody>
      </p:sp>
      <p:sp>
        <p:nvSpPr>
          <p:cNvPr id="26" name="图片占位符 25"/>
          <p:cNvSpPr>
            <a:spLocks noGrp="1"/>
          </p:cNvSpPr>
          <p:nvPr>
            <p:ph type="pic" sz="quarter" idx="15"/>
          </p:nvPr>
        </p:nvSpPr>
        <p:spPr>
          <a:xfrm>
            <a:off x="4094003" y="1461107"/>
            <a:ext cx="2145971" cy="4650188"/>
          </a:xfrm>
          <a:custGeom>
            <a:avLst/>
            <a:gdLst>
              <a:gd name="connsiteX0" fmla="*/ 232494 w 2145971"/>
              <a:gd name="connsiteY0" fmla="*/ 0 h 4565992"/>
              <a:gd name="connsiteX1" fmla="*/ 411896 w 2145971"/>
              <a:gd name="connsiteY1" fmla="*/ 0 h 4565992"/>
              <a:gd name="connsiteX2" fmla="*/ 460701 w 2145971"/>
              <a:gd name="connsiteY2" fmla="*/ 37375 h 4565992"/>
              <a:gd name="connsiteX3" fmla="*/ 474141 w 2145971"/>
              <a:gd name="connsiteY3" fmla="*/ 58952 h 4565992"/>
              <a:gd name="connsiteX4" fmla="*/ 474141 w 2145971"/>
              <a:gd name="connsiteY4" fmla="*/ 82631 h 4565992"/>
              <a:gd name="connsiteX5" fmla="*/ 510037 w 2145971"/>
              <a:gd name="connsiteY5" fmla="*/ 169291 h 4565992"/>
              <a:gd name="connsiteX6" fmla="*/ 511822 w 2145971"/>
              <a:gd name="connsiteY6" fmla="*/ 170494 h 4565992"/>
              <a:gd name="connsiteX7" fmla="*/ 511182 w 2145971"/>
              <a:gd name="connsiteY7" fmla="*/ 183169 h 4565992"/>
              <a:gd name="connsiteX8" fmla="*/ 513849 w 2145971"/>
              <a:gd name="connsiteY8" fmla="*/ 183169 h 4565992"/>
              <a:gd name="connsiteX9" fmla="*/ 513849 w 2145971"/>
              <a:gd name="connsiteY9" fmla="*/ 171861 h 4565992"/>
              <a:gd name="connsiteX10" fmla="*/ 548992 w 2145971"/>
              <a:gd name="connsiteY10" fmla="*/ 195555 h 4565992"/>
              <a:gd name="connsiteX11" fmla="*/ 596696 w 2145971"/>
              <a:gd name="connsiteY11" fmla="*/ 205186 h 4565992"/>
              <a:gd name="connsiteX12" fmla="*/ 1542211 w 2145971"/>
              <a:gd name="connsiteY12" fmla="*/ 205186 h 4565992"/>
              <a:gd name="connsiteX13" fmla="*/ 1628871 w 2145971"/>
              <a:gd name="connsiteY13" fmla="*/ 169291 h 4565992"/>
              <a:gd name="connsiteX14" fmla="*/ 1652348 w 2145971"/>
              <a:gd name="connsiteY14" fmla="*/ 134469 h 4565992"/>
              <a:gd name="connsiteX15" fmla="*/ 1652348 w 2145971"/>
              <a:gd name="connsiteY15" fmla="*/ 149349 h 4565992"/>
              <a:gd name="connsiteX16" fmla="*/ 1652530 w 2145971"/>
              <a:gd name="connsiteY16" fmla="*/ 149349 h 4565992"/>
              <a:gd name="connsiteX17" fmla="*/ 1653216 w 2145971"/>
              <a:gd name="connsiteY17" fmla="*/ 135765 h 4565992"/>
              <a:gd name="connsiteX18" fmla="*/ 1654573 w 2145971"/>
              <a:gd name="connsiteY18" fmla="*/ 131168 h 4565992"/>
              <a:gd name="connsiteX19" fmla="*/ 1655135 w 2145971"/>
              <a:gd name="connsiteY19" fmla="*/ 130335 h 4565992"/>
              <a:gd name="connsiteX20" fmla="*/ 1655818 w 2145971"/>
              <a:gd name="connsiteY20" fmla="*/ 126954 h 4565992"/>
              <a:gd name="connsiteX21" fmla="*/ 1670739 w 2145971"/>
              <a:gd name="connsiteY21" fmla="*/ 76422 h 4565992"/>
              <a:gd name="connsiteX22" fmla="*/ 1707424 w 2145971"/>
              <a:gd name="connsiteY22" fmla="*/ 28517 h 4565992"/>
              <a:gd name="connsiteX23" fmla="*/ 1753206 w 2145971"/>
              <a:gd name="connsiteY23" fmla="*/ 0 h 4565992"/>
              <a:gd name="connsiteX24" fmla="*/ 1913477 w 2145971"/>
              <a:gd name="connsiteY24" fmla="*/ 0 h 4565992"/>
              <a:gd name="connsiteX25" fmla="*/ 2145971 w 2145971"/>
              <a:gd name="connsiteY25" fmla="*/ 232494 h 4565992"/>
              <a:gd name="connsiteX26" fmla="*/ 2145971 w 2145971"/>
              <a:gd name="connsiteY26" fmla="*/ 4333498 h 4565992"/>
              <a:gd name="connsiteX27" fmla="*/ 1913477 w 2145971"/>
              <a:gd name="connsiteY27" fmla="*/ 4565992 h 4565992"/>
              <a:gd name="connsiteX28" fmla="*/ 232494 w 2145971"/>
              <a:gd name="connsiteY28" fmla="*/ 4565992 h 4565992"/>
              <a:gd name="connsiteX29" fmla="*/ 0 w 2145971"/>
              <a:gd name="connsiteY29" fmla="*/ 4333498 h 4565992"/>
              <a:gd name="connsiteX30" fmla="*/ 0 w 2145971"/>
              <a:gd name="connsiteY30" fmla="*/ 232494 h 4565992"/>
              <a:gd name="connsiteX31" fmla="*/ 232494 w 2145971"/>
              <a:gd name="connsiteY31" fmla="*/ 0 h 4565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2145971" h="4565992">
                <a:moveTo>
                  <a:pt x="232494" y="0"/>
                </a:moveTo>
                <a:lnTo>
                  <a:pt x="411896" y="0"/>
                </a:lnTo>
                <a:lnTo>
                  <a:pt x="460701" y="37375"/>
                </a:lnTo>
                <a:lnTo>
                  <a:pt x="474141" y="58952"/>
                </a:lnTo>
                <a:lnTo>
                  <a:pt x="474141" y="82631"/>
                </a:lnTo>
                <a:cubicBezTo>
                  <a:pt x="474141" y="116474"/>
                  <a:pt x="487859" y="147112"/>
                  <a:pt x="510037" y="169291"/>
                </a:cubicBezTo>
                <a:lnTo>
                  <a:pt x="511822" y="170494"/>
                </a:lnTo>
                <a:lnTo>
                  <a:pt x="511182" y="183169"/>
                </a:lnTo>
                <a:lnTo>
                  <a:pt x="513849" y="183169"/>
                </a:lnTo>
                <a:lnTo>
                  <a:pt x="513849" y="171861"/>
                </a:lnTo>
                <a:lnTo>
                  <a:pt x="548992" y="195555"/>
                </a:lnTo>
                <a:cubicBezTo>
                  <a:pt x="563655" y="201757"/>
                  <a:pt x="579775" y="205186"/>
                  <a:pt x="596696" y="205186"/>
                </a:cubicBezTo>
                <a:lnTo>
                  <a:pt x="1542211" y="205186"/>
                </a:lnTo>
                <a:cubicBezTo>
                  <a:pt x="1576054" y="205186"/>
                  <a:pt x="1606693" y="191469"/>
                  <a:pt x="1628871" y="169291"/>
                </a:cubicBezTo>
                <a:lnTo>
                  <a:pt x="1652348" y="134469"/>
                </a:lnTo>
                <a:lnTo>
                  <a:pt x="1652348" y="149349"/>
                </a:lnTo>
                <a:lnTo>
                  <a:pt x="1652530" y="149349"/>
                </a:lnTo>
                <a:lnTo>
                  <a:pt x="1653216" y="135765"/>
                </a:lnTo>
                <a:lnTo>
                  <a:pt x="1654573" y="131168"/>
                </a:lnTo>
                <a:lnTo>
                  <a:pt x="1655135" y="130335"/>
                </a:lnTo>
                <a:lnTo>
                  <a:pt x="1655818" y="126954"/>
                </a:lnTo>
                <a:lnTo>
                  <a:pt x="1670739" y="76422"/>
                </a:lnTo>
                <a:cubicBezTo>
                  <a:pt x="1680021" y="58300"/>
                  <a:pt x="1692497" y="42084"/>
                  <a:pt x="1707424" y="28517"/>
                </a:cubicBezTo>
                <a:lnTo>
                  <a:pt x="1753206" y="0"/>
                </a:lnTo>
                <a:lnTo>
                  <a:pt x="1913477" y="0"/>
                </a:lnTo>
                <a:cubicBezTo>
                  <a:pt x="2041880" y="0"/>
                  <a:pt x="2145971" y="104091"/>
                  <a:pt x="2145971" y="232494"/>
                </a:cubicBezTo>
                <a:lnTo>
                  <a:pt x="2145971" y="4333498"/>
                </a:lnTo>
                <a:cubicBezTo>
                  <a:pt x="2145971" y="4461901"/>
                  <a:pt x="2041880" y="4565992"/>
                  <a:pt x="1913477" y="4565992"/>
                </a:cubicBezTo>
                <a:lnTo>
                  <a:pt x="232494" y="4565992"/>
                </a:lnTo>
                <a:cubicBezTo>
                  <a:pt x="104091" y="4565992"/>
                  <a:pt x="0" y="4461901"/>
                  <a:pt x="0" y="4333498"/>
                </a:cubicBezTo>
                <a:lnTo>
                  <a:pt x="0" y="232494"/>
                </a:lnTo>
                <a:cubicBezTo>
                  <a:pt x="0" y="104091"/>
                  <a:pt x="104091" y="0"/>
                  <a:pt x="23249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27" name="图片占位符 26"/>
          <p:cNvSpPr>
            <a:spLocks noGrp="1"/>
          </p:cNvSpPr>
          <p:nvPr>
            <p:ph type="pic" sz="quarter" idx="16"/>
          </p:nvPr>
        </p:nvSpPr>
        <p:spPr>
          <a:xfrm>
            <a:off x="1360455" y="1471267"/>
            <a:ext cx="2145971" cy="4650188"/>
          </a:xfrm>
          <a:custGeom>
            <a:avLst/>
            <a:gdLst>
              <a:gd name="connsiteX0" fmla="*/ 232494 w 2145971"/>
              <a:gd name="connsiteY0" fmla="*/ 0 h 4565992"/>
              <a:gd name="connsiteX1" fmla="*/ 411896 w 2145971"/>
              <a:gd name="connsiteY1" fmla="*/ 0 h 4565992"/>
              <a:gd name="connsiteX2" fmla="*/ 460701 w 2145971"/>
              <a:gd name="connsiteY2" fmla="*/ 37375 h 4565992"/>
              <a:gd name="connsiteX3" fmla="*/ 474141 w 2145971"/>
              <a:gd name="connsiteY3" fmla="*/ 58952 h 4565992"/>
              <a:gd name="connsiteX4" fmla="*/ 474141 w 2145971"/>
              <a:gd name="connsiteY4" fmla="*/ 82631 h 4565992"/>
              <a:gd name="connsiteX5" fmla="*/ 510037 w 2145971"/>
              <a:gd name="connsiteY5" fmla="*/ 169291 h 4565992"/>
              <a:gd name="connsiteX6" fmla="*/ 511822 w 2145971"/>
              <a:gd name="connsiteY6" fmla="*/ 170494 h 4565992"/>
              <a:gd name="connsiteX7" fmla="*/ 511182 w 2145971"/>
              <a:gd name="connsiteY7" fmla="*/ 183169 h 4565992"/>
              <a:gd name="connsiteX8" fmla="*/ 513849 w 2145971"/>
              <a:gd name="connsiteY8" fmla="*/ 183169 h 4565992"/>
              <a:gd name="connsiteX9" fmla="*/ 513849 w 2145971"/>
              <a:gd name="connsiteY9" fmla="*/ 171861 h 4565992"/>
              <a:gd name="connsiteX10" fmla="*/ 548992 w 2145971"/>
              <a:gd name="connsiteY10" fmla="*/ 195555 h 4565992"/>
              <a:gd name="connsiteX11" fmla="*/ 596696 w 2145971"/>
              <a:gd name="connsiteY11" fmla="*/ 205186 h 4565992"/>
              <a:gd name="connsiteX12" fmla="*/ 1542211 w 2145971"/>
              <a:gd name="connsiteY12" fmla="*/ 205186 h 4565992"/>
              <a:gd name="connsiteX13" fmla="*/ 1628871 w 2145971"/>
              <a:gd name="connsiteY13" fmla="*/ 169291 h 4565992"/>
              <a:gd name="connsiteX14" fmla="*/ 1652348 w 2145971"/>
              <a:gd name="connsiteY14" fmla="*/ 134469 h 4565992"/>
              <a:gd name="connsiteX15" fmla="*/ 1652348 w 2145971"/>
              <a:gd name="connsiteY15" fmla="*/ 149349 h 4565992"/>
              <a:gd name="connsiteX16" fmla="*/ 1652530 w 2145971"/>
              <a:gd name="connsiteY16" fmla="*/ 149349 h 4565992"/>
              <a:gd name="connsiteX17" fmla="*/ 1653216 w 2145971"/>
              <a:gd name="connsiteY17" fmla="*/ 135765 h 4565992"/>
              <a:gd name="connsiteX18" fmla="*/ 1654573 w 2145971"/>
              <a:gd name="connsiteY18" fmla="*/ 131168 h 4565992"/>
              <a:gd name="connsiteX19" fmla="*/ 1655135 w 2145971"/>
              <a:gd name="connsiteY19" fmla="*/ 130335 h 4565992"/>
              <a:gd name="connsiteX20" fmla="*/ 1655818 w 2145971"/>
              <a:gd name="connsiteY20" fmla="*/ 126954 h 4565992"/>
              <a:gd name="connsiteX21" fmla="*/ 1670739 w 2145971"/>
              <a:gd name="connsiteY21" fmla="*/ 76422 h 4565992"/>
              <a:gd name="connsiteX22" fmla="*/ 1707424 w 2145971"/>
              <a:gd name="connsiteY22" fmla="*/ 28517 h 4565992"/>
              <a:gd name="connsiteX23" fmla="*/ 1753206 w 2145971"/>
              <a:gd name="connsiteY23" fmla="*/ 0 h 4565992"/>
              <a:gd name="connsiteX24" fmla="*/ 1913477 w 2145971"/>
              <a:gd name="connsiteY24" fmla="*/ 0 h 4565992"/>
              <a:gd name="connsiteX25" fmla="*/ 2145971 w 2145971"/>
              <a:gd name="connsiteY25" fmla="*/ 232494 h 4565992"/>
              <a:gd name="connsiteX26" fmla="*/ 2145971 w 2145971"/>
              <a:gd name="connsiteY26" fmla="*/ 4333498 h 4565992"/>
              <a:gd name="connsiteX27" fmla="*/ 1913477 w 2145971"/>
              <a:gd name="connsiteY27" fmla="*/ 4565992 h 4565992"/>
              <a:gd name="connsiteX28" fmla="*/ 232494 w 2145971"/>
              <a:gd name="connsiteY28" fmla="*/ 4565992 h 4565992"/>
              <a:gd name="connsiteX29" fmla="*/ 0 w 2145971"/>
              <a:gd name="connsiteY29" fmla="*/ 4333498 h 4565992"/>
              <a:gd name="connsiteX30" fmla="*/ 0 w 2145971"/>
              <a:gd name="connsiteY30" fmla="*/ 232494 h 4565992"/>
              <a:gd name="connsiteX31" fmla="*/ 232494 w 2145971"/>
              <a:gd name="connsiteY31" fmla="*/ 0 h 4565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2145971" h="4565992">
                <a:moveTo>
                  <a:pt x="232494" y="0"/>
                </a:moveTo>
                <a:lnTo>
                  <a:pt x="411896" y="0"/>
                </a:lnTo>
                <a:lnTo>
                  <a:pt x="460701" y="37375"/>
                </a:lnTo>
                <a:lnTo>
                  <a:pt x="474141" y="58952"/>
                </a:lnTo>
                <a:lnTo>
                  <a:pt x="474141" y="82631"/>
                </a:lnTo>
                <a:cubicBezTo>
                  <a:pt x="474141" y="116474"/>
                  <a:pt x="487859" y="147112"/>
                  <a:pt x="510037" y="169291"/>
                </a:cubicBezTo>
                <a:lnTo>
                  <a:pt x="511822" y="170494"/>
                </a:lnTo>
                <a:lnTo>
                  <a:pt x="511182" y="183169"/>
                </a:lnTo>
                <a:lnTo>
                  <a:pt x="513849" y="183169"/>
                </a:lnTo>
                <a:lnTo>
                  <a:pt x="513849" y="171861"/>
                </a:lnTo>
                <a:lnTo>
                  <a:pt x="548992" y="195555"/>
                </a:lnTo>
                <a:cubicBezTo>
                  <a:pt x="563655" y="201757"/>
                  <a:pt x="579775" y="205186"/>
                  <a:pt x="596696" y="205186"/>
                </a:cubicBezTo>
                <a:lnTo>
                  <a:pt x="1542211" y="205186"/>
                </a:lnTo>
                <a:cubicBezTo>
                  <a:pt x="1576054" y="205186"/>
                  <a:pt x="1606693" y="191469"/>
                  <a:pt x="1628871" y="169291"/>
                </a:cubicBezTo>
                <a:lnTo>
                  <a:pt x="1652348" y="134469"/>
                </a:lnTo>
                <a:lnTo>
                  <a:pt x="1652348" y="149349"/>
                </a:lnTo>
                <a:lnTo>
                  <a:pt x="1652530" y="149349"/>
                </a:lnTo>
                <a:lnTo>
                  <a:pt x="1653216" y="135765"/>
                </a:lnTo>
                <a:lnTo>
                  <a:pt x="1654573" y="131168"/>
                </a:lnTo>
                <a:lnTo>
                  <a:pt x="1655135" y="130335"/>
                </a:lnTo>
                <a:lnTo>
                  <a:pt x="1655818" y="126954"/>
                </a:lnTo>
                <a:lnTo>
                  <a:pt x="1670739" y="76422"/>
                </a:lnTo>
                <a:cubicBezTo>
                  <a:pt x="1680021" y="58300"/>
                  <a:pt x="1692497" y="42084"/>
                  <a:pt x="1707424" y="28517"/>
                </a:cubicBezTo>
                <a:lnTo>
                  <a:pt x="1753206" y="0"/>
                </a:lnTo>
                <a:lnTo>
                  <a:pt x="1913477" y="0"/>
                </a:lnTo>
                <a:cubicBezTo>
                  <a:pt x="2041880" y="0"/>
                  <a:pt x="2145971" y="104091"/>
                  <a:pt x="2145971" y="232494"/>
                </a:cubicBezTo>
                <a:lnTo>
                  <a:pt x="2145971" y="4333498"/>
                </a:lnTo>
                <a:cubicBezTo>
                  <a:pt x="2145971" y="4461901"/>
                  <a:pt x="2041880" y="4565992"/>
                  <a:pt x="1913477" y="4565992"/>
                </a:cubicBezTo>
                <a:lnTo>
                  <a:pt x="232494" y="4565992"/>
                </a:lnTo>
                <a:cubicBezTo>
                  <a:pt x="104091" y="4565992"/>
                  <a:pt x="0" y="4461901"/>
                  <a:pt x="0" y="4333498"/>
                </a:cubicBezTo>
                <a:lnTo>
                  <a:pt x="0" y="232494"/>
                </a:lnTo>
                <a:cubicBezTo>
                  <a:pt x="0" y="104091"/>
                  <a:pt x="104091" y="0"/>
                  <a:pt x="23249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28" name="图片占位符 27"/>
          <p:cNvSpPr>
            <a:spLocks noGrp="1"/>
          </p:cNvSpPr>
          <p:nvPr>
            <p:ph type="pic" sz="quarter" idx="17"/>
          </p:nvPr>
        </p:nvSpPr>
        <p:spPr>
          <a:xfrm>
            <a:off x="-1403065" y="1466132"/>
            <a:ext cx="2145971" cy="4650188"/>
          </a:xfrm>
          <a:custGeom>
            <a:avLst/>
            <a:gdLst>
              <a:gd name="connsiteX0" fmla="*/ 232494 w 2145971"/>
              <a:gd name="connsiteY0" fmla="*/ 0 h 4565992"/>
              <a:gd name="connsiteX1" fmla="*/ 411896 w 2145971"/>
              <a:gd name="connsiteY1" fmla="*/ 0 h 4565992"/>
              <a:gd name="connsiteX2" fmla="*/ 460701 w 2145971"/>
              <a:gd name="connsiteY2" fmla="*/ 37375 h 4565992"/>
              <a:gd name="connsiteX3" fmla="*/ 474141 w 2145971"/>
              <a:gd name="connsiteY3" fmla="*/ 58952 h 4565992"/>
              <a:gd name="connsiteX4" fmla="*/ 474141 w 2145971"/>
              <a:gd name="connsiteY4" fmla="*/ 82631 h 4565992"/>
              <a:gd name="connsiteX5" fmla="*/ 510037 w 2145971"/>
              <a:gd name="connsiteY5" fmla="*/ 169291 h 4565992"/>
              <a:gd name="connsiteX6" fmla="*/ 511822 w 2145971"/>
              <a:gd name="connsiteY6" fmla="*/ 170494 h 4565992"/>
              <a:gd name="connsiteX7" fmla="*/ 511182 w 2145971"/>
              <a:gd name="connsiteY7" fmla="*/ 183169 h 4565992"/>
              <a:gd name="connsiteX8" fmla="*/ 513849 w 2145971"/>
              <a:gd name="connsiteY8" fmla="*/ 183169 h 4565992"/>
              <a:gd name="connsiteX9" fmla="*/ 513849 w 2145971"/>
              <a:gd name="connsiteY9" fmla="*/ 171861 h 4565992"/>
              <a:gd name="connsiteX10" fmla="*/ 548992 w 2145971"/>
              <a:gd name="connsiteY10" fmla="*/ 195555 h 4565992"/>
              <a:gd name="connsiteX11" fmla="*/ 596696 w 2145971"/>
              <a:gd name="connsiteY11" fmla="*/ 205186 h 4565992"/>
              <a:gd name="connsiteX12" fmla="*/ 1542211 w 2145971"/>
              <a:gd name="connsiteY12" fmla="*/ 205186 h 4565992"/>
              <a:gd name="connsiteX13" fmla="*/ 1628871 w 2145971"/>
              <a:gd name="connsiteY13" fmla="*/ 169291 h 4565992"/>
              <a:gd name="connsiteX14" fmla="*/ 1652348 w 2145971"/>
              <a:gd name="connsiteY14" fmla="*/ 134469 h 4565992"/>
              <a:gd name="connsiteX15" fmla="*/ 1652348 w 2145971"/>
              <a:gd name="connsiteY15" fmla="*/ 149349 h 4565992"/>
              <a:gd name="connsiteX16" fmla="*/ 1652530 w 2145971"/>
              <a:gd name="connsiteY16" fmla="*/ 149349 h 4565992"/>
              <a:gd name="connsiteX17" fmla="*/ 1653216 w 2145971"/>
              <a:gd name="connsiteY17" fmla="*/ 135765 h 4565992"/>
              <a:gd name="connsiteX18" fmla="*/ 1654573 w 2145971"/>
              <a:gd name="connsiteY18" fmla="*/ 131168 h 4565992"/>
              <a:gd name="connsiteX19" fmla="*/ 1655135 w 2145971"/>
              <a:gd name="connsiteY19" fmla="*/ 130335 h 4565992"/>
              <a:gd name="connsiteX20" fmla="*/ 1655818 w 2145971"/>
              <a:gd name="connsiteY20" fmla="*/ 126954 h 4565992"/>
              <a:gd name="connsiteX21" fmla="*/ 1670739 w 2145971"/>
              <a:gd name="connsiteY21" fmla="*/ 76422 h 4565992"/>
              <a:gd name="connsiteX22" fmla="*/ 1707424 w 2145971"/>
              <a:gd name="connsiteY22" fmla="*/ 28517 h 4565992"/>
              <a:gd name="connsiteX23" fmla="*/ 1753206 w 2145971"/>
              <a:gd name="connsiteY23" fmla="*/ 0 h 4565992"/>
              <a:gd name="connsiteX24" fmla="*/ 1913477 w 2145971"/>
              <a:gd name="connsiteY24" fmla="*/ 0 h 4565992"/>
              <a:gd name="connsiteX25" fmla="*/ 2145971 w 2145971"/>
              <a:gd name="connsiteY25" fmla="*/ 232494 h 4565992"/>
              <a:gd name="connsiteX26" fmla="*/ 2145971 w 2145971"/>
              <a:gd name="connsiteY26" fmla="*/ 4333498 h 4565992"/>
              <a:gd name="connsiteX27" fmla="*/ 1913477 w 2145971"/>
              <a:gd name="connsiteY27" fmla="*/ 4565992 h 4565992"/>
              <a:gd name="connsiteX28" fmla="*/ 232494 w 2145971"/>
              <a:gd name="connsiteY28" fmla="*/ 4565992 h 4565992"/>
              <a:gd name="connsiteX29" fmla="*/ 0 w 2145971"/>
              <a:gd name="connsiteY29" fmla="*/ 4333498 h 4565992"/>
              <a:gd name="connsiteX30" fmla="*/ 0 w 2145971"/>
              <a:gd name="connsiteY30" fmla="*/ 232494 h 4565992"/>
              <a:gd name="connsiteX31" fmla="*/ 232494 w 2145971"/>
              <a:gd name="connsiteY31" fmla="*/ 0 h 4565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2145971" h="4565992">
                <a:moveTo>
                  <a:pt x="232494" y="0"/>
                </a:moveTo>
                <a:lnTo>
                  <a:pt x="411896" y="0"/>
                </a:lnTo>
                <a:lnTo>
                  <a:pt x="460701" y="37375"/>
                </a:lnTo>
                <a:lnTo>
                  <a:pt x="474141" y="58952"/>
                </a:lnTo>
                <a:lnTo>
                  <a:pt x="474141" y="82631"/>
                </a:lnTo>
                <a:cubicBezTo>
                  <a:pt x="474141" y="116474"/>
                  <a:pt x="487859" y="147112"/>
                  <a:pt x="510037" y="169291"/>
                </a:cubicBezTo>
                <a:lnTo>
                  <a:pt x="511822" y="170494"/>
                </a:lnTo>
                <a:lnTo>
                  <a:pt x="511182" y="183169"/>
                </a:lnTo>
                <a:lnTo>
                  <a:pt x="513849" y="183169"/>
                </a:lnTo>
                <a:lnTo>
                  <a:pt x="513849" y="171861"/>
                </a:lnTo>
                <a:lnTo>
                  <a:pt x="548992" y="195555"/>
                </a:lnTo>
                <a:cubicBezTo>
                  <a:pt x="563655" y="201757"/>
                  <a:pt x="579775" y="205186"/>
                  <a:pt x="596696" y="205186"/>
                </a:cubicBezTo>
                <a:lnTo>
                  <a:pt x="1542211" y="205186"/>
                </a:lnTo>
                <a:cubicBezTo>
                  <a:pt x="1576054" y="205186"/>
                  <a:pt x="1606693" y="191469"/>
                  <a:pt x="1628871" y="169291"/>
                </a:cubicBezTo>
                <a:lnTo>
                  <a:pt x="1652348" y="134469"/>
                </a:lnTo>
                <a:lnTo>
                  <a:pt x="1652348" y="149349"/>
                </a:lnTo>
                <a:lnTo>
                  <a:pt x="1652530" y="149349"/>
                </a:lnTo>
                <a:lnTo>
                  <a:pt x="1653216" y="135765"/>
                </a:lnTo>
                <a:lnTo>
                  <a:pt x="1654573" y="131168"/>
                </a:lnTo>
                <a:lnTo>
                  <a:pt x="1655135" y="130335"/>
                </a:lnTo>
                <a:lnTo>
                  <a:pt x="1655818" y="126954"/>
                </a:lnTo>
                <a:lnTo>
                  <a:pt x="1670739" y="76422"/>
                </a:lnTo>
                <a:cubicBezTo>
                  <a:pt x="1680021" y="58300"/>
                  <a:pt x="1692497" y="42084"/>
                  <a:pt x="1707424" y="28517"/>
                </a:cubicBezTo>
                <a:lnTo>
                  <a:pt x="1753206" y="0"/>
                </a:lnTo>
                <a:lnTo>
                  <a:pt x="1913477" y="0"/>
                </a:lnTo>
                <a:cubicBezTo>
                  <a:pt x="2041880" y="0"/>
                  <a:pt x="2145971" y="104091"/>
                  <a:pt x="2145971" y="232494"/>
                </a:cubicBezTo>
                <a:lnTo>
                  <a:pt x="2145971" y="4333498"/>
                </a:lnTo>
                <a:cubicBezTo>
                  <a:pt x="2145971" y="4461901"/>
                  <a:pt x="2041880" y="4565992"/>
                  <a:pt x="1913477" y="4565992"/>
                </a:cubicBezTo>
                <a:lnTo>
                  <a:pt x="232494" y="4565992"/>
                </a:lnTo>
                <a:cubicBezTo>
                  <a:pt x="104091" y="4565992"/>
                  <a:pt x="0" y="4461901"/>
                  <a:pt x="0" y="4333498"/>
                </a:cubicBezTo>
                <a:lnTo>
                  <a:pt x="0" y="232494"/>
                </a:lnTo>
                <a:cubicBezTo>
                  <a:pt x="0" y="104091"/>
                  <a:pt x="104091" y="0"/>
                  <a:pt x="23249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4418D875-80C6-4A5D-A911-5A3EC53F825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2051" y="514827"/>
            <a:ext cx="1228693" cy="69202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 userDrawn="1"/>
        </p:nvSpPr>
        <p:spPr>
          <a:xfrm>
            <a:off x="0" y="0"/>
            <a:ext cx="480939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0104" y="441325"/>
            <a:ext cx="10515600" cy="365125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FFF2C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2C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DB44E30-715F-4973-8179-B4178D7E09F0}" type="datetime1">
              <a:rPr lang="zh-CN" altLang="en-US" smtClean="0"/>
              <a:t>2025/11/6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3B9A5AF-BDD6-4E14-989F-CF034C94E4CA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570610" y="441325"/>
            <a:ext cx="101385" cy="594461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内容占位符 16"/>
          <p:cNvSpPr>
            <a:spLocks noGrp="1"/>
          </p:cNvSpPr>
          <p:nvPr>
            <p:ph sz="quarter" idx="13" hasCustomPrompt="1"/>
          </p:nvPr>
        </p:nvSpPr>
        <p:spPr>
          <a:xfrm>
            <a:off x="750888" y="806450"/>
            <a:ext cx="10515600" cy="2286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FFF2C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单击此处编辑英文标题</a:t>
            </a:r>
          </a:p>
        </p:txBody>
      </p:sp>
      <p:sp>
        <p:nvSpPr>
          <p:cNvPr id="6" name="等腰三角形 5"/>
          <p:cNvSpPr/>
          <p:nvPr userDrawn="1"/>
        </p:nvSpPr>
        <p:spPr>
          <a:xfrm rot="5400000">
            <a:off x="4670790" y="579927"/>
            <a:ext cx="593726" cy="3165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9EECE605-304C-49AC-ACC1-7BBDC8DEC2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2051" y="514827"/>
            <a:ext cx="1228693" cy="69202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多项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 userDrawn="1"/>
        </p:nvSpPr>
        <p:spPr>
          <a:xfrm>
            <a:off x="0" y="0"/>
            <a:ext cx="480939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0104" y="441325"/>
            <a:ext cx="10515600" cy="365125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FFF2CC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2CC"/>
                </a:solidFill>
                <a:latin typeface="+mj-ea"/>
                <a:ea typeface="+mj-ea"/>
              </a:defRPr>
            </a:lvl1pPr>
          </a:lstStyle>
          <a:p>
            <a:fld id="{4DB44E30-715F-4973-8179-B4178D7E09F0}" type="datetime1">
              <a:rPr lang="zh-CN" altLang="en-US" smtClean="0"/>
              <a:t>2025/11/6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j-ea"/>
                <a:ea typeface="+mj-ea"/>
              </a:defRPr>
            </a:lvl1pPr>
          </a:lstStyle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j-ea"/>
                <a:ea typeface="+mj-ea"/>
              </a:defRPr>
            </a:lvl1pPr>
          </a:lstStyle>
          <a:p>
            <a:fld id="{33B9A5AF-BDD6-4E14-989F-CF034C94E4CA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570610" y="441325"/>
            <a:ext cx="101385" cy="594461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内容占位符 16"/>
          <p:cNvSpPr>
            <a:spLocks noGrp="1"/>
          </p:cNvSpPr>
          <p:nvPr>
            <p:ph sz="quarter" idx="13" hasCustomPrompt="1"/>
          </p:nvPr>
        </p:nvSpPr>
        <p:spPr>
          <a:xfrm>
            <a:off x="750888" y="806450"/>
            <a:ext cx="10515600" cy="2286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FFF2CC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单击此处编辑英文标题</a:t>
            </a:r>
          </a:p>
        </p:txBody>
      </p:sp>
      <p:sp>
        <p:nvSpPr>
          <p:cNvPr id="6" name="等腰三角形 5"/>
          <p:cNvSpPr/>
          <p:nvPr userDrawn="1"/>
        </p:nvSpPr>
        <p:spPr>
          <a:xfrm rot="5400000">
            <a:off x="4670790" y="579927"/>
            <a:ext cx="593726" cy="3165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图片占位符 8"/>
          <p:cNvSpPr>
            <a:spLocks noGrp="1"/>
          </p:cNvSpPr>
          <p:nvPr>
            <p:ph type="pic" sz="quarter" idx="14"/>
          </p:nvPr>
        </p:nvSpPr>
        <p:spPr>
          <a:xfrm>
            <a:off x="565422" y="1473200"/>
            <a:ext cx="1919287" cy="135096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4" name="图片占位符 8"/>
          <p:cNvSpPr>
            <a:spLocks noGrp="1"/>
          </p:cNvSpPr>
          <p:nvPr>
            <p:ph type="pic" sz="quarter" idx="15"/>
          </p:nvPr>
        </p:nvSpPr>
        <p:spPr>
          <a:xfrm>
            <a:off x="2591276" y="1473200"/>
            <a:ext cx="1919287" cy="135096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5" name="图片占位符 8"/>
          <p:cNvSpPr>
            <a:spLocks noGrp="1"/>
          </p:cNvSpPr>
          <p:nvPr>
            <p:ph type="pic" sz="quarter" idx="16"/>
          </p:nvPr>
        </p:nvSpPr>
        <p:spPr>
          <a:xfrm>
            <a:off x="565422" y="2916554"/>
            <a:ext cx="1919287" cy="135096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6" name="图片占位符 8"/>
          <p:cNvSpPr>
            <a:spLocks noGrp="1"/>
          </p:cNvSpPr>
          <p:nvPr>
            <p:ph type="pic" sz="quarter" idx="17"/>
          </p:nvPr>
        </p:nvSpPr>
        <p:spPr>
          <a:xfrm>
            <a:off x="2591276" y="2916554"/>
            <a:ext cx="1919287" cy="135096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8" name="图片占位符 8"/>
          <p:cNvSpPr>
            <a:spLocks noGrp="1"/>
          </p:cNvSpPr>
          <p:nvPr>
            <p:ph type="pic" sz="quarter" idx="18"/>
          </p:nvPr>
        </p:nvSpPr>
        <p:spPr>
          <a:xfrm>
            <a:off x="565422" y="4359908"/>
            <a:ext cx="1919287" cy="135096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9" name="图片占位符 8"/>
          <p:cNvSpPr>
            <a:spLocks noGrp="1"/>
          </p:cNvSpPr>
          <p:nvPr>
            <p:ph type="pic" sz="quarter" idx="19"/>
          </p:nvPr>
        </p:nvSpPr>
        <p:spPr>
          <a:xfrm>
            <a:off x="2591276" y="4359908"/>
            <a:ext cx="1919287" cy="1350963"/>
          </a:xfrm>
        </p:spPr>
        <p:txBody>
          <a:bodyPr/>
          <a:lstStyle/>
          <a:p>
            <a:endParaRPr lang="zh-CN" altLang="en-US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EE3E6385-30FA-4171-9F4B-B9FC38D918E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2051" y="514827"/>
            <a:ext cx="1228693" cy="69202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网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 userDrawn="1"/>
        </p:nvSpPr>
        <p:spPr>
          <a:xfrm>
            <a:off x="0" y="0"/>
            <a:ext cx="480939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0104" y="441325"/>
            <a:ext cx="10515600" cy="365125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FFF2CC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2CC"/>
                </a:solidFill>
                <a:latin typeface="+mj-ea"/>
                <a:ea typeface="+mj-ea"/>
              </a:defRPr>
            </a:lvl1pPr>
          </a:lstStyle>
          <a:p>
            <a:fld id="{4DB44E30-715F-4973-8179-B4178D7E09F0}" type="datetime1">
              <a:rPr lang="zh-CN" altLang="en-US" smtClean="0"/>
              <a:t>2025/11/6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j-ea"/>
                <a:ea typeface="+mj-ea"/>
              </a:defRPr>
            </a:lvl1pPr>
          </a:lstStyle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j-ea"/>
                <a:ea typeface="+mj-ea"/>
              </a:defRPr>
            </a:lvl1pPr>
          </a:lstStyle>
          <a:p>
            <a:fld id="{33B9A5AF-BDD6-4E14-989F-CF034C94E4CA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570610" y="441325"/>
            <a:ext cx="101385" cy="594461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内容占位符 16"/>
          <p:cNvSpPr>
            <a:spLocks noGrp="1"/>
          </p:cNvSpPr>
          <p:nvPr>
            <p:ph sz="quarter" idx="13" hasCustomPrompt="1"/>
          </p:nvPr>
        </p:nvSpPr>
        <p:spPr>
          <a:xfrm>
            <a:off x="750888" y="806450"/>
            <a:ext cx="10515600" cy="2286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FFF2CC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单击此处编辑英文标题</a:t>
            </a:r>
          </a:p>
        </p:txBody>
      </p:sp>
      <p:sp>
        <p:nvSpPr>
          <p:cNvPr id="6" name="等腰三角形 5"/>
          <p:cNvSpPr/>
          <p:nvPr userDrawn="1"/>
        </p:nvSpPr>
        <p:spPr>
          <a:xfrm rot="5400000">
            <a:off x="4670790" y="579927"/>
            <a:ext cx="593726" cy="3165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4480" y="1171575"/>
            <a:ext cx="6255849" cy="4558665"/>
          </a:xfrm>
          <a:prstGeom prst="rect">
            <a:avLst/>
          </a:prstGeom>
        </p:spPr>
      </p:pic>
      <p:sp>
        <p:nvSpPr>
          <p:cNvPr id="9" name="图片占位符 8"/>
          <p:cNvSpPr>
            <a:spLocks noGrp="1"/>
          </p:cNvSpPr>
          <p:nvPr>
            <p:ph type="pic" sz="quarter" idx="14"/>
          </p:nvPr>
        </p:nvSpPr>
        <p:spPr>
          <a:xfrm>
            <a:off x="1335088" y="1554163"/>
            <a:ext cx="4297362" cy="2851150"/>
          </a:xfrm>
        </p:spPr>
        <p:txBody>
          <a:bodyPr/>
          <a:lstStyle/>
          <a:p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AB9B452A-2D55-4BBD-BE12-7A691AF0461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2051" y="514827"/>
            <a:ext cx="1228693" cy="69202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 userDrawn="1"/>
        </p:nvPicPr>
        <p:blipFill rotWithShape="1"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本框 9"/>
          <p:cNvSpPr txBox="1"/>
          <p:nvPr userDrawn="1"/>
        </p:nvSpPr>
        <p:spPr>
          <a:xfrm>
            <a:off x="587375" y="6030223"/>
            <a:ext cx="1444197" cy="3864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zh-CN" altLang="en-US" sz="1600" spc="100" dirty="0">
                <a:solidFill>
                  <a:schemeClr val="accent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▶▶▶</a:t>
            </a:r>
          </a:p>
        </p:txBody>
      </p:sp>
      <p:sp>
        <p:nvSpPr>
          <p:cNvPr id="7" name="椭圆 6"/>
          <p:cNvSpPr/>
          <p:nvPr userDrawn="1"/>
        </p:nvSpPr>
        <p:spPr>
          <a:xfrm>
            <a:off x="7421356" y="-2690075"/>
            <a:ext cx="12420862" cy="1242086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8" name="椭圆 7"/>
          <p:cNvSpPr/>
          <p:nvPr userDrawn="1"/>
        </p:nvSpPr>
        <p:spPr>
          <a:xfrm>
            <a:off x="7634978" y="-2781431"/>
            <a:ext cx="12420862" cy="1242086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6" name="文本框 25"/>
          <p:cNvSpPr txBox="1"/>
          <p:nvPr userDrawn="1"/>
        </p:nvSpPr>
        <p:spPr>
          <a:xfrm>
            <a:off x="640991" y="381570"/>
            <a:ext cx="1104790" cy="6789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en-US" altLang="zh-CN" sz="3200" spc="100" dirty="0">
                <a:solidFill>
                  <a:schemeClr val="accent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XDU</a:t>
            </a:r>
            <a:endParaRPr lang="zh-CN" altLang="en-US" sz="3200" spc="100" dirty="0">
              <a:solidFill>
                <a:schemeClr val="accent1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25674" y="493521"/>
            <a:ext cx="4627265" cy="587095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E1D2782-0A55-4435-B6D0-EC34E9F164D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2051" y="514827"/>
            <a:ext cx="1228693" cy="69202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 userDrawn="1"/>
        </p:nvPicPr>
        <p:blipFill rotWithShape="1"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椭圆 4"/>
          <p:cNvSpPr/>
          <p:nvPr userDrawn="1"/>
        </p:nvSpPr>
        <p:spPr>
          <a:xfrm>
            <a:off x="-6397120" y="-2781431"/>
            <a:ext cx="12420862" cy="1242086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7" name="椭圆 6"/>
          <p:cNvSpPr/>
          <p:nvPr userDrawn="1"/>
        </p:nvSpPr>
        <p:spPr>
          <a:xfrm>
            <a:off x="-6576322" y="-2782222"/>
            <a:ext cx="12420862" cy="1242086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72231" y="606743"/>
            <a:ext cx="4816257" cy="586486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0BAE036-4665-4BCA-BFD7-85FF6B7BC51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2051" y="514827"/>
            <a:ext cx="1228693" cy="69202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横向导航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710" y="1113896"/>
            <a:ext cx="10515600" cy="516968"/>
          </a:xfrm>
        </p:spPr>
        <p:txBody>
          <a:bodyPr>
            <a:normAutofit/>
          </a:bodyPr>
          <a:lstStyle>
            <a:lvl1pPr marL="457200" indent="-457200">
              <a:buFont typeface="Wingdings" panose="05000000000000000000" pitchFamily="2" charset="2"/>
              <a:buChar char="u"/>
              <a:defRPr sz="28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8A5D5-F967-4973-BC3E-B6E1F1E79406}" type="datetime1">
              <a:rPr lang="zh-CN" altLang="en-US" smtClean="0"/>
              <a:t>2025/11/6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文本占位符 17"/>
          <p:cNvSpPr>
            <a:spLocks noGrp="1"/>
          </p:cNvSpPr>
          <p:nvPr>
            <p:ph type="body" sz="quarter" idx="14"/>
          </p:nvPr>
        </p:nvSpPr>
        <p:spPr>
          <a:xfrm>
            <a:off x="-1" y="136526"/>
            <a:ext cx="3071814" cy="598310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1" name="文本占位符 17"/>
          <p:cNvSpPr>
            <a:spLocks noGrp="1"/>
          </p:cNvSpPr>
          <p:nvPr>
            <p:ph type="body" sz="quarter" idx="15"/>
          </p:nvPr>
        </p:nvSpPr>
        <p:spPr>
          <a:xfrm>
            <a:off x="3071812" y="136525"/>
            <a:ext cx="3024187" cy="598310"/>
          </a:xfrm>
          <a:solidFill>
            <a:srgbClr val="A6A6A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2" name="文本占位符 17"/>
          <p:cNvSpPr>
            <a:spLocks noGrp="1"/>
          </p:cNvSpPr>
          <p:nvPr>
            <p:ph type="body" sz="quarter" idx="16"/>
          </p:nvPr>
        </p:nvSpPr>
        <p:spPr>
          <a:xfrm>
            <a:off x="6095999" y="136525"/>
            <a:ext cx="3024187" cy="598310"/>
          </a:xfrm>
          <a:solidFill>
            <a:srgbClr val="A6A6A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3" name="文本占位符 17"/>
          <p:cNvSpPr>
            <a:spLocks noGrp="1"/>
          </p:cNvSpPr>
          <p:nvPr>
            <p:ph type="body" sz="quarter" idx="17"/>
          </p:nvPr>
        </p:nvSpPr>
        <p:spPr>
          <a:xfrm>
            <a:off x="9120185" y="136525"/>
            <a:ext cx="3071815" cy="598310"/>
          </a:xfrm>
          <a:solidFill>
            <a:srgbClr val="A6A6A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DF5AE494-9BF9-4E3E-A927-AC5947F878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2051" y="514827"/>
            <a:ext cx="1228693" cy="69202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纵向导航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28800" y="495301"/>
            <a:ext cx="8364310" cy="516968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1460500" y="6362699"/>
            <a:ext cx="2743200" cy="365125"/>
          </a:xfrm>
        </p:spPr>
        <p:txBody>
          <a:bodyPr/>
          <a:lstStyle/>
          <a:p>
            <a:fld id="{F548A5D5-F967-4973-BC3E-B6E1F1E79406}" type="datetime1">
              <a:rPr lang="zh-CN" altLang="en-US" smtClean="0"/>
              <a:t>2025/11/6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864102" y="6362699"/>
            <a:ext cx="3124200" cy="365124"/>
          </a:xfrm>
        </p:spPr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48704" y="6362698"/>
            <a:ext cx="2743200" cy="365125"/>
          </a:xfrm>
        </p:spPr>
        <p:txBody>
          <a:bodyPr/>
          <a:lstStyle/>
          <a:p>
            <a:fld id="{33B9A5AF-BDD6-4E14-989F-CF034C94E4CA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6" name="直接连接符 15"/>
          <p:cNvCxnSpPr/>
          <p:nvPr userDrawn="1"/>
        </p:nvCxnSpPr>
        <p:spPr>
          <a:xfrm>
            <a:off x="1828800" y="1084462"/>
            <a:ext cx="59563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占位符 17"/>
          <p:cNvSpPr>
            <a:spLocks noGrp="1"/>
          </p:cNvSpPr>
          <p:nvPr>
            <p:ph type="body" sz="quarter" idx="14"/>
          </p:nvPr>
        </p:nvSpPr>
        <p:spPr>
          <a:xfrm>
            <a:off x="0" y="11151"/>
            <a:ext cx="1244600" cy="1722438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9" name="文本占位符 17"/>
          <p:cNvSpPr>
            <a:spLocks noGrp="1"/>
          </p:cNvSpPr>
          <p:nvPr>
            <p:ph type="body" sz="quarter" idx="15"/>
          </p:nvPr>
        </p:nvSpPr>
        <p:spPr>
          <a:xfrm>
            <a:off x="0" y="1721005"/>
            <a:ext cx="1244600" cy="1722438"/>
          </a:xfrm>
          <a:solidFill>
            <a:srgbClr val="A6A6A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24" name="文本占位符 17"/>
          <p:cNvSpPr>
            <a:spLocks noGrp="1"/>
          </p:cNvSpPr>
          <p:nvPr>
            <p:ph type="body" sz="quarter" idx="16"/>
          </p:nvPr>
        </p:nvSpPr>
        <p:spPr>
          <a:xfrm>
            <a:off x="0" y="3443443"/>
            <a:ext cx="1244600" cy="1722438"/>
          </a:xfrm>
          <a:solidFill>
            <a:srgbClr val="A6A6A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25" name="文本占位符 17"/>
          <p:cNvSpPr>
            <a:spLocks noGrp="1"/>
          </p:cNvSpPr>
          <p:nvPr>
            <p:ph type="body" sz="quarter" idx="17"/>
          </p:nvPr>
        </p:nvSpPr>
        <p:spPr>
          <a:xfrm>
            <a:off x="0" y="5165881"/>
            <a:ext cx="1244600" cy="1722438"/>
          </a:xfrm>
          <a:solidFill>
            <a:srgbClr val="A6A6A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45CD05A8-8196-4B84-B154-D2D237659B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2051" y="514827"/>
            <a:ext cx="1228693" cy="69202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8EE87-E84D-4794-AAE5-5EBFA06D5749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D9163-3264-45B9-8805-38B3DB57BD3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0" y="-114959"/>
            <a:ext cx="12192000" cy="7049559"/>
          </a:xfrm>
          <a:prstGeom prst="rect">
            <a:avLst/>
          </a:prstGeom>
          <a:solidFill>
            <a:schemeClr val="bg1"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0104" y="441325"/>
            <a:ext cx="10515600" cy="365125"/>
          </a:xfrm>
        </p:spPr>
        <p:txBody>
          <a:bodyPr>
            <a:normAutofit/>
          </a:bodyPr>
          <a:lstStyle>
            <a:lvl1pPr>
              <a:defRPr sz="2400" b="1"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defRPr>
            </a:lvl1pPr>
          </a:lstStyle>
          <a:p>
            <a:fld id="{4DB44E30-715F-4973-8179-B4178D7E09F0}" type="datetime1">
              <a:rPr lang="zh-CN" altLang="en-US" smtClean="0"/>
              <a:t>2025/11/6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defRPr>
            </a:lvl1pPr>
          </a:lstStyle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defRPr>
            </a:lvl1pPr>
          </a:lstStyle>
          <a:p>
            <a:fld id="{33B9A5AF-BDD6-4E14-989F-CF034C94E4CA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570610" y="409575"/>
            <a:ext cx="101385" cy="4381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2051" y="514827"/>
            <a:ext cx="1228693" cy="692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5631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2A5AA-0ADE-4A24-8106-207C03497465}" type="datetime1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西安电子科技大学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8A5D5-F967-4973-BC3E-B6E1F1E79406}" type="datetime1">
              <a:rPr lang="zh-CN" altLang="en-US" smtClean="0"/>
              <a:t>2025/11/6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8A5D5-F967-4973-BC3E-B6E1F1E79406}" type="datetime1">
              <a:rPr lang="zh-CN" altLang="en-US" smtClean="0"/>
              <a:t>2025/11/6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8A5D5-F967-4973-BC3E-B6E1F1E79406}" type="datetime1">
              <a:rPr lang="zh-CN" altLang="en-US" smtClean="0"/>
              <a:t>2025/11/6</a:t>
            </a:fld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8A5D5-F967-4973-BC3E-B6E1F1E79406}" type="datetime1">
              <a:rPr lang="zh-CN" altLang="en-US" smtClean="0"/>
              <a:t>2025/11/6</a:t>
            </a:fld>
            <a:endParaRPr lang="zh-CN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8A5D5-F967-4973-BC3E-B6E1F1E79406}" type="datetime1">
              <a:rPr lang="zh-CN" altLang="en-US" smtClean="0"/>
              <a:t>2025/11/6</a:t>
            </a:fld>
            <a:endParaRPr lang="zh-C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8A5D5-F967-4973-BC3E-B6E1F1E79406}" type="datetime1">
              <a:rPr lang="zh-CN" altLang="en-US" smtClean="0"/>
              <a:t>2025/11/6</a:t>
            </a:fld>
            <a:endParaRPr lang="zh-CN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8A5D5-F967-4973-BC3E-B6E1F1E79406}" type="datetime1">
              <a:rPr lang="zh-CN" altLang="en-US" smtClean="0"/>
              <a:t>2025/11/6</a:t>
            </a:fld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8A5D5-F967-4973-BC3E-B6E1F1E79406}" type="datetime1">
              <a:rPr lang="zh-CN" altLang="en-US" smtClean="0"/>
              <a:t>2025/11/6</a:t>
            </a:fld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8A5D5-F967-4973-BC3E-B6E1F1E79406}" type="datetime1">
              <a:rPr lang="zh-CN" altLang="en-US" smtClean="0"/>
              <a:t>2025/11/6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8A5D5-F967-4973-BC3E-B6E1F1E79406}" type="datetime1">
              <a:rPr lang="zh-CN" altLang="en-US" smtClean="0"/>
              <a:t>2025/11/6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DB44E30-715F-4973-8179-B4178D7E09F0}" type="datetime1">
              <a:rPr lang="zh-CN" altLang="en-US" smtClean="0"/>
              <a:t>2025/11/6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3B9A5AF-BDD6-4E14-989F-CF034C94E4CA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8" name="文本框 7"/>
          <p:cNvSpPr txBox="1"/>
          <p:nvPr userDrawn="1"/>
        </p:nvSpPr>
        <p:spPr>
          <a:xfrm>
            <a:off x="10421373" y="284403"/>
            <a:ext cx="1154483" cy="6701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en-US" altLang="zh-CN" sz="3200" b="1" spc="1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XDU</a:t>
            </a:r>
            <a:endParaRPr lang="zh-CN" altLang="en-US" sz="3200" b="1" spc="1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横向导航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710" y="1113896"/>
            <a:ext cx="10515600" cy="516968"/>
          </a:xfrm>
        </p:spPr>
        <p:txBody>
          <a:bodyPr>
            <a:normAutofit/>
          </a:bodyPr>
          <a:lstStyle>
            <a:lvl1pPr marL="457200" indent="-457200">
              <a:buFont typeface="Wingdings" panose="05000000000000000000" pitchFamily="2" charset="2"/>
              <a:buChar char="u"/>
              <a:defRPr sz="28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8A5D5-F967-4973-BC3E-B6E1F1E79406}" type="datetime1">
              <a:rPr lang="zh-CN" altLang="en-US" smtClean="0"/>
              <a:t>2025/11/6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文本占位符 17"/>
          <p:cNvSpPr>
            <a:spLocks noGrp="1"/>
          </p:cNvSpPr>
          <p:nvPr>
            <p:ph type="body" sz="quarter" idx="14"/>
          </p:nvPr>
        </p:nvSpPr>
        <p:spPr>
          <a:xfrm>
            <a:off x="-1" y="136526"/>
            <a:ext cx="3071814" cy="598310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1" name="文本占位符 17"/>
          <p:cNvSpPr>
            <a:spLocks noGrp="1"/>
          </p:cNvSpPr>
          <p:nvPr>
            <p:ph type="body" sz="quarter" idx="15"/>
          </p:nvPr>
        </p:nvSpPr>
        <p:spPr>
          <a:xfrm>
            <a:off x="3071812" y="136525"/>
            <a:ext cx="3024187" cy="598310"/>
          </a:xfrm>
          <a:solidFill>
            <a:srgbClr val="A6A6A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2" name="文本占位符 17"/>
          <p:cNvSpPr>
            <a:spLocks noGrp="1"/>
          </p:cNvSpPr>
          <p:nvPr>
            <p:ph type="body" sz="quarter" idx="16"/>
          </p:nvPr>
        </p:nvSpPr>
        <p:spPr>
          <a:xfrm>
            <a:off x="6095999" y="136525"/>
            <a:ext cx="3024187" cy="598310"/>
          </a:xfrm>
          <a:solidFill>
            <a:srgbClr val="A6A6A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3" name="文本占位符 17"/>
          <p:cNvSpPr>
            <a:spLocks noGrp="1"/>
          </p:cNvSpPr>
          <p:nvPr>
            <p:ph type="body" sz="quarter" idx="17"/>
          </p:nvPr>
        </p:nvSpPr>
        <p:spPr>
          <a:xfrm>
            <a:off x="9120185" y="136525"/>
            <a:ext cx="3071815" cy="598310"/>
          </a:xfrm>
          <a:solidFill>
            <a:srgbClr val="A6A6A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F548A5D5-F967-4973-BC3E-B6E1F1E79406}" type="datetime1">
              <a:rPr lang="zh-CN" altLang="en-US" smtClean="0"/>
              <a:t>2025/11/6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3B9A5AF-BDD6-4E14-989F-CF034C94E4C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83" r:id="rId1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48A5D5-F967-4973-BC3E-B6E1F1E79406}" type="datetime1">
              <a:rPr lang="zh-CN" altLang="en-US" smtClean="0"/>
              <a:t>2025/11/6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B9A5AF-BDD6-4E14-989F-CF034C94E4C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80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0.xml"/><Relationship Id="rId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1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6.xml"/><Relationship Id="rId4" Type="http://schemas.openxmlformats.org/officeDocument/2006/relationships/tags" Target="../tags/tag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tags" Target="../tags/tag23.xml"/><Relationship Id="rId18" Type="http://schemas.openxmlformats.org/officeDocument/2006/relationships/image" Target="../media/image41.svg"/><Relationship Id="rId3" Type="http://schemas.openxmlformats.org/officeDocument/2006/relationships/tags" Target="../tags/tag13.xml"/><Relationship Id="rId21" Type="http://schemas.openxmlformats.org/officeDocument/2006/relationships/image" Target="../media/image44.png"/><Relationship Id="rId7" Type="http://schemas.openxmlformats.org/officeDocument/2006/relationships/tags" Target="../tags/tag17.xml"/><Relationship Id="rId12" Type="http://schemas.openxmlformats.org/officeDocument/2006/relationships/tags" Target="../tags/tag22.xml"/><Relationship Id="rId17" Type="http://schemas.openxmlformats.org/officeDocument/2006/relationships/image" Target="../media/image40.png"/><Relationship Id="rId2" Type="http://schemas.openxmlformats.org/officeDocument/2006/relationships/tags" Target="../tags/tag12.xml"/><Relationship Id="rId16" Type="http://schemas.openxmlformats.org/officeDocument/2006/relationships/slideLayout" Target="../slideLayouts/slideLayout2.xml"/><Relationship Id="rId20" Type="http://schemas.openxmlformats.org/officeDocument/2006/relationships/image" Target="../media/image43.svg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tags" Target="../tags/tag21.xml"/><Relationship Id="rId24" Type="http://schemas.openxmlformats.org/officeDocument/2006/relationships/image" Target="../media/image47.svg"/><Relationship Id="rId5" Type="http://schemas.openxmlformats.org/officeDocument/2006/relationships/tags" Target="../tags/tag15.xml"/><Relationship Id="rId15" Type="http://schemas.openxmlformats.org/officeDocument/2006/relationships/tags" Target="../tags/tag25.xml"/><Relationship Id="rId23" Type="http://schemas.openxmlformats.org/officeDocument/2006/relationships/image" Target="../media/image46.png"/><Relationship Id="rId10" Type="http://schemas.openxmlformats.org/officeDocument/2006/relationships/tags" Target="../tags/tag20.xml"/><Relationship Id="rId19" Type="http://schemas.openxmlformats.org/officeDocument/2006/relationships/image" Target="../media/image42.png"/><Relationship Id="rId4" Type="http://schemas.openxmlformats.org/officeDocument/2006/relationships/tags" Target="../tags/tag14.xml"/><Relationship Id="rId9" Type="http://schemas.openxmlformats.org/officeDocument/2006/relationships/tags" Target="../tags/tag19.xml"/><Relationship Id="rId14" Type="http://schemas.openxmlformats.org/officeDocument/2006/relationships/tags" Target="../tags/tag24.xml"/><Relationship Id="rId22" Type="http://schemas.openxmlformats.org/officeDocument/2006/relationships/image" Target="../media/image45.sv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>
            <a:off x="5316638" y="0"/>
            <a:ext cx="6875362" cy="6875362"/>
          </a:xfrm>
          <a:prstGeom prst="rect">
            <a:avLst/>
          </a:prstGeom>
        </p:spPr>
      </p:pic>
      <p:sp>
        <p:nvSpPr>
          <p:cNvPr id="59" name="矩形 58"/>
          <p:cNvSpPr/>
          <p:nvPr/>
        </p:nvSpPr>
        <p:spPr>
          <a:xfrm>
            <a:off x="-21531" y="-20526"/>
            <a:ext cx="12213531" cy="6895887"/>
          </a:xfrm>
          <a:prstGeom prst="rect">
            <a:avLst/>
          </a:prstGeom>
          <a:gradFill>
            <a:gsLst>
              <a:gs pos="55000">
                <a:schemeClr val="accent1"/>
              </a:gs>
              <a:gs pos="100000">
                <a:schemeClr val="accent1"/>
              </a:gs>
              <a:gs pos="43000">
                <a:schemeClr val="accent1">
                  <a:alpha val="74000"/>
                </a:schemeClr>
              </a:gs>
              <a:gs pos="7000">
                <a:schemeClr val="accent1">
                  <a:alpha val="0"/>
                </a:schemeClr>
              </a:gs>
              <a:gs pos="95000">
                <a:schemeClr val="accent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677881" y="2021277"/>
            <a:ext cx="583734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72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华文行楷" panose="02010800040101010101" pitchFamily="2" charset="-122"/>
                <a:ea typeface="华文行楷" panose="02010800040101010101" pitchFamily="2" charset="-122"/>
              </a:defRPr>
            </a:lvl1pPr>
          </a:lstStyle>
          <a:p>
            <a:r>
              <a:rPr lang="zh-CN" altLang="en-US" sz="8000" dirty="0">
                <a:sym typeface="Arial" panose="020B0604020202020204" pitchFamily="34" charset="0"/>
              </a:rPr>
              <a:t>蓝桥校园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914101" y="5666343"/>
            <a:ext cx="2850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Arial" panose="020B0604020202020204" pitchFamily="34" charset="0"/>
              </a:rPr>
              <a:t>➡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 项目总负责人：刘凯丽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914101" y="5184928"/>
            <a:ext cx="3144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Arial" panose="020B0604020202020204" pitchFamily="34" charset="0"/>
              </a:rPr>
              <a:t>➡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 小组名称：蓝桥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229945" y="986929"/>
            <a:ext cx="20782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chemeClr val="bg1">
                    <a:alpha val="77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Arial" panose="020B0604020202020204" pitchFamily="34" charset="0"/>
              </a:rPr>
              <a:t>蓝桥相伴 青春不散</a:t>
            </a:r>
          </a:p>
        </p:txBody>
      </p:sp>
      <p:sp>
        <p:nvSpPr>
          <p:cNvPr id="6" name="矩形 5"/>
          <p:cNvSpPr/>
          <p:nvPr/>
        </p:nvSpPr>
        <p:spPr>
          <a:xfrm>
            <a:off x="293686" y="304483"/>
            <a:ext cx="11604628" cy="6249035"/>
          </a:xfrm>
          <a:prstGeom prst="rect">
            <a:avLst/>
          </a:pr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9C2824E-F883-4EBA-B1B7-20DA9F7A39DA}"/>
              </a:ext>
            </a:extLst>
          </p:cNvPr>
          <p:cNvSpPr txBox="1"/>
          <p:nvPr/>
        </p:nvSpPr>
        <p:spPr>
          <a:xfrm>
            <a:off x="2038617" y="3464533"/>
            <a:ext cx="5559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深度融合智慧校园生态的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恋爱社交平台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AD59685-C3ED-40C9-B548-62BDB7AC1D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732" y="284406"/>
            <a:ext cx="1553595" cy="8393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4E30-715F-4973-8179-B4178D7E09F0}" type="datetime1">
              <a:rPr lang="zh-CN" altLang="en-US" smtClean="0"/>
              <a:t>2025/11/6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  <a:t>2</a:t>
            </a:fld>
            <a:endParaRPr lang="zh-CN" altLang="en-US" dirty="0"/>
          </a:p>
        </p:txBody>
      </p:sp>
      <p:sp>
        <p:nvSpPr>
          <p:cNvPr id="12" name="Rectangle: Folded Corner 1"/>
          <p:cNvSpPr/>
          <p:nvPr/>
        </p:nvSpPr>
        <p:spPr>
          <a:xfrm>
            <a:off x="749618" y="2240892"/>
            <a:ext cx="678587" cy="735933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17" name="Rectangle: Folded Corner 2"/>
          <p:cNvSpPr/>
          <p:nvPr/>
        </p:nvSpPr>
        <p:spPr>
          <a:xfrm>
            <a:off x="749618" y="4446317"/>
            <a:ext cx="678587" cy="735933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20" name="Freeform: Shape 12"/>
          <p:cNvSpPr/>
          <p:nvPr/>
        </p:nvSpPr>
        <p:spPr bwMode="auto">
          <a:xfrm>
            <a:off x="884847" y="4600664"/>
            <a:ext cx="408116" cy="408116"/>
          </a:xfrm>
          <a:custGeom>
            <a:avLst/>
            <a:gdLst>
              <a:gd name="T0" fmla="*/ 0 w 236"/>
              <a:gd name="T1" fmla="*/ 118 h 236"/>
              <a:gd name="T2" fmla="*/ 236 w 236"/>
              <a:gd name="T3" fmla="*/ 118 h 236"/>
              <a:gd name="T4" fmla="*/ 150 w 236"/>
              <a:gd name="T5" fmla="*/ 168 h 236"/>
              <a:gd name="T6" fmla="*/ 128 w 236"/>
              <a:gd name="T7" fmla="*/ 196 h 236"/>
              <a:gd name="T8" fmla="*/ 125 w 236"/>
              <a:gd name="T9" fmla="*/ 199 h 236"/>
              <a:gd name="T10" fmla="*/ 111 w 236"/>
              <a:gd name="T11" fmla="*/ 198 h 236"/>
              <a:gd name="T12" fmla="*/ 110 w 236"/>
              <a:gd name="T13" fmla="*/ 180 h 236"/>
              <a:gd name="T14" fmla="*/ 90 w 236"/>
              <a:gd name="T15" fmla="*/ 173 h 236"/>
              <a:gd name="T16" fmla="*/ 79 w 236"/>
              <a:gd name="T17" fmla="*/ 166 h 236"/>
              <a:gd name="T18" fmla="*/ 78 w 236"/>
              <a:gd name="T19" fmla="*/ 160 h 236"/>
              <a:gd name="T20" fmla="*/ 89 w 236"/>
              <a:gd name="T21" fmla="*/ 147 h 236"/>
              <a:gd name="T22" fmla="*/ 91 w 236"/>
              <a:gd name="T23" fmla="*/ 148 h 236"/>
              <a:gd name="T24" fmla="*/ 119 w 236"/>
              <a:gd name="T25" fmla="*/ 160 h 236"/>
              <a:gd name="T26" fmla="*/ 137 w 236"/>
              <a:gd name="T27" fmla="*/ 145 h 236"/>
              <a:gd name="T28" fmla="*/ 133 w 236"/>
              <a:gd name="T29" fmla="*/ 137 h 236"/>
              <a:gd name="T30" fmla="*/ 122 w 236"/>
              <a:gd name="T31" fmla="*/ 130 h 236"/>
              <a:gd name="T32" fmla="*/ 109 w 236"/>
              <a:gd name="T33" fmla="*/ 125 h 236"/>
              <a:gd name="T34" fmla="*/ 98 w 236"/>
              <a:gd name="T35" fmla="*/ 120 h 236"/>
              <a:gd name="T36" fmla="*/ 89 w 236"/>
              <a:gd name="T37" fmla="*/ 113 h 236"/>
              <a:gd name="T38" fmla="*/ 82 w 236"/>
              <a:gd name="T39" fmla="*/ 103 h 236"/>
              <a:gd name="T40" fmla="*/ 79 w 236"/>
              <a:gd name="T41" fmla="*/ 90 h 236"/>
              <a:gd name="T42" fmla="*/ 110 w 236"/>
              <a:gd name="T43" fmla="*/ 57 h 236"/>
              <a:gd name="T44" fmla="*/ 111 w 236"/>
              <a:gd name="T45" fmla="*/ 38 h 236"/>
              <a:gd name="T46" fmla="*/ 125 w 236"/>
              <a:gd name="T47" fmla="*/ 37 h 236"/>
              <a:gd name="T48" fmla="*/ 128 w 236"/>
              <a:gd name="T49" fmla="*/ 40 h 236"/>
              <a:gd name="T50" fmla="*/ 137 w 236"/>
              <a:gd name="T51" fmla="*/ 58 h 236"/>
              <a:gd name="T52" fmla="*/ 151 w 236"/>
              <a:gd name="T53" fmla="*/ 65 h 236"/>
              <a:gd name="T54" fmla="*/ 155 w 236"/>
              <a:gd name="T55" fmla="*/ 69 h 236"/>
              <a:gd name="T56" fmla="*/ 149 w 236"/>
              <a:gd name="T57" fmla="*/ 85 h 236"/>
              <a:gd name="T58" fmla="*/ 144 w 236"/>
              <a:gd name="T59" fmla="*/ 86 h 236"/>
              <a:gd name="T60" fmla="*/ 140 w 236"/>
              <a:gd name="T61" fmla="*/ 82 h 236"/>
              <a:gd name="T62" fmla="*/ 128 w 236"/>
              <a:gd name="T63" fmla="*/ 77 h 236"/>
              <a:gd name="T64" fmla="*/ 107 w 236"/>
              <a:gd name="T65" fmla="*/ 80 h 236"/>
              <a:gd name="T66" fmla="*/ 102 w 236"/>
              <a:gd name="T67" fmla="*/ 94 h 236"/>
              <a:gd name="T68" fmla="*/ 108 w 236"/>
              <a:gd name="T69" fmla="*/ 101 h 236"/>
              <a:gd name="T70" fmla="*/ 118 w 236"/>
              <a:gd name="T71" fmla="*/ 106 h 236"/>
              <a:gd name="T72" fmla="*/ 132 w 236"/>
              <a:gd name="T73" fmla="*/ 112 h 236"/>
              <a:gd name="T74" fmla="*/ 145 w 236"/>
              <a:gd name="T75" fmla="*/ 119 h 236"/>
              <a:gd name="T76" fmla="*/ 155 w 236"/>
              <a:gd name="T77" fmla="*/ 129 h 236"/>
              <a:gd name="T78" fmla="*/ 159 w 236"/>
              <a:gd name="T79" fmla="*/ 144 h 2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236" h="236">
                <a:moveTo>
                  <a:pt x="118" y="0"/>
                </a:moveTo>
                <a:cubicBezTo>
                  <a:pt x="53" y="0"/>
                  <a:pt x="0" y="53"/>
                  <a:pt x="0" y="118"/>
                </a:cubicBezTo>
                <a:cubicBezTo>
                  <a:pt x="0" y="183"/>
                  <a:pt x="53" y="236"/>
                  <a:pt x="118" y="236"/>
                </a:cubicBezTo>
                <a:cubicBezTo>
                  <a:pt x="183" y="236"/>
                  <a:pt x="236" y="183"/>
                  <a:pt x="236" y="118"/>
                </a:cubicBezTo>
                <a:cubicBezTo>
                  <a:pt x="236" y="53"/>
                  <a:pt x="183" y="0"/>
                  <a:pt x="118" y="0"/>
                </a:cubicBezTo>
                <a:moveTo>
                  <a:pt x="150" y="168"/>
                </a:moveTo>
                <a:cubicBezTo>
                  <a:pt x="145" y="175"/>
                  <a:pt x="137" y="179"/>
                  <a:pt x="128" y="180"/>
                </a:cubicBezTo>
                <a:cubicBezTo>
                  <a:pt x="128" y="196"/>
                  <a:pt x="128" y="196"/>
                  <a:pt x="128" y="196"/>
                </a:cubicBezTo>
                <a:cubicBezTo>
                  <a:pt x="128" y="197"/>
                  <a:pt x="127" y="198"/>
                  <a:pt x="127" y="198"/>
                </a:cubicBezTo>
                <a:cubicBezTo>
                  <a:pt x="126" y="199"/>
                  <a:pt x="126" y="199"/>
                  <a:pt x="125" y="199"/>
                </a:cubicBezTo>
                <a:cubicBezTo>
                  <a:pt x="113" y="199"/>
                  <a:pt x="113" y="199"/>
                  <a:pt x="113" y="199"/>
                </a:cubicBezTo>
                <a:cubicBezTo>
                  <a:pt x="112" y="199"/>
                  <a:pt x="111" y="199"/>
                  <a:pt x="111" y="198"/>
                </a:cubicBezTo>
                <a:cubicBezTo>
                  <a:pt x="110" y="197"/>
                  <a:pt x="110" y="197"/>
                  <a:pt x="110" y="196"/>
                </a:cubicBezTo>
                <a:cubicBezTo>
                  <a:pt x="110" y="180"/>
                  <a:pt x="110" y="180"/>
                  <a:pt x="110" y="180"/>
                </a:cubicBezTo>
                <a:cubicBezTo>
                  <a:pt x="106" y="180"/>
                  <a:pt x="102" y="179"/>
                  <a:pt x="99" y="177"/>
                </a:cubicBezTo>
                <a:cubicBezTo>
                  <a:pt x="95" y="176"/>
                  <a:pt x="92" y="175"/>
                  <a:pt x="90" y="173"/>
                </a:cubicBezTo>
                <a:cubicBezTo>
                  <a:pt x="88" y="172"/>
                  <a:pt x="85" y="171"/>
                  <a:pt x="83" y="169"/>
                </a:cubicBezTo>
                <a:cubicBezTo>
                  <a:pt x="81" y="168"/>
                  <a:pt x="80" y="166"/>
                  <a:pt x="79" y="166"/>
                </a:cubicBezTo>
                <a:cubicBezTo>
                  <a:pt x="79" y="165"/>
                  <a:pt x="78" y="164"/>
                  <a:pt x="78" y="164"/>
                </a:cubicBezTo>
                <a:cubicBezTo>
                  <a:pt x="77" y="163"/>
                  <a:pt x="77" y="162"/>
                  <a:pt x="78" y="160"/>
                </a:cubicBezTo>
                <a:cubicBezTo>
                  <a:pt x="87" y="148"/>
                  <a:pt x="87" y="148"/>
                  <a:pt x="87" y="148"/>
                </a:cubicBezTo>
                <a:cubicBezTo>
                  <a:pt x="87" y="148"/>
                  <a:pt x="88" y="147"/>
                  <a:pt x="89" y="147"/>
                </a:cubicBezTo>
                <a:cubicBezTo>
                  <a:pt x="90" y="147"/>
                  <a:pt x="90" y="147"/>
                  <a:pt x="91" y="148"/>
                </a:cubicBezTo>
                <a:cubicBezTo>
                  <a:pt x="91" y="148"/>
                  <a:pt x="91" y="148"/>
                  <a:pt x="91" y="148"/>
                </a:cubicBezTo>
                <a:cubicBezTo>
                  <a:pt x="98" y="154"/>
                  <a:pt x="105" y="158"/>
                  <a:pt x="112" y="159"/>
                </a:cubicBezTo>
                <a:cubicBezTo>
                  <a:pt x="115" y="160"/>
                  <a:pt x="117" y="160"/>
                  <a:pt x="119" y="160"/>
                </a:cubicBezTo>
                <a:cubicBezTo>
                  <a:pt x="124" y="160"/>
                  <a:pt x="128" y="159"/>
                  <a:pt x="131" y="156"/>
                </a:cubicBezTo>
                <a:cubicBezTo>
                  <a:pt x="135" y="154"/>
                  <a:pt x="137" y="150"/>
                  <a:pt x="137" y="145"/>
                </a:cubicBezTo>
                <a:cubicBezTo>
                  <a:pt x="137" y="144"/>
                  <a:pt x="136" y="142"/>
                  <a:pt x="136" y="140"/>
                </a:cubicBezTo>
                <a:cubicBezTo>
                  <a:pt x="135" y="139"/>
                  <a:pt x="134" y="138"/>
                  <a:pt x="133" y="137"/>
                </a:cubicBezTo>
                <a:cubicBezTo>
                  <a:pt x="132" y="136"/>
                  <a:pt x="130" y="135"/>
                  <a:pt x="127" y="133"/>
                </a:cubicBezTo>
                <a:cubicBezTo>
                  <a:pt x="125" y="132"/>
                  <a:pt x="123" y="131"/>
                  <a:pt x="122" y="130"/>
                </a:cubicBezTo>
                <a:cubicBezTo>
                  <a:pt x="120" y="130"/>
                  <a:pt x="118" y="129"/>
                  <a:pt x="115" y="128"/>
                </a:cubicBezTo>
                <a:cubicBezTo>
                  <a:pt x="112" y="127"/>
                  <a:pt x="110" y="126"/>
                  <a:pt x="109" y="125"/>
                </a:cubicBezTo>
                <a:cubicBezTo>
                  <a:pt x="108" y="125"/>
                  <a:pt x="106" y="124"/>
                  <a:pt x="104" y="123"/>
                </a:cubicBezTo>
                <a:cubicBezTo>
                  <a:pt x="101" y="122"/>
                  <a:pt x="100" y="121"/>
                  <a:pt x="98" y="120"/>
                </a:cubicBezTo>
                <a:cubicBezTo>
                  <a:pt x="97" y="119"/>
                  <a:pt x="95" y="118"/>
                  <a:pt x="93" y="117"/>
                </a:cubicBezTo>
                <a:cubicBezTo>
                  <a:pt x="91" y="116"/>
                  <a:pt x="90" y="114"/>
                  <a:pt x="89" y="113"/>
                </a:cubicBezTo>
                <a:cubicBezTo>
                  <a:pt x="87" y="112"/>
                  <a:pt x="86" y="110"/>
                  <a:pt x="85" y="109"/>
                </a:cubicBezTo>
                <a:cubicBezTo>
                  <a:pt x="83" y="107"/>
                  <a:pt x="82" y="105"/>
                  <a:pt x="82" y="103"/>
                </a:cubicBezTo>
                <a:cubicBezTo>
                  <a:pt x="81" y="102"/>
                  <a:pt x="80" y="100"/>
                  <a:pt x="80" y="97"/>
                </a:cubicBezTo>
                <a:cubicBezTo>
                  <a:pt x="79" y="95"/>
                  <a:pt x="79" y="93"/>
                  <a:pt x="79" y="90"/>
                </a:cubicBezTo>
                <a:cubicBezTo>
                  <a:pt x="79" y="82"/>
                  <a:pt x="82" y="75"/>
                  <a:pt x="88" y="69"/>
                </a:cubicBezTo>
                <a:cubicBezTo>
                  <a:pt x="93" y="62"/>
                  <a:pt x="101" y="58"/>
                  <a:pt x="110" y="57"/>
                </a:cubicBezTo>
                <a:cubicBezTo>
                  <a:pt x="110" y="40"/>
                  <a:pt x="110" y="40"/>
                  <a:pt x="110" y="40"/>
                </a:cubicBezTo>
                <a:cubicBezTo>
                  <a:pt x="110" y="40"/>
                  <a:pt x="110" y="39"/>
                  <a:pt x="111" y="38"/>
                </a:cubicBezTo>
                <a:cubicBezTo>
                  <a:pt x="111" y="38"/>
                  <a:pt x="112" y="37"/>
                  <a:pt x="113" y="37"/>
                </a:cubicBezTo>
                <a:cubicBezTo>
                  <a:pt x="125" y="37"/>
                  <a:pt x="125" y="37"/>
                  <a:pt x="125" y="37"/>
                </a:cubicBezTo>
                <a:cubicBezTo>
                  <a:pt x="126" y="37"/>
                  <a:pt x="126" y="38"/>
                  <a:pt x="127" y="38"/>
                </a:cubicBezTo>
                <a:cubicBezTo>
                  <a:pt x="127" y="39"/>
                  <a:pt x="128" y="39"/>
                  <a:pt x="128" y="40"/>
                </a:cubicBezTo>
                <a:cubicBezTo>
                  <a:pt x="128" y="56"/>
                  <a:pt x="128" y="56"/>
                  <a:pt x="128" y="56"/>
                </a:cubicBezTo>
                <a:cubicBezTo>
                  <a:pt x="131" y="57"/>
                  <a:pt x="134" y="57"/>
                  <a:pt x="137" y="58"/>
                </a:cubicBezTo>
                <a:cubicBezTo>
                  <a:pt x="140" y="59"/>
                  <a:pt x="143" y="60"/>
                  <a:pt x="145" y="61"/>
                </a:cubicBezTo>
                <a:cubicBezTo>
                  <a:pt x="147" y="62"/>
                  <a:pt x="149" y="63"/>
                  <a:pt x="151" y="65"/>
                </a:cubicBezTo>
                <a:cubicBezTo>
                  <a:pt x="152" y="66"/>
                  <a:pt x="153" y="67"/>
                  <a:pt x="154" y="67"/>
                </a:cubicBezTo>
                <a:cubicBezTo>
                  <a:pt x="155" y="68"/>
                  <a:pt x="155" y="68"/>
                  <a:pt x="155" y="69"/>
                </a:cubicBezTo>
                <a:cubicBezTo>
                  <a:pt x="156" y="70"/>
                  <a:pt x="156" y="71"/>
                  <a:pt x="156" y="72"/>
                </a:cubicBezTo>
                <a:cubicBezTo>
                  <a:pt x="149" y="85"/>
                  <a:pt x="149" y="85"/>
                  <a:pt x="149" y="85"/>
                </a:cubicBezTo>
                <a:cubicBezTo>
                  <a:pt x="148" y="86"/>
                  <a:pt x="148" y="86"/>
                  <a:pt x="147" y="87"/>
                </a:cubicBezTo>
                <a:cubicBezTo>
                  <a:pt x="146" y="87"/>
                  <a:pt x="145" y="86"/>
                  <a:pt x="144" y="86"/>
                </a:cubicBezTo>
                <a:cubicBezTo>
                  <a:pt x="144" y="86"/>
                  <a:pt x="144" y="85"/>
                  <a:pt x="143" y="85"/>
                </a:cubicBezTo>
                <a:cubicBezTo>
                  <a:pt x="142" y="84"/>
                  <a:pt x="141" y="83"/>
                  <a:pt x="140" y="82"/>
                </a:cubicBezTo>
                <a:cubicBezTo>
                  <a:pt x="138" y="81"/>
                  <a:pt x="136" y="80"/>
                  <a:pt x="134" y="80"/>
                </a:cubicBezTo>
                <a:cubicBezTo>
                  <a:pt x="133" y="79"/>
                  <a:pt x="130" y="78"/>
                  <a:pt x="128" y="77"/>
                </a:cubicBezTo>
                <a:cubicBezTo>
                  <a:pt x="125" y="77"/>
                  <a:pt x="123" y="76"/>
                  <a:pt x="120" y="76"/>
                </a:cubicBezTo>
                <a:cubicBezTo>
                  <a:pt x="115" y="76"/>
                  <a:pt x="110" y="77"/>
                  <a:pt x="107" y="80"/>
                </a:cubicBezTo>
                <a:cubicBezTo>
                  <a:pt x="103" y="83"/>
                  <a:pt x="101" y="86"/>
                  <a:pt x="101" y="90"/>
                </a:cubicBezTo>
                <a:cubicBezTo>
                  <a:pt x="101" y="92"/>
                  <a:pt x="102" y="93"/>
                  <a:pt x="102" y="94"/>
                </a:cubicBezTo>
                <a:cubicBezTo>
                  <a:pt x="103" y="96"/>
                  <a:pt x="103" y="97"/>
                  <a:pt x="105" y="98"/>
                </a:cubicBezTo>
                <a:cubicBezTo>
                  <a:pt x="106" y="99"/>
                  <a:pt x="107" y="100"/>
                  <a:pt x="108" y="101"/>
                </a:cubicBezTo>
                <a:cubicBezTo>
                  <a:pt x="109" y="102"/>
                  <a:pt x="111" y="103"/>
                  <a:pt x="113" y="104"/>
                </a:cubicBezTo>
                <a:cubicBezTo>
                  <a:pt x="115" y="105"/>
                  <a:pt x="117" y="106"/>
                  <a:pt x="118" y="106"/>
                </a:cubicBezTo>
                <a:cubicBezTo>
                  <a:pt x="120" y="107"/>
                  <a:pt x="122" y="108"/>
                  <a:pt x="125" y="109"/>
                </a:cubicBezTo>
                <a:cubicBezTo>
                  <a:pt x="128" y="110"/>
                  <a:pt x="130" y="111"/>
                  <a:pt x="132" y="112"/>
                </a:cubicBezTo>
                <a:cubicBezTo>
                  <a:pt x="133" y="112"/>
                  <a:pt x="136" y="113"/>
                  <a:pt x="138" y="115"/>
                </a:cubicBezTo>
                <a:cubicBezTo>
                  <a:pt x="141" y="116"/>
                  <a:pt x="143" y="117"/>
                  <a:pt x="145" y="119"/>
                </a:cubicBezTo>
                <a:cubicBezTo>
                  <a:pt x="147" y="120"/>
                  <a:pt x="149" y="121"/>
                  <a:pt x="151" y="123"/>
                </a:cubicBezTo>
                <a:cubicBezTo>
                  <a:pt x="153" y="125"/>
                  <a:pt x="154" y="127"/>
                  <a:pt x="155" y="129"/>
                </a:cubicBezTo>
                <a:cubicBezTo>
                  <a:pt x="156" y="131"/>
                  <a:pt x="157" y="133"/>
                  <a:pt x="158" y="136"/>
                </a:cubicBezTo>
                <a:cubicBezTo>
                  <a:pt x="159" y="138"/>
                  <a:pt x="159" y="141"/>
                  <a:pt x="159" y="144"/>
                </a:cubicBezTo>
                <a:cubicBezTo>
                  <a:pt x="159" y="153"/>
                  <a:pt x="156" y="161"/>
                  <a:pt x="150" y="168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21" name="Freeform: Shape 13"/>
          <p:cNvSpPr/>
          <p:nvPr/>
        </p:nvSpPr>
        <p:spPr bwMode="auto">
          <a:xfrm>
            <a:off x="884850" y="2395239"/>
            <a:ext cx="408116" cy="408116"/>
          </a:xfrm>
          <a:custGeom>
            <a:avLst/>
            <a:gdLst>
              <a:gd name="T0" fmla="*/ 182 w 236"/>
              <a:gd name="T1" fmla="*/ 109 h 236"/>
              <a:gd name="T2" fmla="*/ 157 w 236"/>
              <a:gd name="T3" fmla="*/ 103 h 236"/>
              <a:gd name="T4" fmla="*/ 134 w 236"/>
              <a:gd name="T5" fmla="*/ 102 h 236"/>
              <a:gd name="T6" fmla="*/ 120 w 236"/>
              <a:gd name="T7" fmla="*/ 114 h 236"/>
              <a:gd name="T8" fmla="*/ 118 w 236"/>
              <a:gd name="T9" fmla="*/ 129 h 236"/>
              <a:gd name="T10" fmla="*/ 122 w 236"/>
              <a:gd name="T11" fmla="*/ 141 h 236"/>
              <a:gd name="T12" fmla="*/ 135 w 236"/>
              <a:gd name="T13" fmla="*/ 156 h 236"/>
              <a:gd name="T14" fmla="*/ 139 w 236"/>
              <a:gd name="T15" fmla="*/ 185 h 236"/>
              <a:gd name="T16" fmla="*/ 152 w 236"/>
              <a:gd name="T17" fmla="*/ 198 h 236"/>
              <a:gd name="T18" fmla="*/ 169 w 236"/>
              <a:gd name="T19" fmla="*/ 180 h 236"/>
              <a:gd name="T20" fmla="*/ 187 w 236"/>
              <a:gd name="T21" fmla="*/ 150 h 236"/>
              <a:gd name="T22" fmla="*/ 200 w 236"/>
              <a:gd name="T23" fmla="*/ 122 h 236"/>
              <a:gd name="T24" fmla="*/ 182 w 236"/>
              <a:gd name="T25" fmla="*/ 109 h 236"/>
              <a:gd name="T26" fmla="*/ 118 w 236"/>
              <a:gd name="T27" fmla="*/ 0 h 236"/>
              <a:gd name="T28" fmla="*/ 0 w 236"/>
              <a:gd name="T29" fmla="*/ 118 h 236"/>
              <a:gd name="T30" fmla="*/ 118 w 236"/>
              <a:gd name="T31" fmla="*/ 236 h 236"/>
              <a:gd name="T32" fmla="*/ 236 w 236"/>
              <a:gd name="T33" fmla="*/ 118 h 236"/>
              <a:gd name="T34" fmla="*/ 118 w 236"/>
              <a:gd name="T35" fmla="*/ 0 h 236"/>
              <a:gd name="T36" fmla="*/ 126 w 236"/>
              <a:gd name="T37" fmla="*/ 212 h 236"/>
              <a:gd name="T38" fmla="*/ 128 w 236"/>
              <a:gd name="T39" fmla="*/ 208 h 236"/>
              <a:gd name="T40" fmla="*/ 125 w 236"/>
              <a:gd name="T41" fmla="*/ 186 h 236"/>
              <a:gd name="T42" fmla="*/ 105 w 236"/>
              <a:gd name="T43" fmla="*/ 186 h 236"/>
              <a:gd name="T44" fmla="*/ 98 w 236"/>
              <a:gd name="T45" fmla="*/ 207 h 236"/>
              <a:gd name="T46" fmla="*/ 102 w 236"/>
              <a:gd name="T47" fmla="*/ 211 h 236"/>
              <a:gd name="T48" fmla="*/ 34 w 236"/>
              <a:gd name="T49" fmla="*/ 161 h 236"/>
              <a:gd name="T50" fmla="*/ 44 w 236"/>
              <a:gd name="T51" fmla="*/ 157 h 236"/>
              <a:gd name="T52" fmla="*/ 44 w 236"/>
              <a:gd name="T53" fmla="*/ 157 h 236"/>
              <a:gd name="T54" fmla="*/ 81 w 236"/>
              <a:gd name="T55" fmla="*/ 142 h 236"/>
              <a:gd name="T56" fmla="*/ 81 w 236"/>
              <a:gd name="T57" fmla="*/ 118 h 236"/>
              <a:gd name="T58" fmla="*/ 55 w 236"/>
              <a:gd name="T59" fmla="*/ 94 h 236"/>
              <a:gd name="T60" fmla="*/ 28 w 236"/>
              <a:gd name="T61" fmla="*/ 90 h 236"/>
              <a:gd name="T62" fmla="*/ 84 w 236"/>
              <a:gd name="T63" fmla="*/ 30 h 236"/>
              <a:gd name="T64" fmla="*/ 84 w 236"/>
              <a:gd name="T65" fmla="*/ 31 h 236"/>
              <a:gd name="T66" fmla="*/ 102 w 236"/>
              <a:gd name="T67" fmla="*/ 56 h 236"/>
              <a:gd name="T68" fmla="*/ 120 w 236"/>
              <a:gd name="T69" fmla="*/ 79 h 236"/>
              <a:gd name="T70" fmla="*/ 131 w 236"/>
              <a:gd name="T71" fmla="*/ 97 h 236"/>
              <a:gd name="T72" fmla="*/ 146 w 236"/>
              <a:gd name="T73" fmla="*/ 88 h 236"/>
              <a:gd name="T74" fmla="*/ 177 w 236"/>
              <a:gd name="T75" fmla="*/ 66 h 236"/>
              <a:gd name="T76" fmla="*/ 190 w 236"/>
              <a:gd name="T77" fmla="*/ 57 h 236"/>
              <a:gd name="T78" fmla="*/ 212 w 236"/>
              <a:gd name="T79" fmla="*/ 118 h 236"/>
              <a:gd name="T80" fmla="*/ 126 w 236"/>
              <a:gd name="T81" fmla="*/ 212 h 2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36" h="236">
                <a:moveTo>
                  <a:pt x="182" y="109"/>
                </a:moveTo>
                <a:cubicBezTo>
                  <a:pt x="172" y="107"/>
                  <a:pt x="161" y="105"/>
                  <a:pt x="157" y="103"/>
                </a:cubicBezTo>
                <a:cubicBezTo>
                  <a:pt x="153" y="102"/>
                  <a:pt x="143" y="101"/>
                  <a:pt x="134" y="102"/>
                </a:cubicBezTo>
                <a:cubicBezTo>
                  <a:pt x="125" y="103"/>
                  <a:pt x="119" y="109"/>
                  <a:pt x="120" y="114"/>
                </a:cubicBezTo>
                <a:cubicBezTo>
                  <a:pt x="121" y="119"/>
                  <a:pt x="120" y="126"/>
                  <a:pt x="118" y="129"/>
                </a:cubicBezTo>
                <a:cubicBezTo>
                  <a:pt x="117" y="132"/>
                  <a:pt x="118" y="138"/>
                  <a:pt x="122" y="141"/>
                </a:cubicBezTo>
                <a:cubicBezTo>
                  <a:pt x="127" y="144"/>
                  <a:pt x="132" y="151"/>
                  <a:pt x="135" y="156"/>
                </a:cubicBezTo>
                <a:cubicBezTo>
                  <a:pt x="138" y="162"/>
                  <a:pt x="140" y="175"/>
                  <a:pt x="139" y="185"/>
                </a:cubicBezTo>
                <a:cubicBezTo>
                  <a:pt x="139" y="195"/>
                  <a:pt x="145" y="201"/>
                  <a:pt x="152" y="198"/>
                </a:cubicBezTo>
                <a:cubicBezTo>
                  <a:pt x="160" y="195"/>
                  <a:pt x="167" y="187"/>
                  <a:pt x="169" y="180"/>
                </a:cubicBezTo>
                <a:cubicBezTo>
                  <a:pt x="171" y="174"/>
                  <a:pt x="179" y="160"/>
                  <a:pt x="187" y="150"/>
                </a:cubicBezTo>
                <a:cubicBezTo>
                  <a:pt x="195" y="140"/>
                  <a:pt x="201" y="127"/>
                  <a:pt x="200" y="122"/>
                </a:cubicBezTo>
                <a:cubicBezTo>
                  <a:pt x="200" y="116"/>
                  <a:pt x="191" y="111"/>
                  <a:pt x="182" y="109"/>
                </a:cubicBezTo>
                <a:close/>
                <a:moveTo>
                  <a:pt x="118" y="0"/>
                </a:moveTo>
                <a:cubicBezTo>
                  <a:pt x="53" y="0"/>
                  <a:pt x="0" y="53"/>
                  <a:pt x="0" y="118"/>
                </a:cubicBezTo>
                <a:cubicBezTo>
                  <a:pt x="0" y="183"/>
                  <a:pt x="53" y="236"/>
                  <a:pt x="118" y="236"/>
                </a:cubicBezTo>
                <a:cubicBezTo>
                  <a:pt x="183" y="236"/>
                  <a:pt x="236" y="183"/>
                  <a:pt x="236" y="118"/>
                </a:cubicBezTo>
                <a:cubicBezTo>
                  <a:pt x="236" y="53"/>
                  <a:pt x="183" y="0"/>
                  <a:pt x="118" y="0"/>
                </a:cubicBezTo>
                <a:close/>
                <a:moveTo>
                  <a:pt x="126" y="212"/>
                </a:moveTo>
                <a:cubicBezTo>
                  <a:pt x="127" y="211"/>
                  <a:pt x="128" y="209"/>
                  <a:pt x="128" y="208"/>
                </a:cubicBezTo>
                <a:cubicBezTo>
                  <a:pt x="130" y="201"/>
                  <a:pt x="128" y="191"/>
                  <a:pt x="125" y="186"/>
                </a:cubicBezTo>
                <a:cubicBezTo>
                  <a:pt x="121" y="181"/>
                  <a:pt x="112" y="181"/>
                  <a:pt x="105" y="186"/>
                </a:cubicBezTo>
                <a:cubicBezTo>
                  <a:pt x="97" y="191"/>
                  <a:pt x="94" y="200"/>
                  <a:pt x="98" y="207"/>
                </a:cubicBezTo>
                <a:cubicBezTo>
                  <a:pt x="99" y="208"/>
                  <a:pt x="100" y="210"/>
                  <a:pt x="102" y="211"/>
                </a:cubicBezTo>
                <a:cubicBezTo>
                  <a:pt x="72" y="206"/>
                  <a:pt x="47" y="187"/>
                  <a:pt x="34" y="161"/>
                </a:cubicBezTo>
                <a:cubicBezTo>
                  <a:pt x="37" y="161"/>
                  <a:pt x="40" y="159"/>
                  <a:pt x="44" y="157"/>
                </a:cubicBezTo>
                <a:cubicBezTo>
                  <a:pt x="44" y="157"/>
                  <a:pt x="44" y="157"/>
                  <a:pt x="44" y="157"/>
                </a:cubicBezTo>
                <a:cubicBezTo>
                  <a:pt x="57" y="148"/>
                  <a:pt x="74" y="141"/>
                  <a:pt x="81" y="142"/>
                </a:cubicBezTo>
                <a:cubicBezTo>
                  <a:pt x="89" y="142"/>
                  <a:pt x="89" y="131"/>
                  <a:pt x="81" y="118"/>
                </a:cubicBezTo>
                <a:cubicBezTo>
                  <a:pt x="74" y="105"/>
                  <a:pt x="62" y="94"/>
                  <a:pt x="55" y="94"/>
                </a:cubicBezTo>
                <a:cubicBezTo>
                  <a:pt x="48" y="94"/>
                  <a:pt x="36" y="92"/>
                  <a:pt x="28" y="90"/>
                </a:cubicBezTo>
                <a:cubicBezTo>
                  <a:pt x="37" y="62"/>
                  <a:pt x="58" y="41"/>
                  <a:pt x="84" y="30"/>
                </a:cubicBezTo>
                <a:cubicBezTo>
                  <a:pt x="84" y="31"/>
                  <a:pt x="84" y="31"/>
                  <a:pt x="84" y="31"/>
                </a:cubicBezTo>
                <a:cubicBezTo>
                  <a:pt x="86" y="39"/>
                  <a:pt x="95" y="50"/>
                  <a:pt x="102" y="56"/>
                </a:cubicBezTo>
                <a:cubicBezTo>
                  <a:pt x="110" y="62"/>
                  <a:pt x="118" y="72"/>
                  <a:pt x="120" y="79"/>
                </a:cubicBezTo>
                <a:cubicBezTo>
                  <a:pt x="122" y="85"/>
                  <a:pt x="127" y="93"/>
                  <a:pt x="131" y="97"/>
                </a:cubicBezTo>
                <a:cubicBezTo>
                  <a:pt x="136" y="100"/>
                  <a:pt x="142" y="96"/>
                  <a:pt x="146" y="88"/>
                </a:cubicBezTo>
                <a:cubicBezTo>
                  <a:pt x="150" y="80"/>
                  <a:pt x="164" y="70"/>
                  <a:pt x="177" y="66"/>
                </a:cubicBezTo>
                <a:cubicBezTo>
                  <a:pt x="183" y="64"/>
                  <a:pt x="187" y="61"/>
                  <a:pt x="190" y="57"/>
                </a:cubicBezTo>
                <a:cubicBezTo>
                  <a:pt x="204" y="74"/>
                  <a:pt x="212" y="95"/>
                  <a:pt x="212" y="118"/>
                </a:cubicBezTo>
                <a:cubicBezTo>
                  <a:pt x="212" y="168"/>
                  <a:pt x="174" y="208"/>
                  <a:pt x="126" y="21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474090" y="4489462"/>
            <a:ext cx="144339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>
                <a:latin typeface="Arial" panose="020B0604020202020204" pitchFamily="34" charset="0"/>
                <a:cs typeface="+mn-ea"/>
              </a:rPr>
              <a:t>核心价值</a:t>
            </a:r>
            <a:endParaRPr lang="zh-CN" altLang="en-US" sz="2000" b="1" dirty="0">
              <a:latin typeface="Arial" panose="020B0604020202020204" pitchFamily="3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474091" y="2609795"/>
            <a:ext cx="536388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+mn-ea"/>
                <a:cs typeface="楷体" panose="02010609060101010101" charset="-122"/>
              </a:rPr>
              <a:t>蓝桥校园是深度融合智慧校园生态的</a:t>
            </a:r>
            <a:r>
              <a:rPr lang="en-US" altLang="zh-CN" dirty="0">
                <a:latin typeface="+mn-ea"/>
                <a:cs typeface="楷体" panose="02010609060101010101" charset="-122"/>
              </a:rPr>
              <a:t>AI</a:t>
            </a:r>
            <a:r>
              <a:rPr lang="zh-CN" altLang="en-US" dirty="0">
                <a:latin typeface="+mn-ea"/>
                <a:cs typeface="楷体" panose="02010609060101010101" charset="-122"/>
              </a:rPr>
              <a:t>恋爱社交平台</a:t>
            </a:r>
            <a:r>
              <a:rPr lang="en-US" altLang="zh-CN" dirty="0">
                <a:latin typeface="+mn-ea"/>
                <a:cs typeface="楷体" panose="02010609060101010101" charset="-122"/>
              </a:rPr>
              <a:t>,</a:t>
            </a:r>
            <a:r>
              <a:rPr lang="zh-CN" altLang="en-US" dirty="0">
                <a:latin typeface="+mn-ea"/>
                <a:cs typeface="楷体" panose="02010609060101010101" charset="-122"/>
              </a:rPr>
              <a:t>聚焦</a:t>
            </a:r>
            <a:r>
              <a:rPr lang="en-US" altLang="zh-CN" dirty="0">
                <a:latin typeface="+mn-ea"/>
                <a:cs typeface="楷体" panose="02010609060101010101" charset="-122"/>
              </a:rPr>
              <a:t>18-25</a:t>
            </a:r>
            <a:r>
              <a:rPr lang="zh-CN" altLang="en-US" dirty="0">
                <a:latin typeface="+mn-ea"/>
                <a:cs typeface="楷体" panose="02010609060101010101" charset="-122"/>
              </a:rPr>
              <a:t>岁在校学生群体</a:t>
            </a:r>
            <a:r>
              <a:rPr lang="en-US" altLang="zh-CN" dirty="0">
                <a:latin typeface="+mn-ea"/>
                <a:cs typeface="楷体" panose="02010609060101010101" charset="-122"/>
              </a:rPr>
              <a:t>,</a:t>
            </a:r>
            <a:r>
              <a:rPr lang="zh-CN" altLang="en-US" dirty="0">
                <a:latin typeface="+mn-ea"/>
                <a:cs typeface="楷体" panose="02010609060101010101" charset="-122"/>
              </a:rPr>
              <a:t>通过隐私保护的智能匹配技术</a:t>
            </a:r>
            <a:r>
              <a:rPr lang="en-US" altLang="zh-CN" dirty="0">
                <a:latin typeface="+mn-ea"/>
                <a:cs typeface="楷体" panose="02010609060101010101" charset="-122"/>
              </a:rPr>
              <a:t>,</a:t>
            </a:r>
            <a:r>
              <a:rPr lang="zh-CN" altLang="en-US" dirty="0">
                <a:latin typeface="+mn-ea"/>
                <a:cs typeface="楷体" panose="02010609060101010101" charset="-122"/>
              </a:rPr>
              <a:t>提供安全、精准的交友服务。</a:t>
            </a:r>
            <a:endParaRPr lang="en-US" altLang="zh-CN" sz="1800" dirty="0">
              <a:latin typeface="+mn-ea"/>
              <a:cs typeface="楷体" panose="02010609060101010101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428192" y="4856492"/>
            <a:ext cx="53638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+mn-ea"/>
                <a:cs typeface="楷体" panose="02010609060101010101" charset="-122"/>
              </a:rPr>
              <a:t>解决校园社交中匹配度低、隐私泄露、社区环境不友好等痛点</a:t>
            </a:r>
            <a:r>
              <a:rPr lang="en-US" altLang="zh-CN" dirty="0">
                <a:latin typeface="+mn-ea"/>
                <a:cs typeface="楷体" panose="02010609060101010101" charset="-122"/>
              </a:rPr>
              <a:t>,</a:t>
            </a:r>
            <a:r>
              <a:rPr lang="zh-CN" altLang="en-US" dirty="0">
                <a:latin typeface="+mn-ea"/>
                <a:cs typeface="楷体" panose="02010609060101010101" charset="-122"/>
              </a:rPr>
              <a:t>构建校园专属的恋爱社交闭环。</a:t>
            </a:r>
            <a:endParaRPr lang="zh-CN" altLang="en-US" dirty="0">
              <a:latin typeface="+mn-ea"/>
            </a:endParaRPr>
          </a:p>
        </p:txBody>
      </p:sp>
      <p:sp>
        <p:nvSpPr>
          <p:cNvPr id="35" name="标题 12"/>
          <p:cNvSpPr>
            <a:spLocks noGrp="1"/>
          </p:cNvSpPr>
          <p:nvPr>
            <p:ph type="title"/>
          </p:nvPr>
        </p:nvSpPr>
        <p:spPr>
          <a:xfrm>
            <a:off x="750888" y="441325"/>
            <a:ext cx="10515600" cy="365125"/>
          </a:xfrm>
        </p:spPr>
        <p:txBody>
          <a:bodyPr>
            <a:noAutofit/>
          </a:bodyPr>
          <a:lstStyle/>
          <a:p>
            <a:r>
              <a:rPr lang="zh-CN" altLang="en-US" sz="3200" dirty="0"/>
              <a:t>一、项目总论</a:t>
            </a:r>
          </a:p>
        </p:txBody>
      </p:sp>
      <p:sp>
        <p:nvSpPr>
          <p:cNvPr id="36" name="标题 1"/>
          <p:cNvSpPr>
            <a:spLocks noGrp="1"/>
          </p:cNvSpPr>
          <p:nvPr/>
        </p:nvSpPr>
        <p:spPr>
          <a:xfrm>
            <a:off x="749618" y="945897"/>
            <a:ext cx="10515600" cy="516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u"/>
              <a:defRPr sz="28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1474089" y="2233861"/>
            <a:ext cx="14433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latin typeface="Arial" panose="020B0604020202020204" pitchFamily="34" charset="0"/>
                <a:cs typeface="+mn-ea"/>
              </a:rPr>
              <a:t>项目定位</a:t>
            </a:r>
            <a:endParaRPr lang="en-US" altLang="zh-CN" sz="2000" b="1" dirty="0">
              <a:latin typeface="Arial" panose="020B0604020202020204" pitchFamily="34" charset="0"/>
              <a:cs typeface="+mn-ea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0" y="1602312"/>
            <a:ext cx="4114800" cy="3900511"/>
          </a:xfrm>
          <a:prstGeom prst="rect">
            <a:avLst/>
          </a:prstGeom>
        </p:spPr>
      </p:pic>
      <p:sp>
        <p:nvSpPr>
          <p:cNvPr id="16" name="标题 1">
            <a:extLst>
              <a:ext uri="{FF2B5EF4-FFF2-40B4-BE49-F238E27FC236}">
                <a16:creationId xmlns:a16="http://schemas.microsoft.com/office/drawing/2014/main" id="{0A404E82-5392-4E05-800E-2A612B7C8EF5}"/>
              </a:ext>
            </a:extLst>
          </p:cNvPr>
          <p:cNvSpPr>
            <a:spLocks noGrp="1"/>
          </p:cNvSpPr>
          <p:nvPr/>
        </p:nvSpPr>
        <p:spPr>
          <a:xfrm>
            <a:off x="838200" y="1068398"/>
            <a:ext cx="10515600" cy="516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u"/>
              <a:defRPr sz="28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蓝桥校园</a:t>
            </a:r>
            <a:r>
              <a:rPr lang="en-US" altLang="zh-CN" dirty="0"/>
              <a:t>——</a:t>
            </a:r>
            <a:r>
              <a:rPr lang="zh-CN" altLang="en-US" dirty="0"/>
              <a:t>深度融合智慧校园生态的</a:t>
            </a:r>
            <a:r>
              <a:rPr lang="en-US" altLang="zh-CN" dirty="0"/>
              <a:t>AI</a:t>
            </a:r>
            <a:r>
              <a:rPr lang="zh-CN" altLang="en-US" dirty="0"/>
              <a:t>恋爱社交平台</a:t>
            </a:r>
          </a:p>
        </p:txBody>
      </p:sp>
    </p:spTree>
    <p:extLst>
      <p:ext uri="{BB962C8B-B14F-4D97-AF65-F5344CB8AC3E}">
        <p14:creationId xmlns:p14="http://schemas.microsoft.com/office/powerpoint/2010/main" val="3185899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4E30-715F-4973-8179-B4178D7E09F0}" type="datetime1">
              <a:rPr lang="zh-CN" altLang="en-US" smtClean="0"/>
              <a:t>2025/11/6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  <a:t>3</a:t>
            </a:fld>
            <a:endParaRPr lang="zh-CN" altLang="en-US" dirty="0"/>
          </a:p>
        </p:txBody>
      </p:sp>
      <p:sp>
        <p:nvSpPr>
          <p:cNvPr id="20" name="Freeform: Shape 12"/>
          <p:cNvSpPr/>
          <p:nvPr/>
        </p:nvSpPr>
        <p:spPr bwMode="auto">
          <a:xfrm>
            <a:off x="884847" y="5075644"/>
            <a:ext cx="408116" cy="408116"/>
          </a:xfrm>
          <a:custGeom>
            <a:avLst/>
            <a:gdLst>
              <a:gd name="T0" fmla="*/ 0 w 236"/>
              <a:gd name="T1" fmla="*/ 118 h 236"/>
              <a:gd name="T2" fmla="*/ 236 w 236"/>
              <a:gd name="T3" fmla="*/ 118 h 236"/>
              <a:gd name="T4" fmla="*/ 150 w 236"/>
              <a:gd name="T5" fmla="*/ 168 h 236"/>
              <a:gd name="T6" fmla="*/ 128 w 236"/>
              <a:gd name="T7" fmla="*/ 196 h 236"/>
              <a:gd name="T8" fmla="*/ 125 w 236"/>
              <a:gd name="T9" fmla="*/ 199 h 236"/>
              <a:gd name="T10" fmla="*/ 111 w 236"/>
              <a:gd name="T11" fmla="*/ 198 h 236"/>
              <a:gd name="T12" fmla="*/ 110 w 236"/>
              <a:gd name="T13" fmla="*/ 180 h 236"/>
              <a:gd name="T14" fmla="*/ 90 w 236"/>
              <a:gd name="T15" fmla="*/ 173 h 236"/>
              <a:gd name="T16" fmla="*/ 79 w 236"/>
              <a:gd name="T17" fmla="*/ 166 h 236"/>
              <a:gd name="T18" fmla="*/ 78 w 236"/>
              <a:gd name="T19" fmla="*/ 160 h 236"/>
              <a:gd name="T20" fmla="*/ 89 w 236"/>
              <a:gd name="T21" fmla="*/ 147 h 236"/>
              <a:gd name="T22" fmla="*/ 91 w 236"/>
              <a:gd name="T23" fmla="*/ 148 h 236"/>
              <a:gd name="T24" fmla="*/ 119 w 236"/>
              <a:gd name="T25" fmla="*/ 160 h 236"/>
              <a:gd name="T26" fmla="*/ 137 w 236"/>
              <a:gd name="T27" fmla="*/ 145 h 236"/>
              <a:gd name="T28" fmla="*/ 133 w 236"/>
              <a:gd name="T29" fmla="*/ 137 h 236"/>
              <a:gd name="T30" fmla="*/ 122 w 236"/>
              <a:gd name="T31" fmla="*/ 130 h 236"/>
              <a:gd name="T32" fmla="*/ 109 w 236"/>
              <a:gd name="T33" fmla="*/ 125 h 236"/>
              <a:gd name="T34" fmla="*/ 98 w 236"/>
              <a:gd name="T35" fmla="*/ 120 h 236"/>
              <a:gd name="T36" fmla="*/ 89 w 236"/>
              <a:gd name="T37" fmla="*/ 113 h 236"/>
              <a:gd name="T38" fmla="*/ 82 w 236"/>
              <a:gd name="T39" fmla="*/ 103 h 236"/>
              <a:gd name="T40" fmla="*/ 79 w 236"/>
              <a:gd name="T41" fmla="*/ 90 h 236"/>
              <a:gd name="T42" fmla="*/ 110 w 236"/>
              <a:gd name="T43" fmla="*/ 57 h 236"/>
              <a:gd name="T44" fmla="*/ 111 w 236"/>
              <a:gd name="T45" fmla="*/ 38 h 236"/>
              <a:gd name="T46" fmla="*/ 125 w 236"/>
              <a:gd name="T47" fmla="*/ 37 h 236"/>
              <a:gd name="T48" fmla="*/ 128 w 236"/>
              <a:gd name="T49" fmla="*/ 40 h 236"/>
              <a:gd name="T50" fmla="*/ 137 w 236"/>
              <a:gd name="T51" fmla="*/ 58 h 236"/>
              <a:gd name="T52" fmla="*/ 151 w 236"/>
              <a:gd name="T53" fmla="*/ 65 h 236"/>
              <a:gd name="T54" fmla="*/ 155 w 236"/>
              <a:gd name="T55" fmla="*/ 69 h 236"/>
              <a:gd name="T56" fmla="*/ 149 w 236"/>
              <a:gd name="T57" fmla="*/ 85 h 236"/>
              <a:gd name="T58" fmla="*/ 144 w 236"/>
              <a:gd name="T59" fmla="*/ 86 h 236"/>
              <a:gd name="T60" fmla="*/ 140 w 236"/>
              <a:gd name="T61" fmla="*/ 82 h 236"/>
              <a:gd name="T62" fmla="*/ 128 w 236"/>
              <a:gd name="T63" fmla="*/ 77 h 236"/>
              <a:gd name="T64" fmla="*/ 107 w 236"/>
              <a:gd name="T65" fmla="*/ 80 h 236"/>
              <a:gd name="T66" fmla="*/ 102 w 236"/>
              <a:gd name="T67" fmla="*/ 94 h 236"/>
              <a:gd name="T68" fmla="*/ 108 w 236"/>
              <a:gd name="T69" fmla="*/ 101 h 236"/>
              <a:gd name="T70" fmla="*/ 118 w 236"/>
              <a:gd name="T71" fmla="*/ 106 h 236"/>
              <a:gd name="T72" fmla="*/ 132 w 236"/>
              <a:gd name="T73" fmla="*/ 112 h 236"/>
              <a:gd name="T74" fmla="*/ 145 w 236"/>
              <a:gd name="T75" fmla="*/ 119 h 236"/>
              <a:gd name="T76" fmla="*/ 155 w 236"/>
              <a:gd name="T77" fmla="*/ 129 h 236"/>
              <a:gd name="T78" fmla="*/ 159 w 236"/>
              <a:gd name="T79" fmla="*/ 144 h 2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236" h="236">
                <a:moveTo>
                  <a:pt x="118" y="0"/>
                </a:moveTo>
                <a:cubicBezTo>
                  <a:pt x="53" y="0"/>
                  <a:pt x="0" y="53"/>
                  <a:pt x="0" y="118"/>
                </a:cubicBezTo>
                <a:cubicBezTo>
                  <a:pt x="0" y="183"/>
                  <a:pt x="53" y="236"/>
                  <a:pt x="118" y="236"/>
                </a:cubicBezTo>
                <a:cubicBezTo>
                  <a:pt x="183" y="236"/>
                  <a:pt x="236" y="183"/>
                  <a:pt x="236" y="118"/>
                </a:cubicBezTo>
                <a:cubicBezTo>
                  <a:pt x="236" y="53"/>
                  <a:pt x="183" y="0"/>
                  <a:pt x="118" y="0"/>
                </a:cubicBezTo>
                <a:moveTo>
                  <a:pt x="150" y="168"/>
                </a:moveTo>
                <a:cubicBezTo>
                  <a:pt x="145" y="175"/>
                  <a:pt x="137" y="179"/>
                  <a:pt x="128" y="180"/>
                </a:cubicBezTo>
                <a:cubicBezTo>
                  <a:pt x="128" y="196"/>
                  <a:pt x="128" y="196"/>
                  <a:pt x="128" y="196"/>
                </a:cubicBezTo>
                <a:cubicBezTo>
                  <a:pt x="128" y="197"/>
                  <a:pt x="127" y="198"/>
                  <a:pt x="127" y="198"/>
                </a:cubicBezTo>
                <a:cubicBezTo>
                  <a:pt x="126" y="199"/>
                  <a:pt x="126" y="199"/>
                  <a:pt x="125" y="199"/>
                </a:cubicBezTo>
                <a:cubicBezTo>
                  <a:pt x="113" y="199"/>
                  <a:pt x="113" y="199"/>
                  <a:pt x="113" y="199"/>
                </a:cubicBezTo>
                <a:cubicBezTo>
                  <a:pt x="112" y="199"/>
                  <a:pt x="111" y="199"/>
                  <a:pt x="111" y="198"/>
                </a:cubicBezTo>
                <a:cubicBezTo>
                  <a:pt x="110" y="197"/>
                  <a:pt x="110" y="197"/>
                  <a:pt x="110" y="196"/>
                </a:cubicBezTo>
                <a:cubicBezTo>
                  <a:pt x="110" y="180"/>
                  <a:pt x="110" y="180"/>
                  <a:pt x="110" y="180"/>
                </a:cubicBezTo>
                <a:cubicBezTo>
                  <a:pt x="106" y="180"/>
                  <a:pt x="102" y="179"/>
                  <a:pt x="99" y="177"/>
                </a:cubicBezTo>
                <a:cubicBezTo>
                  <a:pt x="95" y="176"/>
                  <a:pt x="92" y="175"/>
                  <a:pt x="90" y="173"/>
                </a:cubicBezTo>
                <a:cubicBezTo>
                  <a:pt x="88" y="172"/>
                  <a:pt x="85" y="171"/>
                  <a:pt x="83" y="169"/>
                </a:cubicBezTo>
                <a:cubicBezTo>
                  <a:pt x="81" y="168"/>
                  <a:pt x="80" y="166"/>
                  <a:pt x="79" y="166"/>
                </a:cubicBezTo>
                <a:cubicBezTo>
                  <a:pt x="79" y="165"/>
                  <a:pt x="78" y="164"/>
                  <a:pt x="78" y="164"/>
                </a:cubicBezTo>
                <a:cubicBezTo>
                  <a:pt x="77" y="163"/>
                  <a:pt x="77" y="162"/>
                  <a:pt x="78" y="160"/>
                </a:cubicBezTo>
                <a:cubicBezTo>
                  <a:pt x="87" y="148"/>
                  <a:pt x="87" y="148"/>
                  <a:pt x="87" y="148"/>
                </a:cubicBezTo>
                <a:cubicBezTo>
                  <a:pt x="87" y="148"/>
                  <a:pt x="88" y="147"/>
                  <a:pt x="89" y="147"/>
                </a:cubicBezTo>
                <a:cubicBezTo>
                  <a:pt x="90" y="147"/>
                  <a:pt x="90" y="147"/>
                  <a:pt x="91" y="148"/>
                </a:cubicBezTo>
                <a:cubicBezTo>
                  <a:pt x="91" y="148"/>
                  <a:pt x="91" y="148"/>
                  <a:pt x="91" y="148"/>
                </a:cubicBezTo>
                <a:cubicBezTo>
                  <a:pt x="98" y="154"/>
                  <a:pt x="105" y="158"/>
                  <a:pt x="112" y="159"/>
                </a:cubicBezTo>
                <a:cubicBezTo>
                  <a:pt x="115" y="160"/>
                  <a:pt x="117" y="160"/>
                  <a:pt x="119" y="160"/>
                </a:cubicBezTo>
                <a:cubicBezTo>
                  <a:pt x="124" y="160"/>
                  <a:pt x="128" y="159"/>
                  <a:pt x="131" y="156"/>
                </a:cubicBezTo>
                <a:cubicBezTo>
                  <a:pt x="135" y="154"/>
                  <a:pt x="137" y="150"/>
                  <a:pt x="137" y="145"/>
                </a:cubicBezTo>
                <a:cubicBezTo>
                  <a:pt x="137" y="144"/>
                  <a:pt x="136" y="142"/>
                  <a:pt x="136" y="140"/>
                </a:cubicBezTo>
                <a:cubicBezTo>
                  <a:pt x="135" y="139"/>
                  <a:pt x="134" y="138"/>
                  <a:pt x="133" y="137"/>
                </a:cubicBezTo>
                <a:cubicBezTo>
                  <a:pt x="132" y="136"/>
                  <a:pt x="130" y="135"/>
                  <a:pt x="127" y="133"/>
                </a:cubicBezTo>
                <a:cubicBezTo>
                  <a:pt x="125" y="132"/>
                  <a:pt x="123" y="131"/>
                  <a:pt x="122" y="130"/>
                </a:cubicBezTo>
                <a:cubicBezTo>
                  <a:pt x="120" y="130"/>
                  <a:pt x="118" y="129"/>
                  <a:pt x="115" y="128"/>
                </a:cubicBezTo>
                <a:cubicBezTo>
                  <a:pt x="112" y="127"/>
                  <a:pt x="110" y="126"/>
                  <a:pt x="109" y="125"/>
                </a:cubicBezTo>
                <a:cubicBezTo>
                  <a:pt x="108" y="125"/>
                  <a:pt x="106" y="124"/>
                  <a:pt x="104" y="123"/>
                </a:cubicBezTo>
                <a:cubicBezTo>
                  <a:pt x="101" y="122"/>
                  <a:pt x="100" y="121"/>
                  <a:pt x="98" y="120"/>
                </a:cubicBezTo>
                <a:cubicBezTo>
                  <a:pt x="97" y="119"/>
                  <a:pt x="95" y="118"/>
                  <a:pt x="93" y="117"/>
                </a:cubicBezTo>
                <a:cubicBezTo>
                  <a:pt x="91" y="116"/>
                  <a:pt x="90" y="114"/>
                  <a:pt x="89" y="113"/>
                </a:cubicBezTo>
                <a:cubicBezTo>
                  <a:pt x="87" y="112"/>
                  <a:pt x="86" y="110"/>
                  <a:pt x="85" y="109"/>
                </a:cubicBezTo>
                <a:cubicBezTo>
                  <a:pt x="83" y="107"/>
                  <a:pt x="82" y="105"/>
                  <a:pt x="82" y="103"/>
                </a:cubicBezTo>
                <a:cubicBezTo>
                  <a:pt x="81" y="102"/>
                  <a:pt x="80" y="100"/>
                  <a:pt x="80" y="97"/>
                </a:cubicBezTo>
                <a:cubicBezTo>
                  <a:pt x="79" y="95"/>
                  <a:pt x="79" y="93"/>
                  <a:pt x="79" y="90"/>
                </a:cubicBezTo>
                <a:cubicBezTo>
                  <a:pt x="79" y="82"/>
                  <a:pt x="82" y="75"/>
                  <a:pt x="88" y="69"/>
                </a:cubicBezTo>
                <a:cubicBezTo>
                  <a:pt x="93" y="62"/>
                  <a:pt x="101" y="58"/>
                  <a:pt x="110" y="57"/>
                </a:cubicBezTo>
                <a:cubicBezTo>
                  <a:pt x="110" y="40"/>
                  <a:pt x="110" y="40"/>
                  <a:pt x="110" y="40"/>
                </a:cubicBezTo>
                <a:cubicBezTo>
                  <a:pt x="110" y="40"/>
                  <a:pt x="110" y="39"/>
                  <a:pt x="111" y="38"/>
                </a:cubicBezTo>
                <a:cubicBezTo>
                  <a:pt x="111" y="38"/>
                  <a:pt x="112" y="37"/>
                  <a:pt x="113" y="37"/>
                </a:cubicBezTo>
                <a:cubicBezTo>
                  <a:pt x="125" y="37"/>
                  <a:pt x="125" y="37"/>
                  <a:pt x="125" y="37"/>
                </a:cubicBezTo>
                <a:cubicBezTo>
                  <a:pt x="126" y="37"/>
                  <a:pt x="126" y="38"/>
                  <a:pt x="127" y="38"/>
                </a:cubicBezTo>
                <a:cubicBezTo>
                  <a:pt x="127" y="39"/>
                  <a:pt x="128" y="39"/>
                  <a:pt x="128" y="40"/>
                </a:cubicBezTo>
                <a:cubicBezTo>
                  <a:pt x="128" y="56"/>
                  <a:pt x="128" y="56"/>
                  <a:pt x="128" y="56"/>
                </a:cubicBezTo>
                <a:cubicBezTo>
                  <a:pt x="131" y="57"/>
                  <a:pt x="134" y="57"/>
                  <a:pt x="137" y="58"/>
                </a:cubicBezTo>
                <a:cubicBezTo>
                  <a:pt x="140" y="59"/>
                  <a:pt x="143" y="60"/>
                  <a:pt x="145" y="61"/>
                </a:cubicBezTo>
                <a:cubicBezTo>
                  <a:pt x="147" y="62"/>
                  <a:pt x="149" y="63"/>
                  <a:pt x="151" y="65"/>
                </a:cubicBezTo>
                <a:cubicBezTo>
                  <a:pt x="152" y="66"/>
                  <a:pt x="153" y="67"/>
                  <a:pt x="154" y="67"/>
                </a:cubicBezTo>
                <a:cubicBezTo>
                  <a:pt x="155" y="68"/>
                  <a:pt x="155" y="68"/>
                  <a:pt x="155" y="69"/>
                </a:cubicBezTo>
                <a:cubicBezTo>
                  <a:pt x="156" y="70"/>
                  <a:pt x="156" y="71"/>
                  <a:pt x="156" y="72"/>
                </a:cubicBezTo>
                <a:cubicBezTo>
                  <a:pt x="149" y="85"/>
                  <a:pt x="149" y="85"/>
                  <a:pt x="149" y="85"/>
                </a:cubicBezTo>
                <a:cubicBezTo>
                  <a:pt x="148" y="86"/>
                  <a:pt x="148" y="86"/>
                  <a:pt x="147" y="87"/>
                </a:cubicBezTo>
                <a:cubicBezTo>
                  <a:pt x="146" y="87"/>
                  <a:pt x="145" y="86"/>
                  <a:pt x="144" y="86"/>
                </a:cubicBezTo>
                <a:cubicBezTo>
                  <a:pt x="144" y="86"/>
                  <a:pt x="144" y="85"/>
                  <a:pt x="143" y="85"/>
                </a:cubicBezTo>
                <a:cubicBezTo>
                  <a:pt x="142" y="84"/>
                  <a:pt x="141" y="83"/>
                  <a:pt x="140" y="82"/>
                </a:cubicBezTo>
                <a:cubicBezTo>
                  <a:pt x="138" y="81"/>
                  <a:pt x="136" y="80"/>
                  <a:pt x="134" y="80"/>
                </a:cubicBezTo>
                <a:cubicBezTo>
                  <a:pt x="133" y="79"/>
                  <a:pt x="130" y="78"/>
                  <a:pt x="128" y="77"/>
                </a:cubicBezTo>
                <a:cubicBezTo>
                  <a:pt x="125" y="77"/>
                  <a:pt x="123" y="76"/>
                  <a:pt x="120" y="76"/>
                </a:cubicBezTo>
                <a:cubicBezTo>
                  <a:pt x="115" y="76"/>
                  <a:pt x="110" y="77"/>
                  <a:pt x="107" y="80"/>
                </a:cubicBezTo>
                <a:cubicBezTo>
                  <a:pt x="103" y="83"/>
                  <a:pt x="101" y="86"/>
                  <a:pt x="101" y="90"/>
                </a:cubicBezTo>
                <a:cubicBezTo>
                  <a:pt x="101" y="92"/>
                  <a:pt x="102" y="93"/>
                  <a:pt x="102" y="94"/>
                </a:cubicBezTo>
                <a:cubicBezTo>
                  <a:pt x="103" y="96"/>
                  <a:pt x="103" y="97"/>
                  <a:pt x="105" y="98"/>
                </a:cubicBezTo>
                <a:cubicBezTo>
                  <a:pt x="106" y="99"/>
                  <a:pt x="107" y="100"/>
                  <a:pt x="108" y="101"/>
                </a:cubicBezTo>
                <a:cubicBezTo>
                  <a:pt x="109" y="102"/>
                  <a:pt x="111" y="103"/>
                  <a:pt x="113" y="104"/>
                </a:cubicBezTo>
                <a:cubicBezTo>
                  <a:pt x="115" y="105"/>
                  <a:pt x="117" y="106"/>
                  <a:pt x="118" y="106"/>
                </a:cubicBezTo>
                <a:cubicBezTo>
                  <a:pt x="120" y="107"/>
                  <a:pt x="122" y="108"/>
                  <a:pt x="125" y="109"/>
                </a:cubicBezTo>
                <a:cubicBezTo>
                  <a:pt x="128" y="110"/>
                  <a:pt x="130" y="111"/>
                  <a:pt x="132" y="112"/>
                </a:cubicBezTo>
                <a:cubicBezTo>
                  <a:pt x="133" y="112"/>
                  <a:pt x="136" y="113"/>
                  <a:pt x="138" y="115"/>
                </a:cubicBezTo>
                <a:cubicBezTo>
                  <a:pt x="141" y="116"/>
                  <a:pt x="143" y="117"/>
                  <a:pt x="145" y="119"/>
                </a:cubicBezTo>
                <a:cubicBezTo>
                  <a:pt x="147" y="120"/>
                  <a:pt x="149" y="121"/>
                  <a:pt x="151" y="123"/>
                </a:cubicBezTo>
                <a:cubicBezTo>
                  <a:pt x="153" y="125"/>
                  <a:pt x="154" y="127"/>
                  <a:pt x="155" y="129"/>
                </a:cubicBezTo>
                <a:cubicBezTo>
                  <a:pt x="156" y="131"/>
                  <a:pt x="157" y="133"/>
                  <a:pt x="158" y="136"/>
                </a:cubicBezTo>
                <a:cubicBezTo>
                  <a:pt x="159" y="138"/>
                  <a:pt x="159" y="141"/>
                  <a:pt x="159" y="144"/>
                </a:cubicBezTo>
                <a:cubicBezTo>
                  <a:pt x="159" y="153"/>
                  <a:pt x="156" y="161"/>
                  <a:pt x="150" y="168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35" name="标题 12"/>
          <p:cNvSpPr>
            <a:spLocks noGrp="1"/>
          </p:cNvSpPr>
          <p:nvPr>
            <p:ph type="title"/>
          </p:nvPr>
        </p:nvSpPr>
        <p:spPr>
          <a:xfrm>
            <a:off x="750888" y="441325"/>
            <a:ext cx="10515600" cy="365125"/>
          </a:xfrm>
        </p:spPr>
        <p:txBody>
          <a:bodyPr>
            <a:noAutofit/>
          </a:bodyPr>
          <a:lstStyle/>
          <a:p>
            <a:r>
              <a:rPr lang="zh-CN" altLang="en-US" sz="3200" dirty="0"/>
              <a:t>一、项目总论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811500" y="2869088"/>
            <a:ext cx="10768861" cy="2295366"/>
            <a:chOff x="811500" y="1959133"/>
            <a:chExt cx="10768861" cy="3851357"/>
          </a:xfrm>
        </p:grpSpPr>
        <p:grpSp>
          <p:nvGrpSpPr>
            <p:cNvPr id="13" name="组合 12"/>
            <p:cNvGrpSpPr/>
            <p:nvPr/>
          </p:nvGrpSpPr>
          <p:grpSpPr>
            <a:xfrm>
              <a:off x="3519251" y="1959133"/>
              <a:ext cx="2645608" cy="3851357"/>
              <a:chOff x="3519251" y="1959133"/>
              <a:chExt cx="2645608" cy="3851357"/>
            </a:xfrm>
          </p:grpSpPr>
          <p:grpSp>
            <p:nvGrpSpPr>
              <p:cNvPr id="52" name="组合 51"/>
              <p:cNvGrpSpPr/>
              <p:nvPr/>
            </p:nvGrpSpPr>
            <p:grpSpPr>
              <a:xfrm flipH="1">
                <a:off x="3519251" y="1959133"/>
                <a:ext cx="2344372" cy="3851357"/>
                <a:chOff x="1374178" y="2523364"/>
                <a:chExt cx="2760036" cy="4523203"/>
              </a:xfrm>
              <a:effectLst>
                <a:outerShdw blurRad="431800" dist="190500" dir="2700000" sx="92000" sy="92000" algn="tl" rotWithShape="0">
                  <a:schemeClr val="accent2">
                    <a:lumMod val="75000"/>
                    <a:alpha val="15000"/>
                  </a:schemeClr>
                </a:outerShdw>
              </a:effectLst>
            </p:grpSpPr>
            <p:sp>
              <p:nvSpPr>
                <p:cNvPr id="56" name="任意多边形: 形状 55"/>
                <p:cNvSpPr/>
                <p:nvPr/>
              </p:nvSpPr>
              <p:spPr>
                <a:xfrm flipH="1">
                  <a:off x="3873087" y="2523364"/>
                  <a:ext cx="261127" cy="4523203"/>
                </a:xfrm>
                <a:custGeom>
                  <a:avLst/>
                  <a:gdLst>
                    <a:gd name="connsiteX0" fmla="*/ 261127 w 261127"/>
                    <a:gd name="connsiteY0" fmla="*/ 0 h 4296154"/>
                    <a:gd name="connsiteX1" fmla="*/ 205141 w 261127"/>
                    <a:gd name="connsiteY1" fmla="*/ 0 h 4296154"/>
                    <a:gd name="connsiteX2" fmla="*/ 0 w 261127"/>
                    <a:gd name="connsiteY2" fmla="*/ 205141 h 4296154"/>
                    <a:gd name="connsiteX3" fmla="*/ 0 w 261127"/>
                    <a:gd name="connsiteY3" fmla="*/ 4091013 h 4296154"/>
                    <a:gd name="connsiteX4" fmla="*/ 205141 w 261127"/>
                    <a:gd name="connsiteY4" fmla="*/ 4296154 h 4296154"/>
                    <a:gd name="connsiteX5" fmla="*/ 261127 w 261127"/>
                    <a:gd name="connsiteY5" fmla="*/ 4296154 h 4296154"/>
                    <a:gd name="connsiteX6" fmla="*/ 55986 w 261127"/>
                    <a:gd name="connsiteY6" fmla="*/ 4091013 h 4296154"/>
                    <a:gd name="connsiteX7" fmla="*/ 55986 w 261127"/>
                    <a:gd name="connsiteY7" fmla="*/ 205141 h 4296154"/>
                    <a:gd name="connsiteX8" fmla="*/ 261127 w 261127"/>
                    <a:gd name="connsiteY8" fmla="*/ 0 h 42961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61127" h="4296154">
                      <a:moveTo>
                        <a:pt x="261127" y="0"/>
                      </a:moveTo>
                      <a:lnTo>
                        <a:pt x="205141" y="0"/>
                      </a:lnTo>
                      <a:cubicBezTo>
                        <a:pt x="91845" y="0"/>
                        <a:pt x="0" y="91845"/>
                        <a:pt x="0" y="205141"/>
                      </a:cubicBezTo>
                      <a:lnTo>
                        <a:pt x="0" y="4091013"/>
                      </a:lnTo>
                      <a:cubicBezTo>
                        <a:pt x="0" y="4204309"/>
                        <a:pt x="91845" y="4296154"/>
                        <a:pt x="205141" y="4296154"/>
                      </a:cubicBezTo>
                      <a:lnTo>
                        <a:pt x="261127" y="4296154"/>
                      </a:lnTo>
                      <a:cubicBezTo>
                        <a:pt x="147831" y="4296154"/>
                        <a:pt x="55986" y="4204309"/>
                        <a:pt x="55986" y="4091013"/>
                      </a:cubicBezTo>
                      <a:lnTo>
                        <a:pt x="55986" y="205141"/>
                      </a:lnTo>
                      <a:cubicBezTo>
                        <a:pt x="55986" y="91845"/>
                        <a:pt x="147831" y="0"/>
                        <a:pt x="261127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2222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微软雅黑 Light" panose="020B0502040204020203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57" name="任意多边形: 形状 56"/>
                <p:cNvSpPr/>
                <p:nvPr/>
              </p:nvSpPr>
              <p:spPr>
                <a:xfrm>
                  <a:off x="1374178" y="2523364"/>
                  <a:ext cx="261127" cy="4523203"/>
                </a:xfrm>
                <a:custGeom>
                  <a:avLst/>
                  <a:gdLst>
                    <a:gd name="connsiteX0" fmla="*/ 261127 w 261127"/>
                    <a:gd name="connsiteY0" fmla="*/ 0 h 4296154"/>
                    <a:gd name="connsiteX1" fmla="*/ 205141 w 261127"/>
                    <a:gd name="connsiteY1" fmla="*/ 0 h 4296154"/>
                    <a:gd name="connsiteX2" fmla="*/ 0 w 261127"/>
                    <a:gd name="connsiteY2" fmla="*/ 205141 h 4296154"/>
                    <a:gd name="connsiteX3" fmla="*/ 0 w 261127"/>
                    <a:gd name="connsiteY3" fmla="*/ 4091013 h 4296154"/>
                    <a:gd name="connsiteX4" fmla="*/ 205141 w 261127"/>
                    <a:gd name="connsiteY4" fmla="*/ 4296154 h 4296154"/>
                    <a:gd name="connsiteX5" fmla="*/ 261127 w 261127"/>
                    <a:gd name="connsiteY5" fmla="*/ 4296154 h 4296154"/>
                    <a:gd name="connsiteX6" fmla="*/ 55986 w 261127"/>
                    <a:gd name="connsiteY6" fmla="*/ 4091013 h 4296154"/>
                    <a:gd name="connsiteX7" fmla="*/ 55986 w 261127"/>
                    <a:gd name="connsiteY7" fmla="*/ 205141 h 4296154"/>
                    <a:gd name="connsiteX8" fmla="*/ 261127 w 261127"/>
                    <a:gd name="connsiteY8" fmla="*/ 0 h 42961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61127" h="4296154">
                      <a:moveTo>
                        <a:pt x="261127" y="0"/>
                      </a:moveTo>
                      <a:lnTo>
                        <a:pt x="205141" y="0"/>
                      </a:lnTo>
                      <a:cubicBezTo>
                        <a:pt x="91845" y="0"/>
                        <a:pt x="0" y="91845"/>
                        <a:pt x="0" y="205141"/>
                      </a:cubicBezTo>
                      <a:lnTo>
                        <a:pt x="0" y="4091013"/>
                      </a:lnTo>
                      <a:cubicBezTo>
                        <a:pt x="0" y="4204309"/>
                        <a:pt x="91845" y="4296154"/>
                        <a:pt x="205141" y="4296154"/>
                      </a:cubicBezTo>
                      <a:lnTo>
                        <a:pt x="261127" y="4296154"/>
                      </a:lnTo>
                      <a:cubicBezTo>
                        <a:pt x="147831" y="4296154"/>
                        <a:pt x="55986" y="4204309"/>
                        <a:pt x="55986" y="4091013"/>
                      </a:cubicBezTo>
                      <a:lnTo>
                        <a:pt x="55986" y="205141"/>
                      </a:lnTo>
                      <a:cubicBezTo>
                        <a:pt x="55986" y="91845"/>
                        <a:pt x="147831" y="0"/>
                        <a:pt x="26112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2222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微软雅黑 Light" panose="020B0502040204020203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58" name="矩形: 圆角 57"/>
                <p:cNvSpPr/>
                <p:nvPr/>
              </p:nvSpPr>
              <p:spPr>
                <a:xfrm flipH="1">
                  <a:off x="1437642" y="2533524"/>
                  <a:ext cx="2633874" cy="4513043"/>
                </a:xfrm>
                <a:prstGeom prst="roundRect">
                  <a:avLst>
                    <a:gd name="adj" fmla="val 7507"/>
                  </a:avLst>
                </a:prstGeom>
                <a:solidFill>
                  <a:schemeClr val="bg1"/>
                </a:solidFill>
                <a:ln w="2222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微软雅黑 Light" panose="020B0502040204020203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59" name="矩形: 圆角 58"/>
                <p:cNvSpPr/>
                <p:nvPr/>
              </p:nvSpPr>
              <p:spPr>
                <a:xfrm flipH="1">
                  <a:off x="1437641" y="2533524"/>
                  <a:ext cx="2633874" cy="4513043"/>
                </a:xfrm>
                <a:prstGeom prst="roundRect">
                  <a:avLst>
                    <a:gd name="adj" fmla="val 7507"/>
                  </a:avLst>
                </a:prstGeom>
                <a:blipFill>
                  <a:blip r:embed="rId2" cstate="screen"/>
                  <a:stretch>
                    <a:fillRect/>
                  </a:stretch>
                </a:blipFill>
                <a:ln w="2222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微软雅黑 Light" panose="020B0502040204020203" pitchFamily="34" charset="-122"/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54" name="文本框 53"/>
              <p:cNvSpPr txBox="1"/>
              <p:nvPr/>
            </p:nvSpPr>
            <p:spPr>
              <a:xfrm>
                <a:off x="3662471" y="2927513"/>
                <a:ext cx="1960436" cy="1355260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</p:spPr>
            <p:txBody>
              <a:bodyPr wrap="square" lIns="0" tIns="0" rIns="0" bIns="0">
                <a:spAutoFit/>
              </a:bodyPr>
              <a:lstStyle/>
              <a:p>
                <a:pPr marL="0" marR="0" lvl="0" indent="0" algn="l" defTabSz="1422400" rtl="0" eaLnBrk="1" fontAlgn="auto" latinLnBrk="0" hangingPunct="1">
                  <a:lnSpc>
                    <a:spcPct val="125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14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接入高校认证系统，实现</a:t>
                </a:r>
                <a:r>
                  <a:rPr lang="en-US" altLang="zh-CN" sz="14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 100% </a:t>
                </a:r>
                <a:r>
                  <a:rPr lang="zh-CN" altLang="en-US" sz="14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在校身份核验，确保用户群体精准性。</a:t>
                </a:r>
              </a:p>
            </p:txBody>
          </p:sp>
          <p:sp>
            <p:nvSpPr>
              <p:cNvPr id="55" name="文本框 54"/>
              <p:cNvSpPr txBox="1"/>
              <p:nvPr/>
            </p:nvSpPr>
            <p:spPr>
              <a:xfrm>
                <a:off x="3662471" y="2223591"/>
                <a:ext cx="2502388" cy="557234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</p:spPr>
            <p:txBody>
              <a:bodyPr vert="horz" wrap="square" lIns="0" tIns="0" rIns="0" bIns="0" rtlCol="0">
                <a:spAutoFit/>
              </a:bodyPr>
              <a:lstStyle>
                <a:defPPr>
                  <a:defRPr lang="zh-CN"/>
                </a:defPPr>
                <a:lvl1pPr indent="0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kumimoji="1" sz="3600">
                    <a:ln w="6350">
                      <a:noFill/>
                    </a:ln>
                    <a:gradFill flip="none" rotWithShape="1">
                      <a:gsLst>
                        <a:gs pos="0">
                          <a:schemeClr val="accent4"/>
                        </a:gs>
                        <a:gs pos="100000">
                          <a:schemeClr val="accent3"/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  <a:effectLst>
                      <a:outerShdw blurRad="177800" dist="127000" dir="2700000" sx="95000" sy="95000" algn="tl" rotWithShape="0">
                        <a:schemeClr val="accent3">
                          <a:lumMod val="75000"/>
                          <a:alpha val="35000"/>
                        </a:schemeClr>
                      </a:outerShdw>
                    </a:effectLst>
                    <a:latin typeface="锐字真言体免费商用" panose="02010600030101010101" pitchFamily="2" charset="-122"/>
                    <a:ea typeface="锐字真言体免费商用" panose="02010600030101010101" pitchFamily="2" charset="-122"/>
                  </a:defRPr>
                </a:lvl1pPr>
                <a:lvl2pPr indent="0" algn="ctr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/>
                </a:lvl2pPr>
                <a:lvl3pPr indent="0" algn="ctr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</a:lvl3pPr>
                <a:lvl4pPr indent="0" algn="ctr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/>
                </a:lvl4pPr>
                <a:lvl5pPr indent="0" algn="ctr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/>
                </a:lvl5pPr>
                <a:lvl6pPr indent="0" algn="ctr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/>
                </a:lvl6pPr>
                <a:lvl7pPr indent="0" algn="ctr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/>
                </a:lvl7pPr>
                <a:lvl8pPr indent="0" algn="ctr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/>
                </a:lvl8pPr>
                <a:lvl9pPr indent="0" algn="ctr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/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lang="zh-CN" altLang="en-US" sz="2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身份合规</a:t>
                </a:r>
              </a:p>
            </p:txBody>
          </p:sp>
        </p:grpSp>
        <p:grpSp>
          <p:nvGrpSpPr>
            <p:cNvPr id="14" name="组合 13"/>
            <p:cNvGrpSpPr/>
            <p:nvPr/>
          </p:nvGrpSpPr>
          <p:grpSpPr>
            <a:xfrm>
              <a:off x="811500" y="1959133"/>
              <a:ext cx="3134989" cy="3851357"/>
              <a:chOff x="811500" y="1959133"/>
              <a:chExt cx="3134989" cy="3851357"/>
            </a:xfrm>
          </p:grpSpPr>
          <p:grpSp>
            <p:nvGrpSpPr>
              <p:cNvPr id="42" name="组合 41"/>
              <p:cNvGrpSpPr/>
              <p:nvPr/>
            </p:nvGrpSpPr>
            <p:grpSpPr>
              <a:xfrm flipH="1">
                <a:off x="811500" y="1959133"/>
                <a:ext cx="2344372" cy="3851357"/>
                <a:chOff x="1374178" y="2523364"/>
                <a:chExt cx="2760036" cy="4523203"/>
              </a:xfrm>
              <a:effectLst>
                <a:outerShdw blurRad="431800" dist="190500" dir="2700000" sx="92000" sy="92000" algn="tl" rotWithShape="0">
                  <a:schemeClr val="accent2">
                    <a:lumMod val="75000"/>
                    <a:alpha val="15000"/>
                  </a:schemeClr>
                </a:outerShdw>
              </a:effectLst>
            </p:grpSpPr>
            <p:sp>
              <p:nvSpPr>
                <p:cNvPr id="48" name="任意多边形: 形状 47"/>
                <p:cNvSpPr/>
                <p:nvPr/>
              </p:nvSpPr>
              <p:spPr>
                <a:xfrm flipH="1">
                  <a:off x="3873087" y="2523364"/>
                  <a:ext cx="261127" cy="4523203"/>
                </a:xfrm>
                <a:custGeom>
                  <a:avLst/>
                  <a:gdLst>
                    <a:gd name="connsiteX0" fmla="*/ 261127 w 261127"/>
                    <a:gd name="connsiteY0" fmla="*/ 0 h 4296154"/>
                    <a:gd name="connsiteX1" fmla="*/ 205141 w 261127"/>
                    <a:gd name="connsiteY1" fmla="*/ 0 h 4296154"/>
                    <a:gd name="connsiteX2" fmla="*/ 0 w 261127"/>
                    <a:gd name="connsiteY2" fmla="*/ 205141 h 4296154"/>
                    <a:gd name="connsiteX3" fmla="*/ 0 w 261127"/>
                    <a:gd name="connsiteY3" fmla="*/ 4091013 h 4296154"/>
                    <a:gd name="connsiteX4" fmla="*/ 205141 w 261127"/>
                    <a:gd name="connsiteY4" fmla="*/ 4296154 h 4296154"/>
                    <a:gd name="connsiteX5" fmla="*/ 261127 w 261127"/>
                    <a:gd name="connsiteY5" fmla="*/ 4296154 h 4296154"/>
                    <a:gd name="connsiteX6" fmla="*/ 55986 w 261127"/>
                    <a:gd name="connsiteY6" fmla="*/ 4091013 h 4296154"/>
                    <a:gd name="connsiteX7" fmla="*/ 55986 w 261127"/>
                    <a:gd name="connsiteY7" fmla="*/ 205141 h 4296154"/>
                    <a:gd name="connsiteX8" fmla="*/ 261127 w 261127"/>
                    <a:gd name="connsiteY8" fmla="*/ 0 h 42961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61127" h="4296154">
                      <a:moveTo>
                        <a:pt x="261127" y="0"/>
                      </a:moveTo>
                      <a:lnTo>
                        <a:pt x="205141" y="0"/>
                      </a:lnTo>
                      <a:cubicBezTo>
                        <a:pt x="91845" y="0"/>
                        <a:pt x="0" y="91845"/>
                        <a:pt x="0" y="205141"/>
                      </a:cubicBezTo>
                      <a:lnTo>
                        <a:pt x="0" y="4091013"/>
                      </a:lnTo>
                      <a:cubicBezTo>
                        <a:pt x="0" y="4204309"/>
                        <a:pt x="91845" y="4296154"/>
                        <a:pt x="205141" y="4296154"/>
                      </a:cubicBezTo>
                      <a:lnTo>
                        <a:pt x="261127" y="4296154"/>
                      </a:lnTo>
                      <a:cubicBezTo>
                        <a:pt x="147831" y="4296154"/>
                        <a:pt x="55986" y="4204309"/>
                        <a:pt x="55986" y="4091013"/>
                      </a:cubicBezTo>
                      <a:lnTo>
                        <a:pt x="55986" y="205141"/>
                      </a:lnTo>
                      <a:cubicBezTo>
                        <a:pt x="55986" y="91845"/>
                        <a:pt x="147831" y="0"/>
                        <a:pt x="261127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2222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微软雅黑 Light" panose="020B0502040204020203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49" name="任意多边形: 形状 48"/>
                <p:cNvSpPr/>
                <p:nvPr/>
              </p:nvSpPr>
              <p:spPr>
                <a:xfrm>
                  <a:off x="1374178" y="2523364"/>
                  <a:ext cx="261127" cy="4523203"/>
                </a:xfrm>
                <a:custGeom>
                  <a:avLst/>
                  <a:gdLst>
                    <a:gd name="connsiteX0" fmla="*/ 261127 w 261127"/>
                    <a:gd name="connsiteY0" fmla="*/ 0 h 4296154"/>
                    <a:gd name="connsiteX1" fmla="*/ 205141 w 261127"/>
                    <a:gd name="connsiteY1" fmla="*/ 0 h 4296154"/>
                    <a:gd name="connsiteX2" fmla="*/ 0 w 261127"/>
                    <a:gd name="connsiteY2" fmla="*/ 205141 h 4296154"/>
                    <a:gd name="connsiteX3" fmla="*/ 0 w 261127"/>
                    <a:gd name="connsiteY3" fmla="*/ 4091013 h 4296154"/>
                    <a:gd name="connsiteX4" fmla="*/ 205141 w 261127"/>
                    <a:gd name="connsiteY4" fmla="*/ 4296154 h 4296154"/>
                    <a:gd name="connsiteX5" fmla="*/ 261127 w 261127"/>
                    <a:gd name="connsiteY5" fmla="*/ 4296154 h 4296154"/>
                    <a:gd name="connsiteX6" fmla="*/ 55986 w 261127"/>
                    <a:gd name="connsiteY6" fmla="*/ 4091013 h 4296154"/>
                    <a:gd name="connsiteX7" fmla="*/ 55986 w 261127"/>
                    <a:gd name="connsiteY7" fmla="*/ 205141 h 4296154"/>
                    <a:gd name="connsiteX8" fmla="*/ 261127 w 261127"/>
                    <a:gd name="connsiteY8" fmla="*/ 0 h 42961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61127" h="4296154">
                      <a:moveTo>
                        <a:pt x="261127" y="0"/>
                      </a:moveTo>
                      <a:lnTo>
                        <a:pt x="205141" y="0"/>
                      </a:lnTo>
                      <a:cubicBezTo>
                        <a:pt x="91845" y="0"/>
                        <a:pt x="0" y="91845"/>
                        <a:pt x="0" y="205141"/>
                      </a:cubicBezTo>
                      <a:lnTo>
                        <a:pt x="0" y="4091013"/>
                      </a:lnTo>
                      <a:cubicBezTo>
                        <a:pt x="0" y="4204309"/>
                        <a:pt x="91845" y="4296154"/>
                        <a:pt x="205141" y="4296154"/>
                      </a:cubicBezTo>
                      <a:lnTo>
                        <a:pt x="261127" y="4296154"/>
                      </a:lnTo>
                      <a:cubicBezTo>
                        <a:pt x="147831" y="4296154"/>
                        <a:pt x="55986" y="4204309"/>
                        <a:pt x="55986" y="4091013"/>
                      </a:cubicBezTo>
                      <a:lnTo>
                        <a:pt x="55986" y="205141"/>
                      </a:lnTo>
                      <a:cubicBezTo>
                        <a:pt x="55986" y="91845"/>
                        <a:pt x="147831" y="0"/>
                        <a:pt x="26112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2222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微软雅黑 Light" panose="020B0502040204020203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50" name="矩形: 圆角 49"/>
                <p:cNvSpPr/>
                <p:nvPr/>
              </p:nvSpPr>
              <p:spPr>
                <a:xfrm flipH="1">
                  <a:off x="1437642" y="2533524"/>
                  <a:ext cx="2633874" cy="4513043"/>
                </a:xfrm>
                <a:prstGeom prst="roundRect">
                  <a:avLst>
                    <a:gd name="adj" fmla="val 7507"/>
                  </a:avLst>
                </a:prstGeom>
                <a:solidFill>
                  <a:schemeClr val="bg1"/>
                </a:solidFill>
                <a:ln w="2222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微软雅黑 Light" panose="020B0502040204020203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51" name="矩形: 圆角 50"/>
                <p:cNvSpPr/>
                <p:nvPr/>
              </p:nvSpPr>
              <p:spPr>
                <a:xfrm flipH="1">
                  <a:off x="1437642" y="2533524"/>
                  <a:ext cx="2633874" cy="4513043"/>
                </a:xfrm>
                <a:prstGeom prst="roundRect">
                  <a:avLst>
                    <a:gd name="adj" fmla="val 7507"/>
                  </a:avLst>
                </a:prstGeom>
                <a:blipFill>
                  <a:blip r:embed="rId2" cstate="screen"/>
                  <a:stretch>
                    <a:fillRect/>
                  </a:stretch>
                </a:blipFill>
                <a:ln w="2222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微软雅黑 Light" panose="020B0502040204020203" pitchFamily="34" charset="-122"/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44" name="文本框 43"/>
              <p:cNvSpPr txBox="1"/>
              <p:nvPr/>
            </p:nvSpPr>
            <p:spPr>
              <a:xfrm>
                <a:off x="955355" y="2945627"/>
                <a:ext cx="1925444" cy="1807014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</p:spPr>
            <p:txBody>
              <a:bodyPr wrap="square" lIns="0" tIns="0" rIns="0" bIns="0">
                <a:spAutoFit/>
              </a:bodyPr>
              <a:lstStyle/>
              <a:p>
                <a:pPr marL="0" marR="0" lvl="0" indent="0" algn="l" defTabSz="1422400" rtl="0" eaLnBrk="1" fontAlgn="auto" latinLnBrk="0" hangingPunct="1">
                  <a:lnSpc>
                    <a:spcPct val="125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14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采用学生身份多重认证、同态加密及数据库加密技术，保障用户特征与数据安全</a:t>
                </a:r>
              </a:p>
            </p:txBody>
          </p:sp>
          <p:sp>
            <p:nvSpPr>
              <p:cNvPr id="45" name="文本框 44"/>
              <p:cNvSpPr txBox="1"/>
              <p:nvPr/>
            </p:nvSpPr>
            <p:spPr>
              <a:xfrm>
                <a:off x="955010" y="2223366"/>
                <a:ext cx="2564130" cy="332422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</p:spPr>
            <p:txBody>
              <a:bodyPr vert="horz" wrap="square" lIns="0" tIns="0" rIns="0" bIns="0" rtlCol="0">
                <a:noAutofit/>
              </a:bodyPr>
              <a:lstStyle>
                <a:defPPr>
                  <a:defRPr lang="zh-CN"/>
                </a:defPPr>
                <a:lvl1pPr indent="0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kumimoji="1" sz="3600">
                    <a:ln w="6350">
                      <a:noFill/>
                    </a:ln>
                    <a:gradFill flip="none" rotWithShape="1">
                      <a:gsLst>
                        <a:gs pos="0">
                          <a:schemeClr val="accent4"/>
                        </a:gs>
                        <a:gs pos="100000">
                          <a:schemeClr val="accent3"/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  <a:effectLst>
                      <a:outerShdw blurRad="177800" dist="127000" dir="2700000" sx="95000" sy="95000" algn="tl" rotWithShape="0">
                        <a:schemeClr val="accent3">
                          <a:lumMod val="75000"/>
                          <a:alpha val="35000"/>
                        </a:schemeClr>
                      </a:outerShdw>
                    </a:effectLst>
                    <a:latin typeface="锐字真言体免费商用" panose="02010600030101010101" pitchFamily="2" charset="-122"/>
                    <a:ea typeface="锐字真言体免费商用" panose="02010600030101010101" pitchFamily="2" charset="-122"/>
                  </a:defRPr>
                </a:lvl1pPr>
                <a:lvl2pPr indent="0" algn="ctr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/>
                </a:lvl2pPr>
                <a:lvl3pPr indent="0" algn="ctr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</a:lvl3pPr>
                <a:lvl4pPr indent="0" algn="ctr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/>
                </a:lvl4pPr>
                <a:lvl5pPr indent="0" algn="ctr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/>
                </a:lvl5pPr>
                <a:lvl6pPr indent="0" algn="ctr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/>
                </a:lvl6pPr>
                <a:lvl7pPr indent="0" algn="ctr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/>
                </a:lvl7pPr>
                <a:lvl8pPr indent="0" algn="ctr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/>
                </a:lvl8pPr>
                <a:lvl9pPr indent="0" algn="ctr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/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 w="6350">
                      <a:noFill/>
                    </a:ln>
                    <a:solidFill>
                      <a:schemeClr val="tx1"/>
                    </a:solidFill>
                    <a:effectLst>
                      <a:outerShdw blurRad="177800" dist="127000" dir="2700000" sx="95000" sy="95000" algn="tl" rotWithShape="0">
                        <a:srgbClr val="F54E1A">
                          <a:lumMod val="75000"/>
                          <a:alpha val="35000"/>
                        </a:srgbClr>
                      </a:outerShdw>
                    </a:effectLst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隐私保护</a:t>
                </a:r>
              </a:p>
            </p:txBody>
          </p:sp>
          <p:cxnSp>
            <p:nvCxnSpPr>
              <p:cNvPr id="46" name="直接连接符 45"/>
              <p:cNvCxnSpPr/>
              <p:nvPr/>
            </p:nvCxnSpPr>
            <p:spPr>
              <a:xfrm>
                <a:off x="1000994" y="2752514"/>
                <a:ext cx="23774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/>
              <p:cNvCxnSpPr/>
              <p:nvPr/>
            </p:nvCxnSpPr>
            <p:spPr>
              <a:xfrm>
                <a:off x="3708745" y="2752514"/>
                <a:ext cx="23774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" name="组合 5"/>
            <p:cNvGrpSpPr/>
            <p:nvPr/>
          </p:nvGrpSpPr>
          <p:grpSpPr>
            <a:xfrm>
              <a:off x="6227002" y="1959133"/>
              <a:ext cx="2645608" cy="3851357"/>
              <a:chOff x="6227002" y="1959133"/>
              <a:chExt cx="2645608" cy="3851357"/>
            </a:xfrm>
          </p:grpSpPr>
          <p:grpSp>
            <p:nvGrpSpPr>
              <p:cNvPr id="8" name="组合 7"/>
              <p:cNvGrpSpPr/>
              <p:nvPr/>
            </p:nvGrpSpPr>
            <p:grpSpPr>
              <a:xfrm flipH="1">
                <a:off x="6227002" y="1959133"/>
                <a:ext cx="2344372" cy="3851357"/>
                <a:chOff x="1374178" y="2523364"/>
                <a:chExt cx="2760036" cy="4523203"/>
              </a:xfrm>
              <a:effectLst>
                <a:outerShdw blurRad="431800" dist="190500" dir="2700000" sx="92000" sy="92000" algn="tl" rotWithShape="0">
                  <a:schemeClr val="accent2">
                    <a:lumMod val="75000"/>
                    <a:alpha val="15000"/>
                  </a:schemeClr>
                </a:outerShdw>
              </a:effectLst>
            </p:grpSpPr>
            <p:sp>
              <p:nvSpPr>
                <p:cNvPr id="38" name="任意多边形: 形状 37"/>
                <p:cNvSpPr/>
                <p:nvPr/>
              </p:nvSpPr>
              <p:spPr>
                <a:xfrm flipH="1">
                  <a:off x="3873087" y="2523364"/>
                  <a:ext cx="261127" cy="4523203"/>
                </a:xfrm>
                <a:custGeom>
                  <a:avLst/>
                  <a:gdLst>
                    <a:gd name="connsiteX0" fmla="*/ 261127 w 261127"/>
                    <a:gd name="connsiteY0" fmla="*/ 0 h 4296154"/>
                    <a:gd name="connsiteX1" fmla="*/ 205141 w 261127"/>
                    <a:gd name="connsiteY1" fmla="*/ 0 h 4296154"/>
                    <a:gd name="connsiteX2" fmla="*/ 0 w 261127"/>
                    <a:gd name="connsiteY2" fmla="*/ 205141 h 4296154"/>
                    <a:gd name="connsiteX3" fmla="*/ 0 w 261127"/>
                    <a:gd name="connsiteY3" fmla="*/ 4091013 h 4296154"/>
                    <a:gd name="connsiteX4" fmla="*/ 205141 w 261127"/>
                    <a:gd name="connsiteY4" fmla="*/ 4296154 h 4296154"/>
                    <a:gd name="connsiteX5" fmla="*/ 261127 w 261127"/>
                    <a:gd name="connsiteY5" fmla="*/ 4296154 h 4296154"/>
                    <a:gd name="connsiteX6" fmla="*/ 55986 w 261127"/>
                    <a:gd name="connsiteY6" fmla="*/ 4091013 h 4296154"/>
                    <a:gd name="connsiteX7" fmla="*/ 55986 w 261127"/>
                    <a:gd name="connsiteY7" fmla="*/ 205141 h 4296154"/>
                    <a:gd name="connsiteX8" fmla="*/ 261127 w 261127"/>
                    <a:gd name="connsiteY8" fmla="*/ 0 h 42961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61127" h="4296154">
                      <a:moveTo>
                        <a:pt x="261127" y="0"/>
                      </a:moveTo>
                      <a:lnTo>
                        <a:pt x="205141" y="0"/>
                      </a:lnTo>
                      <a:cubicBezTo>
                        <a:pt x="91845" y="0"/>
                        <a:pt x="0" y="91845"/>
                        <a:pt x="0" y="205141"/>
                      </a:cubicBezTo>
                      <a:lnTo>
                        <a:pt x="0" y="4091013"/>
                      </a:lnTo>
                      <a:cubicBezTo>
                        <a:pt x="0" y="4204309"/>
                        <a:pt x="91845" y="4296154"/>
                        <a:pt x="205141" y="4296154"/>
                      </a:cubicBezTo>
                      <a:lnTo>
                        <a:pt x="261127" y="4296154"/>
                      </a:lnTo>
                      <a:cubicBezTo>
                        <a:pt x="147831" y="4296154"/>
                        <a:pt x="55986" y="4204309"/>
                        <a:pt x="55986" y="4091013"/>
                      </a:cubicBezTo>
                      <a:lnTo>
                        <a:pt x="55986" y="205141"/>
                      </a:lnTo>
                      <a:cubicBezTo>
                        <a:pt x="55986" y="91845"/>
                        <a:pt x="147831" y="0"/>
                        <a:pt x="261127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2222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微软雅黑 Light" panose="020B0502040204020203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39" name="任意多边形: 形状 38"/>
                <p:cNvSpPr/>
                <p:nvPr/>
              </p:nvSpPr>
              <p:spPr>
                <a:xfrm>
                  <a:off x="1374178" y="2523364"/>
                  <a:ext cx="261127" cy="4523203"/>
                </a:xfrm>
                <a:custGeom>
                  <a:avLst/>
                  <a:gdLst>
                    <a:gd name="connsiteX0" fmla="*/ 261127 w 261127"/>
                    <a:gd name="connsiteY0" fmla="*/ 0 h 4296154"/>
                    <a:gd name="connsiteX1" fmla="*/ 205141 w 261127"/>
                    <a:gd name="connsiteY1" fmla="*/ 0 h 4296154"/>
                    <a:gd name="connsiteX2" fmla="*/ 0 w 261127"/>
                    <a:gd name="connsiteY2" fmla="*/ 205141 h 4296154"/>
                    <a:gd name="connsiteX3" fmla="*/ 0 w 261127"/>
                    <a:gd name="connsiteY3" fmla="*/ 4091013 h 4296154"/>
                    <a:gd name="connsiteX4" fmla="*/ 205141 w 261127"/>
                    <a:gd name="connsiteY4" fmla="*/ 4296154 h 4296154"/>
                    <a:gd name="connsiteX5" fmla="*/ 261127 w 261127"/>
                    <a:gd name="connsiteY5" fmla="*/ 4296154 h 4296154"/>
                    <a:gd name="connsiteX6" fmla="*/ 55986 w 261127"/>
                    <a:gd name="connsiteY6" fmla="*/ 4091013 h 4296154"/>
                    <a:gd name="connsiteX7" fmla="*/ 55986 w 261127"/>
                    <a:gd name="connsiteY7" fmla="*/ 205141 h 4296154"/>
                    <a:gd name="connsiteX8" fmla="*/ 261127 w 261127"/>
                    <a:gd name="connsiteY8" fmla="*/ 0 h 42961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61127" h="4296154">
                      <a:moveTo>
                        <a:pt x="261127" y="0"/>
                      </a:moveTo>
                      <a:lnTo>
                        <a:pt x="205141" y="0"/>
                      </a:lnTo>
                      <a:cubicBezTo>
                        <a:pt x="91845" y="0"/>
                        <a:pt x="0" y="91845"/>
                        <a:pt x="0" y="205141"/>
                      </a:cubicBezTo>
                      <a:lnTo>
                        <a:pt x="0" y="4091013"/>
                      </a:lnTo>
                      <a:cubicBezTo>
                        <a:pt x="0" y="4204309"/>
                        <a:pt x="91845" y="4296154"/>
                        <a:pt x="205141" y="4296154"/>
                      </a:cubicBezTo>
                      <a:lnTo>
                        <a:pt x="261127" y="4296154"/>
                      </a:lnTo>
                      <a:cubicBezTo>
                        <a:pt x="147831" y="4296154"/>
                        <a:pt x="55986" y="4204309"/>
                        <a:pt x="55986" y="4091013"/>
                      </a:cubicBezTo>
                      <a:lnTo>
                        <a:pt x="55986" y="205141"/>
                      </a:lnTo>
                      <a:cubicBezTo>
                        <a:pt x="55986" y="91845"/>
                        <a:pt x="147831" y="0"/>
                        <a:pt x="26112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2222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微软雅黑 Light" panose="020B0502040204020203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40" name="矩形: 圆角 39"/>
                <p:cNvSpPr/>
                <p:nvPr/>
              </p:nvSpPr>
              <p:spPr>
                <a:xfrm flipH="1">
                  <a:off x="1437642" y="2533524"/>
                  <a:ext cx="2633874" cy="4513043"/>
                </a:xfrm>
                <a:prstGeom prst="roundRect">
                  <a:avLst>
                    <a:gd name="adj" fmla="val 7507"/>
                  </a:avLst>
                </a:prstGeom>
                <a:solidFill>
                  <a:schemeClr val="bg1"/>
                </a:solidFill>
                <a:ln w="2222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微软雅黑 Light" panose="020B0502040204020203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41" name="矩形: 圆角 40"/>
                <p:cNvSpPr/>
                <p:nvPr/>
              </p:nvSpPr>
              <p:spPr>
                <a:xfrm flipH="1">
                  <a:off x="1415373" y="2533524"/>
                  <a:ext cx="2633874" cy="4513043"/>
                </a:xfrm>
                <a:prstGeom prst="roundRect">
                  <a:avLst>
                    <a:gd name="adj" fmla="val 7507"/>
                  </a:avLst>
                </a:prstGeom>
                <a:blipFill>
                  <a:blip r:embed="rId2" cstate="screen"/>
                  <a:stretch>
                    <a:fillRect/>
                  </a:stretch>
                </a:blipFill>
                <a:ln w="2222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微软雅黑 Light" panose="020B0502040204020203" pitchFamily="34" charset="-122"/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27" name="文本框 26"/>
              <p:cNvSpPr txBox="1"/>
              <p:nvPr/>
            </p:nvSpPr>
            <p:spPr>
              <a:xfrm>
                <a:off x="6342916" y="3186419"/>
                <a:ext cx="1925445" cy="1807014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</p:spPr>
            <p:txBody>
              <a:bodyPr wrap="square" lIns="0" tIns="0" rIns="0" bIns="0">
                <a:spAutoFit/>
              </a:bodyPr>
              <a:lstStyle/>
              <a:p>
                <a:pPr defTabSz="1422400">
                  <a:lnSpc>
                    <a:spcPct val="125000"/>
                  </a:lnSpc>
                  <a:spcBef>
                    <a:spcPct val="0"/>
                  </a:spcBef>
                  <a:defRPr/>
                </a:pPr>
                <a:r>
                  <a:rPr lang="zh-CN" altLang="en-US" sz="14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初期需</a:t>
                </a:r>
                <a:r>
                  <a:rPr lang="en-US" altLang="zh-CN" sz="14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 50 </a:t>
                </a:r>
                <a:r>
                  <a:rPr lang="zh-CN" altLang="en-US" sz="14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万元，用于研发、推广、技术薪酬等，重点投入服务器与认证服务采购</a:t>
                </a:r>
              </a:p>
            </p:txBody>
          </p:sp>
          <p:sp>
            <p:nvSpPr>
              <p:cNvPr id="28" name="文本框 27"/>
              <p:cNvSpPr txBox="1"/>
              <p:nvPr/>
            </p:nvSpPr>
            <p:spPr>
              <a:xfrm>
                <a:off x="6370222" y="2223591"/>
                <a:ext cx="2502388" cy="557234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</p:spPr>
            <p:txBody>
              <a:bodyPr vert="horz" wrap="square" lIns="0" tIns="0" rIns="0" bIns="0" rtlCol="0">
                <a:spAutoFit/>
              </a:bodyPr>
              <a:lstStyle>
                <a:defPPr>
                  <a:defRPr lang="zh-CN"/>
                </a:defPPr>
                <a:lvl1pPr indent="0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kumimoji="1" sz="3600">
                    <a:ln w="6350">
                      <a:noFill/>
                    </a:ln>
                    <a:gradFill flip="none" rotWithShape="1">
                      <a:gsLst>
                        <a:gs pos="0">
                          <a:schemeClr val="accent4"/>
                        </a:gs>
                        <a:gs pos="100000">
                          <a:schemeClr val="accent3"/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  <a:effectLst>
                      <a:outerShdw blurRad="177800" dist="127000" dir="2700000" sx="95000" sy="95000" algn="tl" rotWithShape="0">
                        <a:schemeClr val="accent3">
                          <a:lumMod val="75000"/>
                          <a:alpha val="35000"/>
                        </a:schemeClr>
                      </a:outerShdw>
                    </a:effectLst>
                    <a:latin typeface="锐字真言体免费商用" panose="02010600030101010101" pitchFamily="2" charset="-122"/>
                    <a:ea typeface="锐字真言体免费商用" panose="02010600030101010101" pitchFamily="2" charset="-122"/>
                  </a:defRPr>
                </a:lvl1pPr>
                <a:lvl2pPr indent="0" algn="ctr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/>
                </a:lvl2pPr>
                <a:lvl3pPr indent="0" algn="ctr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</a:lvl3pPr>
                <a:lvl4pPr indent="0" algn="ctr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/>
                </a:lvl4pPr>
                <a:lvl5pPr indent="0" algn="ctr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/>
                </a:lvl5pPr>
                <a:lvl6pPr indent="0" algn="ctr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/>
                </a:lvl6pPr>
                <a:lvl7pPr indent="0" algn="ctr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/>
                </a:lvl7pPr>
                <a:lvl8pPr indent="0" algn="ctr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/>
                </a:lvl8pPr>
                <a:lvl9pPr indent="0" algn="ctr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/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lang="zh-CN" altLang="en-US" sz="2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资金需求</a:t>
                </a:r>
              </a:p>
            </p:txBody>
          </p:sp>
          <p:cxnSp>
            <p:nvCxnSpPr>
              <p:cNvPr id="37" name="直接连接符 36"/>
              <p:cNvCxnSpPr/>
              <p:nvPr/>
            </p:nvCxnSpPr>
            <p:spPr>
              <a:xfrm>
                <a:off x="6416496" y="2752514"/>
                <a:ext cx="23774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组合 15"/>
            <p:cNvGrpSpPr/>
            <p:nvPr/>
          </p:nvGrpSpPr>
          <p:grpSpPr>
            <a:xfrm>
              <a:off x="8934753" y="1959133"/>
              <a:ext cx="2645608" cy="3851357"/>
              <a:chOff x="8934753" y="1959133"/>
              <a:chExt cx="2645608" cy="3851357"/>
            </a:xfrm>
          </p:grpSpPr>
          <p:grpSp>
            <p:nvGrpSpPr>
              <p:cNvPr id="17" name="组合 16"/>
              <p:cNvGrpSpPr/>
              <p:nvPr/>
            </p:nvGrpSpPr>
            <p:grpSpPr>
              <a:xfrm flipH="1">
                <a:off x="8934753" y="1959133"/>
                <a:ext cx="2344372" cy="3851357"/>
                <a:chOff x="1374178" y="2523364"/>
                <a:chExt cx="2760036" cy="4523203"/>
              </a:xfrm>
              <a:effectLst>
                <a:outerShdw blurRad="431800" dist="190500" dir="2700000" sx="92000" sy="92000" algn="tl" rotWithShape="0">
                  <a:schemeClr val="accent2">
                    <a:lumMod val="75000"/>
                    <a:alpha val="15000"/>
                  </a:schemeClr>
                </a:outerShdw>
              </a:effectLst>
            </p:grpSpPr>
            <p:sp>
              <p:nvSpPr>
                <p:cNvPr id="9" name="任意多边形: 形状 20"/>
                <p:cNvSpPr/>
                <p:nvPr/>
              </p:nvSpPr>
              <p:spPr>
                <a:xfrm flipH="1">
                  <a:off x="3873087" y="2523364"/>
                  <a:ext cx="261127" cy="4523203"/>
                </a:xfrm>
                <a:custGeom>
                  <a:avLst/>
                  <a:gdLst>
                    <a:gd name="connsiteX0" fmla="*/ 261127 w 261127"/>
                    <a:gd name="connsiteY0" fmla="*/ 0 h 4296154"/>
                    <a:gd name="connsiteX1" fmla="*/ 205141 w 261127"/>
                    <a:gd name="connsiteY1" fmla="*/ 0 h 4296154"/>
                    <a:gd name="connsiteX2" fmla="*/ 0 w 261127"/>
                    <a:gd name="connsiteY2" fmla="*/ 205141 h 4296154"/>
                    <a:gd name="connsiteX3" fmla="*/ 0 w 261127"/>
                    <a:gd name="connsiteY3" fmla="*/ 4091013 h 4296154"/>
                    <a:gd name="connsiteX4" fmla="*/ 205141 w 261127"/>
                    <a:gd name="connsiteY4" fmla="*/ 4296154 h 4296154"/>
                    <a:gd name="connsiteX5" fmla="*/ 261127 w 261127"/>
                    <a:gd name="connsiteY5" fmla="*/ 4296154 h 4296154"/>
                    <a:gd name="connsiteX6" fmla="*/ 55986 w 261127"/>
                    <a:gd name="connsiteY6" fmla="*/ 4091013 h 4296154"/>
                    <a:gd name="connsiteX7" fmla="*/ 55986 w 261127"/>
                    <a:gd name="connsiteY7" fmla="*/ 205141 h 4296154"/>
                    <a:gd name="connsiteX8" fmla="*/ 261127 w 261127"/>
                    <a:gd name="connsiteY8" fmla="*/ 0 h 42961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61127" h="4296154">
                      <a:moveTo>
                        <a:pt x="261127" y="0"/>
                      </a:moveTo>
                      <a:lnTo>
                        <a:pt x="205141" y="0"/>
                      </a:lnTo>
                      <a:cubicBezTo>
                        <a:pt x="91845" y="0"/>
                        <a:pt x="0" y="91845"/>
                        <a:pt x="0" y="205141"/>
                      </a:cubicBezTo>
                      <a:lnTo>
                        <a:pt x="0" y="4091013"/>
                      </a:lnTo>
                      <a:cubicBezTo>
                        <a:pt x="0" y="4204309"/>
                        <a:pt x="91845" y="4296154"/>
                        <a:pt x="205141" y="4296154"/>
                      </a:cubicBezTo>
                      <a:lnTo>
                        <a:pt x="261127" y="4296154"/>
                      </a:lnTo>
                      <a:cubicBezTo>
                        <a:pt x="147831" y="4296154"/>
                        <a:pt x="55986" y="4204309"/>
                        <a:pt x="55986" y="4091013"/>
                      </a:cubicBezTo>
                      <a:lnTo>
                        <a:pt x="55986" y="205141"/>
                      </a:lnTo>
                      <a:cubicBezTo>
                        <a:pt x="55986" y="91845"/>
                        <a:pt x="147831" y="0"/>
                        <a:pt x="261127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2222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微软雅黑 Light" panose="020B0502040204020203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22" name="任意多边形: 形状 21"/>
                <p:cNvSpPr/>
                <p:nvPr/>
              </p:nvSpPr>
              <p:spPr>
                <a:xfrm>
                  <a:off x="1374178" y="2523364"/>
                  <a:ext cx="261127" cy="4523203"/>
                </a:xfrm>
                <a:custGeom>
                  <a:avLst/>
                  <a:gdLst>
                    <a:gd name="connsiteX0" fmla="*/ 261127 w 261127"/>
                    <a:gd name="connsiteY0" fmla="*/ 0 h 4296154"/>
                    <a:gd name="connsiteX1" fmla="*/ 205141 w 261127"/>
                    <a:gd name="connsiteY1" fmla="*/ 0 h 4296154"/>
                    <a:gd name="connsiteX2" fmla="*/ 0 w 261127"/>
                    <a:gd name="connsiteY2" fmla="*/ 205141 h 4296154"/>
                    <a:gd name="connsiteX3" fmla="*/ 0 w 261127"/>
                    <a:gd name="connsiteY3" fmla="*/ 4091013 h 4296154"/>
                    <a:gd name="connsiteX4" fmla="*/ 205141 w 261127"/>
                    <a:gd name="connsiteY4" fmla="*/ 4296154 h 4296154"/>
                    <a:gd name="connsiteX5" fmla="*/ 261127 w 261127"/>
                    <a:gd name="connsiteY5" fmla="*/ 4296154 h 4296154"/>
                    <a:gd name="connsiteX6" fmla="*/ 55986 w 261127"/>
                    <a:gd name="connsiteY6" fmla="*/ 4091013 h 4296154"/>
                    <a:gd name="connsiteX7" fmla="*/ 55986 w 261127"/>
                    <a:gd name="connsiteY7" fmla="*/ 205141 h 4296154"/>
                    <a:gd name="connsiteX8" fmla="*/ 261127 w 261127"/>
                    <a:gd name="connsiteY8" fmla="*/ 0 h 42961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61127" h="4296154">
                      <a:moveTo>
                        <a:pt x="261127" y="0"/>
                      </a:moveTo>
                      <a:lnTo>
                        <a:pt x="205141" y="0"/>
                      </a:lnTo>
                      <a:cubicBezTo>
                        <a:pt x="91845" y="0"/>
                        <a:pt x="0" y="91845"/>
                        <a:pt x="0" y="205141"/>
                      </a:cubicBezTo>
                      <a:lnTo>
                        <a:pt x="0" y="4091013"/>
                      </a:lnTo>
                      <a:cubicBezTo>
                        <a:pt x="0" y="4204309"/>
                        <a:pt x="91845" y="4296154"/>
                        <a:pt x="205141" y="4296154"/>
                      </a:cubicBezTo>
                      <a:lnTo>
                        <a:pt x="261127" y="4296154"/>
                      </a:lnTo>
                      <a:cubicBezTo>
                        <a:pt x="147831" y="4296154"/>
                        <a:pt x="55986" y="4204309"/>
                        <a:pt x="55986" y="4091013"/>
                      </a:cubicBezTo>
                      <a:lnTo>
                        <a:pt x="55986" y="205141"/>
                      </a:lnTo>
                      <a:cubicBezTo>
                        <a:pt x="55986" y="91845"/>
                        <a:pt x="147831" y="0"/>
                        <a:pt x="26112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2222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微软雅黑 Light" panose="020B0502040204020203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23" name="矩形: 圆角 22"/>
                <p:cNvSpPr/>
                <p:nvPr/>
              </p:nvSpPr>
              <p:spPr>
                <a:xfrm flipH="1">
                  <a:off x="1437642" y="2533524"/>
                  <a:ext cx="2633874" cy="4513043"/>
                </a:xfrm>
                <a:prstGeom prst="roundRect">
                  <a:avLst>
                    <a:gd name="adj" fmla="val 7507"/>
                  </a:avLst>
                </a:prstGeom>
                <a:solidFill>
                  <a:schemeClr val="bg1"/>
                </a:solidFill>
                <a:ln w="2222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微软雅黑 Light" panose="020B0502040204020203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24" name="矩形: 圆角 23"/>
                <p:cNvSpPr/>
                <p:nvPr/>
              </p:nvSpPr>
              <p:spPr>
                <a:xfrm flipH="1">
                  <a:off x="1437642" y="2533524"/>
                  <a:ext cx="2633874" cy="4513043"/>
                </a:xfrm>
                <a:prstGeom prst="roundRect">
                  <a:avLst>
                    <a:gd name="adj" fmla="val 7507"/>
                  </a:avLst>
                </a:prstGeom>
                <a:blipFill>
                  <a:blip r:embed="rId2" cstate="screen"/>
                  <a:stretch>
                    <a:fillRect/>
                  </a:stretch>
                </a:blipFill>
                <a:ln w="2222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微软雅黑 Light" panose="020B0502040204020203" pitchFamily="34" charset="-122"/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19" name="文本框 18"/>
              <p:cNvSpPr txBox="1"/>
              <p:nvPr/>
            </p:nvSpPr>
            <p:spPr>
              <a:xfrm>
                <a:off x="9077973" y="2927515"/>
                <a:ext cx="2076496" cy="2710520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</p:spPr>
            <p:txBody>
              <a:bodyPr wrap="square" lIns="0" tIns="0" rIns="0" bIns="0">
                <a:spAutoFit/>
              </a:bodyPr>
              <a:lstStyle/>
              <a:p>
                <a:pPr defTabSz="1422400">
                  <a:lnSpc>
                    <a:spcPct val="125000"/>
                  </a:lnSpc>
                  <a:spcBef>
                    <a:spcPct val="0"/>
                  </a:spcBef>
                  <a:defRPr/>
                </a:pPr>
                <a:r>
                  <a:rPr lang="zh-CN" altLang="en-US" sz="14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预计</a:t>
                </a:r>
                <a:r>
                  <a:rPr lang="en-US" altLang="zh-CN" sz="14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 2-2.5 </a:t>
                </a:r>
                <a:r>
                  <a:rPr lang="zh-CN" altLang="en-US" sz="14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年收回投资，首年战略亏损</a:t>
                </a:r>
                <a:r>
                  <a:rPr lang="en-US" altLang="zh-CN" sz="14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 20 </a:t>
                </a:r>
                <a:r>
                  <a:rPr lang="zh-CN" altLang="en-US" sz="14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万元，次年实现</a:t>
                </a:r>
                <a:r>
                  <a:rPr lang="en-US" altLang="zh-CN" sz="14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 30 </a:t>
                </a:r>
                <a:r>
                  <a:rPr lang="zh-CN" altLang="en-US" sz="14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万元净利润，按</a:t>
                </a:r>
                <a:r>
                  <a:rPr lang="en-US" altLang="zh-CN" sz="14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 10% </a:t>
                </a:r>
                <a:r>
                  <a:rPr lang="zh-CN" altLang="en-US" sz="14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贴现率计算三年累计净现值约</a:t>
                </a:r>
                <a:r>
                  <a:rPr lang="en-US" altLang="zh-CN" sz="14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 85 </a:t>
                </a:r>
                <a:r>
                  <a:rPr lang="zh-CN" altLang="en-US" sz="14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万元，内部收益率</a:t>
                </a:r>
                <a:r>
                  <a:rPr lang="en-US" altLang="zh-CN" sz="14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 25%-35%</a:t>
                </a:r>
                <a:r>
                  <a:rPr lang="zh-CN" altLang="en-US" sz="14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；</a:t>
                </a:r>
              </a:p>
            </p:txBody>
          </p:sp>
          <p:sp>
            <p:nvSpPr>
              <p:cNvPr id="10" name="文本框 9"/>
              <p:cNvSpPr txBox="1"/>
              <p:nvPr/>
            </p:nvSpPr>
            <p:spPr>
              <a:xfrm>
                <a:off x="9077973" y="2223591"/>
                <a:ext cx="2502388" cy="557234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</p:spPr>
            <p:txBody>
              <a:bodyPr vert="horz" wrap="square" lIns="0" tIns="0" rIns="0" bIns="0" rtlCol="0">
                <a:spAutoFit/>
              </a:bodyPr>
              <a:lstStyle>
                <a:defPPr>
                  <a:defRPr lang="zh-CN"/>
                </a:defPPr>
                <a:lvl1pPr indent="0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kumimoji="1" sz="3600">
                    <a:ln w="6350">
                      <a:noFill/>
                    </a:ln>
                    <a:gradFill flip="none" rotWithShape="1">
                      <a:gsLst>
                        <a:gs pos="0">
                          <a:schemeClr val="accent4"/>
                        </a:gs>
                        <a:gs pos="100000">
                          <a:schemeClr val="accent3"/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  <a:effectLst>
                      <a:outerShdw blurRad="177800" dist="127000" dir="2700000" sx="95000" sy="95000" algn="tl" rotWithShape="0">
                        <a:schemeClr val="accent3">
                          <a:lumMod val="75000"/>
                          <a:alpha val="35000"/>
                        </a:schemeClr>
                      </a:outerShdw>
                    </a:effectLst>
                    <a:latin typeface="锐字真言体免费商用" panose="02010600030101010101" pitchFamily="2" charset="-122"/>
                    <a:ea typeface="锐字真言体免费商用" panose="02010600030101010101" pitchFamily="2" charset="-122"/>
                  </a:defRPr>
                </a:lvl1pPr>
                <a:lvl2pPr indent="0" algn="ctr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/>
                </a:lvl2pPr>
                <a:lvl3pPr indent="0" algn="ctr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</a:lvl3pPr>
                <a:lvl4pPr indent="0" algn="ctr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/>
                </a:lvl4pPr>
                <a:lvl5pPr indent="0" algn="ctr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/>
                </a:lvl5pPr>
                <a:lvl6pPr indent="0" algn="ctr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/>
                </a:lvl6pPr>
                <a:lvl7pPr indent="0" algn="ctr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/>
                </a:lvl7pPr>
                <a:lvl8pPr indent="0" algn="ctr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/>
                </a:lvl8pPr>
                <a:lvl9pPr indent="0" algn="ctr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/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lang="zh-CN" altLang="en-US" sz="2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收益预期</a:t>
                </a:r>
              </a:p>
            </p:txBody>
          </p:sp>
        </p:grpSp>
      </p:grpSp>
      <p:sp>
        <p:nvSpPr>
          <p:cNvPr id="11" name="文本框 10"/>
          <p:cNvSpPr txBox="1"/>
          <p:nvPr/>
        </p:nvSpPr>
        <p:spPr>
          <a:xfrm>
            <a:off x="4460240" y="2141220"/>
            <a:ext cx="309816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 b="1"/>
              <a:t>主要技术经济指标</a:t>
            </a:r>
          </a:p>
        </p:txBody>
      </p:sp>
      <p:sp>
        <p:nvSpPr>
          <p:cNvPr id="60" name="标题 1">
            <a:extLst>
              <a:ext uri="{FF2B5EF4-FFF2-40B4-BE49-F238E27FC236}">
                <a16:creationId xmlns:a16="http://schemas.microsoft.com/office/drawing/2014/main" id="{4638F7DF-9B4D-4B88-BD8F-9B81FC901DB6}"/>
              </a:ext>
            </a:extLst>
          </p:cNvPr>
          <p:cNvSpPr>
            <a:spLocks noGrp="1"/>
          </p:cNvSpPr>
          <p:nvPr/>
        </p:nvSpPr>
        <p:spPr>
          <a:xfrm>
            <a:off x="838200" y="1068398"/>
            <a:ext cx="10515600" cy="516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u"/>
              <a:defRPr sz="28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蓝桥校园</a:t>
            </a:r>
            <a:r>
              <a:rPr lang="en-US" altLang="zh-CN" dirty="0"/>
              <a:t>——</a:t>
            </a:r>
            <a:r>
              <a:rPr lang="zh-CN" altLang="en-US" dirty="0"/>
              <a:t>深度融合智慧校园生态的</a:t>
            </a:r>
            <a:r>
              <a:rPr lang="en-US" altLang="zh-CN" dirty="0"/>
              <a:t>AI</a:t>
            </a:r>
            <a:r>
              <a:rPr lang="zh-CN" altLang="en-US" dirty="0"/>
              <a:t>恋爱社交平台</a:t>
            </a:r>
          </a:p>
        </p:txBody>
      </p:sp>
    </p:spTree>
    <p:extLst>
      <p:ext uri="{BB962C8B-B14F-4D97-AF65-F5344CB8AC3E}">
        <p14:creationId xmlns:p14="http://schemas.microsoft.com/office/powerpoint/2010/main" val="1953813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4E30-715F-4973-8179-B4178D7E09F0}" type="datetime1">
              <a:rPr lang="zh-CN" altLang="en-US" smtClean="0"/>
              <a:t>2025/11/6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  <a:t>4</a:t>
            </a:fld>
            <a:endParaRPr lang="zh-CN" altLang="en-US" dirty="0"/>
          </a:p>
        </p:txBody>
      </p:sp>
      <p:pic>
        <p:nvPicPr>
          <p:cNvPr id="9" name="图片占位符 42"/>
          <p:cNvPicPr>
            <a:picLocks noGrp="1" noChangeAspect="1"/>
          </p:cNvPicPr>
          <p:nvPr/>
        </p:nvPicPr>
        <p:blipFill>
          <a:blip r:embed="rId2" cstate="screen"/>
          <a:srcRect/>
          <a:stretch>
            <a:fillRect/>
          </a:stretch>
        </p:blipFill>
        <p:spPr>
          <a:xfrm>
            <a:off x="760311" y="2395646"/>
            <a:ext cx="2859992" cy="1906900"/>
          </a:xfrm>
          <a:custGeom>
            <a:avLst/>
            <a:gdLst>
              <a:gd name="connsiteX0" fmla="*/ 0 w 2972256"/>
              <a:gd name="connsiteY0" fmla="*/ 0 h 2446480"/>
              <a:gd name="connsiteX1" fmla="*/ 2972256 w 2972256"/>
              <a:gd name="connsiteY1" fmla="*/ 0 h 2446480"/>
              <a:gd name="connsiteX2" fmla="*/ 2972256 w 2972256"/>
              <a:gd name="connsiteY2" fmla="*/ 2446480 h 2446480"/>
              <a:gd name="connsiteX3" fmla="*/ 0 w 2972256"/>
              <a:gd name="connsiteY3" fmla="*/ 2446480 h 2446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72256" h="2446480">
                <a:moveTo>
                  <a:pt x="0" y="0"/>
                </a:moveTo>
                <a:lnTo>
                  <a:pt x="2972256" y="0"/>
                </a:lnTo>
                <a:lnTo>
                  <a:pt x="2972256" y="2446480"/>
                </a:lnTo>
                <a:lnTo>
                  <a:pt x="0" y="2446480"/>
                </a:lnTo>
                <a:close/>
              </a:path>
            </a:pathLst>
          </a:cu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10" name="图片占位符 46"/>
          <p:cNvPicPr>
            <a:picLocks noGrp="1" noChangeAspect="1"/>
          </p:cNvPicPr>
          <p:nvPr/>
        </p:nvPicPr>
        <p:blipFill>
          <a:blip r:embed="rId3" cstate="screen"/>
          <a:srcRect/>
          <a:stretch>
            <a:fillRect/>
          </a:stretch>
        </p:blipFill>
        <p:spPr>
          <a:xfrm>
            <a:off x="4658480" y="2395646"/>
            <a:ext cx="2875040" cy="1916853"/>
          </a:xfrm>
          <a:custGeom>
            <a:avLst/>
            <a:gdLst>
              <a:gd name="connsiteX0" fmla="*/ 0 w 2972256"/>
              <a:gd name="connsiteY0" fmla="*/ 0 h 2446480"/>
              <a:gd name="connsiteX1" fmla="*/ 2972256 w 2972256"/>
              <a:gd name="connsiteY1" fmla="*/ 0 h 2446480"/>
              <a:gd name="connsiteX2" fmla="*/ 2972256 w 2972256"/>
              <a:gd name="connsiteY2" fmla="*/ 2446480 h 2446480"/>
              <a:gd name="connsiteX3" fmla="*/ 0 w 2972256"/>
              <a:gd name="connsiteY3" fmla="*/ 2446480 h 2446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72256" h="2446480">
                <a:moveTo>
                  <a:pt x="0" y="0"/>
                </a:moveTo>
                <a:lnTo>
                  <a:pt x="2972256" y="0"/>
                </a:lnTo>
                <a:lnTo>
                  <a:pt x="2972256" y="2446480"/>
                </a:lnTo>
                <a:lnTo>
                  <a:pt x="0" y="2446480"/>
                </a:lnTo>
                <a:close/>
              </a:path>
            </a:pathLst>
          </a:cu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11" name="图片占位符 44"/>
          <p:cNvPicPr>
            <a:picLocks noGrp="1" noChangeAspect="1"/>
          </p:cNvPicPr>
          <p:nvPr/>
        </p:nvPicPr>
        <p:blipFill rotWithShape="1">
          <a:blip r:embed="rId4" cstate="screen"/>
          <a:srcRect/>
          <a:stretch>
            <a:fillRect/>
          </a:stretch>
        </p:blipFill>
        <p:spPr>
          <a:xfrm>
            <a:off x="8552025" y="2395646"/>
            <a:ext cx="2860350" cy="1906900"/>
          </a:xfrm>
          <a:custGeom>
            <a:avLst/>
            <a:gdLst>
              <a:gd name="connsiteX0" fmla="*/ 0 w 2972256"/>
              <a:gd name="connsiteY0" fmla="*/ 0 h 2446480"/>
              <a:gd name="connsiteX1" fmla="*/ 2972256 w 2972256"/>
              <a:gd name="connsiteY1" fmla="*/ 0 h 2446480"/>
              <a:gd name="connsiteX2" fmla="*/ 2972256 w 2972256"/>
              <a:gd name="connsiteY2" fmla="*/ 2446480 h 2446480"/>
              <a:gd name="connsiteX3" fmla="*/ 0 w 2972256"/>
              <a:gd name="connsiteY3" fmla="*/ 2446480 h 2446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72256" h="2446480">
                <a:moveTo>
                  <a:pt x="0" y="0"/>
                </a:moveTo>
                <a:lnTo>
                  <a:pt x="2972256" y="0"/>
                </a:lnTo>
                <a:lnTo>
                  <a:pt x="2972256" y="2446480"/>
                </a:lnTo>
                <a:lnTo>
                  <a:pt x="0" y="2446480"/>
                </a:lnTo>
                <a:close/>
              </a:path>
            </a:pathLst>
          </a:cu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2" name="Rectangle: Folded Corner 1"/>
          <p:cNvSpPr/>
          <p:nvPr/>
        </p:nvSpPr>
        <p:spPr>
          <a:xfrm>
            <a:off x="2614255" y="4023887"/>
            <a:ext cx="678587" cy="735933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17" name="Rectangle: Folded Corner 2"/>
          <p:cNvSpPr/>
          <p:nvPr/>
        </p:nvSpPr>
        <p:spPr>
          <a:xfrm>
            <a:off x="6527173" y="4009569"/>
            <a:ext cx="678587" cy="735933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18" name="Rectangle: Folded Corner 3"/>
          <p:cNvSpPr/>
          <p:nvPr/>
        </p:nvSpPr>
        <p:spPr>
          <a:xfrm>
            <a:off x="10412339" y="4014325"/>
            <a:ext cx="678587" cy="735933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19" name="Freeform: Shape 11"/>
          <p:cNvSpPr/>
          <p:nvPr/>
        </p:nvSpPr>
        <p:spPr bwMode="auto">
          <a:xfrm>
            <a:off x="10542659" y="4178230"/>
            <a:ext cx="408116" cy="408116"/>
          </a:xfrm>
          <a:custGeom>
            <a:avLst/>
            <a:gdLst>
              <a:gd name="T0" fmla="*/ 74 w 236"/>
              <a:gd name="T1" fmla="*/ 160 h 236"/>
              <a:gd name="T2" fmla="*/ 93 w 236"/>
              <a:gd name="T3" fmla="*/ 160 h 236"/>
              <a:gd name="T4" fmla="*/ 93 w 236"/>
              <a:gd name="T5" fmla="*/ 103 h 236"/>
              <a:gd name="T6" fmla="*/ 74 w 236"/>
              <a:gd name="T7" fmla="*/ 103 h 236"/>
              <a:gd name="T8" fmla="*/ 74 w 236"/>
              <a:gd name="T9" fmla="*/ 160 h 236"/>
              <a:gd name="T10" fmla="*/ 140 w 236"/>
              <a:gd name="T11" fmla="*/ 102 h 236"/>
              <a:gd name="T12" fmla="*/ 122 w 236"/>
              <a:gd name="T13" fmla="*/ 111 h 236"/>
              <a:gd name="T14" fmla="*/ 122 w 236"/>
              <a:gd name="T15" fmla="*/ 103 h 236"/>
              <a:gd name="T16" fmla="*/ 103 w 236"/>
              <a:gd name="T17" fmla="*/ 103 h 236"/>
              <a:gd name="T18" fmla="*/ 103 w 236"/>
              <a:gd name="T19" fmla="*/ 160 h 236"/>
              <a:gd name="T20" fmla="*/ 122 w 236"/>
              <a:gd name="T21" fmla="*/ 160 h 236"/>
              <a:gd name="T22" fmla="*/ 122 w 236"/>
              <a:gd name="T23" fmla="*/ 128 h 236"/>
              <a:gd name="T24" fmla="*/ 123 w 236"/>
              <a:gd name="T25" fmla="*/ 124 h 236"/>
              <a:gd name="T26" fmla="*/ 133 w 236"/>
              <a:gd name="T27" fmla="*/ 117 h 236"/>
              <a:gd name="T28" fmla="*/ 142 w 236"/>
              <a:gd name="T29" fmla="*/ 130 h 236"/>
              <a:gd name="T30" fmla="*/ 142 w 236"/>
              <a:gd name="T31" fmla="*/ 160 h 236"/>
              <a:gd name="T32" fmla="*/ 161 w 236"/>
              <a:gd name="T33" fmla="*/ 160 h 236"/>
              <a:gd name="T34" fmla="*/ 161 w 236"/>
              <a:gd name="T35" fmla="*/ 160 h 236"/>
              <a:gd name="T36" fmla="*/ 161 w 236"/>
              <a:gd name="T37" fmla="*/ 127 h 236"/>
              <a:gd name="T38" fmla="*/ 140 w 236"/>
              <a:gd name="T39" fmla="*/ 102 h 236"/>
              <a:gd name="T40" fmla="*/ 122 w 236"/>
              <a:gd name="T41" fmla="*/ 111 h 236"/>
              <a:gd name="T42" fmla="*/ 122 w 236"/>
              <a:gd name="T43" fmla="*/ 111 h 236"/>
              <a:gd name="T44" fmla="*/ 122 w 236"/>
              <a:gd name="T45" fmla="*/ 111 h 236"/>
              <a:gd name="T46" fmla="*/ 83 w 236"/>
              <a:gd name="T47" fmla="*/ 75 h 236"/>
              <a:gd name="T48" fmla="*/ 73 w 236"/>
              <a:gd name="T49" fmla="*/ 85 h 236"/>
              <a:gd name="T50" fmla="*/ 83 w 236"/>
              <a:gd name="T51" fmla="*/ 95 h 236"/>
              <a:gd name="T52" fmla="*/ 83 w 236"/>
              <a:gd name="T53" fmla="*/ 95 h 236"/>
              <a:gd name="T54" fmla="*/ 94 w 236"/>
              <a:gd name="T55" fmla="*/ 85 h 236"/>
              <a:gd name="T56" fmla="*/ 83 w 236"/>
              <a:gd name="T57" fmla="*/ 75 h 236"/>
              <a:gd name="T58" fmla="*/ 118 w 236"/>
              <a:gd name="T59" fmla="*/ 0 h 236"/>
              <a:gd name="T60" fmla="*/ 0 w 236"/>
              <a:gd name="T61" fmla="*/ 118 h 236"/>
              <a:gd name="T62" fmla="*/ 118 w 236"/>
              <a:gd name="T63" fmla="*/ 236 h 236"/>
              <a:gd name="T64" fmla="*/ 236 w 236"/>
              <a:gd name="T65" fmla="*/ 118 h 236"/>
              <a:gd name="T66" fmla="*/ 118 w 236"/>
              <a:gd name="T67" fmla="*/ 0 h 236"/>
              <a:gd name="T68" fmla="*/ 181 w 236"/>
              <a:gd name="T69" fmla="*/ 172 h 236"/>
              <a:gd name="T70" fmla="*/ 171 w 236"/>
              <a:gd name="T71" fmla="*/ 181 h 236"/>
              <a:gd name="T72" fmla="*/ 64 w 236"/>
              <a:gd name="T73" fmla="*/ 181 h 236"/>
              <a:gd name="T74" fmla="*/ 55 w 236"/>
              <a:gd name="T75" fmla="*/ 172 h 236"/>
              <a:gd name="T76" fmla="*/ 55 w 236"/>
              <a:gd name="T77" fmla="*/ 63 h 236"/>
              <a:gd name="T78" fmla="*/ 64 w 236"/>
              <a:gd name="T79" fmla="*/ 54 h 236"/>
              <a:gd name="T80" fmla="*/ 171 w 236"/>
              <a:gd name="T81" fmla="*/ 54 h 236"/>
              <a:gd name="T82" fmla="*/ 181 w 236"/>
              <a:gd name="T83" fmla="*/ 63 h 236"/>
              <a:gd name="T84" fmla="*/ 181 w 236"/>
              <a:gd name="T85" fmla="*/ 172 h 2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236" h="236">
                <a:moveTo>
                  <a:pt x="74" y="160"/>
                </a:moveTo>
                <a:cubicBezTo>
                  <a:pt x="93" y="160"/>
                  <a:pt x="93" y="160"/>
                  <a:pt x="93" y="160"/>
                </a:cubicBezTo>
                <a:cubicBezTo>
                  <a:pt x="93" y="103"/>
                  <a:pt x="93" y="103"/>
                  <a:pt x="93" y="103"/>
                </a:cubicBezTo>
                <a:cubicBezTo>
                  <a:pt x="74" y="103"/>
                  <a:pt x="74" y="103"/>
                  <a:pt x="74" y="103"/>
                </a:cubicBezTo>
                <a:lnTo>
                  <a:pt x="74" y="160"/>
                </a:lnTo>
                <a:close/>
                <a:moveTo>
                  <a:pt x="140" y="102"/>
                </a:moveTo>
                <a:cubicBezTo>
                  <a:pt x="129" y="102"/>
                  <a:pt x="125" y="107"/>
                  <a:pt x="122" y="111"/>
                </a:cubicBezTo>
                <a:cubicBezTo>
                  <a:pt x="122" y="103"/>
                  <a:pt x="122" y="103"/>
                  <a:pt x="122" y="103"/>
                </a:cubicBezTo>
                <a:cubicBezTo>
                  <a:pt x="103" y="103"/>
                  <a:pt x="103" y="103"/>
                  <a:pt x="103" y="103"/>
                </a:cubicBezTo>
                <a:cubicBezTo>
                  <a:pt x="104" y="108"/>
                  <a:pt x="103" y="160"/>
                  <a:pt x="103" y="160"/>
                </a:cubicBezTo>
                <a:cubicBezTo>
                  <a:pt x="122" y="160"/>
                  <a:pt x="122" y="160"/>
                  <a:pt x="122" y="160"/>
                </a:cubicBezTo>
                <a:cubicBezTo>
                  <a:pt x="122" y="128"/>
                  <a:pt x="122" y="128"/>
                  <a:pt x="122" y="128"/>
                </a:cubicBezTo>
                <a:cubicBezTo>
                  <a:pt x="122" y="127"/>
                  <a:pt x="123" y="125"/>
                  <a:pt x="123" y="124"/>
                </a:cubicBezTo>
                <a:cubicBezTo>
                  <a:pt x="124" y="120"/>
                  <a:pt x="128" y="117"/>
                  <a:pt x="133" y="117"/>
                </a:cubicBezTo>
                <a:cubicBezTo>
                  <a:pt x="140" y="117"/>
                  <a:pt x="142" y="122"/>
                  <a:pt x="142" y="130"/>
                </a:cubicBezTo>
                <a:cubicBezTo>
                  <a:pt x="142" y="160"/>
                  <a:pt x="142" y="160"/>
                  <a:pt x="142" y="160"/>
                </a:cubicBezTo>
                <a:cubicBezTo>
                  <a:pt x="161" y="160"/>
                  <a:pt x="161" y="160"/>
                  <a:pt x="161" y="160"/>
                </a:cubicBezTo>
                <a:cubicBezTo>
                  <a:pt x="161" y="160"/>
                  <a:pt x="161" y="160"/>
                  <a:pt x="161" y="160"/>
                </a:cubicBezTo>
                <a:cubicBezTo>
                  <a:pt x="161" y="127"/>
                  <a:pt x="161" y="127"/>
                  <a:pt x="161" y="127"/>
                </a:cubicBezTo>
                <a:cubicBezTo>
                  <a:pt x="161" y="110"/>
                  <a:pt x="152" y="102"/>
                  <a:pt x="140" y="102"/>
                </a:cubicBezTo>
                <a:close/>
                <a:moveTo>
                  <a:pt x="122" y="111"/>
                </a:moveTo>
                <a:cubicBezTo>
                  <a:pt x="122" y="111"/>
                  <a:pt x="122" y="111"/>
                  <a:pt x="122" y="111"/>
                </a:cubicBezTo>
                <a:cubicBezTo>
                  <a:pt x="122" y="111"/>
                  <a:pt x="122" y="111"/>
                  <a:pt x="122" y="111"/>
                </a:cubicBezTo>
                <a:close/>
                <a:moveTo>
                  <a:pt x="83" y="75"/>
                </a:moveTo>
                <a:cubicBezTo>
                  <a:pt x="77" y="75"/>
                  <a:pt x="73" y="80"/>
                  <a:pt x="73" y="85"/>
                </a:cubicBezTo>
                <a:cubicBezTo>
                  <a:pt x="73" y="91"/>
                  <a:pt x="77" y="95"/>
                  <a:pt x="83" y="95"/>
                </a:cubicBezTo>
                <a:cubicBezTo>
                  <a:pt x="83" y="95"/>
                  <a:pt x="83" y="95"/>
                  <a:pt x="83" y="95"/>
                </a:cubicBezTo>
                <a:cubicBezTo>
                  <a:pt x="90" y="95"/>
                  <a:pt x="94" y="91"/>
                  <a:pt x="94" y="85"/>
                </a:cubicBezTo>
                <a:cubicBezTo>
                  <a:pt x="94" y="80"/>
                  <a:pt x="90" y="75"/>
                  <a:pt x="83" y="75"/>
                </a:cubicBezTo>
                <a:close/>
                <a:moveTo>
                  <a:pt x="118" y="0"/>
                </a:moveTo>
                <a:cubicBezTo>
                  <a:pt x="53" y="0"/>
                  <a:pt x="0" y="53"/>
                  <a:pt x="0" y="118"/>
                </a:cubicBezTo>
                <a:cubicBezTo>
                  <a:pt x="0" y="183"/>
                  <a:pt x="53" y="236"/>
                  <a:pt x="118" y="236"/>
                </a:cubicBezTo>
                <a:cubicBezTo>
                  <a:pt x="183" y="236"/>
                  <a:pt x="236" y="183"/>
                  <a:pt x="236" y="118"/>
                </a:cubicBezTo>
                <a:cubicBezTo>
                  <a:pt x="236" y="53"/>
                  <a:pt x="183" y="0"/>
                  <a:pt x="118" y="0"/>
                </a:cubicBezTo>
                <a:close/>
                <a:moveTo>
                  <a:pt x="181" y="172"/>
                </a:moveTo>
                <a:cubicBezTo>
                  <a:pt x="181" y="177"/>
                  <a:pt x="176" y="181"/>
                  <a:pt x="171" y="181"/>
                </a:cubicBezTo>
                <a:cubicBezTo>
                  <a:pt x="64" y="181"/>
                  <a:pt x="64" y="181"/>
                  <a:pt x="64" y="181"/>
                </a:cubicBezTo>
                <a:cubicBezTo>
                  <a:pt x="59" y="181"/>
                  <a:pt x="55" y="177"/>
                  <a:pt x="55" y="172"/>
                </a:cubicBezTo>
                <a:cubicBezTo>
                  <a:pt x="55" y="63"/>
                  <a:pt x="55" y="63"/>
                  <a:pt x="55" y="63"/>
                </a:cubicBezTo>
                <a:cubicBezTo>
                  <a:pt x="55" y="58"/>
                  <a:pt x="59" y="54"/>
                  <a:pt x="64" y="54"/>
                </a:cubicBezTo>
                <a:cubicBezTo>
                  <a:pt x="171" y="54"/>
                  <a:pt x="171" y="54"/>
                  <a:pt x="171" y="54"/>
                </a:cubicBezTo>
                <a:cubicBezTo>
                  <a:pt x="176" y="54"/>
                  <a:pt x="181" y="58"/>
                  <a:pt x="181" y="63"/>
                </a:cubicBezTo>
                <a:cubicBezTo>
                  <a:pt x="181" y="172"/>
                  <a:pt x="181" y="172"/>
                  <a:pt x="181" y="17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20" name="Freeform: Shape 12"/>
          <p:cNvSpPr/>
          <p:nvPr/>
        </p:nvSpPr>
        <p:spPr bwMode="auto">
          <a:xfrm>
            <a:off x="6662402" y="4163916"/>
            <a:ext cx="408116" cy="408116"/>
          </a:xfrm>
          <a:custGeom>
            <a:avLst/>
            <a:gdLst>
              <a:gd name="T0" fmla="*/ 0 w 236"/>
              <a:gd name="T1" fmla="*/ 118 h 236"/>
              <a:gd name="T2" fmla="*/ 236 w 236"/>
              <a:gd name="T3" fmla="*/ 118 h 236"/>
              <a:gd name="T4" fmla="*/ 150 w 236"/>
              <a:gd name="T5" fmla="*/ 168 h 236"/>
              <a:gd name="T6" fmla="*/ 128 w 236"/>
              <a:gd name="T7" fmla="*/ 196 h 236"/>
              <a:gd name="T8" fmla="*/ 125 w 236"/>
              <a:gd name="T9" fmla="*/ 199 h 236"/>
              <a:gd name="T10" fmla="*/ 111 w 236"/>
              <a:gd name="T11" fmla="*/ 198 h 236"/>
              <a:gd name="T12" fmla="*/ 110 w 236"/>
              <a:gd name="T13" fmla="*/ 180 h 236"/>
              <a:gd name="T14" fmla="*/ 90 w 236"/>
              <a:gd name="T15" fmla="*/ 173 h 236"/>
              <a:gd name="T16" fmla="*/ 79 w 236"/>
              <a:gd name="T17" fmla="*/ 166 h 236"/>
              <a:gd name="T18" fmla="*/ 78 w 236"/>
              <a:gd name="T19" fmla="*/ 160 h 236"/>
              <a:gd name="T20" fmla="*/ 89 w 236"/>
              <a:gd name="T21" fmla="*/ 147 h 236"/>
              <a:gd name="T22" fmla="*/ 91 w 236"/>
              <a:gd name="T23" fmla="*/ 148 h 236"/>
              <a:gd name="T24" fmla="*/ 119 w 236"/>
              <a:gd name="T25" fmla="*/ 160 h 236"/>
              <a:gd name="T26" fmla="*/ 137 w 236"/>
              <a:gd name="T27" fmla="*/ 145 h 236"/>
              <a:gd name="T28" fmla="*/ 133 w 236"/>
              <a:gd name="T29" fmla="*/ 137 h 236"/>
              <a:gd name="T30" fmla="*/ 122 w 236"/>
              <a:gd name="T31" fmla="*/ 130 h 236"/>
              <a:gd name="T32" fmla="*/ 109 w 236"/>
              <a:gd name="T33" fmla="*/ 125 h 236"/>
              <a:gd name="T34" fmla="*/ 98 w 236"/>
              <a:gd name="T35" fmla="*/ 120 h 236"/>
              <a:gd name="T36" fmla="*/ 89 w 236"/>
              <a:gd name="T37" fmla="*/ 113 h 236"/>
              <a:gd name="T38" fmla="*/ 82 w 236"/>
              <a:gd name="T39" fmla="*/ 103 h 236"/>
              <a:gd name="T40" fmla="*/ 79 w 236"/>
              <a:gd name="T41" fmla="*/ 90 h 236"/>
              <a:gd name="T42" fmla="*/ 110 w 236"/>
              <a:gd name="T43" fmla="*/ 57 h 236"/>
              <a:gd name="T44" fmla="*/ 111 w 236"/>
              <a:gd name="T45" fmla="*/ 38 h 236"/>
              <a:gd name="T46" fmla="*/ 125 w 236"/>
              <a:gd name="T47" fmla="*/ 37 h 236"/>
              <a:gd name="T48" fmla="*/ 128 w 236"/>
              <a:gd name="T49" fmla="*/ 40 h 236"/>
              <a:gd name="T50" fmla="*/ 137 w 236"/>
              <a:gd name="T51" fmla="*/ 58 h 236"/>
              <a:gd name="T52" fmla="*/ 151 w 236"/>
              <a:gd name="T53" fmla="*/ 65 h 236"/>
              <a:gd name="T54" fmla="*/ 155 w 236"/>
              <a:gd name="T55" fmla="*/ 69 h 236"/>
              <a:gd name="T56" fmla="*/ 149 w 236"/>
              <a:gd name="T57" fmla="*/ 85 h 236"/>
              <a:gd name="T58" fmla="*/ 144 w 236"/>
              <a:gd name="T59" fmla="*/ 86 h 236"/>
              <a:gd name="T60" fmla="*/ 140 w 236"/>
              <a:gd name="T61" fmla="*/ 82 h 236"/>
              <a:gd name="T62" fmla="*/ 128 w 236"/>
              <a:gd name="T63" fmla="*/ 77 h 236"/>
              <a:gd name="T64" fmla="*/ 107 w 236"/>
              <a:gd name="T65" fmla="*/ 80 h 236"/>
              <a:gd name="T66" fmla="*/ 102 w 236"/>
              <a:gd name="T67" fmla="*/ 94 h 236"/>
              <a:gd name="T68" fmla="*/ 108 w 236"/>
              <a:gd name="T69" fmla="*/ 101 h 236"/>
              <a:gd name="T70" fmla="*/ 118 w 236"/>
              <a:gd name="T71" fmla="*/ 106 h 236"/>
              <a:gd name="T72" fmla="*/ 132 w 236"/>
              <a:gd name="T73" fmla="*/ 112 h 236"/>
              <a:gd name="T74" fmla="*/ 145 w 236"/>
              <a:gd name="T75" fmla="*/ 119 h 236"/>
              <a:gd name="T76" fmla="*/ 155 w 236"/>
              <a:gd name="T77" fmla="*/ 129 h 236"/>
              <a:gd name="T78" fmla="*/ 159 w 236"/>
              <a:gd name="T79" fmla="*/ 144 h 2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236" h="236">
                <a:moveTo>
                  <a:pt x="118" y="0"/>
                </a:moveTo>
                <a:cubicBezTo>
                  <a:pt x="53" y="0"/>
                  <a:pt x="0" y="53"/>
                  <a:pt x="0" y="118"/>
                </a:cubicBezTo>
                <a:cubicBezTo>
                  <a:pt x="0" y="183"/>
                  <a:pt x="53" y="236"/>
                  <a:pt x="118" y="236"/>
                </a:cubicBezTo>
                <a:cubicBezTo>
                  <a:pt x="183" y="236"/>
                  <a:pt x="236" y="183"/>
                  <a:pt x="236" y="118"/>
                </a:cubicBezTo>
                <a:cubicBezTo>
                  <a:pt x="236" y="53"/>
                  <a:pt x="183" y="0"/>
                  <a:pt x="118" y="0"/>
                </a:cubicBezTo>
                <a:moveTo>
                  <a:pt x="150" y="168"/>
                </a:moveTo>
                <a:cubicBezTo>
                  <a:pt x="145" y="175"/>
                  <a:pt x="137" y="179"/>
                  <a:pt x="128" y="180"/>
                </a:cubicBezTo>
                <a:cubicBezTo>
                  <a:pt x="128" y="196"/>
                  <a:pt x="128" y="196"/>
                  <a:pt x="128" y="196"/>
                </a:cubicBezTo>
                <a:cubicBezTo>
                  <a:pt x="128" y="197"/>
                  <a:pt x="127" y="198"/>
                  <a:pt x="127" y="198"/>
                </a:cubicBezTo>
                <a:cubicBezTo>
                  <a:pt x="126" y="199"/>
                  <a:pt x="126" y="199"/>
                  <a:pt x="125" y="199"/>
                </a:cubicBezTo>
                <a:cubicBezTo>
                  <a:pt x="113" y="199"/>
                  <a:pt x="113" y="199"/>
                  <a:pt x="113" y="199"/>
                </a:cubicBezTo>
                <a:cubicBezTo>
                  <a:pt x="112" y="199"/>
                  <a:pt x="111" y="199"/>
                  <a:pt x="111" y="198"/>
                </a:cubicBezTo>
                <a:cubicBezTo>
                  <a:pt x="110" y="197"/>
                  <a:pt x="110" y="197"/>
                  <a:pt x="110" y="196"/>
                </a:cubicBezTo>
                <a:cubicBezTo>
                  <a:pt x="110" y="180"/>
                  <a:pt x="110" y="180"/>
                  <a:pt x="110" y="180"/>
                </a:cubicBezTo>
                <a:cubicBezTo>
                  <a:pt x="106" y="180"/>
                  <a:pt x="102" y="179"/>
                  <a:pt x="99" y="177"/>
                </a:cubicBezTo>
                <a:cubicBezTo>
                  <a:pt x="95" y="176"/>
                  <a:pt x="92" y="175"/>
                  <a:pt x="90" y="173"/>
                </a:cubicBezTo>
                <a:cubicBezTo>
                  <a:pt x="88" y="172"/>
                  <a:pt x="85" y="171"/>
                  <a:pt x="83" y="169"/>
                </a:cubicBezTo>
                <a:cubicBezTo>
                  <a:pt x="81" y="168"/>
                  <a:pt x="80" y="166"/>
                  <a:pt x="79" y="166"/>
                </a:cubicBezTo>
                <a:cubicBezTo>
                  <a:pt x="79" y="165"/>
                  <a:pt x="78" y="164"/>
                  <a:pt x="78" y="164"/>
                </a:cubicBezTo>
                <a:cubicBezTo>
                  <a:pt x="77" y="163"/>
                  <a:pt x="77" y="162"/>
                  <a:pt x="78" y="160"/>
                </a:cubicBezTo>
                <a:cubicBezTo>
                  <a:pt x="87" y="148"/>
                  <a:pt x="87" y="148"/>
                  <a:pt x="87" y="148"/>
                </a:cubicBezTo>
                <a:cubicBezTo>
                  <a:pt x="87" y="148"/>
                  <a:pt x="88" y="147"/>
                  <a:pt x="89" y="147"/>
                </a:cubicBezTo>
                <a:cubicBezTo>
                  <a:pt x="90" y="147"/>
                  <a:pt x="90" y="147"/>
                  <a:pt x="91" y="148"/>
                </a:cubicBezTo>
                <a:cubicBezTo>
                  <a:pt x="91" y="148"/>
                  <a:pt x="91" y="148"/>
                  <a:pt x="91" y="148"/>
                </a:cubicBezTo>
                <a:cubicBezTo>
                  <a:pt x="98" y="154"/>
                  <a:pt x="105" y="158"/>
                  <a:pt x="112" y="159"/>
                </a:cubicBezTo>
                <a:cubicBezTo>
                  <a:pt x="115" y="160"/>
                  <a:pt x="117" y="160"/>
                  <a:pt x="119" y="160"/>
                </a:cubicBezTo>
                <a:cubicBezTo>
                  <a:pt x="124" y="160"/>
                  <a:pt x="128" y="159"/>
                  <a:pt x="131" y="156"/>
                </a:cubicBezTo>
                <a:cubicBezTo>
                  <a:pt x="135" y="154"/>
                  <a:pt x="137" y="150"/>
                  <a:pt x="137" y="145"/>
                </a:cubicBezTo>
                <a:cubicBezTo>
                  <a:pt x="137" y="144"/>
                  <a:pt x="136" y="142"/>
                  <a:pt x="136" y="140"/>
                </a:cubicBezTo>
                <a:cubicBezTo>
                  <a:pt x="135" y="139"/>
                  <a:pt x="134" y="138"/>
                  <a:pt x="133" y="137"/>
                </a:cubicBezTo>
                <a:cubicBezTo>
                  <a:pt x="132" y="136"/>
                  <a:pt x="130" y="135"/>
                  <a:pt x="127" y="133"/>
                </a:cubicBezTo>
                <a:cubicBezTo>
                  <a:pt x="125" y="132"/>
                  <a:pt x="123" y="131"/>
                  <a:pt x="122" y="130"/>
                </a:cubicBezTo>
                <a:cubicBezTo>
                  <a:pt x="120" y="130"/>
                  <a:pt x="118" y="129"/>
                  <a:pt x="115" y="128"/>
                </a:cubicBezTo>
                <a:cubicBezTo>
                  <a:pt x="112" y="127"/>
                  <a:pt x="110" y="126"/>
                  <a:pt x="109" y="125"/>
                </a:cubicBezTo>
                <a:cubicBezTo>
                  <a:pt x="108" y="125"/>
                  <a:pt x="106" y="124"/>
                  <a:pt x="104" y="123"/>
                </a:cubicBezTo>
                <a:cubicBezTo>
                  <a:pt x="101" y="122"/>
                  <a:pt x="100" y="121"/>
                  <a:pt x="98" y="120"/>
                </a:cubicBezTo>
                <a:cubicBezTo>
                  <a:pt x="97" y="119"/>
                  <a:pt x="95" y="118"/>
                  <a:pt x="93" y="117"/>
                </a:cubicBezTo>
                <a:cubicBezTo>
                  <a:pt x="91" y="116"/>
                  <a:pt x="90" y="114"/>
                  <a:pt x="89" y="113"/>
                </a:cubicBezTo>
                <a:cubicBezTo>
                  <a:pt x="87" y="112"/>
                  <a:pt x="86" y="110"/>
                  <a:pt x="85" y="109"/>
                </a:cubicBezTo>
                <a:cubicBezTo>
                  <a:pt x="83" y="107"/>
                  <a:pt x="82" y="105"/>
                  <a:pt x="82" y="103"/>
                </a:cubicBezTo>
                <a:cubicBezTo>
                  <a:pt x="81" y="102"/>
                  <a:pt x="80" y="100"/>
                  <a:pt x="80" y="97"/>
                </a:cubicBezTo>
                <a:cubicBezTo>
                  <a:pt x="79" y="95"/>
                  <a:pt x="79" y="93"/>
                  <a:pt x="79" y="90"/>
                </a:cubicBezTo>
                <a:cubicBezTo>
                  <a:pt x="79" y="82"/>
                  <a:pt x="82" y="75"/>
                  <a:pt x="88" y="69"/>
                </a:cubicBezTo>
                <a:cubicBezTo>
                  <a:pt x="93" y="62"/>
                  <a:pt x="101" y="58"/>
                  <a:pt x="110" y="57"/>
                </a:cubicBezTo>
                <a:cubicBezTo>
                  <a:pt x="110" y="40"/>
                  <a:pt x="110" y="40"/>
                  <a:pt x="110" y="40"/>
                </a:cubicBezTo>
                <a:cubicBezTo>
                  <a:pt x="110" y="40"/>
                  <a:pt x="110" y="39"/>
                  <a:pt x="111" y="38"/>
                </a:cubicBezTo>
                <a:cubicBezTo>
                  <a:pt x="111" y="38"/>
                  <a:pt x="112" y="37"/>
                  <a:pt x="113" y="37"/>
                </a:cubicBezTo>
                <a:cubicBezTo>
                  <a:pt x="125" y="37"/>
                  <a:pt x="125" y="37"/>
                  <a:pt x="125" y="37"/>
                </a:cubicBezTo>
                <a:cubicBezTo>
                  <a:pt x="126" y="37"/>
                  <a:pt x="126" y="38"/>
                  <a:pt x="127" y="38"/>
                </a:cubicBezTo>
                <a:cubicBezTo>
                  <a:pt x="127" y="39"/>
                  <a:pt x="128" y="39"/>
                  <a:pt x="128" y="40"/>
                </a:cubicBezTo>
                <a:cubicBezTo>
                  <a:pt x="128" y="56"/>
                  <a:pt x="128" y="56"/>
                  <a:pt x="128" y="56"/>
                </a:cubicBezTo>
                <a:cubicBezTo>
                  <a:pt x="131" y="57"/>
                  <a:pt x="134" y="57"/>
                  <a:pt x="137" y="58"/>
                </a:cubicBezTo>
                <a:cubicBezTo>
                  <a:pt x="140" y="59"/>
                  <a:pt x="143" y="60"/>
                  <a:pt x="145" y="61"/>
                </a:cubicBezTo>
                <a:cubicBezTo>
                  <a:pt x="147" y="62"/>
                  <a:pt x="149" y="63"/>
                  <a:pt x="151" y="65"/>
                </a:cubicBezTo>
                <a:cubicBezTo>
                  <a:pt x="152" y="66"/>
                  <a:pt x="153" y="67"/>
                  <a:pt x="154" y="67"/>
                </a:cubicBezTo>
                <a:cubicBezTo>
                  <a:pt x="155" y="68"/>
                  <a:pt x="155" y="68"/>
                  <a:pt x="155" y="69"/>
                </a:cubicBezTo>
                <a:cubicBezTo>
                  <a:pt x="156" y="70"/>
                  <a:pt x="156" y="71"/>
                  <a:pt x="156" y="72"/>
                </a:cubicBezTo>
                <a:cubicBezTo>
                  <a:pt x="149" y="85"/>
                  <a:pt x="149" y="85"/>
                  <a:pt x="149" y="85"/>
                </a:cubicBezTo>
                <a:cubicBezTo>
                  <a:pt x="148" y="86"/>
                  <a:pt x="148" y="86"/>
                  <a:pt x="147" y="87"/>
                </a:cubicBezTo>
                <a:cubicBezTo>
                  <a:pt x="146" y="87"/>
                  <a:pt x="145" y="86"/>
                  <a:pt x="144" y="86"/>
                </a:cubicBezTo>
                <a:cubicBezTo>
                  <a:pt x="144" y="86"/>
                  <a:pt x="144" y="85"/>
                  <a:pt x="143" y="85"/>
                </a:cubicBezTo>
                <a:cubicBezTo>
                  <a:pt x="142" y="84"/>
                  <a:pt x="141" y="83"/>
                  <a:pt x="140" y="82"/>
                </a:cubicBezTo>
                <a:cubicBezTo>
                  <a:pt x="138" y="81"/>
                  <a:pt x="136" y="80"/>
                  <a:pt x="134" y="80"/>
                </a:cubicBezTo>
                <a:cubicBezTo>
                  <a:pt x="133" y="79"/>
                  <a:pt x="130" y="78"/>
                  <a:pt x="128" y="77"/>
                </a:cubicBezTo>
                <a:cubicBezTo>
                  <a:pt x="125" y="77"/>
                  <a:pt x="123" y="76"/>
                  <a:pt x="120" y="76"/>
                </a:cubicBezTo>
                <a:cubicBezTo>
                  <a:pt x="115" y="76"/>
                  <a:pt x="110" y="77"/>
                  <a:pt x="107" y="80"/>
                </a:cubicBezTo>
                <a:cubicBezTo>
                  <a:pt x="103" y="83"/>
                  <a:pt x="101" y="86"/>
                  <a:pt x="101" y="90"/>
                </a:cubicBezTo>
                <a:cubicBezTo>
                  <a:pt x="101" y="92"/>
                  <a:pt x="102" y="93"/>
                  <a:pt x="102" y="94"/>
                </a:cubicBezTo>
                <a:cubicBezTo>
                  <a:pt x="103" y="96"/>
                  <a:pt x="103" y="97"/>
                  <a:pt x="105" y="98"/>
                </a:cubicBezTo>
                <a:cubicBezTo>
                  <a:pt x="106" y="99"/>
                  <a:pt x="107" y="100"/>
                  <a:pt x="108" y="101"/>
                </a:cubicBezTo>
                <a:cubicBezTo>
                  <a:pt x="109" y="102"/>
                  <a:pt x="111" y="103"/>
                  <a:pt x="113" y="104"/>
                </a:cubicBezTo>
                <a:cubicBezTo>
                  <a:pt x="115" y="105"/>
                  <a:pt x="117" y="106"/>
                  <a:pt x="118" y="106"/>
                </a:cubicBezTo>
                <a:cubicBezTo>
                  <a:pt x="120" y="107"/>
                  <a:pt x="122" y="108"/>
                  <a:pt x="125" y="109"/>
                </a:cubicBezTo>
                <a:cubicBezTo>
                  <a:pt x="128" y="110"/>
                  <a:pt x="130" y="111"/>
                  <a:pt x="132" y="112"/>
                </a:cubicBezTo>
                <a:cubicBezTo>
                  <a:pt x="133" y="112"/>
                  <a:pt x="136" y="113"/>
                  <a:pt x="138" y="115"/>
                </a:cubicBezTo>
                <a:cubicBezTo>
                  <a:pt x="141" y="116"/>
                  <a:pt x="143" y="117"/>
                  <a:pt x="145" y="119"/>
                </a:cubicBezTo>
                <a:cubicBezTo>
                  <a:pt x="147" y="120"/>
                  <a:pt x="149" y="121"/>
                  <a:pt x="151" y="123"/>
                </a:cubicBezTo>
                <a:cubicBezTo>
                  <a:pt x="153" y="125"/>
                  <a:pt x="154" y="127"/>
                  <a:pt x="155" y="129"/>
                </a:cubicBezTo>
                <a:cubicBezTo>
                  <a:pt x="156" y="131"/>
                  <a:pt x="157" y="133"/>
                  <a:pt x="158" y="136"/>
                </a:cubicBezTo>
                <a:cubicBezTo>
                  <a:pt x="159" y="138"/>
                  <a:pt x="159" y="141"/>
                  <a:pt x="159" y="144"/>
                </a:cubicBezTo>
                <a:cubicBezTo>
                  <a:pt x="159" y="153"/>
                  <a:pt x="156" y="161"/>
                  <a:pt x="150" y="168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21" name="Freeform: Shape 13"/>
          <p:cNvSpPr/>
          <p:nvPr/>
        </p:nvSpPr>
        <p:spPr bwMode="auto">
          <a:xfrm>
            <a:off x="2749487" y="4178234"/>
            <a:ext cx="408116" cy="408116"/>
          </a:xfrm>
          <a:custGeom>
            <a:avLst/>
            <a:gdLst>
              <a:gd name="T0" fmla="*/ 182 w 236"/>
              <a:gd name="T1" fmla="*/ 109 h 236"/>
              <a:gd name="T2" fmla="*/ 157 w 236"/>
              <a:gd name="T3" fmla="*/ 103 h 236"/>
              <a:gd name="T4" fmla="*/ 134 w 236"/>
              <a:gd name="T5" fmla="*/ 102 h 236"/>
              <a:gd name="T6" fmla="*/ 120 w 236"/>
              <a:gd name="T7" fmla="*/ 114 h 236"/>
              <a:gd name="T8" fmla="*/ 118 w 236"/>
              <a:gd name="T9" fmla="*/ 129 h 236"/>
              <a:gd name="T10" fmla="*/ 122 w 236"/>
              <a:gd name="T11" fmla="*/ 141 h 236"/>
              <a:gd name="T12" fmla="*/ 135 w 236"/>
              <a:gd name="T13" fmla="*/ 156 h 236"/>
              <a:gd name="T14" fmla="*/ 139 w 236"/>
              <a:gd name="T15" fmla="*/ 185 h 236"/>
              <a:gd name="T16" fmla="*/ 152 w 236"/>
              <a:gd name="T17" fmla="*/ 198 h 236"/>
              <a:gd name="T18" fmla="*/ 169 w 236"/>
              <a:gd name="T19" fmla="*/ 180 h 236"/>
              <a:gd name="T20" fmla="*/ 187 w 236"/>
              <a:gd name="T21" fmla="*/ 150 h 236"/>
              <a:gd name="T22" fmla="*/ 200 w 236"/>
              <a:gd name="T23" fmla="*/ 122 h 236"/>
              <a:gd name="T24" fmla="*/ 182 w 236"/>
              <a:gd name="T25" fmla="*/ 109 h 236"/>
              <a:gd name="T26" fmla="*/ 118 w 236"/>
              <a:gd name="T27" fmla="*/ 0 h 236"/>
              <a:gd name="T28" fmla="*/ 0 w 236"/>
              <a:gd name="T29" fmla="*/ 118 h 236"/>
              <a:gd name="T30" fmla="*/ 118 w 236"/>
              <a:gd name="T31" fmla="*/ 236 h 236"/>
              <a:gd name="T32" fmla="*/ 236 w 236"/>
              <a:gd name="T33" fmla="*/ 118 h 236"/>
              <a:gd name="T34" fmla="*/ 118 w 236"/>
              <a:gd name="T35" fmla="*/ 0 h 236"/>
              <a:gd name="T36" fmla="*/ 126 w 236"/>
              <a:gd name="T37" fmla="*/ 212 h 236"/>
              <a:gd name="T38" fmla="*/ 128 w 236"/>
              <a:gd name="T39" fmla="*/ 208 h 236"/>
              <a:gd name="T40" fmla="*/ 125 w 236"/>
              <a:gd name="T41" fmla="*/ 186 h 236"/>
              <a:gd name="T42" fmla="*/ 105 w 236"/>
              <a:gd name="T43" fmla="*/ 186 h 236"/>
              <a:gd name="T44" fmla="*/ 98 w 236"/>
              <a:gd name="T45" fmla="*/ 207 h 236"/>
              <a:gd name="T46" fmla="*/ 102 w 236"/>
              <a:gd name="T47" fmla="*/ 211 h 236"/>
              <a:gd name="T48" fmla="*/ 34 w 236"/>
              <a:gd name="T49" fmla="*/ 161 h 236"/>
              <a:gd name="T50" fmla="*/ 44 w 236"/>
              <a:gd name="T51" fmla="*/ 157 h 236"/>
              <a:gd name="T52" fmla="*/ 44 w 236"/>
              <a:gd name="T53" fmla="*/ 157 h 236"/>
              <a:gd name="T54" fmla="*/ 81 w 236"/>
              <a:gd name="T55" fmla="*/ 142 h 236"/>
              <a:gd name="T56" fmla="*/ 81 w 236"/>
              <a:gd name="T57" fmla="*/ 118 h 236"/>
              <a:gd name="T58" fmla="*/ 55 w 236"/>
              <a:gd name="T59" fmla="*/ 94 h 236"/>
              <a:gd name="T60" fmla="*/ 28 w 236"/>
              <a:gd name="T61" fmla="*/ 90 h 236"/>
              <a:gd name="T62" fmla="*/ 84 w 236"/>
              <a:gd name="T63" fmla="*/ 30 h 236"/>
              <a:gd name="T64" fmla="*/ 84 w 236"/>
              <a:gd name="T65" fmla="*/ 31 h 236"/>
              <a:gd name="T66" fmla="*/ 102 w 236"/>
              <a:gd name="T67" fmla="*/ 56 h 236"/>
              <a:gd name="T68" fmla="*/ 120 w 236"/>
              <a:gd name="T69" fmla="*/ 79 h 236"/>
              <a:gd name="T70" fmla="*/ 131 w 236"/>
              <a:gd name="T71" fmla="*/ 97 h 236"/>
              <a:gd name="T72" fmla="*/ 146 w 236"/>
              <a:gd name="T73" fmla="*/ 88 h 236"/>
              <a:gd name="T74" fmla="*/ 177 w 236"/>
              <a:gd name="T75" fmla="*/ 66 h 236"/>
              <a:gd name="T76" fmla="*/ 190 w 236"/>
              <a:gd name="T77" fmla="*/ 57 h 236"/>
              <a:gd name="T78" fmla="*/ 212 w 236"/>
              <a:gd name="T79" fmla="*/ 118 h 236"/>
              <a:gd name="T80" fmla="*/ 126 w 236"/>
              <a:gd name="T81" fmla="*/ 212 h 2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36" h="236">
                <a:moveTo>
                  <a:pt x="182" y="109"/>
                </a:moveTo>
                <a:cubicBezTo>
                  <a:pt x="172" y="107"/>
                  <a:pt x="161" y="105"/>
                  <a:pt x="157" y="103"/>
                </a:cubicBezTo>
                <a:cubicBezTo>
                  <a:pt x="153" y="102"/>
                  <a:pt x="143" y="101"/>
                  <a:pt x="134" y="102"/>
                </a:cubicBezTo>
                <a:cubicBezTo>
                  <a:pt x="125" y="103"/>
                  <a:pt x="119" y="109"/>
                  <a:pt x="120" y="114"/>
                </a:cubicBezTo>
                <a:cubicBezTo>
                  <a:pt x="121" y="119"/>
                  <a:pt x="120" y="126"/>
                  <a:pt x="118" y="129"/>
                </a:cubicBezTo>
                <a:cubicBezTo>
                  <a:pt x="117" y="132"/>
                  <a:pt x="118" y="138"/>
                  <a:pt x="122" y="141"/>
                </a:cubicBezTo>
                <a:cubicBezTo>
                  <a:pt x="127" y="144"/>
                  <a:pt x="132" y="151"/>
                  <a:pt x="135" y="156"/>
                </a:cubicBezTo>
                <a:cubicBezTo>
                  <a:pt x="138" y="162"/>
                  <a:pt x="140" y="175"/>
                  <a:pt x="139" y="185"/>
                </a:cubicBezTo>
                <a:cubicBezTo>
                  <a:pt x="139" y="195"/>
                  <a:pt x="145" y="201"/>
                  <a:pt x="152" y="198"/>
                </a:cubicBezTo>
                <a:cubicBezTo>
                  <a:pt x="160" y="195"/>
                  <a:pt x="167" y="187"/>
                  <a:pt x="169" y="180"/>
                </a:cubicBezTo>
                <a:cubicBezTo>
                  <a:pt x="171" y="174"/>
                  <a:pt x="179" y="160"/>
                  <a:pt x="187" y="150"/>
                </a:cubicBezTo>
                <a:cubicBezTo>
                  <a:pt x="195" y="140"/>
                  <a:pt x="201" y="127"/>
                  <a:pt x="200" y="122"/>
                </a:cubicBezTo>
                <a:cubicBezTo>
                  <a:pt x="200" y="116"/>
                  <a:pt x="191" y="111"/>
                  <a:pt x="182" y="109"/>
                </a:cubicBezTo>
                <a:close/>
                <a:moveTo>
                  <a:pt x="118" y="0"/>
                </a:moveTo>
                <a:cubicBezTo>
                  <a:pt x="53" y="0"/>
                  <a:pt x="0" y="53"/>
                  <a:pt x="0" y="118"/>
                </a:cubicBezTo>
                <a:cubicBezTo>
                  <a:pt x="0" y="183"/>
                  <a:pt x="53" y="236"/>
                  <a:pt x="118" y="236"/>
                </a:cubicBezTo>
                <a:cubicBezTo>
                  <a:pt x="183" y="236"/>
                  <a:pt x="236" y="183"/>
                  <a:pt x="236" y="118"/>
                </a:cubicBezTo>
                <a:cubicBezTo>
                  <a:pt x="236" y="53"/>
                  <a:pt x="183" y="0"/>
                  <a:pt x="118" y="0"/>
                </a:cubicBezTo>
                <a:close/>
                <a:moveTo>
                  <a:pt x="126" y="212"/>
                </a:moveTo>
                <a:cubicBezTo>
                  <a:pt x="127" y="211"/>
                  <a:pt x="128" y="209"/>
                  <a:pt x="128" y="208"/>
                </a:cubicBezTo>
                <a:cubicBezTo>
                  <a:pt x="130" y="201"/>
                  <a:pt x="128" y="191"/>
                  <a:pt x="125" y="186"/>
                </a:cubicBezTo>
                <a:cubicBezTo>
                  <a:pt x="121" y="181"/>
                  <a:pt x="112" y="181"/>
                  <a:pt x="105" y="186"/>
                </a:cubicBezTo>
                <a:cubicBezTo>
                  <a:pt x="97" y="191"/>
                  <a:pt x="94" y="200"/>
                  <a:pt x="98" y="207"/>
                </a:cubicBezTo>
                <a:cubicBezTo>
                  <a:pt x="99" y="208"/>
                  <a:pt x="100" y="210"/>
                  <a:pt x="102" y="211"/>
                </a:cubicBezTo>
                <a:cubicBezTo>
                  <a:pt x="72" y="206"/>
                  <a:pt x="47" y="187"/>
                  <a:pt x="34" y="161"/>
                </a:cubicBezTo>
                <a:cubicBezTo>
                  <a:pt x="37" y="161"/>
                  <a:pt x="40" y="159"/>
                  <a:pt x="44" y="157"/>
                </a:cubicBezTo>
                <a:cubicBezTo>
                  <a:pt x="44" y="157"/>
                  <a:pt x="44" y="157"/>
                  <a:pt x="44" y="157"/>
                </a:cubicBezTo>
                <a:cubicBezTo>
                  <a:pt x="57" y="148"/>
                  <a:pt x="74" y="141"/>
                  <a:pt x="81" y="142"/>
                </a:cubicBezTo>
                <a:cubicBezTo>
                  <a:pt x="89" y="142"/>
                  <a:pt x="89" y="131"/>
                  <a:pt x="81" y="118"/>
                </a:cubicBezTo>
                <a:cubicBezTo>
                  <a:pt x="74" y="105"/>
                  <a:pt x="62" y="94"/>
                  <a:pt x="55" y="94"/>
                </a:cubicBezTo>
                <a:cubicBezTo>
                  <a:pt x="48" y="94"/>
                  <a:pt x="36" y="92"/>
                  <a:pt x="28" y="90"/>
                </a:cubicBezTo>
                <a:cubicBezTo>
                  <a:pt x="37" y="62"/>
                  <a:pt x="58" y="41"/>
                  <a:pt x="84" y="30"/>
                </a:cubicBezTo>
                <a:cubicBezTo>
                  <a:pt x="84" y="31"/>
                  <a:pt x="84" y="31"/>
                  <a:pt x="84" y="31"/>
                </a:cubicBezTo>
                <a:cubicBezTo>
                  <a:pt x="86" y="39"/>
                  <a:pt x="95" y="50"/>
                  <a:pt x="102" y="56"/>
                </a:cubicBezTo>
                <a:cubicBezTo>
                  <a:pt x="110" y="62"/>
                  <a:pt x="118" y="72"/>
                  <a:pt x="120" y="79"/>
                </a:cubicBezTo>
                <a:cubicBezTo>
                  <a:pt x="122" y="85"/>
                  <a:pt x="127" y="93"/>
                  <a:pt x="131" y="97"/>
                </a:cubicBezTo>
                <a:cubicBezTo>
                  <a:pt x="136" y="100"/>
                  <a:pt x="142" y="96"/>
                  <a:pt x="146" y="88"/>
                </a:cubicBezTo>
                <a:cubicBezTo>
                  <a:pt x="150" y="80"/>
                  <a:pt x="164" y="70"/>
                  <a:pt x="177" y="66"/>
                </a:cubicBezTo>
                <a:cubicBezTo>
                  <a:pt x="183" y="64"/>
                  <a:pt x="187" y="61"/>
                  <a:pt x="190" y="57"/>
                </a:cubicBezTo>
                <a:cubicBezTo>
                  <a:pt x="204" y="74"/>
                  <a:pt x="212" y="95"/>
                  <a:pt x="212" y="118"/>
                </a:cubicBezTo>
                <a:cubicBezTo>
                  <a:pt x="212" y="168"/>
                  <a:pt x="174" y="208"/>
                  <a:pt x="126" y="21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458555" y="4849378"/>
            <a:ext cx="12909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用户特征</a:t>
            </a:r>
            <a:endParaRPr lang="zh-CN" altLang="en-US" sz="2000" b="1" dirty="0"/>
          </a:p>
        </p:txBody>
      </p:sp>
      <p:sp>
        <p:nvSpPr>
          <p:cNvPr id="23" name="文本框 22"/>
          <p:cNvSpPr txBox="1"/>
          <p:nvPr/>
        </p:nvSpPr>
        <p:spPr>
          <a:xfrm>
            <a:off x="5504025" y="4842493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场景特征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9409758" y="4840575"/>
            <a:ext cx="12748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调研方式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1108604" y="5253313"/>
            <a:ext cx="2667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+mn-ea"/>
                <a:cs typeface="楷体" panose="02010609060101010101" charset="-122"/>
              </a:rPr>
              <a:t>18-25</a:t>
            </a:r>
            <a:r>
              <a:rPr lang="zh-CN" altLang="en-US" sz="1800" dirty="0">
                <a:latin typeface="+mn-ea"/>
                <a:cs typeface="楷体" panose="02010609060101010101" charset="-122"/>
              </a:rPr>
              <a:t>岁在校学生</a:t>
            </a:r>
            <a:endParaRPr lang="en-US" altLang="zh-CN" sz="1800" dirty="0">
              <a:latin typeface="+mn-ea"/>
              <a:cs typeface="楷体" panose="02010609060101010101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4312614" y="5276218"/>
            <a:ext cx="3911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+mn-ea"/>
              </a:rPr>
              <a:t>选取校园中某一环境代表（如操场）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8984664" y="5305302"/>
            <a:ext cx="24277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+mn-ea"/>
              </a:rPr>
              <a:t>桌面调研和用户访谈</a:t>
            </a:r>
          </a:p>
        </p:txBody>
      </p:sp>
      <p:sp>
        <p:nvSpPr>
          <p:cNvPr id="35" name="标题 12"/>
          <p:cNvSpPr>
            <a:spLocks noGrp="1"/>
          </p:cNvSpPr>
          <p:nvPr>
            <p:ph type="title"/>
          </p:nvPr>
        </p:nvSpPr>
        <p:spPr>
          <a:xfrm>
            <a:off x="750888" y="441325"/>
            <a:ext cx="10515600" cy="365125"/>
          </a:xfrm>
        </p:spPr>
        <p:txBody>
          <a:bodyPr>
            <a:noAutofit/>
          </a:bodyPr>
          <a:lstStyle/>
          <a:p>
            <a:r>
              <a:rPr lang="zh-CN" altLang="en-US" sz="3200" dirty="0"/>
              <a:t>二、背景分析</a:t>
            </a:r>
          </a:p>
        </p:txBody>
      </p:sp>
      <p:sp>
        <p:nvSpPr>
          <p:cNvPr id="36" name="标题 1"/>
          <p:cNvSpPr>
            <a:spLocks noGrp="1"/>
          </p:cNvSpPr>
          <p:nvPr/>
        </p:nvSpPr>
        <p:spPr>
          <a:xfrm>
            <a:off x="838200" y="1068398"/>
            <a:ext cx="10515600" cy="516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u"/>
              <a:defRPr sz="28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用户</a:t>
            </a:r>
            <a:r>
              <a:rPr lang="en-US" altLang="zh-CN" dirty="0"/>
              <a:t>·</a:t>
            </a:r>
            <a:r>
              <a:rPr lang="zh-CN" altLang="en-US" dirty="0"/>
              <a:t>场景</a:t>
            </a:r>
            <a:r>
              <a:rPr lang="en-US" altLang="zh-CN" dirty="0"/>
              <a:t>·</a:t>
            </a:r>
            <a:r>
              <a:rPr lang="zh-CN" altLang="en-US" dirty="0"/>
              <a:t>行业 多方面调研</a:t>
            </a:r>
          </a:p>
        </p:txBody>
      </p:sp>
    </p:spTree>
    <p:extLst>
      <p:ext uri="{BB962C8B-B14F-4D97-AF65-F5344CB8AC3E}">
        <p14:creationId xmlns:p14="http://schemas.microsoft.com/office/powerpoint/2010/main" val="27282079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3200" dirty="0"/>
              <a:t>二、背景分析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4E30-715F-4973-8179-B4178D7E09F0}" type="datetime1">
              <a:rPr lang="zh-CN" altLang="en-US" smtClean="0"/>
              <a:t>2025/11/6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  <a:t>5</a:t>
            </a:fld>
            <a:endParaRPr lang="zh-CN" altLang="en-US" dirty="0"/>
          </a:p>
        </p:txBody>
      </p:sp>
      <p:sp>
        <p:nvSpPr>
          <p:cNvPr id="8" name="标题 1"/>
          <p:cNvSpPr>
            <a:spLocks noGrp="1"/>
          </p:cNvSpPr>
          <p:nvPr/>
        </p:nvSpPr>
        <p:spPr>
          <a:xfrm>
            <a:off x="1327150" y="1147445"/>
            <a:ext cx="10515600" cy="516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u"/>
              <a:defRPr sz="28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9" name="文本框 9"/>
          <p:cNvSpPr txBox="1"/>
          <p:nvPr/>
        </p:nvSpPr>
        <p:spPr>
          <a:xfrm>
            <a:off x="386505" y="2122364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  研究了</a:t>
            </a:r>
            <a:r>
              <a:rPr lang="en-US" altLang="zh-CN" dirty="0"/>
              <a:t>3</a:t>
            </a:r>
            <a:r>
              <a:rPr lang="zh-CN" altLang="en-US" dirty="0"/>
              <a:t>份主要相关报告：</a:t>
            </a:r>
          </a:p>
          <a:p>
            <a:r>
              <a:rPr lang="zh-CN" altLang="en-US" dirty="0"/>
              <a:t>《</a:t>
            </a:r>
            <a:r>
              <a:rPr lang="en-US" altLang="zh-CN" dirty="0"/>
              <a:t>2024</a:t>
            </a:r>
            <a:r>
              <a:rPr lang="zh-CN" altLang="en-US" dirty="0"/>
              <a:t>陌生人社交深度报告》</a:t>
            </a:r>
          </a:p>
          <a:p>
            <a:r>
              <a:rPr lang="zh-CN" altLang="en-US" dirty="0"/>
              <a:t>《</a:t>
            </a:r>
            <a:r>
              <a:rPr lang="en-US" altLang="zh-CN" dirty="0"/>
              <a:t>2024</a:t>
            </a:r>
            <a:r>
              <a:rPr lang="zh-CN" altLang="en-US" dirty="0"/>
              <a:t>年中国移动互联网半年报告》</a:t>
            </a:r>
          </a:p>
          <a:p>
            <a:r>
              <a:rPr lang="zh-CN" altLang="en-US" dirty="0"/>
              <a:t>《恋爱社交</a:t>
            </a:r>
            <a:r>
              <a:rPr lang="en-US" altLang="zh-CN" dirty="0"/>
              <a:t>App</a:t>
            </a:r>
            <a:r>
              <a:rPr lang="zh-CN" altLang="en-US" dirty="0"/>
              <a:t>产品分析报告》</a:t>
            </a:r>
          </a:p>
        </p:txBody>
      </p:sp>
      <p:sp>
        <p:nvSpPr>
          <p:cNvPr id="10" name="文本框 14"/>
          <p:cNvSpPr txBox="1"/>
          <p:nvPr/>
        </p:nvSpPr>
        <p:spPr>
          <a:xfrm>
            <a:off x="1486705" y="5122296"/>
            <a:ext cx="8095446" cy="98483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457200"/>
            <a:r>
              <a:rPr lang="zh-CN" altLang="en-US" dirty="0"/>
              <a:t>随着中国社会的现代化进程，单身人群逐年增多，尤其是在大城市和年轻群体中。单身人口的增多为婚恋交友市场提供了广泛的潜在用户。</a:t>
            </a:r>
          </a:p>
        </p:txBody>
      </p:sp>
      <p:pic>
        <p:nvPicPr>
          <p:cNvPr id="11" name="图片 10" descr="106a1e2d2cf4c25a8f162e6db57124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8653" y="1326978"/>
            <a:ext cx="6220460" cy="2776855"/>
          </a:xfrm>
          <a:prstGeom prst="rect">
            <a:avLst/>
          </a:prstGeom>
        </p:spPr>
      </p:pic>
      <p:sp>
        <p:nvSpPr>
          <p:cNvPr id="12" name="文本框 13"/>
          <p:cNvSpPr txBox="1"/>
          <p:nvPr/>
        </p:nvSpPr>
        <p:spPr>
          <a:xfrm>
            <a:off x="5762203" y="893763"/>
            <a:ext cx="476250" cy="4572000"/>
          </a:xfrm>
          <a:prstGeom prst="rect">
            <a:avLst/>
          </a:prstGeom>
        </p:spPr>
        <p:txBody>
          <a:bodyPr vert="eaVert">
            <a:sp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 sz="18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6" name="文本框 16"/>
          <p:cNvSpPr txBox="1"/>
          <p:nvPr/>
        </p:nvSpPr>
        <p:spPr>
          <a:xfrm>
            <a:off x="10844213" y="1603058"/>
            <a:ext cx="793115" cy="3585845"/>
          </a:xfrm>
          <a:prstGeom prst="rect">
            <a:avLst/>
          </a:prstGeom>
        </p:spPr>
        <p:txBody>
          <a:bodyPr vert="eaVert" wrap="square">
            <a:noAutofit/>
            <a:extLst>
              <a:ext uri="{4A0BC546-FE56-4ADE-93B0-CB8AF2F6F144}">
                <wpsdc:textFrameExt xmlns:wpsdc="http://www.wps.cn/officeDocument/2022/drawingmlCustomData" xmlns="" type="title"/>
              </a:ext>
            </a:extLst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4000" b="1" dirty="0">
                <a:latin typeface="华文新魏" panose="02010800040101010101" charset="-122"/>
                <a:ea typeface="华文新魏" panose="02010800040101010101" charset="-122"/>
                <a:cs typeface="+mn-ea"/>
                <a:sym typeface="WPS灵秀黑" charset="-122"/>
              </a:rPr>
              <a:t>桌面调研简报</a:t>
            </a:r>
            <a:endParaRPr lang="zh-CN" altLang="en-US" sz="4000" b="1" spc="400" dirty="0">
              <a:latin typeface="华文新魏" panose="02010800040101010101" charset="-122"/>
              <a:ea typeface="华文新魏" panose="02010800040101010101" charset="-122"/>
              <a:cs typeface="+mn-ea"/>
              <a:sym typeface="WPS灵秀黑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838200" y="4418307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/>
            <a:r>
              <a:rPr lang="zh-CN" altLang="en-US" sz="2800" dirty="0"/>
              <a:t>结论：</a:t>
            </a:r>
            <a:endParaRPr lang="en-US" altLang="zh-CN" sz="2800" dirty="0"/>
          </a:p>
        </p:txBody>
      </p:sp>
      <p:sp>
        <p:nvSpPr>
          <p:cNvPr id="18" name="标题 1"/>
          <p:cNvSpPr>
            <a:spLocks noGrp="1"/>
          </p:cNvSpPr>
          <p:nvPr/>
        </p:nvSpPr>
        <p:spPr>
          <a:xfrm>
            <a:off x="926238" y="1137207"/>
            <a:ext cx="10711090" cy="516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u"/>
              <a:defRPr sz="28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行业分析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4782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3200" dirty="0"/>
              <a:t>二、背景分析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4E30-715F-4973-8179-B4178D7E09F0}" type="datetime1">
              <a:rPr lang="zh-CN" altLang="en-US" smtClean="0"/>
              <a:t>2025/11/6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  <a:t>6</a:t>
            </a:fld>
            <a:endParaRPr lang="zh-CN" altLang="en-US" dirty="0"/>
          </a:p>
        </p:txBody>
      </p:sp>
      <p:sp>
        <p:nvSpPr>
          <p:cNvPr id="19" name="标题 1"/>
          <p:cNvSpPr>
            <a:spLocks noGrp="1"/>
          </p:cNvSpPr>
          <p:nvPr/>
        </p:nvSpPr>
        <p:spPr>
          <a:xfrm>
            <a:off x="993935" y="1125679"/>
            <a:ext cx="10515600" cy="516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u"/>
              <a:defRPr sz="28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行业分析</a:t>
            </a:r>
          </a:p>
        </p:txBody>
      </p:sp>
      <p:sp>
        <p:nvSpPr>
          <p:cNvPr id="23" name="文本框 9"/>
          <p:cNvSpPr txBox="1"/>
          <p:nvPr/>
        </p:nvSpPr>
        <p:spPr>
          <a:xfrm>
            <a:off x="7159785" y="1808702"/>
            <a:ext cx="4994115" cy="14954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/>
              <a:t>市场规模</a:t>
            </a:r>
            <a:r>
              <a:rPr lang="zh-CN" altLang="en-US" dirty="0"/>
              <a:t>：主要玩家月活跃用户情况</a:t>
            </a:r>
          </a:p>
          <a:p>
            <a:r>
              <a:rPr lang="en-US" altLang="zh-CN" dirty="0"/>
              <a:t>Soul</a:t>
            </a:r>
            <a:r>
              <a:rPr lang="zh-CN" altLang="en-US" dirty="0"/>
              <a:t>：月活稳定在</a:t>
            </a:r>
            <a:r>
              <a:rPr lang="en-US" altLang="zh-CN" dirty="0"/>
              <a:t>2000</a:t>
            </a:r>
            <a:r>
              <a:rPr lang="zh-CN" altLang="en-US" dirty="0"/>
              <a:t>万左右</a:t>
            </a:r>
          </a:p>
          <a:p>
            <a:r>
              <a:rPr lang="zh-CN" altLang="en-US" dirty="0"/>
              <a:t>陌陌：历史最高月活达</a:t>
            </a:r>
            <a:r>
              <a:rPr lang="en-US" altLang="zh-CN" dirty="0"/>
              <a:t>1.153</a:t>
            </a:r>
            <a:r>
              <a:rPr lang="zh-CN" altLang="en-US" dirty="0"/>
              <a:t>亿（</a:t>
            </a:r>
            <a:r>
              <a:rPr lang="en-US" altLang="zh-CN" dirty="0"/>
              <a:t>21</a:t>
            </a:r>
            <a:r>
              <a:rPr lang="zh-CN" altLang="en-US" dirty="0"/>
              <a:t>年第一季度）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  <p:pic>
        <p:nvPicPr>
          <p:cNvPr id="24" name="图片 23" descr="af858792899a2a714db251d3431f4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104" y="2895412"/>
            <a:ext cx="5870258" cy="3128828"/>
          </a:xfrm>
          <a:prstGeom prst="rect">
            <a:avLst/>
          </a:prstGeom>
        </p:spPr>
      </p:pic>
      <p:sp>
        <p:nvSpPr>
          <p:cNvPr id="25" name="文本框 11"/>
          <p:cNvSpPr txBox="1"/>
          <p:nvPr/>
        </p:nvSpPr>
        <p:spPr>
          <a:xfrm>
            <a:off x="7159785" y="3354927"/>
            <a:ext cx="4282111" cy="209698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  <a:p>
            <a:r>
              <a:rPr lang="zh-CN" altLang="en-US" b="1" dirty="0">
                <a:sym typeface="+mn-ea"/>
              </a:rPr>
              <a:t>市场格局</a:t>
            </a:r>
            <a:r>
              <a:rPr lang="zh-CN" altLang="en-US" dirty="0">
                <a:sym typeface="+mn-ea"/>
              </a:rPr>
              <a:t>：探探、</a:t>
            </a:r>
            <a:r>
              <a:rPr lang="en-US" altLang="zh-CN" dirty="0">
                <a:sym typeface="+mn-ea"/>
              </a:rPr>
              <a:t>Soul</a:t>
            </a:r>
            <a:r>
              <a:rPr lang="zh-CN" altLang="en-US" dirty="0">
                <a:sym typeface="+mn-ea"/>
              </a:rPr>
              <a:t>、陌陌各有特色</a:t>
            </a:r>
            <a:endParaRPr lang="zh-CN" altLang="en-US" dirty="0"/>
          </a:p>
          <a:p>
            <a:r>
              <a:rPr lang="zh-CN" altLang="en-US" dirty="0">
                <a:sym typeface="+mn-ea"/>
              </a:rPr>
              <a:t>探探：主打颜值交友</a:t>
            </a:r>
            <a:endParaRPr lang="zh-CN" altLang="en-US" dirty="0"/>
          </a:p>
          <a:p>
            <a:r>
              <a:rPr lang="en-US" altLang="zh-CN" dirty="0">
                <a:sym typeface="+mn-ea"/>
              </a:rPr>
              <a:t>Soul</a:t>
            </a:r>
            <a:r>
              <a:rPr lang="zh-CN" altLang="en-US" dirty="0">
                <a:sym typeface="+mn-ea"/>
              </a:rPr>
              <a:t>：突出性格匹配</a:t>
            </a:r>
            <a:endParaRPr lang="zh-CN" altLang="en-US" dirty="0"/>
          </a:p>
          <a:p>
            <a:r>
              <a:rPr lang="zh-CN" altLang="en-US" dirty="0">
                <a:sym typeface="+mn-ea"/>
              </a:rPr>
              <a:t>陌陌：基于地理位置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27" name="文本框 26"/>
          <p:cNvSpPr txBox="1"/>
          <p:nvPr/>
        </p:nvSpPr>
        <p:spPr>
          <a:xfrm>
            <a:off x="993935" y="1859502"/>
            <a:ext cx="31877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ym typeface="+mn-ea"/>
              </a:rPr>
              <a:t>用户特征</a:t>
            </a:r>
            <a:r>
              <a:rPr lang="zh-CN" altLang="en-US" dirty="0">
                <a:sym typeface="+mn-ea"/>
              </a:rPr>
              <a:t>：以年轻群体为主，大学生是重要用户群体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01271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/>
          <p:cNvSpPr>
            <a:spLocks noGrp="1"/>
          </p:cNvSpPr>
          <p:nvPr>
            <p:ph type="title"/>
          </p:nvPr>
        </p:nvSpPr>
        <p:spPr>
          <a:xfrm>
            <a:off x="740479" y="441325"/>
            <a:ext cx="10515600" cy="365125"/>
          </a:xfrm>
        </p:spPr>
        <p:txBody>
          <a:bodyPr>
            <a:noAutofit/>
          </a:bodyPr>
          <a:lstStyle/>
          <a:p>
            <a:r>
              <a:rPr lang="zh-CN" altLang="en-US" sz="3200" dirty="0"/>
              <a:t>二、背景分析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4E30-715F-4973-8179-B4178D7E09F0}" type="datetime1">
              <a:rPr lang="zh-CN" altLang="en-US" smtClean="0"/>
              <a:t>2025/11/6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  <a:t>7</a:t>
            </a:fld>
            <a:endParaRPr lang="zh-CN" altLang="en-US" dirty="0"/>
          </a:p>
        </p:txBody>
      </p:sp>
      <p:sp>
        <p:nvSpPr>
          <p:cNvPr id="9" name="标题 1"/>
          <p:cNvSpPr>
            <a:spLocks noGrp="1"/>
          </p:cNvSpPr>
          <p:nvPr/>
        </p:nvSpPr>
        <p:spPr>
          <a:xfrm>
            <a:off x="929264" y="1128871"/>
            <a:ext cx="10711090" cy="516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u"/>
              <a:defRPr sz="28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用户分析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0" name="文本框 19"/>
          <p:cNvSpPr txBox="1"/>
          <p:nvPr/>
        </p:nvSpPr>
        <p:spPr>
          <a:xfrm>
            <a:off x="4336174" y="4617404"/>
            <a:ext cx="620691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</a:t>
            </a:r>
            <a:r>
              <a:rPr lang="zh-CN" altLang="en-US" sz="2000" dirty="0">
                <a:latin typeface="+mn-ea"/>
              </a:rPr>
              <a:t>在恋爱偏好上，受访者愿尝试朋友推荐的新交友软件。多数人认为异性交友需更谨慎，同性交友较为自然。总体来看，受访者期待恋爱交友平台功能齐全、安全性高，并对丰富线下活动持积极态度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。</a:t>
            </a:r>
          </a:p>
        </p:txBody>
      </p:sp>
      <p:sp>
        <p:nvSpPr>
          <p:cNvPr id="11" name="文本框 20"/>
          <p:cNvSpPr txBox="1"/>
          <p:nvPr/>
        </p:nvSpPr>
        <p:spPr>
          <a:xfrm>
            <a:off x="345629" y="2188844"/>
            <a:ext cx="505593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1" dirty="0">
                <a:latin typeface="+mn-ea"/>
              </a:rPr>
              <a:t>   </a:t>
            </a:r>
            <a:r>
              <a:rPr lang="zh-CN" altLang="en-US" sz="2000" dirty="0">
                <a:latin typeface="+mn-ea"/>
              </a:rPr>
              <a:t>本次访谈共访问六位同学，均来自大一。多数人单身，部分尝试恋爱但未成功。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746" y="3921058"/>
            <a:ext cx="2806107" cy="2104283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11319616" y="1387355"/>
            <a:ext cx="793115" cy="3585845"/>
          </a:xfrm>
          <a:prstGeom prst="rect">
            <a:avLst/>
          </a:prstGeom>
        </p:spPr>
        <p:txBody>
          <a:bodyPr vert="eaVert" wrap="square">
            <a:noAutofit/>
            <a:extLst>
              <a:ext uri="{4A0BC546-FE56-4ADE-93B0-CB8AF2F6F144}">
                <wpsdc:textFrameExt xmlns:wpsdc="http://www.wps.cn/officeDocument/2022/drawingmlCustomData" xmlns="" type="title"/>
              </a:ext>
            </a:extLst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4000" b="1" dirty="0">
                <a:latin typeface="华文新魏" panose="02010800040101010101" charset="-122"/>
                <a:ea typeface="华文新魏" panose="02010800040101010101" charset="-122"/>
                <a:cs typeface="+mn-ea"/>
                <a:sym typeface="WPS灵秀黑" charset="-122"/>
              </a:rPr>
              <a:t>用户访谈简报</a:t>
            </a:r>
            <a:endParaRPr lang="zh-CN" altLang="en-US" sz="4000" b="1" spc="400" dirty="0">
              <a:latin typeface="华文新魏" panose="02010800040101010101" charset="-122"/>
              <a:ea typeface="华文新魏" panose="02010800040101010101" charset="-122"/>
              <a:cs typeface="+mn-ea"/>
              <a:sym typeface="WPS灵秀黑" charset="-122"/>
            </a:endParaRPr>
          </a:p>
        </p:txBody>
      </p:sp>
      <p:sp>
        <p:nvSpPr>
          <p:cNvPr id="14" name="日期占位符 1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DB44E30-715F-4973-8179-B4178D7E09F0}" type="datetime1">
              <a:rPr lang="zh-CN" altLang="en-US" smtClean="0"/>
              <a:t>2025/11/6</a:t>
            </a:fld>
            <a:endParaRPr lang="zh-CN" altLang="en-US" dirty="0"/>
          </a:p>
        </p:txBody>
      </p:sp>
      <p:sp>
        <p:nvSpPr>
          <p:cNvPr id="15" name="页脚占位符 2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16" name="灯片编号占位符 3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B9A5AF-BDD6-4E14-989F-CF034C94E4CA}" type="slidenum">
              <a:rPr lang="zh-CN" altLang="en-US" smtClean="0"/>
              <a:t>7</a:t>
            </a:fld>
            <a:endParaRPr lang="zh-CN" altLang="en-US" dirty="0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1559" y="1445203"/>
            <a:ext cx="2367572" cy="177726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6305" y="463329"/>
            <a:ext cx="2367573" cy="177726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3832" y="2358010"/>
            <a:ext cx="2304774" cy="172891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230394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4E30-715F-4973-8179-B4178D7E09F0}" type="datetime1">
              <a:rPr lang="zh-CN" altLang="en-US" smtClean="0"/>
              <a:t>2025/11/6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  <a:t>8</a:t>
            </a:fld>
            <a:endParaRPr lang="zh-CN" altLang="en-US" dirty="0"/>
          </a:p>
        </p:txBody>
      </p:sp>
      <p:graphicFrame>
        <p:nvGraphicFramePr>
          <p:cNvPr id="8" name="图表 7"/>
          <p:cNvGraphicFramePr/>
          <p:nvPr/>
        </p:nvGraphicFramePr>
        <p:xfrm>
          <a:off x="144379" y="1900719"/>
          <a:ext cx="8126318" cy="41809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文本框 19"/>
          <p:cNvSpPr txBox="1"/>
          <p:nvPr/>
        </p:nvSpPr>
        <p:spPr>
          <a:xfrm>
            <a:off x="8270697" y="4053120"/>
            <a:ext cx="392130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>
                <a:latin typeface="+mn-ea"/>
              </a:rPr>
              <a:t>        分析显示，大部分人对线上恋爱有较高兴趣，同时更看重恋爱对象的内在品质而非外貌。</a:t>
            </a:r>
            <a:endParaRPr lang="en-US" altLang="zh-CN" sz="2000" dirty="0">
              <a:latin typeface="+mn-ea"/>
            </a:endParaRPr>
          </a:p>
        </p:txBody>
      </p:sp>
      <p:sp>
        <p:nvSpPr>
          <p:cNvPr id="16" name="文本框 1"/>
          <p:cNvSpPr txBox="1"/>
          <p:nvPr/>
        </p:nvSpPr>
        <p:spPr>
          <a:xfrm>
            <a:off x="986779" y="1726841"/>
            <a:ext cx="51892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latin typeface="+mn-ea"/>
              </a:rPr>
              <a:t>以下是根据访谈结果获得的统计数据</a:t>
            </a:r>
          </a:p>
        </p:txBody>
      </p:sp>
      <p:pic>
        <p:nvPicPr>
          <p:cNvPr id="17" name="http://photo-static-api.fotomore.com/creative/vcg/400/new/VCG211353426615.jpg" descr="&amp;pky270_sjzg_VCG211353426615&amp;2&amp;src_toppic_inpsrchzd1&amp;"/>
          <p:cNvPicPr/>
          <p:nvPr/>
        </p:nvPicPr>
        <p:blipFill>
          <a:blip r:embed="rId4"/>
          <a:stretch>
            <a:fillRect/>
          </a:stretch>
        </p:blipFill>
        <p:spPr>
          <a:xfrm>
            <a:off x="8094372" y="1239069"/>
            <a:ext cx="3603497" cy="187061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9" name="标题 12"/>
          <p:cNvSpPr>
            <a:spLocks noGrp="1"/>
          </p:cNvSpPr>
          <p:nvPr>
            <p:ph type="title"/>
          </p:nvPr>
        </p:nvSpPr>
        <p:spPr>
          <a:xfrm>
            <a:off x="750888" y="441325"/>
            <a:ext cx="10515600" cy="365125"/>
          </a:xfrm>
        </p:spPr>
        <p:txBody>
          <a:bodyPr>
            <a:noAutofit/>
          </a:bodyPr>
          <a:lstStyle/>
          <a:p>
            <a:r>
              <a:rPr lang="zh-CN" altLang="en-US" sz="3200" dirty="0"/>
              <a:t>二、背景分析</a:t>
            </a:r>
          </a:p>
        </p:txBody>
      </p:sp>
      <p:sp>
        <p:nvSpPr>
          <p:cNvPr id="20" name="标题 1"/>
          <p:cNvSpPr txBox="1"/>
          <p:nvPr/>
        </p:nvSpPr>
        <p:spPr>
          <a:xfrm>
            <a:off x="986779" y="1041139"/>
            <a:ext cx="10711090" cy="516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457200" indent="-457200">
              <a:buFont typeface="Wingdings" panose="05000000000000000000" pitchFamily="2" charset="2"/>
              <a:buChar char="u"/>
            </a:pPr>
            <a:r>
              <a:rPr lang="zh-CN" altLang="en-US" sz="27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用户访谈数据分析</a:t>
            </a:r>
          </a:p>
        </p:txBody>
      </p:sp>
    </p:spTree>
    <p:extLst>
      <p:ext uri="{BB962C8B-B14F-4D97-AF65-F5344CB8AC3E}">
        <p14:creationId xmlns:p14="http://schemas.microsoft.com/office/powerpoint/2010/main" val="23375121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D9CD49-8599-D731-5417-80E84B0E9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3200" dirty="0"/>
              <a:t>三、行业分析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09F1AFF-46B9-4123-991F-ED282D73C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4E30-715F-4973-8179-B4178D7E09F0}" type="datetime1">
              <a:rPr lang="zh-CN" altLang="en-US" smtClean="0"/>
              <a:t>2025/11/6</a:t>
            </a:fld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9BE8D46-40DF-5E1C-F9FB-DFD782A23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29A3F35-5F2B-F983-2C7C-0DF9B8F96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  <a:t>9</a:t>
            </a:fld>
            <a:endParaRPr lang="zh-CN" altLang="en-US" dirty="0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61F910C-651E-7CFC-1D8A-7902AF44AFA5}"/>
              </a:ext>
            </a:extLst>
          </p:cNvPr>
          <p:cNvSpPr>
            <a:spLocks noGrp="1"/>
          </p:cNvSpPr>
          <p:nvPr/>
        </p:nvSpPr>
        <p:spPr>
          <a:xfrm>
            <a:off x="838200" y="1068398"/>
            <a:ext cx="10515600" cy="516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u"/>
              <a:defRPr sz="28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行业现状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0B5201A-8012-0A04-FFBB-93C6F556C1A9}"/>
              </a:ext>
            </a:extLst>
          </p:cNvPr>
          <p:cNvSpPr/>
          <p:nvPr/>
        </p:nvSpPr>
        <p:spPr>
          <a:xfrm>
            <a:off x="1340005" y="1750413"/>
            <a:ext cx="9511990" cy="4415609"/>
          </a:xfrm>
          <a:prstGeom prst="rect">
            <a:avLst/>
          </a:prstGeom>
          <a:gradFill>
            <a:gsLst>
              <a:gs pos="1900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789BDB7-6A3E-298F-DDC3-B3C76FD1F2E6}"/>
              </a:ext>
            </a:extLst>
          </p:cNvPr>
          <p:cNvSpPr txBox="1"/>
          <p:nvPr/>
        </p:nvSpPr>
        <p:spPr>
          <a:xfrm>
            <a:off x="1396991" y="2069306"/>
            <a:ext cx="9398017" cy="39822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en-US" altLang="zh-CN" dirty="0"/>
              <a:t>        </a:t>
            </a:r>
            <a:r>
              <a:rPr lang="zh-CN" altLang="zh-CN" dirty="0"/>
              <a:t>通过对</a:t>
            </a:r>
            <a:r>
              <a:rPr lang="en-US" altLang="zh-CN" dirty="0"/>
              <a:t>3</a:t>
            </a:r>
            <a:r>
              <a:rPr lang="zh-CN" altLang="zh-CN" dirty="0"/>
              <a:t>份主要相关报告：《</a:t>
            </a:r>
            <a:r>
              <a:rPr lang="en-US" altLang="zh-CN" dirty="0"/>
              <a:t>2024</a:t>
            </a:r>
            <a:r>
              <a:rPr lang="zh-CN" altLang="zh-CN" dirty="0"/>
              <a:t>陌生人社交深度报告》《</a:t>
            </a:r>
            <a:r>
              <a:rPr lang="en-US" altLang="zh-CN" dirty="0"/>
              <a:t>2024</a:t>
            </a:r>
            <a:r>
              <a:rPr lang="zh-CN" altLang="zh-CN" dirty="0"/>
              <a:t>年中国移动互联网半年报告》《恋爱社交</a:t>
            </a:r>
            <a:r>
              <a:rPr lang="en-US" altLang="zh-CN" dirty="0"/>
              <a:t>App</a:t>
            </a:r>
            <a:r>
              <a:rPr lang="zh-CN" altLang="zh-CN" dirty="0"/>
              <a:t>产品分析报告》，进行研究，发现随着社会发展，</a:t>
            </a:r>
            <a:r>
              <a:rPr lang="zh-CN" altLang="zh-CN" dirty="0">
                <a:solidFill>
                  <a:srgbClr val="FF0000"/>
                </a:solidFill>
              </a:rPr>
              <a:t>单身人群数量不断上升，尤其在校园的年轻群体中更为明显</a:t>
            </a:r>
            <a:r>
              <a:rPr lang="zh-CN" altLang="zh-CN" dirty="0"/>
              <a:t>，这为婚恋社交市场带来了庞大的潜在用户群体。</a:t>
            </a:r>
            <a:endParaRPr lang="en-US" altLang="zh-CN" dirty="0"/>
          </a:p>
          <a:p>
            <a:pPr algn="just" hangingPunct="0">
              <a:lnSpc>
                <a:spcPct val="130000"/>
              </a:lnSpc>
            </a:pPr>
            <a:endParaRPr lang="en-US" altLang="zh-CN" dirty="0"/>
          </a:p>
          <a:p>
            <a:pPr algn="just" hangingPunct="0">
              <a:lnSpc>
                <a:spcPct val="130000"/>
              </a:lnSpc>
            </a:pPr>
            <a:r>
              <a:rPr lang="en-US" altLang="zh-CN" dirty="0"/>
              <a:t>        </a:t>
            </a:r>
            <a:r>
              <a:rPr lang="zh-CN" altLang="zh-CN" dirty="0"/>
              <a:t>然而，当前恋爱相亲平台存在诸多</a:t>
            </a:r>
            <a:r>
              <a:rPr lang="zh-CN" altLang="zh-CN" dirty="0">
                <a:solidFill>
                  <a:srgbClr val="FF0000"/>
                </a:solidFill>
              </a:rPr>
              <a:t>问题</a:t>
            </a:r>
            <a:r>
              <a:rPr lang="zh-CN" altLang="zh-CN" dirty="0"/>
              <a:t>。</a:t>
            </a:r>
            <a:endParaRPr lang="en-US" altLang="zh-CN" dirty="0"/>
          </a:p>
          <a:p>
            <a:pPr algn="just" hangingPunct="0">
              <a:lnSpc>
                <a:spcPct val="130000"/>
              </a:lnSpc>
            </a:pPr>
            <a:r>
              <a:rPr lang="en-US" altLang="zh-CN" b="1" dirty="0"/>
              <a:t>        </a:t>
            </a:r>
            <a:r>
              <a:rPr lang="zh-CN" altLang="zh-CN" b="1" dirty="0"/>
              <a:t>其一</a:t>
            </a:r>
            <a:r>
              <a:rPr lang="zh-CN" altLang="zh-CN" dirty="0"/>
              <a:t>，匹配算法不够精准，且匹配效率底下（现有平台平均匹配响应时间＞</a:t>
            </a:r>
            <a:r>
              <a:rPr lang="en-US" altLang="zh-CN" dirty="0"/>
              <a:t>72</a:t>
            </a:r>
            <a:r>
              <a:rPr lang="zh-CN" altLang="zh-CN" dirty="0"/>
              <a:t>小），难以满足用户找到情投意合的恋爱对象的需求；</a:t>
            </a:r>
            <a:endParaRPr lang="en-US" altLang="zh-CN" dirty="0"/>
          </a:p>
          <a:p>
            <a:pPr algn="just" hangingPunct="0">
              <a:lnSpc>
                <a:spcPct val="130000"/>
              </a:lnSpc>
            </a:pPr>
            <a:r>
              <a:rPr lang="en-US" altLang="zh-CN" b="1" dirty="0"/>
              <a:t>        </a:t>
            </a:r>
            <a:r>
              <a:rPr lang="zh-CN" altLang="zh-CN" b="1" dirty="0"/>
              <a:t>其二</a:t>
            </a:r>
            <a:r>
              <a:rPr lang="zh-CN" altLang="zh-CN" dirty="0"/>
              <a:t>，社区环境参差不齐，部分平台充斥不良信息，对在校年轻人不友好，用户隐私保护也存在漏洞，个人信息泄露风险较高。</a:t>
            </a:r>
            <a:r>
              <a:rPr lang="en-US" altLang="zh-CN" dirty="0"/>
              <a:t>2023</a:t>
            </a:r>
            <a:r>
              <a:rPr lang="zh-CN" altLang="zh-CN" dirty="0"/>
              <a:t>年</a:t>
            </a:r>
            <a:r>
              <a:rPr lang="en-US" altLang="zh-CN" dirty="0"/>
              <a:t>Q3</a:t>
            </a:r>
            <a:r>
              <a:rPr lang="zh-CN" altLang="zh-CN" dirty="0"/>
              <a:t>网络诈骗案件中，</a:t>
            </a:r>
            <a:r>
              <a:rPr lang="en-US" altLang="zh-CN" dirty="0"/>
              <a:t>23%</a:t>
            </a:r>
            <a:r>
              <a:rPr lang="zh-CN" altLang="zh-CN" dirty="0"/>
              <a:t>源于社交平台。</a:t>
            </a:r>
            <a:endParaRPr lang="en-US" altLang="zh-CN" dirty="0"/>
          </a:p>
          <a:p>
            <a:pPr algn="just" hangingPunct="0">
              <a:lnSpc>
                <a:spcPct val="130000"/>
              </a:lnSpc>
            </a:pPr>
            <a:r>
              <a:rPr lang="en-US" altLang="zh-CN" b="1" dirty="0"/>
              <a:t>        </a:t>
            </a:r>
            <a:r>
              <a:rPr lang="zh-CN" altLang="zh-CN" b="1" dirty="0"/>
              <a:t>其三</a:t>
            </a:r>
            <a:r>
              <a:rPr lang="zh-CN" altLang="zh-CN" dirty="0"/>
              <a:t>，线下恋爱场景缺失，</a:t>
            </a:r>
            <a:r>
              <a:rPr lang="en-US" altLang="zh-CN" dirty="0"/>
              <a:t>68%</a:t>
            </a:r>
            <a:r>
              <a:rPr lang="zh-CN" altLang="zh-CN" dirty="0"/>
              <a:t>大学生期待</a:t>
            </a:r>
            <a:r>
              <a:rPr lang="en-US" altLang="zh-CN" dirty="0"/>
              <a:t>"</a:t>
            </a:r>
            <a:r>
              <a:rPr lang="zh-CN" altLang="zh-CN" dirty="0"/>
              <a:t>从线上匹配到线下活动</a:t>
            </a:r>
            <a:r>
              <a:rPr lang="en-US" altLang="zh-CN" dirty="0"/>
              <a:t>"</a:t>
            </a:r>
            <a:r>
              <a:rPr lang="zh-CN" altLang="zh-CN" dirty="0"/>
              <a:t>的全链路服务。</a:t>
            </a:r>
            <a:endParaRPr lang="zh-CN" altLang="en-US" dirty="0"/>
          </a:p>
          <a:p>
            <a:pPr algn="just" hangingPunct="0">
              <a:lnSpc>
                <a:spcPct val="130000"/>
              </a:lnSpc>
            </a:pPr>
            <a:endParaRPr lang="zh-CN" altLang="en-US" sz="1600" spc="100" dirty="0">
              <a:solidFill>
                <a:schemeClr val="accent4">
                  <a:lumMod val="20000"/>
                  <a:lumOff val="80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177597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17816-0276-D4D9-170E-F3E9BF996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55DFC5-C691-1CCF-4B99-4B740E302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3200" dirty="0"/>
              <a:t>三、行业分析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7E8C73B-0D57-1365-C166-E72F7CD9D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4E30-715F-4973-8179-B4178D7E09F0}" type="datetime1">
              <a:rPr lang="zh-CN" altLang="en-US" smtClean="0"/>
              <a:t>2025/11/6</a:t>
            </a:fld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EC9CF22-417D-C11B-D6FE-52B989FB7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西安电子科技大学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E8F859C-0E7A-17AD-FEC6-D800A9926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  <a:t>10</a:t>
            </a:fld>
            <a:endParaRPr lang="zh-CN" altLang="en-US" dirty="0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95858D37-7A1D-3E12-F554-F5091B1CB6E3}"/>
              </a:ext>
            </a:extLst>
          </p:cNvPr>
          <p:cNvSpPr>
            <a:spLocks noGrp="1"/>
          </p:cNvSpPr>
          <p:nvPr/>
        </p:nvSpPr>
        <p:spPr>
          <a:xfrm>
            <a:off x="838200" y="1068398"/>
            <a:ext cx="10515600" cy="516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u"/>
              <a:defRPr sz="28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行业发展趋势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BBDEF7A-F4AB-2651-2800-8314B7194329}"/>
              </a:ext>
            </a:extLst>
          </p:cNvPr>
          <p:cNvSpPr txBox="1"/>
          <p:nvPr/>
        </p:nvSpPr>
        <p:spPr>
          <a:xfrm>
            <a:off x="1184189" y="2047463"/>
            <a:ext cx="393427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        </a:t>
            </a:r>
            <a:r>
              <a:rPr lang="zh-CN" altLang="zh-CN" dirty="0"/>
              <a:t>据相关报告显示，线上匹配相亲市场规模持续增长。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        </a:t>
            </a:r>
            <a:r>
              <a:rPr lang="zh-CN" altLang="zh-CN" dirty="0"/>
              <a:t>据艾媒咨询报告，</a:t>
            </a:r>
            <a:r>
              <a:rPr lang="en-US" altLang="zh-CN" dirty="0"/>
              <a:t>2023</a:t>
            </a:r>
            <a:r>
              <a:rPr lang="zh-CN" altLang="zh-CN" dirty="0"/>
              <a:t>年中国互联网婚恋市场规模达</a:t>
            </a:r>
            <a:r>
              <a:rPr lang="en-US" altLang="zh-CN" dirty="0">
                <a:solidFill>
                  <a:srgbClr val="FF0000"/>
                </a:solidFill>
              </a:rPr>
              <a:t> </a:t>
            </a:r>
            <a:r>
              <a:rPr lang="en-US" altLang="zh-CN" dirty="0"/>
              <a:t>72.6</a:t>
            </a:r>
            <a:r>
              <a:rPr lang="zh-CN" altLang="zh-CN" dirty="0"/>
              <a:t>亿元，其中</a:t>
            </a:r>
            <a:r>
              <a:rPr lang="en-US" altLang="zh-CN" dirty="0"/>
              <a:t>Z</a:t>
            </a:r>
            <a:r>
              <a:rPr lang="zh-CN" altLang="zh-CN" dirty="0"/>
              <a:t>世代（含大学生）占比超</a:t>
            </a:r>
            <a:r>
              <a:rPr lang="en-US" altLang="zh-CN" dirty="0">
                <a:solidFill>
                  <a:srgbClr val="FF0000"/>
                </a:solidFill>
              </a:rPr>
              <a:t>30%</a:t>
            </a:r>
            <a:r>
              <a:rPr lang="zh-CN" altLang="zh-CN" dirty="0"/>
              <a:t>，校园垂直类应用下载量年均增长约</a:t>
            </a:r>
            <a:r>
              <a:rPr lang="en-US" altLang="zh-CN" dirty="0"/>
              <a:t> </a:t>
            </a:r>
            <a:r>
              <a:rPr lang="en-US" altLang="zh-CN" dirty="0">
                <a:solidFill>
                  <a:srgbClr val="FF0000"/>
                </a:solidFill>
              </a:rPr>
              <a:t>15</a:t>
            </a:r>
            <a:r>
              <a:rPr lang="en-US" altLang="zh-CN" b="1" dirty="0">
                <a:solidFill>
                  <a:srgbClr val="FF0000"/>
                </a:solidFill>
              </a:rPr>
              <a:t>%</a:t>
            </a:r>
            <a:r>
              <a:rPr lang="zh-CN" altLang="zh-CN" dirty="0"/>
              <a:t>。</a:t>
            </a:r>
            <a:endParaRPr lang="en-US" altLang="zh-CN" dirty="0"/>
          </a:p>
          <a:p>
            <a:r>
              <a:rPr lang="en-US" altLang="zh-CN" dirty="0"/>
              <a:t>        </a:t>
            </a:r>
            <a:endParaRPr lang="zh-CN" altLang="en-US" sz="1600" spc="100" dirty="0">
              <a:solidFill>
                <a:schemeClr val="accent4">
                  <a:lumMod val="20000"/>
                  <a:lumOff val="80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6FBA115-C2B6-4BAF-BC3C-5A0B29335A23}"/>
              </a:ext>
            </a:extLst>
          </p:cNvPr>
          <p:cNvSpPr txBox="1"/>
          <p:nvPr/>
        </p:nvSpPr>
        <p:spPr>
          <a:xfrm>
            <a:off x="590265" y="4894796"/>
            <a:ext cx="11011469" cy="1461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en-US" altLang="zh-CN" dirty="0"/>
              <a:t>        </a:t>
            </a:r>
            <a:r>
              <a:rPr lang="zh-CN" altLang="zh-CN" dirty="0"/>
              <a:t>未来，交友平台将朝着更加智能化、个性化、安全化的方向发展。利用人工智能和大数据技术优化匹配算法，提高匹配精度；加强隐私保护技术研发，保障用户信息安全；打造优质社区环境，增强用户粘性，将成为行业发展的关键趋势。</a:t>
            </a:r>
          </a:p>
          <a:p>
            <a:pPr algn="just" hangingPunct="0">
              <a:lnSpc>
                <a:spcPct val="130000"/>
              </a:lnSpc>
            </a:pPr>
            <a:endParaRPr lang="zh-CN" altLang="en-US" sz="1600" spc="100" dirty="0">
              <a:solidFill>
                <a:schemeClr val="accent4">
                  <a:lumMod val="20000"/>
                  <a:lumOff val="80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0272640F-2A7C-7465-437A-182BE7775394}"/>
              </a:ext>
            </a:extLst>
          </p:cNvPr>
          <p:cNvGrpSpPr/>
          <p:nvPr/>
        </p:nvGrpSpPr>
        <p:grpSpPr>
          <a:xfrm>
            <a:off x="5288621" y="1470274"/>
            <a:ext cx="6313113" cy="3162512"/>
            <a:chOff x="5288621" y="1470274"/>
            <a:chExt cx="6313113" cy="3162512"/>
          </a:xfrm>
        </p:grpSpPr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D36F82B2-8117-D5E7-33E8-C2DCE3E02B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88621" y="1470274"/>
              <a:ext cx="6313113" cy="3162512"/>
            </a:xfrm>
            <a:prstGeom prst="rect">
              <a:avLst/>
            </a:prstGeom>
          </p:spPr>
        </p:pic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D95169CE-4B5A-E5DD-F123-E24CFF22568E}"/>
                </a:ext>
              </a:extLst>
            </p:cNvPr>
            <p:cNvSpPr/>
            <p:nvPr/>
          </p:nvSpPr>
          <p:spPr>
            <a:xfrm>
              <a:off x="5375189" y="1470274"/>
              <a:ext cx="720811" cy="37088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6272794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3200" dirty="0"/>
              <a:t>四、市场分析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67676" y="6236409"/>
            <a:ext cx="2888082" cy="475541"/>
          </a:xfrm>
        </p:spPr>
        <p:txBody>
          <a:bodyPr/>
          <a:lstStyle/>
          <a:p>
            <a:fld id="{4DB44E30-715F-4973-8179-B4178D7E09F0}" type="datetime1">
              <a:rPr lang="zh-CN" altLang="en-US" smtClean="0"/>
              <a:t>2025/11/6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795635" y="6236409"/>
            <a:ext cx="4332123" cy="475541"/>
          </a:xfrm>
        </p:spPr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440076" y="6236409"/>
            <a:ext cx="2888082" cy="475541"/>
          </a:xfrm>
        </p:spPr>
        <p:txBody>
          <a:bodyPr/>
          <a:lstStyle/>
          <a:p>
            <a:fld id="{33B9A5AF-BDD6-4E14-989F-CF034C94E4CA}" type="slidenum">
              <a:rPr lang="zh-CN" altLang="en-US" smtClean="0"/>
              <a:t>11</a:t>
            </a:fld>
            <a:endParaRPr lang="zh-CN" altLang="en-US" dirty="0"/>
          </a:p>
        </p:txBody>
      </p:sp>
      <p:sp>
        <p:nvSpPr>
          <p:cNvPr id="50" name="单圆角矩形 6">
            <a:extLst>
              <a:ext uri="{FF2B5EF4-FFF2-40B4-BE49-F238E27FC236}">
                <a16:creationId xmlns:a16="http://schemas.microsoft.com/office/drawing/2014/main" id="{7896FCC7-3850-46A2-81EF-57E6AAEA537F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 flipH="1">
            <a:off x="750104" y="2224710"/>
            <a:ext cx="3464908" cy="777240"/>
          </a:xfrm>
          <a:prstGeom prst="round1Rect">
            <a:avLst>
              <a:gd name="adj" fmla="val 50000"/>
            </a:avLst>
          </a:prstGeom>
          <a:gradFill>
            <a:gsLst>
              <a:gs pos="90000">
                <a:schemeClr val="accent1">
                  <a:lumMod val="60000"/>
                  <a:lumOff val="40000"/>
                  <a:alpha val="100000"/>
                </a:schemeClr>
              </a:gs>
              <a:gs pos="0">
                <a:schemeClr val="accent1">
                  <a:alpha val="100000"/>
                </a:schemeClr>
              </a:gs>
            </a:gsLst>
            <a:lin ang="2700000" scaled="0"/>
          </a:gradFill>
          <a:ln>
            <a:noFill/>
          </a:ln>
          <a:effectLst>
            <a:outerShdw blurRad="50800" dist="38100" dir="2700000" algn="tl" rotWithShape="0">
              <a:schemeClr val="accent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71755" tIns="71755" rIns="288290" bIns="71755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r>
              <a:rPr lang="zh-CN" altLang="en-US" sz="2000" b="1" dirty="0">
                <a:solidFill>
                  <a:srgbClr val="FFFFFF"/>
                </a:solidFill>
                <a:latin typeface="+mj-ea"/>
                <a:ea typeface="+mj-ea"/>
                <a:sym typeface="+mn-ea"/>
              </a:rPr>
              <a:t>市场定位</a:t>
            </a:r>
            <a:r>
              <a:rPr lang="en-US" altLang="zh-CN" sz="2000" b="1" dirty="0">
                <a:solidFill>
                  <a:srgbClr val="FFFFFF"/>
                </a:solidFill>
                <a:latin typeface="+mj-ea"/>
                <a:ea typeface="+mj-ea"/>
                <a:sym typeface="+mn-ea"/>
              </a:rPr>
              <a:t>-&gt;</a:t>
            </a:r>
            <a:r>
              <a:rPr lang="zh-CN" altLang="en-US" sz="2000" b="1" dirty="0">
                <a:solidFill>
                  <a:srgbClr val="FFFFFF"/>
                </a:solidFill>
                <a:latin typeface="+mj-ea"/>
                <a:ea typeface="+mj-ea"/>
                <a:sym typeface="+mn-ea"/>
              </a:rPr>
              <a:t>精准聚焦</a:t>
            </a:r>
          </a:p>
        </p:txBody>
      </p:sp>
      <p:sp>
        <p:nvSpPr>
          <p:cNvPr id="51" name="单圆角矩形 11">
            <a:extLst>
              <a:ext uri="{FF2B5EF4-FFF2-40B4-BE49-F238E27FC236}">
                <a16:creationId xmlns:a16="http://schemas.microsoft.com/office/drawing/2014/main" id="{88279D46-5F53-48CE-8097-7F5323EBD3A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 flipH="1">
            <a:off x="3913039" y="1916225"/>
            <a:ext cx="3464908" cy="777240"/>
          </a:xfrm>
          <a:prstGeom prst="round1Rect">
            <a:avLst>
              <a:gd name="adj" fmla="val 50000"/>
            </a:avLst>
          </a:prstGeom>
          <a:gradFill>
            <a:gsLst>
              <a:gs pos="90000">
                <a:schemeClr val="accent2">
                  <a:lumMod val="60000"/>
                  <a:lumOff val="40000"/>
                  <a:alpha val="100000"/>
                </a:schemeClr>
              </a:gs>
              <a:gs pos="0">
                <a:schemeClr val="accent2">
                  <a:alpha val="100000"/>
                </a:schemeClr>
              </a:gs>
            </a:gsLst>
            <a:lin ang="2700000" scaled="0"/>
          </a:gradFill>
          <a:ln>
            <a:noFill/>
          </a:ln>
          <a:effectLst>
            <a:outerShdw blurRad="50800" dist="38100" dir="2700000" algn="tl" rotWithShape="0">
              <a:schemeClr val="accent2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71755" tIns="71755" rIns="288290" bIns="71755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r>
              <a:rPr lang="zh-CN" altLang="en-US" sz="2000" b="1" dirty="0">
                <a:solidFill>
                  <a:srgbClr val="FFFFFF"/>
                </a:solidFill>
                <a:latin typeface="+mj-ea"/>
                <a:ea typeface="+mj-ea"/>
                <a:sym typeface="+mn-ea"/>
              </a:rPr>
              <a:t>规模趋势</a:t>
            </a:r>
            <a:r>
              <a:rPr lang="en-US" altLang="zh-CN" sz="2000" b="1" dirty="0">
                <a:solidFill>
                  <a:srgbClr val="FFFFFF"/>
                </a:solidFill>
                <a:latin typeface="+mj-ea"/>
                <a:ea typeface="+mj-ea"/>
                <a:sym typeface="+mn-ea"/>
              </a:rPr>
              <a:t>-&gt;</a:t>
            </a:r>
            <a:r>
              <a:rPr lang="zh-CN" altLang="en-US" sz="2000" b="1" dirty="0">
                <a:solidFill>
                  <a:srgbClr val="FFFFFF"/>
                </a:solidFill>
                <a:latin typeface="+mj-ea"/>
                <a:ea typeface="+mj-ea"/>
                <a:sym typeface="+mn-ea"/>
              </a:rPr>
              <a:t>技术驱动</a:t>
            </a:r>
          </a:p>
        </p:txBody>
      </p:sp>
      <p:sp>
        <p:nvSpPr>
          <p:cNvPr id="52" name="直角三角形 51">
            <a:extLst>
              <a:ext uri="{FF2B5EF4-FFF2-40B4-BE49-F238E27FC236}">
                <a16:creationId xmlns:a16="http://schemas.microsoft.com/office/drawing/2014/main" id="{6DC64988-D3E6-41AA-A45B-E96C941517A0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 rot="10800000">
            <a:off x="3913039" y="2699690"/>
            <a:ext cx="301734" cy="301734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53" name="直角三角形 52">
            <a:extLst>
              <a:ext uri="{FF2B5EF4-FFF2-40B4-BE49-F238E27FC236}">
                <a16:creationId xmlns:a16="http://schemas.microsoft.com/office/drawing/2014/main" id="{C1939049-E867-450B-85FC-9818B7974A2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 rot="10800000">
            <a:off x="7072164" y="2396795"/>
            <a:ext cx="301734" cy="301734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54" name="任意多边形 35">
            <a:extLst>
              <a:ext uri="{FF2B5EF4-FFF2-40B4-BE49-F238E27FC236}">
                <a16:creationId xmlns:a16="http://schemas.microsoft.com/office/drawing/2014/main" id="{D4071567-0386-421C-85B4-F3F61F421417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7072164" y="1326185"/>
            <a:ext cx="4245178" cy="136728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988" h="1731">
                <a:moveTo>
                  <a:pt x="3123" y="0"/>
                </a:moveTo>
                <a:lnTo>
                  <a:pt x="3988" y="866"/>
                </a:lnTo>
                <a:lnTo>
                  <a:pt x="3122" y="1731"/>
                </a:lnTo>
                <a:lnTo>
                  <a:pt x="3122" y="1358"/>
                </a:lnTo>
                <a:lnTo>
                  <a:pt x="0" y="1358"/>
                </a:lnTo>
                <a:lnTo>
                  <a:pt x="0" y="866"/>
                </a:lnTo>
                <a:cubicBezTo>
                  <a:pt x="0" y="594"/>
                  <a:pt x="220" y="374"/>
                  <a:pt x="492" y="374"/>
                </a:cubicBezTo>
                <a:lnTo>
                  <a:pt x="3123" y="374"/>
                </a:lnTo>
                <a:lnTo>
                  <a:pt x="3123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100000"/>
                </a:schemeClr>
              </a:gs>
              <a:gs pos="75000">
                <a:schemeClr val="accent1">
                  <a:alpha val="100000"/>
                </a:schemeClr>
              </a:gs>
            </a:gsLst>
            <a:lin ang="0" scaled="0"/>
          </a:gradFill>
          <a:ln>
            <a:noFill/>
          </a:ln>
          <a:effectLst>
            <a:outerShdw blurRad="50800" dist="38100" dir="2700000" algn="tl" rotWithShape="0">
              <a:schemeClr val="accent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71755" tIns="71755" rIns="360045" bIns="71755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r>
              <a:rPr lang="zh-CN" altLang="en-US" sz="2000" b="1" dirty="0">
                <a:solidFill>
                  <a:srgbClr val="FFFFFF"/>
                </a:solidFill>
                <a:latin typeface="+mj-ea"/>
                <a:ea typeface="+mj-ea"/>
                <a:sym typeface="+mn-ea"/>
              </a:rPr>
              <a:t>运营策略</a:t>
            </a:r>
            <a:r>
              <a:rPr lang="en-US" altLang="zh-CN" sz="2000" b="1" dirty="0">
                <a:solidFill>
                  <a:srgbClr val="FFFFFF"/>
                </a:solidFill>
                <a:latin typeface="+mj-ea"/>
                <a:ea typeface="+mj-ea"/>
                <a:sym typeface="+mn-ea"/>
              </a:rPr>
              <a:t>-&gt;</a:t>
            </a:r>
            <a:r>
              <a:rPr lang="zh-CN" altLang="en-US" sz="2000" b="1" dirty="0">
                <a:solidFill>
                  <a:srgbClr val="FFFFFF"/>
                </a:solidFill>
                <a:latin typeface="+mj-ea"/>
                <a:ea typeface="+mj-ea"/>
                <a:sym typeface="+mn-ea"/>
              </a:rPr>
              <a:t>场景渗透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8959191F-E27C-4BD8-A20A-8F5ACF0A8EB5}"/>
              </a:ext>
            </a:extLst>
          </p:cNvPr>
          <p:cNvSpPr txBox="1"/>
          <p:nvPr/>
        </p:nvSpPr>
        <p:spPr>
          <a:xfrm>
            <a:off x="1049282" y="3563066"/>
            <a:ext cx="319886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i="0" dirty="0">
                <a:effectLst/>
                <a:latin typeface="D-DINExp"/>
              </a:rPr>
              <a:t>• </a:t>
            </a:r>
            <a:r>
              <a:rPr lang="zh-CN" altLang="en-US" sz="2000" b="1" i="0" dirty="0">
                <a:effectLst/>
                <a:latin typeface="D-DINExp"/>
              </a:rPr>
              <a:t>高频互联网用户</a:t>
            </a:r>
          </a:p>
          <a:p>
            <a:r>
              <a:rPr lang="en-US" altLang="zh-CN" sz="2000" b="1" i="0" dirty="0">
                <a:effectLst/>
                <a:latin typeface="D-DINExp"/>
              </a:rPr>
              <a:t>• </a:t>
            </a:r>
            <a:r>
              <a:rPr lang="zh-CN" altLang="en-US" sz="2000" b="1" i="0" dirty="0">
                <a:effectLst/>
                <a:latin typeface="D-DINExp"/>
              </a:rPr>
              <a:t>强社交需求群体</a:t>
            </a:r>
          </a:p>
          <a:p>
            <a:r>
              <a:rPr lang="en-US" altLang="zh-CN" sz="2000" b="1" i="0" dirty="0">
                <a:effectLst/>
                <a:latin typeface="D-DINExp"/>
              </a:rPr>
              <a:t>• </a:t>
            </a:r>
            <a:r>
              <a:rPr lang="zh-CN" altLang="en-US" sz="2000" b="1" i="0" dirty="0">
                <a:effectLst/>
                <a:latin typeface="D-DINExp"/>
              </a:rPr>
              <a:t>新鲜事物敏感度</a:t>
            </a:r>
            <a:r>
              <a:rPr lang="en-US" altLang="zh-CN" sz="2000" b="1" i="0" dirty="0">
                <a:effectLst/>
                <a:latin typeface="D-DINExp"/>
              </a:rPr>
              <a:t>&gt;80%</a:t>
            </a:r>
            <a:endParaRPr lang="zh-CN" altLang="en-US" sz="2000" dirty="0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6421A45D-181D-4AA7-BB62-3826246BF2B3}"/>
              </a:ext>
            </a:extLst>
          </p:cNvPr>
          <p:cNvSpPr txBox="1"/>
          <p:nvPr/>
        </p:nvSpPr>
        <p:spPr>
          <a:xfrm>
            <a:off x="1143741" y="4742109"/>
            <a:ext cx="3175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000000"/>
                </a:solidFill>
                <a:effectLst/>
                <a:latin typeface="+mn-ea"/>
              </a:rPr>
              <a:t>构建校园社交闭环</a:t>
            </a:r>
            <a:br>
              <a:rPr lang="zh-CN" altLang="en-US" dirty="0">
                <a:latin typeface="+mn-ea"/>
              </a:rPr>
            </a:br>
            <a:r>
              <a:rPr lang="zh-CN" altLang="en-US" b="0" i="0" dirty="0">
                <a:solidFill>
                  <a:srgbClr val="000000"/>
                </a:solidFill>
                <a:effectLst/>
                <a:latin typeface="+mn-ea"/>
              </a:rPr>
              <a:t>垂直场景精准匹配</a:t>
            </a:r>
            <a:endParaRPr lang="zh-CN" altLang="en-US" dirty="0">
              <a:latin typeface="+mn-ea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E0AF825E-1618-4DE3-9D55-7F7CFF14E0BD}"/>
              </a:ext>
            </a:extLst>
          </p:cNvPr>
          <p:cNvSpPr txBox="1"/>
          <p:nvPr/>
        </p:nvSpPr>
        <p:spPr>
          <a:xfrm>
            <a:off x="4559245" y="3236142"/>
            <a:ext cx="6096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i="0" dirty="0">
                <a:effectLst/>
                <a:latin typeface="D-DINExp"/>
              </a:rPr>
              <a:t>• 2023</a:t>
            </a:r>
            <a:r>
              <a:rPr lang="zh-CN" altLang="en-US" sz="2000" b="1" i="0" dirty="0">
                <a:effectLst/>
                <a:latin typeface="D-DINExp"/>
              </a:rPr>
              <a:t>市占率</a:t>
            </a:r>
            <a:r>
              <a:rPr lang="en-US" altLang="zh-CN" sz="2000" b="1" i="0" dirty="0">
                <a:effectLst/>
                <a:latin typeface="D-DINExp"/>
              </a:rPr>
              <a:t>15-20%</a:t>
            </a:r>
          </a:p>
          <a:p>
            <a:r>
              <a:rPr lang="en-US" altLang="zh-CN" sz="2000" b="1" i="0" dirty="0">
                <a:effectLst/>
                <a:latin typeface="D-DINExp"/>
              </a:rPr>
              <a:t>• CAGR12-15%</a:t>
            </a:r>
          </a:p>
          <a:p>
            <a:r>
              <a:rPr lang="en-US" altLang="zh-CN" sz="2000" b="1" i="0" dirty="0">
                <a:effectLst/>
                <a:latin typeface="D-DINExp"/>
              </a:rPr>
              <a:t>• AI</a:t>
            </a:r>
            <a:r>
              <a:rPr lang="zh-CN" altLang="en-US" sz="2000" b="1" i="0" dirty="0">
                <a:effectLst/>
                <a:latin typeface="D-DINExp"/>
              </a:rPr>
              <a:t>匹配升级系统</a:t>
            </a:r>
            <a:endParaRPr lang="zh-CN" altLang="en-US" sz="2000" dirty="0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B5F9F2EF-CC53-4B2E-B1CB-0D2FB39DD342}"/>
              </a:ext>
            </a:extLst>
          </p:cNvPr>
          <p:cNvSpPr txBox="1"/>
          <p:nvPr/>
        </p:nvSpPr>
        <p:spPr>
          <a:xfrm>
            <a:off x="4689818" y="4389085"/>
            <a:ext cx="25463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+mn-ea"/>
              </a:rPr>
              <a:t>生源基数转化动能</a:t>
            </a:r>
            <a:br>
              <a:rPr lang="zh-CN" altLang="en-US" dirty="0">
                <a:solidFill>
                  <a:srgbClr val="000000"/>
                </a:solidFill>
                <a:latin typeface="+mn-ea"/>
              </a:rPr>
            </a:br>
            <a:r>
              <a:rPr lang="zh-CN" altLang="en-US" dirty="0">
                <a:solidFill>
                  <a:srgbClr val="000000"/>
                </a:solidFill>
                <a:latin typeface="+mn-ea"/>
              </a:rPr>
              <a:t>重构社交价值链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125DD60D-AC66-4ED7-A630-C889812DA19E}"/>
              </a:ext>
            </a:extLst>
          </p:cNvPr>
          <p:cNvSpPr txBox="1"/>
          <p:nvPr/>
        </p:nvSpPr>
        <p:spPr>
          <a:xfrm>
            <a:off x="7695917" y="2547403"/>
            <a:ext cx="2692569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• </a:t>
            </a:r>
            <a:r>
              <a:rPr lang="zh-CN" altLang="en-US" sz="2000" b="1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双端协同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br>
              <a:rPr lang="zh-CN" altLang="en-US" sz="2000" dirty="0"/>
            </a:br>
            <a:r>
              <a:rPr lang="zh-CN" altLang="en-US" sz="20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校园组织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+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应用商店</a:t>
            </a:r>
            <a:br>
              <a:rPr lang="zh-CN" altLang="en-US" sz="2000" dirty="0"/>
            </a:br>
            <a:r>
              <a:rPr lang="en-US" altLang="zh-CN" sz="20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• </a:t>
            </a:r>
            <a:r>
              <a:rPr lang="zh-CN" altLang="en-US" sz="2000" b="1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三级增值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br>
              <a:rPr lang="zh-CN" altLang="en-US" sz="2000" dirty="0"/>
            </a:br>
            <a:r>
              <a:rPr lang="zh-CN" altLang="en-US" sz="20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免费基础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+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弹性收费</a:t>
            </a:r>
            <a:br>
              <a:rPr lang="zh-CN" altLang="en-US" sz="2000" dirty="0"/>
            </a:br>
            <a:r>
              <a:rPr lang="en-US" altLang="zh-CN" sz="20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• </a:t>
            </a:r>
            <a:r>
              <a:rPr lang="en-US" altLang="zh-CN" sz="2000" b="1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OMO</a:t>
            </a:r>
            <a:r>
              <a:rPr lang="zh-CN" altLang="en-US" sz="2000" b="1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运营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覆盖</a:t>
            </a:r>
            <a:endParaRPr lang="zh-CN" altLang="en-US" sz="2000" dirty="0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E4C73F2D-663B-4F7E-BDD5-6398B96B5701}"/>
              </a:ext>
            </a:extLst>
          </p:cNvPr>
          <p:cNvSpPr txBox="1"/>
          <p:nvPr/>
        </p:nvSpPr>
        <p:spPr>
          <a:xfrm>
            <a:off x="7753703" y="4265195"/>
            <a:ext cx="26347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+mn-ea"/>
              </a:rPr>
              <a:t>生命周期全阶段管理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14E18797-8F56-4653-A965-2783485F926D}"/>
              </a:ext>
            </a:extLst>
          </p:cNvPr>
          <p:cNvSpPr txBox="1"/>
          <p:nvPr/>
        </p:nvSpPr>
        <p:spPr>
          <a:xfrm>
            <a:off x="1511245" y="3080452"/>
            <a:ext cx="20445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i="0" dirty="0">
                <a:solidFill>
                  <a:srgbClr val="FF3366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18-25</a:t>
            </a:r>
            <a:r>
              <a:rPr lang="zh-CN" altLang="en-US" sz="2400" b="1" i="0" dirty="0">
                <a:solidFill>
                  <a:srgbClr val="FF3366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岁</a:t>
            </a:r>
            <a:endParaRPr lang="zh-CN" altLang="en-US" sz="2400" dirty="0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D4A78137-2D03-451E-9C1A-D12E21DCC74A}"/>
              </a:ext>
            </a:extLst>
          </p:cNvPr>
          <p:cNvSpPr txBox="1"/>
          <p:nvPr/>
        </p:nvSpPr>
        <p:spPr>
          <a:xfrm>
            <a:off x="4716932" y="2751780"/>
            <a:ext cx="21590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FF33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50</a:t>
            </a:r>
            <a:r>
              <a:rPr lang="zh-CN" altLang="en-US" sz="2400" b="1" dirty="0">
                <a:solidFill>
                  <a:srgbClr val="FF33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亿→</a:t>
            </a:r>
            <a:r>
              <a:rPr lang="en-US" altLang="zh-CN" sz="2400" b="1" dirty="0">
                <a:solidFill>
                  <a:srgbClr val="FF33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100</a:t>
            </a:r>
            <a:r>
              <a:rPr lang="zh-CN" altLang="en-US" sz="2400" b="1" dirty="0">
                <a:solidFill>
                  <a:srgbClr val="FF33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亿</a:t>
            </a: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0508DA14-8B2A-24F7-7C4C-639460548695}"/>
              </a:ext>
            </a:extLst>
          </p:cNvPr>
          <p:cNvSpPr>
            <a:spLocks noGrp="1"/>
          </p:cNvSpPr>
          <p:nvPr/>
        </p:nvSpPr>
        <p:spPr>
          <a:xfrm>
            <a:off x="838200" y="1068398"/>
            <a:ext cx="10515600" cy="516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u"/>
              <a:defRPr sz="28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市场定位与趋势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3200" dirty="0"/>
              <a:t>四、市场分析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4E30-715F-4973-8179-B4178D7E09F0}" type="datetime1">
              <a:rPr lang="zh-CN" altLang="en-US" smtClean="0"/>
              <a:t>2025/11/6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  <a:t>12</a:t>
            </a:fld>
            <a:endParaRPr lang="zh-CN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07105" y="1460183"/>
          <a:ext cx="7974895" cy="4911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91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76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38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37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99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06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7239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spc="200" baseline="0" dirty="0">
                          <a:solidFill>
                            <a:schemeClr val="bg1"/>
                          </a:solidFill>
                          <a:uFillTx/>
                        </a:rPr>
                        <a:t>国内</a:t>
                      </a:r>
                      <a:r>
                        <a:rPr lang="en-US" altLang="zh-CN" sz="1600" b="1" spc="200" baseline="0" dirty="0">
                          <a:solidFill>
                            <a:schemeClr val="bg1"/>
                          </a:solidFill>
                          <a:uFillTx/>
                        </a:rPr>
                        <a:t>/</a:t>
                      </a:r>
                      <a:r>
                        <a:rPr lang="zh-CN" altLang="en-US" sz="1600" b="1" spc="200" baseline="0" dirty="0">
                          <a:solidFill>
                            <a:schemeClr val="bg1"/>
                          </a:solidFill>
                          <a:uFillTx/>
                        </a:rPr>
                        <a:t>外竞品调研</a:t>
                      </a:r>
                      <a:endParaRPr lang="zh-CN" altLang="en-US" sz="1600" b="0" i="1" spc="200" baseline="0" dirty="0">
                        <a:solidFill>
                          <a:schemeClr val="bg1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114300" marB="114300"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3557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</a:pPr>
                      <a:r>
                        <a:rPr lang="zh-CN" altLang="en-US" sz="1600" b="1" kern="1200" spc="200" dirty="0">
                          <a:solidFill>
                            <a:srgbClr val="DF5356"/>
                          </a:solidFill>
                          <a:uFillTx/>
                        </a:rPr>
                        <a:t>国家</a:t>
                      </a:r>
                      <a:endParaRPr lang="zh-CN" altLang="en-US" sz="1600" b="1" kern="1200" spc="200" dirty="0">
                        <a:solidFill>
                          <a:srgbClr val="DF5356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14300" marR="114300" marT="114300" marB="114300" anchor="ctr"/>
                </a:tc>
                <a:tc gridSpan="3"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zh-CN" sz="1600" b="1" spc="200" dirty="0">
                          <a:solidFill>
                            <a:srgbClr val="DF5356"/>
                          </a:solidFill>
                          <a:uFillTx/>
                          <a:sym typeface="+mn-ea"/>
                        </a:rPr>
                        <a:t>中国</a:t>
                      </a:r>
                      <a:endParaRPr lang="en-US" altLang="zh-CN" sz="1600" b="1" spc="200" dirty="0">
                        <a:solidFill>
                          <a:srgbClr val="DF5356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114300" marR="114300" marT="114300" marB="114300"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88900" marR="88900" marT="47625" marB="47625"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88900" marR="88900" marT="47625" marB="47625" anchor="ctr"/>
                </a:tc>
                <a:tc gridSpan="2"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zh-CN" sz="1600" b="1" spc="200" dirty="0">
                          <a:solidFill>
                            <a:srgbClr val="DF5356"/>
                          </a:solidFill>
                          <a:uFillTx/>
                          <a:sym typeface="+mn-ea"/>
                        </a:rPr>
                        <a:t>美国</a:t>
                      </a:r>
                      <a:endParaRPr lang="zh-CN" altLang="zh-CN" sz="1600" b="1" spc="200" dirty="0">
                        <a:solidFill>
                          <a:srgbClr val="DF5356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114300" marR="114300" marT="114300" marB="114300"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88900" marR="88900" marT="47625" marB="476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6234">
                <a:tc rowSpan="2">
                  <a:txBody>
                    <a:bodyPr/>
                    <a:lstStyle/>
                    <a:p>
                      <a:pPr indent="0" algn="ctr" fontAlgn="auto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zh-CN" sz="1600" b="1" kern="1200" spc="200" dirty="0">
                          <a:solidFill>
                            <a:srgbClr val="DF5356"/>
                          </a:solidFill>
                          <a:uFillTx/>
                        </a:rPr>
                        <a:t>产品</a:t>
                      </a:r>
                      <a:endParaRPr lang="zh-CN" altLang="en-US" sz="1600" b="1" kern="1200" spc="200" dirty="0">
                        <a:solidFill>
                          <a:srgbClr val="DF5356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sym typeface="微软雅黑" panose="020B0503020204020204" pitchFamily="34" charset="-122"/>
                        </a:rPr>
                        <a:t>根心科技</a:t>
                      </a:r>
                      <a:endParaRPr lang="en-US" altLang="zh-CN" sz="1600" b="1" spc="200" baseline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微软雅黑" panose="020B0503020204020204" pitchFamily="34" charset="-122"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sym typeface="微软雅黑" panose="020B0503020204020204" pitchFamily="34" charset="-122"/>
                        </a:rPr>
                        <a:t>陌陌科技</a:t>
                      </a:r>
                      <a:endParaRPr lang="zh-CN" altLang="en-US" sz="16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sym typeface="微软雅黑" panose="020B0503020204020204" pitchFamily="34" charset="-122"/>
                        </a:rPr>
                        <a:t>奇瑞时代</a:t>
                      </a:r>
                      <a:endParaRPr lang="zh-CN" altLang="en-US" sz="16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sym typeface="微软雅黑" panose="020B0503020204020204" pitchFamily="34" charset="-122"/>
                        </a:rPr>
                        <a:t>Match Group</a:t>
                      </a:r>
                      <a:endParaRPr lang="zh-CN" altLang="en-US" sz="16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sym typeface="微软雅黑" panose="020B0503020204020204" pitchFamily="34" charset="-122"/>
                        </a:rPr>
                        <a:t>Match Group</a:t>
                      </a:r>
                      <a:endParaRPr lang="zh-CN" altLang="en-US" sz="16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114300" marR="114300" marT="114300" marB="1143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386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88900" marR="88900" marT="47625" marB="47625" anchor="ctr"/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sym typeface="微软雅黑" panose="020B0503020204020204" pitchFamily="34" charset="-122"/>
                        </a:rPr>
                        <a:t>soul</a:t>
                      </a:r>
                      <a:endParaRPr lang="en-US" altLang="zh-CN" sz="1600" b="1" spc="200" baseline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微软雅黑" panose="020B0503020204020204" pitchFamily="34" charset="-122"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sym typeface="微软雅黑" panose="020B0503020204020204" pitchFamily="34" charset="-122"/>
                        </a:rPr>
                        <a:t>陌陌</a:t>
                      </a:r>
                      <a:endParaRPr lang="en-US" altLang="zh-CN" sz="1600" b="1" spc="200" baseline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微软雅黑" panose="020B0503020204020204" pitchFamily="34" charset="-122"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sym typeface="微软雅黑" panose="020B0503020204020204" pitchFamily="34" charset="-122"/>
                        </a:rPr>
                        <a:t>探探</a:t>
                      </a:r>
                      <a:endParaRPr lang="en-US" altLang="zh-CN" sz="1600" b="1" spc="200" baseline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微软雅黑" panose="020B0503020204020204" pitchFamily="34" charset="-122"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sym typeface="+mn-ea"/>
                        </a:rPr>
                        <a:t>Tinder</a:t>
                      </a:r>
                      <a:endParaRPr lang="en-US" altLang="zh-CN" sz="1600" b="1" spc="200" baseline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sym typeface="+mn-ea"/>
                        </a:rPr>
                        <a:t>Hinge</a:t>
                      </a:r>
                      <a:endParaRPr lang="en-US" altLang="zh-CN" sz="1600" b="1" spc="200" baseline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114300" marR="114300" marT="114300" marB="1143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6234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zh-CN" sz="1600" b="1" kern="1200" spc="200" dirty="0">
                          <a:solidFill>
                            <a:srgbClr val="DF5356"/>
                          </a:solidFill>
                          <a:uFillTx/>
                          <a:sym typeface="+mn-ea"/>
                        </a:rPr>
                        <a:t>应用</a:t>
                      </a:r>
                      <a:r>
                        <a:rPr lang="zh-CN" altLang="en-US" sz="1600" b="1" kern="1200" spc="200" dirty="0">
                          <a:solidFill>
                            <a:srgbClr val="DF5356"/>
                          </a:solidFill>
                          <a:uFillTx/>
                          <a:sym typeface="+mn-ea"/>
                        </a:rPr>
                        <a:t>场景</a:t>
                      </a:r>
                      <a:endParaRPr lang="zh-CN" altLang="zh-CN" sz="1600" b="1" kern="1200" spc="200" dirty="0">
                        <a:solidFill>
                          <a:srgbClr val="DF5356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综合社交</a:t>
                      </a:r>
                      <a:endParaRPr lang="en-US" altLang="zh-CN" sz="1600" b="1" baseline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cs typeface="微软雅黑" panose="020B0503020204020204" pitchFamily="34" charset="-122"/>
                      </a:endParaRPr>
                    </a:p>
                  </a:txBody>
                  <a:tcPr marL="114300" marR="114300" marT="114300" marB="114300"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约会社交</a:t>
                      </a:r>
                      <a:endParaRPr lang="en-US" altLang="zh-CN" sz="1600" b="1" baseline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cs typeface="微软雅黑" panose="020B0503020204020204" pitchFamily="34" charset="-122"/>
                      </a:endParaRPr>
                    </a:p>
                  </a:txBody>
                  <a:tcPr marL="114300" marR="114300" marT="114300" marB="114300"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sym typeface="+mn-ea"/>
                        </a:rPr>
                        <a:t>速配约会</a:t>
                      </a:r>
                      <a:endParaRPr lang="en-US" altLang="zh-CN" sz="1600" b="1" baseline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cs typeface="微软雅黑" panose="020B0503020204020204" pitchFamily="34" charset="-122"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关系型约会</a:t>
                      </a:r>
                      <a:endParaRPr lang="en-US" altLang="zh-CN" sz="1600" b="1" baseline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cs typeface="微软雅黑" panose="020B0503020204020204" pitchFamily="34" charset="-122"/>
                      </a:endParaRPr>
                    </a:p>
                  </a:txBody>
                  <a:tcPr marL="114300" marR="114300" marT="114300" marB="1143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6234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 kern="1200" spc="200" dirty="0">
                          <a:solidFill>
                            <a:srgbClr val="DF5356"/>
                          </a:solidFill>
                          <a:uFillTx/>
                        </a:rPr>
                        <a:t>匹配机制</a:t>
                      </a:r>
                      <a:endParaRPr lang="zh-CN" altLang="zh-CN" sz="1600" b="1" kern="1200" spc="200" dirty="0">
                        <a:solidFill>
                          <a:srgbClr val="DF5356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 baseline="0" dirty="0">
                          <a:solidFill>
                            <a:srgbClr val="7030A0"/>
                          </a:solidFill>
                        </a:rPr>
                        <a:t>虚拟社交</a:t>
                      </a:r>
                      <a:endParaRPr lang="en-US" altLang="zh-CN" sz="1600" b="1" baseline="0" dirty="0">
                        <a:solidFill>
                          <a:srgbClr val="7030A0"/>
                        </a:solidFill>
                        <a:cs typeface="微软雅黑" panose="020B0503020204020204" pitchFamily="34" charset="-122"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 baseline="0" dirty="0">
                          <a:solidFill>
                            <a:srgbClr val="7030A0"/>
                          </a:solidFill>
                        </a:rPr>
                        <a:t>地理位置</a:t>
                      </a:r>
                      <a:endParaRPr lang="en-US" altLang="zh-CN" sz="1600" b="1" baseline="0" dirty="0">
                        <a:solidFill>
                          <a:srgbClr val="7030A0"/>
                        </a:solidFill>
                        <a:cs typeface="微软雅黑" panose="020B0503020204020204" pitchFamily="34" charset="-122"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 baseline="0" dirty="0">
                          <a:solidFill>
                            <a:srgbClr val="7030A0"/>
                          </a:solidFill>
                        </a:rPr>
                        <a:t>照片滑动</a:t>
                      </a:r>
                      <a:endParaRPr lang="en-US" altLang="zh-CN" sz="1600" b="1" baseline="0" dirty="0">
                        <a:solidFill>
                          <a:srgbClr val="7030A0"/>
                        </a:solidFill>
                        <a:cs typeface="微软雅黑" panose="020B0503020204020204" pitchFamily="34" charset="-122"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 baseline="0" dirty="0">
                          <a:solidFill>
                            <a:srgbClr val="7030A0"/>
                          </a:solidFill>
                        </a:rPr>
                        <a:t>照片滑动</a:t>
                      </a:r>
                      <a:endParaRPr lang="en-US" altLang="zh-CN" sz="1600" b="1" baseline="0" dirty="0">
                        <a:solidFill>
                          <a:srgbClr val="7030A0"/>
                        </a:solidFill>
                        <a:cs typeface="微软雅黑" panose="020B0503020204020204" pitchFamily="34" charset="-122"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 baseline="0" dirty="0">
                          <a:solidFill>
                            <a:srgbClr val="7030A0"/>
                          </a:solidFill>
                        </a:rPr>
                        <a:t>个人档案深度</a:t>
                      </a:r>
                      <a:endParaRPr lang="en-US" altLang="zh-CN" sz="1600" b="1" baseline="0" dirty="0">
                        <a:solidFill>
                          <a:srgbClr val="7030A0"/>
                        </a:solidFill>
                        <a:cs typeface="微软雅黑" panose="020B0503020204020204" pitchFamily="34" charset="-122"/>
                      </a:endParaRPr>
                    </a:p>
                  </a:txBody>
                  <a:tcPr marL="114300" marR="114300" marT="114300" marB="1143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6234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 kern="1200" spc="200" dirty="0">
                          <a:solidFill>
                            <a:srgbClr val="DF5356"/>
                          </a:solidFill>
                          <a:uFillTx/>
                        </a:rPr>
                        <a:t>环境</a:t>
                      </a:r>
                      <a:endParaRPr lang="zh-CN" altLang="zh-CN" sz="1600" b="1" kern="1200" spc="200" dirty="0">
                        <a:solidFill>
                          <a:srgbClr val="DF5356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虚拟社交</a:t>
                      </a:r>
                      <a:endParaRPr lang="en-US" altLang="zh-CN" sz="1600" b="1" baseline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cs typeface="微软雅黑" panose="020B0503020204020204" pitchFamily="34" charset="-122"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线上为主</a:t>
                      </a:r>
                      <a:endParaRPr lang="en-US" altLang="zh-CN" sz="1600" b="1" baseline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cs typeface="微软雅黑" panose="020B0503020204020204" pitchFamily="34" charset="-122"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线上为主</a:t>
                      </a:r>
                      <a:endParaRPr lang="en-US" altLang="zh-CN" sz="1600" b="1" baseline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cs typeface="微软雅黑" panose="020B0503020204020204" pitchFamily="34" charset="-122"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线上为主</a:t>
                      </a:r>
                      <a:endParaRPr lang="en-US" altLang="zh-CN" sz="1600" b="1" baseline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cs typeface="微软雅黑" panose="020B0503020204020204" pitchFamily="34" charset="-122"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线上主导</a:t>
                      </a:r>
                      <a:endParaRPr lang="en-US" altLang="zh-CN" sz="1600" b="1" baseline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cs typeface="微软雅黑" panose="020B0503020204020204" pitchFamily="34" charset="-122"/>
                      </a:endParaRPr>
                    </a:p>
                  </a:txBody>
                  <a:tcPr marL="114300" marR="114300" marT="114300" marB="1143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6234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 kern="1200" spc="200" dirty="0">
                          <a:solidFill>
                            <a:srgbClr val="DF5356"/>
                          </a:solidFill>
                          <a:uFillTx/>
                        </a:rPr>
                        <a:t>用户群体</a:t>
                      </a:r>
                      <a:endParaRPr lang="zh-CN" altLang="zh-CN" sz="1600" b="1" kern="1200" spc="200" dirty="0">
                        <a:solidFill>
                          <a:srgbClr val="DF5356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1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18-25</a:t>
                      </a:r>
                      <a:r>
                        <a:rPr lang="zh-CN" altLang="en-US" sz="1600" b="1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岁</a:t>
                      </a:r>
                      <a:endParaRPr lang="en-US" altLang="zh-CN" sz="1600" b="1" baseline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cs typeface="微软雅黑" panose="020B0503020204020204" pitchFamily="34" charset="-122"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1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25-35</a:t>
                      </a:r>
                      <a:r>
                        <a:rPr lang="zh-CN" altLang="en-US" sz="1600" b="1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岁</a:t>
                      </a:r>
                      <a:endParaRPr lang="en-US" altLang="zh-CN" sz="1600" b="1" baseline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cs typeface="微软雅黑" panose="020B0503020204020204" pitchFamily="34" charset="-122"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1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18-30</a:t>
                      </a:r>
                      <a:r>
                        <a:rPr lang="zh-CN" altLang="en-US" sz="1600" b="1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岁</a:t>
                      </a:r>
                      <a:endParaRPr lang="en-US" altLang="zh-CN" sz="1600" b="1" baseline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cs typeface="微软雅黑" panose="020B0503020204020204" pitchFamily="34" charset="-122"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1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18-35</a:t>
                      </a:r>
                      <a:r>
                        <a:rPr lang="zh-CN" altLang="en-US" sz="1600" b="1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岁</a:t>
                      </a:r>
                      <a:endParaRPr lang="en-US" altLang="zh-CN" sz="1600" b="1" baseline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cs typeface="微软雅黑" panose="020B0503020204020204" pitchFamily="34" charset="-122"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1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25-40</a:t>
                      </a:r>
                      <a:r>
                        <a:rPr lang="zh-CN" altLang="en-US" sz="1600" b="1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岁</a:t>
                      </a:r>
                      <a:endParaRPr lang="en-US" altLang="zh-CN" sz="1600" b="1" baseline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cs typeface="微软雅黑" panose="020B0503020204020204" pitchFamily="34" charset="-122"/>
                      </a:endParaRPr>
                    </a:p>
                  </a:txBody>
                  <a:tcPr marL="114300" marR="114300" marT="114300" marB="11430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46234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 kern="1200" spc="200" dirty="0">
                          <a:solidFill>
                            <a:srgbClr val="DF5356"/>
                          </a:solidFill>
                          <a:uFillTx/>
                        </a:rPr>
                        <a:t>特色功能</a:t>
                      </a:r>
                      <a:endParaRPr lang="zh-CN" altLang="zh-CN" sz="1600" b="1" kern="1200" spc="200" dirty="0">
                        <a:solidFill>
                          <a:srgbClr val="DF5356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灵魂测试</a:t>
                      </a:r>
                      <a:endParaRPr lang="en-US" altLang="zh-CN" sz="1600" b="1" baseline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cs typeface="微软雅黑" panose="020B0503020204020204" pitchFamily="34" charset="-122"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直播、附近人</a:t>
                      </a:r>
                      <a:endParaRPr lang="en-US" altLang="zh-CN" sz="1600" b="1" baseline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cs typeface="微软雅黑" panose="020B0503020204020204" pitchFamily="34" charset="-122"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滑动匹配</a:t>
                      </a:r>
                      <a:endParaRPr lang="en-US" altLang="zh-CN" sz="1600" b="1" baseline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cs typeface="微软雅黑" panose="020B0503020204020204" pitchFamily="34" charset="-122"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1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Passport</a:t>
                      </a:r>
                      <a:endParaRPr lang="en-US" altLang="zh-CN" sz="1600" b="1" baseline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cs typeface="微软雅黑" panose="020B0503020204020204" pitchFamily="34" charset="-122"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个性化问题</a:t>
                      </a:r>
                      <a:endParaRPr lang="en-US" altLang="zh-CN" sz="1600" b="1" baseline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cs typeface="微软雅黑" panose="020B0503020204020204" pitchFamily="34" charset="-122"/>
                      </a:endParaRPr>
                    </a:p>
                  </a:txBody>
                  <a:tcPr marL="114300" marR="114300" marT="114300" marB="11430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8610600" y="1674145"/>
            <a:ext cx="3395133" cy="4222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zh-CN" altLang="en-US" sz="1600" spc="100" dirty="0">
                <a:latin typeface="+mn-ea"/>
              </a:rPr>
              <a:t>在匹配机制的横向对比中，可以发现大部分社交软件都容易造成用户的</a:t>
            </a:r>
            <a:r>
              <a:rPr lang="zh-CN" altLang="en-US" sz="1600" b="1" spc="100" dirty="0">
                <a:latin typeface="+mn-ea"/>
              </a:rPr>
              <a:t>隐私泄露</a:t>
            </a:r>
            <a:r>
              <a:rPr lang="zh-CN" altLang="en-US" sz="1600" spc="100" dirty="0">
                <a:latin typeface="+mn-ea"/>
              </a:rPr>
              <a:t>，例如地址信息，身份信息等，侵害了用户的隐私。而本组产品的匹配机制建立在</a:t>
            </a:r>
            <a:r>
              <a:rPr lang="zh-CN" altLang="en-US" sz="1600" b="1" spc="100" dirty="0">
                <a:latin typeface="+mn-ea"/>
              </a:rPr>
              <a:t>隐私保护的神经网络算法</a:t>
            </a:r>
            <a:r>
              <a:rPr lang="zh-CN" altLang="en-US" sz="1600" spc="100" dirty="0">
                <a:latin typeface="+mn-ea"/>
              </a:rPr>
              <a:t>下，通过与用户达成一定程度上的协议来利用提供的数据进行隐私计算，在这一过程中受加密的数据是</a:t>
            </a:r>
            <a:r>
              <a:rPr lang="zh-CN" altLang="en-US" sz="1600" b="1" spc="100" dirty="0">
                <a:latin typeface="+mn-ea"/>
              </a:rPr>
              <a:t>高度安全</a:t>
            </a:r>
            <a:r>
              <a:rPr lang="zh-CN" altLang="en-US" sz="1600" spc="100" dirty="0">
                <a:latin typeface="+mn-ea"/>
              </a:rPr>
              <a:t>的。并且，模型会在长期使用中不断优化匹配结果，</a:t>
            </a:r>
            <a:r>
              <a:rPr lang="zh-CN" altLang="en-US" sz="1600" b="1" spc="100" dirty="0">
                <a:latin typeface="+mn-ea"/>
              </a:rPr>
              <a:t>提供令用户更加满意的服务</a:t>
            </a:r>
            <a:r>
              <a:rPr lang="zh-CN" altLang="en-US" sz="1600" spc="100" dirty="0">
                <a:latin typeface="+mn-ea"/>
              </a:rPr>
              <a:t>。</a:t>
            </a: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C11646D4-265D-3893-9D52-29581C75FCBD}"/>
              </a:ext>
            </a:extLst>
          </p:cNvPr>
          <p:cNvSpPr>
            <a:spLocks noGrp="1"/>
          </p:cNvSpPr>
          <p:nvPr/>
        </p:nvSpPr>
        <p:spPr>
          <a:xfrm>
            <a:off x="838200" y="979190"/>
            <a:ext cx="10515600" cy="516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u"/>
              <a:defRPr sz="28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市场竞争情况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CCAC1-2AF6-48E9-5399-083822C59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3FC0790-BC07-F245-56C5-D6800E72B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4E30-715F-4973-8179-B4178D7E09F0}" type="datetime1">
              <a:rPr lang="zh-CN" altLang="en-US" smtClean="0"/>
              <a:t>2025/11/6</a:t>
            </a:fld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9D07840-EA07-0C1A-B05D-7D391D869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5441572-2AC8-CCEF-C7E3-AC22A32DF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  <a:t>13</a:t>
            </a:fld>
            <a:endParaRPr lang="zh-CN" altLang="en-US" dirty="0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15A03984-24A6-9DC1-7A99-40BB40BA3A11}"/>
              </a:ext>
            </a:extLst>
          </p:cNvPr>
          <p:cNvSpPr>
            <a:spLocks noGrp="1"/>
          </p:cNvSpPr>
          <p:nvPr/>
        </p:nvSpPr>
        <p:spPr>
          <a:xfrm>
            <a:off x="838200" y="1068398"/>
            <a:ext cx="10515600" cy="516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u"/>
              <a:defRPr sz="28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市场分析结论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4FEE0BF-2F48-2760-91AF-7B55B5D1F654}"/>
              </a:ext>
            </a:extLst>
          </p:cNvPr>
          <p:cNvSpPr txBox="1"/>
          <p:nvPr/>
        </p:nvSpPr>
        <p:spPr>
          <a:xfrm>
            <a:off x="1016000" y="1820108"/>
            <a:ext cx="4528163" cy="4536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行业呈现 “需求旺盛但痛点突出，技术与规范驱动升级” 的核心特征。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b="1" dirty="0"/>
              <a:t>需求端</a:t>
            </a:r>
            <a:r>
              <a:rPr lang="zh-CN" altLang="en-US" dirty="0"/>
              <a:t>：单身群体扩张（尤其校园年轻群体）带动需求，</a:t>
            </a:r>
            <a:r>
              <a:rPr lang="en-US" altLang="zh-CN" dirty="0"/>
              <a:t>Z </a:t>
            </a:r>
            <a:r>
              <a:rPr lang="zh-CN" altLang="en-US" dirty="0"/>
              <a:t>世代成为核心消费力量，需求规模持续增长且潜力可观。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b="1" dirty="0"/>
              <a:t>现存痛点</a:t>
            </a:r>
            <a:r>
              <a:rPr lang="zh-CN" altLang="en-US" dirty="0"/>
              <a:t>：匹配精准度与效率不足、平台安全及隐私保护薄弱、线上线下服务链路断裂，制约行业发展。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b="1" dirty="0"/>
              <a:t>发展方向</a:t>
            </a:r>
            <a:r>
              <a:rPr lang="zh-CN" altLang="en-US" dirty="0"/>
              <a:t>：以人工智能、大数据等技术优化匹配与安全保障，聚焦个性化、全链路服务创新，同时行业规范化程度将持续提升，成为长期发展核心逻辑。</a:t>
            </a:r>
          </a:p>
          <a:p>
            <a:pPr algn="just" hangingPunct="0">
              <a:lnSpc>
                <a:spcPct val="130000"/>
              </a:lnSpc>
            </a:pPr>
            <a:endParaRPr lang="zh-CN" altLang="en-US" sz="1600" spc="100" dirty="0">
              <a:solidFill>
                <a:schemeClr val="accent4">
                  <a:lumMod val="20000"/>
                  <a:lumOff val="80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22C9414E-96C6-9A6C-61D2-F8B0528474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318"/>
          <a:stretch>
            <a:fillRect/>
          </a:stretch>
        </p:blipFill>
        <p:spPr>
          <a:xfrm>
            <a:off x="7199375" y="1476856"/>
            <a:ext cx="3388508" cy="2793708"/>
          </a:xfrm>
          <a:prstGeom prst="rect">
            <a:avLst/>
          </a:prstGeom>
        </p:spPr>
      </p:pic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EDCA461B-478F-9505-76B4-BB45468ED9C0}"/>
              </a:ext>
            </a:extLst>
          </p:cNvPr>
          <p:cNvGraphicFramePr>
            <a:graphicFrameLocks noGrp="1"/>
          </p:cNvGraphicFramePr>
          <p:nvPr/>
        </p:nvGraphicFramePr>
        <p:xfrm>
          <a:off x="6249410" y="4574317"/>
          <a:ext cx="5104390" cy="147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195">
                  <a:extLst>
                    <a:ext uri="{9D8B030D-6E8A-4147-A177-3AD203B41FA5}">
                      <a16:colId xmlns:a16="http://schemas.microsoft.com/office/drawing/2014/main" val="3102317594"/>
                    </a:ext>
                  </a:extLst>
                </a:gridCol>
                <a:gridCol w="2552195">
                  <a:extLst>
                    <a:ext uri="{9D8B030D-6E8A-4147-A177-3AD203B41FA5}">
                      <a16:colId xmlns:a16="http://schemas.microsoft.com/office/drawing/2014/main" val="12934469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已有交友软件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产品痛点分析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3083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探探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ym typeface="+mn-ea"/>
                        </a:rPr>
                        <a:t>颜值交友，缺乏精神交流</a:t>
                      </a:r>
                      <a:endParaRPr lang="zh-CN" altLang="en-US" sz="16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15623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Soul</a:t>
                      </a:r>
                      <a:endParaRPr lang="zh-CN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sym typeface="+mn-ea"/>
                        </a:rPr>
                        <a:t>突出性格匹配，但不真实</a:t>
                      </a:r>
                      <a:endParaRPr lang="zh-CN" altLang="en-US" sz="16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26020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陌陌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ym typeface="+mn-ea"/>
                        </a:rPr>
                        <a:t>基于地理位置，范围受限</a:t>
                      </a:r>
                      <a:endParaRPr lang="zh-CN" altLang="en-US" sz="16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5333357"/>
                  </a:ext>
                </a:extLst>
              </a:tr>
            </a:tbl>
          </a:graphicData>
        </a:graphic>
      </p:graphicFrame>
      <p:sp>
        <p:nvSpPr>
          <p:cNvPr id="12" name="标题 12">
            <a:extLst>
              <a:ext uri="{FF2B5EF4-FFF2-40B4-BE49-F238E27FC236}">
                <a16:creationId xmlns:a16="http://schemas.microsoft.com/office/drawing/2014/main" id="{2885CE86-D1F7-45A0-9883-246F4062D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104" y="441325"/>
            <a:ext cx="10515600" cy="365125"/>
          </a:xfrm>
        </p:spPr>
        <p:txBody>
          <a:bodyPr>
            <a:noAutofit/>
          </a:bodyPr>
          <a:lstStyle/>
          <a:p>
            <a:r>
              <a:rPr lang="zh-CN" altLang="en-US" sz="3200" dirty="0"/>
              <a:t>四、市场分析</a:t>
            </a:r>
          </a:p>
        </p:txBody>
      </p:sp>
    </p:spTree>
    <p:extLst>
      <p:ext uri="{BB962C8B-B14F-4D97-AF65-F5344CB8AC3E}">
        <p14:creationId xmlns:p14="http://schemas.microsoft.com/office/powerpoint/2010/main" val="24578256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3200" dirty="0">
                <a:effectLst/>
                <a:cs typeface="Times New Roman" panose="02020603050405020304" pitchFamily="18" charset="0"/>
              </a:rPr>
              <a:t>五、</a:t>
            </a:r>
            <a:r>
              <a:rPr lang="en-US" altLang="zh-CN" sz="3200" dirty="0" err="1">
                <a:effectLst/>
                <a:cs typeface="Times New Roman" panose="02020603050405020304" pitchFamily="18" charset="0"/>
              </a:rPr>
              <a:t>组织结构</a:t>
            </a:r>
            <a:endParaRPr lang="zh-CN" altLang="en-US" sz="3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483600" y="6356350"/>
            <a:ext cx="2743200" cy="365125"/>
          </a:xfrm>
        </p:spPr>
        <p:txBody>
          <a:bodyPr/>
          <a:lstStyle/>
          <a:p>
            <a:fld id="{33B9A5AF-BDD6-4E14-989F-CF034C94E4CA}" type="slidenum">
              <a:rPr lang="zh-CN" altLang="en-US" smtClean="0"/>
              <a:t>14</a:t>
            </a:fld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62D1855-97D0-406F-A8CD-42AACAD7B935}"/>
              </a:ext>
            </a:extLst>
          </p:cNvPr>
          <p:cNvSpPr txBox="1"/>
          <p:nvPr/>
        </p:nvSpPr>
        <p:spPr>
          <a:xfrm>
            <a:off x="1393518" y="1499731"/>
            <a:ext cx="9833282" cy="1381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zh-CN" altLang="en-US" b="1" spc="100" dirty="0">
                <a:latin typeface="+mn-ea"/>
              </a:rPr>
              <a:t>刘凯丽</a:t>
            </a:r>
            <a:r>
              <a:rPr lang="en-US" altLang="zh-CN" b="1" spc="100" dirty="0">
                <a:latin typeface="+mn-ea"/>
              </a:rPr>
              <a:t>——</a:t>
            </a:r>
            <a:r>
              <a:rPr lang="zh-CN" altLang="en-US" b="1" spc="100" dirty="0">
                <a:latin typeface="+mn-ea"/>
              </a:rPr>
              <a:t>项目总负责人</a:t>
            </a:r>
            <a:endParaRPr lang="en-US" altLang="zh-CN" b="1" spc="100" dirty="0">
              <a:latin typeface="+mn-ea"/>
            </a:endParaRPr>
          </a:p>
          <a:p>
            <a:pPr algn="just" hangingPunct="0">
              <a:lnSpc>
                <a:spcPct val="130000"/>
              </a:lnSpc>
            </a:pPr>
            <a:r>
              <a:rPr lang="en-US" altLang="zh-CN" sz="1600" spc="100" dirty="0">
                <a:latin typeface="+mn-ea"/>
              </a:rPr>
              <a:t>      </a:t>
            </a:r>
            <a:r>
              <a:rPr lang="zh-CN" altLang="en-US" sz="1600" spc="100" dirty="0">
                <a:latin typeface="+mn-ea"/>
              </a:rPr>
              <a:t>曾担任科研项目负责人，积累了项目规划、资源调配、进度把控等经验；作为竞赛队长，锻炼了组织团队、应对竞争和解决突发问题的能力。拥有出色的沟通能力，强烈的责任感与使命感，出于对创业的热情和对团队发展的坚定信念，坚信能带领团队在创业道路上取得佳绩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002F9C0-6BEF-4A6E-A788-33FE29479156}"/>
              </a:ext>
            </a:extLst>
          </p:cNvPr>
          <p:cNvSpPr txBox="1"/>
          <p:nvPr/>
        </p:nvSpPr>
        <p:spPr>
          <a:xfrm>
            <a:off x="1393518" y="3013905"/>
            <a:ext cx="9745186" cy="1425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zh-CN" altLang="en-US" b="1" spc="100" dirty="0">
                <a:latin typeface="+mn-ea"/>
              </a:rPr>
              <a:t>王奕璇</a:t>
            </a:r>
            <a:r>
              <a:rPr lang="en-US" altLang="zh-CN" b="1" spc="100" dirty="0">
                <a:latin typeface="+mn-ea"/>
              </a:rPr>
              <a:t>|</a:t>
            </a:r>
            <a:r>
              <a:rPr lang="zh-CN" altLang="en-US" b="1" spc="100" dirty="0">
                <a:latin typeface="+mn-ea"/>
              </a:rPr>
              <a:t>田栋栋</a:t>
            </a:r>
            <a:r>
              <a:rPr lang="en-US" altLang="zh-CN" b="1" spc="100" dirty="0">
                <a:latin typeface="+mn-ea"/>
              </a:rPr>
              <a:t>——</a:t>
            </a:r>
            <a:r>
              <a:rPr lang="zh-CN" altLang="en-US" b="1" spc="100" dirty="0">
                <a:latin typeface="+mn-ea"/>
              </a:rPr>
              <a:t>技术负责人</a:t>
            </a:r>
            <a:endParaRPr lang="en-US" altLang="zh-CN" b="1" spc="100" dirty="0">
              <a:latin typeface="+mn-ea"/>
            </a:endParaRPr>
          </a:p>
          <a:p>
            <a:pPr algn="just" hangingPunct="0">
              <a:lnSpc>
                <a:spcPct val="130000"/>
              </a:lnSpc>
            </a:pPr>
            <a:r>
              <a:rPr lang="zh-CN" altLang="en-US" sz="1600" spc="100" dirty="0">
                <a:latin typeface="+mn-ea"/>
              </a:rPr>
              <a:t>      曾担任科研项目负责人，并拥有多次竞赛经历，在竞赛中锻炼了快速解决问题、团队协作以及创新思维的能力。对新兴技术充满热情，乐于学习新事物，并且不局限于理论知识，会深入思考如何将这些新技术应用到实际的业务场景中，为项目带来创新和价值提升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5FFD4A2-67B8-4D71-9DFB-15B2DD293DA4}"/>
              </a:ext>
            </a:extLst>
          </p:cNvPr>
          <p:cNvSpPr txBox="1"/>
          <p:nvPr/>
        </p:nvSpPr>
        <p:spPr>
          <a:xfrm>
            <a:off x="1393518" y="4733339"/>
            <a:ext cx="9833282" cy="1381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zh-CN" altLang="en-US" b="1" spc="100" dirty="0">
                <a:latin typeface="+mn-ea"/>
              </a:rPr>
              <a:t>孙长青</a:t>
            </a:r>
            <a:r>
              <a:rPr lang="en-US" altLang="zh-CN" b="1" spc="100" dirty="0">
                <a:latin typeface="+mn-ea"/>
              </a:rPr>
              <a:t>|</a:t>
            </a:r>
            <a:r>
              <a:rPr lang="zh-CN" altLang="en-US" b="1" spc="100" dirty="0">
                <a:latin typeface="+mn-ea"/>
              </a:rPr>
              <a:t>欧阳宜达</a:t>
            </a:r>
            <a:r>
              <a:rPr lang="en-US" altLang="zh-CN" b="1" spc="100" dirty="0">
                <a:latin typeface="+mn-ea"/>
              </a:rPr>
              <a:t>——</a:t>
            </a:r>
            <a:r>
              <a:rPr lang="zh-CN" altLang="en-US" b="1" spc="100" dirty="0">
                <a:latin typeface="+mn-ea"/>
              </a:rPr>
              <a:t>技术负责人</a:t>
            </a:r>
            <a:endParaRPr lang="en-US" altLang="zh-CN" b="1" spc="100" dirty="0">
              <a:latin typeface="+mn-ea"/>
            </a:endParaRPr>
          </a:p>
          <a:p>
            <a:pPr algn="just" hangingPunct="0">
              <a:lnSpc>
                <a:spcPct val="130000"/>
              </a:lnSpc>
            </a:pPr>
            <a:r>
              <a:rPr lang="zh-CN" altLang="en-US" sz="1600" spc="100" dirty="0">
                <a:latin typeface="+mn-ea"/>
              </a:rPr>
              <a:t>      拥有丰富的竞赛经历，在各类技术竞赛中，锻炼了快速学习新知识、解决实际问题以及团队协作的能力，同时也积累了应对高压力、高强度工作的经验。沟通出色，能精准传意且化繁为简。责任感强，以团队目标为己任。热衷创业，愿凭技术创新助项目成功，为团队发展献力。</a:t>
            </a:r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12E137EA-EC3F-443E-8FC4-176543B8EB6A}"/>
              </a:ext>
            </a:extLst>
          </p:cNvPr>
          <p:cNvSpPr>
            <a:spLocks noGrp="1"/>
          </p:cNvSpPr>
          <p:nvPr/>
        </p:nvSpPr>
        <p:spPr>
          <a:xfrm>
            <a:off x="838200" y="960689"/>
            <a:ext cx="10515600" cy="516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u"/>
              <a:defRPr sz="28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团队介绍</a:t>
            </a:r>
          </a:p>
        </p:txBody>
      </p:sp>
      <p:sp>
        <p:nvSpPr>
          <p:cNvPr id="11" name="日期占位符 2">
            <a:extLst>
              <a:ext uri="{FF2B5EF4-FFF2-40B4-BE49-F238E27FC236}">
                <a16:creationId xmlns:a16="http://schemas.microsoft.com/office/drawing/2014/main" id="{C5904660-3CAF-43D2-B33B-F0BC48EB38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4DB44E30-715F-4973-8179-B4178D7E09F0}" type="datetime1">
              <a:rPr lang="zh-CN" altLang="en-US" smtClean="0"/>
              <a:t>2025/11/6</a:t>
            </a:fld>
            <a:endParaRPr lang="zh-CN" altLang="en-US" dirty="0"/>
          </a:p>
        </p:txBody>
      </p:sp>
      <p:sp>
        <p:nvSpPr>
          <p:cNvPr id="12" name="页脚占位符 3">
            <a:extLst>
              <a:ext uri="{FF2B5EF4-FFF2-40B4-BE49-F238E27FC236}">
                <a16:creationId xmlns:a16="http://schemas.microsoft.com/office/drawing/2014/main" id="{AD14E3B5-E507-4165-9125-59BFAF34C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079610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2">
            <a:extLst>
              <a:ext uri="{FF2B5EF4-FFF2-40B4-BE49-F238E27FC236}">
                <a16:creationId xmlns:a16="http://schemas.microsoft.com/office/drawing/2014/main" id="{D7CCC1AE-0128-4920-8028-39FB002D6509}"/>
              </a:ext>
            </a:extLst>
          </p:cNvPr>
          <p:cNvSpPr txBox="1">
            <a:spLocks/>
          </p:cNvSpPr>
          <p:nvPr/>
        </p:nvSpPr>
        <p:spPr>
          <a:xfrm>
            <a:off x="750104" y="441325"/>
            <a:ext cx="105156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r>
              <a:rPr lang="zh-CN" altLang="en-US" sz="3200" dirty="0">
                <a:cs typeface="Times New Roman" panose="02020603050405020304" pitchFamily="18" charset="0"/>
              </a:rPr>
              <a:t>五、</a:t>
            </a:r>
            <a:r>
              <a:rPr lang="en-US" altLang="zh-CN" sz="3200" dirty="0" err="1">
                <a:cs typeface="Times New Roman" panose="02020603050405020304" pitchFamily="18" charset="0"/>
              </a:rPr>
              <a:t>组织结构</a:t>
            </a:r>
            <a:endParaRPr lang="zh-CN" altLang="en-US" sz="3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  <a:t>15</a:t>
            </a:fld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62D1855-97D0-406F-A8CD-42AACAD7B935}"/>
              </a:ext>
            </a:extLst>
          </p:cNvPr>
          <p:cNvSpPr txBox="1"/>
          <p:nvPr/>
        </p:nvSpPr>
        <p:spPr>
          <a:xfrm>
            <a:off x="1406218" y="1503057"/>
            <a:ext cx="9833282" cy="1381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zh-CN" altLang="en-US" b="1" spc="100" dirty="0">
                <a:latin typeface="+mn-ea"/>
              </a:rPr>
              <a:t>刘一力</a:t>
            </a:r>
            <a:r>
              <a:rPr lang="en-US" altLang="zh-CN" b="1" spc="100" dirty="0">
                <a:latin typeface="+mn-ea"/>
              </a:rPr>
              <a:t>——</a:t>
            </a:r>
            <a:r>
              <a:rPr lang="zh-CN" altLang="en-US" b="1" spc="100" dirty="0">
                <a:latin typeface="+mn-ea"/>
              </a:rPr>
              <a:t>市场负责人</a:t>
            </a:r>
            <a:endParaRPr lang="en-US" altLang="zh-CN" b="1" spc="100" dirty="0">
              <a:latin typeface="+mn-ea"/>
            </a:endParaRPr>
          </a:p>
          <a:p>
            <a:pPr algn="just" hangingPunct="0">
              <a:lnSpc>
                <a:spcPct val="130000"/>
              </a:lnSpc>
            </a:pPr>
            <a:r>
              <a:rPr lang="zh-CN" altLang="en-US" sz="1600" spc="100" dirty="0">
                <a:latin typeface="+mn-ea"/>
              </a:rPr>
              <a:t>      拥有丰富的竞赛经历，锻炼了方案策划、团队协作以及应变能力，积累了在竞争环境中脱颖而出的宝贵经验。具敏锐市场洞察力，善用多渠道挖掘用户真实需求，精准把握行业动态、竞品策略等趋势。能高效筛选分析信息，为市场决策提供有力支撑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002F9C0-6BEF-4A6E-A788-33FE29479156}"/>
              </a:ext>
            </a:extLst>
          </p:cNvPr>
          <p:cNvSpPr txBox="1"/>
          <p:nvPr/>
        </p:nvSpPr>
        <p:spPr>
          <a:xfrm>
            <a:off x="1406218" y="3115505"/>
            <a:ext cx="9745186" cy="1381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zh-CN" altLang="en-US" b="1" spc="100" dirty="0">
                <a:latin typeface="+mn-ea"/>
              </a:rPr>
              <a:t>魏朝旭</a:t>
            </a:r>
            <a:r>
              <a:rPr lang="en-US" altLang="zh-CN" b="1" spc="100" dirty="0">
                <a:latin typeface="+mn-ea"/>
              </a:rPr>
              <a:t>——</a:t>
            </a:r>
            <a:r>
              <a:rPr lang="zh-CN" altLang="en-US" b="1" spc="100" dirty="0">
                <a:latin typeface="+mn-ea"/>
              </a:rPr>
              <a:t>市场负责人</a:t>
            </a:r>
            <a:endParaRPr lang="en-US" altLang="zh-CN" b="1" spc="100" dirty="0">
              <a:latin typeface="+mn-ea"/>
            </a:endParaRPr>
          </a:p>
          <a:p>
            <a:pPr algn="just" hangingPunct="0">
              <a:lnSpc>
                <a:spcPct val="130000"/>
              </a:lnSpc>
            </a:pPr>
            <a:r>
              <a:rPr lang="zh-CN" altLang="en-US" sz="1600" spc="100" dirty="0">
                <a:latin typeface="+mn-ea"/>
              </a:rPr>
              <a:t>      参演</a:t>
            </a:r>
            <a:r>
              <a:rPr lang="en-US" altLang="zh-CN" sz="1600" spc="100" dirty="0">
                <a:latin typeface="+mn-ea"/>
              </a:rPr>
              <a:t>2023</a:t>
            </a:r>
            <a:r>
              <a:rPr lang="zh-CN" altLang="en-US" sz="1600" spc="100" dirty="0">
                <a:latin typeface="+mn-ea"/>
              </a:rPr>
              <a:t>西电钢琴团音乐会，高中担任班级合唱活动指挥，具备组织协调和领导能力，这些能力有助于在市场工作中更好地策划和执行活动。擅善用多途径搜集市场信息，精准把握需求，为产品服务定位助力。性格大方自信，路演时能流畅展示亮点，活跃气氛，吸引客户与伙伴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5FFD4A2-67B8-4D71-9DFB-15B2DD293DA4}"/>
              </a:ext>
            </a:extLst>
          </p:cNvPr>
          <p:cNvSpPr txBox="1"/>
          <p:nvPr/>
        </p:nvSpPr>
        <p:spPr>
          <a:xfrm>
            <a:off x="1406218" y="4807479"/>
            <a:ext cx="9833282" cy="1381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zh-CN" altLang="en-US" b="1" spc="100" dirty="0">
                <a:latin typeface="+mn-ea"/>
              </a:rPr>
              <a:t>王国荣</a:t>
            </a:r>
            <a:r>
              <a:rPr lang="en-US" altLang="zh-CN" b="1" spc="100" dirty="0">
                <a:latin typeface="+mn-ea"/>
              </a:rPr>
              <a:t>——</a:t>
            </a:r>
            <a:r>
              <a:rPr lang="zh-CN" altLang="en-US" b="1" spc="100" dirty="0">
                <a:latin typeface="+mn-ea"/>
              </a:rPr>
              <a:t>设计负责人</a:t>
            </a:r>
            <a:endParaRPr lang="en-US" altLang="zh-CN" b="1" spc="100" dirty="0">
              <a:latin typeface="+mn-ea"/>
            </a:endParaRPr>
          </a:p>
          <a:p>
            <a:pPr algn="just" hangingPunct="0">
              <a:lnSpc>
                <a:spcPct val="130000"/>
              </a:lnSpc>
            </a:pPr>
            <a:r>
              <a:rPr lang="zh-CN" altLang="en-US" sz="1600" spc="100" dirty="0">
                <a:latin typeface="+mn-ea"/>
              </a:rPr>
              <a:t>拥有一定的项目经历，积累了从项目启动、方案设计到最终交付的全流程经验，具备应对各种设计挑战和团队协作的能力。善于倾听，能理解成员想法与工作进度，在设计项目中有效协调资源，保障工作推进与环节衔接。</a:t>
            </a:r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E5AF84B0-B963-415D-B192-D8C7A34425D7}"/>
              </a:ext>
            </a:extLst>
          </p:cNvPr>
          <p:cNvSpPr>
            <a:spLocks noGrp="1"/>
          </p:cNvSpPr>
          <p:nvPr/>
        </p:nvSpPr>
        <p:spPr>
          <a:xfrm>
            <a:off x="838200" y="960689"/>
            <a:ext cx="10515600" cy="516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u"/>
              <a:defRPr sz="28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团队介绍</a:t>
            </a:r>
          </a:p>
        </p:txBody>
      </p:sp>
      <p:sp>
        <p:nvSpPr>
          <p:cNvPr id="11" name="日期占位符 2">
            <a:extLst>
              <a:ext uri="{FF2B5EF4-FFF2-40B4-BE49-F238E27FC236}">
                <a16:creationId xmlns:a16="http://schemas.microsoft.com/office/drawing/2014/main" id="{4750877F-37F2-42FB-B348-40F81CA646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4DB44E30-715F-4973-8179-B4178D7E09F0}" type="datetime1">
              <a:rPr lang="zh-CN" altLang="en-US" smtClean="0"/>
              <a:t>2025/11/6</a:t>
            </a:fld>
            <a:endParaRPr lang="zh-CN" altLang="en-US" dirty="0"/>
          </a:p>
        </p:txBody>
      </p:sp>
      <p:sp>
        <p:nvSpPr>
          <p:cNvPr id="12" name="页脚占位符 3">
            <a:extLst>
              <a:ext uri="{FF2B5EF4-FFF2-40B4-BE49-F238E27FC236}">
                <a16:creationId xmlns:a16="http://schemas.microsoft.com/office/drawing/2014/main" id="{0194B9AA-8DFD-4763-86B1-3BC57AC89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671273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2">
            <a:extLst>
              <a:ext uri="{FF2B5EF4-FFF2-40B4-BE49-F238E27FC236}">
                <a16:creationId xmlns:a16="http://schemas.microsoft.com/office/drawing/2014/main" id="{D7CCC1AE-0128-4920-8028-39FB002D6509}"/>
              </a:ext>
            </a:extLst>
          </p:cNvPr>
          <p:cNvSpPr txBox="1">
            <a:spLocks/>
          </p:cNvSpPr>
          <p:nvPr/>
        </p:nvSpPr>
        <p:spPr>
          <a:xfrm>
            <a:off x="750104" y="441325"/>
            <a:ext cx="105156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r>
              <a:rPr lang="zh-CN" altLang="en-US" sz="3200" dirty="0">
                <a:cs typeface="Times New Roman" panose="02020603050405020304" pitchFamily="18" charset="0"/>
              </a:rPr>
              <a:t>五、</a:t>
            </a:r>
            <a:r>
              <a:rPr lang="en-US" altLang="zh-CN" sz="3200" dirty="0" err="1">
                <a:cs typeface="Times New Roman" panose="02020603050405020304" pitchFamily="18" charset="0"/>
              </a:rPr>
              <a:t>组织结构</a:t>
            </a:r>
            <a:endParaRPr lang="zh-CN" altLang="en-US" sz="3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  <a:t>16</a:t>
            </a:fld>
            <a:endParaRPr lang="zh-CN" altLang="en-US" dirty="0"/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E5AF84B0-B963-415D-B192-D8C7A34425D7}"/>
              </a:ext>
            </a:extLst>
          </p:cNvPr>
          <p:cNvSpPr>
            <a:spLocks noGrp="1"/>
          </p:cNvSpPr>
          <p:nvPr/>
        </p:nvSpPr>
        <p:spPr>
          <a:xfrm>
            <a:off x="838200" y="960689"/>
            <a:ext cx="10515600" cy="516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u"/>
              <a:defRPr sz="28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成员信息汇总</a:t>
            </a:r>
          </a:p>
        </p:txBody>
      </p:sp>
      <p:sp>
        <p:nvSpPr>
          <p:cNvPr id="11" name="日期占位符 2">
            <a:extLst>
              <a:ext uri="{FF2B5EF4-FFF2-40B4-BE49-F238E27FC236}">
                <a16:creationId xmlns:a16="http://schemas.microsoft.com/office/drawing/2014/main" id="{4750877F-37F2-42FB-B348-40F81CA646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4DB44E30-715F-4973-8179-B4178D7E09F0}" type="datetime1">
              <a:rPr lang="zh-CN" altLang="en-US" smtClean="0"/>
              <a:t>2025/11/6</a:t>
            </a:fld>
            <a:endParaRPr lang="zh-CN" altLang="en-US" dirty="0"/>
          </a:p>
        </p:txBody>
      </p:sp>
      <p:sp>
        <p:nvSpPr>
          <p:cNvPr id="12" name="页脚占位符 3">
            <a:extLst>
              <a:ext uri="{FF2B5EF4-FFF2-40B4-BE49-F238E27FC236}">
                <a16:creationId xmlns:a16="http://schemas.microsoft.com/office/drawing/2014/main" id="{0194B9AA-8DFD-4763-86B1-3BC57AC89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graphicFrame>
        <p:nvGraphicFramePr>
          <p:cNvPr id="2" name="表格 2">
            <a:extLst>
              <a:ext uri="{FF2B5EF4-FFF2-40B4-BE49-F238E27FC236}">
                <a16:creationId xmlns:a16="http://schemas.microsoft.com/office/drawing/2014/main" id="{08DA3710-C31D-4296-A44D-C7EA834E34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003626"/>
              </p:ext>
            </p:extLst>
          </p:nvPr>
        </p:nvGraphicFramePr>
        <p:xfrm>
          <a:off x="1314447" y="1548047"/>
          <a:ext cx="9210676" cy="4424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2669">
                  <a:extLst>
                    <a:ext uri="{9D8B030D-6E8A-4147-A177-3AD203B41FA5}">
                      <a16:colId xmlns:a16="http://schemas.microsoft.com/office/drawing/2014/main" val="3870690695"/>
                    </a:ext>
                  </a:extLst>
                </a:gridCol>
                <a:gridCol w="2302669">
                  <a:extLst>
                    <a:ext uri="{9D8B030D-6E8A-4147-A177-3AD203B41FA5}">
                      <a16:colId xmlns:a16="http://schemas.microsoft.com/office/drawing/2014/main" val="2852761609"/>
                    </a:ext>
                  </a:extLst>
                </a:gridCol>
                <a:gridCol w="2302669">
                  <a:extLst>
                    <a:ext uri="{9D8B030D-6E8A-4147-A177-3AD203B41FA5}">
                      <a16:colId xmlns:a16="http://schemas.microsoft.com/office/drawing/2014/main" val="3760324568"/>
                    </a:ext>
                  </a:extLst>
                </a:gridCol>
                <a:gridCol w="2302669">
                  <a:extLst>
                    <a:ext uri="{9D8B030D-6E8A-4147-A177-3AD203B41FA5}">
                      <a16:colId xmlns:a16="http://schemas.microsoft.com/office/drawing/2014/main" val="261998202"/>
                    </a:ext>
                  </a:extLst>
                </a:gridCol>
              </a:tblGrid>
              <a:tr h="49157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姓名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学号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任务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角色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2614489"/>
                  </a:ext>
                </a:extLst>
              </a:tr>
              <a:tr h="49157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spc="100" dirty="0">
                          <a:latin typeface="+mn-ea"/>
                        </a:rPr>
                        <a:t>刘凯丽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23009290066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spc="100" dirty="0">
                          <a:latin typeface="+mn-ea"/>
                        </a:rPr>
                        <a:t>项目总负责人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800" b="1" kern="1200" spc="1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组长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3172056"/>
                  </a:ext>
                </a:extLst>
              </a:tr>
              <a:tr h="49157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spc="100" dirty="0">
                          <a:latin typeface="+mn-ea"/>
                        </a:rPr>
                        <a:t>王奕璇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23009290015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spc="100" dirty="0">
                          <a:latin typeface="+mn-ea"/>
                        </a:rPr>
                        <a:t>技术负责人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800" b="1" kern="1200" spc="1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组员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0470036"/>
                  </a:ext>
                </a:extLst>
              </a:tr>
              <a:tr h="49157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spc="100" dirty="0">
                          <a:latin typeface="+mn-ea"/>
                        </a:rPr>
                        <a:t>田栋栋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23079100034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spc="100" dirty="0">
                          <a:latin typeface="+mn-ea"/>
                        </a:rPr>
                        <a:t>技术负责人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kern="1200" spc="1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组员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7781688"/>
                  </a:ext>
                </a:extLst>
              </a:tr>
              <a:tr h="49157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spc="100" dirty="0">
                          <a:latin typeface="+mn-ea"/>
                        </a:rPr>
                        <a:t>孙长青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23009290059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spc="100" dirty="0">
                          <a:latin typeface="+mn-ea"/>
                        </a:rPr>
                        <a:t>技术负责人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kern="1200" spc="1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组员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9276253"/>
                  </a:ext>
                </a:extLst>
              </a:tr>
              <a:tr h="49157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spc="100" dirty="0">
                          <a:latin typeface="+mn-ea"/>
                        </a:rPr>
                        <a:t>欧阳宜达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23009200008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spc="100" dirty="0">
                          <a:latin typeface="+mn-ea"/>
                        </a:rPr>
                        <a:t>技术负责人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kern="1200" spc="1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组员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0235173"/>
                  </a:ext>
                </a:extLst>
              </a:tr>
              <a:tr h="49157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spc="100" dirty="0">
                          <a:latin typeface="+mn-ea"/>
                        </a:rPr>
                        <a:t>刘一力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23009290050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spc="100" dirty="0">
                          <a:latin typeface="+mn-ea"/>
                        </a:rPr>
                        <a:t>市场负责人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kern="1200" spc="1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组员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173785"/>
                  </a:ext>
                </a:extLst>
              </a:tr>
              <a:tr h="49157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spc="100" dirty="0">
                          <a:latin typeface="+mn-ea"/>
                        </a:rPr>
                        <a:t>魏朝旭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23009201082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spc="100" dirty="0">
                          <a:latin typeface="+mn-ea"/>
                        </a:rPr>
                        <a:t>市场负责人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kern="1200" spc="1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组员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0904239"/>
                  </a:ext>
                </a:extLst>
              </a:tr>
              <a:tr h="49157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spc="100" dirty="0">
                          <a:latin typeface="+mn-ea"/>
                        </a:rPr>
                        <a:t>王国荣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23009200778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spc="100" dirty="0">
                          <a:latin typeface="+mn-ea"/>
                        </a:rPr>
                        <a:t>设计负责人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kern="1200" spc="1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组员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21957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38388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  <a:t>17</a:t>
            </a:fld>
            <a:endParaRPr lang="zh-CN" altLang="en-US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D6E36CFE-855E-4189-94B9-A621ED552341}"/>
              </a:ext>
            </a:extLst>
          </p:cNvPr>
          <p:cNvGrpSpPr/>
          <p:nvPr/>
        </p:nvGrpSpPr>
        <p:grpSpPr>
          <a:xfrm>
            <a:off x="481139" y="1727726"/>
            <a:ext cx="5208462" cy="4787374"/>
            <a:chOff x="1917188" y="-1028794"/>
            <a:chExt cx="8557661" cy="8832988"/>
          </a:xfrm>
        </p:grpSpPr>
        <p:pic>
          <p:nvPicPr>
            <p:cNvPr id="9" name="Image 3">
              <a:extLst>
                <a:ext uri="{FF2B5EF4-FFF2-40B4-BE49-F238E27FC236}">
                  <a16:creationId xmlns:a16="http://schemas.microsoft.com/office/drawing/2014/main" id="{740D9A8D-F9F3-4FB3-A69C-20E1605F942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17188" y="-672083"/>
              <a:ext cx="8557661" cy="3632790"/>
            </a:xfrm>
            <a:prstGeom prst="rect">
              <a:avLst/>
            </a:prstGeom>
          </p:spPr>
        </p:pic>
        <p:pic>
          <p:nvPicPr>
            <p:cNvPr id="10" name="Image 4">
              <a:extLst>
                <a:ext uri="{FF2B5EF4-FFF2-40B4-BE49-F238E27FC236}">
                  <a16:creationId xmlns:a16="http://schemas.microsoft.com/office/drawing/2014/main" id="{E58B8608-AD66-42FB-A159-814F20F890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96377" y="-964691"/>
              <a:ext cx="3071021" cy="608585"/>
            </a:xfrm>
            <a:prstGeom prst="rect">
              <a:avLst/>
            </a:prstGeom>
          </p:spPr>
        </p:pic>
        <p:sp>
          <p:nvSpPr>
            <p:cNvPr id="11" name="Text 3">
              <a:extLst>
                <a:ext uri="{FF2B5EF4-FFF2-40B4-BE49-F238E27FC236}">
                  <a16:creationId xmlns:a16="http://schemas.microsoft.com/office/drawing/2014/main" id="{B0585881-9BB1-46D5-A6D6-9DB046BFE589}"/>
                </a:ext>
              </a:extLst>
            </p:cNvPr>
            <p:cNvSpPr/>
            <p:nvPr/>
          </p:nvSpPr>
          <p:spPr>
            <a:xfrm>
              <a:off x="5300465" y="-1028794"/>
              <a:ext cx="1638502" cy="414522"/>
            </a:xfrm>
            <a:prstGeom prst="rect">
              <a:avLst/>
            </a:prstGeom>
            <a:noFill/>
          </p:spPr>
          <p:txBody>
            <a:bodyPr vert="horz"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3360"/>
                </a:lnSpc>
                <a:buNone/>
              </a:pPr>
              <a:r>
                <a:rPr lang="en-US" sz="1400" dirty="0">
                  <a:solidFill>
                    <a:srgbClr val="FFFFFF"/>
                  </a:solidFill>
                  <a:latin typeface="NotoSansSC-Bold" panose="020B0200000000000000" pitchFamily="34" charset="-122"/>
                  <a:ea typeface="NotoSansSC-Bold" panose="020B0200000000000000" pitchFamily="34" charset="-122"/>
                  <a:cs typeface="NotoSansSC-Bold" panose="020B0200000000000000" pitchFamily="34" charset="-120"/>
                </a:rPr>
                <a:t>研发</a:t>
              </a:r>
              <a:endParaRPr lang="en-US" sz="1400" dirty="0"/>
            </a:p>
          </p:txBody>
        </p:sp>
        <p:pic>
          <p:nvPicPr>
            <p:cNvPr id="12" name="Image 5">
              <a:extLst>
                <a:ext uri="{FF2B5EF4-FFF2-40B4-BE49-F238E27FC236}">
                  <a16:creationId xmlns:a16="http://schemas.microsoft.com/office/drawing/2014/main" id="{2C06E5C0-B409-44E0-AD39-F0DFFAFDDB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17188" y="2994656"/>
              <a:ext cx="8557661" cy="3632790"/>
            </a:xfrm>
            <a:prstGeom prst="rect">
              <a:avLst/>
            </a:prstGeom>
          </p:spPr>
        </p:pic>
        <p:pic>
          <p:nvPicPr>
            <p:cNvPr id="17" name="Image 6">
              <a:extLst>
                <a:ext uri="{FF2B5EF4-FFF2-40B4-BE49-F238E27FC236}">
                  <a16:creationId xmlns:a16="http://schemas.microsoft.com/office/drawing/2014/main" id="{2AD3FAD2-17DB-475B-BC41-BD72314DBCF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96377" y="6249916"/>
              <a:ext cx="3071021" cy="608585"/>
            </a:xfrm>
            <a:prstGeom prst="rect">
              <a:avLst/>
            </a:prstGeom>
          </p:spPr>
        </p:pic>
        <p:sp>
          <p:nvSpPr>
            <p:cNvPr id="18" name="Text 4">
              <a:extLst>
                <a:ext uri="{FF2B5EF4-FFF2-40B4-BE49-F238E27FC236}">
                  <a16:creationId xmlns:a16="http://schemas.microsoft.com/office/drawing/2014/main" id="{93291AE4-65CF-4128-8543-CF966F3F675C}"/>
                </a:ext>
              </a:extLst>
            </p:cNvPr>
            <p:cNvSpPr/>
            <p:nvPr/>
          </p:nvSpPr>
          <p:spPr>
            <a:xfrm>
              <a:off x="5376766" y="6181470"/>
              <a:ext cx="1638502" cy="414522"/>
            </a:xfrm>
            <a:prstGeom prst="rect">
              <a:avLst/>
            </a:prstGeom>
            <a:noFill/>
          </p:spPr>
          <p:txBody>
            <a:bodyPr vert="horz"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3360"/>
                </a:lnSpc>
                <a:buNone/>
              </a:pPr>
              <a:r>
                <a:rPr lang="en-US" sz="1400" dirty="0">
                  <a:solidFill>
                    <a:srgbClr val="FFFFFF"/>
                  </a:solidFill>
                  <a:latin typeface="NotoSansSC-Bold" panose="020B0200000000000000" pitchFamily="34" charset="-122"/>
                  <a:ea typeface="NotoSansSC-Bold" panose="020B0200000000000000" pitchFamily="34" charset="-122"/>
                  <a:cs typeface="NotoSansSC-Bold" panose="020B0200000000000000" pitchFamily="34" charset="-120"/>
                </a:rPr>
                <a:t>推广</a:t>
              </a:r>
              <a:endParaRPr lang="en-US" sz="1400" dirty="0"/>
            </a:p>
          </p:txBody>
        </p:sp>
        <p:sp>
          <p:nvSpPr>
            <p:cNvPr id="19" name="Text 5">
              <a:extLst>
                <a:ext uri="{FF2B5EF4-FFF2-40B4-BE49-F238E27FC236}">
                  <a16:creationId xmlns:a16="http://schemas.microsoft.com/office/drawing/2014/main" id="{88B5C6A2-7994-4419-8AA2-C1F1FCEEA009}"/>
                </a:ext>
              </a:extLst>
            </p:cNvPr>
            <p:cNvSpPr/>
            <p:nvPr/>
          </p:nvSpPr>
          <p:spPr>
            <a:xfrm>
              <a:off x="4258051" y="7301476"/>
              <a:ext cx="3754510" cy="502718"/>
            </a:xfrm>
            <a:prstGeom prst="rect">
              <a:avLst/>
            </a:prstGeom>
            <a:noFill/>
          </p:spPr>
          <p:txBody>
            <a:bodyPr vert="horz"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4080"/>
                </a:lnSpc>
                <a:buNone/>
              </a:pPr>
              <a:endParaRPr lang="en-US" dirty="0"/>
            </a:p>
          </p:txBody>
        </p:sp>
        <p:sp>
          <p:nvSpPr>
            <p:cNvPr id="20" name="Text 6">
              <a:extLst>
                <a:ext uri="{FF2B5EF4-FFF2-40B4-BE49-F238E27FC236}">
                  <a16:creationId xmlns:a16="http://schemas.microsoft.com/office/drawing/2014/main" id="{AED95483-1FE2-4529-8153-F819DEEADC04}"/>
                </a:ext>
              </a:extLst>
            </p:cNvPr>
            <p:cNvSpPr/>
            <p:nvPr/>
          </p:nvSpPr>
          <p:spPr>
            <a:xfrm>
              <a:off x="5436500" y="1708119"/>
              <a:ext cx="2733956" cy="414522"/>
            </a:xfrm>
            <a:prstGeom prst="rect">
              <a:avLst/>
            </a:prstGeom>
            <a:noFill/>
          </p:spPr>
          <p:txBody>
            <a:bodyPr vert="horz"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3360"/>
                </a:lnSpc>
                <a:buNone/>
              </a:pPr>
              <a:r>
                <a:rPr lang="en-US" sz="1400" dirty="0">
                  <a:solidFill>
                    <a:srgbClr val="CC0000"/>
                  </a:solidFill>
                  <a:latin typeface="NotoSansSC-Bold" panose="020B0200000000000000" pitchFamily="34" charset="-122"/>
                  <a:ea typeface="NotoSansSC-Bold" panose="020B0200000000000000" pitchFamily="34" charset="-122"/>
                  <a:cs typeface="NotoSansSC-Bold" panose="020B0200000000000000" pitchFamily="34" charset="-120"/>
                </a:rPr>
                <a:t>服务器采购</a:t>
              </a:r>
              <a:endParaRPr lang="en-US" sz="1400" dirty="0"/>
            </a:p>
          </p:txBody>
        </p:sp>
        <p:pic>
          <p:nvPicPr>
            <p:cNvPr id="21" name="Image 7">
              <a:extLst>
                <a:ext uri="{FF2B5EF4-FFF2-40B4-BE49-F238E27FC236}">
                  <a16:creationId xmlns:a16="http://schemas.microsoft.com/office/drawing/2014/main" id="{C4194A57-1BD8-4BB5-BBEB-DD34D06E95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61554" y="1906522"/>
              <a:ext cx="290249" cy="365152"/>
            </a:xfrm>
            <a:prstGeom prst="rect">
              <a:avLst/>
            </a:prstGeom>
          </p:spPr>
        </p:pic>
        <p:sp>
          <p:nvSpPr>
            <p:cNvPr id="22" name="Text 7">
              <a:extLst>
                <a:ext uri="{FF2B5EF4-FFF2-40B4-BE49-F238E27FC236}">
                  <a16:creationId xmlns:a16="http://schemas.microsoft.com/office/drawing/2014/main" id="{2C91E9F1-E77E-4951-AFF4-CACB9688B843}"/>
                </a:ext>
              </a:extLst>
            </p:cNvPr>
            <p:cNvSpPr/>
            <p:nvPr/>
          </p:nvSpPr>
          <p:spPr>
            <a:xfrm>
              <a:off x="5483346" y="5141912"/>
              <a:ext cx="2368806" cy="414522"/>
            </a:xfrm>
            <a:prstGeom prst="rect">
              <a:avLst/>
            </a:prstGeom>
            <a:noFill/>
          </p:spPr>
          <p:txBody>
            <a:bodyPr vert="horz"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3360"/>
                </a:lnSpc>
                <a:buNone/>
              </a:pPr>
              <a:r>
                <a:rPr lang="en-US" sz="1400" dirty="0">
                  <a:solidFill>
                    <a:srgbClr val="CC0000"/>
                  </a:solidFill>
                  <a:latin typeface="NotoSansSC-Bold" panose="020B0200000000000000" pitchFamily="34" charset="-122"/>
                  <a:ea typeface="NotoSansSC-Bold" panose="020B0200000000000000" pitchFamily="34" charset="-122"/>
                  <a:cs typeface="NotoSansSC-Bold" panose="020B0200000000000000" pitchFamily="34" charset="-120"/>
                </a:rPr>
                <a:t>品牌宣传</a:t>
              </a:r>
              <a:endParaRPr lang="en-US" sz="1400" dirty="0"/>
            </a:p>
          </p:txBody>
        </p:sp>
        <p:pic>
          <p:nvPicPr>
            <p:cNvPr id="23" name="Image 8">
              <a:extLst>
                <a:ext uri="{FF2B5EF4-FFF2-40B4-BE49-F238E27FC236}">
                  <a16:creationId xmlns:a16="http://schemas.microsoft.com/office/drawing/2014/main" id="{0D7BC10D-571F-4C10-B3D7-F94AF9D3437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843265" y="5317229"/>
              <a:ext cx="393241" cy="411967"/>
            </a:xfrm>
            <a:prstGeom prst="rect">
              <a:avLst/>
            </a:prstGeom>
          </p:spPr>
        </p:pic>
        <p:sp>
          <p:nvSpPr>
            <p:cNvPr id="24" name="Text 8">
              <a:extLst>
                <a:ext uri="{FF2B5EF4-FFF2-40B4-BE49-F238E27FC236}">
                  <a16:creationId xmlns:a16="http://schemas.microsoft.com/office/drawing/2014/main" id="{AB10E102-635E-4462-A2EE-CDDE6552591C}"/>
                </a:ext>
              </a:extLst>
            </p:cNvPr>
            <p:cNvSpPr/>
            <p:nvPr/>
          </p:nvSpPr>
          <p:spPr>
            <a:xfrm>
              <a:off x="5419338" y="-119868"/>
              <a:ext cx="2368806" cy="414522"/>
            </a:xfrm>
            <a:prstGeom prst="rect">
              <a:avLst/>
            </a:prstGeom>
            <a:noFill/>
          </p:spPr>
          <p:txBody>
            <a:bodyPr vert="horz"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3360"/>
                </a:lnSpc>
                <a:buNone/>
              </a:pPr>
              <a:r>
                <a:rPr lang="en-US" sz="1400" dirty="0">
                  <a:solidFill>
                    <a:srgbClr val="CC0000"/>
                  </a:solidFill>
                  <a:latin typeface="NotoSansSC-Bold" panose="020B0200000000000000" pitchFamily="34" charset="-122"/>
                  <a:ea typeface="NotoSansSC-Bold" panose="020B0200000000000000" pitchFamily="34" charset="-122"/>
                  <a:cs typeface="NotoSansSC-Bold" panose="020B0200000000000000" pitchFamily="34" charset="-120"/>
                </a:rPr>
                <a:t>产品原型</a:t>
              </a:r>
              <a:endParaRPr lang="en-US" sz="1400" dirty="0"/>
            </a:p>
          </p:txBody>
        </p:sp>
        <p:pic>
          <p:nvPicPr>
            <p:cNvPr id="25" name="Image 9">
              <a:extLst>
                <a:ext uri="{FF2B5EF4-FFF2-40B4-BE49-F238E27FC236}">
                  <a16:creationId xmlns:a16="http://schemas.microsoft.com/office/drawing/2014/main" id="{98ED62AF-AE0C-4FF1-99A4-E62FDE88FCD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788403" y="77723"/>
              <a:ext cx="393241" cy="393241"/>
            </a:xfrm>
            <a:prstGeom prst="rect">
              <a:avLst/>
            </a:prstGeom>
          </p:spPr>
        </p:pic>
        <p:sp>
          <p:nvSpPr>
            <p:cNvPr id="26" name="Text 9">
              <a:extLst>
                <a:ext uri="{FF2B5EF4-FFF2-40B4-BE49-F238E27FC236}">
                  <a16:creationId xmlns:a16="http://schemas.microsoft.com/office/drawing/2014/main" id="{A0732D25-D183-43F6-87BF-9B54E1472A85}"/>
                </a:ext>
              </a:extLst>
            </p:cNvPr>
            <p:cNvSpPr/>
            <p:nvPr/>
          </p:nvSpPr>
          <p:spPr>
            <a:xfrm>
              <a:off x="5420757" y="836874"/>
              <a:ext cx="2368806" cy="414522"/>
            </a:xfrm>
            <a:prstGeom prst="rect">
              <a:avLst/>
            </a:prstGeom>
            <a:noFill/>
          </p:spPr>
          <p:txBody>
            <a:bodyPr vert="horz"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3360"/>
                </a:lnSpc>
                <a:buNone/>
              </a:pPr>
              <a:r>
                <a:rPr lang="en-US" sz="1400" dirty="0">
                  <a:solidFill>
                    <a:srgbClr val="CC0000"/>
                  </a:solidFill>
                  <a:latin typeface="NotoSansSC-Bold" panose="020B0200000000000000" pitchFamily="34" charset="-122"/>
                  <a:ea typeface="NotoSansSC-Bold" panose="020B0200000000000000" pitchFamily="34" charset="-122"/>
                  <a:cs typeface="NotoSansSC-Bold" panose="020B0200000000000000" pitchFamily="34" charset="-120"/>
                </a:rPr>
                <a:t>技术薪酬</a:t>
              </a:r>
              <a:endParaRPr lang="en-US" sz="1400" dirty="0"/>
            </a:p>
          </p:txBody>
        </p:sp>
        <p:pic>
          <p:nvPicPr>
            <p:cNvPr id="27" name="Image 10">
              <a:extLst>
                <a:ext uri="{FF2B5EF4-FFF2-40B4-BE49-F238E27FC236}">
                  <a16:creationId xmlns:a16="http://schemas.microsoft.com/office/drawing/2014/main" id="{FA34CD25-E6B7-42BD-9649-1DB97976648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824978" y="1010409"/>
              <a:ext cx="327701" cy="365152"/>
            </a:xfrm>
            <a:prstGeom prst="rect">
              <a:avLst/>
            </a:prstGeom>
          </p:spPr>
        </p:pic>
        <p:pic>
          <p:nvPicPr>
            <p:cNvPr id="28" name="Image 11">
              <a:extLst>
                <a:ext uri="{FF2B5EF4-FFF2-40B4-BE49-F238E27FC236}">
                  <a16:creationId xmlns:a16="http://schemas.microsoft.com/office/drawing/2014/main" id="{D7CA3A92-D204-4D02-A3C4-EEF731454FA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843267" y="3561583"/>
              <a:ext cx="411965" cy="411965"/>
            </a:xfrm>
            <a:prstGeom prst="rect">
              <a:avLst/>
            </a:prstGeom>
          </p:spPr>
        </p:pic>
        <p:sp>
          <p:nvSpPr>
            <p:cNvPr id="29" name="Text 10">
              <a:extLst>
                <a:ext uri="{FF2B5EF4-FFF2-40B4-BE49-F238E27FC236}">
                  <a16:creationId xmlns:a16="http://schemas.microsoft.com/office/drawing/2014/main" id="{C976EB75-8A19-4C51-AE8D-F9553B4522A9}"/>
                </a:ext>
              </a:extLst>
            </p:cNvPr>
            <p:cNvSpPr/>
            <p:nvPr/>
          </p:nvSpPr>
          <p:spPr>
            <a:xfrm>
              <a:off x="5483346" y="3414888"/>
              <a:ext cx="2368806" cy="414522"/>
            </a:xfrm>
            <a:prstGeom prst="rect">
              <a:avLst/>
            </a:prstGeom>
            <a:noFill/>
          </p:spPr>
          <p:txBody>
            <a:bodyPr vert="horz"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3360"/>
                </a:lnSpc>
                <a:buNone/>
              </a:pPr>
              <a:r>
                <a:rPr lang="en-US" sz="1400" dirty="0">
                  <a:solidFill>
                    <a:srgbClr val="CC0000"/>
                  </a:solidFill>
                  <a:latin typeface="NotoSansSC-Bold" panose="020B0200000000000000" pitchFamily="34" charset="-122"/>
                  <a:ea typeface="NotoSansSC-Bold" panose="020B0200000000000000" pitchFamily="34" charset="-122"/>
                  <a:cs typeface="NotoSansSC-Bold" panose="020B0200000000000000" pitchFamily="34" charset="-120"/>
                </a:rPr>
                <a:t>线下活动</a:t>
              </a:r>
              <a:endParaRPr lang="en-US" sz="1400" dirty="0"/>
            </a:p>
          </p:txBody>
        </p:sp>
        <p:sp>
          <p:nvSpPr>
            <p:cNvPr id="30" name="Text 11">
              <a:extLst>
                <a:ext uri="{FF2B5EF4-FFF2-40B4-BE49-F238E27FC236}">
                  <a16:creationId xmlns:a16="http://schemas.microsoft.com/office/drawing/2014/main" id="{96E4F755-D501-4989-A974-3ED37DD2CC1A}"/>
                </a:ext>
              </a:extLst>
            </p:cNvPr>
            <p:cNvSpPr/>
            <p:nvPr/>
          </p:nvSpPr>
          <p:spPr>
            <a:xfrm>
              <a:off x="5483347" y="4301856"/>
              <a:ext cx="2368806" cy="414522"/>
            </a:xfrm>
            <a:prstGeom prst="rect">
              <a:avLst/>
            </a:prstGeom>
            <a:noFill/>
          </p:spPr>
          <p:txBody>
            <a:bodyPr vert="horz"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3360"/>
                </a:lnSpc>
                <a:buNone/>
              </a:pPr>
              <a:r>
                <a:rPr lang="en-US" sz="1400" dirty="0">
                  <a:solidFill>
                    <a:srgbClr val="CC0000"/>
                  </a:solidFill>
                  <a:latin typeface="NotoSansSC-Bold" panose="020B0200000000000000" pitchFamily="34" charset="-122"/>
                  <a:ea typeface="NotoSansSC-Bold" panose="020B0200000000000000" pitchFamily="34" charset="-122"/>
                  <a:cs typeface="NotoSansSC-Bold" panose="020B0200000000000000" pitchFamily="34" charset="-120"/>
                </a:rPr>
                <a:t>广告投放</a:t>
              </a:r>
              <a:endParaRPr lang="en-US" sz="1400" dirty="0"/>
            </a:p>
          </p:txBody>
        </p:sp>
        <p:pic>
          <p:nvPicPr>
            <p:cNvPr id="31" name="Image 12">
              <a:extLst>
                <a:ext uri="{FF2B5EF4-FFF2-40B4-BE49-F238E27FC236}">
                  <a16:creationId xmlns:a16="http://schemas.microsoft.com/office/drawing/2014/main" id="{35C599AF-F0D2-4F64-83E2-3B8749D939C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861559" y="4475987"/>
              <a:ext cx="365152" cy="365152"/>
            </a:xfrm>
            <a:prstGeom prst="rect">
              <a:avLst/>
            </a:prstGeom>
          </p:spPr>
        </p:pic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FDCB9DA9-FEEC-4127-A1E2-674773ECEF14}"/>
              </a:ext>
            </a:extLst>
          </p:cNvPr>
          <p:cNvSpPr txBox="1"/>
          <p:nvPr/>
        </p:nvSpPr>
        <p:spPr>
          <a:xfrm>
            <a:off x="6024230" y="1592236"/>
            <a:ext cx="20393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lvl="0" indent="-342900">
              <a:tabLst>
                <a:tab pos="457200" algn="l"/>
              </a:tabLst>
            </a:pPr>
            <a:r>
              <a:rPr lang="zh-CN" altLang="zh-CN" sz="1800" b="1" dirty="0">
                <a:effectLst/>
                <a:latin typeface="+mn-ea"/>
                <a:cs typeface="宋体" panose="02010600030101010101" pitchFamily="2" charset="-122"/>
              </a:rPr>
              <a:t>技术研发部</a:t>
            </a:r>
            <a:r>
              <a:rPr lang="zh-CN" altLang="zh-CN" sz="1800" dirty="0">
                <a:effectLst/>
                <a:latin typeface="+mn-ea"/>
                <a:cs typeface="宋体" panose="02010600030101010101" pitchFamily="2" charset="-122"/>
              </a:rPr>
              <a:t>：</a:t>
            </a:r>
            <a:r>
              <a:rPr lang="en-US" altLang="zh-CN" sz="1800" dirty="0">
                <a:effectLst/>
                <a:latin typeface="+mn-ea"/>
                <a:cs typeface="宋体" panose="02010600030101010101" pitchFamily="2" charset="-122"/>
              </a:rPr>
              <a:t>6 </a:t>
            </a:r>
            <a:r>
              <a:rPr lang="zh-CN" altLang="zh-CN" sz="1800" dirty="0">
                <a:effectLst/>
                <a:latin typeface="+mn-ea"/>
                <a:cs typeface="宋体" panose="02010600030101010101" pitchFamily="2" charset="-122"/>
              </a:rPr>
              <a:t>人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B9161D3-CE9D-400A-B230-6D15B602E3F6}"/>
              </a:ext>
            </a:extLst>
          </p:cNvPr>
          <p:cNvSpPr txBox="1"/>
          <p:nvPr/>
        </p:nvSpPr>
        <p:spPr>
          <a:xfrm>
            <a:off x="5870321" y="2076215"/>
            <a:ext cx="484441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zh-CN" altLang="zh-CN" sz="1800" dirty="0">
                <a:effectLst/>
                <a:latin typeface="+mn-ea"/>
                <a:cs typeface="Times New Roman" panose="02020603050405020304" pitchFamily="18" charset="0"/>
              </a:rPr>
              <a:t>前端开发工程师</a:t>
            </a:r>
            <a:r>
              <a:rPr lang="en-US" altLang="zh-CN" sz="1800" dirty="0">
                <a:effectLst/>
                <a:latin typeface="+mn-ea"/>
                <a:cs typeface="Times New Roman" panose="02020603050405020304" pitchFamily="18" charset="0"/>
              </a:rPr>
              <a:t> 2 </a:t>
            </a:r>
            <a:r>
              <a:rPr lang="zh-CN" altLang="zh-CN" sz="1800" dirty="0">
                <a:effectLst/>
                <a:latin typeface="+mn-ea"/>
                <a:cs typeface="Times New Roman" panose="02020603050405020304" pitchFamily="18" charset="0"/>
              </a:rPr>
              <a:t>人：熟悉</a:t>
            </a:r>
            <a:r>
              <a:rPr lang="en-US" altLang="zh-CN" sz="1800" dirty="0">
                <a:effectLst/>
                <a:latin typeface="+mn-ea"/>
                <a:cs typeface="Times New Roman" panose="02020603050405020304" pitchFamily="18" charset="0"/>
              </a:rPr>
              <a:t> React</a:t>
            </a:r>
            <a:r>
              <a:rPr lang="zh-CN" altLang="zh-CN" sz="1800" dirty="0">
                <a:effectLst/>
                <a:latin typeface="+mn-ea"/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effectLst/>
                <a:latin typeface="+mn-ea"/>
                <a:cs typeface="Times New Roman" panose="02020603050405020304" pitchFamily="18" charset="0"/>
              </a:rPr>
              <a:t>Vue </a:t>
            </a:r>
            <a:r>
              <a:rPr lang="zh-CN" altLang="zh-CN" sz="1800" dirty="0">
                <a:effectLst/>
                <a:latin typeface="+mn-ea"/>
                <a:cs typeface="Times New Roman" panose="02020603050405020304" pitchFamily="18" charset="0"/>
              </a:rPr>
              <a:t>等前端框架，具备移动端适配能力。</a:t>
            </a: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zh-CN" altLang="zh-CN" sz="1800" dirty="0">
                <a:effectLst/>
                <a:latin typeface="+mn-ea"/>
                <a:cs typeface="Times New Roman" panose="02020603050405020304" pitchFamily="18" charset="0"/>
              </a:rPr>
              <a:t>后端开发工程师</a:t>
            </a:r>
            <a:r>
              <a:rPr lang="en-US" altLang="zh-CN" sz="1800" dirty="0">
                <a:effectLst/>
                <a:latin typeface="+mn-ea"/>
                <a:cs typeface="Times New Roman" panose="02020603050405020304" pitchFamily="18" charset="0"/>
              </a:rPr>
              <a:t> 2 </a:t>
            </a:r>
            <a:r>
              <a:rPr lang="zh-CN" altLang="zh-CN" sz="1800" dirty="0">
                <a:effectLst/>
                <a:latin typeface="+mn-ea"/>
                <a:cs typeface="Times New Roman" panose="02020603050405020304" pitchFamily="18" charset="0"/>
              </a:rPr>
              <a:t>人：熟悉</a:t>
            </a:r>
            <a:r>
              <a:rPr lang="en-US" altLang="zh-CN" sz="1800" dirty="0">
                <a:effectLst/>
                <a:latin typeface="+mn-ea"/>
                <a:cs typeface="Times New Roman" panose="02020603050405020304" pitchFamily="18" charset="0"/>
              </a:rPr>
              <a:t> Python/Node.js/Java </a:t>
            </a:r>
            <a:r>
              <a:rPr lang="zh-CN" altLang="zh-CN" sz="1800" dirty="0">
                <a:effectLst/>
                <a:latin typeface="+mn-ea"/>
                <a:cs typeface="Times New Roman" panose="02020603050405020304" pitchFamily="18" charset="0"/>
              </a:rPr>
              <a:t>后端开发，数据库设计与</a:t>
            </a:r>
            <a:r>
              <a:rPr lang="en-US" altLang="zh-CN" sz="1800" dirty="0">
                <a:effectLst/>
                <a:latin typeface="+mn-ea"/>
                <a:cs typeface="Times New Roman" panose="02020603050405020304" pitchFamily="18" charset="0"/>
              </a:rPr>
              <a:t> API </a:t>
            </a:r>
            <a:r>
              <a:rPr lang="zh-CN" altLang="zh-CN" sz="1800" dirty="0">
                <a:effectLst/>
                <a:latin typeface="+mn-ea"/>
                <a:cs typeface="Times New Roman" panose="02020603050405020304" pitchFamily="18" charset="0"/>
              </a:rPr>
              <a:t>架构经验。</a:t>
            </a: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zh-CN" altLang="zh-CN" sz="1800" dirty="0">
                <a:effectLst/>
                <a:latin typeface="+mn-ea"/>
                <a:cs typeface="Times New Roman" panose="02020603050405020304" pitchFamily="18" charset="0"/>
              </a:rPr>
              <a:t>算法与数据分析工程师</a:t>
            </a:r>
            <a:r>
              <a:rPr lang="en-US" altLang="zh-CN" sz="1800" dirty="0">
                <a:effectLst/>
                <a:latin typeface="+mn-ea"/>
                <a:cs typeface="Times New Roman" panose="02020603050405020304" pitchFamily="18" charset="0"/>
              </a:rPr>
              <a:t> 2 </a:t>
            </a:r>
            <a:r>
              <a:rPr lang="zh-CN" altLang="zh-CN" sz="1800" dirty="0">
                <a:effectLst/>
                <a:latin typeface="+mn-ea"/>
                <a:cs typeface="Times New Roman" panose="02020603050405020304" pitchFamily="18" charset="0"/>
              </a:rPr>
              <a:t>人：精通大模型应用、图神经网络及数据挖掘技术。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500227D-6B12-45EC-9491-80ED49AFDE30}"/>
              </a:ext>
            </a:extLst>
          </p:cNvPr>
          <p:cNvSpPr txBox="1"/>
          <p:nvPr/>
        </p:nvSpPr>
        <p:spPr>
          <a:xfrm>
            <a:off x="6024230" y="4226154"/>
            <a:ext cx="2271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lvl="0" indent="-342900">
              <a:tabLst>
                <a:tab pos="457200" algn="l"/>
              </a:tabLst>
            </a:pPr>
            <a:r>
              <a:rPr lang="zh-CN" altLang="zh-CN" sz="1800" b="1" dirty="0">
                <a:effectLst/>
                <a:latin typeface="+mn-ea"/>
                <a:cs typeface="宋体" panose="02010600030101010101" pitchFamily="2" charset="-122"/>
              </a:rPr>
              <a:t>市场与运营部</a:t>
            </a:r>
            <a:r>
              <a:rPr lang="zh-CN" altLang="zh-CN" sz="1800" dirty="0">
                <a:effectLst/>
                <a:latin typeface="+mn-ea"/>
                <a:cs typeface="宋体" panose="02010600030101010101" pitchFamily="2" charset="-122"/>
              </a:rPr>
              <a:t>：</a:t>
            </a:r>
            <a:r>
              <a:rPr lang="en-US" altLang="zh-CN" sz="1800" dirty="0">
                <a:effectLst/>
                <a:latin typeface="+mn-ea"/>
                <a:cs typeface="宋体" panose="02010600030101010101" pitchFamily="2" charset="-122"/>
              </a:rPr>
              <a:t>4 </a:t>
            </a:r>
            <a:r>
              <a:rPr lang="zh-CN" altLang="zh-CN" sz="1800" dirty="0">
                <a:effectLst/>
                <a:latin typeface="+mn-ea"/>
                <a:cs typeface="宋体" panose="02010600030101010101" pitchFamily="2" charset="-122"/>
              </a:rPr>
              <a:t>人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5899C15A-72F1-477D-8367-3FEE3907AB75}"/>
              </a:ext>
            </a:extLst>
          </p:cNvPr>
          <p:cNvSpPr txBox="1"/>
          <p:nvPr/>
        </p:nvSpPr>
        <p:spPr>
          <a:xfrm>
            <a:off x="5974875" y="4772691"/>
            <a:ext cx="49703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zh-CN" altLang="zh-CN" sz="1800" dirty="0">
                <a:effectLst/>
                <a:latin typeface="+mn-ea"/>
                <a:cs typeface="Times New Roman" panose="02020603050405020304" pitchFamily="18" charset="0"/>
              </a:rPr>
              <a:t>市场策划</a:t>
            </a:r>
            <a:r>
              <a:rPr lang="en-US" altLang="zh-CN" sz="1800" dirty="0">
                <a:effectLst/>
                <a:latin typeface="+mn-ea"/>
                <a:cs typeface="Times New Roman" panose="02020603050405020304" pitchFamily="18" charset="0"/>
              </a:rPr>
              <a:t> 2 </a:t>
            </a:r>
            <a:r>
              <a:rPr lang="zh-CN" altLang="zh-CN" sz="1800" dirty="0">
                <a:effectLst/>
                <a:latin typeface="+mn-ea"/>
                <a:cs typeface="Times New Roman" panose="02020603050405020304" pitchFamily="18" charset="0"/>
              </a:rPr>
              <a:t>人：擅长市场调研、活动策划、数据分析。</a:t>
            </a: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zh-CN" altLang="zh-CN" sz="1800" dirty="0">
                <a:effectLst/>
                <a:latin typeface="+mn-ea"/>
                <a:cs typeface="Times New Roman" panose="02020603050405020304" pitchFamily="18" charset="0"/>
              </a:rPr>
              <a:t>活动执行与社区运营</a:t>
            </a:r>
            <a:r>
              <a:rPr lang="en-US" altLang="zh-CN" sz="1800" dirty="0">
                <a:effectLst/>
                <a:latin typeface="+mn-ea"/>
                <a:cs typeface="Times New Roman" panose="02020603050405020304" pitchFamily="18" charset="0"/>
              </a:rPr>
              <a:t> 2 </a:t>
            </a:r>
            <a:r>
              <a:rPr lang="zh-CN" altLang="zh-CN" sz="1800" dirty="0">
                <a:effectLst/>
                <a:latin typeface="+mn-ea"/>
                <a:cs typeface="Times New Roman" panose="02020603050405020304" pitchFamily="18" charset="0"/>
              </a:rPr>
              <a:t>人：负责校园推广、用户互动及内容运营。</a:t>
            </a:r>
          </a:p>
        </p:txBody>
      </p:sp>
      <p:sp>
        <p:nvSpPr>
          <p:cNvPr id="35" name="标题 12">
            <a:extLst>
              <a:ext uri="{FF2B5EF4-FFF2-40B4-BE49-F238E27FC236}">
                <a16:creationId xmlns:a16="http://schemas.microsoft.com/office/drawing/2014/main" id="{38516E76-F108-4C16-BFAF-FB9EFF233D31}"/>
              </a:ext>
            </a:extLst>
          </p:cNvPr>
          <p:cNvSpPr txBox="1">
            <a:spLocks/>
          </p:cNvSpPr>
          <p:nvPr/>
        </p:nvSpPr>
        <p:spPr>
          <a:xfrm>
            <a:off x="750104" y="441325"/>
            <a:ext cx="105156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r>
              <a:rPr lang="zh-CN" altLang="en-US" sz="3200" dirty="0">
                <a:cs typeface="Times New Roman" panose="02020603050405020304" pitchFamily="18" charset="0"/>
              </a:rPr>
              <a:t>五、</a:t>
            </a:r>
            <a:r>
              <a:rPr lang="en-US" altLang="zh-CN" sz="3200" dirty="0" err="1">
                <a:cs typeface="Times New Roman" panose="02020603050405020304" pitchFamily="18" charset="0"/>
              </a:rPr>
              <a:t>组织结构</a:t>
            </a:r>
            <a:endParaRPr lang="zh-CN" altLang="en-US" sz="3200" dirty="0"/>
          </a:p>
        </p:txBody>
      </p:sp>
      <p:sp>
        <p:nvSpPr>
          <p:cNvPr id="36" name="标题 1">
            <a:extLst>
              <a:ext uri="{FF2B5EF4-FFF2-40B4-BE49-F238E27FC236}">
                <a16:creationId xmlns:a16="http://schemas.microsoft.com/office/drawing/2014/main" id="{4A307577-372B-4DF9-AECD-E98EA5F67B3D}"/>
              </a:ext>
            </a:extLst>
          </p:cNvPr>
          <p:cNvSpPr>
            <a:spLocks noGrp="1"/>
          </p:cNvSpPr>
          <p:nvPr/>
        </p:nvSpPr>
        <p:spPr>
          <a:xfrm>
            <a:off x="838200" y="960689"/>
            <a:ext cx="10515600" cy="516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u"/>
              <a:defRPr sz="28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人力资源配置</a:t>
            </a:r>
          </a:p>
        </p:txBody>
      </p:sp>
      <p:sp>
        <p:nvSpPr>
          <p:cNvPr id="37" name="日期占位符 2">
            <a:extLst>
              <a:ext uri="{FF2B5EF4-FFF2-40B4-BE49-F238E27FC236}">
                <a16:creationId xmlns:a16="http://schemas.microsoft.com/office/drawing/2014/main" id="{76CD1C64-788C-4C6F-95D9-1F19C1AE4F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4DB44E30-715F-4973-8179-B4178D7E09F0}" type="datetime1">
              <a:rPr lang="zh-CN" altLang="en-US" smtClean="0"/>
              <a:t>2025/11/6</a:t>
            </a:fld>
            <a:endParaRPr lang="zh-CN" altLang="en-US" dirty="0"/>
          </a:p>
        </p:txBody>
      </p:sp>
      <p:sp>
        <p:nvSpPr>
          <p:cNvPr id="38" name="页脚占位符 3">
            <a:extLst>
              <a:ext uri="{FF2B5EF4-FFF2-40B4-BE49-F238E27FC236}">
                <a16:creationId xmlns:a16="http://schemas.microsoft.com/office/drawing/2014/main" id="{6FDECEC7-2E26-4A86-8BE2-9D7D31745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525882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  <a:pPr/>
              <a:t>18</a:t>
            </a:fld>
            <a:endParaRPr lang="zh-CN" altLang="en-US" dirty="0"/>
          </a:p>
        </p:txBody>
      </p:sp>
      <p:pic>
        <p:nvPicPr>
          <p:cNvPr id="39" name="Image 3">
            <a:extLst>
              <a:ext uri="{FF2B5EF4-FFF2-40B4-BE49-F238E27FC236}">
                <a16:creationId xmlns:a16="http://schemas.microsoft.com/office/drawing/2014/main" id="{E7FEC7FB-827D-443C-8599-4474E9E461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204" y="2303426"/>
            <a:ext cx="727605" cy="71280"/>
          </a:xfrm>
          <a:prstGeom prst="rect">
            <a:avLst/>
          </a:prstGeom>
        </p:spPr>
      </p:pic>
      <p:pic>
        <p:nvPicPr>
          <p:cNvPr id="40" name="Image 4">
            <a:extLst>
              <a:ext uri="{FF2B5EF4-FFF2-40B4-BE49-F238E27FC236}">
                <a16:creationId xmlns:a16="http://schemas.microsoft.com/office/drawing/2014/main" id="{19D8956E-8A00-481D-B70A-92D347A2FE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3270" y="2303426"/>
            <a:ext cx="727605" cy="71280"/>
          </a:xfrm>
          <a:prstGeom prst="rect">
            <a:avLst/>
          </a:prstGeom>
        </p:spPr>
      </p:pic>
      <p:pic>
        <p:nvPicPr>
          <p:cNvPr id="41" name="Image 5">
            <a:extLst>
              <a:ext uri="{FF2B5EF4-FFF2-40B4-BE49-F238E27FC236}">
                <a16:creationId xmlns:a16="http://schemas.microsoft.com/office/drawing/2014/main" id="{F3FD8EA3-7B21-4CBC-B01B-BD4DB57BF6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4699" y="2303426"/>
            <a:ext cx="2041227" cy="75240"/>
          </a:xfrm>
          <a:prstGeom prst="rect">
            <a:avLst/>
          </a:prstGeom>
        </p:spPr>
      </p:pic>
      <p:pic>
        <p:nvPicPr>
          <p:cNvPr id="42" name="Image 6">
            <a:extLst>
              <a:ext uri="{FF2B5EF4-FFF2-40B4-BE49-F238E27FC236}">
                <a16:creationId xmlns:a16="http://schemas.microsoft.com/office/drawing/2014/main" id="{FB8CCD99-0CA5-4DF0-B4D1-FFA0AEAD06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9884" y="2307386"/>
            <a:ext cx="2041227" cy="71280"/>
          </a:xfrm>
          <a:prstGeom prst="rect">
            <a:avLst/>
          </a:prstGeom>
        </p:spPr>
      </p:pic>
      <p:pic>
        <p:nvPicPr>
          <p:cNvPr id="43" name="Image 7">
            <a:extLst>
              <a:ext uri="{FF2B5EF4-FFF2-40B4-BE49-F238E27FC236}">
                <a16:creationId xmlns:a16="http://schemas.microsoft.com/office/drawing/2014/main" id="{8A01B682-BC13-48C1-8CD7-013E1A1986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6933" y="1792587"/>
            <a:ext cx="1010781" cy="1017718"/>
          </a:xfrm>
          <a:prstGeom prst="rect">
            <a:avLst/>
          </a:prstGeom>
        </p:spPr>
      </p:pic>
      <p:pic>
        <p:nvPicPr>
          <p:cNvPr id="44" name="Image 8">
            <a:extLst>
              <a:ext uri="{FF2B5EF4-FFF2-40B4-BE49-F238E27FC236}">
                <a16:creationId xmlns:a16="http://schemas.microsoft.com/office/drawing/2014/main" id="{BF32DD30-46DA-4B6B-8299-1D74A25F1D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05841" y="2125226"/>
            <a:ext cx="424764" cy="352439"/>
          </a:xfrm>
          <a:prstGeom prst="rect">
            <a:avLst/>
          </a:prstGeom>
        </p:spPr>
      </p:pic>
      <p:pic>
        <p:nvPicPr>
          <p:cNvPr id="45" name="Image 9">
            <a:extLst>
              <a:ext uri="{FF2B5EF4-FFF2-40B4-BE49-F238E27FC236}">
                <a16:creationId xmlns:a16="http://schemas.microsoft.com/office/drawing/2014/main" id="{29F86FDA-53A9-4AA1-833E-7786A6D003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9649" y="1792587"/>
            <a:ext cx="1010781" cy="1017718"/>
          </a:xfrm>
          <a:prstGeom prst="rect">
            <a:avLst/>
          </a:prstGeom>
        </p:spPr>
      </p:pic>
      <p:pic>
        <p:nvPicPr>
          <p:cNvPr id="46" name="Image 10">
            <a:extLst>
              <a:ext uri="{FF2B5EF4-FFF2-40B4-BE49-F238E27FC236}">
                <a16:creationId xmlns:a16="http://schemas.microsoft.com/office/drawing/2014/main" id="{0D5189C2-7018-492C-8ADD-EC36A3B3CFC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753" y="2105426"/>
            <a:ext cx="334305" cy="392039"/>
          </a:xfrm>
          <a:prstGeom prst="rect">
            <a:avLst/>
          </a:prstGeom>
        </p:spPr>
      </p:pic>
      <p:pic>
        <p:nvPicPr>
          <p:cNvPr id="47" name="Image 11">
            <a:extLst>
              <a:ext uri="{FF2B5EF4-FFF2-40B4-BE49-F238E27FC236}">
                <a16:creationId xmlns:a16="http://schemas.microsoft.com/office/drawing/2014/main" id="{AC0EF679-53F0-4DB2-B034-60D0B125FF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829" y="1808427"/>
            <a:ext cx="1010781" cy="1017718"/>
          </a:xfrm>
          <a:prstGeom prst="rect">
            <a:avLst/>
          </a:prstGeom>
        </p:spPr>
      </p:pic>
      <p:pic>
        <p:nvPicPr>
          <p:cNvPr id="48" name="Image 12">
            <a:extLst>
              <a:ext uri="{FF2B5EF4-FFF2-40B4-BE49-F238E27FC236}">
                <a16:creationId xmlns:a16="http://schemas.microsoft.com/office/drawing/2014/main" id="{711F88F0-7822-4721-8B5A-D236DB62C1B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78469" y="2164826"/>
            <a:ext cx="393300" cy="356399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56C6EAA3-C416-413F-A750-BA2955AE1E88}"/>
              </a:ext>
            </a:extLst>
          </p:cNvPr>
          <p:cNvSpPr txBox="1"/>
          <p:nvPr/>
        </p:nvSpPr>
        <p:spPr>
          <a:xfrm>
            <a:off x="1958325" y="3051708"/>
            <a:ext cx="1107996" cy="4173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en-US" altLang="zh-CN" sz="1800" b="1" dirty="0" err="1">
                <a:effectLst/>
                <a:latin typeface="+mn-ea"/>
                <a:cs typeface="Times New Roman" panose="02020603050405020304" pitchFamily="18" charset="0"/>
              </a:rPr>
              <a:t>入职培训</a:t>
            </a:r>
            <a:endParaRPr lang="zh-CN" altLang="en-US" b="1" spc="100" dirty="0">
              <a:latin typeface="+mn-ea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E6C9464-FEA5-4F26-B7CB-0CC6D6AC956B}"/>
              </a:ext>
            </a:extLst>
          </p:cNvPr>
          <p:cNvSpPr txBox="1"/>
          <p:nvPr/>
        </p:nvSpPr>
        <p:spPr>
          <a:xfrm>
            <a:off x="1606101" y="3749181"/>
            <a:ext cx="2213423" cy="1497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hangingPunct="0">
              <a:lnSpc>
                <a:spcPct val="130000"/>
              </a:lnSpc>
            </a:pPr>
            <a:r>
              <a:rPr lang="en-US" altLang="zh-CN" sz="1800" dirty="0" err="1">
                <a:effectLst/>
                <a:latin typeface="+mn-ea"/>
                <a:cs typeface="Times New Roman" panose="02020603050405020304" pitchFamily="18" charset="0"/>
              </a:rPr>
              <a:t>新员工入职初期进行公司文化、岗位职责、产品功能及安全规范培训</a:t>
            </a:r>
            <a:r>
              <a:rPr lang="en-US" altLang="zh-CN" sz="1800" dirty="0">
                <a:effectLst/>
                <a:latin typeface="+mn-ea"/>
                <a:cs typeface="Times New Roman" panose="02020603050405020304" pitchFamily="18" charset="0"/>
              </a:rPr>
              <a:t>。</a:t>
            </a:r>
            <a:endParaRPr lang="zh-CN" altLang="en-US" spc="100" dirty="0">
              <a:solidFill>
                <a:schemeClr val="accent4">
                  <a:lumMod val="20000"/>
                  <a:lumOff val="80000"/>
                </a:schemeClr>
              </a:solidFill>
              <a:latin typeface="+mn-ea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4CBF192-E7F1-4ED9-9C86-0678A469C3E8}"/>
              </a:ext>
            </a:extLst>
          </p:cNvPr>
          <p:cNvSpPr txBox="1"/>
          <p:nvPr/>
        </p:nvSpPr>
        <p:spPr>
          <a:xfrm>
            <a:off x="5369649" y="3051708"/>
            <a:ext cx="1107996" cy="4173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en-US" altLang="zh-CN" sz="1800" b="1" dirty="0" err="1">
                <a:effectLst/>
                <a:latin typeface="+mn-ea"/>
                <a:cs typeface="Times New Roman" panose="02020603050405020304" pitchFamily="18" charset="0"/>
              </a:rPr>
              <a:t>技术培训</a:t>
            </a:r>
            <a:endParaRPr lang="en-US" altLang="zh-CN" b="1" dirty="0">
              <a:latin typeface="+mn-ea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0B54692-51B7-4038-8E32-C4372E40C4C4}"/>
              </a:ext>
            </a:extLst>
          </p:cNvPr>
          <p:cNvSpPr txBox="1"/>
          <p:nvPr/>
        </p:nvSpPr>
        <p:spPr>
          <a:xfrm>
            <a:off x="4862312" y="3710469"/>
            <a:ext cx="2427488" cy="1497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hangingPunct="0">
              <a:lnSpc>
                <a:spcPct val="130000"/>
              </a:lnSpc>
            </a:pPr>
            <a:r>
              <a:rPr lang="en-US" altLang="zh-CN" sz="1800" dirty="0" err="1">
                <a:effectLst/>
                <a:latin typeface="+mn-ea"/>
                <a:cs typeface="Times New Roman" panose="02020603050405020304" pitchFamily="18" charset="0"/>
              </a:rPr>
              <a:t>定期组织技术分享会、算法模型研讨及前沿技术学习，提高团队整体技术水平</a:t>
            </a:r>
            <a:r>
              <a:rPr lang="en-US" altLang="zh-CN" sz="1800" dirty="0">
                <a:effectLst/>
                <a:latin typeface="+mn-ea"/>
                <a:cs typeface="Times New Roman" panose="02020603050405020304" pitchFamily="18" charset="0"/>
              </a:rPr>
              <a:t>。</a:t>
            </a:r>
            <a:endParaRPr lang="zh-CN" altLang="en-US" sz="1600" spc="100" dirty="0">
              <a:solidFill>
                <a:schemeClr val="accent4">
                  <a:lumMod val="20000"/>
                  <a:lumOff val="80000"/>
                </a:schemeClr>
              </a:solidFill>
              <a:latin typeface="+mn-ea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3A465D60-F1FE-4AD1-9A69-BD81CF4A94B0}"/>
              </a:ext>
            </a:extLst>
          </p:cNvPr>
          <p:cNvSpPr txBox="1"/>
          <p:nvPr/>
        </p:nvSpPr>
        <p:spPr>
          <a:xfrm>
            <a:off x="8409077" y="3051708"/>
            <a:ext cx="1800493" cy="4173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en-US" altLang="zh-CN" sz="1800" b="1" dirty="0" err="1">
                <a:effectLst/>
                <a:latin typeface="+mn-ea"/>
                <a:cs typeface="Times New Roman" panose="02020603050405020304" pitchFamily="18" charset="0"/>
              </a:rPr>
              <a:t>市场与运营培训</a:t>
            </a:r>
            <a:endParaRPr lang="zh-CN" altLang="en-US" b="1" spc="100" dirty="0">
              <a:latin typeface="+mn-ea"/>
            </a:endParaRPr>
          </a:p>
        </p:txBody>
      </p:sp>
      <p:sp>
        <p:nvSpPr>
          <p:cNvPr id="24" name="标题 12">
            <a:extLst>
              <a:ext uri="{FF2B5EF4-FFF2-40B4-BE49-F238E27FC236}">
                <a16:creationId xmlns:a16="http://schemas.microsoft.com/office/drawing/2014/main" id="{F91DF6A8-9679-4DEB-B990-0E54F79C0E7B}"/>
              </a:ext>
            </a:extLst>
          </p:cNvPr>
          <p:cNvSpPr txBox="1">
            <a:spLocks/>
          </p:cNvSpPr>
          <p:nvPr/>
        </p:nvSpPr>
        <p:spPr>
          <a:xfrm>
            <a:off x="750104" y="441325"/>
            <a:ext cx="105156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r>
              <a:rPr lang="zh-CN" altLang="en-US" sz="3200" dirty="0">
                <a:cs typeface="Times New Roman" panose="02020603050405020304" pitchFamily="18" charset="0"/>
              </a:rPr>
              <a:t>五、</a:t>
            </a:r>
            <a:r>
              <a:rPr lang="en-US" altLang="zh-CN" sz="3200" dirty="0" err="1">
                <a:cs typeface="Times New Roman" panose="02020603050405020304" pitchFamily="18" charset="0"/>
              </a:rPr>
              <a:t>组织结构</a:t>
            </a:r>
            <a:endParaRPr lang="zh-CN" altLang="en-US" sz="3200" dirty="0"/>
          </a:p>
        </p:txBody>
      </p:sp>
      <p:sp>
        <p:nvSpPr>
          <p:cNvPr id="25" name="标题 1">
            <a:extLst>
              <a:ext uri="{FF2B5EF4-FFF2-40B4-BE49-F238E27FC236}">
                <a16:creationId xmlns:a16="http://schemas.microsoft.com/office/drawing/2014/main" id="{F313F96B-4B62-4412-BCB1-DA89B31E9508}"/>
              </a:ext>
            </a:extLst>
          </p:cNvPr>
          <p:cNvSpPr>
            <a:spLocks noGrp="1"/>
          </p:cNvSpPr>
          <p:nvPr/>
        </p:nvSpPr>
        <p:spPr>
          <a:xfrm>
            <a:off x="838200" y="960689"/>
            <a:ext cx="10515600" cy="516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u"/>
              <a:defRPr sz="28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员工培训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54A39D72-98D2-4EBB-BB30-F34E62C6BFC5}"/>
              </a:ext>
            </a:extLst>
          </p:cNvPr>
          <p:cNvSpPr txBox="1"/>
          <p:nvPr/>
        </p:nvSpPr>
        <p:spPr>
          <a:xfrm>
            <a:off x="8349897" y="3710469"/>
            <a:ext cx="1918851" cy="1497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hangingPunct="0">
              <a:lnSpc>
                <a:spcPct val="130000"/>
              </a:lnSpc>
            </a:pPr>
            <a:r>
              <a:rPr lang="zh-CN" altLang="zh-CN" sz="1800" dirty="0">
                <a:effectLst/>
                <a:latin typeface="+mn-ea"/>
                <a:cs typeface="宋体" panose="02010600030101010101" pitchFamily="2" charset="-122"/>
              </a:rPr>
              <a:t>针对校园营销</a:t>
            </a:r>
            <a:r>
              <a:rPr lang="zh-CN" altLang="en-US" sz="1800" dirty="0">
                <a:effectLst/>
                <a:latin typeface="+mn-ea"/>
                <a:cs typeface="宋体" panose="02010600030101010101" pitchFamily="2" charset="-122"/>
              </a:rPr>
              <a:t>活动、用户行为分析、品牌运营方法进行培训。</a:t>
            </a:r>
            <a:endParaRPr lang="zh-CN" altLang="en-US" sz="1600" spc="100" dirty="0">
              <a:solidFill>
                <a:schemeClr val="accent4">
                  <a:lumMod val="20000"/>
                  <a:lumOff val="80000"/>
                </a:schemeClr>
              </a:solidFill>
              <a:latin typeface="+mn-ea"/>
            </a:endParaRPr>
          </a:p>
        </p:txBody>
      </p:sp>
      <p:sp>
        <p:nvSpPr>
          <p:cNvPr id="27" name="日期占位符 2">
            <a:extLst>
              <a:ext uri="{FF2B5EF4-FFF2-40B4-BE49-F238E27FC236}">
                <a16:creationId xmlns:a16="http://schemas.microsoft.com/office/drawing/2014/main" id="{07A0390A-A074-469E-9F92-BA77DCCB49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4DB44E30-715F-4973-8179-B4178D7E09F0}" type="datetime1">
              <a:rPr lang="zh-CN" altLang="en-US" smtClean="0"/>
              <a:t>2025/11/6</a:t>
            </a:fld>
            <a:endParaRPr lang="zh-CN" altLang="en-US" dirty="0"/>
          </a:p>
        </p:txBody>
      </p:sp>
      <p:sp>
        <p:nvSpPr>
          <p:cNvPr id="28" name="页脚占位符 3">
            <a:extLst>
              <a:ext uri="{FF2B5EF4-FFF2-40B4-BE49-F238E27FC236}">
                <a16:creationId xmlns:a16="http://schemas.microsoft.com/office/drawing/2014/main" id="{578A051F-64DB-438E-8B53-DEB9CC65B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58008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4E30-715F-4973-8179-B4178D7E09F0}" type="datetime1">
              <a:rPr lang="zh-CN" altLang="en-US" smtClean="0"/>
              <a:t>2025/11/6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  <a:t>19</a:t>
            </a:fld>
            <a:endParaRPr lang="zh-CN" altLang="en-US" dirty="0"/>
          </a:p>
        </p:txBody>
      </p:sp>
      <p:graphicFrame>
        <p:nvGraphicFramePr>
          <p:cNvPr id="9" name="表格 8"/>
          <p:cNvGraphicFramePr/>
          <p:nvPr>
            <p:custDataLst>
              <p:tags r:id="rId1"/>
            </p:custDataLst>
          </p:nvPr>
        </p:nvGraphicFramePr>
        <p:xfrm>
          <a:off x="1403350" y="1322705"/>
          <a:ext cx="9344025" cy="4978400"/>
        </p:xfrm>
        <a:graphic>
          <a:graphicData uri="http://schemas.openxmlformats.org/drawingml/2006/table">
            <a:tbl>
              <a:tblPr/>
              <a:tblGrid>
                <a:gridCol w="1702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415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2295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chemeClr val="bg1"/>
                          </a:solidFill>
                          <a:latin typeface="+mn-ea"/>
                        </a:rPr>
                        <a:t>假设类别</a:t>
                      </a:r>
                    </a:p>
                  </a:txBody>
                  <a:tcPr marL="114617" marR="114617" marT="76517" marB="76517" anchor="ctr">
                    <a:lnL w="28575">
                      <a:solidFill>
                        <a:schemeClr val="bg1"/>
                      </a:solidFill>
                      <a:prstDash val="solid"/>
                    </a:lnL>
                    <a:lnR w="28575">
                      <a:solidFill>
                        <a:schemeClr val="bg1"/>
                      </a:solidFill>
                      <a:prstDash val="solid"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7F0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chemeClr val="bg1"/>
                          </a:solidFill>
                          <a:latin typeface="+mn-ea"/>
                        </a:rPr>
                        <a:t>具体假设内容</a:t>
                      </a:r>
                    </a:p>
                  </a:txBody>
                  <a:tcPr marL="114617" marR="114617" marT="76517" marB="76517" anchor="ctr">
                    <a:lnL w="28575">
                      <a:solidFill>
                        <a:schemeClr val="bg1"/>
                      </a:solidFill>
                      <a:prstDash val="solid"/>
                    </a:lnL>
                    <a:lnR w="28575">
                      <a:solidFill>
                        <a:schemeClr val="bg1"/>
                      </a:solidFill>
                      <a:prstDash val="solid"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7F0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166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</a:rPr>
                        <a:t>用户增长假设</a:t>
                      </a:r>
                    </a:p>
                  </a:txBody>
                  <a:tcPr marL="114617" marR="114617" marT="76517" marB="76517" anchor="ctr">
                    <a:lnL w="28575">
                      <a:solidFill>
                        <a:schemeClr val="bg1"/>
                      </a:solidFill>
                      <a:prstDash val="solid"/>
                    </a:lnL>
                    <a:lnR w="28575">
                      <a:solidFill>
                        <a:schemeClr val="bg1"/>
                      </a:solidFill>
                      <a:prstDash val="solid"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D8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第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1 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年用户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2 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万，第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2 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年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8 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万，第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3 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年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22 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万，符合校园市场渗透节奏</a:t>
                      </a:r>
                    </a:p>
                  </a:txBody>
                  <a:tcPr marL="114617" marR="114617" marT="76517" marB="76517" anchor="ctr">
                    <a:lnL w="28575">
                      <a:solidFill>
                        <a:schemeClr val="bg1"/>
                      </a:solidFill>
                      <a:prstDash val="solid"/>
                    </a:lnL>
                    <a:lnR w="28575">
                      <a:solidFill>
                        <a:schemeClr val="bg1"/>
                      </a:solidFill>
                      <a:prstDash val="solid"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D8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598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</a:rPr>
                        <a:t>付费转化假设</a:t>
                      </a:r>
                    </a:p>
                  </a:txBody>
                  <a:tcPr marL="114617" marR="114617" marT="76517" marB="76517" anchor="ctr">
                    <a:lnL w="28575">
                      <a:solidFill>
                        <a:schemeClr val="bg1"/>
                      </a:solidFill>
                      <a:prstDash val="solid"/>
                    </a:lnL>
                    <a:lnR w="28575">
                      <a:solidFill>
                        <a:schemeClr val="bg1"/>
                      </a:solidFill>
                      <a:prstDash val="solid"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D8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VIP 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订阅转化率：第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1 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年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5%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、第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2 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年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8%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、第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3 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年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10%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；活动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/ 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广告收入占比随用户活跃度提升至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20%</a:t>
                      </a:r>
                    </a:p>
                  </a:txBody>
                  <a:tcPr marL="114617" marR="114617" marT="76517" marB="76517" anchor="ctr">
                    <a:lnL w="28575">
                      <a:solidFill>
                        <a:schemeClr val="bg1"/>
                      </a:solidFill>
                      <a:prstDash val="solid"/>
                    </a:lnL>
                    <a:lnR w="28575">
                      <a:solidFill>
                        <a:schemeClr val="bg1"/>
                      </a:solidFill>
                      <a:prstDash val="solid"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D8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042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</a:rPr>
                        <a:t>定价假设</a:t>
                      </a:r>
                    </a:p>
                  </a:txBody>
                  <a:tcPr marL="114617" marR="114617" marT="76517" marB="76517" anchor="ctr">
                    <a:lnL w="28575">
                      <a:solidFill>
                        <a:schemeClr val="bg1"/>
                      </a:solidFill>
                      <a:prstDash val="solid"/>
                    </a:lnL>
                    <a:lnR w="28575">
                      <a:solidFill>
                        <a:schemeClr val="bg1"/>
                      </a:solidFill>
                      <a:prstDash val="solid"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D8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VIP 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订阅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15 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元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/ 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月，线下活动门票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50 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元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/ 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人，采用 “免费基础服务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+ 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增值服务收费” 模式</a:t>
                      </a:r>
                    </a:p>
                  </a:txBody>
                  <a:tcPr marL="114617" marR="114617" marT="76517" marB="76517" anchor="ctr">
                    <a:lnL w="28575">
                      <a:solidFill>
                        <a:schemeClr val="bg1"/>
                      </a:solidFill>
                      <a:prstDash val="solid"/>
                    </a:lnL>
                    <a:lnR w="28575">
                      <a:solidFill>
                        <a:schemeClr val="bg1"/>
                      </a:solidFill>
                      <a:prstDash val="solid"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D8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042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</a:rPr>
                        <a:t>成本假设</a:t>
                      </a:r>
                    </a:p>
                  </a:txBody>
                  <a:tcPr marL="114617" marR="114617" marT="76517" marB="76517" anchor="ctr">
                    <a:lnL w="28575">
                      <a:solidFill>
                        <a:schemeClr val="bg1"/>
                      </a:solidFill>
                      <a:prstDash val="solid"/>
                    </a:lnL>
                    <a:lnR w="28575">
                      <a:solidFill>
                        <a:schemeClr val="bg1"/>
                      </a:solidFill>
                      <a:prstDash val="solid"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D8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成本结构：技术研发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40%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、运营推广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35%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、人力薪酬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20%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、其他杂费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5%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；单位用户成本随规模扩大逐年下降</a:t>
                      </a:r>
                    </a:p>
                  </a:txBody>
                  <a:tcPr marL="114617" marR="114617" marT="76517" marB="76517" anchor="ctr">
                    <a:lnL w="28575">
                      <a:solidFill>
                        <a:schemeClr val="bg1"/>
                      </a:solidFill>
                      <a:prstDash val="solid"/>
                    </a:lnL>
                    <a:lnR w="28575">
                      <a:solidFill>
                        <a:schemeClr val="bg1"/>
                      </a:solidFill>
                      <a:prstDash val="solid"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D8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</a:rPr>
                        <a:t>财务参数假设</a:t>
                      </a:r>
                    </a:p>
                  </a:txBody>
                  <a:tcPr marL="114617" marR="114617" marT="76517" marB="76517" anchor="ctr">
                    <a:lnL w="28575">
                      <a:solidFill>
                        <a:schemeClr val="bg1"/>
                      </a:solidFill>
                      <a:prstDash val="solid"/>
                    </a:lnL>
                    <a:lnR w="28575">
                      <a:solidFill>
                        <a:schemeClr val="bg1"/>
                      </a:solidFill>
                      <a:prstDash val="solid"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D8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贴现率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10%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，项目计算期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3 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年，不考虑显著通货膨胀影响</a:t>
                      </a:r>
                    </a:p>
                  </a:txBody>
                  <a:tcPr marL="114617" marR="114617" marT="76517" marB="76517" anchor="ctr">
                    <a:lnL w="28575">
                      <a:solidFill>
                        <a:schemeClr val="bg1"/>
                      </a:solidFill>
                      <a:prstDash val="solid"/>
                    </a:lnL>
                    <a:lnR w="28575">
                      <a:solidFill>
                        <a:schemeClr val="bg1"/>
                      </a:solidFill>
                      <a:prstDash val="solid"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D8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229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</a:rPr>
                        <a:t>融资假设</a:t>
                      </a:r>
                    </a:p>
                  </a:txBody>
                  <a:tcPr marL="114617" marR="114617" marT="76517" marB="76517" anchor="ctr">
                    <a:lnL w="28575">
                      <a:solidFill>
                        <a:schemeClr val="bg1"/>
                      </a:solidFill>
                      <a:prstDash val="solid"/>
                    </a:lnL>
                    <a:lnR w="28575">
                      <a:solidFill>
                        <a:schemeClr val="bg1"/>
                      </a:solidFill>
                      <a:prstDash val="solid"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D8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启动资金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50 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万元（自有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15 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万元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+ 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天使轮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35 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万元），资金足额到位</a:t>
                      </a:r>
                    </a:p>
                  </a:txBody>
                  <a:tcPr marL="114617" marR="114617" marT="76517" marB="76517" anchor="ctr">
                    <a:lnL w="28575">
                      <a:solidFill>
                        <a:schemeClr val="bg1"/>
                      </a:solidFill>
                      <a:prstDash val="solid"/>
                    </a:lnL>
                    <a:lnR w="28575">
                      <a:solidFill>
                        <a:schemeClr val="bg1"/>
                      </a:solidFill>
                      <a:prstDash val="solid"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D8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标题 12">
            <a:extLst>
              <a:ext uri="{FF2B5EF4-FFF2-40B4-BE49-F238E27FC236}">
                <a16:creationId xmlns:a16="http://schemas.microsoft.com/office/drawing/2014/main" id="{B0153218-576C-4EC5-A406-4ED9588E4223}"/>
              </a:ext>
            </a:extLst>
          </p:cNvPr>
          <p:cNvSpPr txBox="1">
            <a:spLocks/>
          </p:cNvSpPr>
          <p:nvPr/>
        </p:nvSpPr>
        <p:spPr>
          <a:xfrm>
            <a:off x="915204" y="466725"/>
            <a:ext cx="105156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r>
              <a:rPr lang="zh-CN" altLang="en-US" sz="3200" dirty="0">
                <a:cs typeface="Times New Roman" panose="02020603050405020304" pitchFamily="18" charset="0"/>
              </a:rPr>
              <a:t>六、财务分析</a:t>
            </a:r>
            <a:endParaRPr lang="zh-CN" altLang="en-US" sz="3200" dirty="0"/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BD8E86E9-F72E-4F45-893C-45D729D746F5}"/>
              </a:ext>
            </a:extLst>
          </p:cNvPr>
          <p:cNvSpPr>
            <a:spLocks noGrp="1"/>
          </p:cNvSpPr>
          <p:nvPr/>
        </p:nvSpPr>
        <p:spPr>
          <a:xfrm>
            <a:off x="4598120" y="734853"/>
            <a:ext cx="10515600" cy="5584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u"/>
              <a:defRPr sz="28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800" b="1" dirty="0"/>
              <a:t>财务假设条件表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257247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4E30-715F-4973-8179-B4178D7E09F0}" type="datetime1">
              <a:rPr lang="zh-CN" altLang="en-US" smtClean="0"/>
              <a:t>2025/11/6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  <a:t>20</a:t>
            </a:fld>
            <a:endParaRPr lang="zh-CN" altLang="en-US" dirty="0"/>
          </a:p>
        </p:txBody>
      </p:sp>
      <p:graphicFrame>
        <p:nvGraphicFramePr>
          <p:cNvPr id="6" name="表格 5"/>
          <p:cNvGraphicFramePr/>
          <p:nvPr>
            <p:extLst>
              <p:ext uri="{D42A27DB-BD31-4B8C-83A1-F6EECF244321}">
                <p14:modId xmlns:p14="http://schemas.microsoft.com/office/powerpoint/2010/main" val="1536371631"/>
              </p:ext>
            </p:extLst>
          </p:nvPr>
        </p:nvGraphicFramePr>
        <p:xfrm>
          <a:off x="1574800" y="1287550"/>
          <a:ext cx="9042400" cy="1508279"/>
        </p:xfrm>
        <a:graphic>
          <a:graphicData uri="http://schemas.openxmlformats.org/drawingml/2006/table">
            <a:tbl>
              <a:tblPr/>
              <a:tblGrid>
                <a:gridCol w="115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36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4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276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6865">
                <a:tc>
                  <a:txBody>
                    <a:bodyPr/>
                    <a:lstStyle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1" i="0">
                          <a:solidFill>
                            <a:schemeClr val="bg1"/>
                          </a:solidFill>
                          <a:latin typeface="+mn-ea"/>
                        </a:rPr>
                        <a:t>年度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07F0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1" i="0">
                          <a:solidFill>
                            <a:schemeClr val="bg1"/>
                          </a:solidFill>
                          <a:latin typeface="+mn-ea"/>
                        </a:rPr>
                        <a:t>用户量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07F0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1" i="0">
                          <a:solidFill>
                            <a:schemeClr val="bg1"/>
                          </a:solidFill>
                          <a:latin typeface="+mn-ea"/>
                        </a:rPr>
                        <a:t>总收入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07F0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1" i="0" dirty="0">
                          <a:solidFill>
                            <a:schemeClr val="bg1"/>
                          </a:solidFill>
                          <a:latin typeface="+mn-ea"/>
                        </a:rPr>
                        <a:t>收入构成明细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07F0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865">
                <a:tc>
                  <a:txBody>
                    <a:bodyPr/>
                    <a:lstStyle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第 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1 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年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</a:rPr>
                        <a:t>2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</a:rPr>
                        <a:t>20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VIP 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订阅收入 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18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（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2 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万 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×5%×15 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元 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/ 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月 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×12 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月）；活动 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/ 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广告收入 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2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505">
                <a:tc>
                  <a:txBody>
                    <a:bodyPr/>
                    <a:lstStyle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第 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2 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年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</a:rPr>
                        <a:t>8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</a:rPr>
                        <a:t>100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VIP 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订阅收入 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86.4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（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8 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万 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×8%×15 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元 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/ 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月 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×12 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月）；活动 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/ 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广告收入 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13.6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300">
                <a:tc>
                  <a:txBody>
                    <a:bodyPr/>
                    <a:lstStyle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第 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3 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年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1" i="0" dirty="0">
                          <a:solidFill>
                            <a:srgbClr val="DF5356"/>
                          </a:solidFill>
                          <a:latin typeface="+mn-ea"/>
                        </a:rPr>
                        <a:t>22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</a:rPr>
                        <a:t>350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1" i="0" dirty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VIP </a:t>
                      </a:r>
                      <a:r>
                        <a:rPr lang="zh-CN" altLang="en-US" sz="1100" b="1" i="0" dirty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订阅收入 </a:t>
                      </a:r>
                      <a:r>
                        <a:rPr lang="en-US" altLang="zh-CN" sz="1100" b="1" i="0" dirty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396</a:t>
                      </a:r>
                      <a:r>
                        <a:rPr lang="zh-CN" altLang="en-US" sz="1100" b="1" i="0" dirty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（</a:t>
                      </a:r>
                      <a:r>
                        <a:rPr lang="en-US" altLang="zh-CN" sz="1100" b="1" i="0" dirty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22 </a:t>
                      </a:r>
                      <a:r>
                        <a:rPr lang="zh-CN" altLang="en-US" sz="1100" b="1" i="0" dirty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万 </a:t>
                      </a:r>
                      <a:r>
                        <a:rPr lang="en-US" altLang="zh-CN" sz="1100" b="1" i="0" dirty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×10%×15 </a:t>
                      </a:r>
                      <a:r>
                        <a:rPr lang="zh-CN" altLang="en-US" sz="1100" b="1" i="0" dirty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元 </a:t>
                      </a:r>
                      <a:r>
                        <a:rPr lang="en-US" altLang="zh-CN" sz="1100" b="1" i="0" dirty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/ </a:t>
                      </a:r>
                      <a:r>
                        <a:rPr lang="zh-CN" altLang="en-US" sz="1100" b="1" i="0" dirty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月 </a:t>
                      </a:r>
                      <a:r>
                        <a:rPr lang="en-US" altLang="zh-CN" sz="1100" b="1" i="0" dirty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×12 </a:t>
                      </a:r>
                      <a:r>
                        <a:rPr lang="zh-CN" altLang="en-US" sz="1100" b="1" i="0" dirty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月，超额部分计入其他收入调节）；活动 </a:t>
                      </a:r>
                      <a:r>
                        <a:rPr lang="en-US" altLang="zh-CN" sz="1100" b="1" i="0" dirty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/ </a:t>
                      </a:r>
                      <a:r>
                        <a:rPr lang="zh-CN" altLang="en-US" sz="1100" b="1" i="0" dirty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广告收入 </a:t>
                      </a:r>
                      <a:r>
                        <a:rPr lang="en-US" altLang="zh-CN" sz="1100" b="1" i="0" dirty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54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" name="表格 7"/>
          <p:cNvGraphicFramePr/>
          <p:nvPr>
            <p:extLst>
              <p:ext uri="{D42A27DB-BD31-4B8C-83A1-F6EECF244321}">
                <p14:modId xmlns:p14="http://schemas.microsoft.com/office/powerpoint/2010/main" val="561029025"/>
              </p:ext>
            </p:extLst>
          </p:nvPr>
        </p:nvGraphicFramePr>
        <p:xfrm>
          <a:off x="1578535" y="4459986"/>
          <a:ext cx="9038290" cy="1812032"/>
        </p:xfrm>
        <a:graphic>
          <a:graphicData uri="http://schemas.openxmlformats.org/drawingml/2006/table">
            <a:tbl>
              <a:tblPr/>
              <a:tblGrid>
                <a:gridCol w="11467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73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242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6865">
                <a:tc>
                  <a:txBody>
                    <a:bodyPr/>
                    <a:lstStyle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1" i="0">
                          <a:solidFill>
                            <a:schemeClr val="bg1"/>
                          </a:solidFill>
                          <a:latin typeface="+mn-ea"/>
                        </a:rPr>
                        <a:t>年度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07F0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1" i="0">
                          <a:solidFill>
                            <a:schemeClr val="bg1"/>
                          </a:solidFill>
                          <a:latin typeface="+mn-ea"/>
                        </a:rPr>
                        <a:t>总成本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07F0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1" i="0">
                          <a:solidFill>
                            <a:schemeClr val="bg1"/>
                          </a:solidFill>
                          <a:latin typeface="+mn-ea"/>
                        </a:rPr>
                        <a:t>成本构成明细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07F0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300">
                <a:tc>
                  <a:txBody>
                    <a:bodyPr/>
                    <a:lstStyle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第 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1 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年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</a:rPr>
                        <a:t>40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技术研发 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20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（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50 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万 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×40%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）、运营推广 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17.5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（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50 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万 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×35%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）、人力薪酬 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10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（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50 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万 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×20%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）、其他杂费 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2.5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（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50 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万 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×5%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）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300">
                <a:tc>
                  <a:txBody>
                    <a:bodyPr/>
                    <a:lstStyle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第 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2 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年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</a:rPr>
                        <a:t>70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技术研发 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28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（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70 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万 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×40%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）、运营推广 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24.5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（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70 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万 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×35%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）、人力薪酬 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14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（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70 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万 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×20%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）、其他杂费 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3.5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（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70 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万 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×5%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）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300">
                <a:tc>
                  <a:txBody>
                    <a:bodyPr/>
                    <a:lstStyle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第 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3 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年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</a:rPr>
                        <a:t>230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技术研发 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92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（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230 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万 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×40%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）、运营推广 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80.5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（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230 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万 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×35%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）、人力薪酬 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46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（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230 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万 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×20%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）、其他杂费 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11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（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230 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万 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×5%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）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/>
          <p:nvPr>
            <p:extLst>
              <p:ext uri="{D42A27DB-BD31-4B8C-83A1-F6EECF244321}">
                <p14:modId xmlns:p14="http://schemas.microsoft.com/office/powerpoint/2010/main" val="1532021623"/>
              </p:ext>
            </p:extLst>
          </p:nvPr>
        </p:nvGraphicFramePr>
        <p:xfrm>
          <a:off x="1578748" y="3159073"/>
          <a:ext cx="9049928" cy="1278632"/>
        </p:xfrm>
        <a:graphic>
          <a:graphicData uri="http://schemas.openxmlformats.org/drawingml/2006/table">
            <a:tbl>
              <a:tblPr/>
              <a:tblGrid>
                <a:gridCol w="11590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17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76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29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585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6865">
                <a:tc>
                  <a:txBody>
                    <a:bodyPr/>
                    <a:lstStyle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1" i="0">
                          <a:solidFill>
                            <a:schemeClr val="bg1"/>
                          </a:solidFill>
                          <a:latin typeface="+mn-ea"/>
                        </a:rPr>
                        <a:t>年度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07F0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1" i="0">
                          <a:solidFill>
                            <a:schemeClr val="bg1"/>
                          </a:solidFill>
                          <a:latin typeface="+mn-ea"/>
                        </a:rPr>
                        <a:t>总收入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07F0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1" i="0">
                          <a:solidFill>
                            <a:schemeClr val="bg1"/>
                          </a:solidFill>
                          <a:latin typeface="+mn-ea"/>
                        </a:rPr>
                        <a:t>总成本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07F0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1" i="0">
                          <a:solidFill>
                            <a:schemeClr val="bg1"/>
                          </a:solidFill>
                          <a:latin typeface="+mn-ea"/>
                        </a:rPr>
                        <a:t>净利润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07F0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1" i="0">
                          <a:solidFill>
                            <a:schemeClr val="bg1"/>
                          </a:solidFill>
                          <a:latin typeface="+mn-ea"/>
                        </a:rPr>
                        <a:t>利润说明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07F0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865">
                <a:tc>
                  <a:txBody>
                    <a:bodyPr/>
                    <a:lstStyle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第 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1 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年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</a:rPr>
                        <a:t>20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</a:rPr>
                        <a:t>40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</a:rPr>
                        <a:t>-20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</a:rPr>
                        <a:t>战略亏损，用于产品研发与市场开拓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865">
                <a:tc>
                  <a:txBody>
                    <a:bodyPr/>
                    <a:lstStyle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第 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2 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年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</a:rPr>
                        <a:t>100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</a:rPr>
                        <a:t>70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</a:rPr>
                        <a:t>30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</a:rPr>
                        <a:t>实现盈利，覆盖前期部分亏损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865">
                <a:tc>
                  <a:txBody>
                    <a:bodyPr/>
                    <a:lstStyle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第 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3 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年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</a:rPr>
                        <a:t>350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</a:rPr>
                        <a:t>230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</a:rPr>
                        <a:t>120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</a:rPr>
                        <a:t>盈利规模大幅提升，收回全部初期投资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标题 12">
            <a:extLst>
              <a:ext uri="{FF2B5EF4-FFF2-40B4-BE49-F238E27FC236}">
                <a16:creationId xmlns:a16="http://schemas.microsoft.com/office/drawing/2014/main" id="{757316B2-422E-4309-81F5-2E639559B8DA}"/>
              </a:ext>
            </a:extLst>
          </p:cNvPr>
          <p:cNvSpPr txBox="1">
            <a:spLocks/>
          </p:cNvSpPr>
          <p:nvPr/>
        </p:nvSpPr>
        <p:spPr>
          <a:xfrm>
            <a:off x="838200" y="450280"/>
            <a:ext cx="105156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r>
              <a:rPr lang="zh-CN" altLang="en-US" sz="3200" dirty="0">
                <a:cs typeface="Times New Roman" panose="02020603050405020304" pitchFamily="18" charset="0"/>
              </a:rPr>
              <a:t>六、财务分析</a:t>
            </a:r>
            <a:endParaRPr lang="zh-CN" altLang="en-US" sz="3200" dirty="0"/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B76F1BA7-C313-4840-AB0D-FB542179F0E6}"/>
              </a:ext>
            </a:extLst>
          </p:cNvPr>
          <p:cNvSpPr>
            <a:spLocks noGrp="1"/>
          </p:cNvSpPr>
          <p:nvPr/>
        </p:nvSpPr>
        <p:spPr>
          <a:xfrm>
            <a:off x="4724400" y="625922"/>
            <a:ext cx="10515600" cy="5584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u"/>
              <a:defRPr sz="28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800" b="1" dirty="0"/>
              <a:t>财务预测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803260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4E30-715F-4973-8179-B4178D7E09F0}" type="datetime1">
              <a:rPr lang="zh-CN" altLang="en-US" smtClean="0"/>
              <a:t>2025/11/6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  <a:t>21</a:t>
            </a:fld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/>
        </p:nvSpPr>
        <p:spPr>
          <a:xfrm>
            <a:off x="838200" y="986483"/>
            <a:ext cx="10515600" cy="516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u"/>
              <a:defRPr sz="28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pPr marL="0" indent="0">
              <a:buNone/>
            </a:pPr>
            <a:endParaRPr lang="zh-CN" altLang="en-US" dirty="0"/>
          </a:p>
        </p:txBody>
      </p:sp>
      <p:graphicFrame>
        <p:nvGraphicFramePr>
          <p:cNvPr id="6" name="表格 5"/>
          <p:cNvGraphicFramePr/>
          <p:nvPr/>
        </p:nvGraphicFramePr>
        <p:xfrm>
          <a:off x="1075690" y="1092835"/>
          <a:ext cx="10004425" cy="5161658"/>
        </p:xfrm>
        <a:graphic>
          <a:graphicData uri="http://schemas.openxmlformats.org/drawingml/2006/table">
            <a:tbl>
              <a:tblPr/>
              <a:tblGrid>
                <a:gridCol w="2621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1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618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2775"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盈利能力指标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07F0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j-ea"/>
                        </a:rPr>
                        <a:t>具体数值 </a:t>
                      </a:r>
                      <a:r>
                        <a:rPr lang="en-US" altLang="zh-CN" sz="1600" b="1" i="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j-ea"/>
                        </a:rPr>
                        <a:t>/ </a:t>
                      </a:r>
                      <a:r>
                        <a:rPr lang="zh-CN" altLang="en-US" sz="1600" b="1" i="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j-ea"/>
                        </a:rPr>
                        <a:t>范围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07F0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计算依据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07F0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8180"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</a:rPr>
                        <a:t>投资回收期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2.0-2.5 </a:t>
                      </a:r>
                      <a:r>
                        <a:rPr lang="zh-CN" altLang="en-US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年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第 </a:t>
                      </a:r>
                      <a:r>
                        <a:rPr lang="en-US" altLang="zh-CN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2 </a:t>
                      </a:r>
                      <a:r>
                        <a:rPr lang="zh-CN" altLang="en-US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年盈利 </a:t>
                      </a:r>
                      <a:r>
                        <a:rPr lang="en-US" altLang="zh-CN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30 </a:t>
                      </a:r>
                      <a:r>
                        <a:rPr lang="zh-CN" altLang="en-US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万，第 </a:t>
                      </a:r>
                      <a:r>
                        <a:rPr lang="en-US" altLang="zh-CN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3 </a:t>
                      </a:r>
                      <a:r>
                        <a:rPr lang="zh-CN" altLang="en-US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年净利润 </a:t>
                      </a:r>
                      <a:r>
                        <a:rPr lang="en-US" altLang="zh-CN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120 </a:t>
                      </a:r>
                      <a:r>
                        <a:rPr lang="zh-CN" altLang="en-US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万，累计覆盖 </a:t>
                      </a:r>
                      <a:r>
                        <a:rPr lang="en-US" altLang="zh-CN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50 </a:t>
                      </a:r>
                      <a:r>
                        <a:rPr lang="zh-CN" altLang="en-US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万初期投资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8335"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净现值（</a:t>
                      </a:r>
                      <a:r>
                        <a:rPr lang="en-US" altLang="zh-CN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NPV</a:t>
                      </a:r>
                      <a:r>
                        <a:rPr lang="zh-CN" altLang="en-US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）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约 </a:t>
                      </a:r>
                      <a:r>
                        <a:rPr lang="en-US" altLang="zh-CN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85 </a:t>
                      </a:r>
                      <a:r>
                        <a:rPr lang="zh-CN" altLang="en-US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万元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按 </a:t>
                      </a:r>
                      <a:r>
                        <a:rPr lang="en-US" altLang="zh-CN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10% </a:t>
                      </a:r>
                      <a:r>
                        <a:rPr lang="zh-CN" altLang="en-US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贴现率，折现 </a:t>
                      </a:r>
                      <a:r>
                        <a:rPr lang="en-US" altLang="zh-CN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3 </a:t>
                      </a:r>
                      <a:r>
                        <a:rPr lang="zh-CN" altLang="en-US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年现金流量（第 </a:t>
                      </a:r>
                      <a:r>
                        <a:rPr lang="en-US" altLang="zh-CN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1 </a:t>
                      </a:r>
                      <a:r>
                        <a:rPr lang="zh-CN" altLang="en-US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年 </a:t>
                      </a:r>
                      <a:r>
                        <a:rPr lang="en-US" altLang="zh-CN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- 50 </a:t>
                      </a:r>
                      <a:r>
                        <a:rPr lang="zh-CN" altLang="en-US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万、第 </a:t>
                      </a:r>
                      <a:r>
                        <a:rPr lang="en-US" altLang="zh-CN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2 </a:t>
                      </a:r>
                      <a:r>
                        <a:rPr lang="zh-CN" altLang="en-US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年 </a:t>
                      </a:r>
                      <a:r>
                        <a:rPr lang="en-US" altLang="zh-CN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30 </a:t>
                      </a:r>
                      <a:r>
                        <a:rPr lang="zh-CN" altLang="en-US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万、第 </a:t>
                      </a:r>
                      <a:r>
                        <a:rPr lang="en-US" altLang="zh-CN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3 </a:t>
                      </a:r>
                      <a:r>
                        <a:rPr lang="zh-CN" altLang="en-US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年 </a:t>
                      </a:r>
                      <a:r>
                        <a:rPr lang="en-US" altLang="zh-CN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120 </a:t>
                      </a:r>
                      <a:r>
                        <a:rPr lang="zh-CN" altLang="en-US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万）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6110"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内部收益率（</a:t>
                      </a:r>
                      <a:r>
                        <a:rPr lang="en-US" altLang="zh-CN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IRR</a:t>
                      </a:r>
                      <a:r>
                        <a:rPr lang="zh-CN" altLang="en-US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）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</a:rPr>
                        <a:t>25%-35%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基于 </a:t>
                      </a:r>
                      <a:r>
                        <a:rPr lang="en-US" altLang="zh-CN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3 </a:t>
                      </a:r>
                      <a:r>
                        <a:rPr lang="zh-CN" altLang="en-US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年收入、成本及投资数据测算，高于行业基准收益率（</a:t>
                      </a:r>
                      <a:r>
                        <a:rPr lang="en-US" altLang="zh-CN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10%-15%</a:t>
                      </a:r>
                      <a:r>
                        <a:rPr lang="zh-CN" altLang="en-US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）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08710"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</a:rPr>
                        <a:t>毛利率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第 </a:t>
                      </a:r>
                      <a:r>
                        <a:rPr lang="en-US" altLang="zh-CN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1 </a:t>
                      </a:r>
                      <a:r>
                        <a:rPr lang="zh-CN" altLang="en-US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年 </a:t>
                      </a:r>
                      <a:r>
                        <a:rPr lang="en-US" altLang="zh-CN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- 100%</a:t>
                      </a:r>
                      <a:r>
                        <a:rPr lang="zh-CN" altLang="en-US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、第 </a:t>
                      </a:r>
                      <a:r>
                        <a:rPr lang="en-US" altLang="zh-CN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2 </a:t>
                      </a:r>
                      <a:r>
                        <a:rPr lang="zh-CN" altLang="en-US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年 </a:t>
                      </a:r>
                      <a:r>
                        <a:rPr lang="en-US" altLang="zh-CN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30%</a:t>
                      </a:r>
                      <a:r>
                        <a:rPr lang="zh-CN" altLang="en-US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、第 </a:t>
                      </a:r>
                      <a:r>
                        <a:rPr lang="en-US" altLang="zh-CN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3 </a:t>
                      </a:r>
                      <a:r>
                        <a:rPr lang="zh-CN" altLang="en-US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年 </a:t>
                      </a:r>
                      <a:r>
                        <a:rPr lang="en-US" altLang="zh-CN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34.3%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毛利率 </a:t>
                      </a:r>
                      <a:r>
                        <a:rPr lang="en-US" altLang="zh-CN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=</a:t>
                      </a:r>
                      <a:r>
                        <a:rPr lang="zh-CN" altLang="en-US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（总收入 </a:t>
                      </a:r>
                      <a:r>
                        <a:rPr lang="en-US" altLang="zh-CN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- </a:t>
                      </a:r>
                      <a:r>
                        <a:rPr lang="zh-CN" altLang="en-US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总成本）</a:t>
                      </a:r>
                      <a:r>
                        <a:rPr lang="en-US" altLang="zh-CN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/ </a:t>
                      </a:r>
                      <a:r>
                        <a:rPr lang="zh-CN" altLang="en-US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总收入 </a:t>
                      </a:r>
                      <a:r>
                        <a:rPr lang="en-US" altLang="zh-CN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×100%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5670"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</a:rPr>
                        <a:t>人均创收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第 </a:t>
                      </a:r>
                      <a:r>
                        <a:rPr lang="en-US" altLang="zh-CN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1 </a:t>
                      </a:r>
                      <a:r>
                        <a:rPr lang="zh-CN" altLang="en-US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年 </a:t>
                      </a:r>
                      <a:r>
                        <a:rPr lang="en-US" altLang="zh-CN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10 </a:t>
                      </a:r>
                      <a:r>
                        <a:rPr lang="zh-CN" altLang="en-US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元、第 </a:t>
                      </a:r>
                      <a:r>
                        <a:rPr lang="en-US" altLang="zh-CN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2 </a:t>
                      </a:r>
                      <a:r>
                        <a:rPr lang="zh-CN" altLang="en-US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年 </a:t>
                      </a:r>
                      <a:r>
                        <a:rPr lang="en-US" altLang="zh-CN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12.5 </a:t>
                      </a:r>
                      <a:r>
                        <a:rPr lang="zh-CN" altLang="en-US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元、第 </a:t>
                      </a:r>
                      <a:r>
                        <a:rPr lang="en-US" altLang="zh-CN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3 </a:t>
                      </a:r>
                      <a:r>
                        <a:rPr lang="zh-CN" altLang="en-US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年 </a:t>
                      </a:r>
                      <a:r>
                        <a:rPr lang="en-US" altLang="zh-CN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15.9 </a:t>
                      </a:r>
                      <a:r>
                        <a:rPr lang="zh-CN" altLang="en-US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元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人均创收 </a:t>
                      </a:r>
                      <a:r>
                        <a:rPr lang="en-US" altLang="zh-CN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= </a:t>
                      </a:r>
                      <a:r>
                        <a:rPr lang="zh-CN" altLang="en-US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总收入 </a:t>
                      </a:r>
                      <a:r>
                        <a:rPr lang="en-US" altLang="zh-CN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/ </a:t>
                      </a:r>
                      <a:r>
                        <a:rPr lang="zh-CN" altLang="en-US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用户量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标题 1">
            <a:extLst>
              <a:ext uri="{FF2B5EF4-FFF2-40B4-BE49-F238E27FC236}">
                <a16:creationId xmlns:a16="http://schemas.microsoft.com/office/drawing/2014/main" id="{886BC91C-EC93-48C6-9E61-F3934BBC6687}"/>
              </a:ext>
            </a:extLst>
          </p:cNvPr>
          <p:cNvSpPr>
            <a:spLocks noGrp="1"/>
          </p:cNvSpPr>
          <p:nvPr/>
        </p:nvSpPr>
        <p:spPr>
          <a:xfrm>
            <a:off x="4724400" y="625922"/>
            <a:ext cx="10515600" cy="5584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u"/>
              <a:defRPr sz="28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800" b="1" i="0" u="none" strike="noStrike" kern="1200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项目盈利能力分析</a:t>
            </a:r>
            <a:endParaRPr lang="zh-CN" altLang="en-US" dirty="0"/>
          </a:p>
        </p:txBody>
      </p:sp>
      <p:sp>
        <p:nvSpPr>
          <p:cNvPr id="12" name="标题 12">
            <a:extLst>
              <a:ext uri="{FF2B5EF4-FFF2-40B4-BE49-F238E27FC236}">
                <a16:creationId xmlns:a16="http://schemas.microsoft.com/office/drawing/2014/main" id="{1CC17E83-2CB1-4E85-941E-88603DD560C4}"/>
              </a:ext>
            </a:extLst>
          </p:cNvPr>
          <p:cNvSpPr txBox="1">
            <a:spLocks/>
          </p:cNvSpPr>
          <p:nvPr/>
        </p:nvSpPr>
        <p:spPr>
          <a:xfrm>
            <a:off x="838200" y="450280"/>
            <a:ext cx="105156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r>
              <a:rPr lang="zh-CN" altLang="en-US" sz="3200" dirty="0">
                <a:cs typeface="Times New Roman" panose="02020603050405020304" pitchFamily="18" charset="0"/>
              </a:rPr>
              <a:t>六、财务分析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4790172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4E30-715F-4973-8179-B4178D7E09F0}" type="datetime1">
              <a:rPr lang="zh-CN" altLang="en-US" smtClean="0"/>
              <a:t>2025/11/6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  <a:t>22</a:t>
            </a:fld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/>
        </p:nvSpPr>
        <p:spPr>
          <a:xfrm>
            <a:off x="838200" y="986483"/>
            <a:ext cx="10515600" cy="516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u"/>
              <a:defRPr sz="28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pPr marL="0" indent="0">
              <a:buNone/>
            </a:pPr>
            <a:endParaRPr lang="zh-CN" altLang="en-US" dirty="0"/>
          </a:p>
        </p:txBody>
      </p:sp>
      <p:graphicFrame>
        <p:nvGraphicFramePr>
          <p:cNvPr id="10" name="表格 9"/>
          <p:cNvGraphicFramePr/>
          <p:nvPr/>
        </p:nvGraphicFramePr>
        <p:xfrm>
          <a:off x="964565" y="1506855"/>
          <a:ext cx="10648950" cy="4487665"/>
        </p:xfrm>
        <a:graphic>
          <a:graphicData uri="http://schemas.openxmlformats.org/drawingml/2006/table">
            <a:tbl>
              <a:tblPr/>
              <a:tblGrid>
                <a:gridCol w="174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7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588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9570"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chemeClr val="bg1"/>
                          </a:solidFill>
                          <a:latin typeface="+mn-ea"/>
                        </a:rPr>
                        <a:t>敏感变量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07F0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chemeClr val="bg1"/>
                          </a:solidFill>
                          <a:latin typeface="+mn-ea"/>
                        </a:rPr>
                        <a:t>变动方向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07F0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chemeClr val="bg1"/>
                          </a:solidFill>
                          <a:latin typeface="+mn-ea"/>
                        </a:rPr>
                        <a:t>变动幅度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07F0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chemeClr val="bg1"/>
                          </a:solidFill>
                          <a:latin typeface="+mn-ea"/>
                        </a:rPr>
                        <a:t>净利润变动幅度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07F0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chemeClr val="bg1"/>
                          </a:solidFill>
                          <a:latin typeface="+mn-ea"/>
                        </a:rPr>
                        <a:t>影响结论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07F0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</a:rPr>
                        <a:t>用户增长率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</a:rPr>
                        <a:t>下降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10%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（用户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20 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万）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下降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11.7%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（净利润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106 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万）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</a:rPr>
                        <a:t>用户规模对盈利影响显著，需重点保障推广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</a:rPr>
                        <a:t>用户增长率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</a:rPr>
                        <a:t>上升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10%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（用户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24 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万）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上升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11.7%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（净利润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134 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万）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sz="1400" b="1" i="0">
                        <a:solidFill>
                          <a:srgbClr val="DF5356"/>
                        </a:solidFill>
                        <a:latin typeface="+mn-ea"/>
                      </a:endParaRP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VIP 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转化率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</a:rPr>
                        <a:t>下降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10%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（转化率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9%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）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下降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9%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（净利润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109.2 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万）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</a:rPr>
                        <a:t>付费转化是盈利关键，需优化转化策略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VIP 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转化率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</a:rPr>
                        <a:t>上升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10%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（转化率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11%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）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上升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9%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（净利润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130.8 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万）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sz="1400" b="1" i="0">
                        <a:solidFill>
                          <a:srgbClr val="DF5356"/>
                        </a:solidFill>
                        <a:latin typeface="+mn-ea"/>
                      </a:endParaRP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</a:rPr>
                        <a:t>单位运营成本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</a:rPr>
                        <a:t>上升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10%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（成本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253 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万）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下降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10%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（净利润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97 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万）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</a:rPr>
                        <a:t>成本控制对盈利稳定性有一定影响，需压缩冗余支出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</a:rPr>
                        <a:t>单位运营成本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</a:rPr>
                        <a:t>下降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10%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（成本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207 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万）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上升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10%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（净利润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143 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万）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sz="1400" b="1" i="0">
                        <a:solidFill>
                          <a:srgbClr val="DF5356"/>
                        </a:solidFill>
                        <a:latin typeface="+mn-ea"/>
                      </a:endParaRP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标题 1">
            <a:extLst>
              <a:ext uri="{FF2B5EF4-FFF2-40B4-BE49-F238E27FC236}">
                <a16:creationId xmlns:a16="http://schemas.microsoft.com/office/drawing/2014/main" id="{5FBBE5A5-9090-4E4E-90D2-DC5DA61691A7}"/>
              </a:ext>
            </a:extLst>
          </p:cNvPr>
          <p:cNvSpPr>
            <a:spLocks noGrp="1"/>
          </p:cNvSpPr>
          <p:nvPr/>
        </p:nvSpPr>
        <p:spPr>
          <a:xfrm>
            <a:off x="1676400" y="946670"/>
            <a:ext cx="10515600" cy="5584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u"/>
              <a:defRPr sz="28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800" b="1" i="0" u="none" strike="noStrike" kern="1200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敏感性分析表（以第 </a:t>
            </a:r>
            <a:r>
              <a:rPr lang="en-US" altLang="zh-CN" sz="2800" b="1" i="0" u="none" strike="noStrike" kern="1200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sz="2800" b="1" i="0" u="none" strike="noStrike" kern="1200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年净利润为基准，变动幅度 </a:t>
            </a:r>
            <a:r>
              <a:rPr lang="en-US" altLang="zh-CN" sz="2800" b="1" i="0" u="none" strike="noStrike" kern="1200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±10%</a:t>
            </a:r>
            <a:r>
              <a:rPr lang="zh-CN" altLang="en-US" sz="2800" b="1" i="0" u="none" strike="noStrike" kern="1200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14" name="标题 12">
            <a:extLst>
              <a:ext uri="{FF2B5EF4-FFF2-40B4-BE49-F238E27FC236}">
                <a16:creationId xmlns:a16="http://schemas.microsoft.com/office/drawing/2014/main" id="{9E064B46-DBC6-4404-A85B-6E04F36D83BF}"/>
              </a:ext>
            </a:extLst>
          </p:cNvPr>
          <p:cNvSpPr txBox="1">
            <a:spLocks/>
          </p:cNvSpPr>
          <p:nvPr/>
        </p:nvSpPr>
        <p:spPr>
          <a:xfrm>
            <a:off x="838200" y="450280"/>
            <a:ext cx="105156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r>
              <a:rPr lang="zh-CN" altLang="en-US" sz="3200" dirty="0">
                <a:cs typeface="Times New Roman" panose="02020603050405020304" pitchFamily="18" charset="0"/>
              </a:rPr>
              <a:t>六、财务分析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2865055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4E30-715F-4973-8179-B4178D7E09F0}" type="datetime1">
              <a:rPr lang="zh-CN" altLang="en-US" smtClean="0"/>
              <a:t>2025/11/6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  <a:t>23</a:t>
            </a:fld>
            <a:endParaRPr lang="zh-CN" altLang="en-US" dirty="0"/>
          </a:p>
        </p:txBody>
      </p: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64565" y="1506855"/>
          <a:ext cx="10648950" cy="4581651"/>
        </p:xfrm>
        <a:graphic>
          <a:graphicData uri="http://schemas.openxmlformats.org/drawingml/2006/table">
            <a:tbl>
              <a:tblPr/>
              <a:tblGrid>
                <a:gridCol w="12592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58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03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851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88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75030"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 b="1" i="0">
                          <a:solidFill>
                            <a:schemeClr val="bg1"/>
                          </a:solidFill>
                          <a:latin typeface="+mn-ea"/>
                        </a:rPr>
                        <a:t>年度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07F0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 b="1" i="0">
                          <a:solidFill>
                            <a:schemeClr val="bg1"/>
                          </a:solidFill>
                          <a:latin typeface="+mn-ea"/>
                        </a:rPr>
                        <a:t>固定成本（万元）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07F0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 b="1" i="0">
                          <a:solidFill>
                            <a:schemeClr val="bg1"/>
                          </a:solidFill>
                          <a:latin typeface="+mn-ea"/>
                          <a:cs typeface="+mn-ea"/>
                        </a:rPr>
                        <a:t>单位边际贡献（元 </a:t>
                      </a:r>
                      <a:r>
                        <a:rPr lang="en-US" altLang="zh-CN" sz="2000" b="1" i="0">
                          <a:solidFill>
                            <a:schemeClr val="bg1"/>
                          </a:solidFill>
                          <a:latin typeface="+mn-ea"/>
                          <a:cs typeface="+mn-ea"/>
                        </a:rPr>
                        <a:t>/ </a:t>
                      </a:r>
                      <a:r>
                        <a:rPr lang="zh-CN" altLang="en-US" sz="2000" b="1" i="0">
                          <a:solidFill>
                            <a:schemeClr val="bg1"/>
                          </a:solidFill>
                          <a:latin typeface="+mn-ea"/>
                          <a:cs typeface="+mn-ea"/>
                        </a:rPr>
                        <a:t>人）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07F0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 b="1" i="0">
                          <a:solidFill>
                            <a:schemeClr val="bg1"/>
                          </a:solidFill>
                          <a:latin typeface="+mn-ea"/>
                        </a:rPr>
                        <a:t>盈亏平衡用户量（万人）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07F0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 b="1" i="0">
                          <a:solidFill>
                            <a:schemeClr val="bg1"/>
                          </a:solidFill>
                          <a:latin typeface="+mn-ea"/>
                        </a:rPr>
                        <a:t>实际用户量（万人）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07F0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635"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第 </a:t>
                      </a:r>
                      <a:r>
                        <a:rPr lang="en-US" altLang="zh-CN" sz="20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2 </a:t>
                      </a:r>
                      <a:r>
                        <a:rPr lang="zh-CN" altLang="en-US" sz="20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年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45</a:t>
                      </a:r>
                      <a:r>
                        <a:rPr lang="zh-CN" altLang="en-US" sz="20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（技术 </a:t>
                      </a:r>
                      <a:r>
                        <a:rPr lang="en-US" altLang="zh-CN" sz="20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+ </a:t>
                      </a:r>
                      <a:r>
                        <a:rPr lang="zh-CN" altLang="en-US" sz="20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人力固定支出）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150</a:t>
                      </a:r>
                      <a:r>
                        <a:rPr lang="zh-CN" altLang="en-US" sz="20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（人均年创收 </a:t>
                      </a:r>
                      <a:r>
                        <a:rPr lang="en-US" altLang="zh-CN" sz="20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125 </a:t>
                      </a:r>
                      <a:r>
                        <a:rPr lang="zh-CN" altLang="en-US" sz="20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元 </a:t>
                      </a:r>
                      <a:r>
                        <a:rPr lang="en-US" altLang="zh-CN" sz="20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- </a:t>
                      </a:r>
                      <a:r>
                        <a:rPr lang="zh-CN" altLang="en-US" sz="20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单位变动成本 </a:t>
                      </a:r>
                      <a:r>
                        <a:rPr lang="en-US" altLang="zh-CN" sz="20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25 </a:t>
                      </a:r>
                      <a:r>
                        <a:rPr lang="zh-CN" altLang="en-US" sz="20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元）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0.3</a:t>
                      </a:r>
                      <a:r>
                        <a:rPr lang="zh-CN" altLang="en-US" sz="20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（</a:t>
                      </a:r>
                      <a:r>
                        <a:rPr lang="en-US" altLang="zh-CN" sz="20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45 </a:t>
                      </a:r>
                      <a:r>
                        <a:rPr lang="zh-CN" altLang="en-US" sz="20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万 </a:t>
                      </a:r>
                      <a:r>
                        <a:rPr lang="en-US" altLang="zh-CN" sz="20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÷150 </a:t>
                      </a:r>
                      <a:r>
                        <a:rPr lang="zh-CN" altLang="en-US" sz="20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元 </a:t>
                      </a:r>
                      <a:r>
                        <a:rPr lang="en-US" altLang="zh-CN" sz="20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/ </a:t>
                      </a:r>
                      <a:r>
                        <a:rPr lang="zh-CN" altLang="en-US" sz="20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人）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b="1" i="0">
                          <a:solidFill>
                            <a:srgbClr val="DF5356"/>
                          </a:solidFill>
                          <a:latin typeface="+mn-ea"/>
                        </a:rPr>
                        <a:t>8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62430"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第 </a:t>
                      </a:r>
                      <a:r>
                        <a:rPr lang="en-US" altLang="zh-CN" sz="20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3 </a:t>
                      </a:r>
                      <a:r>
                        <a:rPr lang="zh-CN" altLang="en-US" sz="20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年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65</a:t>
                      </a:r>
                      <a:r>
                        <a:rPr lang="zh-CN" altLang="en-US" sz="20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（技术 </a:t>
                      </a:r>
                      <a:r>
                        <a:rPr lang="en-US" altLang="zh-CN" sz="20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+ </a:t>
                      </a:r>
                      <a:r>
                        <a:rPr lang="zh-CN" altLang="en-US" sz="20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人力固定支出）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b="1" i="0">
                          <a:solidFill>
                            <a:srgbClr val="DF5356"/>
                          </a:solidFill>
                          <a:latin typeface="+mn-ea"/>
                        </a:rPr>
                        <a:t>150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0.43</a:t>
                      </a:r>
                      <a:r>
                        <a:rPr lang="zh-CN" altLang="en-US" sz="20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（</a:t>
                      </a:r>
                      <a:r>
                        <a:rPr lang="en-US" altLang="zh-CN" sz="20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65 </a:t>
                      </a:r>
                      <a:r>
                        <a:rPr lang="zh-CN" altLang="en-US" sz="20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万 </a:t>
                      </a:r>
                      <a:r>
                        <a:rPr lang="en-US" altLang="zh-CN" sz="20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÷150 </a:t>
                      </a:r>
                      <a:r>
                        <a:rPr lang="zh-CN" altLang="en-US" sz="20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元 </a:t>
                      </a:r>
                      <a:r>
                        <a:rPr lang="en-US" altLang="zh-CN" sz="20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/ </a:t>
                      </a:r>
                      <a:r>
                        <a:rPr lang="zh-CN" altLang="en-US" sz="20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人）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b="1" i="0">
                          <a:solidFill>
                            <a:srgbClr val="DF5356"/>
                          </a:solidFill>
                          <a:latin typeface="+mn-ea"/>
                        </a:rPr>
                        <a:t>22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标题 1">
            <a:extLst>
              <a:ext uri="{FF2B5EF4-FFF2-40B4-BE49-F238E27FC236}">
                <a16:creationId xmlns:a16="http://schemas.microsoft.com/office/drawing/2014/main" id="{C5B9AB78-9F76-498F-80AF-5E137EC42AC6}"/>
              </a:ext>
            </a:extLst>
          </p:cNvPr>
          <p:cNvSpPr>
            <a:spLocks noGrp="1"/>
          </p:cNvSpPr>
          <p:nvPr/>
        </p:nvSpPr>
        <p:spPr>
          <a:xfrm>
            <a:off x="4279900" y="1011905"/>
            <a:ext cx="10515600" cy="5584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u"/>
              <a:defRPr sz="28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>
              <a:lnSpc>
                <a:spcPts val="1200"/>
              </a:lnSpc>
              <a:spcBef>
                <a:spcPts val="1000"/>
              </a:spcBef>
              <a:spcAft>
                <a:spcPct val="0"/>
              </a:spcAft>
            </a:pPr>
            <a:r>
              <a:rPr lang="zh-CN" altLang="en-US" sz="2800" b="1" i="0" dirty="0">
                <a:solidFill>
                  <a:srgbClr val="000000"/>
                </a:solidFill>
                <a:latin typeface="+mn-ea"/>
                <a:cs typeface="+mn-ea"/>
              </a:rPr>
              <a:t>盈亏平衡分析表</a:t>
            </a:r>
          </a:p>
        </p:txBody>
      </p:sp>
      <p:sp>
        <p:nvSpPr>
          <p:cNvPr id="12" name="标题 12">
            <a:extLst>
              <a:ext uri="{FF2B5EF4-FFF2-40B4-BE49-F238E27FC236}">
                <a16:creationId xmlns:a16="http://schemas.microsoft.com/office/drawing/2014/main" id="{C90ACCD0-12EE-45B8-A24F-9DD9D73B0754}"/>
              </a:ext>
            </a:extLst>
          </p:cNvPr>
          <p:cNvSpPr txBox="1">
            <a:spLocks/>
          </p:cNvSpPr>
          <p:nvPr/>
        </p:nvSpPr>
        <p:spPr>
          <a:xfrm>
            <a:off x="838200" y="450280"/>
            <a:ext cx="105156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r>
              <a:rPr lang="zh-CN" altLang="en-US" sz="3200" dirty="0">
                <a:cs typeface="Times New Roman" panose="02020603050405020304" pitchFamily="18" charset="0"/>
              </a:rPr>
              <a:t>六、财务分析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254423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4E30-715F-4973-8179-B4178D7E09F0}" type="datetime1">
              <a:rPr lang="zh-CN" altLang="en-US" smtClean="0"/>
              <a:t>2025/11/6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  <a:t>24</a:t>
            </a:fld>
            <a:endParaRPr lang="zh-CN" altLang="en-US" dirty="0"/>
          </a:p>
        </p:txBody>
      </p:sp>
      <p:graphicFrame>
        <p:nvGraphicFramePr>
          <p:cNvPr id="10" name="表格 9"/>
          <p:cNvGraphicFramePr/>
          <p:nvPr/>
        </p:nvGraphicFramePr>
        <p:xfrm>
          <a:off x="911860" y="1433830"/>
          <a:ext cx="10441940" cy="4403086"/>
        </p:xfrm>
        <a:graphic>
          <a:graphicData uri="http://schemas.openxmlformats.org/drawingml/2006/table">
            <a:tbl>
              <a:tblPr/>
              <a:tblGrid>
                <a:gridCol w="14662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5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06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99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055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chemeClr val="bg1"/>
                          </a:solidFill>
                          <a:latin typeface="+mn-ea"/>
                        </a:rPr>
                        <a:t>评价维度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07F0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chemeClr val="bg1"/>
                          </a:solidFill>
                          <a:latin typeface="+mn-ea"/>
                        </a:rPr>
                        <a:t>核心结论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07F0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chemeClr val="bg1"/>
                          </a:solidFill>
                          <a:latin typeface="+mn-ea"/>
                        </a:rPr>
                        <a:t>评价维度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07F0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chemeClr val="bg1"/>
                          </a:solidFill>
                          <a:latin typeface="+mn-ea"/>
                        </a:rPr>
                        <a:t>核心结论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07F0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</a:rPr>
                        <a:t>盈利能力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 dirty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投资回收期短（</a:t>
                      </a:r>
                      <a:r>
                        <a:rPr lang="en-US" altLang="zh-CN" sz="1400" b="1" i="0" dirty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2.0-2.5 </a:t>
                      </a:r>
                      <a:r>
                        <a:rPr lang="zh-CN" altLang="en-US" sz="1400" b="1" i="0" dirty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年），</a:t>
                      </a:r>
                      <a:r>
                        <a:rPr lang="en-US" altLang="zh-CN" sz="1400" b="1" i="0" dirty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NPV </a:t>
                      </a:r>
                      <a:r>
                        <a:rPr lang="zh-CN" altLang="en-US" sz="1400" b="1" i="0" dirty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为正（</a:t>
                      </a:r>
                      <a:r>
                        <a:rPr lang="en-US" altLang="zh-CN" sz="1400" b="1" i="0" dirty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85 </a:t>
                      </a:r>
                      <a:r>
                        <a:rPr lang="zh-CN" altLang="en-US" sz="1400" b="1" i="0" dirty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万元），</a:t>
                      </a:r>
                      <a:r>
                        <a:rPr lang="en-US" altLang="zh-CN" sz="1400" b="1" i="0" dirty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IRR </a:t>
                      </a:r>
                      <a:r>
                        <a:rPr lang="zh-CN" altLang="en-US" sz="1400" b="1" i="0" dirty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高于行业基准（</a:t>
                      </a:r>
                      <a:r>
                        <a:rPr lang="en-US" altLang="zh-CN" sz="1400" b="1" i="0" dirty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25%-35%</a:t>
                      </a:r>
                      <a:r>
                        <a:rPr lang="zh-CN" altLang="en-US" sz="1400" b="1" i="0" dirty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），盈利增长潜力强劲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</a:rPr>
                        <a:t>盈利能力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投资回收期短（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2.0-2.5 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年），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NPV 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为正（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85 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万元），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IRR 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高于行业基准（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25%-35%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），盈利增长潜力强劲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</a:rPr>
                        <a:t>财务可持续性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第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2 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年实现盈利，第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3 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年盈利规模大幅扩大；人均创收逐年提升，成本控制有效，资金链安全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</a:rPr>
                        <a:t>财务可持续性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第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2 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年实现盈利，第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3 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年盈利规模大幅扩大；人均创收逐年提升，成本控制有效，资金链安全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</a:rPr>
                        <a:t>风险可控性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核心敏感变量（用户增长、付费转化）有应对策略，第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2 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年起突破盈亏平衡，安全边际充足，风险整体可控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</a:rPr>
                        <a:t>风险可控性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核心敏感变量（用户增长、付费转化）有应对策略，第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2 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年起突破盈亏平衡，安全边际充足，风险整体可控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</a:rPr>
                        <a:t>投资价值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盈利模式清晰（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VIP + 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活动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+ 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广告），契合校园社交市场增长趋势（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2026 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年市场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80-100 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亿元），具备较高投资价值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</a:rPr>
                        <a:t>投资价值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 dirty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盈利模式清晰（</a:t>
                      </a:r>
                      <a:r>
                        <a:rPr lang="en-US" altLang="zh-CN" sz="1400" b="1" i="0" dirty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VIP + </a:t>
                      </a:r>
                      <a:r>
                        <a:rPr lang="zh-CN" altLang="en-US" sz="1400" b="1" i="0" dirty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活动 </a:t>
                      </a:r>
                      <a:r>
                        <a:rPr lang="en-US" altLang="zh-CN" sz="1400" b="1" i="0" dirty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+ </a:t>
                      </a:r>
                      <a:r>
                        <a:rPr lang="zh-CN" altLang="en-US" sz="1400" b="1" i="0" dirty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广告），契合校园社交市场增长趋势（</a:t>
                      </a:r>
                      <a:r>
                        <a:rPr lang="en-US" altLang="zh-CN" sz="1400" b="1" i="0" dirty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2026 </a:t>
                      </a:r>
                      <a:r>
                        <a:rPr lang="zh-CN" altLang="en-US" sz="1400" b="1" i="0" dirty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年市场 </a:t>
                      </a:r>
                      <a:r>
                        <a:rPr lang="en-US" altLang="zh-CN" sz="1400" b="1" i="0" dirty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80-100 </a:t>
                      </a:r>
                      <a:r>
                        <a:rPr lang="zh-CN" altLang="en-US" sz="1400" b="1" i="0" dirty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亿元），具备较高投资价值</a:t>
                      </a:r>
                    </a:p>
                  </a:txBody>
                  <a:tcPr marL="114617" marR="114617" marT="76517" marB="76517" anchor="ctr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标题 1">
            <a:extLst>
              <a:ext uri="{FF2B5EF4-FFF2-40B4-BE49-F238E27FC236}">
                <a16:creationId xmlns:a16="http://schemas.microsoft.com/office/drawing/2014/main" id="{DDFB6960-87F5-4568-BCD8-AB094A50485C}"/>
              </a:ext>
            </a:extLst>
          </p:cNvPr>
          <p:cNvSpPr>
            <a:spLocks noGrp="1"/>
          </p:cNvSpPr>
          <p:nvPr/>
        </p:nvSpPr>
        <p:spPr>
          <a:xfrm>
            <a:off x="4343400" y="912656"/>
            <a:ext cx="10515600" cy="5584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u"/>
              <a:defRPr sz="28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>
              <a:lnSpc>
                <a:spcPts val="1200"/>
              </a:lnSpc>
              <a:spcBef>
                <a:spcPts val="1000"/>
              </a:spcBef>
              <a:spcAft>
                <a:spcPct val="0"/>
              </a:spcAft>
            </a:pPr>
            <a:r>
              <a:rPr lang="zh-CN" altLang="zh-CN" b="1" kern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财务评价结论表</a:t>
            </a:r>
            <a:endParaRPr lang="zh-CN" altLang="en-US" b="1" i="0" dirty="0">
              <a:solidFill>
                <a:srgbClr val="000000"/>
              </a:solidFill>
              <a:latin typeface="+mn-ea"/>
              <a:cs typeface="+mn-ea"/>
            </a:endParaRPr>
          </a:p>
        </p:txBody>
      </p:sp>
      <p:sp>
        <p:nvSpPr>
          <p:cNvPr id="13" name="标题 12">
            <a:extLst>
              <a:ext uri="{FF2B5EF4-FFF2-40B4-BE49-F238E27FC236}">
                <a16:creationId xmlns:a16="http://schemas.microsoft.com/office/drawing/2014/main" id="{98CD9D7B-48F6-406C-B8FA-2DF7E298EC89}"/>
              </a:ext>
            </a:extLst>
          </p:cNvPr>
          <p:cNvSpPr txBox="1">
            <a:spLocks/>
          </p:cNvSpPr>
          <p:nvPr/>
        </p:nvSpPr>
        <p:spPr>
          <a:xfrm>
            <a:off x="838200" y="450280"/>
            <a:ext cx="105156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r>
              <a:rPr lang="zh-CN" altLang="en-US" sz="3200" dirty="0">
                <a:cs typeface="Times New Roman" panose="02020603050405020304" pitchFamily="18" charset="0"/>
              </a:rPr>
              <a:t>六、财务分析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9466556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762635" y="415925"/>
            <a:ext cx="5346065" cy="679450"/>
          </a:xfrm>
        </p:spPr>
        <p:txBody>
          <a:bodyPr>
            <a:normAutofit/>
          </a:bodyPr>
          <a:lstStyle/>
          <a:p>
            <a:r>
              <a:rPr lang="zh-CN" altLang="en-US" sz="3200" dirty="0"/>
              <a:t>七、投资估算与资金筹措</a:t>
            </a:r>
          </a:p>
        </p:txBody>
      </p:sp>
      <p:pic>
        <p:nvPicPr>
          <p:cNvPr id="6" name="图片 5"/>
          <p:cNvPicPr>
            <a:picLocks/>
          </p:cNvPicPr>
          <p:nvPr/>
        </p:nvPicPr>
        <p:blipFill rotWithShape="1">
          <a:blip r:embed="rId3"/>
          <a:srcRect t="70063" r="85832"/>
          <a:stretch/>
        </p:blipFill>
        <p:spPr>
          <a:xfrm>
            <a:off x="654685" y="4162425"/>
            <a:ext cx="1974215" cy="1813082"/>
          </a:xfrm>
          <a:prstGeom prst="rect">
            <a:avLst/>
          </a:prstGeom>
        </p:spPr>
      </p:pic>
      <p:sp>
        <p:nvSpPr>
          <p:cNvPr id="5" name="标题 1">
            <a:extLst>
              <a:ext uri="{FF2B5EF4-FFF2-40B4-BE49-F238E27FC236}">
                <a16:creationId xmlns:a16="http://schemas.microsoft.com/office/drawing/2014/main" id="{93B4F63B-0B10-4A21-8773-F4A2F45A6BE7}"/>
              </a:ext>
            </a:extLst>
          </p:cNvPr>
          <p:cNvSpPr>
            <a:spLocks noGrp="1"/>
          </p:cNvSpPr>
          <p:nvPr/>
        </p:nvSpPr>
        <p:spPr>
          <a:xfrm>
            <a:off x="1096645" y="1040288"/>
            <a:ext cx="10515600" cy="5584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u"/>
              <a:defRPr sz="28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>
              <a:lnSpc>
                <a:spcPts val="1200"/>
              </a:lnSpc>
              <a:spcBef>
                <a:spcPts val="1000"/>
              </a:spcBef>
              <a:spcAft>
                <a:spcPct val="0"/>
              </a:spcAft>
            </a:pPr>
            <a:r>
              <a:rPr lang="zh-CN" altLang="en-US" i="0" dirty="0">
                <a:solidFill>
                  <a:srgbClr val="000000"/>
                </a:solidFill>
              </a:rPr>
              <a:t>估算范围与依据</a:t>
            </a:r>
            <a:endParaRPr lang="zh-CN" altLang="en-US" b="1" i="0" dirty="0">
              <a:solidFill>
                <a:srgbClr val="000000"/>
              </a:solidFill>
              <a:latin typeface="+mn-ea"/>
              <a:cs typeface="+mn-ea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2790DB6-514F-42CA-B60B-D7C317AED4CC}"/>
              </a:ext>
            </a:extLst>
          </p:cNvPr>
          <p:cNvPicPr>
            <a:picLocks/>
          </p:cNvPicPr>
          <p:nvPr/>
        </p:nvPicPr>
        <p:blipFill rotWithShape="1">
          <a:blip r:embed="rId3"/>
          <a:srcRect l="-267" t="27770" r="86010" b="40061"/>
          <a:stretch/>
        </p:blipFill>
        <p:spPr>
          <a:xfrm>
            <a:off x="762635" y="1828799"/>
            <a:ext cx="1761490" cy="1830229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8FC1CB31-9FC1-49C4-9CE6-9B730EE96D47}"/>
              </a:ext>
            </a:extLst>
          </p:cNvPr>
          <p:cNvSpPr txBox="1"/>
          <p:nvPr/>
        </p:nvSpPr>
        <p:spPr>
          <a:xfrm>
            <a:off x="2762248" y="1765176"/>
            <a:ext cx="840105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/>
              <a:t>覆盖:研发 → 云资源 → 校园活动 → 投放 →合规(至 T+18月)</a:t>
            </a:r>
            <a:br>
              <a:rPr lang="en-US" altLang="zh-CN" sz="2000" dirty="0"/>
            </a:b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9365876-FEB9-4055-860A-E3C4806E304F}"/>
              </a:ext>
            </a:extLst>
          </p:cNvPr>
          <p:cNvSpPr txBox="1"/>
          <p:nvPr/>
        </p:nvSpPr>
        <p:spPr>
          <a:xfrm>
            <a:off x="2762247" y="4811731"/>
            <a:ext cx="7734299" cy="128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投资估算的依据包括阿里云报价，可确定云资源方面的资金需求</a:t>
            </a:r>
            <a:r>
              <a:rPr lang="en-US" altLang="zh-CN" dirty="0"/>
              <a:t>;</a:t>
            </a:r>
            <a:r>
              <a:rPr lang="zh-CN" altLang="en-US" dirty="0"/>
              <a:t>校内活动手册能为校园活动的费用估算提供参考;行业获客成本有助于把控投放资金;官方测评收费则是合规环节费用的重要参考。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8CF48D0-BC2B-4634-9DB3-17F687D36026}"/>
              </a:ext>
            </a:extLst>
          </p:cNvPr>
          <p:cNvSpPr txBox="1"/>
          <p:nvPr/>
        </p:nvSpPr>
        <p:spPr>
          <a:xfrm>
            <a:off x="2762248" y="2368337"/>
            <a:ext cx="7734300" cy="128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本次投资估算的范围覆盖了从研发到云资源、校园活动、投放以及合规等多个方面，且规划至 T+18月。这意味着在这个时间段内，这些业务环节的资金需求都在估算考虑之中。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8B4F332-AF77-4A9D-9663-8EBBE0571520}"/>
              </a:ext>
            </a:extLst>
          </p:cNvPr>
          <p:cNvSpPr txBox="1"/>
          <p:nvPr/>
        </p:nvSpPr>
        <p:spPr>
          <a:xfrm>
            <a:off x="2762248" y="4163109"/>
            <a:ext cx="84010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/>
              <a:t>依据:阿里云报价/校内活动手册/行业获客成本/官方测评收费</a:t>
            </a:r>
          </a:p>
        </p:txBody>
      </p:sp>
      <p:sp>
        <p:nvSpPr>
          <p:cNvPr id="16" name="日期占位符 2">
            <a:extLst>
              <a:ext uri="{FF2B5EF4-FFF2-40B4-BE49-F238E27FC236}">
                <a16:creationId xmlns:a16="http://schemas.microsoft.com/office/drawing/2014/main" id="{7E7F1C90-DD58-409D-91FE-3362FEAB4D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4DB44E30-715F-4973-8179-B4178D7E09F0}" type="datetime1">
              <a:rPr lang="zh-CN" altLang="en-US" smtClean="0"/>
              <a:t>2025/11/6</a:t>
            </a:fld>
            <a:endParaRPr lang="zh-CN" altLang="en-US" dirty="0"/>
          </a:p>
        </p:txBody>
      </p:sp>
      <p:sp>
        <p:nvSpPr>
          <p:cNvPr id="17" name="页脚占位符 3">
            <a:extLst>
              <a:ext uri="{FF2B5EF4-FFF2-40B4-BE49-F238E27FC236}">
                <a16:creationId xmlns:a16="http://schemas.microsoft.com/office/drawing/2014/main" id="{62E57759-571D-4EC3-9E7B-959381C2C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18" name="灯片编号占位符 4">
            <a:extLst>
              <a:ext uri="{FF2B5EF4-FFF2-40B4-BE49-F238E27FC236}">
                <a16:creationId xmlns:a16="http://schemas.microsoft.com/office/drawing/2014/main" id="{F7876F67-905F-453C-B63F-6EF59AC99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33B9A5AF-BDD6-4E14-989F-CF034C94E4CA}" type="slidenum">
              <a:rPr lang="zh-CN" altLang="en-US" smtClean="0"/>
              <a:t>25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630827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endParaRPr lang="zh-CN" altLang="en-US" dirty="0"/>
          </a:p>
        </p:txBody>
      </p:sp>
      <p:sp>
        <p:nvSpPr>
          <p:cNvPr id="4" name="装饰  2"/>
          <p:cNvSpPr>
            <a:spLocks noGrp="1"/>
          </p:cNvSpPr>
          <p:nvPr>
            <p:ph type="body" idx="16395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/>
              <a:t> </a:t>
            </a:r>
          </a:p>
        </p:txBody>
      </p:sp>
      <p:pic>
        <p:nvPicPr>
          <p:cNvPr id="19" name="图片占位符 18" descr="1"/>
          <p:cNvPicPr>
            <a:picLocks noGrp="1" noChangeAspect="1"/>
          </p:cNvPicPr>
          <p:nvPr>
            <p:ph type="pic" idx="16396"/>
            <p:custDataLst>
              <p:tags r:id="rId3"/>
            </p:custDataLst>
          </p:nvPr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66775" y="1696720"/>
            <a:ext cx="914400" cy="914400"/>
          </a:xfrm>
          <a:prstGeom prst="rect">
            <a:avLst/>
          </a:prstGeom>
        </p:spPr>
      </p:pic>
      <p:sp>
        <p:nvSpPr>
          <p:cNvPr id="6" name="文本占位符 5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2035175" y="1604645"/>
            <a:ext cx="6455682" cy="406400"/>
          </a:xfrm>
          <a:prstGeom prst="rect">
            <a:avLst/>
          </a:prstGeom>
          <a:noFill/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200" b="1" dirty="0"/>
              <a:t>种子轮 50 万 ─ 校内天使 + 校友</a:t>
            </a:r>
          </a:p>
        </p:txBody>
      </p:sp>
      <p:sp>
        <p:nvSpPr>
          <p:cNvPr id="7" name="文本占位符 6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2035174" y="2074545"/>
            <a:ext cx="8289925" cy="609600"/>
          </a:xfrm>
          <a:prstGeom prst="rect">
            <a:avLst/>
          </a:prstGeom>
          <a:noFill/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种子轮计划筹集 50 万资金，由校内天使和校友提供。采用可转债形式，在 18 个月后转 A 轮可享受 8 折优惠，这种方式能吸引投资者，为项目前期发展提供资金支持。</a:t>
            </a:r>
          </a:p>
        </p:txBody>
      </p:sp>
      <p:pic>
        <p:nvPicPr>
          <p:cNvPr id="18" name="图片占位符 17" descr="2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66775" y="2915920"/>
            <a:ext cx="914400" cy="914400"/>
          </a:xfrm>
          <a:prstGeom prst="rect">
            <a:avLst/>
          </a:prstGeom>
        </p:spPr>
      </p:pic>
      <p:sp>
        <p:nvSpPr>
          <p:cNvPr id="9" name="文本占位符 8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2035175" y="2823845"/>
            <a:ext cx="6019800" cy="406400"/>
          </a:xfrm>
          <a:prstGeom prst="rect">
            <a:avLst/>
          </a:prstGeom>
          <a:noFill/>
        </p:spPr>
        <p:txBody>
          <a:bodyPr vert="horz" lIns="0" tIns="0" rIns="0" bIns="0" rtlCol="0" anchor="t">
            <a:normAutofit fontScale="97500"/>
          </a:bodyPr>
          <a:lstStyle>
            <a:lvl1pPr marL="0" indent="0" algn="l" defTabSz="914400" rtl="0" eaLnBrk="1" latinLnBrk="0" hangingPunct="1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/>
              <a:t>政府补贴 10 万 ─ 西安市无偿创业资助</a:t>
            </a:r>
          </a:p>
        </p:txBody>
      </p:sp>
      <p:sp>
        <p:nvSpPr>
          <p:cNvPr id="10" name="文本占位符 9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2035174" y="3293745"/>
            <a:ext cx="8289925" cy="609600"/>
          </a:xfrm>
          <a:prstGeom prst="rect">
            <a:avLst/>
          </a:prstGeom>
          <a:noFill/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可能获得西安市的无偿创业资助 10 万元作为政府补贴。这部分资金无需偿还，若能成功申请到，将对项目的资金状况起到积极的补充作用，减轻资金压力。</a:t>
            </a:r>
          </a:p>
        </p:txBody>
      </p:sp>
      <p:pic>
        <p:nvPicPr>
          <p:cNvPr id="17" name="图片占位符 16" descr="3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66775" y="4135120"/>
            <a:ext cx="914400" cy="914400"/>
          </a:xfrm>
          <a:prstGeom prst="rect">
            <a:avLst/>
          </a:prstGeom>
        </p:spPr>
      </p:pic>
      <p:sp>
        <p:nvSpPr>
          <p:cNvPr id="12" name="文本占位符 11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2035175" y="4043045"/>
            <a:ext cx="6019800" cy="406400"/>
          </a:xfrm>
          <a:prstGeom prst="rect">
            <a:avLst/>
          </a:prstGeom>
          <a:noFill/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200" b="1" dirty="0"/>
              <a:t>高校资源 3 万 ─ 工位 + 云服务券</a:t>
            </a:r>
          </a:p>
        </p:txBody>
      </p:sp>
      <p:sp>
        <p:nvSpPr>
          <p:cNvPr id="13" name="文本占位符 12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2035175" y="4503420"/>
            <a:ext cx="8289924" cy="609600"/>
          </a:xfrm>
          <a:prstGeom prst="rect">
            <a:avLst/>
          </a:prstGeom>
          <a:noFill/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高校提供了价值 3 万的资源，包括工位和云服务券，且已锁定。这些资源能为项目提供办公场地和云服务支持，降低项目的运营成本，助力项目的开展。</a:t>
            </a:r>
          </a:p>
        </p:txBody>
      </p:sp>
      <p:pic>
        <p:nvPicPr>
          <p:cNvPr id="20" name="图片占位符 19" descr="4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66775" y="5354320"/>
            <a:ext cx="914400" cy="914400"/>
          </a:xfrm>
          <a:prstGeom prst="rect">
            <a:avLst/>
          </a:prstGeom>
        </p:spPr>
      </p:pic>
      <p:sp>
        <p:nvSpPr>
          <p:cNvPr id="15" name="文本占位符 14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2035175" y="5262245"/>
            <a:ext cx="6019800" cy="406400"/>
          </a:xfrm>
          <a:prstGeom prst="rect">
            <a:avLst/>
          </a:prstGeom>
          <a:noFill/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200" b="1" dirty="0"/>
              <a:t>保障：共管账户 + 里程碑拨付，专款专用</a:t>
            </a:r>
          </a:p>
        </p:txBody>
      </p:sp>
      <p:sp>
        <p:nvSpPr>
          <p:cNvPr id="16" name="文本占位符 15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2035174" y="5732145"/>
            <a:ext cx="8289923" cy="6096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资金保障措施采用共管账户和里程碑拨付的方式，确保专款专用。共管账户可增强资金的安全性和透明度，里程碑拨付则根据项目的关键节点进行资金发放，保障资金合理使用。</a:t>
            </a:r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06808C99-667C-4C9D-8046-7CAEFEE96407}"/>
              </a:ext>
            </a:extLst>
          </p:cNvPr>
          <p:cNvSpPr>
            <a:spLocks noGrp="1"/>
          </p:cNvSpPr>
          <p:nvPr/>
        </p:nvSpPr>
        <p:spPr>
          <a:xfrm>
            <a:off x="1096645" y="1046162"/>
            <a:ext cx="10515600" cy="5584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u"/>
              <a:defRPr sz="28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>
              <a:lnSpc>
                <a:spcPts val="1200"/>
              </a:lnSpc>
              <a:spcBef>
                <a:spcPts val="1000"/>
              </a:spcBef>
              <a:spcAft>
                <a:spcPct val="0"/>
              </a:spcAft>
            </a:pPr>
            <a:r>
              <a:rPr lang="zh-CN" altLang="en-US" i="0" dirty="0">
                <a:solidFill>
                  <a:srgbClr val="000000"/>
                </a:solidFill>
              </a:rPr>
              <a:t>资金筹措方案</a:t>
            </a:r>
            <a:endParaRPr lang="zh-CN" altLang="en-US" b="1" i="0" dirty="0">
              <a:solidFill>
                <a:srgbClr val="000000"/>
              </a:solidFill>
              <a:latin typeface="+mn-ea"/>
              <a:cs typeface="+mn-ea"/>
            </a:endParaRPr>
          </a:p>
        </p:txBody>
      </p:sp>
      <p:sp>
        <p:nvSpPr>
          <p:cNvPr id="22" name="标题 1">
            <a:extLst>
              <a:ext uri="{FF2B5EF4-FFF2-40B4-BE49-F238E27FC236}">
                <a16:creationId xmlns:a16="http://schemas.microsoft.com/office/drawing/2014/main" id="{B0439BCE-DFF2-47CD-97E3-7DDCA6F5BA1B}"/>
              </a:ext>
            </a:extLst>
          </p:cNvPr>
          <p:cNvSpPr txBox="1">
            <a:spLocks/>
          </p:cNvSpPr>
          <p:nvPr>
            <p:custDataLst>
              <p:tags r:id="rId15"/>
            </p:custDataLst>
          </p:nvPr>
        </p:nvSpPr>
        <p:spPr>
          <a:xfrm>
            <a:off x="762635" y="415925"/>
            <a:ext cx="5346065" cy="679450"/>
          </a:xfr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dirty="0"/>
              <a:t>七、投资估算与资金筹措</a:t>
            </a:r>
          </a:p>
        </p:txBody>
      </p:sp>
      <p:sp>
        <p:nvSpPr>
          <p:cNvPr id="23" name="日期占位符 2">
            <a:extLst>
              <a:ext uri="{FF2B5EF4-FFF2-40B4-BE49-F238E27FC236}">
                <a16:creationId xmlns:a16="http://schemas.microsoft.com/office/drawing/2014/main" id="{1FD7A65A-352B-4BE2-92F2-94FAAD363F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4DB44E30-715F-4973-8179-B4178D7E09F0}" type="datetime1">
              <a:rPr lang="zh-CN" altLang="en-US" smtClean="0"/>
              <a:t>2025/11/6</a:t>
            </a:fld>
            <a:endParaRPr lang="zh-CN" altLang="en-US" dirty="0"/>
          </a:p>
        </p:txBody>
      </p:sp>
      <p:sp>
        <p:nvSpPr>
          <p:cNvPr id="24" name="页脚占位符 3">
            <a:extLst>
              <a:ext uri="{FF2B5EF4-FFF2-40B4-BE49-F238E27FC236}">
                <a16:creationId xmlns:a16="http://schemas.microsoft.com/office/drawing/2014/main" id="{0C7BDFD1-1092-4B4F-9323-E2A694F39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25" name="灯片编号占位符 4">
            <a:extLst>
              <a:ext uri="{FF2B5EF4-FFF2-40B4-BE49-F238E27FC236}">
                <a16:creationId xmlns:a16="http://schemas.microsoft.com/office/drawing/2014/main" id="{8575FEF5-B356-4F3A-8969-56DB487CC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33B9A5AF-BDD6-4E14-989F-CF034C94E4CA}" type="slidenum">
              <a:rPr lang="zh-CN" altLang="en-US" smtClean="0"/>
              <a:t>26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88795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4E30-715F-4973-8179-B4178D7E09F0}" type="datetime1">
              <a:rPr lang="zh-CN" altLang="en-US" smtClean="0"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rPr>
              <a:t>2025/11/6</a:t>
            </a:fld>
            <a:endParaRPr lang="zh-CN" altLang="en-US" dirty="0">
              <a:latin typeface="Arial" panose="020B0604020202090204" pitchFamily="34" charset="0"/>
              <a:ea typeface="微软雅黑" panose="020B0503020204020204" pitchFamily="34" charset="-122"/>
              <a:cs typeface="+mn-ea"/>
              <a:sym typeface="Arial" panose="020B060402020209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rPr>
              <a:t>西安电子科技大学</a:t>
            </a:r>
            <a:endParaRPr lang="zh-CN" altLang="en-US" dirty="0">
              <a:latin typeface="Arial" panose="020B0604020202090204" pitchFamily="34" charset="0"/>
              <a:ea typeface="微软雅黑" panose="020B0503020204020204" pitchFamily="34" charset="-122"/>
              <a:cs typeface="+mn-ea"/>
              <a:sym typeface="Arial" panose="020B060402020209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rPr>
              <a:t>27</a:t>
            </a:fld>
            <a:endParaRPr lang="zh-CN" altLang="en-US" dirty="0">
              <a:latin typeface="Arial" panose="020B0604020202090204" pitchFamily="34" charset="0"/>
              <a:ea typeface="微软雅黑" panose="020B0503020204020204" pitchFamily="34" charset="-122"/>
              <a:cs typeface="+mn-ea"/>
              <a:sym typeface="Arial" panose="020B060402020209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189638" y="1577311"/>
            <a:ext cx="8560870" cy="10673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en-US" altLang="zh-CN" sz="5400" spc="100" dirty="0">
                <a:solidFill>
                  <a:schemeClr val="accent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rPr>
              <a:t>THANK</a:t>
            </a:r>
            <a:r>
              <a:rPr lang="zh-CN" altLang="en-US" sz="5400" spc="100" dirty="0">
                <a:solidFill>
                  <a:schemeClr val="accent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rPr>
              <a:t> </a:t>
            </a:r>
            <a:r>
              <a:rPr lang="en-US" altLang="zh-CN" sz="5400" spc="100" dirty="0">
                <a:solidFill>
                  <a:schemeClr val="accent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rPr>
              <a:t>FOR</a:t>
            </a:r>
            <a:r>
              <a:rPr lang="zh-CN" altLang="en-US" sz="5400" spc="100" dirty="0">
                <a:solidFill>
                  <a:schemeClr val="accent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rPr>
              <a:t> </a:t>
            </a:r>
            <a:r>
              <a:rPr lang="en-US" altLang="zh-CN" sz="5400" spc="100" dirty="0">
                <a:solidFill>
                  <a:schemeClr val="accent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rPr>
              <a:t>ATTENTION</a:t>
            </a:r>
            <a:endParaRPr lang="zh-CN" altLang="en-US" sz="5400" spc="100" dirty="0">
              <a:solidFill>
                <a:schemeClr val="accent1"/>
              </a:solidFill>
              <a:latin typeface="Arial" panose="020B0604020202090204" pitchFamily="34" charset="0"/>
              <a:ea typeface="微软雅黑" panose="020B0503020204020204" pitchFamily="34" charset="-122"/>
              <a:cs typeface="+mn-ea"/>
              <a:sym typeface="Arial" panose="020B0604020202090204" pitchFamily="34" charset="0"/>
            </a:endParaRPr>
          </a:p>
        </p:txBody>
      </p:sp>
      <p:sp>
        <p:nvSpPr>
          <p:cNvPr id="17" name="任意多边形: 形状 16"/>
          <p:cNvSpPr/>
          <p:nvPr/>
        </p:nvSpPr>
        <p:spPr>
          <a:xfrm>
            <a:off x="1125901" y="1122388"/>
            <a:ext cx="1800000" cy="1800000"/>
          </a:xfrm>
          <a:custGeom>
            <a:avLst/>
            <a:gdLst>
              <a:gd name="connsiteX0" fmla="*/ 0 w 1800000"/>
              <a:gd name="connsiteY0" fmla="*/ 0 h 1800000"/>
              <a:gd name="connsiteX1" fmla="*/ 1800000 w 1800000"/>
              <a:gd name="connsiteY1" fmla="*/ 0 h 1800000"/>
              <a:gd name="connsiteX2" fmla="*/ 1800000 w 1800000"/>
              <a:gd name="connsiteY2" fmla="*/ 366040 h 1800000"/>
              <a:gd name="connsiteX3" fmla="*/ 1656604 w 1800000"/>
              <a:gd name="connsiteY3" fmla="*/ 366040 h 1800000"/>
              <a:gd name="connsiteX4" fmla="*/ 1656604 w 1800000"/>
              <a:gd name="connsiteY4" fmla="*/ 157793 h 1800000"/>
              <a:gd name="connsiteX5" fmla="*/ 172635 w 1800000"/>
              <a:gd name="connsiteY5" fmla="*/ 157793 h 1800000"/>
              <a:gd name="connsiteX6" fmla="*/ 172635 w 1800000"/>
              <a:gd name="connsiteY6" fmla="*/ 1641762 h 1800000"/>
              <a:gd name="connsiteX7" fmla="*/ 900000 w 1800000"/>
              <a:gd name="connsiteY7" fmla="*/ 1641762 h 1800000"/>
              <a:gd name="connsiteX8" fmla="*/ 900000 w 1800000"/>
              <a:gd name="connsiteY8" fmla="*/ 1800000 h 1800000"/>
              <a:gd name="connsiteX9" fmla="*/ 0 w 1800000"/>
              <a:gd name="connsiteY9" fmla="*/ 1800000 h 18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00000" h="1800000">
                <a:moveTo>
                  <a:pt x="0" y="0"/>
                </a:moveTo>
                <a:lnTo>
                  <a:pt x="1800000" y="0"/>
                </a:lnTo>
                <a:lnTo>
                  <a:pt x="1800000" y="366040"/>
                </a:lnTo>
                <a:lnTo>
                  <a:pt x="1656604" y="366040"/>
                </a:lnTo>
                <a:lnTo>
                  <a:pt x="1656604" y="157793"/>
                </a:lnTo>
                <a:lnTo>
                  <a:pt x="172635" y="157793"/>
                </a:lnTo>
                <a:lnTo>
                  <a:pt x="172635" y="1641762"/>
                </a:lnTo>
                <a:lnTo>
                  <a:pt x="900000" y="1641762"/>
                </a:lnTo>
                <a:lnTo>
                  <a:pt x="900000" y="1800000"/>
                </a:lnTo>
                <a:lnTo>
                  <a:pt x="0" y="1800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Arial" panose="020B0604020202090204" pitchFamily="34" charset="0"/>
              <a:ea typeface="微软雅黑" panose="020B0503020204020204" pitchFamily="34" charset="-122"/>
              <a:cs typeface="+mn-ea"/>
              <a:sym typeface="Arial" panose="020B0604020202090204" pitchFamily="34" charset="0"/>
            </a:endParaRPr>
          </a:p>
        </p:txBody>
      </p:sp>
      <p:sp>
        <p:nvSpPr>
          <p:cNvPr id="19" name="任意多边形: 形状 18"/>
          <p:cNvSpPr/>
          <p:nvPr/>
        </p:nvSpPr>
        <p:spPr>
          <a:xfrm>
            <a:off x="30480" y="5598160"/>
            <a:ext cx="12202160" cy="1259840"/>
          </a:xfrm>
          <a:custGeom>
            <a:avLst/>
            <a:gdLst>
              <a:gd name="connsiteX0" fmla="*/ 10160 w 12222480"/>
              <a:gd name="connsiteY0" fmla="*/ 1087120 h 1910080"/>
              <a:gd name="connsiteX1" fmla="*/ 12222480 w 12222480"/>
              <a:gd name="connsiteY1" fmla="*/ 0 h 1910080"/>
              <a:gd name="connsiteX2" fmla="*/ 12222480 w 12222480"/>
              <a:gd name="connsiteY2" fmla="*/ 1910080 h 1910080"/>
              <a:gd name="connsiteX3" fmla="*/ 0 w 12222480"/>
              <a:gd name="connsiteY3" fmla="*/ 1899920 h 1910080"/>
              <a:gd name="connsiteX4" fmla="*/ 10160 w 12222480"/>
              <a:gd name="connsiteY4" fmla="*/ 1087120 h 1910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22480" h="1910080">
                <a:moveTo>
                  <a:pt x="10160" y="1087120"/>
                </a:moveTo>
                <a:lnTo>
                  <a:pt x="12222480" y="0"/>
                </a:lnTo>
                <a:lnTo>
                  <a:pt x="12222480" y="1910080"/>
                </a:lnTo>
                <a:lnTo>
                  <a:pt x="0" y="1899920"/>
                </a:lnTo>
                <a:lnTo>
                  <a:pt x="10160" y="108712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90204" pitchFamily="34" charset="0"/>
              <a:ea typeface="微软雅黑" panose="020B0503020204020204" pitchFamily="34" charset="-122"/>
              <a:cs typeface="+mn-ea"/>
              <a:sym typeface="Arial" panose="020B0604020202090204" pitchFamily="34" charset="0"/>
            </a:endParaRPr>
          </a:p>
        </p:txBody>
      </p:sp>
      <p:sp>
        <p:nvSpPr>
          <p:cNvPr id="20" name="任意多边形: 形状 19"/>
          <p:cNvSpPr/>
          <p:nvPr/>
        </p:nvSpPr>
        <p:spPr>
          <a:xfrm flipH="1">
            <a:off x="-40640" y="5585460"/>
            <a:ext cx="12273280" cy="1259840"/>
          </a:xfrm>
          <a:custGeom>
            <a:avLst/>
            <a:gdLst>
              <a:gd name="connsiteX0" fmla="*/ 10160 w 12222480"/>
              <a:gd name="connsiteY0" fmla="*/ 1087120 h 1910080"/>
              <a:gd name="connsiteX1" fmla="*/ 12222480 w 12222480"/>
              <a:gd name="connsiteY1" fmla="*/ 0 h 1910080"/>
              <a:gd name="connsiteX2" fmla="*/ 12222480 w 12222480"/>
              <a:gd name="connsiteY2" fmla="*/ 1910080 h 1910080"/>
              <a:gd name="connsiteX3" fmla="*/ 0 w 12222480"/>
              <a:gd name="connsiteY3" fmla="*/ 1899920 h 1910080"/>
              <a:gd name="connsiteX4" fmla="*/ 10160 w 12222480"/>
              <a:gd name="connsiteY4" fmla="*/ 1087120 h 1910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22480" h="1910080">
                <a:moveTo>
                  <a:pt x="10160" y="1087120"/>
                </a:moveTo>
                <a:lnTo>
                  <a:pt x="12222480" y="0"/>
                </a:lnTo>
                <a:lnTo>
                  <a:pt x="12222480" y="1910080"/>
                </a:lnTo>
                <a:lnTo>
                  <a:pt x="0" y="1899920"/>
                </a:lnTo>
                <a:lnTo>
                  <a:pt x="10160" y="108712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90204" pitchFamily="34" charset="0"/>
              <a:ea typeface="微软雅黑" panose="020B0503020204020204" pitchFamily="34" charset="-122"/>
              <a:cs typeface="+mn-ea"/>
              <a:sym typeface="Arial" panose="020B0604020202090204" pitchFamily="34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4033520" y="6134875"/>
            <a:ext cx="4196080" cy="417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hangingPunct="0">
              <a:lnSpc>
                <a:spcPct val="130000"/>
              </a:lnSpc>
            </a:pPr>
            <a:r>
              <a:rPr lang="zh-CN" altLang="en-US" spc="100" dirty="0">
                <a:solidFill>
                  <a:schemeClr val="accent3">
                    <a:lumMod val="20000"/>
                    <a:lumOff val="80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rPr>
              <a:t>厚德 求真 励学 笃行</a:t>
            </a:r>
            <a:endParaRPr lang="en-US" altLang="zh-CN" spc="100" dirty="0">
              <a:solidFill>
                <a:schemeClr val="accent3">
                  <a:lumMod val="20000"/>
                  <a:lumOff val="80000"/>
                </a:schemeClr>
              </a:solidFill>
              <a:latin typeface="Arial" panose="020B0604020202090204" pitchFamily="34" charset="0"/>
              <a:ea typeface="微软雅黑" panose="020B0503020204020204" pitchFamily="34" charset="-122"/>
              <a:cs typeface="+mn-ea"/>
              <a:sym typeface="Arial" panose="020B0604020202090204" pitchFamily="3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EMPLATE" val="cd07bc45-8cf5-48a2-8d1d-e901e39ba763"/>
  <p:tag name="COMMONDATA" val="eyJoZGlkIjoiNGZmYzQ3OGNjMTFkZGQ4YjU2NjcxMDAxMmMzNzg5MDI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1066_2*m_h_a*1_1_1"/>
  <p:tag name="KSO_WM_TEMPLATE_CATEGORY" val="diagram"/>
  <p:tag name="KSO_WM_TEMPLATE_INDEX" val="20231066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ISCONTENTSTITLE" val="0"/>
  <p:tag name="KSO_WM_UNIT_ISNUMDGMTITLE" val="0"/>
  <p:tag name="KSO_WM_UNIT_NOCLEAR" val="0"/>
  <p:tag name="KSO_WM_UNIT_VALUE" val="14"/>
  <p:tag name="KSO_WM_DIAGRAM_MAX_ITEMCNT" val="6"/>
  <p:tag name="KSO_WM_DIAGRAM_MIN_ITEMCNT" val="2"/>
  <p:tag name="KSO_WM_DIAGRAM_VIRTUALLY_FRAME" val="{&quot;height&quot;:373.29998779296875,&quot;left&quot;:65.96605151559416,&quot;top&quot;:0.004966733436867798,&quot;width&quot;:844.1839599609375}"/>
  <p:tag name="KSO_WM_DIAGRAM_COLOR_MATCH_VALUE" val="{&quot;shape&quot;:{&quot;fill&quot;:{&quot;gradient&quot;:[{&quot;brightness&quot;:0.4000000059604645,&quot;colorType&quot;:1,&quot;foreColorIndex&quot;:5,&quot;pos&quot;:0.8999999761581421,&quot;transparency&quot;:0},{&quot;brightness&quot;:0,&quot;colorType&quot;:1,&quot;foreColorIndex&quot;:5,&quot;pos&quot;:0,&quot;transparency&quot;:0}],&quot;type&quot;:3},&quot;glow&quot;:{&quot;colorType&quot;:0},&quot;line&quot;:{&quot;type&quot;:0},&quot;shadow&quot;:{&quot;brightness&quot;:0,&quot;colorType&quot;:1,&quot;foreColorIndex&quot;:5,&quot;transparency&quot;:0.7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添加项标题"/>
  <p:tag name="KSO_WM_UNIT_FILL_TYPE" val="3"/>
  <p:tag name="KSO_WM_UNIT_TEXT_TYPE" val="1"/>
  <p:tag name="KSO_WM_DIAGRAM_USE_COLOR_VALUE" val="{&quot;color_scheme&quot;:1,&quot;color_type&quot;:1,&quot;theme_color_indexes&quot;:[5,6,5,6,5,6]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1066_2*m_h_a*1_2_1"/>
  <p:tag name="KSO_WM_TEMPLATE_CATEGORY" val="diagram"/>
  <p:tag name="KSO_WM_TEMPLATE_INDEX" val="20231066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ISCONTENTSTITLE" val="0"/>
  <p:tag name="KSO_WM_UNIT_ISNUMDGMTITLE" val="0"/>
  <p:tag name="KSO_WM_UNIT_NOCLEAR" val="0"/>
  <p:tag name="KSO_WM_UNIT_VALUE" val="14"/>
  <p:tag name="KSO_WM_DIAGRAM_MAX_ITEMCNT" val="6"/>
  <p:tag name="KSO_WM_DIAGRAM_MIN_ITEMCNT" val="2"/>
  <p:tag name="KSO_WM_DIAGRAM_VIRTUALLY_FRAME" val="{&quot;height&quot;:373.29998779296875,&quot;left&quot;:65.96605151559416,&quot;top&quot;:0.004966733436867798,&quot;width&quot;:844.1839599609375}"/>
  <p:tag name="KSO_WM_DIAGRAM_COLOR_MATCH_VALUE" val="{&quot;shape&quot;:{&quot;fill&quot;:{&quot;gradient&quot;:[{&quot;brightness&quot;:0.4000000059604645,&quot;colorType&quot;:1,&quot;foreColorIndex&quot;:6,&quot;pos&quot;:0.8999999761581421,&quot;transparency&quot;:0},{&quot;brightness&quot;:0,&quot;colorType&quot;:1,&quot;foreColorIndex&quot;:6,&quot;pos&quot;:0,&quot;transparency&quot;:0}],&quot;type&quot;:3},&quot;glow&quot;:{&quot;colorType&quot;:0},&quot;line&quot;:{&quot;type&quot;:0},&quot;shadow&quot;:{&quot;brightness&quot;:0,&quot;colorType&quot;:1,&quot;foreColorIndex&quot;:6,&quot;transparency&quot;:0.7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添加项标题"/>
  <p:tag name="KSO_WM_UNIT_FILL_TYPE" val="3"/>
  <p:tag name="KSO_WM_UNIT_TEXT_TYPE" val="1"/>
  <p:tag name="KSO_WM_DIAGRAM_USE_COLOR_VALUE" val="{&quot;color_scheme&quot;:1,&quot;color_type&quot;:1,&quot;theme_color_indexes&quot;:[5,6,5,6,5,6]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1066_2*m_h_i*1_2_1"/>
  <p:tag name="KSO_WM_TEMPLATE_CATEGORY" val="diagram"/>
  <p:tag name="KSO_WM_TEMPLATE_INDEX" val="20231066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73.29998779296875,&quot;left&quot;:65.96605151559416,&quot;top&quot;:0.004966733436867798,&quot;width&quot;:844.1839599609375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6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1066_2*m_h_i*1_3_1"/>
  <p:tag name="KSO_WM_TEMPLATE_CATEGORY" val="diagram"/>
  <p:tag name="KSO_WM_TEMPLATE_INDEX" val="20231066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73.29998779296875,&quot;left&quot;:65.96605151559416,&quot;top&quot;:0.004966733436867798,&quot;width&quot;:844.1839599609375}"/>
  <p:tag name="KSO_WM_DIAGRAM_COLOR_MATCH_VALUE" val="{&quot;shape&quot;:{&quot;fill&quot;:{&quot;solid&quot;:{&quot;brightness&quot;:0,&quot;colorType&quot;:1,&quot;foreColorIndex&quot;:7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7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1066_2*m_h_a*1_3_1"/>
  <p:tag name="KSO_WM_TEMPLATE_CATEGORY" val="diagram"/>
  <p:tag name="KSO_WM_TEMPLATE_INDEX" val="20231066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ISCONTENTSTITLE" val="0"/>
  <p:tag name="KSO_WM_UNIT_ISNUMDGMTITLE" val="0"/>
  <p:tag name="KSO_WM_UNIT_NOCLEAR" val="0"/>
  <p:tag name="KSO_WM_UNIT_VALUE" val="27"/>
  <p:tag name="KSO_WM_DIAGRAM_MAX_ITEMCNT" val="6"/>
  <p:tag name="KSO_WM_DIAGRAM_MIN_ITEMCNT" val="2"/>
  <p:tag name="KSO_WM_DIAGRAM_VIRTUALLY_FRAME" val="{&quot;height&quot;:373.29998779296875,&quot;left&quot;:65.96605151559416,&quot;top&quot;:0.004966733436867798,&quot;width&quot;:844.1839599609375}"/>
  <p:tag name="KSO_WM_DIAGRAM_COLOR_MATCH_VALUE" val="{&quot;shape&quot;:{&quot;fill&quot;:{&quot;gradient&quot;:[{&quot;brightness&quot;:0.4000000059604645,&quot;colorType&quot;:1,&quot;foreColorIndex&quot;:7,&quot;pos&quot;:0,&quot;transparency&quot;:0},{&quot;brightness&quot;:0,&quot;colorType&quot;:1,&quot;foreColorIndex&quot;:7,&quot;pos&quot;:0.75,&quot;transparency&quot;:0}],&quot;type&quot;:3},&quot;glow&quot;:{&quot;colorType&quot;:0},&quot;line&quot;:{&quot;type&quot;:0},&quot;shadow&quot;:{&quot;brightness&quot;:0,&quot;colorType&quot;:1,&quot;foreColorIndex&quot;:8,&quot;transparency&quot;:0.7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添加项标题"/>
  <p:tag name="KSO_WM_UNIT_FILL_TYPE" val="3"/>
  <p:tag name="KSO_WM_UNIT_TEXT_TYPE" val="1"/>
  <p:tag name="KSO_WM_DIAGRAM_USE_COLOR_VALUE" val="{&quot;color_scheme&quot;:1,&quot;color_type&quot;:1,&quot;theme_color_indexes&quot;:[5,6,5,6,5,6]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439a5619-6ab3-48ae-aa83-57d7cfd42242}"/>
  <p:tag name="TABLE_ENDDRAG_ORIGIN_RECT" val="592*387"/>
  <p:tag name="TABLE_ENDDRAG_RECT" val="59*91*592*387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80*391"/>
  <p:tag name="TABLE_ENDDRAG_RECT" val="137*109*680*39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38*259"/>
  <p:tag name="TABLE_ENDDRAG_RECT" val="75*118*838*259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0a882c8e6f0cd69f9fb3797d609f847da8a527e8"/>
  <p:tag name="KSO_WM_NEWLAYOUT_ID" val="58"/>
  <p:tag name="KSO_WM_UNIT_PRESET_TEXT" val="单击此处&#10;添加文档标题"/>
  <p:tag name="KSO_WM_UNIT_ID" val="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1071"/>
  <p:tag name="KSO_WM_TEMPLATE_CATEGORY" val="custom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70b656d132bbdcc42afac43133bd16b0ed6bf1f"/>
  <p:tag name="KSO_WM_NEWLAYOUT_GROUP_ID" val="layout_29"/>
  <p:tag name="KSO_WM_NEWLAYOUT_ID" val="slide_71306c912136627e"/>
  <p:tag name="KSO_WM_UNIT_PRESET_TEXT" val="单击此处添加标题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_contentModel"/>
  <p:tag name="$PH_EXT" val="2"/>
  <p:tag name="KSO_WM_BEAUTIFY_FLAG" val="#fgm#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"/>
  <p:tag name="KSO_WM_UNIT_TYPE" val="l_i"/>
  <p:tag name="KSO_WM_UNIT_PRESET_TEXT" val=" 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2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3"/>
  <p:tag name="$PH_EXT" val="1"/>
  <p:tag name="KSO_WM_BEAUTIFY_FLAG" val="#fgm#"/>
  <p:tag name="KSO_WM_DIAGRAM_GROUP_CODE" val="1"/>
  <p:tag name="KSO_WM_FIGMA_FLAG" val="#fgm#"/>
  <p:tag name="KSO_WM_UNIT_INDEX" val="1_3_1"/>
  <p:tag name="KSO_WM_UNIT_TYPE" val="l_h_x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4"/>
  <p:tag name="$PH_EXT" val="1"/>
  <p:tag name="KSO_WM_BEAUTIFY_FLAG" val="#fgm#"/>
  <p:tag name="KSO_WM_DIAGRAM_GROUP_CODE" val="1"/>
  <p:tag name="KSO_WM_FIGMA_FLAG" val="#fgm#"/>
  <p:tag name="KSO_WM_UNIT_INDEX" val="1_4_1"/>
  <p:tag name="KSO_WM_UNIT_TYPE" val="l_h_x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单击此处添加项标题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UNIT_PRESET_TEXT" val="单击此处添加项正文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0a882c8e6f0cd69f9fb3797d609f847da8a527e8"/>
  <p:tag name="KSO_WM_NEWLAYOUT_ID" val="58"/>
  <p:tag name="KSO_WM_UNIT_PRESET_TEXT" val="单击此处&#10;添加文档标题"/>
  <p:tag name="KSO_WM_UNIT_ID" val="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1071"/>
  <p:tag name="KSO_WM_TEMPLATE_CATEGORY" val="custom"/>
</p:tagLst>
</file>

<file path=ppt/theme/theme1.xml><?xml version="1.0" encoding="utf-8"?>
<a:theme xmlns:a="http://schemas.openxmlformats.org/drawingml/2006/main" name="Office 主题​​">
  <a:themeElements>
    <a:clrScheme name="视点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just" hangingPunct="0">
          <a:lnSpc>
            <a:spcPct val="130000"/>
          </a:lnSpc>
          <a:defRPr sz="1600" spc="100" dirty="0">
            <a:solidFill>
              <a:schemeClr val="accent4">
                <a:lumMod val="20000"/>
                <a:lumOff val="80000"/>
              </a:schemeClr>
            </a:solidFill>
            <a:latin typeface="思源黑体 CN Normal" panose="020B0400000000000000" pitchFamily="34" charset="-122"/>
            <a:ea typeface="思源黑体 CN Normal" panose="020B0400000000000000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394</TotalTime>
  <Words>4009</Words>
  <Application>Microsoft Office PowerPoint</Application>
  <PresentationFormat>宽屏</PresentationFormat>
  <Paragraphs>519</Paragraphs>
  <Slides>27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27</vt:i4>
      </vt:variant>
    </vt:vector>
  </HeadingPairs>
  <TitlesOfParts>
    <vt:vector size="46" baseType="lpstr">
      <vt:lpstr>D-DINExp</vt:lpstr>
      <vt:lpstr>NotoSansSC-Bold</vt:lpstr>
      <vt:lpstr>等线</vt:lpstr>
      <vt:lpstr>华文楷体</vt:lpstr>
      <vt:lpstr>华文新魏</vt:lpstr>
      <vt:lpstr>华文行楷</vt:lpstr>
      <vt:lpstr>楷体</vt:lpstr>
      <vt:lpstr>思源黑体 CN Heavy</vt:lpstr>
      <vt:lpstr>思源黑体 CN Medium</vt:lpstr>
      <vt:lpstr>思源黑体 CN Normal</vt:lpstr>
      <vt:lpstr>Microsoft Yahei</vt:lpstr>
      <vt:lpstr>Microsoft Yahei</vt:lpstr>
      <vt:lpstr>Arial</vt:lpstr>
      <vt:lpstr>Calibri</vt:lpstr>
      <vt:lpstr>Calibri Light</vt:lpstr>
      <vt:lpstr>Courier New</vt:lpstr>
      <vt:lpstr>Wingdings</vt:lpstr>
      <vt:lpstr>Office 主题​​</vt:lpstr>
      <vt:lpstr>Office Theme</vt:lpstr>
      <vt:lpstr>PowerPoint 演示文稿</vt:lpstr>
      <vt:lpstr>一、项目总论</vt:lpstr>
      <vt:lpstr>一、项目总论</vt:lpstr>
      <vt:lpstr>二、背景分析</vt:lpstr>
      <vt:lpstr>二、背景分析</vt:lpstr>
      <vt:lpstr>二、背景分析</vt:lpstr>
      <vt:lpstr>二、背景分析</vt:lpstr>
      <vt:lpstr>二、背景分析</vt:lpstr>
      <vt:lpstr>三、行业分析</vt:lpstr>
      <vt:lpstr>三、行业分析</vt:lpstr>
      <vt:lpstr>四、市场分析</vt:lpstr>
      <vt:lpstr>四、市场分析</vt:lpstr>
      <vt:lpstr>四、市场分析</vt:lpstr>
      <vt:lpstr>五、组织结构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七、投资估算与资金筹措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 dy</dc:creator>
  <cp:lastModifiedBy>朝旭 魏</cp:lastModifiedBy>
  <cp:revision>197</cp:revision>
  <dcterms:created xsi:type="dcterms:W3CDTF">2024-11-07T03:24:30Z</dcterms:created>
  <dcterms:modified xsi:type="dcterms:W3CDTF">2025-11-06T11:16:16Z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21CB3FEED88CACABD0C534667F7C861A_43</vt:lpwstr>
  </property>
  <property fmtid="{D5CDD505-2E9C-101B-9397-08002B2CF9AE}" pid="3" name="KSOProductBuildVer">
    <vt:lpwstr>2052-6.7.1.8828</vt:lpwstr>
  </property>
</Properties>
</file>