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263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5356"/>
    <a:srgbClr val="F9D8CC"/>
    <a:srgbClr val="F07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7.1 </a:t>
            </a:r>
            <a:r>
              <a:rPr lang="zh-CN" altLang="en-US" dirty="0"/>
              <a:t>财务</a:t>
            </a:r>
            <a:r>
              <a:rPr lang="zh-CN" altLang="en-US" dirty="0"/>
              <a:t>假设条件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1403350" y="1322705"/>
          <a:ext cx="9344025" cy="4978400"/>
        </p:xfrm>
        <a:graphic>
          <a:graphicData uri="http://schemas.openxmlformats.org/drawingml/2006/table">
            <a:tbl>
              <a:tblPr/>
              <a:tblGrid>
                <a:gridCol w="1702435"/>
                <a:gridCol w="7641590"/>
              </a:tblGrid>
              <a:tr h="582295">
                <a:tc>
                  <a:txBody>
                    <a:bodyPr/>
                    <a:p>
                      <a:pPr marL="0" indent="0" algn="ctr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n-ea"/>
                        </a:rPr>
                        <a:t>假设类别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n-ea"/>
                        </a:rPr>
                        <a:t>具体假设内容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7F09"/>
                    </a:solidFill>
                  </a:tcPr>
                </a:tc>
              </a:tr>
              <a:tr h="58166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用户增长假设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年用户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万，符合校园市场渗透节奏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</a:tr>
              <a:tr h="89598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付费转化假设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订阅转化率：第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；活动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广告收入占比随用户活跃度提升至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20%</a:t>
                      </a:r>
                      <a:endParaRPr lang="en-US" altLang="zh-CN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</a:tr>
              <a:tr h="82042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定价假设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月，线下活动门票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人，采用 “免费基础服务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增值服务收费” 模式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</a:tr>
              <a:tr h="82042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成本假设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成本结构：技术研发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40%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、运营推广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、人力薪酬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、其他杂费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；单位用户成本随规模扩大逐年下降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</a:tr>
              <a:tr h="69532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财务参数假设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贴现率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，项目计算期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年，不考虑显著通货膨胀影响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</a:tr>
              <a:tr h="58229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融资假设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启动资金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万元（自有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天使轮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万元），资金足额到位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>
                      <a:solidFill>
                        <a:schemeClr val="bg1"/>
                      </a:solidFill>
                      <a:prstDash val="solid"/>
                    </a:lnL>
                    <a:lnR w="28575">
                      <a:solidFill>
                        <a:schemeClr val="bg1"/>
                      </a:solidFill>
                      <a:prstDash val="solid"/>
                    </a:lnR>
                    <a:lnT w="28575">
                      <a:solidFill>
                        <a:schemeClr val="bg1"/>
                      </a:solidFill>
                      <a:prstDash val="solid"/>
                    </a:lnT>
                    <a:lnB w="28575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8CC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975735" y="8064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/>
              <a:t>财务假设条件表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7.2 </a:t>
            </a:r>
            <a:r>
              <a:rPr lang="zh-CN" altLang="en-US" dirty="0"/>
              <a:t>财务预测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表格 5"/>
          <p:cNvGraphicFramePr/>
          <p:nvPr/>
        </p:nvGraphicFramePr>
        <p:xfrm>
          <a:off x="1028700" y="806450"/>
          <a:ext cx="8387080" cy="1676400"/>
        </p:xfrm>
        <a:graphic>
          <a:graphicData uri="http://schemas.openxmlformats.org/drawingml/2006/table">
            <a:tbl>
              <a:tblPr/>
              <a:tblGrid>
                <a:gridCol w="1073150"/>
                <a:gridCol w="977265"/>
                <a:gridCol w="1395095"/>
                <a:gridCol w="4941570"/>
              </a:tblGrid>
              <a:tr h="30162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年度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用户量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总收入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收入构成明细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18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×5%×15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×12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月）；活动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8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100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86.4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×8%×15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×12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月）；活动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13.6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42735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22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350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订阅收入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396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×10%×15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×12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月，超额部分计入其他收入调节）；活动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广告收入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54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1032510" y="4333875"/>
          <a:ext cx="8383270" cy="1854200"/>
        </p:xfrm>
        <a:graphic>
          <a:graphicData uri="http://schemas.openxmlformats.org/drawingml/2006/table">
            <a:tbl>
              <a:tblPr/>
              <a:tblGrid>
                <a:gridCol w="1063625"/>
                <a:gridCol w="989965"/>
                <a:gridCol w="6329680"/>
              </a:tblGrid>
              <a:tr h="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年度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总成本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成本构成明细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</a:tr>
              <a:tr h="48831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40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技术研发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×40%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）、运营推广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17.5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×35%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）、人力薪酬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×20%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）、其他杂费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50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70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技术研发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28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70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×40%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）、运营推广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24.5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70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×35%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）、人力薪酬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14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70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×20%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）、其他杂费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70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230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技术研发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92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230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×40%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）、运营推广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80.5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230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×35%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）、人力薪酬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46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230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×20%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）、其他杂费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11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230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×5%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1032510" y="2632075"/>
          <a:ext cx="8394065" cy="1593850"/>
        </p:xfrm>
        <a:graphic>
          <a:graphicData uri="http://schemas.openxmlformats.org/drawingml/2006/table">
            <a:tbl>
              <a:tblPr/>
              <a:tblGrid>
                <a:gridCol w="1075055"/>
                <a:gridCol w="956945"/>
                <a:gridCol w="1426210"/>
                <a:gridCol w="1542415"/>
                <a:gridCol w="3393440"/>
              </a:tblGrid>
              <a:tr h="40322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年度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总收入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总成本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净利润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chemeClr val="bg1"/>
                          </a:solidFill>
                          <a:latin typeface="+mn-ea"/>
                        </a:rPr>
                        <a:t>利润说明</a:t>
                      </a:r>
                      <a:endParaRPr lang="zh-CN" altLang="en-US" sz="11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40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-20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</a:rPr>
                        <a:t>战略亏损，用于产品研发与市场开拓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100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70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30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</a:rPr>
                        <a:t>实现盈利，覆盖前期部分亏损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53022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350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230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 i="0">
                          <a:solidFill>
                            <a:srgbClr val="DF5356"/>
                          </a:solidFill>
                          <a:latin typeface="+mn-ea"/>
                        </a:rPr>
                        <a:t>120</a:t>
                      </a:r>
                      <a:endParaRPr lang="en-US" altLang="zh-CN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 i="0">
                          <a:solidFill>
                            <a:srgbClr val="DF5356"/>
                          </a:solidFill>
                          <a:latin typeface="+mn-ea"/>
                        </a:rPr>
                        <a:t>盈利规模大幅提升，收回全部初期投资</a:t>
                      </a:r>
                      <a:endParaRPr lang="zh-CN" altLang="en-US" sz="11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7.3 </a:t>
            </a:r>
            <a:r>
              <a:rPr lang="zh-CN" altLang="en-US" dirty="0"/>
              <a:t>项目盈利能力分析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838200" y="986483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6" name="表格 5"/>
          <p:cNvGraphicFramePr/>
          <p:nvPr/>
        </p:nvGraphicFramePr>
        <p:xfrm>
          <a:off x="1075690" y="1092835"/>
          <a:ext cx="10004425" cy="5288915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4761865"/>
              </a:tblGrid>
              <a:tr h="61277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盈利能力指标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j-ea"/>
                        </a:rPr>
                        <a:t>具体数值 </a:t>
                      </a:r>
                      <a:r>
                        <a:rPr lang="en-US" altLang="zh-CN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j-ea"/>
                        </a:rPr>
                        <a:t>/ </a:t>
                      </a: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j-ea"/>
                        </a:rPr>
                        <a:t>范围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计算依据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</a:tr>
              <a:tr h="67818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</a:rPr>
                        <a:t>投资回收期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2.0-2.5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年盈利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万，第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年净利润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120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万，累计覆盖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50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万初期投资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64833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净现值（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NPV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）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约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85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万元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按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10%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贴现率，折现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年现金流量（第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- 50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120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万）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62611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内部收益率（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IRR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）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</a:rPr>
                        <a:t>25%-35%</a:t>
                      </a:r>
                      <a:endParaRPr lang="en-US" altLang="zh-CN" sz="1600" b="1" i="0">
                        <a:solidFill>
                          <a:srgbClr val="DF5356"/>
                        </a:solidFill>
                        <a:latin typeface="+mj-ea"/>
                        <a:ea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基于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年收入、成本及投资数据测算，高于行业基准收益率（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10%-15%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）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110871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</a:rPr>
                        <a:t>毛利率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- 100%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30%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34.3%</a:t>
                      </a:r>
                      <a:endParaRPr lang="en-US" altLang="zh-CN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毛利率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=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（总收入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-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总成本）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/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总收入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×100%</a:t>
                      </a:r>
                      <a:endParaRPr lang="en-US" altLang="zh-CN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91567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</a:rPr>
                        <a:t>人均创收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10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元、第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2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12.5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元、第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3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年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15.9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元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人均创收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=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总收入 </a:t>
                      </a:r>
                      <a:r>
                        <a:rPr lang="en-US" altLang="zh-CN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/ </a:t>
                      </a:r>
                      <a:r>
                        <a:rPr lang="zh-CN" altLang="en-US" sz="1600" b="1" i="0">
                          <a:solidFill>
                            <a:srgbClr val="DF5356"/>
                          </a:solidFill>
                          <a:latin typeface="+mj-ea"/>
                          <a:ea typeface="+mj-ea"/>
                          <a:cs typeface="+mj-ea"/>
                        </a:rPr>
                        <a:t>用户量</a:t>
                      </a:r>
                      <a:endParaRPr lang="zh-CN" altLang="en-US" sz="1600" b="1" i="0">
                        <a:solidFill>
                          <a:srgbClr val="DF5356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7.4 </a:t>
            </a:r>
            <a:r>
              <a:rPr lang="zh-CN" altLang="en-US" dirty="0"/>
              <a:t>不确定性分析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838200" y="986483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10" name="表格 9"/>
          <p:cNvGraphicFramePr/>
          <p:nvPr/>
        </p:nvGraphicFramePr>
        <p:xfrm>
          <a:off x="964565" y="1506855"/>
          <a:ext cx="10648950" cy="5821680"/>
        </p:xfrm>
        <a:graphic>
          <a:graphicData uri="http://schemas.openxmlformats.org/drawingml/2006/table">
            <a:tbl>
              <a:tblPr/>
              <a:tblGrid>
                <a:gridCol w="1747520"/>
                <a:gridCol w="1747520"/>
                <a:gridCol w="1747520"/>
                <a:gridCol w="1747520"/>
                <a:gridCol w="3658870"/>
              </a:tblGrid>
              <a:tr h="369570"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敏感变量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变动方向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变动幅度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净利润变动幅度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影响结论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用户增长率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下降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（用户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下降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11.7%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106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用户规模对盈利影响显著，需重点保障推广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用户增长率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上升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（用户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24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上升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11.7%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134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转化率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下降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（转化率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下降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109.2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付费转化是盈利关键，需优化转化策略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转化率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上升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（转化率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11%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上升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130.8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单位运营成本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上升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（成本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253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下降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97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成本控制对盈利稳定性有一定影响，需压缩冗余支出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单位运营成本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下降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（成本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207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上升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（净利润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143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万）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764665" y="1078230"/>
            <a:ext cx="9048750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200"/>
              </a:lnSpc>
              <a:spcBef>
                <a:spcPts val="1000"/>
              </a:spcBef>
              <a:spcAft>
                <a:spcPct val="0"/>
              </a:spcAft>
            </a:pPr>
            <a:r>
              <a:rPr lang="zh-CN" altLang="en-US" sz="2400" b="1" i="0">
                <a:solidFill>
                  <a:srgbClr val="000000"/>
                </a:solidFill>
                <a:latin typeface="+mn-ea"/>
                <a:cs typeface="+mn-ea"/>
              </a:rPr>
              <a:t>敏感性分析表（以第 </a:t>
            </a:r>
            <a:r>
              <a:rPr lang="en-US" altLang="zh-CN" sz="2400" b="1" i="0">
                <a:solidFill>
                  <a:srgbClr val="000000"/>
                </a:solidFill>
                <a:latin typeface="+mn-ea"/>
                <a:cs typeface="+mn-ea"/>
              </a:rPr>
              <a:t>3 </a:t>
            </a:r>
            <a:r>
              <a:rPr lang="zh-CN" altLang="en-US" sz="2400" b="1" i="0">
                <a:solidFill>
                  <a:srgbClr val="000000"/>
                </a:solidFill>
                <a:latin typeface="+mn-ea"/>
                <a:cs typeface="+mn-ea"/>
              </a:rPr>
              <a:t>年净利润为基准，变动幅度 </a:t>
            </a:r>
            <a:r>
              <a:rPr lang="en-US" altLang="zh-CN" sz="2400" b="1" i="0">
                <a:solidFill>
                  <a:srgbClr val="000000"/>
                </a:solidFill>
                <a:latin typeface="+mn-ea"/>
                <a:cs typeface="+mn-ea"/>
              </a:rPr>
              <a:t>±10%</a:t>
            </a:r>
            <a:r>
              <a:rPr lang="zh-CN" altLang="en-US" sz="2400" b="1" i="0">
                <a:solidFill>
                  <a:srgbClr val="000000"/>
                </a:solidFill>
                <a:latin typeface="+mn-ea"/>
                <a:cs typeface="+mn-ea"/>
              </a:rPr>
              <a:t>）</a:t>
            </a:r>
            <a:endParaRPr lang="zh-CN" altLang="en-US" sz="2400" b="1" i="0">
              <a:solidFill>
                <a:srgbClr val="00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7.4 </a:t>
            </a:r>
            <a:r>
              <a:rPr lang="zh-CN" altLang="en-US" dirty="0"/>
              <a:t>不确定性分析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838200" y="986483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64565" y="1506855"/>
          <a:ext cx="10648950" cy="4634865"/>
        </p:xfrm>
        <a:graphic>
          <a:graphicData uri="http://schemas.openxmlformats.org/drawingml/2006/table">
            <a:tbl>
              <a:tblPr/>
              <a:tblGrid>
                <a:gridCol w="1259205"/>
                <a:gridCol w="2235835"/>
                <a:gridCol w="2680335"/>
                <a:gridCol w="2985135"/>
                <a:gridCol w="1488440"/>
              </a:tblGrid>
              <a:tr h="87503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</a:rPr>
                        <a:t>年度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</a:rPr>
                        <a:t>固定成本（万元）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单位边际贡献（元 </a:t>
                      </a:r>
                      <a:r>
                        <a:rPr lang="en-US" altLang="zh-CN" sz="2000" b="1" i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  <a:cs typeface="+mn-ea"/>
                        </a:rPr>
                        <a:t>人）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</a:rPr>
                        <a:t>盈亏平衡用户量（万人）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+mn-ea"/>
                        </a:rPr>
                        <a:t>实际用户量（万人）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</a:tr>
              <a:tr h="190563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20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45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（技术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人力固定支出）</a:t>
                      </a:r>
                      <a:endParaRPr lang="zh-CN" altLang="en-US" sz="20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150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（人均年创收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125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-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单位变动成本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25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元）</a:t>
                      </a:r>
                      <a:endParaRPr lang="zh-CN" altLang="en-US" sz="20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0.3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45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÷150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人）</a:t>
                      </a:r>
                      <a:endParaRPr lang="zh-CN" altLang="en-US" sz="20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</a:rPr>
                        <a:t>8</a:t>
                      </a:r>
                      <a:endParaRPr lang="en-US" altLang="zh-CN" sz="20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166243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</a:t>
                      </a:r>
                      <a:endParaRPr lang="zh-CN" altLang="en-US" sz="20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65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（技术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人力固定支出）</a:t>
                      </a:r>
                      <a:endParaRPr lang="zh-CN" altLang="en-US" sz="20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</a:rPr>
                        <a:t>150</a:t>
                      </a:r>
                      <a:endParaRPr lang="en-US" altLang="zh-CN" sz="20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0.43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65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÷150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元 </a:t>
                      </a: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/ </a:t>
                      </a:r>
                      <a:r>
                        <a:rPr lang="zh-CN" altLang="en-US" sz="20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人）</a:t>
                      </a:r>
                      <a:endParaRPr lang="zh-CN" altLang="en-US" sz="20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rgbClr val="DF5356"/>
                          </a:solidFill>
                          <a:latin typeface="+mn-ea"/>
                        </a:rPr>
                        <a:t>22</a:t>
                      </a:r>
                      <a:endParaRPr lang="en-US" altLang="zh-CN" sz="20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566285" y="1078230"/>
            <a:ext cx="9048750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200"/>
              </a:lnSpc>
              <a:spcBef>
                <a:spcPts val="1000"/>
              </a:spcBef>
              <a:spcAft>
                <a:spcPct val="0"/>
              </a:spcAft>
            </a:pPr>
            <a:r>
              <a:rPr lang="zh-CN" altLang="en-US" sz="2400" b="1" i="0">
                <a:solidFill>
                  <a:srgbClr val="000000"/>
                </a:solidFill>
                <a:latin typeface="+mn-ea"/>
                <a:cs typeface="+mn-ea"/>
              </a:rPr>
              <a:t>盈亏平衡分析表</a:t>
            </a:r>
            <a:endParaRPr lang="zh-CN" altLang="en-US" sz="2400" b="1" i="0">
              <a:solidFill>
                <a:srgbClr val="0000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7.5 </a:t>
            </a:r>
            <a:r>
              <a:rPr lang="zh-CN" altLang="en-US" dirty="0"/>
              <a:t>财务评价结论表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838200" y="986483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10" name="表格 9"/>
          <p:cNvGraphicFramePr/>
          <p:nvPr/>
        </p:nvGraphicFramePr>
        <p:xfrm>
          <a:off x="911860" y="1433830"/>
          <a:ext cx="10441940" cy="4400550"/>
        </p:xfrm>
        <a:graphic>
          <a:graphicData uri="http://schemas.openxmlformats.org/drawingml/2006/table">
            <a:tbl>
              <a:tblPr/>
              <a:tblGrid>
                <a:gridCol w="1466215"/>
                <a:gridCol w="3065780"/>
                <a:gridCol w="1510665"/>
                <a:gridCol w="4399280"/>
              </a:tblGrid>
              <a:tr h="59055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评价维度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核心结论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评价维度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+mn-ea"/>
                        </a:rPr>
                        <a:t>核心结论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7F09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盈利能力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投资回收期短（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2.0-2.5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年），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NPV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为正（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万元），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IRR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高于行业基准（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25%-35%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），盈利增长潜力强劲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盈利能力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投资回收期短（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2.0-2.5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年），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NPV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为正（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85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万元），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IRR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高于行业基准（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25%-35%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），盈利增长潜力强劲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财务可持续性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年实现盈利，第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年盈利规模大幅扩大；人均创收逐年提升，成本控制有效，资金链安全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财务可持续性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年实现盈利，第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3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年盈利规模大幅扩大；人均创收逐年提升，成本控制有效，资金链安全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风险可控性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核心敏感变量（用户增长、付费转化）有应对策略，第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年起突破盈亏平衡，安全边际充足，风险整体可控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风险可控性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核心敏感变量（用户增长、付费转化）有应对策略，第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年起突破盈亏平衡，安全边际充足，风险整体可控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投资价值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盈利模式清晰（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活动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广告），契合校园社交市场增长趋势（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2026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年市场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80-100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亿元），具备较高投资价值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</a:rPr>
                        <a:t>投资价值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盈利模式清晰（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VIP 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活动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+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广告），契合校园社交市场增长趋势（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2026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年市场 </a:t>
                      </a:r>
                      <a:r>
                        <a:rPr lang="en-US" altLang="zh-CN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80-100 </a:t>
                      </a:r>
                      <a:r>
                        <a:rPr lang="zh-CN" altLang="en-US" sz="1400" b="1" i="0">
                          <a:solidFill>
                            <a:srgbClr val="DF5356"/>
                          </a:solidFill>
                          <a:latin typeface="+mn-ea"/>
                          <a:cs typeface="+mn-ea"/>
                        </a:rPr>
                        <a:t>亿元），具备较高投资价值</a:t>
                      </a:r>
                      <a:endParaRPr lang="zh-CN" altLang="en-US" sz="1400" b="1" i="0">
                        <a:solidFill>
                          <a:srgbClr val="DF5356"/>
                        </a:solidFill>
                        <a:latin typeface="+mn-ea"/>
                        <a:cs typeface="+mn-ea"/>
                      </a:endParaRPr>
                    </a:p>
                  </a:txBody>
                  <a:tcPr marL="114617" marR="114617" marT="76517" marB="76517" anchor="ctr" anchorCtr="0">
                    <a:lnL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D8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0*391"/>
  <p:tag name="TABLE_ENDDRAG_RECT" val="137*109*680*392"/>
</p:tagLst>
</file>

<file path=ppt/tags/tag2.xml><?xml version="1.0" encoding="utf-8"?>
<p:tagLst xmlns:p="http://schemas.openxmlformats.org/presentationml/2006/main">
  <p:tag name="TABLE_ENDDRAG_ORIGIN_RECT" val="838*259"/>
  <p:tag name="TABLE_ENDDRAG_RECT" val="75*118*838*25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2336</Words>
  <Application>WPS 演示</Application>
  <PresentationFormat>宽屏</PresentationFormat>
  <Paragraphs>348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Calibri</vt:lpstr>
      <vt:lpstr>微软雅黑</vt:lpstr>
      <vt:lpstr>思源黑体 CN Medium</vt:lpstr>
      <vt:lpstr>黑体</vt:lpstr>
      <vt:lpstr>思源黑体 CN Normal</vt:lpstr>
      <vt:lpstr>Inter</vt:lpstr>
      <vt:lpstr>Segoe Print</vt:lpstr>
      <vt:lpstr>WPS</vt:lpstr>
      <vt:lpstr>3.1 行业分析</vt:lpstr>
      <vt:lpstr>7.1 财务假设条件</vt:lpstr>
      <vt:lpstr>7.1 财务假设条件</vt:lpstr>
      <vt:lpstr>7.1 财务假设条件</vt:lpstr>
      <vt:lpstr>7.4 不确定性分析</vt:lpstr>
      <vt:lpstr>7.4 不确定性分析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wyx15</dc:creator>
  <cp:lastModifiedBy>WPS_1684840097</cp:lastModifiedBy>
  <cp:revision>3</cp:revision>
  <dcterms:created xsi:type="dcterms:W3CDTF">2023-08-09T12:44:00Z</dcterms:created>
  <dcterms:modified xsi:type="dcterms:W3CDTF">2025-11-06T09:09:50Z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AEA10CADE1EA409EB486621D0FD76E12_12</vt:lpwstr>
  </property>
</Properties>
</file>