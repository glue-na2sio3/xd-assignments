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0"/>
  </p:notesMasterIdLst>
  <p:sldIdLst>
    <p:sldId id="369" r:id="rId3"/>
    <p:sldId id="371" r:id="rId4"/>
    <p:sldId id="335" r:id="rId5"/>
    <p:sldId id="357" r:id="rId6"/>
    <p:sldId id="358" r:id="rId7"/>
    <p:sldId id="354" r:id="rId8"/>
    <p:sldId id="34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60"/>
  </p:normalViewPr>
  <p:slideViewPr>
    <p:cSldViewPr snapToGrid="0">
      <p:cViewPr varScale="1">
        <p:scale>
          <a:sx n="90" d="100"/>
          <a:sy n="90" d="100"/>
        </p:scale>
        <p:origin x="8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wsl3\Desktop\&#26032;&#24314;%20Microsoft%20Excel%20&#24037;&#20316;&#3492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213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比例</a:t>
            </a:r>
            <a:endParaRPr lang="zh-CN" dirty="0"/>
          </a:p>
        </c:rich>
      </c:tx>
      <c:layout>
        <c:manualLayout>
          <c:xMode val="edge"/>
          <c:yMode val="edge"/>
          <c:x val="0.43983129875055299"/>
          <c:y val="0.130616122540453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213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2.7823792782107101E-2"/>
          <c:y val="0.148318990056969"/>
          <c:w val="0.94128047893244304"/>
          <c:h val="0.5530921693893090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Sheet1!$H$3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6DA-460B-8F7F-38BE1BBA77A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83%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6DA-460B-8F7F-38BE1BBA77A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6DA-460B-8F7F-38BE1BBA77A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/>
                      <a:t>30%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6DA-460B-8F7F-38BE1BBA77A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/>
                      <a:t>66%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6DA-460B-8F7F-38BE1BBA77A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/>
                      <a:t>100%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6DA-460B-8F7F-38BE1BBA77A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/>
                      <a:t>100%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6DA-460B-8F7F-38BE1BBA77A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6DA-460B-8F7F-38BE1BBA77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Sheet1!$I$2:$P$2</c:f>
              <c:strCache>
                <c:ptCount val="8"/>
                <c:pt idx="0">
                  <c:v>被父母催婚</c:v>
                </c:pt>
                <c:pt idx="1">
                  <c:v>拓展新交友圈</c:v>
                </c:pt>
                <c:pt idx="2">
                  <c:v>偏向异性交友</c:v>
                </c:pt>
                <c:pt idx="3">
                  <c:v>偏向同性交友</c:v>
                </c:pt>
                <c:pt idx="4">
                  <c:v>单身</c:v>
                </c:pt>
                <c:pt idx="5">
                  <c:v>使用交友软件</c:v>
                </c:pt>
                <c:pt idx="6">
                  <c:v>对线上交友安全有担忧</c:v>
                </c:pt>
                <c:pt idx="7">
                  <c:v>有调侃朋友单身</c:v>
                </c:pt>
              </c:strCache>
            </c:strRef>
          </c:cat>
          <c:val>
            <c:numRef>
              <c:f>Sheet1!$I$3:$P$3</c:f>
              <c:numCache>
                <c:formatCode>General</c:formatCode>
                <c:ptCount val="8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6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6DA-460B-8F7F-38BE1BBA77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886848511"/>
        <c:axId val="1886849343"/>
      </c:barChart>
      <c:catAx>
        <c:axId val="18868485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65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6849343"/>
        <c:crosses val="autoZero"/>
        <c:auto val="1"/>
        <c:lblAlgn val="ctr"/>
        <c:lblOffset val="100"/>
        <c:noMultiLvlLbl val="0"/>
      </c:catAx>
      <c:valAx>
        <c:axId val="188684934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86848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c77baf6-7819-4a6a-89a3-4bca7f77a0eb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5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lt1"/>
    </cs:fontRef>
    <cs:defRPr sz="1195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5DF89-8270-4B0D-AECE-D9C3F472245C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E6354-212C-425E-AE02-3C44265A81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过去，中国的婚恋观念相对传统，婚姻通常由家长安排，但随着社会观念的变革，越来越多的年轻人选择自主择偶，推动了婚恋市场的发展。随着生活节奏的加快，很多人将更多的时间花费在工作和个人发展上，导致了社交圈子的缩小。线上婚恋交友平台为这些人提供了更加便捷的社交方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过去，中国的婚恋观念相对传统，婚姻通常由家长安排，但随着社会观念的变革，越来越多的年轻人选择自主择偶，推动了婚恋市场的发展。随着生活节奏的加快，很多人将更多的时间花费在工作和个人发展上，导致了社交圈子的缩小。线上婚恋交友平台为这些人提供了更加便捷的社交方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分析显示，大部分人对线上交友和拓展新社交圈有较高兴趣，同时更看重交友对象的内在品质而非外貌。关于交友安全，许多人关注人身和财产安全，反映大家在使用交友软件时注重隐私保护。</a:t>
            </a:r>
          </a:p>
          <a:p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此外，关于父母催婚和同性交友的问题，较少人提及，说明这些问题对大多数人影响较小。总体来看，大家倾向于通过安全和健康的方式进行社交。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5CDA0-1124-4B95-BF33-9486E9E0BB4A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96A01-B7F1-407B-BFB7-6D968C000A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12" name="Rectangle: Folded Corner 1"/>
          <p:cNvSpPr/>
          <p:nvPr/>
        </p:nvSpPr>
        <p:spPr>
          <a:xfrm>
            <a:off x="749618" y="2240892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Rectangle: Folded Corner 2"/>
          <p:cNvSpPr/>
          <p:nvPr/>
        </p:nvSpPr>
        <p:spPr>
          <a:xfrm>
            <a:off x="749618" y="4446317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0" name="Freeform: Shape 12"/>
          <p:cNvSpPr/>
          <p:nvPr/>
        </p:nvSpPr>
        <p:spPr bwMode="auto">
          <a:xfrm>
            <a:off x="884847" y="4600664"/>
            <a:ext cx="408116" cy="408116"/>
          </a:xfrm>
          <a:custGeom>
            <a:avLst/>
            <a:gdLst>
              <a:gd name="T0" fmla="*/ 0 w 236"/>
              <a:gd name="T1" fmla="*/ 118 h 236"/>
              <a:gd name="T2" fmla="*/ 236 w 236"/>
              <a:gd name="T3" fmla="*/ 118 h 236"/>
              <a:gd name="T4" fmla="*/ 150 w 236"/>
              <a:gd name="T5" fmla="*/ 168 h 236"/>
              <a:gd name="T6" fmla="*/ 128 w 236"/>
              <a:gd name="T7" fmla="*/ 196 h 236"/>
              <a:gd name="T8" fmla="*/ 125 w 236"/>
              <a:gd name="T9" fmla="*/ 199 h 236"/>
              <a:gd name="T10" fmla="*/ 111 w 236"/>
              <a:gd name="T11" fmla="*/ 198 h 236"/>
              <a:gd name="T12" fmla="*/ 110 w 236"/>
              <a:gd name="T13" fmla="*/ 180 h 236"/>
              <a:gd name="T14" fmla="*/ 90 w 236"/>
              <a:gd name="T15" fmla="*/ 173 h 236"/>
              <a:gd name="T16" fmla="*/ 79 w 236"/>
              <a:gd name="T17" fmla="*/ 166 h 236"/>
              <a:gd name="T18" fmla="*/ 78 w 236"/>
              <a:gd name="T19" fmla="*/ 160 h 236"/>
              <a:gd name="T20" fmla="*/ 89 w 236"/>
              <a:gd name="T21" fmla="*/ 147 h 236"/>
              <a:gd name="T22" fmla="*/ 91 w 236"/>
              <a:gd name="T23" fmla="*/ 148 h 236"/>
              <a:gd name="T24" fmla="*/ 119 w 236"/>
              <a:gd name="T25" fmla="*/ 160 h 236"/>
              <a:gd name="T26" fmla="*/ 137 w 236"/>
              <a:gd name="T27" fmla="*/ 145 h 236"/>
              <a:gd name="T28" fmla="*/ 133 w 236"/>
              <a:gd name="T29" fmla="*/ 137 h 236"/>
              <a:gd name="T30" fmla="*/ 122 w 236"/>
              <a:gd name="T31" fmla="*/ 130 h 236"/>
              <a:gd name="T32" fmla="*/ 109 w 236"/>
              <a:gd name="T33" fmla="*/ 125 h 236"/>
              <a:gd name="T34" fmla="*/ 98 w 236"/>
              <a:gd name="T35" fmla="*/ 120 h 236"/>
              <a:gd name="T36" fmla="*/ 89 w 236"/>
              <a:gd name="T37" fmla="*/ 113 h 236"/>
              <a:gd name="T38" fmla="*/ 82 w 236"/>
              <a:gd name="T39" fmla="*/ 103 h 236"/>
              <a:gd name="T40" fmla="*/ 79 w 236"/>
              <a:gd name="T41" fmla="*/ 90 h 236"/>
              <a:gd name="T42" fmla="*/ 110 w 236"/>
              <a:gd name="T43" fmla="*/ 57 h 236"/>
              <a:gd name="T44" fmla="*/ 111 w 236"/>
              <a:gd name="T45" fmla="*/ 38 h 236"/>
              <a:gd name="T46" fmla="*/ 125 w 236"/>
              <a:gd name="T47" fmla="*/ 37 h 236"/>
              <a:gd name="T48" fmla="*/ 128 w 236"/>
              <a:gd name="T49" fmla="*/ 40 h 236"/>
              <a:gd name="T50" fmla="*/ 137 w 236"/>
              <a:gd name="T51" fmla="*/ 58 h 236"/>
              <a:gd name="T52" fmla="*/ 151 w 236"/>
              <a:gd name="T53" fmla="*/ 65 h 236"/>
              <a:gd name="T54" fmla="*/ 155 w 236"/>
              <a:gd name="T55" fmla="*/ 69 h 236"/>
              <a:gd name="T56" fmla="*/ 149 w 236"/>
              <a:gd name="T57" fmla="*/ 85 h 236"/>
              <a:gd name="T58" fmla="*/ 144 w 236"/>
              <a:gd name="T59" fmla="*/ 86 h 236"/>
              <a:gd name="T60" fmla="*/ 140 w 236"/>
              <a:gd name="T61" fmla="*/ 82 h 236"/>
              <a:gd name="T62" fmla="*/ 128 w 236"/>
              <a:gd name="T63" fmla="*/ 77 h 236"/>
              <a:gd name="T64" fmla="*/ 107 w 236"/>
              <a:gd name="T65" fmla="*/ 80 h 236"/>
              <a:gd name="T66" fmla="*/ 102 w 236"/>
              <a:gd name="T67" fmla="*/ 94 h 236"/>
              <a:gd name="T68" fmla="*/ 108 w 236"/>
              <a:gd name="T69" fmla="*/ 101 h 236"/>
              <a:gd name="T70" fmla="*/ 118 w 236"/>
              <a:gd name="T71" fmla="*/ 106 h 236"/>
              <a:gd name="T72" fmla="*/ 132 w 236"/>
              <a:gd name="T73" fmla="*/ 112 h 236"/>
              <a:gd name="T74" fmla="*/ 145 w 236"/>
              <a:gd name="T75" fmla="*/ 119 h 236"/>
              <a:gd name="T76" fmla="*/ 155 w 236"/>
              <a:gd name="T77" fmla="*/ 129 h 236"/>
              <a:gd name="T78" fmla="*/ 159 w 236"/>
              <a:gd name="T79" fmla="*/ 14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moveTo>
                  <a:pt x="150" y="168"/>
                </a:moveTo>
                <a:cubicBezTo>
                  <a:pt x="145" y="175"/>
                  <a:pt x="137" y="179"/>
                  <a:pt x="128" y="180"/>
                </a:cubicBezTo>
                <a:cubicBezTo>
                  <a:pt x="128" y="196"/>
                  <a:pt x="128" y="196"/>
                  <a:pt x="128" y="196"/>
                </a:cubicBezTo>
                <a:cubicBezTo>
                  <a:pt x="128" y="197"/>
                  <a:pt x="127" y="198"/>
                  <a:pt x="127" y="198"/>
                </a:cubicBezTo>
                <a:cubicBezTo>
                  <a:pt x="126" y="199"/>
                  <a:pt x="126" y="199"/>
                  <a:pt x="125" y="199"/>
                </a:cubicBezTo>
                <a:cubicBezTo>
                  <a:pt x="113" y="199"/>
                  <a:pt x="113" y="199"/>
                  <a:pt x="113" y="199"/>
                </a:cubicBezTo>
                <a:cubicBezTo>
                  <a:pt x="112" y="199"/>
                  <a:pt x="111" y="199"/>
                  <a:pt x="111" y="198"/>
                </a:cubicBezTo>
                <a:cubicBezTo>
                  <a:pt x="110" y="197"/>
                  <a:pt x="110" y="197"/>
                  <a:pt x="110" y="196"/>
                </a:cubicBezTo>
                <a:cubicBezTo>
                  <a:pt x="110" y="180"/>
                  <a:pt x="110" y="180"/>
                  <a:pt x="110" y="180"/>
                </a:cubicBezTo>
                <a:cubicBezTo>
                  <a:pt x="106" y="180"/>
                  <a:pt x="102" y="179"/>
                  <a:pt x="99" y="177"/>
                </a:cubicBezTo>
                <a:cubicBezTo>
                  <a:pt x="95" y="176"/>
                  <a:pt x="92" y="175"/>
                  <a:pt x="90" y="173"/>
                </a:cubicBezTo>
                <a:cubicBezTo>
                  <a:pt x="88" y="172"/>
                  <a:pt x="85" y="171"/>
                  <a:pt x="83" y="169"/>
                </a:cubicBezTo>
                <a:cubicBezTo>
                  <a:pt x="81" y="168"/>
                  <a:pt x="80" y="166"/>
                  <a:pt x="79" y="166"/>
                </a:cubicBezTo>
                <a:cubicBezTo>
                  <a:pt x="79" y="165"/>
                  <a:pt x="78" y="164"/>
                  <a:pt x="78" y="164"/>
                </a:cubicBezTo>
                <a:cubicBezTo>
                  <a:pt x="77" y="163"/>
                  <a:pt x="77" y="162"/>
                  <a:pt x="78" y="160"/>
                </a:cubicBezTo>
                <a:cubicBezTo>
                  <a:pt x="87" y="148"/>
                  <a:pt x="87" y="148"/>
                  <a:pt x="87" y="148"/>
                </a:cubicBezTo>
                <a:cubicBezTo>
                  <a:pt x="87" y="148"/>
                  <a:pt x="88" y="147"/>
                  <a:pt x="89" y="147"/>
                </a:cubicBezTo>
                <a:cubicBezTo>
                  <a:pt x="90" y="147"/>
                  <a:pt x="90" y="147"/>
                  <a:pt x="91" y="148"/>
                </a:cubicBezTo>
                <a:cubicBezTo>
                  <a:pt x="91" y="148"/>
                  <a:pt x="91" y="148"/>
                  <a:pt x="91" y="148"/>
                </a:cubicBezTo>
                <a:cubicBezTo>
                  <a:pt x="98" y="154"/>
                  <a:pt x="105" y="158"/>
                  <a:pt x="112" y="159"/>
                </a:cubicBezTo>
                <a:cubicBezTo>
                  <a:pt x="115" y="160"/>
                  <a:pt x="117" y="160"/>
                  <a:pt x="119" y="160"/>
                </a:cubicBezTo>
                <a:cubicBezTo>
                  <a:pt x="124" y="160"/>
                  <a:pt x="128" y="159"/>
                  <a:pt x="131" y="156"/>
                </a:cubicBezTo>
                <a:cubicBezTo>
                  <a:pt x="135" y="154"/>
                  <a:pt x="137" y="150"/>
                  <a:pt x="137" y="145"/>
                </a:cubicBezTo>
                <a:cubicBezTo>
                  <a:pt x="137" y="144"/>
                  <a:pt x="136" y="142"/>
                  <a:pt x="136" y="140"/>
                </a:cubicBezTo>
                <a:cubicBezTo>
                  <a:pt x="135" y="139"/>
                  <a:pt x="134" y="138"/>
                  <a:pt x="133" y="137"/>
                </a:cubicBezTo>
                <a:cubicBezTo>
                  <a:pt x="132" y="136"/>
                  <a:pt x="130" y="135"/>
                  <a:pt x="127" y="133"/>
                </a:cubicBezTo>
                <a:cubicBezTo>
                  <a:pt x="125" y="132"/>
                  <a:pt x="123" y="131"/>
                  <a:pt x="122" y="130"/>
                </a:cubicBezTo>
                <a:cubicBezTo>
                  <a:pt x="120" y="130"/>
                  <a:pt x="118" y="129"/>
                  <a:pt x="115" y="128"/>
                </a:cubicBezTo>
                <a:cubicBezTo>
                  <a:pt x="112" y="127"/>
                  <a:pt x="110" y="126"/>
                  <a:pt x="109" y="125"/>
                </a:cubicBezTo>
                <a:cubicBezTo>
                  <a:pt x="108" y="125"/>
                  <a:pt x="106" y="124"/>
                  <a:pt x="104" y="123"/>
                </a:cubicBezTo>
                <a:cubicBezTo>
                  <a:pt x="101" y="122"/>
                  <a:pt x="100" y="121"/>
                  <a:pt x="98" y="120"/>
                </a:cubicBezTo>
                <a:cubicBezTo>
                  <a:pt x="97" y="119"/>
                  <a:pt x="95" y="118"/>
                  <a:pt x="93" y="117"/>
                </a:cubicBezTo>
                <a:cubicBezTo>
                  <a:pt x="91" y="116"/>
                  <a:pt x="90" y="114"/>
                  <a:pt x="89" y="113"/>
                </a:cubicBezTo>
                <a:cubicBezTo>
                  <a:pt x="87" y="112"/>
                  <a:pt x="86" y="110"/>
                  <a:pt x="85" y="109"/>
                </a:cubicBezTo>
                <a:cubicBezTo>
                  <a:pt x="83" y="107"/>
                  <a:pt x="82" y="105"/>
                  <a:pt x="82" y="103"/>
                </a:cubicBezTo>
                <a:cubicBezTo>
                  <a:pt x="81" y="102"/>
                  <a:pt x="80" y="100"/>
                  <a:pt x="80" y="97"/>
                </a:cubicBezTo>
                <a:cubicBezTo>
                  <a:pt x="79" y="95"/>
                  <a:pt x="79" y="93"/>
                  <a:pt x="79" y="90"/>
                </a:cubicBezTo>
                <a:cubicBezTo>
                  <a:pt x="79" y="82"/>
                  <a:pt x="82" y="75"/>
                  <a:pt x="88" y="69"/>
                </a:cubicBezTo>
                <a:cubicBezTo>
                  <a:pt x="93" y="62"/>
                  <a:pt x="101" y="58"/>
                  <a:pt x="110" y="57"/>
                </a:cubicBezTo>
                <a:cubicBezTo>
                  <a:pt x="110" y="40"/>
                  <a:pt x="110" y="40"/>
                  <a:pt x="110" y="40"/>
                </a:cubicBezTo>
                <a:cubicBezTo>
                  <a:pt x="110" y="40"/>
                  <a:pt x="110" y="39"/>
                  <a:pt x="111" y="38"/>
                </a:cubicBezTo>
                <a:cubicBezTo>
                  <a:pt x="111" y="38"/>
                  <a:pt x="112" y="37"/>
                  <a:pt x="113" y="3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6" y="37"/>
                  <a:pt x="126" y="38"/>
                  <a:pt x="127" y="38"/>
                </a:cubicBezTo>
                <a:cubicBezTo>
                  <a:pt x="127" y="39"/>
                  <a:pt x="128" y="39"/>
                  <a:pt x="128" y="40"/>
                </a:cubicBezTo>
                <a:cubicBezTo>
                  <a:pt x="128" y="56"/>
                  <a:pt x="128" y="56"/>
                  <a:pt x="128" y="56"/>
                </a:cubicBezTo>
                <a:cubicBezTo>
                  <a:pt x="131" y="57"/>
                  <a:pt x="134" y="57"/>
                  <a:pt x="137" y="58"/>
                </a:cubicBezTo>
                <a:cubicBezTo>
                  <a:pt x="140" y="59"/>
                  <a:pt x="143" y="60"/>
                  <a:pt x="145" y="61"/>
                </a:cubicBezTo>
                <a:cubicBezTo>
                  <a:pt x="147" y="62"/>
                  <a:pt x="149" y="63"/>
                  <a:pt x="151" y="65"/>
                </a:cubicBezTo>
                <a:cubicBezTo>
                  <a:pt x="152" y="66"/>
                  <a:pt x="153" y="67"/>
                  <a:pt x="154" y="67"/>
                </a:cubicBezTo>
                <a:cubicBezTo>
                  <a:pt x="155" y="68"/>
                  <a:pt x="155" y="68"/>
                  <a:pt x="155" y="69"/>
                </a:cubicBezTo>
                <a:cubicBezTo>
                  <a:pt x="156" y="70"/>
                  <a:pt x="156" y="71"/>
                  <a:pt x="156" y="72"/>
                </a:cubicBezTo>
                <a:cubicBezTo>
                  <a:pt x="149" y="85"/>
                  <a:pt x="149" y="85"/>
                  <a:pt x="149" y="85"/>
                </a:cubicBezTo>
                <a:cubicBezTo>
                  <a:pt x="148" y="86"/>
                  <a:pt x="148" y="86"/>
                  <a:pt x="147" y="87"/>
                </a:cubicBezTo>
                <a:cubicBezTo>
                  <a:pt x="146" y="87"/>
                  <a:pt x="145" y="86"/>
                  <a:pt x="144" y="86"/>
                </a:cubicBezTo>
                <a:cubicBezTo>
                  <a:pt x="144" y="86"/>
                  <a:pt x="144" y="85"/>
                  <a:pt x="143" y="85"/>
                </a:cubicBezTo>
                <a:cubicBezTo>
                  <a:pt x="142" y="84"/>
                  <a:pt x="141" y="83"/>
                  <a:pt x="140" y="82"/>
                </a:cubicBezTo>
                <a:cubicBezTo>
                  <a:pt x="138" y="81"/>
                  <a:pt x="136" y="80"/>
                  <a:pt x="134" y="80"/>
                </a:cubicBezTo>
                <a:cubicBezTo>
                  <a:pt x="133" y="79"/>
                  <a:pt x="130" y="78"/>
                  <a:pt x="128" y="77"/>
                </a:cubicBezTo>
                <a:cubicBezTo>
                  <a:pt x="125" y="77"/>
                  <a:pt x="123" y="76"/>
                  <a:pt x="120" y="76"/>
                </a:cubicBezTo>
                <a:cubicBezTo>
                  <a:pt x="115" y="76"/>
                  <a:pt x="110" y="77"/>
                  <a:pt x="107" y="80"/>
                </a:cubicBezTo>
                <a:cubicBezTo>
                  <a:pt x="103" y="83"/>
                  <a:pt x="101" y="86"/>
                  <a:pt x="101" y="90"/>
                </a:cubicBezTo>
                <a:cubicBezTo>
                  <a:pt x="101" y="92"/>
                  <a:pt x="102" y="93"/>
                  <a:pt x="102" y="94"/>
                </a:cubicBezTo>
                <a:cubicBezTo>
                  <a:pt x="103" y="96"/>
                  <a:pt x="103" y="97"/>
                  <a:pt x="105" y="98"/>
                </a:cubicBezTo>
                <a:cubicBezTo>
                  <a:pt x="106" y="99"/>
                  <a:pt x="107" y="100"/>
                  <a:pt x="108" y="101"/>
                </a:cubicBezTo>
                <a:cubicBezTo>
                  <a:pt x="109" y="102"/>
                  <a:pt x="111" y="103"/>
                  <a:pt x="113" y="104"/>
                </a:cubicBezTo>
                <a:cubicBezTo>
                  <a:pt x="115" y="105"/>
                  <a:pt x="117" y="106"/>
                  <a:pt x="118" y="106"/>
                </a:cubicBezTo>
                <a:cubicBezTo>
                  <a:pt x="120" y="107"/>
                  <a:pt x="122" y="108"/>
                  <a:pt x="125" y="109"/>
                </a:cubicBezTo>
                <a:cubicBezTo>
                  <a:pt x="128" y="110"/>
                  <a:pt x="130" y="111"/>
                  <a:pt x="132" y="112"/>
                </a:cubicBezTo>
                <a:cubicBezTo>
                  <a:pt x="133" y="112"/>
                  <a:pt x="136" y="113"/>
                  <a:pt x="138" y="115"/>
                </a:cubicBezTo>
                <a:cubicBezTo>
                  <a:pt x="141" y="116"/>
                  <a:pt x="143" y="117"/>
                  <a:pt x="145" y="119"/>
                </a:cubicBezTo>
                <a:cubicBezTo>
                  <a:pt x="147" y="120"/>
                  <a:pt x="149" y="121"/>
                  <a:pt x="151" y="123"/>
                </a:cubicBezTo>
                <a:cubicBezTo>
                  <a:pt x="153" y="125"/>
                  <a:pt x="154" y="127"/>
                  <a:pt x="155" y="129"/>
                </a:cubicBezTo>
                <a:cubicBezTo>
                  <a:pt x="156" y="131"/>
                  <a:pt x="157" y="133"/>
                  <a:pt x="158" y="136"/>
                </a:cubicBezTo>
                <a:cubicBezTo>
                  <a:pt x="159" y="138"/>
                  <a:pt x="159" y="141"/>
                  <a:pt x="159" y="144"/>
                </a:cubicBezTo>
                <a:cubicBezTo>
                  <a:pt x="159" y="153"/>
                  <a:pt x="156" y="161"/>
                  <a:pt x="150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Freeform: Shape 13"/>
          <p:cNvSpPr/>
          <p:nvPr/>
        </p:nvSpPr>
        <p:spPr bwMode="auto">
          <a:xfrm>
            <a:off x="884850" y="2395239"/>
            <a:ext cx="408116" cy="408116"/>
          </a:xfrm>
          <a:custGeom>
            <a:avLst/>
            <a:gdLst>
              <a:gd name="T0" fmla="*/ 182 w 236"/>
              <a:gd name="T1" fmla="*/ 109 h 236"/>
              <a:gd name="T2" fmla="*/ 157 w 236"/>
              <a:gd name="T3" fmla="*/ 103 h 236"/>
              <a:gd name="T4" fmla="*/ 134 w 236"/>
              <a:gd name="T5" fmla="*/ 102 h 236"/>
              <a:gd name="T6" fmla="*/ 120 w 236"/>
              <a:gd name="T7" fmla="*/ 114 h 236"/>
              <a:gd name="T8" fmla="*/ 118 w 236"/>
              <a:gd name="T9" fmla="*/ 129 h 236"/>
              <a:gd name="T10" fmla="*/ 122 w 236"/>
              <a:gd name="T11" fmla="*/ 141 h 236"/>
              <a:gd name="T12" fmla="*/ 135 w 236"/>
              <a:gd name="T13" fmla="*/ 156 h 236"/>
              <a:gd name="T14" fmla="*/ 139 w 236"/>
              <a:gd name="T15" fmla="*/ 185 h 236"/>
              <a:gd name="T16" fmla="*/ 152 w 236"/>
              <a:gd name="T17" fmla="*/ 198 h 236"/>
              <a:gd name="T18" fmla="*/ 169 w 236"/>
              <a:gd name="T19" fmla="*/ 180 h 236"/>
              <a:gd name="T20" fmla="*/ 187 w 236"/>
              <a:gd name="T21" fmla="*/ 150 h 236"/>
              <a:gd name="T22" fmla="*/ 200 w 236"/>
              <a:gd name="T23" fmla="*/ 122 h 236"/>
              <a:gd name="T24" fmla="*/ 182 w 236"/>
              <a:gd name="T25" fmla="*/ 109 h 236"/>
              <a:gd name="T26" fmla="*/ 118 w 236"/>
              <a:gd name="T27" fmla="*/ 0 h 236"/>
              <a:gd name="T28" fmla="*/ 0 w 236"/>
              <a:gd name="T29" fmla="*/ 118 h 236"/>
              <a:gd name="T30" fmla="*/ 118 w 236"/>
              <a:gd name="T31" fmla="*/ 236 h 236"/>
              <a:gd name="T32" fmla="*/ 236 w 236"/>
              <a:gd name="T33" fmla="*/ 118 h 236"/>
              <a:gd name="T34" fmla="*/ 118 w 236"/>
              <a:gd name="T35" fmla="*/ 0 h 236"/>
              <a:gd name="T36" fmla="*/ 126 w 236"/>
              <a:gd name="T37" fmla="*/ 212 h 236"/>
              <a:gd name="T38" fmla="*/ 128 w 236"/>
              <a:gd name="T39" fmla="*/ 208 h 236"/>
              <a:gd name="T40" fmla="*/ 125 w 236"/>
              <a:gd name="T41" fmla="*/ 186 h 236"/>
              <a:gd name="T42" fmla="*/ 105 w 236"/>
              <a:gd name="T43" fmla="*/ 186 h 236"/>
              <a:gd name="T44" fmla="*/ 98 w 236"/>
              <a:gd name="T45" fmla="*/ 207 h 236"/>
              <a:gd name="T46" fmla="*/ 102 w 236"/>
              <a:gd name="T47" fmla="*/ 211 h 236"/>
              <a:gd name="T48" fmla="*/ 34 w 236"/>
              <a:gd name="T49" fmla="*/ 161 h 236"/>
              <a:gd name="T50" fmla="*/ 44 w 236"/>
              <a:gd name="T51" fmla="*/ 157 h 236"/>
              <a:gd name="T52" fmla="*/ 44 w 236"/>
              <a:gd name="T53" fmla="*/ 157 h 236"/>
              <a:gd name="T54" fmla="*/ 81 w 236"/>
              <a:gd name="T55" fmla="*/ 142 h 236"/>
              <a:gd name="T56" fmla="*/ 81 w 236"/>
              <a:gd name="T57" fmla="*/ 118 h 236"/>
              <a:gd name="T58" fmla="*/ 55 w 236"/>
              <a:gd name="T59" fmla="*/ 94 h 236"/>
              <a:gd name="T60" fmla="*/ 28 w 236"/>
              <a:gd name="T61" fmla="*/ 90 h 236"/>
              <a:gd name="T62" fmla="*/ 84 w 236"/>
              <a:gd name="T63" fmla="*/ 30 h 236"/>
              <a:gd name="T64" fmla="*/ 84 w 236"/>
              <a:gd name="T65" fmla="*/ 31 h 236"/>
              <a:gd name="T66" fmla="*/ 102 w 236"/>
              <a:gd name="T67" fmla="*/ 56 h 236"/>
              <a:gd name="T68" fmla="*/ 120 w 236"/>
              <a:gd name="T69" fmla="*/ 79 h 236"/>
              <a:gd name="T70" fmla="*/ 131 w 236"/>
              <a:gd name="T71" fmla="*/ 97 h 236"/>
              <a:gd name="T72" fmla="*/ 146 w 236"/>
              <a:gd name="T73" fmla="*/ 88 h 236"/>
              <a:gd name="T74" fmla="*/ 177 w 236"/>
              <a:gd name="T75" fmla="*/ 66 h 236"/>
              <a:gd name="T76" fmla="*/ 190 w 236"/>
              <a:gd name="T77" fmla="*/ 57 h 236"/>
              <a:gd name="T78" fmla="*/ 212 w 236"/>
              <a:gd name="T79" fmla="*/ 118 h 236"/>
              <a:gd name="T80" fmla="*/ 126 w 236"/>
              <a:gd name="T81" fmla="*/ 21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36" h="236">
                <a:moveTo>
                  <a:pt x="182" y="109"/>
                </a:moveTo>
                <a:cubicBezTo>
                  <a:pt x="172" y="107"/>
                  <a:pt x="161" y="105"/>
                  <a:pt x="157" y="103"/>
                </a:cubicBezTo>
                <a:cubicBezTo>
                  <a:pt x="153" y="102"/>
                  <a:pt x="143" y="101"/>
                  <a:pt x="134" y="102"/>
                </a:cubicBezTo>
                <a:cubicBezTo>
                  <a:pt x="125" y="103"/>
                  <a:pt x="119" y="109"/>
                  <a:pt x="120" y="114"/>
                </a:cubicBezTo>
                <a:cubicBezTo>
                  <a:pt x="121" y="119"/>
                  <a:pt x="120" y="126"/>
                  <a:pt x="118" y="129"/>
                </a:cubicBezTo>
                <a:cubicBezTo>
                  <a:pt x="117" y="132"/>
                  <a:pt x="118" y="138"/>
                  <a:pt x="122" y="141"/>
                </a:cubicBezTo>
                <a:cubicBezTo>
                  <a:pt x="127" y="144"/>
                  <a:pt x="132" y="151"/>
                  <a:pt x="135" y="156"/>
                </a:cubicBezTo>
                <a:cubicBezTo>
                  <a:pt x="138" y="162"/>
                  <a:pt x="140" y="175"/>
                  <a:pt x="139" y="185"/>
                </a:cubicBezTo>
                <a:cubicBezTo>
                  <a:pt x="139" y="195"/>
                  <a:pt x="145" y="201"/>
                  <a:pt x="152" y="198"/>
                </a:cubicBezTo>
                <a:cubicBezTo>
                  <a:pt x="160" y="195"/>
                  <a:pt x="167" y="187"/>
                  <a:pt x="169" y="180"/>
                </a:cubicBezTo>
                <a:cubicBezTo>
                  <a:pt x="171" y="174"/>
                  <a:pt x="179" y="160"/>
                  <a:pt x="187" y="150"/>
                </a:cubicBezTo>
                <a:cubicBezTo>
                  <a:pt x="195" y="140"/>
                  <a:pt x="201" y="127"/>
                  <a:pt x="200" y="122"/>
                </a:cubicBezTo>
                <a:cubicBezTo>
                  <a:pt x="200" y="116"/>
                  <a:pt x="191" y="111"/>
                  <a:pt x="182" y="109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6" y="212"/>
                </a:moveTo>
                <a:cubicBezTo>
                  <a:pt x="127" y="211"/>
                  <a:pt x="128" y="209"/>
                  <a:pt x="128" y="208"/>
                </a:cubicBezTo>
                <a:cubicBezTo>
                  <a:pt x="130" y="201"/>
                  <a:pt x="128" y="191"/>
                  <a:pt x="125" y="186"/>
                </a:cubicBezTo>
                <a:cubicBezTo>
                  <a:pt x="121" y="181"/>
                  <a:pt x="112" y="181"/>
                  <a:pt x="105" y="186"/>
                </a:cubicBezTo>
                <a:cubicBezTo>
                  <a:pt x="97" y="191"/>
                  <a:pt x="94" y="200"/>
                  <a:pt x="98" y="207"/>
                </a:cubicBezTo>
                <a:cubicBezTo>
                  <a:pt x="99" y="208"/>
                  <a:pt x="100" y="210"/>
                  <a:pt x="102" y="211"/>
                </a:cubicBezTo>
                <a:cubicBezTo>
                  <a:pt x="72" y="206"/>
                  <a:pt x="47" y="187"/>
                  <a:pt x="34" y="161"/>
                </a:cubicBezTo>
                <a:cubicBezTo>
                  <a:pt x="37" y="161"/>
                  <a:pt x="40" y="159"/>
                  <a:pt x="44" y="157"/>
                </a:cubicBezTo>
                <a:cubicBezTo>
                  <a:pt x="44" y="157"/>
                  <a:pt x="44" y="157"/>
                  <a:pt x="44" y="157"/>
                </a:cubicBezTo>
                <a:cubicBezTo>
                  <a:pt x="57" y="148"/>
                  <a:pt x="74" y="141"/>
                  <a:pt x="81" y="142"/>
                </a:cubicBezTo>
                <a:cubicBezTo>
                  <a:pt x="89" y="142"/>
                  <a:pt x="89" y="131"/>
                  <a:pt x="81" y="118"/>
                </a:cubicBezTo>
                <a:cubicBezTo>
                  <a:pt x="74" y="105"/>
                  <a:pt x="62" y="94"/>
                  <a:pt x="55" y="94"/>
                </a:cubicBezTo>
                <a:cubicBezTo>
                  <a:pt x="48" y="94"/>
                  <a:pt x="36" y="92"/>
                  <a:pt x="28" y="90"/>
                </a:cubicBezTo>
                <a:cubicBezTo>
                  <a:pt x="37" y="62"/>
                  <a:pt x="58" y="41"/>
                  <a:pt x="84" y="30"/>
                </a:cubicBezTo>
                <a:cubicBezTo>
                  <a:pt x="84" y="31"/>
                  <a:pt x="84" y="31"/>
                  <a:pt x="84" y="31"/>
                </a:cubicBezTo>
                <a:cubicBezTo>
                  <a:pt x="86" y="39"/>
                  <a:pt x="95" y="50"/>
                  <a:pt x="102" y="56"/>
                </a:cubicBezTo>
                <a:cubicBezTo>
                  <a:pt x="110" y="62"/>
                  <a:pt x="118" y="72"/>
                  <a:pt x="120" y="79"/>
                </a:cubicBezTo>
                <a:cubicBezTo>
                  <a:pt x="122" y="85"/>
                  <a:pt x="127" y="93"/>
                  <a:pt x="131" y="97"/>
                </a:cubicBezTo>
                <a:cubicBezTo>
                  <a:pt x="136" y="100"/>
                  <a:pt x="142" y="96"/>
                  <a:pt x="146" y="88"/>
                </a:cubicBezTo>
                <a:cubicBezTo>
                  <a:pt x="150" y="80"/>
                  <a:pt x="164" y="70"/>
                  <a:pt x="177" y="66"/>
                </a:cubicBezTo>
                <a:cubicBezTo>
                  <a:pt x="183" y="64"/>
                  <a:pt x="187" y="61"/>
                  <a:pt x="190" y="57"/>
                </a:cubicBezTo>
                <a:cubicBezTo>
                  <a:pt x="204" y="74"/>
                  <a:pt x="212" y="95"/>
                  <a:pt x="212" y="118"/>
                </a:cubicBezTo>
                <a:cubicBezTo>
                  <a:pt x="212" y="168"/>
                  <a:pt x="174" y="208"/>
                  <a:pt x="126" y="2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474090" y="4489462"/>
            <a:ext cx="1443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Arial" panose="020B0604020202020204" pitchFamily="34" charset="0"/>
                <a:cs typeface="+mn-ea"/>
              </a:rPr>
              <a:t>核心价值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74091" y="2609795"/>
            <a:ext cx="53638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蓝桥校园是深度融合智慧校园生态的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AI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恋爱社交平台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聚焦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18-25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岁在校学生群体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通过隐私保护的智能匹配技术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提供安全、精准的交友服务。</a:t>
            </a:r>
            <a:endParaRPr lang="en-US" altLang="zh-CN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28192" y="4856492"/>
            <a:ext cx="5363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解决校园社交中匹配度低、隐私泄露、社区环境不友好等痛点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构建校园专属的恋爱社交闭环。</a:t>
            </a:r>
            <a:endParaRPr lang="zh-CN" altLang="en-US" dirty="0"/>
          </a:p>
        </p:txBody>
      </p:sp>
      <p:sp>
        <p:nvSpPr>
          <p:cNvPr id="35" name="标题 12"/>
          <p:cNvSpPr>
            <a:spLocks noGrp="1"/>
          </p:cNvSpPr>
          <p:nvPr>
            <p:ph type="title"/>
          </p:nvPr>
        </p:nvSpPr>
        <p:spPr>
          <a:xfrm>
            <a:off x="750888" y="441325"/>
            <a:ext cx="10515600" cy="365125"/>
          </a:xfrm>
        </p:spPr>
        <p:txBody>
          <a:bodyPr>
            <a:noAutofit/>
          </a:bodyPr>
          <a:lstStyle/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项目总论</a:t>
            </a:r>
          </a:p>
        </p:txBody>
      </p:sp>
      <p:sp>
        <p:nvSpPr>
          <p:cNvPr id="36" name="标题 1"/>
          <p:cNvSpPr>
            <a:spLocks noGrp="1"/>
          </p:cNvSpPr>
          <p:nvPr/>
        </p:nvSpPr>
        <p:spPr>
          <a:xfrm>
            <a:off x="749618" y="945897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>
              <a:buNone/>
            </a:pPr>
            <a:r>
              <a:rPr lang="zh-CN" altLang="en-US" b="0" dirty="0"/>
              <a:t>蓝桥校园</a:t>
            </a:r>
            <a:r>
              <a:rPr lang="en-US" altLang="zh-CN" b="0" dirty="0"/>
              <a:t>——</a:t>
            </a:r>
            <a:r>
              <a:rPr lang="zh-CN" altLang="en-US" b="0" dirty="0"/>
              <a:t>深度融合智慧校园生态的</a:t>
            </a:r>
            <a:r>
              <a:rPr lang="en-US" altLang="zh-CN" b="0" dirty="0"/>
              <a:t>AI</a:t>
            </a:r>
            <a:r>
              <a:rPr lang="zh-CN" altLang="en-US" b="0" dirty="0"/>
              <a:t>恋爱社交平台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474089" y="2233861"/>
            <a:ext cx="14433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Arial" panose="020B0604020202020204" pitchFamily="34" charset="0"/>
                <a:cs typeface="+mn-ea"/>
              </a:rPr>
              <a:t>项目定位</a:t>
            </a:r>
            <a:endParaRPr lang="en-US" altLang="zh-CN" dirty="0">
              <a:latin typeface="Arial" panose="020B0604020202020204" pitchFamily="34" charset="0"/>
              <a:cs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602312"/>
            <a:ext cx="4114800" cy="39005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20" name="Freeform: Shape 12"/>
          <p:cNvSpPr/>
          <p:nvPr/>
        </p:nvSpPr>
        <p:spPr bwMode="auto">
          <a:xfrm>
            <a:off x="884847" y="5075644"/>
            <a:ext cx="408116" cy="408116"/>
          </a:xfrm>
          <a:custGeom>
            <a:avLst/>
            <a:gdLst>
              <a:gd name="T0" fmla="*/ 0 w 236"/>
              <a:gd name="T1" fmla="*/ 118 h 236"/>
              <a:gd name="T2" fmla="*/ 236 w 236"/>
              <a:gd name="T3" fmla="*/ 118 h 236"/>
              <a:gd name="T4" fmla="*/ 150 w 236"/>
              <a:gd name="T5" fmla="*/ 168 h 236"/>
              <a:gd name="T6" fmla="*/ 128 w 236"/>
              <a:gd name="T7" fmla="*/ 196 h 236"/>
              <a:gd name="T8" fmla="*/ 125 w 236"/>
              <a:gd name="T9" fmla="*/ 199 h 236"/>
              <a:gd name="T10" fmla="*/ 111 w 236"/>
              <a:gd name="T11" fmla="*/ 198 h 236"/>
              <a:gd name="T12" fmla="*/ 110 w 236"/>
              <a:gd name="T13" fmla="*/ 180 h 236"/>
              <a:gd name="T14" fmla="*/ 90 w 236"/>
              <a:gd name="T15" fmla="*/ 173 h 236"/>
              <a:gd name="T16" fmla="*/ 79 w 236"/>
              <a:gd name="T17" fmla="*/ 166 h 236"/>
              <a:gd name="T18" fmla="*/ 78 w 236"/>
              <a:gd name="T19" fmla="*/ 160 h 236"/>
              <a:gd name="T20" fmla="*/ 89 w 236"/>
              <a:gd name="T21" fmla="*/ 147 h 236"/>
              <a:gd name="T22" fmla="*/ 91 w 236"/>
              <a:gd name="T23" fmla="*/ 148 h 236"/>
              <a:gd name="T24" fmla="*/ 119 w 236"/>
              <a:gd name="T25" fmla="*/ 160 h 236"/>
              <a:gd name="T26" fmla="*/ 137 w 236"/>
              <a:gd name="T27" fmla="*/ 145 h 236"/>
              <a:gd name="T28" fmla="*/ 133 w 236"/>
              <a:gd name="T29" fmla="*/ 137 h 236"/>
              <a:gd name="T30" fmla="*/ 122 w 236"/>
              <a:gd name="T31" fmla="*/ 130 h 236"/>
              <a:gd name="T32" fmla="*/ 109 w 236"/>
              <a:gd name="T33" fmla="*/ 125 h 236"/>
              <a:gd name="T34" fmla="*/ 98 w 236"/>
              <a:gd name="T35" fmla="*/ 120 h 236"/>
              <a:gd name="T36" fmla="*/ 89 w 236"/>
              <a:gd name="T37" fmla="*/ 113 h 236"/>
              <a:gd name="T38" fmla="*/ 82 w 236"/>
              <a:gd name="T39" fmla="*/ 103 h 236"/>
              <a:gd name="T40" fmla="*/ 79 w 236"/>
              <a:gd name="T41" fmla="*/ 90 h 236"/>
              <a:gd name="T42" fmla="*/ 110 w 236"/>
              <a:gd name="T43" fmla="*/ 57 h 236"/>
              <a:gd name="T44" fmla="*/ 111 w 236"/>
              <a:gd name="T45" fmla="*/ 38 h 236"/>
              <a:gd name="T46" fmla="*/ 125 w 236"/>
              <a:gd name="T47" fmla="*/ 37 h 236"/>
              <a:gd name="T48" fmla="*/ 128 w 236"/>
              <a:gd name="T49" fmla="*/ 40 h 236"/>
              <a:gd name="T50" fmla="*/ 137 w 236"/>
              <a:gd name="T51" fmla="*/ 58 h 236"/>
              <a:gd name="T52" fmla="*/ 151 w 236"/>
              <a:gd name="T53" fmla="*/ 65 h 236"/>
              <a:gd name="T54" fmla="*/ 155 w 236"/>
              <a:gd name="T55" fmla="*/ 69 h 236"/>
              <a:gd name="T56" fmla="*/ 149 w 236"/>
              <a:gd name="T57" fmla="*/ 85 h 236"/>
              <a:gd name="T58" fmla="*/ 144 w 236"/>
              <a:gd name="T59" fmla="*/ 86 h 236"/>
              <a:gd name="T60" fmla="*/ 140 w 236"/>
              <a:gd name="T61" fmla="*/ 82 h 236"/>
              <a:gd name="T62" fmla="*/ 128 w 236"/>
              <a:gd name="T63" fmla="*/ 77 h 236"/>
              <a:gd name="T64" fmla="*/ 107 w 236"/>
              <a:gd name="T65" fmla="*/ 80 h 236"/>
              <a:gd name="T66" fmla="*/ 102 w 236"/>
              <a:gd name="T67" fmla="*/ 94 h 236"/>
              <a:gd name="T68" fmla="*/ 108 w 236"/>
              <a:gd name="T69" fmla="*/ 101 h 236"/>
              <a:gd name="T70" fmla="*/ 118 w 236"/>
              <a:gd name="T71" fmla="*/ 106 h 236"/>
              <a:gd name="T72" fmla="*/ 132 w 236"/>
              <a:gd name="T73" fmla="*/ 112 h 236"/>
              <a:gd name="T74" fmla="*/ 145 w 236"/>
              <a:gd name="T75" fmla="*/ 119 h 236"/>
              <a:gd name="T76" fmla="*/ 155 w 236"/>
              <a:gd name="T77" fmla="*/ 129 h 236"/>
              <a:gd name="T78" fmla="*/ 159 w 236"/>
              <a:gd name="T79" fmla="*/ 14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moveTo>
                  <a:pt x="150" y="168"/>
                </a:moveTo>
                <a:cubicBezTo>
                  <a:pt x="145" y="175"/>
                  <a:pt x="137" y="179"/>
                  <a:pt x="128" y="180"/>
                </a:cubicBezTo>
                <a:cubicBezTo>
                  <a:pt x="128" y="196"/>
                  <a:pt x="128" y="196"/>
                  <a:pt x="128" y="196"/>
                </a:cubicBezTo>
                <a:cubicBezTo>
                  <a:pt x="128" y="197"/>
                  <a:pt x="127" y="198"/>
                  <a:pt x="127" y="198"/>
                </a:cubicBezTo>
                <a:cubicBezTo>
                  <a:pt x="126" y="199"/>
                  <a:pt x="126" y="199"/>
                  <a:pt x="125" y="199"/>
                </a:cubicBezTo>
                <a:cubicBezTo>
                  <a:pt x="113" y="199"/>
                  <a:pt x="113" y="199"/>
                  <a:pt x="113" y="199"/>
                </a:cubicBezTo>
                <a:cubicBezTo>
                  <a:pt x="112" y="199"/>
                  <a:pt x="111" y="199"/>
                  <a:pt x="111" y="198"/>
                </a:cubicBezTo>
                <a:cubicBezTo>
                  <a:pt x="110" y="197"/>
                  <a:pt x="110" y="197"/>
                  <a:pt x="110" y="196"/>
                </a:cubicBezTo>
                <a:cubicBezTo>
                  <a:pt x="110" y="180"/>
                  <a:pt x="110" y="180"/>
                  <a:pt x="110" y="180"/>
                </a:cubicBezTo>
                <a:cubicBezTo>
                  <a:pt x="106" y="180"/>
                  <a:pt x="102" y="179"/>
                  <a:pt x="99" y="177"/>
                </a:cubicBezTo>
                <a:cubicBezTo>
                  <a:pt x="95" y="176"/>
                  <a:pt x="92" y="175"/>
                  <a:pt x="90" y="173"/>
                </a:cubicBezTo>
                <a:cubicBezTo>
                  <a:pt x="88" y="172"/>
                  <a:pt x="85" y="171"/>
                  <a:pt x="83" y="169"/>
                </a:cubicBezTo>
                <a:cubicBezTo>
                  <a:pt x="81" y="168"/>
                  <a:pt x="80" y="166"/>
                  <a:pt x="79" y="166"/>
                </a:cubicBezTo>
                <a:cubicBezTo>
                  <a:pt x="79" y="165"/>
                  <a:pt x="78" y="164"/>
                  <a:pt x="78" y="164"/>
                </a:cubicBezTo>
                <a:cubicBezTo>
                  <a:pt x="77" y="163"/>
                  <a:pt x="77" y="162"/>
                  <a:pt x="78" y="160"/>
                </a:cubicBezTo>
                <a:cubicBezTo>
                  <a:pt x="87" y="148"/>
                  <a:pt x="87" y="148"/>
                  <a:pt x="87" y="148"/>
                </a:cubicBezTo>
                <a:cubicBezTo>
                  <a:pt x="87" y="148"/>
                  <a:pt x="88" y="147"/>
                  <a:pt x="89" y="147"/>
                </a:cubicBezTo>
                <a:cubicBezTo>
                  <a:pt x="90" y="147"/>
                  <a:pt x="90" y="147"/>
                  <a:pt x="91" y="148"/>
                </a:cubicBezTo>
                <a:cubicBezTo>
                  <a:pt x="91" y="148"/>
                  <a:pt x="91" y="148"/>
                  <a:pt x="91" y="148"/>
                </a:cubicBezTo>
                <a:cubicBezTo>
                  <a:pt x="98" y="154"/>
                  <a:pt x="105" y="158"/>
                  <a:pt x="112" y="159"/>
                </a:cubicBezTo>
                <a:cubicBezTo>
                  <a:pt x="115" y="160"/>
                  <a:pt x="117" y="160"/>
                  <a:pt x="119" y="160"/>
                </a:cubicBezTo>
                <a:cubicBezTo>
                  <a:pt x="124" y="160"/>
                  <a:pt x="128" y="159"/>
                  <a:pt x="131" y="156"/>
                </a:cubicBezTo>
                <a:cubicBezTo>
                  <a:pt x="135" y="154"/>
                  <a:pt x="137" y="150"/>
                  <a:pt x="137" y="145"/>
                </a:cubicBezTo>
                <a:cubicBezTo>
                  <a:pt x="137" y="144"/>
                  <a:pt x="136" y="142"/>
                  <a:pt x="136" y="140"/>
                </a:cubicBezTo>
                <a:cubicBezTo>
                  <a:pt x="135" y="139"/>
                  <a:pt x="134" y="138"/>
                  <a:pt x="133" y="137"/>
                </a:cubicBezTo>
                <a:cubicBezTo>
                  <a:pt x="132" y="136"/>
                  <a:pt x="130" y="135"/>
                  <a:pt x="127" y="133"/>
                </a:cubicBezTo>
                <a:cubicBezTo>
                  <a:pt x="125" y="132"/>
                  <a:pt x="123" y="131"/>
                  <a:pt x="122" y="130"/>
                </a:cubicBezTo>
                <a:cubicBezTo>
                  <a:pt x="120" y="130"/>
                  <a:pt x="118" y="129"/>
                  <a:pt x="115" y="128"/>
                </a:cubicBezTo>
                <a:cubicBezTo>
                  <a:pt x="112" y="127"/>
                  <a:pt x="110" y="126"/>
                  <a:pt x="109" y="125"/>
                </a:cubicBezTo>
                <a:cubicBezTo>
                  <a:pt x="108" y="125"/>
                  <a:pt x="106" y="124"/>
                  <a:pt x="104" y="123"/>
                </a:cubicBezTo>
                <a:cubicBezTo>
                  <a:pt x="101" y="122"/>
                  <a:pt x="100" y="121"/>
                  <a:pt x="98" y="120"/>
                </a:cubicBezTo>
                <a:cubicBezTo>
                  <a:pt x="97" y="119"/>
                  <a:pt x="95" y="118"/>
                  <a:pt x="93" y="117"/>
                </a:cubicBezTo>
                <a:cubicBezTo>
                  <a:pt x="91" y="116"/>
                  <a:pt x="90" y="114"/>
                  <a:pt x="89" y="113"/>
                </a:cubicBezTo>
                <a:cubicBezTo>
                  <a:pt x="87" y="112"/>
                  <a:pt x="86" y="110"/>
                  <a:pt x="85" y="109"/>
                </a:cubicBezTo>
                <a:cubicBezTo>
                  <a:pt x="83" y="107"/>
                  <a:pt x="82" y="105"/>
                  <a:pt x="82" y="103"/>
                </a:cubicBezTo>
                <a:cubicBezTo>
                  <a:pt x="81" y="102"/>
                  <a:pt x="80" y="100"/>
                  <a:pt x="80" y="97"/>
                </a:cubicBezTo>
                <a:cubicBezTo>
                  <a:pt x="79" y="95"/>
                  <a:pt x="79" y="93"/>
                  <a:pt x="79" y="90"/>
                </a:cubicBezTo>
                <a:cubicBezTo>
                  <a:pt x="79" y="82"/>
                  <a:pt x="82" y="75"/>
                  <a:pt x="88" y="69"/>
                </a:cubicBezTo>
                <a:cubicBezTo>
                  <a:pt x="93" y="62"/>
                  <a:pt x="101" y="58"/>
                  <a:pt x="110" y="57"/>
                </a:cubicBezTo>
                <a:cubicBezTo>
                  <a:pt x="110" y="40"/>
                  <a:pt x="110" y="40"/>
                  <a:pt x="110" y="40"/>
                </a:cubicBezTo>
                <a:cubicBezTo>
                  <a:pt x="110" y="40"/>
                  <a:pt x="110" y="39"/>
                  <a:pt x="111" y="38"/>
                </a:cubicBezTo>
                <a:cubicBezTo>
                  <a:pt x="111" y="38"/>
                  <a:pt x="112" y="37"/>
                  <a:pt x="113" y="3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6" y="37"/>
                  <a:pt x="126" y="38"/>
                  <a:pt x="127" y="38"/>
                </a:cubicBezTo>
                <a:cubicBezTo>
                  <a:pt x="127" y="39"/>
                  <a:pt x="128" y="39"/>
                  <a:pt x="128" y="40"/>
                </a:cubicBezTo>
                <a:cubicBezTo>
                  <a:pt x="128" y="56"/>
                  <a:pt x="128" y="56"/>
                  <a:pt x="128" y="56"/>
                </a:cubicBezTo>
                <a:cubicBezTo>
                  <a:pt x="131" y="57"/>
                  <a:pt x="134" y="57"/>
                  <a:pt x="137" y="58"/>
                </a:cubicBezTo>
                <a:cubicBezTo>
                  <a:pt x="140" y="59"/>
                  <a:pt x="143" y="60"/>
                  <a:pt x="145" y="61"/>
                </a:cubicBezTo>
                <a:cubicBezTo>
                  <a:pt x="147" y="62"/>
                  <a:pt x="149" y="63"/>
                  <a:pt x="151" y="65"/>
                </a:cubicBezTo>
                <a:cubicBezTo>
                  <a:pt x="152" y="66"/>
                  <a:pt x="153" y="67"/>
                  <a:pt x="154" y="67"/>
                </a:cubicBezTo>
                <a:cubicBezTo>
                  <a:pt x="155" y="68"/>
                  <a:pt x="155" y="68"/>
                  <a:pt x="155" y="69"/>
                </a:cubicBezTo>
                <a:cubicBezTo>
                  <a:pt x="156" y="70"/>
                  <a:pt x="156" y="71"/>
                  <a:pt x="156" y="72"/>
                </a:cubicBezTo>
                <a:cubicBezTo>
                  <a:pt x="149" y="85"/>
                  <a:pt x="149" y="85"/>
                  <a:pt x="149" y="85"/>
                </a:cubicBezTo>
                <a:cubicBezTo>
                  <a:pt x="148" y="86"/>
                  <a:pt x="148" y="86"/>
                  <a:pt x="147" y="87"/>
                </a:cubicBezTo>
                <a:cubicBezTo>
                  <a:pt x="146" y="87"/>
                  <a:pt x="145" y="86"/>
                  <a:pt x="144" y="86"/>
                </a:cubicBezTo>
                <a:cubicBezTo>
                  <a:pt x="144" y="86"/>
                  <a:pt x="144" y="85"/>
                  <a:pt x="143" y="85"/>
                </a:cubicBezTo>
                <a:cubicBezTo>
                  <a:pt x="142" y="84"/>
                  <a:pt x="141" y="83"/>
                  <a:pt x="140" y="82"/>
                </a:cubicBezTo>
                <a:cubicBezTo>
                  <a:pt x="138" y="81"/>
                  <a:pt x="136" y="80"/>
                  <a:pt x="134" y="80"/>
                </a:cubicBezTo>
                <a:cubicBezTo>
                  <a:pt x="133" y="79"/>
                  <a:pt x="130" y="78"/>
                  <a:pt x="128" y="77"/>
                </a:cubicBezTo>
                <a:cubicBezTo>
                  <a:pt x="125" y="77"/>
                  <a:pt x="123" y="76"/>
                  <a:pt x="120" y="76"/>
                </a:cubicBezTo>
                <a:cubicBezTo>
                  <a:pt x="115" y="76"/>
                  <a:pt x="110" y="77"/>
                  <a:pt x="107" y="80"/>
                </a:cubicBezTo>
                <a:cubicBezTo>
                  <a:pt x="103" y="83"/>
                  <a:pt x="101" y="86"/>
                  <a:pt x="101" y="90"/>
                </a:cubicBezTo>
                <a:cubicBezTo>
                  <a:pt x="101" y="92"/>
                  <a:pt x="102" y="93"/>
                  <a:pt x="102" y="94"/>
                </a:cubicBezTo>
                <a:cubicBezTo>
                  <a:pt x="103" y="96"/>
                  <a:pt x="103" y="97"/>
                  <a:pt x="105" y="98"/>
                </a:cubicBezTo>
                <a:cubicBezTo>
                  <a:pt x="106" y="99"/>
                  <a:pt x="107" y="100"/>
                  <a:pt x="108" y="101"/>
                </a:cubicBezTo>
                <a:cubicBezTo>
                  <a:pt x="109" y="102"/>
                  <a:pt x="111" y="103"/>
                  <a:pt x="113" y="104"/>
                </a:cubicBezTo>
                <a:cubicBezTo>
                  <a:pt x="115" y="105"/>
                  <a:pt x="117" y="106"/>
                  <a:pt x="118" y="106"/>
                </a:cubicBezTo>
                <a:cubicBezTo>
                  <a:pt x="120" y="107"/>
                  <a:pt x="122" y="108"/>
                  <a:pt x="125" y="109"/>
                </a:cubicBezTo>
                <a:cubicBezTo>
                  <a:pt x="128" y="110"/>
                  <a:pt x="130" y="111"/>
                  <a:pt x="132" y="112"/>
                </a:cubicBezTo>
                <a:cubicBezTo>
                  <a:pt x="133" y="112"/>
                  <a:pt x="136" y="113"/>
                  <a:pt x="138" y="115"/>
                </a:cubicBezTo>
                <a:cubicBezTo>
                  <a:pt x="141" y="116"/>
                  <a:pt x="143" y="117"/>
                  <a:pt x="145" y="119"/>
                </a:cubicBezTo>
                <a:cubicBezTo>
                  <a:pt x="147" y="120"/>
                  <a:pt x="149" y="121"/>
                  <a:pt x="151" y="123"/>
                </a:cubicBezTo>
                <a:cubicBezTo>
                  <a:pt x="153" y="125"/>
                  <a:pt x="154" y="127"/>
                  <a:pt x="155" y="129"/>
                </a:cubicBezTo>
                <a:cubicBezTo>
                  <a:pt x="156" y="131"/>
                  <a:pt x="157" y="133"/>
                  <a:pt x="158" y="136"/>
                </a:cubicBezTo>
                <a:cubicBezTo>
                  <a:pt x="159" y="138"/>
                  <a:pt x="159" y="141"/>
                  <a:pt x="159" y="144"/>
                </a:cubicBezTo>
                <a:cubicBezTo>
                  <a:pt x="159" y="153"/>
                  <a:pt x="156" y="161"/>
                  <a:pt x="150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5" name="标题 12"/>
          <p:cNvSpPr>
            <a:spLocks noGrp="1"/>
          </p:cNvSpPr>
          <p:nvPr>
            <p:ph type="title"/>
          </p:nvPr>
        </p:nvSpPr>
        <p:spPr>
          <a:xfrm>
            <a:off x="750888" y="441325"/>
            <a:ext cx="10515600" cy="365125"/>
          </a:xfrm>
        </p:spPr>
        <p:txBody>
          <a:bodyPr>
            <a:noAutofit/>
          </a:bodyPr>
          <a:lstStyle/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项目总论</a:t>
            </a:r>
          </a:p>
        </p:txBody>
      </p:sp>
      <p:sp>
        <p:nvSpPr>
          <p:cNvPr id="36" name="标题 1"/>
          <p:cNvSpPr>
            <a:spLocks noGrp="1"/>
          </p:cNvSpPr>
          <p:nvPr/>
        </p:nvSpPr>
        <p:spPr>
          <a:xfrm>
            <a:off x="749618" y="945897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>
              <a:buNone/>
            </a:pPr>
            <a:r>
              <a:rPr lang="zh-CN" altLang="en-US" b="0" dirty="0"/>
              <a:t>蓝桥校园</a:t>
            </a:r>
            <a:r>
              <a:rPr lang="en-US" altLang="zh-CN" b="0" dirty="0"/>
              <a:t>——</a:t>
            </a:r>
            <a:r>
              <a:rPr lang="zh-CN" altLang="en-US" b="0" dirty="0"/>
              <a:t>深度融合智慧校园生态的</a:t>
            </a:r>
            <a:r>
              <a:rPr lang="en-US" altLang="zh-CN" b="0" dirty="0"/>
              <a:t>AI</a:t>
            </a:r>
            <a:r>
              <a:rPr lang="zh-CN" altLang="en-US" b="0" dirty="0"/>
              <a:t>恋爱社交平台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811500" y="2869088"/>
            <a:ext cx="10768861" cy="2295366"/>
            <a:chOff x="811500" y="1959133"/>
            <a:chExt cx="10768861" cy="3851357"/>
          </a:xfrm>
        </p:grpSpPr>
        <p:grpSp>
          <p:nvGrpSpPr>
            <p:cNvPr id="13" name="组合 12"/>
            <p:cNvGrpSpPr/>
            <p:nvPr/>
          </p:nvGrpSpPr>
          <p:grpSpPr>
            <a:xfrm>
              <a:off x="3519251" y="1959133"/>
              <a:ext cx="2645608" cy="3851357"/>
              <a:chOff x="3519251" y="1959133"/>
              <a:chExt cx="2645608" cy="3851357"/>
            </a:xfrm>
          </p:grpSpPr>
          <p:grpSp>
            <p:nvGrpSpPr>
              <p:cNvPr id="52" name="组合 51"/>
              <p:cNvGrpSpPr/>
              <p:nvPr/>
            </p:nvGrpSpPr>
            <p:grpSpPr>
              <a:xfrm flipH="1">
                <a:off x="3519251" y="1959133"/>
                <a:ext cx="2344372" cy="3851357"/>
                <a:chOff x="1374178" y="2523364"/>
                <a:chExt cx="2760036" cy="4523203"/>
              </a:xfrm>
              <a:effectLst>
                <a:outerShdw blurRad="431800" dist="190500" dir="2700000" sx="92000" sy="92000" algn="tl" rotWithShape="0">
                  <a:schemeClr val="accent2">
                    <a:lumMod val="75000"/>
                    <a:alpha val="15000"/>
                  </a:schemeClr>
                </a:outerShdw>
              </a:effectLst>
            </p:grpSpPr>
            <p:sp>
              <p:nvSpPr>
                <p:cNvPr id="56" name="任意多边形: 形状 55"/>
                <p:cNvSpPr/>
                <p:nvPr/>
              </p:nvSpPr>
              <p:spPr>
                <a:xfrm flipH="1">
                  <a:off x="3873087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1374178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矩形: 圆角 57"/>
                <p:cNvSpPr/>
                <p:nvPr/>
              </p:nvSpPr>
              <p:spPr>
                <a:xfrm flipH="1">
                  <a:off x="1437642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solidFill>
                  <a:schemeClr val="bg1"/>
                </a:solidFill>
                <a:ln w="222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矩形: 圆角 58"/>
                <p:cNvSpPr/>
                <p:nvPr/>
              </p:nvSpPr>
              <p:spPr>
                <a:xfrm flipH="1">
                  <a:off x="1437641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blipFill>
                  <a:blip r:embed="rId2" cstate="screen"/>
                  <a:stretch>
                    <a:fillRect/>
                  </a:stretch>
                </a:blip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4" name="文本框 53"/>
              <p:cNvSpPr txBox="1"/>
              <p:nvPr/>
            </p:nvSpPr>
            <p:spPr>
              <a:xfrm>
                <a:off x="3662471" y="2927513"/>
                <a:ext cx="1960436" cy="135526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1422400" rtl="0" eaLnBrk="1" fontAlgn="auto" latinLnBrk="0" hangingPunct="1">
                  <a:lnSpc>
                    <a:spcPct val="125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接入高校认证系统，实现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100%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在校身份核验，确保用户群体精准性。</a:t>
                </a: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3662471" y="2223591"/>
                <a:ext cx="2502388" cy="557234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indent="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3600">
                    <a:ln w="6350">
                      <a:noFill/>
                    </a:ln>
                    <a:gradFill flip="none" rotWithShape="1">
                      <a:gsLst>
                        <a:gs pos="0">
                          <a:schemeClr val="accent4"/>
                        </a:gs>
                        <a:gs pos="100000">
                          <a:schemeClr val="accent3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effectLst>
                      <a:outerShdw blurRad="177800" dist="127000" dir="2700000" sx="95000" sy="95000" algn="tl" rotWithShape="0">
                        <a:schemeClr val="accent3">
                          <a:lumMod val="75000"/>
                          <a:alpha val="35000"/>
                        </a:schemeClr>
                      </a:outerShd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</a:defRPr>
                </a:lvl1pPr>
                <a:lvl2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/>
                </a:lvl2pPr>
                <a:lvl3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</a:lvl3pPr>
                <a:lvl4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4pPr>
                <a:lvl5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5pPr>
                <a:lvl6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6pPr>
                <a:lvl7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7pPr>
                <a:lvl8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8pPr>
                <a:lvl9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身份合规</a:t>
                </a: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811500" y="1959133"/>
              <a:ext cx="3134989" cy="3851357"/>
              <a:chOff x="811500" y="1959133"/>
              <a:chExt cx="3134989" cy="3851357"/>
            </a:xfrm>
          </p:grpSpPr>
          <p:grpSp>
            <p:nvGrpSpPr>
              <p:cNvPr id="42" name="组合 41"/>
              <p:cNvGrpSpPr/>
              <p:nvPr/>
            </p:nvGrpSpPr>
            <p:grpSpPr>
              <a:xfrm flipH="1">
                <a:off x="811500" y="1959133"/>
                <a:ext cx="2344372" cy="3851357"/>
                <a:chOff x="1374178" y="2523364"/>
                <a:chExt cx="2760036" cy="4523203"/>
              </a:xfrm>
              <a:effectLst>
                <a:outerShdw blurRad="431800" dist="190500" dir="2700000" sx="92000" sy="92000" algn="tl" rotWithShape="0">
                  <a:schemeClr val="accent2">
                    <a:lumMod val="75000"/>
                    <a:alpha val="15000"/>
                  </a:schemeClr>
                </a:outerShdw>
              </a:effectLst>
            </p:grpSpPr>
            <p:sp>
              <p:nvSpPr>
                <p:cNvPr id="48" name="任意多边形: 形状 47"/>
                <p:cNvSpPr/>
                <p:nvPr/>
              </p:nvSpPr>
              <p:spPr>
                <a:xfrm flipH="1">
                  <a:off x="3873087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374178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矩形: 圆角 49"/>
                <p:cNvSpPr/>
                <p:nvPr/>
              </p:nvSpPr>
              <p:spPr>
                <a:xfrm flipH="1">
                  <a:off x="1437642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solidFill>
                  <a:schemeClr val="bg1"/>
                </a:solidFill>
                <a:ln w="222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矩形: 圆角 50"/>
                <p:cNvSpPr/>
                <p:nvPr/>
              </p:nvSpPr>
              <p:spPr>
                <a:xfrm flipH="1">
                  <a:off x="1437642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blipFill>
                  <a:blip r:embed="rId2" cstate="screen"/>
                  <a:stretch>
                    <a:fillRect/>
                  </a:stretch>
                </a:blip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4" name="文本框 43"/>
              <p:cNvSpPr txBox="1"/>
              <p:nvPr/>
            </p:nvSpPr>
            <p:spPr>
              <a:xfrm>
                <a:off x="955355" y="2945627"/>
                <a:ext cx="1925444" cy="1807014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1422400" rtl="0" eaLnBrk="1" fontAlgn="auto" latinLnBrk="0" hangingPunct="1">
                  <a:lnSpc>
                    <a:spcPct val="125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采用学生身份多重认证、同态加密及数据库加密技术，保障用户特征与数据安全</a:t>
                </a: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955010" y="2223366"/>
                <a:ext cx="2564130" cy="3324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</p:spPr>
            <p:txBody>
              <a:bodyPr vert="horz" wrap="square" lIns="0" tIns="0" rIns="0" bIns="0" rtlCol="0">
                <a:noAutofit/>
              </a:bodyPr>
              <a:lstStyle>
                <a:defPPr>
                  <a:defRPr lang="zh-CN"/>
                </a:defPPr>
                <a:lvl1pPr indent="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3600">
                    <a:ln w="6350">
                      <a:noFill/>
                    </a:ln>
                    <a:gradFill flip="none" rotWithShape="1">
                      <a:gsLst>
                        <a:gs pos="0">
                          <a:schemeClr val="accent4"/>
                        </a:gs>
                        <a:gs pos="100000">
                          <a:schemeClr val="accent3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effectLst>
                      <a:outerShdw blurRad="177800" dist="127000" dir="2700000" sx="95000" sy="95000" algn="tl" rotWithShape="0">
                        <a:schemeClr val="accent3">
                          <a:lumMod val="75000"/>
                          <a:alpha val="35000"/>
                        </a:schemeClr>
                      </a:outerShd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</a:defRPr>
                </a:lvl1pPr>
                <a:lvl2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/>
                </a:lvl2pPr>
                <a:lvl3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</a:lvl3pPr>
                <a:lvl4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4pPr>
                <a:lvl5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5pPr>
                <a:lvl6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6pPr>
                <a:lvl7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7pPr>
                <a:lvl8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8pPr>
                <a:lvl9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 w="6350">
                      <a:noFill/>
                    </a:ln>
                    <a:solidFill>
                      <a:schemeClr val="tx1"/>
                    </a:solidFill>
                    <a:effectLst>
                      <a:outerShdw blurRad="177800" dist="127000" dir="2700000" sx="95000" sy="95000" algn="tl" rotWithShape="0">
                        <a:srgbClr val="F54E1A">
                          <a:lumMod val="75000"/>
                          <a:alpha val="35000"/>
                        </a:srgbClr>
                      </a:outerShdw>
                    </a:effectLst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隐私保护</a:t>
                </a:r>
              </a:p>
            </p:txBody>
          </p:sp>
          <p:cxnSp>
            <p:nvCxnSpPr>
              <p:cNvPr id="46" name="直接连接符 45"/>
              <p:cNvCxnSpPr/>
              <p:nvPr/>
            </p:nvCxnSpPr>
            <p:spPr>
              <a:xfrm>
                <a:off x="1000994" y="2752514"/>
                <a:ext cx="2377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3708745" y="2752514"/>
                <a:ext cx="2377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组合 5"/>
            <p:cNvGrpSpPr/>
            <p:nvPr/>
          </p:nvGrpSpPr>
          <p:grpSpPr>
            <a:xfrm>
              <a:off x="6227002" y="1959133"/>
              <a:ext cx="2645608" cy="3851357"/>
              <a:chOff x="6227002" y="1959133"/>
              <a:chExt cx="2645608" cy="3851357"/>
            </a:xfrm>
          </p:grpSpPr>
          <p:grpSp>
            <p:nvGrpSpPr>
              <p:cNvPr id="8" name="组合 7"/>
              <p:cNvGrpSpPr/>
              <p:nvPr/>
            </p:nvGrpSpPr>
            <p:grpSpPr>
              <a:xfrm flipH="1">
                <a:off x="6227002" y="1959133"/>
                <a:ext cx="2344372" cy="3851357"/>
                <a:chOff x="1374178" y="2523364"/>
                <a:chExt cx="2760036" cy="4523203"/>
              </a:xfrm>
              <a:effectLst>
                <a:outerShdw blurRad="431800" dist="190500" dir="2700000" sx="92000" sy="92000" algn="tl" rotWithShape="0">
                  <a:schemeClr val="accent2">
                    <a:lumMod val="75000"/>
                    <a:alpha val="15000"/>
                  </a:schemeClr>
                </a:outerShdw>
              </a:effectLst>
            </p:grpSpPr>
            <p:sp>
              <p:nvSpPr>
                <p:cNvPr id="38" name="任意多边形: 形状 37"/>
                <p:cNvSpPr/>
                <p:nvPr/>
              </p:nvSpPr>
              <p:spPr>
                <a:xfrm flipH="1">
                  <a:off x="3873087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任意多边形: 形状 38"/>
                <p:cNvSpPr/>
                <p:nvPr/>
              </p:nvSpPr>
              <p:spPr>
                <a:xfrm>
                  <a:off x="1374178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矩形: 圆角 39"/>
                <p:cNvSpPr/>
                <p:nvPr/>
              </p:nvSpPr>
              <p:spPr>
                <a:xfrm flipH="1">
                  <a:off x="1437642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solidFill>
                  <a:schemeClr val="bg1"/>
                </a:solidFill>
                <a:ln w="222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矩形: 圆角 40"/>
                <p:cNvSpPr/>
                <p:nvPr/>
              </p:nvSpPr>
              <p:spPr>
                <a:xfrm flipH="1">
                  <a:off x="1415373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blipFill>
                  <a:blip r:embed="rId2" cstate="screen"/>
                  <a:stretch>
                    <a:fillRect/>
                  </a:stretch>
                </a:blip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文本框 26"/>
              <p:cNvSpPr txBox="1"/>
              <p:nvPr/>
            </p:nvSpPr>
            <p:spPr>
              <a:xfrm>
                <a:off x="6342916" y="3186419"/>
                <a:ext cx="1925445" cy="1807014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</p:spPr>
            <p:txBody>
              <a:bodyPr wrap="square" lIns="0" tIns="0" rIns="0" bIns="0">
                <a:spAutoFit/>
              </a:bodyPr>
              <a:lstStyle/>
              <a:p>
                <a:pPr defTabSz="1422400">
                  <a:lnSpc>
                    <a:spcPct val="125000"/>
                  </a:lnSpc>
                  <a:spcBef>
                    <a:spcPct val="0"/>
                  </a:spcBef>
                  <a:defRPr/>
                </a:pP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初期需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50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万元，用于研发、推广、技术薪酬等，重点投入服务器与认证服务采购</a:t>
                </a: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6370222" y="2223591"/>
                <a:ext cx="2502388" cy="557234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indent="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3600">
                    <a:ln w="6350">
                      <a:noFill/>
                    </a:ln>
                    <a:gradFill flip="none" rotWithShape="1">
                      <a:gsLst>
                        <a:gs pos="0">
                          <a:schemeClr val="accent4"/>
                        </a:gs>
                        <a:gs pos="100000">
                          <a:schemeClr val="accent3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effectLst>
                      <a:outerShdw blurRad="177800" dist="127000" dir="2700000" sx="95000" sy="95000" algn="tl" rotWithShape="0">
                        <a:schemeClr val="accent3">
                          <a:lumMod val="75000"/>
                          <a:alpha val="35000"/>
                        </a:schemeClr>
                      </a:outerShd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</a:defRPr>
                </a:lvl1pPr>
                <a:lvl2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/>
                </a:lvl2pPr>
                <a:lvl3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</a:lvl3pPr>
                <a:lvl4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4pPr>
                <a:lvl5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5pPr>
                <a:lvl6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6pPr>
                <a:lvl7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7pPr>
                <a:lvl8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8pPr>
                <a:lvl9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资金需求</a:t>
                </a:r>
              </a:p>
            </p:txBody>
          </p:sp>
          <p:cxnSp>
            <p:nvCxnSpPr>
              <p:cNvPr id="37" name="直接连接符 36"/>
              <p:cNvCxnSpPr/>
              <p:nvPr/>
            </p:nvCxnSpPr>
            <p:spPr>
              <a:xfrm>
                <a:off x="6416496" y="2752514"/>
                <a:ext cx="2377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/>
            <p:cNvGrpSpPr/>
            <p:nvPr/>
          </p:nvGrpSpPr>
          <p:grpSpPr>
            <a:xfrm>
              <a:off x="8934753" y="1959133"/>
              <a:ext cx="2645608" cy="3851357"/>
              <a:chOff x="8934753" y="1959133"/>
              <a:chExt cx="2645608" cy="3851357"/>
            </a:xfrm>
          </p:grpSpPr>
          <p:grpSp>
            <p:nvGrpSpPr>
              <p:cNvPr id="17" name="组合 16"/>
              <p:cNvGrpSpPr/>
              <p:nvPr/>
            </p:nvGrpSpPr>
            <p:grpSpPr>
              <a:xfrm flipH="1">
                <a:off x="8934753" y="1959133"/>
                <a:ext cx="2344372" cy="3851357"/>
                <a:chOff x="1374178" y="2523364"/>
                <a:chExt cx="2760036" cy="4523203"/>
              </a:xfrm>
              <a:effectLst>
                <a:outerShdw blurRad="431800" dist="190500" dir="2700000" sx="92000" sy="92000" algn="tl" rotWithShape="0">
                  <a:schemeClr val="accent2">
                    <a:lumMod val="75000"/>
                    <a:alpha val="15000"/>
                  </a:schemeClr>
                </a:outerShdw>
              </a:effectLst>
            </p:grpSpPr>
            <p:sp>
              <p:nvSpPr>
                <p:cNvPr id="9" name="任意多边形: 形状 20"/>
                <p:cNvSpPr/>
                <p:nvPr/>
              </p:nvSpPr>
              <p:spPr>
                <a:xfrm flipH="1">
                  <a:off x="3873087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任意多边形: 形状 21"/>
                <p:cNvSpPr/>
                <p:nvPr/>
              </p:nvSpPr>
              <p:spPr>
                <a:xfrm>
                  <a:off x="1374178" y="2523364"/>
                  <a:ext cx="261127" cy="4523203"/>
                </a:xfrm>
                <a:custGeom>
                  <a:avLst/>
                  <a:gdLst>
                    <a:gd name="connsiteX0" fmla="*/ 261127 w 261127"/>
                    <a:gd name="connsiteY0" fmla="*/ 0 h 4296154"/>
                    <a:gd name="connsiteX1" fmla="*/ 205141 w 261127"/>
                    <a:gd name="connsiteY1" fmla="*/ 0 h 4296154"/>
                    <a:gd name="connsiteX2" fmla="*/ 0 w 261127"/>
                    <a:gd name="connsiteY2" fmla="*/ 205141 h 4296154"/>
                    <a:gd name="connsiteX3" fmla="*/ 0 w 261127"/>
                    <a:gd name="connsiteY3" fmla="*/ 4091013 h 4296154"/>
                    <a:gd name="connsiteX4" fmla="*/ 205141 w 261127"/>
                    <a:gd name="connsiteY4" fmla="*/ 4296154 h 4296154"/>
                    <a:gd name="connsiteX5" fmla="*/ 261127 w 261127"/>
                    <a:gd name="connsiteY5" fmla="*/ 4296154 h 4296154"/>
                    <a:gd name="connsiteX6" fmla="*/ 55986 w 261127"/>
                    <a:gd name="connsiteY6" fmla="*/ 4091013 h 4296154"/>
                    <a:gd name="connsiteX7" fmla="*/ 55986 w 261127"/>
                    <a:gd name="connsiteY7" fmla="*/ 205141 h 4296154"/>
                    <a:gd name="connsiteX8" fmla="*/ 261127 w 261127"/>
                    <a:gd name="connsiteY8" fmla="*/ 0 h 4296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1127" h="4296154">
                      <a:moveTo>
                        <a:pt x="261127" y="0"/>
                      </a:moveTo>
                      <a:lnTo>
                        <a:pt x="205141" y="0"/>
                      </a:lnTo>
                      <a:cubicBezTo>
                        <a:pt x="91845" y="0"/>
                        <a:pt x="0" y="91845"/>
                        <a:pt x="0" y="205141"/>
                      </a:cubicBezTo>
                      <a:lnTo>
                        <a:pt x="0" y="4091013"/>
                      </a:lnTo>
                      <a:cubicBezTo>
                        <a:pt x="0" y="4204309"/>
                        <a:pt x="91845" y="4296154"/>
                        <a:pt x="205141" y="4296154"/>
                      </a:cubicBezTo>
                      <a:lnTo>
                        <a:pt x="261127" y="4296154"/>
                      </a:lnTo>
                      <a:cubicBezTo>
                        <a:pt x="147831" y="4296154"/>
                        <a:pt x="55986" y="4204309"/>
                        <a:pt x="55986" y="4091013"/>
                      </a:cubicBezTo>
                      <a:lnTo>
                        <a:pt x="55986" y="205141"/>
                      </a:lnTo>
                      <a:cubicBezTo>
                        <a:pt x="55986" y="91845"/>
                        <a:pt x="147831" y="0"/>
                        <a:pt x="26112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矩形: 圆角 22"/>
                <p:cNvSpPr/>
                <p:nvPr/>
              </p:nvSpPr>
              <p:spPr>
                <a:xfrm flipH="1">
                  <a:off x="1437642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solidFill>
                  <a:schemeClr val="bg1"/>
                </a:solidFill>
                <a:ln w="222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矩形: 圆角 23"/>
                <p:cNvSpPr/>
                <p:nvPr/>
              </p:nvSpPr>
              <p:spPr>
                <a:xfrm flipH="1">
                  <a:off x="1437642" y="2533524"/>
                  <a:ext cx="2633874" cy="4513043"/>
                </a:xfrm>
                <a:prstGeom prst="roundRect">
                  <a:avLst>
                    <a:gd name="adj" fmla="val 7507"/>
                  </a:avLst>
                </a:prstGeom>
                <a:blipFill>
                  <a:blip r:embed="rId2" cstate="screen"/>
                  <a:stretch>
                    <a:fillRect/>
                  </a:stretch>
                </a:blipFill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 Light" panose="020B0502040204020203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9" name="文本框 18"/>
              <p:cNvSpPr txBox="1"/>
              <p:nvPr/>
            </p:nvSpPr>
            <p:spPr>
              <a:xfrm>
                <a:off x="9077973" y="2927515"/>
                <a:ext cx="2076496" cy="271052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</p:spPr>
            <p:txBody>
              <a:bodyPr wrap="square" lIns="0" tIns="0" rIns="0" bIns="0">
                <a:spAutoFit/>
              </a:bodyPr>
              <a:lstStyle/>
              <a:p>
                <a:pPr defTabSz="1422400">
                  <a:lnSpc>
                    <a:spcPct val="125000"/>
                  </a:lnSpc>
                  <a:spcBef>
                    <a:spcPct val="0"/>
                  </a:spcBef>
                  <a:defRPr/>
                </a:pP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预计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2-2.5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年收回投资，首年战略亏损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20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万元，次年实现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30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万元净利润，按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10%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贴现率计算三年累计净现值约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85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万元，内部收益率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25%-35%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；</a:t>
                </a: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9077973" y="2223591"/>
                <a:ext cx="2502388" cy="557234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indent="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3600">
                    <a:ln w="6350">
                      <a:noFill/>
                    </a:ln>
                    <a:gradFill flip="none" rotWithShape="1">
                      <a:gsLst>
                        <a:gs pos="0">
                          <a:schemeClr val="accent4"/>
                        </a:gs>
                        <a:gs pos="100000">
                          <a:schemeClr val="accent3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effectLst>
                      <a:outerShdw blurRad="177800" dist="127000" dir="2700000" sx="95000" sy="95000" algn="tl" rotWithShape="0">
                        <a:schemeClr val="accent3">
                          <a:lumMod val="75000"/>
                          <a:alpha val="35000"/>
                        </a:schemeClr>
                      </a:outerShdw>
                    </a:effectLst>
                    <a:latin typeface="锐字真言体免费商用" panose="02010600030101010101" pitchFamily="2" charset="-122"/>
                    <a:ea typeface="锐字真言体免费商用" panose="02010600030101010101" pitchFamily="2" charset="-122"/>
                  </a:defRPr>
                </a:lvl1pPr>
                <a:lvl2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/>
                </a:lvl2pPr>
                <a:lvl3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</a:lvl3pPr>
                <a:lvl4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4pPr>
                <a:lvl5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5pPr>
                <a:lvl6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6pPr>
                <a:lvl7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7pPr>
                <a:lvl8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8pPr>
                <a:lvl9pPr indent="0" algn="ctr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/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收益预期</a:t>
                </a:r>
              </a:p>
            </p:txBody>
          </p:sp>
        </p:grpSp>
      </p:grpSp>
      <p:sp>
        <p:nvSpPr>
          <p:cNvPr id="11" name="文本框 10"/>
          <p:cNvSpPr txBox="1"/>
          <p:nvPr/>
        </p:nvSpPr>
        <p:spPr>
          <a:xfrm>
            <a:off x="4460240" y="2141220"/>
            <a:ext cx="30981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/>
              <a:t>主要技术经济指标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3</a:t>
            </a:fld>
            <a:endParaRPr lang="zh-CN" altLang="en-US" dirty="0"/>
          </a:p>
        </p:txBody>
      </p:sp>
      <p:pic>
        <p:nvPicPr>
          <p:cNvPr id="9" name="图片占位符 42"/>
          <p:cNvPicPr>
            <a:picLocks noGrp="1"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760311" y="2852846"/>
            <a:ext cx="2859992" cy="1906900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图片占位符 46"/>
          <p:cNvPicPr>
            <a:picLocks noGrp="1"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4658480" y="2852846"/>
            <a:ext cx="2875040" cy="1916853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图片占位符 44"/>
          <p:cNvPicPr>
            <a:picLocks noGrp="1" noChangeAspect="1"/>
          </p:cNvPicPr>
          <p:nvPr/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8552025" y="2852846"/>
            <a:ext cx="2860350" cy="1906900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2" name="Rectangle: Folded Corner 1"/>
          <p:cNvSpPr/>
          <p:nvPr/>
        </p:nvSpPr>
        <p:spPr>
          <a:xfrm>
            <a:off x="2614255" y="4481087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Rectangle: Folded Corner 2"/>
          <p:cNvSpPr/>
          <p:nvPr/>
        </p:nvSpPr>
        <p:spPr>
          <a:xfrm>
            <a:off x="6527173" y="4466769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8" name="Rectangle: Folded Corner 3"/>
          <p:cNvSpPr/>
          <p:nvPr/>
        </p:nvSpPr>
        <p:spPr>
          <a:xfrm>
            <a:off x="10412339" y="4471525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9" name="Freeform: Shape 11"/>
          <p:cNvSpPr/>
          <p:nvPr/>
        </p:nvSpPr>
        <p:spPr bwMode="auto">
          <a:xfrm>
            <a:off x="10542659" y="4635430"/>
            <a:ext cx="408116" cy="408116"/>
          </a:xfrm>
          <a:custGeom>
            <a:avLst/>
            <a:gdLst>
              <a:gd name="T0" fmla="*/ 74 w 236"/>
              <a:gd name="T1" fmla="*/ 160 h 236"/>
              <a:gd name="T2" fmla="*/ 93 w 236"/>
              <a:gd name="T3" fmla="*/ 160 h 236"/>
              <a:gd name="T4" fmla="*/ 93 w 236"/>
              <a:gd name="T5" fmla="*/ 103 h 236"/>
              <a:gd name="T6" fmla="*/ 74 w 236"/>
              <a:gd name="T7" fmla="*/ 103 h 236"/>
              <a:gd name="T8" fmla="*/ 74 w 236"/>
              <a:gd name="T9" fmla="*/ 160 h 236"/>
              <a:gd name="T10" fmla="*/ 140 w 236"/>
              <a:gd name="T11" fmla="*/ 102 h 236"/>
              <a:gd name="T12" fmla="*/ 122 w 236"/>
              <a:gd name="T13" fmla="*/ 111 h 236"/>
              <a:gd name="T14" fmla="*/ 122 w 236"/>
              <a:gd name="T15" fmla="*/ 103 h 236"/>
              <a:gd name="T16" fmla="*/ 103 w 236"/>
              <a:gd name="T17" fmla="*/ 103 h 236"/>
              <a:gd name="T18" fmla="*/ 103 w 236"/>
              <a:gd name="T19" fmla="*/ 160 h 236"/>
              <a:gd name="T20" fmla="*/ 122 w 236"/>
              <a:gd name="T21" fmla="*/ 160 h 236"/>
              <a:gd name="T22" fmla="*/ 122 w 236"/>
              <a:gd name="T23" fmla="*/ 128 h 236"/>
              <a:gd name="T24" fmla="*/ 123 w 236"/>
              <a:gd name="T25" fmla="*/ 124 h 236"/>
              <a:gd name="T26" fmla="*/ 133 w 236"/>
              <a:gd name="T27" fmla="*/ 117 h 236"/>
              <a:gd name="T28" fmla="*/ 142 w 236"/>
              <a:gd name="T29" fmla="*/ 130 h 236"/>
              <a:gd name="T30" fmla="*/ 142 w 236"/>
              <a:gd name="T31" fmla="*/ 160 h 236"/>
              <a:gd name="T32" fmla="*/ 161 w 236"/>
              <a:gd name="T33" fmla="*/ 160 h 236"/>
              <a:gd name="T34" fmla="*/ 161 w 236"/>
              <a:gd name="T35" fmla="*/ 160 h 236"/>
              <a:gd name="T36" fmla="*/ 161 w 236"/>
              <a:gd name="T37" fmla="*/ 127 h 236"/>
              <a:gd name="T38" fmla="*/ 140 w 236"/>
              <a:gd name="T39" fmla="*/ 102 h 236"/>
              <a:gd name="T40" fmla="*/ 122 w 236"/>
              <a:gd name="T41" fmla="*/ 111 h 236"/>
              <a:gd name="T42" fmla="*/ 122 w 236"/>
              <a:gd name="T43" fmla="*/ 111 h 236"/>
              <a:gd name="T44" fmla="*/ 122 w 236"/>
              <a:gd name="T45" fmla="*/ 111 h 236"/>
              <a:gd name="T46" fmla="*/ 83 w 236"/>
              <a:gd name="T47" fmla="*/ 75 h 236"/>
              <a:gd name="T48" fmla="*/ 73 w 236"/>
              <a:gd name="T49" fmla="*/ 85 h 236"/>
              <a:gd name="T50" fmla="*/ 83 w 236"/>
              <a:gd name="T51" fmla="*/ 95 h 236"/>
              <a:gd name="T52" fmla="*/ 83 w 236"/>
              <a:gd name="T53" fmla="*/ 95 h 236"/>
              <a:gd name="T54" fmla="*/ 94 w 236"/>
              <a:gd name="T55" fmla="*/ 85 h 236"/>
              <a:gd name="T56" fmla="*/ 83 w 236"/>
              <a:gd name="T57" fmla="*/ 75 h 236"/>
              <a:gd name="T58" fmla="*/ 118 w 236"/>
              <a:gd name="T59" fmla="*/ 0 h 236"/>
              <a:gd name="T60" fmla="*/ 0 w 236"/>
              <a:gd name="T61" fmla="*/ 118 h 236"/>
              <a:gd name="T62" fmla="*/ 118 w 236"/>
              <a:gd name="T63" fmla="*/ 236 h 236"/>
              <a:gd name="T64" fmla="*/ 236 w 236"/>
              <a:gd name="T65" fmla="*/ 118 h 236"/>
              <a:gd name="T66" fmla="*/ 118 w 236"/>
              <a:gd name="T67" fmla="*/ 0 h 236"/>
              <a:gd name="T68" fmla="*/ 181 w 236"/>
              <a:gd name="T69" fmla="*/ 172 h 236"/>
              <a:gd name="T70" fmla="*/ 171 w 236"/>
              <a:gd name="T71" fmla="*/ 181 h 236"/>
              <a:gd name="T72" fmla="*/ 64 w 236"/>
              <a:gd name="T73" fmla="*/ 181 h 236"/>
              <a:gd name="T74" fmla="*/ 55 w 236"/>
              <a:gd name="T75" fmla="*/ 172 h 236"/>
              <a:gd name="T76" fmla="*/ 55 w 236"/>
              <a:gd name="T77" fmla="*/ 63 h 236"/>
              <a:gd name="T78" fmla="*/ 64 w 236"/>
              <a:gd name="T79" fmla="*/ 54 h 236"/>
              <a:gd name="T80" fmla="*/ 171 w 236"/>
              <a:gd name="T81" fmla="*/ 54 h 236"/>
              <a:gd name="T82" fmla="*/ 181 w 236"/>
              <a:gd name="T83" fmla="*/ 63 h 236"/>
              <a:gd name="T84" fmla="*/ 181 w 236"/>
              <a:gd name="T85" fmla="*/ 17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36" h="236">
                <a:moveTo>
                  <a:pt x="74" y="160"/>
                </a:moveTo>
                <a:cubicBezTo>
                  <a:pt x="93" y="160"/>
                  <a:pt x="93" y="160"/>
                  <a:pt x="93" y="160"/>
                </a:cubicBezTo>
                <a:cubicBezTo>
                  <a:pt x="93" y="103"/>
                  <a:pt x="93" y="103"/>
                  <a:pt x="93" y="103"/>
                </a:cubicBezTo>
                <a:cubicBezTo>
                  <a:pt x="74" y="103"/>
                  <a:pt x="74" y="103"/>
                  <a:pt x="74" y="103"/>
                </a:cubicBezTo>
                <a:lnTo>
                  <a:pt x="74" y="160"/>
                </a:lnTo>
                <a:close/>
                <a:moveTo>
                  <a:pt x="140" y="102"/>
                </a:moveTo>
                <a:cubicBezTo>
                  <a:pt x="129" y="102"/>
                  <a:pt x="125" y="107"/>
                  <a:pt x="122" y="111"/>
                </a:cubicBezTo>
                <a:cubicBezTo>
                  <a:pt x="122" y="103"/>
                  <a:pt x="122" y="103"/>
                  <a:pt x="122" y="103"/>
                </a:cubicBezTo>
                <a:cubicBezTo>
                  <a:pt x="103" y="103"/>
                  <a:pt x="103" y="103"/>
                  <a:pt x="103" y="103"/>
                </a:cubicBezTo>
                <a:cubicBezTo>
                  <a:pt x="104" y="108"/>
                  <a:pt x="103" y="160"/>
                  <a:pt x="103" y="160"/>
                </a:cubicBezTo>
                <a:cubicBezTo>
                  <a:pt x="122" y="160"/>
                  <a:pt x="122" y="160"/>
                  <a:pt x="122" y="160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2" y="127"/>
                  <a:pt x="123" y="125"/>
                  <a:pt x="123" y="124"/>
                </a:cubicBezTo>
                <a:cubicBezTo>
                  <a:pt x="124" y="120"/>
                  <a:pt x="128" y="117"/>
                  <a:pt x="133" y="117"/>
                </a:cubicBezTo>
                <a:cubicBezTo>
                  <a:pt x="140" y="117"/>
                  <a:pt x="142" y="122"/>
                  <a:pt x="142" y="130"/>
                </a:cubicBezTo>
                <a:cubicBezTo>
                  <a:pt x="142" y="160"/>
                  <a:pt x="142" y="160"/>
                  <a:pt x="142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27"/>
                  <a:pt x="161" y="127"/>
                  <a:pt x="161" y="127"/>
                </a:cubicBezTo>
                <a:cubicBezTo>
                  <a:pt x="161" y="110"/>
                  <a:pt x="152" y="102"/>
                  <a:pt x="140" y="102"/>
                </a:cubicBezTo>
                <a:close/>
                <a:moveTo>
                  <a:pt x="122" y="111"/>
                </a:moveTo>
                <a:cubicBezTo>
                  <a:pt x="122" y="111"/>
                  <a:pt x="122" y="111"/>
                  <a:pt x="122" y="111"/>
                </a:cubicBezTo>
                <a:cubicBezTo>
                  <a:pt x="122" y="111"/>
                  <a:pt x="122" y="111"/>
                  <a:pt x="122" y="111"/>
                </a:cubicBezTo>
                <a:close/>
                <a:moveTo>
                  <a:pt x="83" y="75"/>
                </a:moveTo>
                <a:cubicBezTo>
                  <a:pt x="77" y="75"/>
                  <a:pt x="73" y="80"/>
                  <a:pt x="73" y="85"/>
                </a:cubicBezTo>
                <a:cubicBezTo>
                  <a:pt x="73" y="91"/>
                  <a:pt x="77" y="95"/>
                  <a:pt x="83" y="95"/>
                </a:cubicBezTo>
                <a:cubicBezTo>
                  <a:pt x="83" y="95"/>
                  <a:pt x="83" y="95"/>
                  <a:pt x="83" y="95"/>
                </a:cubicBezTo>
                <a:cubicBezTo>
                  <a:pt x="90" y="95"/>
                  <a:pt x="94" y="91"/>
                  <a:pt x="94" y="85"/>
                </a:cubicBezTo>
                <a:cubicBezTo>
                  <a:pt x="94" y="80"/>
                  <a:pt x="90" y="75"/>
                  <a:pt x="83" y="75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81" y="172"/>
                </a:moveTo>
                <a:cubicBezTo>
                  <a:pt x="181" y="177"/>
                  <a:pt x="176" y="181"/>
                  <a:pt x="171" y="181"/>
                </a:cubicBezTo>
                <a:cubicBezTo>
                  <a:pt x="64" y="181"/>
                  <a:pt x="64" y="181"/>
                  <a:pt x="64" y="181"/>
                </a:cubicBezTo>
                <a:cubicBezTo>
                  <a:pt x="59" y="181"/>
                  <a:pt x="55" y="177"/>
                  <a:pt x="55" y="172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58"/>
                  <a:pt x="59" y="54"/>
                  <a:pt x="64" y="54"/>
                </a:cubicBezTo>
                <a:cubicBezTo>
                  <a:pt x="171" y="54"/>
                  <a:pt x="171" y="54"/>
                  <a:pt x="171" y="54"/>
                </a:cubicBezTo>
                <a:cubicBezTo>
                  <a:pt x="176" y="54"/>
                  <a:pt x="181" y="58"/>
                  <a:pt x="181" y="63"/>
                </a:cubicBezTo>
                <a:cubicBezTo>
                  <a:pt x="181" y="172"/>
                  <a:pt x="181" y="172"/>
                  <a:pt x="181" y="1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0" name="Freeform: Shape 12"/>
          <p:cNvSpPr/>
          <p:nvPr/>
        </p:nvSpPr>
        <p:spPr bwMode="auto">
          <a:xfrm>
            <a:off x="6662402" y="4621116"/>
            <a:ext cx="408116" cy="408116"/>
          </a:xfrm>
          <a:custGeom>
            <a:avLst/>
            <a:gdLst>
              <a:gd name="T0" fmla="*/ 0 w 236"/>
              <a:gd name="T1" fmla="*/ 118 h 236"/>
              <a:gd name="T2" fmla="*/ 236 w 236"/>
              <a:gd name="T3" fmla="*/ 118 h 236"/>
              <a:gd name="T4" fmla="*/ 150 w 236"/>
              <a:gd name="T5" fmla="*/ 168 h 236"/>
              <a:gd name="T6" fmla="*/ 128 w 236"/>
              <a:gd name="T7" fmla="*/ 196 h 236"/>
              <a:gd name="T8" fmla="*/ 125 w 236"/>
              <a:gd name="T9" fmla="*/ 199 h 236"/>
              <a:gd name="T10" fmla="*/ 111 w 236"/>
              <a:gd name="T11" fmla="*/ 198 h 236"/>
              <a:gd name="T12" fmla="*/ 110 w 236"/>
              <a:gd name="T13" fmla="*/ 180 h 236"/>
              <a:gd name="T14" fmla="*/ 90 w 236"/>
              <a:gd name="T15" fmla="*/ 173 h 236"/>
              <a:gd name="T16" fmla="*/ 79 w 236"/>
              <a:gd name="T17" fmla="*/ 166 h 236"/>
              <a:gd name="T18" fmla="*/ 78 w 236"/>
              <a:gd name="T19" fmla="*/ 160 h 236"/>
              <a:gd name="T20" fmla="*/ 89 w 236"/>
              <a:gd name="T21" fmla="*/ 147 h 236"/>
              <a:gd name="T22" fmla="*/ 91 w 236"/>
              <a:gd name="T23" fmla="*/ 148 h 236"/>
              <a:gd name="T24" fmla="*/ 119 w 236"/>
              <a:gd name="T25" fmla="*/ 160 h 236"/>
              <a:gd name="T26" fmla="*/ 137 w 236"/>
              <a:gd name="T27" fmla="*/ 145 h 236"/>
              <a:gd name="T28" fmla="*/ 133 w 236"/>
              <a:gd name="T29" fmla="*/ 137 h 236"/>
              <a:gd name="T30" fmla="*/ 122 w 236"/>
              <a:gd name="T31" fmla="*/ 130 h 236"/>
              <a:gd name="T32" fmla="*/ 109 w 236"/>
              <a:gd name="T33" fmla="*/ 125 h 236"/>
              <a:gd name="T34" fmla="*/ 98 w 236"/>
              <a:gd name="T35" fmla="*/ 120 h 236"/>
              <a:gd name="T36" fmla="*/ 89 w 236"/>
              <a:gd name="T37" fmla="*/ 113 h 236"/>
              <a:gd name="T38" fmla="*/ 82 w 236"/>
              <a:gd name="T39" fmla="*/ 103 h 236"/>
              <a:gd name="T40" fmla="*/ 79 w 236"/>
              <a:gd name="T41" fmla="*/ 90 h 236"/>
              <a:gd name="T42" fmla="*/ 110 w 236"/>
              <a:gd name="T43" fmla="*/ 57 h 236"/>
              <a:gd name="T44" fmla="*/ 111 w 236"/>
              <a:gd name="T45" fmla="*/ 38 h 236"/>
              <a:gd name="T46" fmla="*/ 125 w 236"/>
              <a:gd name="T47" fmla="*/ 37 h 236"/>
              <a:gd name="T48" fmla="*/ 128 w 236"/>
              <a:gd name="T49" fmla="*/ 40 h 236"/>
              <a:gd name="T50" fmla="*/ 137 w 236"/>
              <a:gd name="T51" fmla="*/ 58 h 236"/>
              <a:gd name="T52" fmla="*/ 151 w 236"/>
              <a:gd name="T53" fmla="*/ 65 h 236"/>
              <a:gd name="T54" fmla="*/ 155 w 236"/>
              <a:gd name="T55" fmla="*/ 69 h 236"/>
              <a:gd name="T56" fmla="*/ 149 w 236"/>
              <a:gd name="T57" fmla="*/ 85 h 236"/>
              <a:gd name="T58" fmla="*/ 144 w 236"/>
              <a:gd name="T59" fmla="*/ 86 h 236"/>
              <a:gd name="T60" fmla="*/ 140 w 236"/>
              <a:gd name="T61" fmla="*/ 82 h 236"/>
              <a:gd name="T62" fmla="*/ 128 w 236"/>
              <a:gd name="T63" fmla="*/ 77 h 236"/>
              <a:gd name="T64" fmla="*/ 107 w 236"/>
              <a:gd name="T65" fmla="*/ 80 h 236"/>
              <a:gd name="T66" fmla="*/ 102 w 236"/>
              <a:gd name="T67" fmla="*/ 94 h 236"/>
              <a:gd name="T68" fmla="*/ 108 w 236"/>
              <a:gd name="T69" fmla="*/ 101 h 236"/>
              <a:gd name="T70" fmla="*/ 118 w 236"/>
              <a:gd name="T71" fmla="*/ 106 h 236"/>
              <a:gd name="T72" fmla="*/ 132 w 236"/>
              <a:gd name="T73" fmla="*/ 112 h 236"/>
              <a:gd name="T74" fmla="*/ 145 w 236"/>
              <a:gd name="T75" fmla="*/ 119 h 236"/>
              <a:gd name="T76" fmla="*/ 155 w 236"/>
              <a:gd name="T77" fmla="*/ 129 h 236"/>
              <a:gd name="T78" fmla="*/ 159 w 236"/>
              <a:gd name="T79" fmla="*/ 14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moveTo>
                  <a:pt x="150" y="168"/>
                </a:moveTo>
                <a:cubicBezTo>
                  <a:pt x="145" y="175"/>
                  <a:pt x="137" y="179"/>
                  <a:pt x="128" y="180"/>
                </a:cubicBezTo>
                <a:cubicBezTo>
                  <a:pt x="128" y="196"/>
                  <a:pt x="128" y="196"/>
                  <a:pt x="128" y="196"/>
                </a:cubicBezTo>
                <a:cubicBezTo>
                  <a:pt x="128" y="197"/>
                  <a:pt x="127" y="198"/>
                  <a:pt x="127" y="198"/>
                </a:cubicBezTo>
                <a:cubicBezTo>
                  <a:pt x="126" y="199"/>
                  <a:pt x="126" y="199"/>
                  <a:pt x="125" y="199"/>
                </a:cubicBezTo>
                <a:cubicBezTo>
                  <a:pt x="113" y="199"/>
                  <a:pt x="113" y="199"/>
                  <a:pt x="113" y="199"/>
                </a:cubicBezTo>
                <a:cubicBezTo>
                  <a:pt x="112" y="199"/>
                  <a:pt x="111" y="199"/>
                  <a:pt x="111" y="198"/>
                </a:cubicBezTo>
                <a:cubicBezTo>
                  <a:pt x="110" y="197"/>
                  <a:pt x="110" y="197"/>
                  <a:pt x="110" y="196"/>
                </a:cubicBezTo>
                <a:cubicBezTo>
                  <a:pt x="110" y="180"/>
                  <a:pt x="110" y="180"/>
                  <a:pt x="110" y="180"/>
                </a:cubicBezTo>
                <a:cubicBezTo>
                  <a:pt x="106" y="180"/>
                  <a:pt x="102" y="179"/>
                  <a:pt x="99" y="177"/>
                </a:cubicBezTo>
                <a:cubicBezTo>
                  <a:pt x="95" y="176"/>
                  <a:pt x="92" y="175"/>
                  <a:pt x="90" y="173"/>
                </a:cubicBezTo>
                <a:cubicBezTo>
                  <a:pt x="88" y="172"/>
                  <a:pt x="85" y="171"/>
                  <a:pt x="83" y="169"/>
                </a:cubicBezTo>
                <a:cubicBezTo>
                  <a:pt x="81" y="168"/>
                  <a:pt x="80" y="166"/>
                  <a:pt x="79" y="166"/>
                </a:cubicBezTo>
                <a:cubicBezTo>
                  <a:pt x="79" y="165"/>
                  <a:pt x="78" y="164"/>
                  <a:pt x="78" y="164"/>
                </a:cubicBezTo>
                <a:cubicBezTo>
                  <a:pt x="77" y="163"/>
                  <a:pt x="77" y="162"/>
                  <a:pt x="78" y="160"/>
                </a:cubicBezTo>
                <a:cubicBezTo>
                  <a:pt x="87" y="148"/>
                  <a:pt x="87" y="148"/>
                  <a:pt x="87" y="148"/>
                </a:cubicBezTo>
                <a:cubicBezTo>
                  <a:pt x="87" y="148"/>
                  <a:pt x="88" y="147"/>
                  <a:pt x="89" y="147"/>
                </a:cubicBezTo>
                <a:cubicBezTo>
                  <a:pt x="90" y="147"/>
                  <a:pt x="90" y="147"/>
                  <a:pt x="91" y="148"/>
                </a:cubicBezTo>
                <a:cubicBezTo>
                  <a:pt x="91" y="148"/>
                  <a:pt x="91" y="148"/>
                  <a:pt x="91" y="148"/>
                </a:cubicBezTo>
                <a:cubicBezTo>
                  <a:pt x="98" y="154"/>
                  <a:pt x="105" y="158"/>
                  <a:pt x="112" y="159"/>
                </a:cubicBezTo>
                <a:cubicBezTo>
                  <a:pt x="115" y="160"/>
                  <a:pt x="117" y="160"/>
                  <a:pt x="119" y="160"/>
                </a:cubicBezTo>
                <a:cubicBezTo>
                  <a:pt x="124" y="160"/>
                  <a:pt x="128" y="159"/>
                  <a:pt x="131" y="156"/>
                </a:cubicBezTo>
                <a:cubicBezTo>
                  <a:pt x="135" y="154"/>
                  <a:pt x="137" y="150"/>
                  <a:pt x="137" y="145"/>
                </a:cubicBezTo>
                <a:cubicBezTo>
                  <a:pt x="137" y="144"/>
                  <a:pt x="136" y="142"/>
                  <a:pt x="136" y="140"/>
                </a:cubicBezTo>
                <a:cubicBezTo>
                  <a:pt x="135" y="139"/>
                  <a:pt x="134" y="138"/>
                  <a:pt x="133" y="137"/>
                </a:cubicBezTo>
                <a:cubicBezTo>
                  <a:pt x="132" y="136"/>
                  <a:pt x="130" y="135"/>
                  <a:pt x="127" y="133"/>
                </a:cubicBezTo>
                <a:cubicBezTo>
                  <a:pt x="125" y="132"/>
                  <a:pt x="123" y="131"/>
                  <a:pt x="122" y="130"/>
                </a:cubicBezTo>
                <a:cubicBezTo>
                  <a:pt x="120" y="130"/>
                  <a:pt x="118" y="129"/>
                  <a:pt x="115" y="128"/>
                </a:cubicBezTo>
                <a:cubicBezTo>
                  <a:pt x="112" y="127"/>
                  <a:pt x="110" y="126"/>
                  <a:pt x="109" y="125"/>
                </a:cubicBezTo>
                <a:cubicBezTo>
                  <a:pt x="108" y="125"/>
                  <a:pt x="106" y="124"/>
                  <a:pt x="104" y="123"/>
                </a:cubicBezTo>
                <a:cubicBezTo>
                  <a:pt x="101" y="122"/>
                  <a:pt x="100" y="121"/>
                  <a:pt x="98" y="120"/>
                </a:cubicBezTo>
                <a:cubicBezTo>
                  <a:pt x="97" y="119"/>
                  <a:pt x="95" y="118"/>
                  <a:pt x="93" y="117"/>
                </a:cubicBezTo>
                <a:cubicBezTo>
                  <a:pt x="91" y="116"/>
                  <a:pt x="90" y="114"/>
                  <a:pt x="89" y="113"/>
                </a:cubicBezTo>
                <a:cubicBezTo>
                  <a:pt x="87" y="112"/>
                  <a:pt x="86" y="110"/>
                  <a:pt x="85" y="109"/>
                </a:cubicBezTo>
                <a:cubicBezTo>
                  <a:pt x="83" y="107"/>
                  <a:pt x="82" y="105"/>
                  <a:pt x="82" y="103"/>
                </a:cubicBezTo>
                <a:cubicBezTo>
                  <a:pt x="81" y="102"/>
                  <a:pt x="80" y="100"/>
                  <a:pt x="80" y="97"/>
                </a:cubicBezTo>
                <a:cubicBezTo>
                  <a:pt x="79" y="95"/>
                  <a:pt x="79" y="93"/>
                  <a:pt x="79" y="90"/>
                </a:cubicBezTo>
                <a:cubicBezTo>
                  <a:pt x="79" y="82"/>
                  <a:pt x="82" y="75"/>
                  <a:pt x="88" y="69"/>
                </a:cubicBezTo>
                <a:cubicBezTo>
                  <a:pt x="93" y="62"/>
                  <a:pt x="101" y="58"/>
                  <a:pt x="110" y="57"/>
                </a:cubicBezTo>
                <a:cubicBezTo>
                  <a:pt x="110" y="40"/>
                  <a:pt x="110" y="40"/>
                  <a:pt x="110" y="40"/>
                </a:cubicBezTo>
                <a:cubicBezTo>
                  <a:pt x="110" y="40"/>
                  <a:pt x="110" y="39"/>
                  <a:pt x="111" y="38"/>
                </a:cubicBezTo>
                <a:cubicBezTo>
                  <a:pt x="111" y="38"/>
                  <a:pt x="112" y="37"/>
                  <a:pt x="113" y="3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6" y="37"/>
                  <a:pt x="126" y="38"/>
                  <a:pt x="127" y="38"/>
                </a:cubicBezTo>
                <a:cubicBezTo>
                  <a:pt x="127" y="39"/>
                  <a:pt x="128" y="39"/>
                  <a:pt x="128" y="40"/>
                </a:cubicBezTo>
                <a:cubicBezTo>
                  <a:pt x="128" y="56"/>
                  <a:pt x="128" y="56"/>
                  <a:pt x="128" y="56"/>
                </a:cubicBezTo>
                <a:cubicBezTo>
                  <a:pt x="131" y="57"/>
                  <a:pt x="134" y="57"/>
                  <a:pt x="137" y="58"/>
                </a:cubicBezTo>
                <a:cubicBezTo>
                  <a:pt x="140" y="59"/>
                  <a:pt x="143" y="60"/>
                  <a:pt x="145" y="61"/>
                </a:cubicBezTo>
                <a:cubicBezTo>
                  <a:pt x="147" y="62"/>
                  <a:pt x="149" y="63"/>
                  <a:pt x="151" y="65"/>
                </a:cubicBezTo>
                <a:cubicBezTo>
                  <a:pt x="152" y="66"/>
                  <a:pt x="153" y="67"/>
                  <a:pt x="154" y="67"/>
                </a:cubicBezTo>
                <a:cubicBezTo>
                  <a:pt x="155" y="68"/>
                  <a:pt x="155" y="68"/>
                  <a:pt x="155" y="69"/>
                </a:cubicBezTo>
                <a:cubicBezTo>
                  <a:pt x="156" y="70"/>
                  <a:pt x="156" y="71"/>
                  <a:pt x="156" y="72"/>
                </a:cubicBezTo>
                <a:cubicBezTo>
                  <a:pt x="149" y="85"/>
                  <a:pt x="149" y="85"/>
                  <a:pt x="149" y="85"/>
                </a:cubicBezTo>
                <a:cubicBezTo>
                  <a:pt x="148" y="86"/>
                  <a:pt x="148" y="86"/>
                  <a:pt x="147" y="87"/>
                </a:cubicBezTo>
                <a:cubicBezTo>
                  <a:pt x="146" y="87"/>
                  <a:pt x="145" y="86"/>
                  <a:pt x="144" y="86"/>
                </a:cubicBezTo>
                <a:cubicBezTo>
                  <a:pt x="144" y="86"/>
                  <a:pt x="144" y="85"/>
                  <a:pt x="143" y="85"/>
                </a:cubicBezTo>
                <a:cubicBezTo>
                  <a:pt x="142" y="84"/>
                  <a:pt x="141" y="83"/>
                  <a:pt x="140" y="82"/>
                </a:cubicBezTo>
                <a:cubicBezTo>
                  <a:pt x="138" y="81"/>
                  <a:pt x="136" y="80"/>
                  <a:pt x="134" y="80"/>
                </a:cubicBezTo>
                <a:cubicBezTo>
                  <a:pt x="133" y="79"/>
                  <a:pt x="130" y="78"/>
                  <a:pt x="128" y="77"/>
                </a:cubicBezTo>
                <a:cubicBezTo>
                  <a:pt x="125" y="77"/>
                  <a:pt x="123" y="76"/>
                  <a:pt x="120" y="76"/>
                </a:cubicBezTo>
                <a:cubicBezTo>
                  <a:pt x="115" y="76"/>
                  <a:pt x="110" y="77"/>
                  <a:pt x="107" y="80"/>
                </a:cubicBezTo>
                <a:cubicBezTo>
                  <a:pt x="103" y="83"/>
                  <a:pt x="101" y="86"/>
                  <a:pt x="101" y="90"/>
                </a:cubicBezTo>
                <a:cubicBezTo>
                  <a:pt x="101" y="92"/>
                  <a:pt x="102" y="93"/>
                  <a:pt x="102" y="94"/>
                </a:cubicBezTo>
                <a:cubicBezTo>
                  <a:pt x="103" y="96"/>
                  <a:pt x="103" y="97"/>
                  <a:pt x="105" y="98"/>
                </a:cubicBezTo>
                <a:cubicBezTo>
                  <a:pt x="106" y="99"/>
                  <a:pt x="107" y="100"/>
                  <a:pt x="108" y="101"/>
                </a:cubicBezTo>
                <a:cubicBezTo>
                  <a:pt x="109" y="102"/>
                  <a:pt x="111" y="103"/>
                  <a:pt x="113" y="104"/>
                </a:cubicBezTo>
                <a:cubicBezTo>
                  <a:pt x="115" y="105"/>
                  <a:pt x="117" y="106"/>
                  <a:pt x="118" y="106"/>
                </a:cubicBezTo>
                <a:cubicBezTo>
                  <a:pt x="120" y="107"/>
                  <a:pt x="122" y="108"/>
                  <a:pt x="125" y="109"/>
                </a:cubicBezTo>
                <a:cubicBezTo>
                  <a:pt x="128" y="110"/>
                  <a:pt x="130" y="111"/>
                  <a:pt x="132" y="112"/>
                </a:cubicBezTo>
                <a:cubicBezTo>
                  <a:pt x="133" y="112"/>
                  <a:pt x="136" y="113"/>
                  <a:pt x="138" y="115"/>
                </a:cubicBezTo>
                <a:cubicBezTo>
                  <a:pt x="141" y="116"/>
                  <a:pt x="143" y="117"/>
                  <a:pt x="145" y="119"/>
                </a:cubicBezTo>
                <a:cubicBezTo>
                  <a:pt x="147" y="120"/>
                  <a:pt x="149" y="121"/>
                  <a:pt x="151" y="123"/>
                </a:cubicBezTo>
                <a:cubicBezTo>
                  <a:pt x="153" y="125"/>
                  <a:pt x="154" y="127"/>
                  <a:pt x="155" y="129"/>
                </a:cubicBezTo>
                <a:cubicBezTo>
                  <a:pt x="156" y="131"/>
                  <a:pt x="157" y="133"/>
                  <a:pt x="158" y="136"/>
                </a:cubicBezTo>
                <a:cubicBezTo>
                  <a:pt x="159" y="138"/>
                  <a:pt x="159" y="141"/>
                  <a:pt x="159" y="144"/>
                </a:cubicBezTo>
                <a:cubicBezTo>
                  <a:pt x="159" y="153"/>
                  <a:pt x="156" y="161"/>
                  <a:pt x="150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Freeform: Shape 13"/>
          <p:cNvSpPr/>
          <p:nvPr/>
        </p:nvSpPr>
        <p:spPr bwMode="auto">
          <a:xfrm>
            <a:off x="2749487" y="4635434"/>
            <a:ext cx="408116" cy="408116"/>
          </a:xfrm>
          <a:custGeom>
            <a:avLst/>
            <a:gdLst>
              <a:gd name="T0" fmla="*/ 182 w 236"/>
              <a:gd name="T1" fmla="*/ 109 h 236"/>
              <a:gd name="T2" fmla="*/ 157 w 236"/>
              <a:gd name="T3" fmla="*/ 103 h 236"/>
              <a:gd name="T4" fmla="*/ 134 w 236"/>
              <a:gd name="T5" fmla="*/ 102 h 236"/>
              <a:gd name="T6" fmla="*/ 120 w 236"/>
              <a:gd name="T7" fmla="*/ 114 h 236"/>
              <a:gd name="T8" fmla="*/ 118 w 236"/>
              <a:gd name="T9" fmla="*/ 129 h 236"/>
              <a:gd name="T10" fmla="*/ 122 w 236"/>
              <a:gd name="T11" fmla="*/ 141 h 236"/>
              <a:gd name="T12" fmla="*/ 135 w 236"/>
              <a:gd name="T13" fmla="*/ 156 h 236"/>
              <a:gd name="T14" fmla="*/ 139 w 236"/>
              <a:gd name="T15" fmla="*/ 185 h 236"/>
              <a:gd name="T16" fmla="*/ 152 w 236"/>
              <a:gd name="T17" fmla="*/ 198 h 236"/>
              <a:gd name="T18" fmla="*/ 169 w 236"/>
              <a:gd name="T19" fmla="*/ 180 h 236"/>
              <a:gd name="T20" fmla="*/ 187 w 236"/>
              <a:gd name="T21" fmla="*/ 150 h 236"/>
              <a:gd name="T22" fmla="*/ 200 w 236"/>
              <a:gd name="T23" fmla="*/ 122 h 236"/>
              <a:gd name="T24" fmla="*/ 182 w 236"/>
              <a:gd name="T25" fmla="*/ 109 h 236"/>
              <a:gd name="T26" fmla="*/ 118 w 236"/>
              <a:gd name="T27" fmla="*/ 0 h 236"/>
              <a:gd name="T28" fmla="*/ 0 w 236"/>
              <a:gd name="T29" fmla="*/ 118 h 236"/>
              <a:gd name="T30" fmla="*/ 118 w 236"/>
              <a:gd name="T31" fmla="*/ 236 h 236"/>
              <a:gd name="T32" fmla="*/ 236 w 236"/>
              <a:gd name="T33" fmla="*/ 118 h 236"/>
              <a:gd name="T34" fmla="*/ 118 w 236"/>
              <a:gd name="T35" fmla="*/ 0 h 236"/>
              <a:gd name="T36" fmla="*/ 126 w 236"/>
              <a:gd name="T37" fmla="*/ 212 h 236"/>
              <a:gd name="T38" fmla="*/ 128 w 236"/>
              <a:gd name="T39" fmla="*/ 208 h 236"/>
              <a:gd name="T40" fmla="*/ 125 w 236"/>
              <a:gd name="T41" fmla="*/ 186 h 236"/>
              <a:gd name="T42" fmla="*/ 105 w 236"/>
              <a:gd name="T43" fmla="*/ 186 h 236"/>
              <a:gd name="T44" fmla="*/ 98 w 236"/>
              <a:gd name="T45" fmla="*/ 207 h 236"/>
              <a:gd name="T46" fmla="*/ 102 w 236"/>
              <a:gd name="T47" fmla="*/ 211 h 236"/>
              <a:gd name="T48" fmla="*/ 34 w 236"/>
              <a:gd name="T49" fmla="*/ 161 h 236"/>
              <a:gd name="T50" fmla="*/ 44 w 236"/>
              <a:gd name="T51" fmla="*/ 157 h 236"/>
              <a:gd name="T52" fmla="*/ 44 w 236"/>
              <a:gd name="T53" fmla="*/ 157 h 236"/>
              <a:gd name="T54" fmla="*/ 81 w 236"/>
              <a:gd name="T55" fmla="*/ 142 h 236"/>
              <a:gd name="T56" fmla="*/ 81 w 236"/>
              <a:gd name="T57" fmla="*/ 118 h 236"/>
              <a:gd name="T58" fmla="*/ 55 w 236"/>
              <a:gd name="T59" fmla="*/ 94 h 236"/>
              <a:gd name="T60" fmla="*/ 28 w 236"/>
              <a:gd name="T61" fmla="*/ 90 h 236"/>
              <a:gd name="T62" fmla="*/ 84 w 236"/>
              <a:gd name="T63" fmla="*/ 30 h 236"/>
              <a:gd name="T64" fmla="*/ 84 w 236"/>
              <a:gd name="T65" fmla="*/ 31 h 236"/>
              <a:gd name="T66" fmla="*/ 102 w 236"/>
              <a:gd name="T67" fmla="*/ 56 h 236"/>
              <a:gd name="T68" fmla="*/ 120 w 236"/>
              <a:gd name="T69" fmla="*/ 79 h 236"/>
              <a:gd name="T70" fmla="*/ 131 w 236"/>
              <a:gd name="T71" fmla="*/ 97 h 236"/>
              <a:gd name="T72" fmla="*/ 146 w 236"/>
              <a:gd name="T73" fmla="*/ 88 h 236"/>
              <a:gd name="T74" fmla="*/ 177 w 236"/>
              <a:gd name="T75" fmla="*/ 66 h 236"/>
              <a:gd name="T76" fmla="*/ 190 w 236"/>
              <a:gd name="T77" fmla="*/ 57 h 236"/>
              <a:gd name="T78" fmla="*/ 212 w 236"/>
              <a:gd name="T79" fmla="*/ 118 h 236"/>
              <a:gd name="T80" fmla="*/ 126 w 236"/>
              <a:gd name="T81" fmla="*/ 21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36" h="236">
                <a:moveTo>
                  <a:pt x="182" y="109"/>
                </a:moveTo>
                <a:cubicBezTo>
                  <a:pt x="172" y="107"/>
                  <a:pt x="161" y="105"/>
                  <a:pt x="157" y="103"/>
                </a:cubicBezTo>
                <a:cubicBezTo>
                  <a:pt x="153" y="102"/>
                  <a:pt x="143" y="101"/>
                  <a:pt x="134" y="102"/>
                </a:cubicBezTo>
                <a:cubicBezTo>
                  <a:pt x="125" y="103"/>
                  <a:pt x="119" y="109"/>
                  <a:pt x="120" y="114"/>
                </a:cubicBezTo>
                <a:cubicBezTo>
                  <a:pt x="121" y="119"/>
                  <a:pt x="120" y="126"/>
                  <a:pt x="118" y="129"/>
                </a:cubicBezTo>
                <a:cubicBezTo>
                  <a:pt x="117" y="132"/>
                  <a:pt x="118" y="138"/>
                  <a:pt x="122" y="141"/>
                </a:cubicBezTo>
                <a:cubicBezTo>
                  <a:pt x="127" y="144"/>
                  <a:pt x="132" y="151"/>
                  <a:pt x="135" y="156"/>
                </a:cubicBezTo>
                <a:cubicBezTo>
                  <a:pt x="138" y="162"/>
                  <a:pt x="140" y="175"/>
                  <a:pt x="139" y="185"/>
                </a:cubicBezTo>
                <a:cubicBezTo>
                  <a:pt x="139" y="195"/>
                  <a:pt x="145" y="201"/>
                  <a:pt x="152" y="198"/>
                </a:cubicBezTo>
                <a:cubicBezTo>
                  <a:pt x="160" y="195"/>
                  <a:pt x="167" y="187"/>
                  <a:pt x="169" y="180"/>
                </a:cubicBezTo>
                <a:cubicBezTo>
                  <a:pt x="171" y="174"/>
                  <a:pt x="179" y="160"/>
                  <a:pt x="187" y="150"/>
                </a:cubicBezTo>
                <a:cubicBezTo>
                  <a:pt x="195" y="140"/>
                  <a:pt x="201" y="127"/>
                  <a:pt x="200" y="122"/>
                </a:cubicBezTo>
                <a:cubicBezTo>
                  <a:pt x="200" y="116"/>
                  <a:pt x="191" y="111"/>
                  <a:pt x="182" y="109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6" y="212"/>
                </a:moveTo>
                <a:cubicBezTo>
                  <a:pt x="127" y="211"/>
                  <a:pt x="128" y="209"/>
                  <a:pt x="128" y="208"/>
                </a:cubicBezTo>
                <a:cubicBezTo>
                  <a:pt x="130" y="201"/>
                  <a:pt x="128" y="191"/>
                  <a:pt x="125" y="186"/>
                </a:cubicBezTo>
                <a:cubicBezTo>
                  <a:pt x="121" y="181"/>
                  <a:pt x="112" y="181"/>
                  <a:pt x="105" y="186"/>
                </a:cubicBezTo>
                <a:cubicBezTo>
                  <a:pt x="97" y="191"/>
                  <a:pt x="94" y="200"/>
                  <a:pt x="98" y="207"/>
                </a:cubicBezTo>
                <a:cubicBezTo>
                  <a:pt x="99" y="208"/>
                  <a:pt x="100" y="210"/>
                  <a:pt x="102" y="211"/>
                </a:cubicBezTo>
                <a:cubicBezTo>
                  <a:pt x="72" y="206"/>
                  <a:pt x="47" y="187"/>
                  <a:pt x="34" y="161"/>
                </a:cubicBezTo>
                <a:cubicBezTo>
                  <a:pt x="37" y="161"/>
                  <a:pt x="40" y="159"/>
                  <a:pt x="44" y="157"/>
                </a:cubicBezTo>
                <a:cubicBezTo>
                  <a:pt x="44" y="157"/>
                  <a:pt x="44" y="157"/>
                  <a:pt x="44" y="157"/>
                </a:cubicBezTo>
                <a:cubicBezTo>
                  <a:pt x="57" y="148"/>
                  <a:pt x="74" y="141"/>
                  <a:pt x="81" y="142"/>
                </a:cubicBezTo>
                <a:cubicBezTo>
                  <a:pt x="89" y="142"/>
                  <a:pt x="89" y="131"/>
                  <a:pt x="81" y="118"/>
                </a:cubicBezTo>
                <a:cubicBezTo>
                  <a:pt x="74" y="105"/>
                  <a:pt x="62" y="94"/>
                  <a:pt x="55" y="94"/>
                </a:cubicBezTo>
                <a:cubicBezTo>
                  <a:pt x="48" y="94"/>
                  <a:pt x="36" y="92"/>
                  <a:pt x="28" y="90"/>
                </a:cubicBezTo>
                <a:cubicBezTo>
                  <a:pt x="37" y="62"/>
                  <a:pt x="58" y="41"/>
                  <a:pt x="84" y="30"/>
                </a:cubicBezTo>
                <a:cubicBezTo>
                  <a:pt x="84" y="31"/>
                  <a:pt x="84" y="31"/>
                  <a:pt x="84" y="31"/>
                </a:cubicBezTo>
                <a:cubicBezTo>
                  <a:pt x="86" y="39"/>
                  <a:pt x="95" y="50"/>
                  <a:pt x="102" y="56"/>
                </a:cubicBezTo>
                <a:cubicBezTo>
                  <a:pt x="110" y="62"/>
                  <a:pt x="118" y="72"/>
                  <a:pt x="120" y="79"/>
                </a:cubicBezTo>
                <a:cubicBezTo>
                  <a:pt x="122" y="85"/>
                  <a:pt x="127" y="93"/>
                  <a:pt x="131" y="97"/>
                </a:cubicBezTo>
                <a:cubicBezTo>
                  <a:pt x="136" y="100"/>
                  <a:pt x="142" y="96"/>
                  <a:pt x="146" y="88"/>
                </a:cubicBezTo>
                <a:cubicBezTo>
                  <a:pt x="150" y="80"/>
                  <a:pt x="164" y="70"/>
                  <a:pt x="177" y="66"/>
                </a:cubicBezTo>
                <a:cubicBezTo>
                  <a:pt x="183" y="64"/>
                  <a:pt x="187" y="61"/>
                  <a:pt x="190" y="57"/>
                </a:cubicBezTo>
                <a:cubicBezTo>
                  <a:pt x="204" y="74"/>
                  <a:pt x="212" y="95"/>
                  <a:pt x="212" y="118"/>
                </a:cubicBezTo>
                <a:cubicBezTo>
                  <a:pt x="212" y="168"/>
                  <a:pt x="174" y="208"/>
                  <a:pt x="126" y="2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458555" y="5306578"/>
            <a:ext cx="115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用户特征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5504025" y="52996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场景特征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409758" y="5297775"/>
            <a:ext cx="1274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调研方式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108604" y="5710513"/>
            <a:ext cx="266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18-25</a:t>
            </a:r>
            <a:r>
              <a:rPr lang="zh-CN" altLang="en-US" sz="18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岁在校学生</a:t>
            </a:r>
            <a:endParaRPr lang="en-US" altLang="zh-CN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312614" y="5733418"/>
            <a:ext cx="391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选取校园中某一环境代表（如操场）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8984664" y="5762502"/>
            <a:ext cx="2427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桌面调研和用户访谈</a:t>
            </a:r>
            <a:endParaRPr lang="zh-CN" altLang="en-US" dirty="0"/>
          </a:p>
        </p:txBody>
      </p:sp>
      <p:sp>
        <p:nvSpPr>
          <p:cNvPr id="35" name="标题 12"/>
          <p:cNvSpPr>
            <a:spLocks noGrp="1"/>
          </p:cNvSpPr>
          <p:nvPr>
            <p:ph type="title"/>
          </p:nvPr>
        </p:nvSpPr>
        <p:spPr>
          <a:xfrm>
            <a:off x="750888" y="441325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背景分析</a:t>
            </a:r>
          </a:p>
        </p:txBody>
      </p:sp>
      <p:sp>
        <p:nvSpPr>
          <p:cNvPr id="36" name="标题 1"/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用户</a:t>
            </a:r>
            <a:r>
              <a:rPr lang="en-US" altLang="zh-CN" dirty="0"/>
              <a:t>·</a:t>
            </a:r>
            <a:r>
              <a:rPr lang="zh-CN" altLang="en-US" dirty="0"/>
              <a:t>场景</a:t>
            </a:r>
            <a:r>
              <a:rPr lang="en-US" altLang="zh-CN" dirty="0"/>
              <a:t>·</a:t>
            </a:r>
            <a:r>
              <a:rPr lang="zh-CN" altLang="en-US" dirty="0"/>
              <a:t>行业 多方面调研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背景分析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1327150" y="1147445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9" name="文本框 9"/>
          <p:cNvSpPr txBox="1"/>
          <p:nvPr/>
        </p:nvSpPr>
        <p:spPr>
          <a:xfrm>
            <a:off x="386505" y="2122364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  研究了</a:t>
            </a:r>
            <a:r>
              <a:rPr lang="en-US" altLang="zh-CN" dirty="0"/>
              <a:t>3</a:t>
            </a:r>
            <a:r>
              <a:rPr lang="zh-CN" altLang="en-US" dirty="0"/>
              <a:t>份主要相关报告：</a:t>
            </a:r>
          </a:p>
          <a:p>
            <a:r>
              <a:rPr lang="zh-CN" altLang="en-US" dirty="0"/>
              <a:t>《</a:t>
            </a:r>
            <a:r>
              <a:rPr lang="en-US" altLang="zh-CN" dirty="0"/>
              <a:t>2024</a:t>
            </a:r>
            <a:r>
              <a:rPr lang="zh-CN" altLang="en-US" dirty="0"/>
              <a:t>陌生人社交深度报告》</a:t>
            </a:r>
          </a:p>
          <a:p>
            <a:r>
              <a:rPr lang="zh-CN" altLang="en-US" dirty="0"/>
              <a:t>《</a:t>
            </a:r>
            <a:r>
              <a:rPr lang="en-US" altLang="zh-CN" dirty="0"/>
              <a:t>2024</a:t>
            </a:r>
            <a:r>
              <a:rPr lang="zh-CN" altLang="en-US" dirty="0"/>
              <a:t>年中国移动互联网半年报告》</a:t>
            </a:r>
          </a:p>
          <a:p>
            <a:r>
              <a:rPr lang="zh-CN" altLang="en-US" dirty="0"/>
              <a:t>《恋爱社交</a:t>
            </a:r>
            <a:r>
              <a:rPr lang="en-US" altLang="zh-CN" dirty="0"/>
              <a:t>App</a:t>
            </a:r>
            <a:r>
              <a:rPr lang="zh-CN" altLang="en-US" dirty="0"/>
              <a:t>产品分析报告》</a:t>
            </a:r>
          </a:p>
        </p:txBody>
      </p:sp>
      <p:sp>
        <p:nvSpPr>
          <p:cNvPr id="10" name="文本框 14"/>
          <p:cNvSpPr txBox="1"/>
          <p:nvPr/>
        </p:nvSpPr>
        <p:spPr>
          <a:xfrm>
            <a:off x="1486705" y="5122296"/>
            <a:ext cx="8095446" cy="9848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/>
            <a:r>
              <a:rPr lang="zh-CN" altLang="en-US" dirty="0"/>
              <a:t>随着中国社会的现代化进程，单身人群逐年增多，尤其是在大城市和年轻群体中。单身人口的增多为婚恋交友市场提供了广泛的潜在用户。</a:t>
            </a:r>
          </a:p>
        </p:txBody>
      </p:sp>
      <p:pic>
        <p:nvPicPr>
          <p:cNvPr id="11" name="图片 10" descr="106a1e2d2cf4c25a8f162e6db5712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653" y="1326978"/>
            <a:ext cx="6220460" cy="2776855"/>
          </a:xfrm>
          <a:prstGeom prst="rect">
            <a:avLst/>
          </a:prstGeom>
        </p:spPr>
      </p:pic>
      <p:sp>
        <p:nvSpPr>
          <p:cNvPr id="12" name="文本框 13"/>
          <p:cNvSpPr txBox="1"/>
          <p:nvPr/>
        </p:nvSpPr>
        <p:spPr>
          <a:xfrm>
            <a:off x="5762203" y="893763"/>
            <a:ext cx="476250" cy="4572000"/>
          </a:xfrm>
          <a:prstGeom prst="rect">
            <a:avLst/>
          </a:prstGeom>
        </p:spPr>
        <p:txBody>
          <a:bodyPr vert="eaVert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文本框 16"/>
          <p:cNvSpPr txBox="1"/>
          <p:nvPr/>
        </p:nvSpPr>
        <p:spPr>
          <a:xfrm>
            <a:off x="10844213" y="1603058"/>
            <a:ext cx="793115" cy="3585845"/>
          </a:xfrm>
          <a:prstGeom prst="rect">
            <a:avLst/>
          </a:prstGeom>
        </p:spPr>
        <p:txBody>
          <a:bodyPr vert="eaVert" wrap="square">
            <a:noAutofit/>
            <a:extLst>
              <a:ext uri="{4A0BC546-FE56-4ADE-93B0-CB8AF2F6F144}">
                <wpsdc:textFrameExt xmlns:wpsdc="http://www.wps.cn/officeDocument/2022/drawingmlCustomData" xmlns="" type="title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000" b="1" dirty="0">
                <a:latin typeface="华文新魏" panose="02010800040101010101" charset="-122"/>
                <a:ea typeface="华文新魏" panose="02010800040101010101" charset="-122"/>
                <a:cs typeface="+mn-ea"/>
                <a:sym typeface="WPS灵秀黑" charset="-122"/>
              </a:rPr>
              <a:t>桌面调研简报</a:t>
            </a:r>
            <a:endParaRPr lang="zh-CN" altLang="en-US" sz="4000" b="1" spc="400" dirty="0">
              <a:latin typeface="华文新魏" panose="02010800040101010101" charset="-122"/>
              <a:ea typeface="华文新魏" panose="02010800040101010101" charset="-122"/>
              <a:cs typeface="+mn-ea"/>
              <a:sym typeface="WPS灵秀黑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38200" y="441830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sz="2800" dirty="0"/>
              <a:t>结论：</a:t>
            </a:r>
            <a:endParaRPr lang="en-US" altLang="zh-CN" sz="2800" dirty="0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926238" y="1290922"/>
            <a:ext cx="1071109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行业分析</a:t>
            </a:r>
          </a:p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背景分析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19" name="标题 1"/>
          <p:cNvSpPr>
            <a:spLocks noGrp="1"/>
          </p:cNvSpPr>
          <p:nvPr/>
        </p:nvSpPr>
        <p:spPr>
          <a:xfrm>
            <a:off x="993935" y="1125679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行业分析</a:t>
            </a:r>
          </a:p>
        </p:txBody>
      </p:sp>
      <p:sp>
        <p:nvSpPr>
          <p:cNvPr id="23" name="文本框 9"/>
          <p:cNvSpPr txBox="1"/>
          <p:nvPr/>
        </p:nvSpPr>
        <p:spPr>
          <a:xfrm>
            <a:off x="7159785" y="1808702"/>
            <a:ext cx="4994115" cy="1495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市场规模</a:t>
            </a:r>
            <a:r>
              <a:rPr lang="zh-CN" altLang="en-US" dirty="0"/>
              <a:t>：主要玩家月活跃用户情况</a:t>
            </a:r>
          </a:p>
          <a:p>
            <a:r>
              <a:rPr lang="en-US" altLang="zh-CN" dirty="0"/>
              <a:t>Soul</a:t>
            </a:r>
            <a:r>
              <a:rPr lang="zh-CN" altLang="en-US" dirty="0"/>
              <a:t>：月活稳定在</a:t>
            </a:r>
            <a:r>
              <a:rPr lang="en-US" altLang="zh-CN" dirty="0"/>
              <a:t>2000</a:t>
            </a:r>
            <a:r>
              <a:rPr lang="zh-CN" altLang="en-US" dirty="0"/>
              <a:t>万左右</a:t>
            </a:r>
          </a:p>
          <a:p>
            <a:r>
              <a:rPr lang="zh-CN" altLang="en-US" dirty="0"/>
              <a:t>陌陌：历史最高月活达</a:t>
            </a:r>
            <a:r>
              <a:rPr lang="en-US" altLang="zh-CN" dirty="0"/>
              <a:t>1.153</a:t>
            </a:r>
            <a:r>
              <a:rPr lang="zh-CN" altLang="en-US" dirty="0"/>
              <a:t>亿（</a:t>
            </a:r>
            <a:r>
              <a:rPr lang="en-US" altLang="zh-CN" dirty="0"/>
              <a:t>21</a:t>
            </a:r>
            <a:r>
              <a:rPr lang="zh-CN" altLang="en-US" dirty="0"/>
              <a:t>年第一季度）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24" name="图片 23" descr="af858792899a2a714db251d3431f4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04" y="2895412"/>
            <a:ext cx="5870258" cy="3128828"/>
          </a:xfrm>
          <a:prstGeom prst="rect">
            <a:avLst/>
          </a:prstGeom>
        </p:spPr>
      </p:pic>
      <p:sp>
        <p:nvSpPr>
          <p:cNvPr id="25" name="文本框 11"/>
          <p:cNvSpPr txBox="1"/>
          <p:nvPr/>
        </p:nvSpPr>
        <p:spPr>
          <a:xfrm>
            <a:off x="7159785" y="3354927"/>
            <a:ext cx="4282111" cy="20969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  <a:p>
            <a:r>
              <a:rPr lang="zh-CN" altLang="en-US" b="1" dirty="0">
                <a:sym typeface="+mn-ea"/>
              </a:rPr>
              <a:t>市场格局</a:t>
            </a:r>
            <a:r>
              <a:rPr lang="zh-CN" altLang="en-US" dirty="0">
                <a:sym typeface="+mn-ea"/>
              </a:rPr>
              <a:t>：探探、</a:t>
            </a:r>
            <a:r>
              <a:rPr lang="en-US" altLang="zh-CN" dirty="0">
                <a:sym typeface="+mn-ea"/>
              </a:rPr>
              <a:t>Soul</a:t>
            </a:r>
            <a:r>
              <a:rPr lang="zh-CN" altLang="en-US" dirty="0">
                <a:sym typeface="+mn-ea"/>
              </a:rPr>
              <a:t>、陌陌各有特色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探探：主打颜值交友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Soul</a:t>
            </a:r>
            <a:r>
              <a:rPr lang="zh-CN" altLang="en-US" dirty="0">
                <a:sym typeface="+mn-ea"/>
              </a:rPr>
              <a:t>：突出性格匹配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陌陌：基于地理位置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993935" y="1859502"/>
            <a:ext cx="3187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ym typeface="+mn-ea"/>
              </a:rPr>
              <a:t>用户特征</a:t>
            </a:r>
            <a:r>
              <a:rPr lang="zh-CN" altLang="en-US" dirty="0">
                <a:sym typeface="+mn-ea"/>
              </a:rPr>
              <a:t>：以年轻群体为主，大学生是重要用户群体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740479" y="441325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背景分析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929264" y="1128871"/>
            <a:ext cx="1071109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用户分析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文本框 19"/>
          <p:cNvSpPr txBox="1"/>
          <p:nvPr/>
        </p:nvSpPr>
        <p:spPr>
          <a:xfrm>
            <a:off x="4336174" y="4617404"/>
            <a:ext cx="62069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在恋爱偏好上，受访者愿尝试朋友推荐的新交友软件。多数人认为异性交友需更谨慎，同性交友较为自然。总体来看，受访者期待恋爱交友平台功能齐全、安全性高，并对丰富线下活动持积极态度。</a:t>
            </a:r>
          </a:p>
        </p:txBody>
      </p:sp>
      <p:sp>
        <p:nvSpPr>
          <p:cNvPr id="11" name="文本框 20"/>
          <p:cNvSpPr txBox="1"/>
          <p:nvPr/>
        </p:nvSpPr>
        <p:spPr>
          <a:xfrm>
            <a:off x="345629" y="2188844"/>
            <a:ext cx="50559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本次访谈共访问六位同学，均来自大一。多数人单身，部分尝试恋爱但未成功。</a:t>
            </a:r>
            <a:endParaRPr lang="zh-CN" altLang="en-US" sz="20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46" y="3921058"/>
            <a:ext cx="2806107" cy="210428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319616" y="1387355"/>
            <a:ext cx="793115" cy="3585845"/>
          </a:xfrm>
          <a:prstGeom prst="rect">
            <a:avLst/>
          </a:prstGeom>
        </p:spPr>
        <p:txBody>
          <a:bodyPr vert="eaVert" wrap="square">
            <a:noAutofit/>
            <a:extLst>
              <a:ext uri="{4A0BC546-FE56-4ADE-93B0-CB8AF2F6F144}">
                <wpsdc:textFrameExt xmlns:wpsdc="http://www.wps.cn/officeDocument/2022/drawingmlCustomData" xmlns="" type="title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000" b="1" dirty="0">
                <a:latin typeface="华文新魏" panose="02010800040101010101" charset="-122"/>
                <a:ea typeface="华文新魏" panose="02010800040101010101" charset="-122"/>
                <a:cs typeface="+mn-ea"/>
                <a:sym typeface="WPS灵秀黑" charset="-122"/>
              </a:rPr>
              <a:t>用户访谈简报</a:t>
            </a:r>
            <a:endParaRPr lang="zh-CN" altLang="en-US" sz="4000" b="1" spc="400" dirty="0">
              <a:latin typeface="华文新魏" panose="02010800040101010101" charset="-122"/>
              <a:ea typeface="华文新魏" panose="02010800040101010101" charset="-122"/>
              <a:cs typeface="+mn-ea"/>
              <a:sym typeface="WPS灵秀黑" charset="-122"/>
            </a:endParaRPr>
          </a:p>
        </p:txBody>
      </p:sp>
      <p:sp>
        <p:nvSpPr>
          <p:cNvPr id="14" name="日期占位符 1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15" name="页脚占位符 2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16" name="灯片编号占位符 3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B9A5AF-BDD6-4E14-989F-CF034C94E4CA}" type="slidenum">
              <a:rPr lang="zh-CN" altLang="en-US" smtClean="0"/>
              <a:t>6</a:t>
            </a:fld>
            <a:endParaRPr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559" y="1445203"/>
            <a:ext cx="2367572" cy="17772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305" y="463329"/>
            <a:ext cx="2367573" cy="177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832" y="2358010"/>
            <a:ext cx="2304774" cy="17289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7</a:t>
            </a:fld>
            <a:endParaRPr lang="zh-CN" altLang="en-US" dirty="0"/>
          </a:p>
        </p:txBody>
      </p:sp>
      <p:graphicFrame>
        <p:nvGraphicFramePr>
          <p:cNvPr id="8" name="图表 7"/>
          <p:cNvGraphicFramePr/>
          <p:nvPr/>
        </p:nvGraphicFramePr>
        <p:xfrm>
          <a:off x="144379" y="1900719"/>
          <a:ext cx="8126318" cy="4180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文本框 19"/>
          <p:cNvSpPr txBox="1"/>
          <p:nvPr/>
        </p:nvSpPr>
        <p:spPr>
          <a:xfrm>
            <a:off x="8270697" y="4053120"/>
            <a:ext cx="39213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分析显示，大部分人对线上恋爱有较高兴趣，同时更看重恋爱对象的内在品质而非外貌。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文本框 1"/>
          <p:cNvSpPr txBox="1"/>
          <p:nvPr/>
        </p:nvSpPr>
        <p:spPr>
          <a:xfrm>
            <a:off x="986779" y="1726841"/>
            <a:ext cx="5189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以下是根据访谈结果获得的统计数据</a:t>
            </a:r>
          </a:p>
        </p:txBody>
      </p:sp>
      <p:pic>
        <p:nvPicPr>
          <p:cNvPr id="17" name="http://photo-static-api.fotomore.com/creative/vcg/400/new/VCG211353426615.jpg" descr="&amp;pky270_sjzg_VCG211353426615&amp;2&amp;src_toppic_inpsrchzd1&amp;"/>
          <p:cNvPicPr/>
          <p:nvPr/>
        </p:nvPicPr>
        <p:blipFill>
          <a:blip r:embed="rId4"/>
          <a:stretch>
            <a:fillRect/>
          </a:stretch>
        </p:blipFill>
        <p:spPr>
          <a:xfrm>
            <a:off x="8094372" y="1239069"/>
            <a:ext cx="3603497" cy="18706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标题 12"/>
          <p:cNvSpPr>
            <a:spLocks noGrp="1"/>
          </p:cNvSpPr>
          <p:nvPr>
            <p:ph type="title"/>
          </p:nvPr>
        </p:nvSpPr>
        <p:spPr>
          <a:xfrm>
            <a:off x="750888" y="441325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背景分析</a:t>
            </a:r>
          </a:p>
        </p:txBody>
      </p:sp>
      <p:sp>
        <p:nvSpPr>
          <p:cNvPr id="20" name="标题 1"/>
          <p:cNvSpPr txBox="1"/>
          <p:nvPr/>
        </p:nvSpPr>
        <p:spPr>
          <a:xfrm>
            <a:off x="986779" y="1041139"/>
            <a:ext cx="1071109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用户访谈数据分析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</Words>
  <Application>Microsoft Office PowerPoint</Application>
  <PresentationFormat>宽屏</PresentationFormat>
  <Paragraphs>95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等线</vt:lpstr>
      <vt:lpstr>等线 Light</vt:lpstr>
      <vt:lpstr>华文楷体</vt:lpstr>
      <vt:lpstr>华文新魏</vt:lpstr>
      <vt:lpstr>楷体</vt:lpstr>
      <vt:lpstr>思源黑体 CN Medium</vt:lpstr>
      <vt:lpstr>微软雅黑</vt:lpstr>
      <vt:lpstr>Arial</vt:lpstr>
      <vt:lpstr>Wingdings</vt:lpstr>
      <vt:lpstr>Office 主题​​</vt:lpstr>
      <vt:lpstr>1_Office 主题​​</vt:lpstr>
      <vt:lpstr>项目总论</vt:lpstr>
      <vt:lpstr>项目总论</vt:lpstr>
      <vt:lpstr>背景分析</vt:lpstr>
      <vt:lpstr>背景分析</vt:lpstr>
      <vt:lpstr>背景分析</vt:lpstr>
      <vt:lpstr>背景分析</vt:lpstr>
      <vt:lpstr>背景分析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yd oy</dc:creator>
  <cp:lastModifiedBy>changqing sun</cp:lastModifiedBy>
  <cp:revision>5</cp:revision>
  <dcterms:created xsi:type="dcterms:W3CDTF">2025-11-06T05:04:00Z</dcterms:created>
  <dcterms:modified xsi:type="dcterms:W3CDTF">2025-11-06T08:49:50Z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D372B3A7FB66486E97BCB6C5F70DF165_13</vt:lpwstr>
  </property>
  <property fmtid="{D5CDD505-2E9C-101B-9397-08002B2CF9AE}" pid="3" name="KSOProductBuildVer">
    <vt:lpwstr>2052-12.1.0.22529</vt:lpwstr>
  </property>
</Properties>
</file>