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64" r:id="rId4"/>
    <p:sldId id="265" r:id="rId5"/>
    <p:sldId id="266" r:id="rId6"/>
    <p:sldId id="267" r:id="rId7"/>
    <p:sldId id="268" r:id="rId8"/>
    <p:sldId id="269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71" r:id="rId17"/>
    <p:sldId id="270" r:id="rId18"/>
    <p:sldId id="27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002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4E76E6-CFDA-43CD-B25D-2C950CFAA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C7FD6B-D38B-4D13-9A29-4B7D64DD7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A6570D-D63A-44F4-A4FC-5BAD8BB8B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F1DC2-2C39-49C6-8AF7-CE6C048DEA62}" type="datetimeFigureOut">
              <a:rPr lang="zh-CN" altLang="en-US" smtClean="0"/>
              <a:t>2024-05-25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58D866-337F-4E57-A549-87630275C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FBDAE8-E6E5-4A68-82C7-1FD2E533B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F8EA-B58A-4E98-9881-6662EA0C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305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DE3E75-358C-4544-8F6B-4C93AFD0E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E418FC-18EF-4B27-8EED-7A2C811D3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C0D87B-3028-41E2-BEF2-9BD020E32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F1DC2-2C39-49C6-8AF7-CE6C048DEA62}" type="datetimeFigureOut">
              <a:rPr lang="zh-CN" altLang="en-US" smtClean="0"/>
              <a:t>2024-05-25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E94C37-4F6B-4303-9617-3004E85C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2B8B03-1EF3-49E3-9820-46343AFD1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F8EA-B58A-4E98-9881-6662EA0C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82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EC720F-5160-4B96-AD77-D8C1C1CE3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155D26-1D96-4ACC-A05A-2EE3F0861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5FC56B-D70E-4506-ADF2-CD0F3418A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F1DC2-2C39-49C6-8AF7-CE6C048DEA62}" type="datetimeFigureOut">
              <a:rPr lang="zh-CN" altLang="en-US" smtClean="0"/>
              <a:t>2024-05-25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C998F2-7426-498A-8129-2EB11889A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CB7FF1-9DE9-44D4-983A-CB7C425F8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F8EA-B58A-4E98-9881-6662EA0C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866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8640AF-049C-4E1A-9650-AF48557A7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93DE4A-7061-469C-9656-042D9216B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3C0D5D-6BA3-4EAD-9E78-949963B82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0C4E36-D759-460F-A893-C8DDC037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F1DC2-2C39-49C6-8AF7-CE6C048DEA62}" type="datetimeFigureOut">
              <a:rPr lang="zh-CN" altLang="en-US" smtClean="0"/>
              <a:t>2024-05-25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5A9F55-CABD-42B7-AFC0-F01C2F4B6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C58B66-A979-4907-A355-9DE52771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F8EA-B58A-4E98-9881-6662EA0C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721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5A270D-7270-40E4-80C3-3CA532A9F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D3C9C1-1093-4C00-8846-FB20FFA87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50D15F-C7FB-45FB-84D3-5C557E68F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1EABA91-7073-4952-B800-9E0698A31D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7E4E2C-C61E-4842-A5FB-D107AA7D73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0AC129-68D1-418F-A8D2-BC5A690AB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F1DC2-2C39-49C6-8AF7-CE6C048DEA62}" type="datetimeFigureOut">
              <a:rPr lang="zh-CN" altLang="en-US" smtClean="0"/>
              <a:t>2024-05-25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F98492-C87E-45DB-8E36-73C5AFEE9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26F7230-B490-4DE7-8B6C-FA36993FF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F8EA-B58A-4E98-9881-6662EA0C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4561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332308-4C58-49C0-A7C7-7F374DA4C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F4A55D-E7BB-4429-8754-D8D863CA0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F1DC2-2C39-49C6-8AF7-CE6C048DEA62}" type="datetimeFigureOut">
              <a:rPr lang="zh-CN" altLang="en-US" smtClean="0"/>
              <a:t>2024-05-25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BDE695-3EF0-4456-B811-1B28F1402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CB35E3-EA6D-4748-A39D-DD7EED99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F8EA-B58A-4E98-9881-6662EA0C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25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12BB78-CFD4-4520-96B1-699D957E9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F1DC2-2C39-49C6-8AF7-CE6C048DEA62}" type="datetimeFigureOut">
              <a:rPr lang="zh-CN" altLang="en-US" smtClean="0"/>
              <a:t>2024-05-25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D97242-5CC8-4F9A-98A3-834748D3A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615362-9C6F-48BA-8EB6-39DBCF4F0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F8EA-B58A-4E98-9881-6662EA0C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355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5DCF31-3A7D-4F3E-A526-89C9D511D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41D28F-1277-480A-A62F-316D7FD64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87D8F-A0BC-411C-A18A-197752AE0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999500-0955-40C9-ABAC-011838F03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F1DC2-2C39-49C6-8AF7-CE6C048DEA62}" type="datetimeFigureOut">
              <a:rPr lang="zh-CN" altLang="en-US" smtClean="0"/>
              <a:t>2024-05-25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2F8364-972D-45B5-9C45-AB55F9647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737991-BE90-47E3-BDB0-CFD31E6DE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F8EA-B58A-4E98-9881-6662EA0C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764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E445C0-5717-4877-9CA5-4121BB12E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7A73BA6-D898-496A-A223-DFB0C65AB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91BC85-F2CC-4716-AE01-121EF846C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E5962D-ECC3-403B-B3D1-C76CC6047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F1DC2-2C39-49C6-8AF7-CE6C048DEA62}" type="datetimeFigureOut">
              <a:rPr lang="zh-CN" altLang="en-US" smtClean="0"/>
              <a:t>2024-05-25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660A65-7CF6-4743-B299-B84280F62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C5B141-F0D4-40BA-87CD-5258A1F7B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F8EA-B58A-4E98-9881-6662EA0C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31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A304D0-1131-405F-AA6F-CA92A618A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733EB5-1D3E-46A8-A914-EAB917553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4F26B6-DA28-4C79-920A-77DC9B9A1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F1DC2-2C39-49C6-8AF7-CE6C048DEA62}" type="datetimeFigureOut">
              <a:rPr lang="zh-CN" altLang="en-US" smtClean="0"/>
              <a:t>2024-05-25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41A089-36A8-4CD0-88BF-789D86665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D22D8E-9857-438F-B8A5-1C468A69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F8EA-B58A-4E98-9881-6662EA0C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656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549770-4F1B-49EA-96B4-4276700C32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8C6AE0-E148-40B0-A856-0475BBC6B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B75D99-F694-4A3C-BFA9-F82E6DB3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F1DC2-2C39-49C6-8AF7-CE6C048DEA62}" type="datetimeFigureOut">
              <a:rPr lang="zh-CN" altLang="en-US" smtClean="0"/>
              <a:t>2024-05-25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DDF4DC-DCC1-4068-ADE9-A4309CEE8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244B4F-AC1A-4C9F-BF73-80568D411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F8EA-B58A-4E98-9881-6662EA0C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794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6D92A2B-F364-4E31-B13C-69BA6A76F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B68247-68E2-4ACC-BE75-E0FE5D83F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0CC9B6-B017-46BF-8136-9D8A1093E3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F1DC2-2C39-49C6-8AF7-CE6C048DEA62}" type="datetimeFigureOut">
              <a:rPr lang="zh-CN" altLang="en-US" smtClean="0"/>
              <a:t>2024-05-25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8757CF-4D2A-4FC8-8DB2-AEB132F34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84954-1912-4E56-9DB5-8C7C13F8B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1F8EA-B58A-4E98-9881-6662EA0C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705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1">
            <a:extLst>
              <a:ext uri="{FF2B5EF4-FFF2-40B4-BE49-F238E27FC236}">
                <a16:creationId xmlns:a16="http://schemas.microsoft.com/office/drawing/2014/main" id="{730A347F-BD12-4699-B9DB-19D2D80E2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BEBBD70-6E01-442F-A2E8-3303B3886BCB}"/>
              </a:ext>
            </a:extLst>
          </p:cNvPr>
          <p:cNvSpPr/>
          <p:nvPr/>
        </p:nvSpPr>
        <p:spPr>
          <a:xfrm>
            <a:off x="3629619" y="3133534"/>
            <a:ext cx="4932761" cy="590931"/>
          </a:xfrm>
          <a:prstGeom prst="rect">
            <a:avLst/>
          </a:prstGeom>
        </p:spPr>
        <p:txBody>
          <a:bodyPr vert="horz" wrap="none" lIns="91440" tIns="45720" rIns="91440" bIns="45720" rtlCol="0" anchor="b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实验五 存储器扩展实验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936603-0E98-4C37-AA8E-58DFD0E87D0F}"/>
              </a:ext>
            </a:extLst>
          </p:cNvPr>
          <p:cNvSpPr/>
          <p:nvPr/>
        </p:nvSpPr>
        <p:spPr>
          <a:xfrm>
            <a:off x="1952077" y="1527500"/>
            <a:ext cx="828784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2022-2023</a:t>
            </a:r>
            <a:r>
              <a:rPr lang="zh-CN" altLang="en-US" sz="4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学年微机系统综合实验</a:t>
            </a:r>
          </a:p>
        </p:txBody>
      </p:sp>
    </p:spTree>
    <p:extLst>
      <p:ext uri="{BB962C8B-B14F-4D97-AF65-F5344CB8AC3E}">
        <p14:creationId xmlns:p14="http://schemas.microsoft.com/office/powerpoint/2010/main" val="1606375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实验五 存储器扩展实验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DE62D1-DD0F-444D-A51A-6EAFF6107552}"/>
              </a:ext>
            </a:extLst>
          </p:cNvPr>
          <p:cNvSpPr/>
          <p:nvPr/>
        </p:nvSpPr>
        <p:spPr>
          <a:xfrm>
            <a:off x="746235" y="1101727"/>
            <a:ext cx="10699531" cy="5642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algn="just">
              <a:lnSpc>
                <a:spcPct val="130000"/>
              </a:lnSpc>
              <a:spcAft>
                <a:spcPts val="0"/>
              </a:spcAft>
              <a:buFont typeface="+mj-ea"/>
              <a:buAutoNum type="ea1JpnChsDbPeriod"/>
            </a:pPr>
            <a:r>
              <a:rPr lang="zh-CN" altLang="zh-CN" sz="2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实验要求</a:t>
            </a:r>
            <a:endParaRPr lang="zh-CN" altLang="zh-CN" sz="28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04800"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使用两片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62256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扩充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空间为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00000H-0FFFFH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indent="304800"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编制程序，将字符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循环写入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00000H-00FFFH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中，将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写入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01000H-02FFFH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01000H-02FFFH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中的内容搬移到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04000H-05FFFH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中。</a:t>
            </a:r>
          </a:p>
          <a:p>
            <a:pPr marL="571500" indent="-571500" algn="just">
              <a:lnSpc>
                <a:spcPct val="130000"/>
              </a:lnSpc>
              <a:buFont typeface="+mj-ea"/>
              <a:buAutoNum type="ea1JpnChsDbPeriod" startAt="2"/>
            </a:pPr>
            <a:r>
              <a:rPr lang="zh-CN" altLang="zh-CN" sz="2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实验目的</a:t>
            </a:r>
          </a:p>
          <a:p>
            <a:pPr indent="304800"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学习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PROTEUS EDA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仿真工具的使用方法；</a:t>
            </a:r>
          </a:p>
          <a:p>
            <a:pPr indent="304800"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学习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最小系统中系统总线的形成方法；</a:t>
            </a:r>
          </a:p>
          <a:p>
            <a:pPr indent="304800"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掌握内存扩充方法和外围接口方法，正确设计译码电路，按照要求的地址实现存储器芯片的连接。</a:t>
            </a:r>
          </a:p>
        </p:txBody>
      </p:sp>
    </p:spTree>
    <p:extLst>
      <p:ext uri="{BB962C8B-B14F-4D97-AF65-F5344CB8AC3E}">
        <p14:creationId xmlns:p14="http://schemas.microsoft.com/office/powerpoint/2010/main" val="989904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存储器芯片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62256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引脚介绍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F5174A-9DDA-4135-837E-CA17B32258F2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芯片引脚图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70E0E9E-19A8-404A-8DEE-B5A1FEEFC0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230"/>
          <a:stretch/>
        </p:blipFill>
        <p:spPr>
          <a:xfrm>
            <a:off x="178818" y="2024876"/>
            <a:ext cx="5744462" cy="37735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7127009-6016-4E8E-9A7F-A2ED622D31E0}"/>
                  </a:ext>
                </a:extLst>
              </p:cNvPr>
              <p:cNvSpPr/>
              <p:nvPr/>
            </p:nvSpPr>
            <p:spPr>
              <a:xfrm>
                <a:off x="5923280" y="1658174"/>
                <a:ext cx="5917182" cy="43349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62256</a:t>
                </a:r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共有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根地址线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A0-A14</a:t>
                </a:r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，存储大小为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32KB</a:t>
                </a:r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；八条双向数据线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D0-D7</a:t>
                </a:r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，共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8bit</a:t>
                </a:r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endParaRPr lang="en-US" altLang="zh-CN" sz="28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𝑪𝑬</m:t>
                        </m:r>
                      </m:e>
                    </m:acc>
                  </m:oMath>
                </a14:m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片选信号引线；</a:t>
                </a:r>
                <a:endPara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𝑾𝑬</m:t>
                        </m:r>
                      </m:e>
                    </m:acc>
                    <m:r>
                      <a:rPr lang="en-US" altLang="zh-C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写允许信号，当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𝑾𝑬</m:t>
                        </m:r>
                      </m:e>
                    </m:acc>
                    <m:r>
                      <a:rPr lang="en-US" altLang="zh-CN" sz="28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时，允许将数据写入芯片；</a:t>
                </a:r>
                <a:endPara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𝑶𝑬</m:t>
                        </m:r>
                      </m:e>
                    </m:acc>
                    <m:r>
                      <a:rPr lang="en-US" altLang="zh-C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输出允许信号，当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𝑶𝑬</m:t>
                        </m:r>
                      </m:e>
                    </m:acc>
                    <m:r>
                      <a:rPr lang="en-US" altLang="zh-CN" sz="28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时，允许该芯片将某单元的数据送到芯片外部的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D0-D7</a:t>
                </a:r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上。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7127009-6016-4E8E-9A7F-A2ED622D31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280" y="1658174"/>
                <a:ext cx="5917182" cy="4334905"/>
              </a:xfrm>
              <a:prstGeom prst="rect">
                <a:avLst/>
              </a:prstGeom>
              <a:blipFill>
                <a:blip r:embed="rId4"/>
                <a:stretch>
                  <a:fillRect l="-2165" t="-1125" r="-2165" b="-29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8975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B7E82CF-956E-4C7B-9706-8CA90B9E7D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60A56E1-A56C-45C3-A7E2-F4657AAE0490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存储扩充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空间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C14B63-FFA0-4368-B16A-F4C353AA7021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原理分析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A7C221-DEE7-4DBE-B24C-41BDD5C5C3F7}"/>
              </a:ext>
            </a:extLst>
          </p:cNvPr>
          <p:cNvSpPr/>
          <p:nvPr/>
        </p:nvSpPr>
        <p:spPr>
          <a:xfrm>
            <a:off x="399096" y="1779687"/>
            <a:ext cx="11393808" cy="4192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8086CPU数据地址线不能直接和外部芯片进行传送数据，故添加锁存器。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由于62256为32KB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8bit，而8086CPU共有16位数据线，故利用两个62256芯片进行位扩充，变成64KB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16bit。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位扩充功能由BHE和A0共同完成，偶地址的数据内容存放在一个芯片，奇地址的数据内容存放在另一个芯片。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10000H-1FFFFH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高四位地址线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A19-A16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参与译码电路，要求其为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时选中两个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62256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芯片中的一个。</a:t>
            </a:r>
          </a:p>
        </p:txBody>
      </p:sp>
    </p:spTree>
    <p:extLst>
      <p:ext uri="{BB962C8B-B14F-4D97-AF65-F5344CB8AC3E}">
        <p14:creationId xmlns:p14="http://schemas.microsoft.com/office/powerpoint/2010/main" val="1218616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B7E82CF-956E-4C7B-9706-8CA90B9E7D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1FCEC47-23EA-4BBF-9F05-918CC7CA588A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存储扩充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空间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3C5908-0C71-41AD-A4C0-3DD6051C6F5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原理分析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38631D-5BEE-4CF2-AECA-ACDD77749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879" y="1766598"/>
            <a:ext cx="8588243" cy="509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745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B7E82CF-956E-4C7B-9706-8CA90B9E7D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1FCEC47-23EA-4BBF-9F05-918CC7CA588A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存储扩充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空间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3C5908-0C71-41AD-A4C0-3DD6051C6F5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锁存器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0A4F6E-417E-42D0-AA2E-400BA089BABE}"/>
              </a:ext>
            </a:extLst>
          </p:cNvPr>
          <p:cNvSpPr/>
          <p:nvPr/>
        </p:nvSpPr>
        <p:spPr>
          <a:xfrm>
            <a:off x="548640" y="1720840"/>
            <a:ext cx="11064240" cy="31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74LS273和74LS373均为地址锁存器。在最小模式下，8086CPU的20条地址线和1条BHE信号线用三片74LS373或74LS273锁存器形成，从而形成地址总线信号。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双向数据总线用2片74LS245形成。利用最小模式下8086CPU提供的DEN和DT/R分别控制2片74LS245的允许端和方向控制端，从而实现16位的双向数据总线D0-D15。</a:t>
            </a:r>
          </a:p>
        </p:txBody>
      </p:sp>
    </p:spTree>
    <p:extLst>
      <p:ext uri="{BB962C8B-B14F-4D97-AF65-F5344CB8AC3E}">
        <p14:creationId xmlns:p14="http://schemas.microsoft.com/office/powerpoint/2010/main" val="997090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B7E82CF-956E-4C7B-9706-8CA90B9E7D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1FCEC47-23EA-4BBF-9F05-918CC7CA588A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存储扩充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空间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3C5908-0C71-41AD-A4C0-3DD6051C6F5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电路原理图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BD31F2A-513F-4055-91AE-FF22DE6661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93" r="4805" b="4444"/>
          <a:stretch/>
        </p:blipFill>
        <p:spPr>
          <a:xfrm>
            <a:off x="638923" y="314960"/>
            <a:ext cx="10914154" cy="623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854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B7E82CF-956E-4C7B-9706-8CA90B9E7D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1FCEC47-23EA-4BBF-9F05-918CC7CA588A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编制程序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3C5908-0C71-41AD-A4C0-3DD6051C6F5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汇编代码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4DA4CA-EC8F-4902-A101-8FC4CDCC7927}"/>
              </a:ext>
            </a:extLst>
          </p:cNvPr>
          <p:cNvSpPr/>
          <p:nvPr/>
        </p:nvSpPr>
        <p:spPr>
          <a:xfrm>
            <a:off x="399096" y="1739047"/>
            <a:ext cx="11549064" cy="1165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将字符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循环写入上述的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10000H-10FFFH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中，将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写入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11000H-12FFFH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中。将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11000H-12FFFH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中的内容搬移到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14000H-15FFFH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71B792-6D60-4C14-8E78-152C06A1114E}"/>
              </a:ext>
            </a:extLst>
          </p:cNvPr>
          <p:cNvSpPr/>
          <p:nvPr/>
        </p:nvSpPr>
        <p:spPr>
          <a:xfrm>
            <a:off x="243840" y="2759473"/>
            <a:ext cx="10808601" cy="3952993"/>
          </a:xfrm>
          <a:prstGeom prst="rect">
            <a:avLst/>
          </a:prstGeom>
        </p:spPr>
        <p:txBody>
          <a:bodyPr wrap="square" numCol="3">
            <a:noAutofit/>
          </a:bodyPr>
          <a:lstStyle/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SEGMENT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ASSUME CS:CODE</a:t>
            </a:r>
          </a:p>
          <a:p>
            <a:pPr marL="360000"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AX,1000H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DS,AX ;设置数据段地址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AL,1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BX,0000H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CX,1000H ;循环次数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[BX],AL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JMP M1 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;1～8循环写入10000H-10FFFH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ZERO: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AL,1	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M1: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[BX],AL  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INC BX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INC AL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CMP AL,8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JA ZERO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M1   ;循环次数CX的值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;将9写入11000H-12FFFH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AL,09H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CX,2000H   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BX,1000H ;偏移地址1000H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M2: 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[BX],AL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INC BX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M2    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;将11000H-12FFFH内容移到14000H-15FFFH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BX,1000H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CX,2000H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TRANS: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AL,[BX] ;读入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ADD BX,3000H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[BX],AL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SUB BX,3000H   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INC BX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TRANS 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HLT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ENDS</a:t>
            </a: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START</a:t>
            </a:r>
          </a:p>
        </p:txBody>
      </p:sp>
    </p:spTree>
    <p:extLst>
      <p:ext uri="{BB962C8B-B14F-4D97-AF65-F5344CB8AC3E}">
        <p14:creationId xmlns:p14="http://schemas.microsoft.com/office/powerpoint/2010/main" val="597814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3F95520-9AD0-4694-AE72-798CC35DC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454681-696B-4FE3-A8E9-F2112206AA29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 Proteus</a:t>
            </a:r>
            <a:r>
              <a:rPr lang="zh-CN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的仿真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752118-E44E-4C91-B4AD-9591A46B7C5D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编辑电路原理图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CF9308-6505-4438-8F16-C6FD90D053B6}"/>
              </a:ext>
            </a:extLst>
          </p:cNvPr>
          <p:cNvSpPr/>
          <p:nvPr/>
        </p:nvSpPr>
        <p:spPr>
          <a:xfrm>
            <a:off x="399096" y="1833967"/>
            <a:ext cx="6647974" cy="601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基于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的核心仿真电路绘制方法如下：</a:t>
            </a:r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4C519A98-8DBD-4A2C-9904-D06A74941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628" y="2530014"/>
            <a:ext cx="11528744" cy="4142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①单击工具栏的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图标 打开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VSM Studio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界面；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②单击菜单命令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【Project】/【Create Project】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，打开软件项目设置对话框；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③设置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（固件系列）为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（控制器）为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（编译器）为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MASM32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，建议不选择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Quick Start Files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（套用模板自动生成源代码），并单击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确定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按钮；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④如有弹出框，直接确认即可，此时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VSM Studio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界面的名称自动更新为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，同时在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Capture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界面的原理图编辑窗口自动得到核心仿真电路。</a:t>
            </a:r>
          </a:p>
        </p:txBody>
      </p:sp>
    </p:spTree>
    <p:extLst>
      <p:ext uri="{BB962C8B-B14F-4D97-AF65-F5344CB8AC3E}">
        <p14:creationId xmlns:p14="http://schemas.microsoft.com/office/powerpoint/2010/main" val="2799397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1C04726-0CF5-476E-A102-4C0081BC62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525801B-FACE-461B-8381-3C6C6A0B3D6F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 Proteus</a:t>
            </a:r>
            <a:r>
              <a:rPr lang="zh-CN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的仿真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05B229-10C6-4680-AC2F-9B1F8E534FD2}"/>
              </a:ext>
            </a:extLst>
          </p:cNvPr>
          <p:cNvSpPr/>
          <p:nvPr/>
        </p:nvSpPr>
        <p:spPr>
          <a:xfrm>
            <a:off x="399096" y="1833967"/>
            <a:ext cx="11528744" cy="605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单击工具栏的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图标，打开界面，完成以下操作：</a:t>
            </a:r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B62EB981-95EB-43C1-A127-AD5F22ED1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628" y="2621454"/>
            <a:ext cx="11528744" cy="264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选择主菜单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【Build】/【Project Settings】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命令，弹出对话框，不勾选“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 Files”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，使得源代码的存储位置和整个项目在一起，即项目路径中自动生成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子文件夹；</a:t>
            </a:r>
          </a:p>
          <a:p>
            <a:pPr algn="just"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选择主菜单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【Project】/【Add New File】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命令，打开源代码文件添加对话框，输入文件名后，单击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保存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按钮，返回源代码编辑界面。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21C09C-7DEB-49B9-B191-F1EC4C1C373A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添加源代码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5A516DC-4A72-4DDE-B3AB-1932C9A0D97A}"/>
              </a:ext>
            </a:extLst>
          </p:cNvPr>
          <p:cNvGrpSpPr/>
          <p:nvPr/>
        </p:nvGrpSpPr>
        <p:grpSpPr>
          <a:xfrm>
            <a:off x="477407" y="1922540"/>
            <a:ext cx="10993233" cy="4636482"/>
            <a:chOff x="413272" y="2075984"/>
            <a:chExt cx="10993233" cy="4636482"/>
          </a:xfrm>
        </p:grpSpPr>
        <p:pic>
          <p:nvPicPr>
            <p:cNvPr id="12" name="图片 66">
              <a:extLst>
                <a:ext uri="{FF2B5EF4-FFF2-40B4-BE49-F238E27FC236}">
                  <a16:creationId xmlns:a16="http://schemas.microsoft.com/office/drawing/2014/main" id="{BD134103-0C32-47BF-8E5E-ADD8E924A0F7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272" y="2078590"/>
              <a:ext cx="5310505" cy="4633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图片 69">
              <a:extLst>
                <a:ext uri="{FF2B5EF4-FFF2-40B4-BE49-F238E27FC236}">
                  <a16:creationId xmlns:a16="http://schemas.microsoft.com/office/drawing/2014/main" id="{9155690B-3ADE-4C9A-91C1-6657598BD87E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2075984"/>
              <a:ext cx="5310505" cy="4633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7666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07DE8913-65A7-462D-9AC8-BCFF2EFDD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628" y="2103294"/>
            <a:ext cx="11528744" cy="4192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双击子窗口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【Projects】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中的相应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ASM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源代码文件，即可打开源代码编辑界面，编写或修改源代码内容，如图所示。所有源代码编辑完成后，单击主菜单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【Build】/【Build Project】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命令，编译源代码。在源代码无错误的正常情况下，会在“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VSM Studio Output”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窗口输出“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Compiled successfully”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等字样，提示编译通过。编译通过后，会在项目软件文件夹中自动生成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子文件夹，并在其中保存编译结果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Debug.exe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。如果提示出错，则需要再次打开源代码编辑界面，查错并修改后，重新进行编译，直到编译通过。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96635A-3B6D-42F3-B90E-E301101275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1BF5DCB-D80D-4BEB-807B-68E7623FFCC2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 Proteus</a:t>
            </a:r>
            <a:r>
              <a:rPr lang="zh-CN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的仿真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28F5B3-7E5C-4FC7-9EE4-38ADD28D5B9D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添加源代码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1">
            <a:extLst>
              <a:ext uri="{FF2B5EF4-FFF2-40B4-BE49-F238E27FC236}">
                <a16:creationId xmlns:a16="http://schemas.microsoft.com/office/drawing/2014/main" id="{B0BEF239-3C6B-4DFC-BF01-E28791BF3CC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342" y="1048504"/>
            <a:ext cx="6055677" cy="5293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248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A247668-A3A7-4324-B2E9-851456AB89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5D62BBB-0BDD-4538-8361-B9B3E70ABBF3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 Proteus</a:t>
            </a:r>
            <a:r>
              <a:rPr lang="zh-CN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的仿真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1">
            <a:extLst>
              <a:ext uri="{FF2B5EF4-FFF2-40B4-BE49-F238E27FC236}">
                <a16:creationId xmlns:a16="http://schemas.microsoft.com/office/drawing/2014/main" id="{E0BB368A-A688-47E9-92E9-DF449A22CC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3" y="1737678"/>
            <a:ext cx="11555095" cy="31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2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latin typeface="Arial" panose="020B0604020202020204" pitchFamily="34" charset="0"/>
              </a:defRPr>
            </a:lvl2pPr>
            <a:lvl3pPr marL="1143000" indent="-228600">
              <a:defRPr>
                <a:latin typeface="Arial" panose="020B0604020202020204" pitchFamily="34" charset="0"/>
              </a:defRPr>
            </a:lvl3pPr>
            <a:lvl4pPr marL="1600200" indent="-228600">
              <a:defRPr>
                <a:latin typeface="Arial" panose="020B0604020202020204" pitchFamily="34" charset="0"/>
              </a:defRPr>
            </a:lvl4pPr>
            <a:lvl5pPr marL="2057400" indent="-228600">
              <a:defRPr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说明：</a:t>
            </a:r>
            <a:r>
              <a:rPr lang="zh-CN" altLang="en-US" dirty="0"/>
              <a:t>    </a:t>
            </a:r>
            <a:endParaRPr lang="en-US" altLang="zh-CN" dirty="0"/>
          </a:p>
          <a:p>
            <a:r>
              <a:rPr lang="zh-CN" altLang="en-US" dirty="0"/>
              <a:t>      由于</a:t>
            </a:r>
            <a:r>
              <a:rPr lang="en-US" altLang="zh-CN" dirty="0"/>
              <a:t>Proteus</a:t>
            </a:r>
            <a:r>
              <a:rPr lang="zh-CN" altLang="en-US" dirty="0"/>
              <a:t>是元件级的仿真过程，因此，汇编语言程序的运行仿真是在无</a:t>
            </a:r>
            <a:r>
              <a:rPr lang="en-US" altLang="zh-CN" dirty="0"/>
              <a:t>DOS</a:t>
            </a:r>
            <a:r>
              <a:rPr lang="zh-CN" altLang="en-US" dirty="0"/>
              <a:t>支持的状态下进行的。所以仿真时在汇编语言程序中不再支持</a:t>
            </a:r>
            <a:r>
              <a:rPr lang="en-US" altLang="zh-CN" dirty="0"/>
              <a:t>DOS</a:t>
            </a:r>
            <a:r>
              <a:rPr lang="zh-CN" altLang="en-US" dirty="0"/>
              <a:t>和</a:t>
            </a:r>
            <a:r>
              <a:rPr lang="en-US" altLang="zh-CN" dirty="0"/>
              <a:t>BIOS</a:t>
            </a:r>
            <a:r>
              <a:rPr lang="zh-CN" altLang="en-US" dirty="0"/>
              <a:t>功能调用。而且在</a:t>
            </a:r>
            <a:r>
              <a:rPr lang="en-US" altLang="zh-CN" dirty="0"/>
              <a:t>Proteus</a:t>
            </a:r>
            <a:r>
              <a:rPr lang="zh-CN" altLang="en-US" dirty="0"/>
              <a:t>下的仿真过程应该是持续的，主程序不能结束并退出运行（</a:t>
            </a:r>
            <a:r>
              <a:rPr lang="en-US" altLang="zh-CN" dirty="0"/>
              <a:t>RET</a:t>
            </a:r>
            <a:r>
              <a:rPr lang="zh-CN" altLang="en-US" dirty="0"/>
              <a:t>语句可以省略），并且必须以某种方式使得程序循环执行。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52832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4E6EE4B-E912-4D2C-B07F-9FF46ADBC1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BC83D8B-4CE5-412F-94F4-3383AF4CD194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 Proteus</a:t>
            </a:r>
            <a:r>
              <a:rPr lang="zh-CN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的仿真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A003C1-F47D-4D55-904F-BFD78B8FA150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仿真调试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9DF6A8-94A4-4191-8284-1BFAC939BEF3}"/>
              </a:ext>
            </a:extLst>
          </p:cNvPr>
          <p:cNvSpPr/>
          <p:nvPr/>
        </p:nvSpPr>
        <p:spPr>
          <a:xfrm>
            <a:off x="462280" y="1861580"/>
            <a:ext cx="11267440" cy="3675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正确编译后，在电路原理图界面中，单击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 CPU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芯片属性，检查其“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File”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信息为“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8086\Debug\Debug.exe”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，选择菜单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【Debug】/【Start VSM Debugging】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命令，即可进入调试状态。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有三种方式：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仿真控制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调试控制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设置断点</a:t>
            </a:r>
          </a:p>
        </p:txBody>
      </p:sp>
    </p:spTree>
    <p:extLst>
      <p:ext uri="{BB962C8B-B14F-4D97-AF65-F5344CB8AC3E}">
        <p14:creationId xmlns:p14="http://schemas.microsoft.com/office/powerpoint/2010/main" val="4149660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8D56195-1EAC-405D-8CAB-D682F1C673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A0D2C3-B648-40BF-8B37-20673F79F991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 Proteus</a:t>
            </a:r>
            <a:r>
              <a:rPr lang="zh-CN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的仿真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3EEA56-2A53-4901-9CC5-7CAFC2CB04A6}"/>
              </a:ext>
            </a:extLst>
          </p:cNvPr>
          <p:cNvSpPr/>
          <p:nvPr/>
        </p:nvSpPr>
        <p:spPr>
          <a:xfrm>
            <a:off x="339725" y="1844675"/>
            <a:ext cx="11512550" cy="4710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514350" indent="-514350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仿真控制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VSM</a:t>
            </a:r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仿真有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种状态，对应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Proteus</a:t>
            </a:r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界面左下角的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个控制按钮（或菜单【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</a:t>
            </a:r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】下的子命令）：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全速仿真（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Simulation</a:t>
            </a:r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启动调试（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VSM Debugging</a:t>
            </a:r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暂停调试（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Pause VSM Debugging</a:t>
            </a:r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停止调试（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VSM Debugging</a:t>
            </a:r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全速仿真时，单击暂停按钮可使电路从仿真状态切换到调试状态。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F01702-F724-4F06-BF56-7F2D38BB1991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仿真调试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459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D940561-63A6-4143-A138-359ECBA447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6B15A1D-7159-4F7A-9EBA-1A1BC08D9D97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 Proteus</a:t>
            </a:r>
            <a:r>
              <a:rPr lang="zh-CN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的仿真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08EEE1-9EB0-451F-9FA6-F4503FDEC7DA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仿真调试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BAC3AE-D8AC-422F-9340-5EA66FEFEF34}"/>
              </a:ext>
            </a:extLst>
          </p:cNvPr>
          <p:cNvSpPr/>
          <p:nvPr/>
        </p:nvSpPr>
        <p:spPr>
          <a:xfrm>
            <a:off x="339725" y="1844675"/>
            <a:ext cx="11512550" cy="4710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514350" indent="-514350">
              <a:lnSpc>
                <a:spcPct val="120000"/>
              </a:lnSpc>
              <a:buFont typeface="+mj-ea"/>
              <a:buAutoNum type="circleNumDbPlain" startAt="2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调试控制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一般在调试状态下，系统会自动打开反汇编程序调试窗口；而其他的调试观察窗口需要通过菜单命令才能弹出，如图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5-43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中的内存观察窗口和寄存器观察窗口。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程序调试执行到某处时，在该行代码的最左边会出现一个红色的箭头，同时该行程序呈高亮显示状态。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buFont typeface="+mj-ea"/>
              <a:buAutoNum type="circleNumDbPlain" startAt="3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设置断点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在反汇编程序调试窗口单击某行，使该行高亮显示后，双击行首或按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F9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键就可以设置断点。相同的操作可以去除断点。</a:t>
            </a:r>
          </a:p>
        </p:txBody>
      </p:sp>
    </p:spTree>
    <p:extLst>
      <p:ext uri="{BB962C8B-B14F-4D97-AF65-F5344CB8AC3E}">
        <p14:creationId xmlns:p14="http://schemas.microsoft.com/office/powerpoint/2010/main" val="1547619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C1A914D-E186-487C-9E02-804C2C8C35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23" t="9926" b="2815"/>
          <a:stretch/>
        </p:blipFill>
        <p:spPr>
          <a:xfrm>
            <a:off x="0" y="59201"/>
            <a:ext cx="12192000" cy="672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95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42BAE22-4BDE-40D5-B7CA-D05EAE3F9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26" y="885349"/>
            <a:ext cx="11313748" cy="508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98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4FA79AE-149C-419E-8F8B-BBB6345B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40" y="773589"/>
            <a:ext cx="11656920" cy="531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291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1421</Words>
  <Application>Microsoft Office PowerPoint</Application>
  <PresentationFormat>宽屏</PresentationFormat>
  <Paragraphs>116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XD</dc:creator>
  <cp:lastModifiedBy>鑫洋 廖</cp:lastModifiedBy>
  <cp:revision>32</cp:revision>
  <dcterms:created xsi:type="dcterms:W3CDTF">2022-05-16T06:37:08Z</dcterms:created>
  <dcterms:modified xsi:type="dcterms:W3CDTF">2024-05-25T03:45:52Z</dcterms:modified>
</cp:coreProperties>
</file>