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703" r:id="rId3"/>
  </p:sldMasterIdLst>
  <p:notesMasterIdLst>
    <p:notesMasterId r:id="rId5"/>
  </p:notesMasterIdLst>
  <p:sldIdLst>
    <p:sldId id="257" r:id="rId4"/>
    <p:sldId id="258" r:id="rId6"/>
    <p:sldId id="259" r:id="rId7"/>
    <p:sldId id="263" r:id="rId8"/>
    <p:sldId id="260" r:id="rId9"/>
    <p:sldId id="268" r:id="rId10"/>
    <p:sldId id="269" r:id="rId11"/>
    <p:sldId id="272" r:id="rId12"/>
    <p:sldId id="261" r:id="rId13"/>
    <p:sldId id="288" r:id="rId14"/>
    <p:sldId id="275" r:id="rId15"/>
    <p:sldId id="286" r:id="rId16"/>
    <p:sldId id="262" r:id="rId17"/>
    <p:sldId id="273" r:id="rId18"/>
    <p:sldId id="271" r:id="rId19"/>
    <p:sldId id="289" r:id="rId20"/>
    <p:sldId id="278" r:id="rId21"/>
    <p:sldId id="290" r:id="rId22"/>
    <p:sldId id="274" r:id="rId23"/>
    <p:sldId id="291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6B7C3"/>
    <a:srgbClr val="EA5873"/>
    <a:srgbClr val="E6D39E"/>
    <a:srgbClr val="FE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902" y="996"/>
      </p:cViewPr>
      <p:guideLst>
        <p:guide orient="horz" pos="2146"/>
        <p:guide pos="39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76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729CE-0E17-41B9-9ABB-79B064BA67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/>
              <a:t>PPT https://www.1ppt.com/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264A22-2CFB-416B-AF9F-3134B02DC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extBox 8"/>
          <p:cNvSpPr txBox="1"/>
          <p:nvPr userDrawn="1"/>
        </p:nvSpPr>
        <p:spPr>
          <a:xfrm>
            <a:off x="453650" y="4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1219200"/>
            <a:fld id="{2E3AAC11-D570-4EA9-AFC0-30FB72BA45EB}" type="datetimeFigureOut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1920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1219200"/>
            <a:fld id="{55ECCFAA-F4FB-487C-9F1E-C8836D0C3DC9}" type="slidenum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1219200"/>
            <a:fld id="{2E3AAC11-D570-4EA9-AFC0-30FB72BA45EB}" type="datetimeFigureOut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1219200"/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1219200"/>
            <a:fld id="{55ECCFAA-F4FB-487C-9F1E-C8836D0C3DC9}" type="slidenum">
              <a:rPr lang="zh-CN" altLang="en-US" sz="2400" smtClean="0">
                <a:solidFill>
                  <a:prstClr val="black"/>
                </a:solidFill>
              </a:rPr>
            </a:fld>
            <a:endParaRPr lang="zh-CN" altLang="en-US" sz="24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5" Type="http://schemas.openxmlformats.org/officeDocument/2006/relationships/theme" Target="../theme/theme1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7504E-09E4-466D-ADBB-DF73E0EA875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14F45-F31E-4969-BEE6-23C63BC6AC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Tm="3000">
        <p15:prstTrans prst="fallOver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10.png"/><Relationship Id="rId4" Type="http://schemas.openxmlformats.org/officeDocument/2006/relationships/tags" Target="../tags/tag1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image" Target="../media/image12.png"/><Relationship Id="rId5" Type="http://schemas.openxmlformats.org/officeDocument/2006/relationships/tags" Target="../tags/tag14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20.emf"/><Relationship Id="rId6" Type="http://schemas.openxmlformats.org/officeDocument/2006/relationships/tags" Target="../tags/tag27.xml"/><Relationship Id="rId5" Type="http://schemas.openxmlformats.org/officeDocument/2006/relationships/image" Target="../media/image19.emf"/><Relationship Id="rId4" Type="http://schemas.openxmlformats.org/officeDocument/2006/relationships/tags" Target="../tags/tag26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7" Type="http://schemas.openxmlformats.org/officeDocument/2006/relationships/notesSlide" Target="../notesSlides/notesSlide1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4.png"/><Relationship Id="rId7" Type="http://schemas.openxmlformats.org/officeDocument/2006/relationships/tags" Target="../tags/tag36.xml"/><Relationship Id="rId6" Type="http://schemas.microsoft.com/office/2007/relationships/hdphoto" Target="../media/image25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28.emf"/><Relationship Id="rId6" Type="http://schemas.openxmlformats.org/officeDocument/2006/relationships/tags" Target="../tags/tag46.xml"/><Relationship Id="rId5" Type="http://schemas.openxmlformats.org/officeDocument/2006/relationships/image" Target="../media/image27.emf"/><Relationship Id="rId4" Type="http://schemas.openxmlformats.org/officeDocument/2006/relationships/tags" Target="../tags/tag45.xml"/><Relationship Id="rId3" Type="http://schemas.openxmlformats.org/officeDocument/2006/relationships/image" Target="../media/image9.jpeg"/><Relationship Id="rId20" Type="http://schemas.openxmlformats.org/officeDocument/2006/relationships/notesSlide" Target="../notesSlides/notesSlide17.xml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image" Target="../media/image30.emf"/><Relationship Id="rId7" Type="http://schemas.openxmlformats.org/officeDocument/2006/relationships/tags" Target="../tags/tag60.xml"/><Relationship Id="rId6" Type="http://schemas.openxmlformats.org/officeDocument/2006/relationships/image" Target="../media/image29.png"/><Relationship Id="rId5" Type="http://schemas.openxmlformats.org/officeDocument/2006/relationships/tags" Target="../tags/tag59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5" Type="http://schemas.openxmlformats.org/officeDocument/2006/relationships/notesSlide" Target="../notesSlides/notesSlide19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5.xml"/><Relationship Id="rId22" Type="http://schemas.openxmlformats.org/officeDocument/2006/relationships/tags" Target="../tags/tag74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image" Target="../media/image7.jpeg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8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58712" y="2214489"/>
            <a:ext cx="859536" cy="8778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2838" y="3260623"/>
            <a:ext cx="859536" cy="87782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540000">
            <a:off x="4178218" y="4598931"/>
            <a:ext cx="4503984" cy="63935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829379" y="4739443"/>
            <a:ext cx="198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汇报人 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: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魏朝旭</a:t>
            </a:r>
            <a:endParaRPr lang="zh-CN" altLang="en-US" spc="300" dirty="0">
              <a:solidFill>
                <a:schemeClr val="bg1"/>
              </a:solidFill>
              <a:effectLst>
                <a:outerShdw blurRad="139700" sx="102000" sy="102000" algn="c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21000000">
            <a:off x="3169920" y="2274570"/>
            <a:ext cx="1948180" cy="201358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1500" dirty="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心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240000">
            <a:off x="4714240" y="2310130"/>
            <a:ext cx="1734820" cy="184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1500" dirty="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灵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 rot="21060000">
            <a:off x="7564755" y="2263140"/>
            <a:ext cx="1363980" cy="17703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1500" dirty="0">
                <a:ln w="57150">
                  <a:noFill/>
                </a:ln>
                <a:gradFill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探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77489" y="2390328"/>
            <a:ext cx="1518364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400" dirty="0">
                <a:ln w="57150">
                  <a:noFill/>
                </a:ln>
                <a:gradFill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侦</a:t>
            </a:r>
            <a:endParaRPr lang="zh-CN" altLang="en-US" sz="10400" dirty="0">
              <a:ln w="57150">
                <a:noFill/>
              </a:ln>
              <a:gradFill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50030" y="4145280"/>
            <a:ext cx="3875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一场</a:t>
            </a:r>
            <a:r>
              <a:rPr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揭秘校园心理困扰</a:t>
            </a:r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的</a:t>
            </a:r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探索</a:t>
            </a:r>
            <a:endParaRPr lang="zh-CN" sz="20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0" grpId="0"/>
      <p:bldP spid="22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2838" y="3260623"/>
            <a:ext cx="859536" cy="87782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368662" y="276728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目</a:t>
            </a:r>
            <a:endParaRPr lang="zh-CN" altLang="en-US" sz="80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94042" y="3699535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录</a:t>
            </a:r>
            <a:endParaRPr lang="zh-CN" altLang="en-US" sz="80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5017" y="2066604"/>
            <a:ext cx="483732" cy="47207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372" y="2798398"/>
            <a:ext cx="483732" cy="47207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372" y="3530192"/>
            <a:ext cx="483732" cy="47207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372" y="4993506"/>
            <a:ext cx="483732" cy="472076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924450" y="2066260"/>
            <a:ext cx="30604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sym typeface="+mn-ea"/>
              </a:rPr>
              <a:t>故事主题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23815" y="2798291"/>
            <a:ext cx="30604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创作灵感</a:t>
            </a:r>
            <a:endParaRPr lang="zh-CN" altLang="en-US" sz="28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922544" y="3523555"/>
            <a:ext cx="30604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故事概况</a:t>
            </a:r>
            <a:endParaRPr lang="zh-CN" altLang="en-US" sz="2800" b="1" dirty="0"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21909" y="4981097"/>
            <a:ext cx="30604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创作意图</a:t>
            </a:r>
            <a:endParaRPr lang="zh-CN" altLang="en-US" sz="2800" b="1" dirty="0"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0" y="4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372" y="4262073"/>
            <a:ext cx="483732" cy="4720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21275" y="4252441"/>
            <a:ext cx="306041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人物塑造</a:t>
            </a:r>
            <a:endParaRPr lang="zh-CN" altLang="en-US" sz="2800" b="1" dirty="0"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8706" y="2572949"/>
            <a:ext cx="2260886" cy="29008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6853" y="2009506"/>
            <a:ext cx="3211069" cy="29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5490706" y="269992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ln w="571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壹</a:t>
            </a:r>
            <a:endParaRPr lang="zh-CN" altLang="en-US" sz="8000" dirty="0">
              <a:ln w="57150">
                <a:noFill/>
              </a:ln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24608" y="5094445"/>
            <a:ext cx="2342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故事主题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sym typeface="+mn-ea"/>
              </a:rPr>
              <a:t>故事主题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4" name="图片 3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4878">
            <a:off x="1309687" y="1077643"/>
            <a:ext cx="1198562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1717267" y="1303137"/>
            <a:ext cx="764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1</a:t>
            </a:r>
            <a:endParaRPr lang="zh-CN" altLang="en-US" sz="40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2343785" y="1576705"/>
            <a:ext cx="57569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剧本聚焦于心理健康对个体和社会的影响，强调了在复杂的社会环境中维护心理健康的必要性。心理健康会将个人不为人知的一面，如思维、如情感具化成复杂的行为。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2411730" y="1176655"/>
            <a:ext cx="23501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心理健康的重要性</a:t>
            </a:r>
            <a:endParaRPr lang="zh-CN" altLang="en-US" sz="20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2" name="图片 3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4878">
            <a:off x="1241741" y="4271275"/>
            <a:ext cx="1198562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1649321" y="4496769"/>
            <a:ext cx="764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3</a:t>
            </a:r>
            <a:endParaRPr lang="zh-CN" altLang="en-US" sz="40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2275840" y="4770755"/>
            <a:ext cx="58254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剧本通过主人公的经历，探讨了在面对心理挑战时的成长过程和自我发现的重要性。</a:t>
            </a:r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2"/>
            </p:custDataLst>
          </p:nvPr>
        </p:nvSpPr>
        <p:spPr>
          <a:xfrm>
            <a:off x="2343785" y="4370070"/>
            <a:ext cx="20618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成长与自我发现</a:t>
            </a:r>
            <a:endParaRPr lang="zh-CN" altLang="en-US" sz="20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" name="图片 31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4878">
            <a:off x="1242080" y="2674668"/>
            <a:ext cx="1198562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>
            <p:custDataLst>
              <p:tags r:id="rId14"/>
            </p:custDataLst>
          </p:nvPr>
        </p:nvSpPr>
        <p:spPr>
          <a:xfrm>
            <a:off x="1649660" y="2900162"/>
            <a:ext cx="764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2</a:t>
            </a:r>
            <a:endParaRPr lang="zh-CN" altLang="en-US" sz="40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5"/>
            </p:custDataLst>
          </p:nvPr>
        </p:nvSpPr>
        <p:spPr>
          <a:xfrm>
            <a:off x="2275840" y="3173730"/>
            <a:ext cx="5825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通过角色解决心理难题的过程，展示了心理学理论和方法在实际生活中的应用。</a:t>
            </a:r>
            <a:r>
              <a:rPr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从</a:t>
            </a:r>
            <a:r>
              <a:rPr lang="zh-CN"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在学校中</a:t>
            </a:r>
            <a:r>
              <a:rPr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应对考试压力到</a:t>
            </a:r>
            <a:r>
              <a:rPr lang="zh-CN"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日常生活</a:t>
            </a:r>
            <a:r>
              <a:rPr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处理人际关系，心理学为学生提供了分析和解决问题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的有效</a:t>
            </a:r>
            <a:r>
              <a:rPr sz="1600" dirty="0" err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工具</a:t>
            </a:r>
            <a:r>
              <a:rPr sz="1600" dirty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。</a:t>
            </a:r>
            <a:endParaRPr lang="zh-CN" altLang="en-US" sz="16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6"/>
            </p:custDataLst>
          </p:nvPr>
        </p:nvSpPr>
        <p:spPr>
          <a:xfrm>
            <a:off x="2344031" y="2773741"/>
            <a:ext cx="175963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心理学的应用</a:t>
            </a:r>
            <a:endParaRPr lang="zh-CN" altLang="en-US" sz="20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5" grpId="1"/>
      <p:bldP spid="26" grpId="1"/>
      <p:bldP spid="27" grpId="1"/>
      <p:bldP spid="4" grpId="0"/>
      <p:bldP spid="5" grpId="0"/>
      <p:bldP spid="7" grpId="0"/>
      <p:bldP spid="4" grpId="1"/>
      <p:bldP spid="5" grpId="1"/>
      <p:bldP spid="7" grpId="1"/>
      <p:bldP spid="33" grpId="0"/>
      <p:bldP spid="34" grpId="0"/>
      <p:bldP spid="35" grpId="0"/>
      <p:bldP spid="33" grpId="1"/>
      <p:bldP spid="34" grpId="1"/>
      <p:bldP spid="3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8706" y="2572949"/>
            <a:ext cx="2260886" cy="29008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6853" y="2009506"/>
            <a:ext cx="3211069" cy="29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5490706" y="269992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>
                <a:ln w="571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贰</a:t>
            </a:r>
            <a:endParaRPr lang="zh-CN" altLang="en-US" sz="8000" dirty="0">
              <a:ln w="57150">
                <a:noFill/>
              </a:ln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24608" y="5094445"/>
            <a:ext cx="2342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创作灵感</a:t>
            </a:r>
            <a:endParaRPr lang="zh-CN" altLang="en-US" sz="28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创作灵感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55" name="矩形 354"/>
          <p:cNvSpPr/>
          <p:nvPr/>
        </p:nvSpPr>
        <p:spPr>
          <a:xfrm>
            <a:off x="1493520" y="1500505"/>
            <a:ext cx="9580245" cy="368109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56" name="图片 3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05" y="802640"/>
            <a:ext cx="3929380" cy="4379595"/>
          </a:xfrm>
          <a:prstGeom prst="rect">
            <a:avLst/>
          </a:prstGeom>
        </p:spPr>
      </p:pic>
      <p:sp>
        <p:nvSpPr>
          <p:cNvPr id="357" name="文本框 356"/>
          <p:cNvSpPr txBox="1"/>
          <p:nvPr/>
        </p:nvSpPr>
        <p:spPr>
          <a:xfrm>
            <a:off x="4278630" y="1634490"/>
            <a:ext cx="6581775" cy="34131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在创作中，我们构思过很多思路，想过虚造一些事件，夸张化一下后果，来引起震撼。但最终觉得，源于生活才最真实，最能让观众看完话剧感同身受。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刷过抖音，看过新闻，了解了很多心理事件，我的小组发现心理健康的事件浮于表面时都有一个共同的特点：离奇。正常人看了会觉得诧异，为什么会做出这种事来。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正是鉴于此点，我们想到了一个很有意思的主题，让主角化身侦探，用心理学知识去勘破这些日常生活里的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“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神秘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”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事件。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" grpId="0"/>
      <p:bldP spid="35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创作灵感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115" y="1479550"/>
            <a:ext cx="2325370" cy="445897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1189355" y="3031490"/>
            <a:ext cx="1532890" cy="239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学生可能因为焦虑或社交压力模仿他人的动作、言语或姿势，以希望融入群体或隐藏自己的真实情感。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855" y="1479550"/>
            <a:ext cx="2325370" cy="44589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040" y="1479550"/>
            <a:ext cx="2325370" cy="44589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590" y="1479550"/>
            <a:ext cx="2325370" cy="445897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189990" y="2507615"/>
            <a:ext cx="1532255" cy="399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拟态行为</a:t>
            </a:r>
            <a:endParaRPr lang="zh-CN" altLang="en-US" sz="20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4079875" y="2507615"/>
            <a:ext cx="1532255" cy="399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社交焦虑</a:t>
            </a:r>
            <a:endParaRPr lang="zh-CN" altLang="en-US" sz="20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6847840" y="2507615"/>
            <a:ext cx="1532255" cy="399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攻击行为</a:t>
            </a:r>
            <a:endParaRPr lang="zh-CN" altLang="en-US" sz="20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9544685" y="2501900"/>
            <a:ext cx="1532255" cy="399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强迫症状</a:t>
            </a:r>
            <a:endParaRPr lang="zh-CN" altLang="en-US" sz="20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3307715" y="713105"/>
            <a:ext cx="5737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2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校园里的神秘现象</a:t>
            </a:r>
            <a:endParaRPr lang="zh-CN" altLang="en-US" sz="32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4079875" y="3031490"/>
            <a:ext cx="1532890" cy="2399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学生可能因为社交焦虑表现出回避社交场合的倾向，比如逃避团体活动、回避同学或老师等。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6"/>
            </p:custDataLst>
          </p:nvPr>
        </p:nvSpPr>
        <p:spPr>
          <a:xfrm>
            <a:off x="6855460" y="3031490"/>
            <a:ext cx="1532890" cy="239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学生可能因为情绪问题或沮丧而表现出攻击性行为，可能会袭击他人或做出其他令人震惊的行为。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9631045" y="3031490"/>
            <a:ext cx="1532890" cy="239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有些学生可能因为强迫症状而做出一些奇怪的行为，比如频繁洗手、反复检查等、不断数楼梯。</a:t>
            </a:r>
            <a:endParaRPr lang="zh-C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创作灵感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 b="20278"/>
          <a:stretch>
            <a:fillRect/>
          </a:stretch>
        </p:blipFill>
        <p:spPr>
          <a:xfrm>
            <a:off x="0" y="514350"/>
            <a:ext cx="12192000" cy="495300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598" y="1288792"/>
            <a:ext cx="5162302" cy="2823295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0084" y="4112087"/>
            <a:ext cx="573750" cy="54000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6204930" y="3866977"/>
            <a:ext cx="1666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最终抉择</a:t>
            </a:r>
            <a:endParaRPr lang="zh-CN" altLang="en-US" sz="2800" b="1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974425" y="4652679"/>
            <a:ext cx="46742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使用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侦探故事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的框架来增加故事的趣味性和紧张感，同时传递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心理学知识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。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285" y="5604981"/>
            <a:ext cx="573750" cy="5400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0166" y="5246617"/>
            <a:ext cx="404563" cy="380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8706" y="2572949"/>
            <a:ext cx="2260886" cy="29008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6853" y="2009506"/>
            <a:ext cx="3211069" cy="29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5490706" y="269992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>
                <a:ln w="571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叁</a:t>
            </a:r>
            <a:endParaRPr lang="zh-CN" altLang="en-US" sz="8000" dirty="0">
              <a:ln w="57150">
                <a:noFill/>
              </a:ln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24608" y="5094445"/>
            <a:ext cx="2342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故事概况</a:t>
            </a:r>
            <a:endParaRPr lang="zh-CN" altLang="en-US" sz="28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故事梗概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3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87"/>
          <a:stretch>
            <a:fillRect/>
          </a:stretch>
        </p:blipFill>
        <p:spPr bwMode="auto">
          <a:xfrm>
            <a:off x="52388" y="3228975"/>
            <a:ext cx="347345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9019404" y="2003524"/>
            <a:ext cx="2013752" cy="3407278"/>
            <a:chOff x="9357683" y="2063304"/>
            <a:chExt cx="1548090" cy="2511647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10797843" y="2232813"/>
              <a:ext cx="0" cy="17143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>
              <a:off x="10898516" y="3605614"/>
              <a:ext cx="7257" cy="5380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9963271" y="2722026"/>
              <a:ext cx="0" cy="17143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9862647" y="2530835"/>
              <a:ext cx="7257" cy="5380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9357683" y="2063304"/>
              <a:ext cx="1418110" cy="2511647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zh-CN" altLang="en-US" sz="5400" dirty="0">
                  <a:sym typeface="+mn-ea"/>
                </a:rPr>
                <a:t>剧情梗概</a:t>
              </a:r>
              <a:endParaRPr lang="zh-CN" altLang="en-US" sz="5400" dirty="0"/>
            </a:p>
            <a:p>
              <a:pPr algn="ctr"/>
              <a:endParaRPr lang="zh-CN" altLang="en-US" sz="54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8" name="图片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421" y="4898927"/>
            <a:ext cx="12541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文本框 28"/>
          <p:cNvSpPr txBox="1"/>
          <p:nvPr/>
        </p:nvSpPr>
        <p:spPr>
          <a:xfrm>
            <a:off x="2971165" y="1360805"/>
            <a:ext cx="6544310" cy="3702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>
              <a:lnSpc>
                <a:spcPct val="140000"/>
              </a:lnSpc>
            </a:pPr>
            <a:r>
              <a:rPr lang="zh-CN" altLang="en-US" sz="2000" dirty="0">
                <a:solidFill>
                  <a:sysClr val="windowText" lastClr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ea"/>
              </a:rPr>
              <a:t>故事发生在一所大学，主人公小林是一名心理学专业的学生。他发现校园里存在一系列神秘的现象，例如突然的恐慌发作、怪异的行为、宁人毛骨悚然的传闻等，这些问题似乎都没有表面上那么简单。小林经过初步分析，认为这些都或多或少都与心理学问题有关。于是，小林与对此感兴趣的好友小杨一起展开一场校园心理侦探之旅，通过心理学知识和侦探技巧，揭开了事件的真相，帮助校园里的学生以及自我解决了心理困扰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highlight>
                  <a:srgbClr val="FFFFFF">
                    <a:alpha val="0"/>
                  </a:srgbClr>
                </a:highligh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故事线索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476799">
            <a:off x="4822774" y="3128749"/>
            <a:ext cx="2806621" cy="600503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952449">
            <a:off x="4692689" y="3021840"/>
            <a:ext cx="2806621" cy="600503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6529051" y="2006087"/>
            <a:ext cx="87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s</a:t>
            </a:r>
            <a:endParaRPr lang="zh-CN" altLang="en-US" sz="72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890456" y="2180257"/>
            <a:ext cx="87300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W</a:t>
            </a:r>
            <a:endParaRPr lang="zh-CN" altLang="en-US" sz="66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036452" y="3437767"/>
            <a:ext cx="87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O</a:t>
            </a:r>
            <a:endParaRPr lang="zh-CN" altLang="en-US" sz="72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520376" y="3429000"/>
            <a:ext cx="8730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T</a:t>
            </a:r>
            <a:endParaRPr lang="zh-CN" altLang="en-US" sz="72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331595" y="989965"/>
            <a:ext cx="30010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+mn-ea"/>
              </a:rPr>
              <a:t>心灵侦探的觉醒</a:t>
            </a:r>
            <a:endParaRPr lang="zh-CN" altLang="en-US" sz="24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30271" y="1466055"/>
            <a:ext cx="3139734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/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主人公小林，一个心理学专业的学生，发现校园中存在一系列神秘现象，在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参加一场心理学讲座后</a:t>
            </a: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他意识到这些或许与心理学相关。于是，他们决定利用心理学知识来解开校园内的一些神秘现象。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145148" y="3882998"/>
            <a:ext cx="3139734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张明在图书馆经历情绪崩溃，小林和小杨意识到需要深入了解和帮助。心理咨询中心举办压力管理工作坊，张明和其他学生受益，小杨和小林体会到了帮助别人的满足感。小杨和小林计划将心理健康知识和经验继续推广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766439" y="1450180"/>
            <a:ext cx="3139734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小杨在楼梯间遇见一个神秘的数楼梯的人，心中生疑。小杨和小林决定帮助这个出现强迫症状的学生。 他们将情况反映给心理咨询中心，并一起参与促使那名学生开始接受心理咨询和治疗的过程。</a:t>
            </a:r>
            <a:endParaRPr lang="zh-CN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859751" y="3782033"/>
            <a:ext cx="3139734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楷体" panose="02010609060101010101" charset="-122"/>
                <a:ea typeface="楷体" panose="02010609060101010101" charset="-122"/>
                <a:sym typeface="Arial" panose="020B0604020202020204" pitchFamily="34" charset="0"/>
              </a:rPr>
              <a:t>小林意识到小杨自己也可能存在未解决的心理问题，鼓励小杨探索自己的心理世界。小杨在心理咨询中心接受心理咨询和治疗，学习应对自身恐惧和焦虑的技巧。小杨经历个人成长，学会了应对压力，他和小林的心理侦探旅程进入新阶段。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0170" y="3322955"/>
            <a:ext cx="3001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24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+mn-ea"/>
              </a:rPr>
              <a:t>深化与成长</a:t>
            </a:r>
            <a:endParaRPr sz="24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68005" y="3265170"/>
            <a:ext cx="2423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+mn-ea"/>
              </a:rPr>
              <a:t> 反思与自我进化</a:t>
            </a:r>
            <a:endParaRPr sz="24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14920" y="989965"/>
            <a:ext cx="3188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4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+mn-ea"/>
              </a:rPr>
              <a:t>探索与发现</a:t>
            </a:r>
            <a:endParaRPr sz="24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3" grpId="1"/>
      <p:bldP spid="4" grpId="0"/>
      <p:bldP spid="4" grpId="1"/>
      <p:bldP spid="2" grpId="0"/>
      <p:bldP spid="2" grpId="1"/>
      <p:bldP spid="3" grpId="0"/>
      <p:bldP spid="3" grpId="1"/>
      <p:bldP spid="44" grpId="0"/>
      <p:bldP spid="44" grpId="1"/>
      <p:bldP spid="48" grpId="0"/>
      <p:bldP spid="48" grpId="1"/>
      <p:bldP spid="46" grpId="0"/>
      <p:bldP spid="46" grpId="1"/>
      <p:bldP spid="50" grpId="0"/>
      <p:bldP spid="5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highlight>
                  <a:srgbClr val="FFFFFF">
                    <a:alpha val="0"/>
                  </a:srgbClr>
                </a:highligh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故事特色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193231" y="2105338"/>
            <a:ext cx="3677487" cy="165689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84464" y="1822851"/>
            <a:ext cx="606823" cy="564973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2404" y="2651296"/>
            <a:ext cx="606823" cy="564973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178227" y="4181399"/>
            <a:ext cx="606823" cy="564973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941160" y="2485301"/>
            <a:ext cx="31501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故事设定在校园环境中，通过一系列心理案例揭示学生面临的心理挑战。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1930405" y="1874505"/>
            <a:ext cx="16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校园环境</a:t>
            </a:r>
            <a:endParaRPr lang="zh-CN" altLang="en-US" sz="24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12"/>
            </p:custDataLst>
          </p:nvPr>
        </p:nvSpPr>
        <p:spPr>
          <a:xfrm>
            <a:off x="5863554" y="4224548"/>
            <a:ext cx="16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心理谜题</a:t>
            </a:r>
            <a:endParaRPr lang="zh-CN" altLang="en-US" sz="240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5105037" y="4746372"/>
            <a:ext cx="31501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主角运用心理学知识，解决影响他人的心理问题，每个案例都有其独特性和复杂性。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9323228" y="2722412"/>
            <a:ext cx="1666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人与自我</a:t>
            </a:r>
            <a:endParaRPr lang="zh-CN" altLang="en-US" sz="24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8564711" y="3244236"/>
            <a:ext cx="315012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Arial" panose="020B0604020202020204" pitchFamily="34" charset="0"/>
              </a:rPr>
              <a:t>故事不仅关注他人的心理问题，也深入探讨主角自己的心理成长和变化。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1" grpId="1"/>
      <p:bldP spid="52" grpId="1"/>
      <p:bldP spid="53" grpId="0"/>
      <p:bldP spid="54" grpId="0"/>
      <p:bldP spid="53" grpId="1"/>
      <p:bldP spid="54" grpId="1"/>
      <p:bldP spid="55" grpId="0"/>
      <p:bldP spid="56" grpId="0"/>
      <p:bldP spid="55" grpId="1"/>
      <p:bldP spid="5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8706" y="2572949"/>
            <a:ext cx="2260886" cy="29008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6853" y="2009506"/>
            <a:ext cx="3211069" cy="29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5490706" y="2699920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>
                <a:ln w="571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肆</a:t>
            </a:r>
            <a:endParaRPr lang="zh-CN" altLang="en-US" sz="8000" dirty="0">
              <a:ln w="57150">
                <a:noFill/>
              </a:ln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24608" y="5094445"/>
            <a:ext cx="2342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人物塑造</a:t>
            </a:r>
            <a:endParaRPr lang="zh-CN" altLang="en-US" sz="28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主角赏析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317" y="0"/>
            <a:ext cx="401136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685" y="2444655"/>
            <a:ext cx="1994337" cy="191817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072" y="1244505"/>
            <a:ext cx="1994337" cy="191817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835991" y="2999367"/>
            <a:ext cx="11085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小林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31956" y="1857326"/>
            <a:ext cx="110856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小杨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06340" y="4255819"/>
            <a:ext cx="313973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>
                    <a:alpha val="0"/>
                  </a:srgbClr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小林是一位具有敏锐观察能力的大学生，他发现了校园中的种种异常现象，并意识到这些现象背后可能隐藏着心理学问题。这启发了他踏上了一条探索心理谜团的旅程。</a:t>
            </a:r>
            <a:endParaRPr lang="zh-CN" altLang="en-US" sz="160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>
                  <a:alpha val="0"/>
                </a:srgbClr>
              </a:highlight>
              <a:uLnTx/>
              <a:uFillTx/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964450" y="3113778"/>
            <a:ext cx="3139734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60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>
                    <a:alpha val="0"/>
                  </a:srgbClr>
                </a:highlight>
                <a:uLnTx/>
                <a:uFillTx/>
                <a:latin typeface="黑体" panose="02010609060101010101" charset="-122"/>
                <a:ea typeface="黑体" panose="02010609060101010101" charset="-122"/>
                <a:sym typeface="+mn-ea"/>
              </a:rPr>
              <a:t>小杨是小林的好友，他对小林发现的心理谜团充满了好奇心。然而，随着他们一起深入调查，小杨也开始意识到自己对某些情况的强烈反应，这让他感到困惑和不安。</a:t>
            </a:r>
            <a:endParaRPr sz="160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>
                  <a:alpha val="0"/>
                </a:srgbClr>
              </a:highlight>
              <a:uLnTx/>
              <a:uFillTx/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  <a:p>
            <a:pPr marL="0"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60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>
                  <a:alpha val="0"/>
                </a:srgbClr>
              </a:highlight>
              <a:uLnTx/>
              <a:uFillTx/>
              <a:latin typeface="黑体" panose="02010609060101010101" charset="-122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主角关系</a:t>
            </a:r>
            <a:endParaRPr lang="zh-CN" sz="2800" b="1" dirty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043505" y="2269731"/>
            <a:ext cx="2916820" cy="291682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64" r="17718"/>
          <a:stretch>
            <a:fillRect/>
          </a:stretch>
        </p:blipFill>
        <p:spPr>
          <a:xfrm rot="15729370">
            <a:off x="6545005" y="1426455"/>
            <a:ext cx="6299655" cy="452235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8430" y="1807755"/>
            <a:ext cx="483732" cy="472076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8430" y="3302456"/>
            <a:ext cx="483732" cy="472076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8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8430" y="4797156"/>
            <a:ext cx="483732" cy="472076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2031897" y="1665221"/>
            <a:ext cx="409267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小林和小杨通过共同参与校园中的心理侦探活动，逐渐培养出深厚的默契。他们在解决心理问题的过程中相互支持，互补彼此的长处和短处，形成了一个高效的侦探团队。</a:t>
            </a:r>
            <a:endParaRPr lang="zh-CN" altLang="en-US" sz="1600" dirty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2032000" y="1280160"/>
            <a:ext cx="271970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1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+mn-ea"/>
                <a:cs typeface="+mn-ea"/>
                <a:sym typeface="+mn-ea"/>
              </a:rPr>
              <a:t>心理侦探的默契配合</a:t>
            </a:r>
            <a:endParaRPr sz="2100" b="1">
              <a:solidFill>
                <a:schemeClr val="tx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+mn-ea"/>
              <a:cs typeface="+mn-ea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2031897" y="3220499"/>
            <a:ext cx="4092678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小杨对校园内发生的不明事件感到恐惧和焦虑，而小林则更加冷静和理性。这种不同的反应模式揭示了他们各自内心的特点，也为他们的侦探行动带来了不同的视角和处理方式。</a:t>
            </a:r>
            <a:endParaRPr sz="160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2032000" y="2790825"/>
            <a:ext cx="302323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1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Arial" panose="020B0604020202020204" pitchFamily="34" charset="0"/>
              </a:rPr>
              <a:t>面对离奇事件反应差异</a:t>
            </a:r>
            <a:endParaRPr lang="zh-CN" sz="21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2031897" y="4895279"/>
            <a:ext cx="4092678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随着剧情发展，小林注意到小杨对某些情况的过度反应，意识到背后可能隐藏着更深层次的恐惧。在小林的鼓励下，小杨开始面对并探索自己的内心，通过心理咨询和自我照顾技巧来缓解这些恐惧。</a:t>
            </a:r>
            <a:br>
              <a:rPr sz="2000">
                <a:latin typeface="微软雅黑" panose="020B0503020204020204" pitchFamily="34" charset="-122"/>
                <a:sym typeface="+mn-ea"/>
              </a:rPr>
            </a:b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16"/>
            </p:custDataLst>
          </p:nvPr>
        </p:nvSpPr>
        <p:spPr>
          <a:xfrm>
            <a:off x="2032000" y="4525010"/>
            <a:ext cx="290830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sz="21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cs typeface="+mn-ea"/>
                <a:sym typeface="+mn-ea"/>
              </a:rPr>
              <a:t>对伙伴心理健康的留意</a:t>
            </a:r>
            <a:endParaRPr lang="zh-CN" sz="21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Arial" panose="020B0604020202020204" pitchFamily="34" charset="0"/>
              </a:rPr>
              <a:t>配角赏析</a:t>
            </a:r>
            <a:endParaRPr lang="zh-CN" altLang="en-US" sz="2800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2" t="32447" r="7937"/>
          <a:stretch>
            <a:fillRect/>
          </a:stretch>
        </p:blipFill>
        <p:spPr>
          <a:xfrm>
            <a:off x="-14514" y="2206170"/>
            <a:ext cx="6328228" cy="4632779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9618428" y="1793687"/>
            <a:ext cx="337624" cy="1026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9584333" y="1793687"/>
            <a:ext cx="97" cy="1026942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512424" y="2094089"/>
            <a:ext cx="551815" cy="8672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sz="2400" b="1">
                <a:solidFill>
                  <a:schemeClr val="bg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困境</a:t>
            </a:r>
            <a:endParaRPr lang="zh-CN" altLang="en-US" sz="2400" b="1">
              <a:solidFill>
                <a:schemeClr val="bg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038187" y="1984111"/>
            <a:ext cx="1198245" cy="19262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sz="66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释放</a:t>
            </a:r>
            <a:endParaRPr lang="zh-CN" altLang="en-US" sz="6600" b="1">
              <a:solidFill>
                <a:schemeClr val="tx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" name="New shape"/>
          <p:cNvSpPr/>
          <p:nvPr/>
        </p:nvSpPr>
        <p:spPr>
          <a:xfrm>
            <a:off x="5795010" y="1511935"/>
            <a:ext cx="3269615" cy="363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l"/>
            <a:r>
              <a:rPr sz="2800" b="1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张明</a:t>
            </a:r>
            <a:endParaRPr sz="2800" b="1" i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en-US" sz="1600" b="0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      </a:t>
            </a:r>
            <a:r>
              <a:rPr lang="zh-CN" altLang="en-US" sz="1600" b="0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其</a:t>
            </a:r>
            <a:r>
              <a:rPr b="0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代表了校园内许多面临压力的学生，他的痛苦和尖叫是内心困境的一种释放。</a:t>
            </a:r>
            <a:endParaRPr b="0" i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</a:endParaRPr>
          </a:p>
          <a:p>
            <a:pPr indent="457200" algn="l">
              <a:lnSpc>
                <a:spcPct val="150000"/>
              </a:lnSpc>
            </a:pPr>
            <a:r>
              <a:rPr lang="zh-CN" b="0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他在</a:t>
            </a:r>
            <a:r>
              <a:rPr b="0" i="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</a:rPr>
              <a:t>小林和小杨的帮助下，通过心理咨询和集体活动，张明学会了更好地管理自己的情绪和学业压力，找到了解决问题的途径。</a:t>
            </a:r>
            <a:endParaRPr b="0" i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17850" y="216281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4985" y="280035"/>
            <a:ext cx="2743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小杨的自我改变</a:t>
            </a:r>
            <a:endParaRPr lang="zh-CN" altLang="en-US" sz="2800" b="1" dirty="0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28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95" y="3410085"/>
            <a:ext cx="1049665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4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4252" y="3076494"/>
            <a:ext cx="1229525" cy="115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4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176" y="3076494"/>
            <a:ext cx="1229525" cy="115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4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080" y="3076494"/>
            <a:ext cx="1229525" cy="1156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文本框 4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002562" y="3270262"/>
            <a:ext cx="508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1</a:t>
            </a:r>
            <a:r>
              <a:rPr lang="zh-CN" altLang="en-US" sz="4400" b="1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、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3" name="文本框 4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617023" y="3237904"/>
            <a:ext cx="68103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b="1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2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4" name="文本框 4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427309" y="3225942"/>
            <a:ext cx="50641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3</a:t>
            </a:r>
            <a:r>
              <a:rPr lang="zh-CN" altLang="en-US" sz="4400" b="1" dirty="0"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、</a:t>
            </a:r>
            <a:endParaRPr lang="zh-CN" altLang="en-US" sz="4400" b="1" dirty="0"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5" name="文本框 44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135565" y="4286256"/>
            <a:ext cx="2484439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sz="24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发现</a:t>
            </a:r>
            <a:r>
              <a:rPr lang="zh-CN" sz="24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问题</a:t>
            </a:r>
            <a:endParaRPr lang="zh-CN" sz="2400" b="1" dirty="0">
              <a:solidFill>
                <a:schemeClr val="tx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6" name="文本框 44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838224" y="1347930"/>
            <a:ext cx="2484439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indent="0" algn="ctr">
              <a:buNone/>
            </a:pPr>
            <a:r>
              <a:rPr sz="24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专业咨询</a:t>
            </a:r>
            <a:endParaRPr lang="zh-CN" altLang="en-US" sz="2400" b="1" dirty="0">
              <a:solidFill>
                <a:schemeClr val="tx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7" name="文本框 4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609442" y="4327183"/>
            <a:ext cx="2484439" cy="42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indent="0" algn="ctr">
              <a:buNone/>
            </a:pPr>
            <a:r>
              <a:rPr lang="zh-CN" sz="24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自我调节</a:t>
            </a:r>
            <a:endParaRPr lang="zh-CN" sz="2400" b="1" dirty="0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2135227" y="4747921"/>
            <a:ext cx="2537482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在心理侦探的旅途中，小杨</a:t>
            </a:r>
            <a:r>
              <a:rPr lang="zh-CN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逐步显现出</a:t>
            </a:r>
            <a:r>
              <a:rPr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对校园内发生的谜团和传闻反应过度，</a:t>
            </a:r>
            <a:r>
              <a:rPr lang="zh-CN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在这</a:t>
            </a:r>
            <a:r>
              <a:rPr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背后</a:t>
            </a:r>
            <a:r>
              <a:rPr lang="zh-CN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反映出他的内心</a:t>
            </a:r>
            <a:r>
              <a:rPr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隐藏着深层的恐惧。</a:t>
            </a:r>
            <a:r>
              <a:rPr lang="zh-CN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在小林的提醒下，他</a:t>
            </a:r>
            <a:r>
              <a:rPr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决定面对内心的恐惧，开始了自我探索的旅程</a:t>
            </a:r>
            <a:endParaRPr lang="zh-CN" altLang="en-US" sz="1400" dirty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4688840" y="1807845"/>
            <a:ext cx="275653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   小林的观察和小杨的自我发现促使他们来到心理咨询中心。在那里，小杨通过与咨询师的对话，逐渐开放自己的内心，并学习到缓解焦虑和恐惧的技巧。</a:t>
            </a:r>
            <a:endParaRPr lang="zh-CN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7565398" y="4747921"/>
            <a:ext cx="2537482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14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    经过一系列的专业咨询和自我实践，小杨学会在压力和恐惧来袭时运用呼吸放松和正念冥想来处理情绪。他变得更加从容不迫，对困难和挑战的应对能力有了显著提高。</a:t>
            </a:r>
            <a:endParaRPr lang="en-US" sz="140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14360" y="2213934"/>
            <a:ext cx="859536" cy="87782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8706" y="2572949"/>
            <a:ext cx="2260886" cy="290082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4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6853" y="2009506"/>
            <a:ext cx="3211069" cy="2902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5490706" y="2699920"/>
            <a:ext cx="1198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ln w="57150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伍</a:t>
            </a:r>
            <a:endParaRPr lang="zh-CN" altLang="en-US" sz="8000" dirty="0">
              <a:ln w="57150">
                <a:noFill/>
              </a:ln>
              <a:solidFill>
                <a:schemeClr val="bg1"/>
              </a:solidFill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24608" y="5094445"/>
            <a:ext cx="2342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创作意图</a:t>
            </a:r>
            <a:endParaRPr lang="zh-CN" altLang="en-US" sz="2800" b="1"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9354312" y="4768620"/>
            <a:ext cx="2837688" cy="208937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28016"/>
            <a:ext cx="573024" cy="5852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-1" y="0"/>
            <a:ext cx="2148841" cy="18077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5088">
            <a:off x="5451325" y="2424903"/>
            <a:ext cx="1371699" cy="4404438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rot="21115669">
            <a:off x="4586598" y="1919943"/>
            <a:ext cx="1568523" cy="177268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8"/>
          <a:stretch>
            <a:fillRect/>
          </a:stretch>
        </p:blipFill>
        <p:spPr>
          <a:xfrm rot="4254110">
            <a:off x="5845114" y="2584350"/>
            <a:ext cx="1520067" cy="1717917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"/>
          <a:stretch>
            <a:fillRect/>
          </a:stretch>
        </p:blipFill>
        <p:spPr>
          <a:xfrm rot="21115669">
            <a:off x="4568556" y="4017199"/>
            <a:ext cx="1568523" cy="17726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/>
          <a:stretch>
            <a:fillRect/>
          </a:stretch>
        </p:blipFill>
        <p:spPr>
          <a:xfrm rot="4254110">
            <a:off x="5912746" y="4630657"/>
            <a:ext cx="1520067" cy="1717917"/>
          </a:xfrm>
          <a:prstGeom prst="rect">
            <a:avLst/>
          </a:prstGeom>
        </p:spPr>
      </p:pic>
      <p:cxnSp>
        <p:nvCxnSpPr>
          <p:cNvPr id="25" name="直接连接符 24"/>
          <p:cNvCxnSpPr/>
          <p:nvPr>
            <p:custDataLst>
              <p:tags r:id="rId12"/>
            </p:custDataLst>
          </p:nvPr>
        </p:nvCxnSpPr>
        <p:spPr>
          <a:xfrm flipH="1">
            <a:off x="1865083" y="2027099"/>
            <a:ext cx="13063" cy="1289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724520" y="2029524"/>
            <a:ext cx="1044575" cy="12870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sz="2800" b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提升心理意识</a:t>
            </a:r>
            <a:endParaRPr lang="zh-CN" altLang="en-US" sz="2800" b="1" dirty="0">
              <a:solidFill>
                <a:schemeClr val="tx1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2019681" y="1818352"/>
            <a:ext cx="2402975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通过话剧剧本的演绎，观众能意识到心理健康的重要性，理解焦虑、恐惧等情绪对日常生活的影响，从而更加关注自己和他人的心理状态。</a:t>
            </a:r>
            <a:endParaRPr lang="zh-CN" altLang="en-US" sz="1600" b="1" dirty="0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 flipH="1">
            <a:off x="1865083" y="4136562"/>
            <a:ext cx="13063" cy="1289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16"/>
            </p:custDataLst>
          </p:nvPr>
        </p:nvSpPr>
        <p:spPr>
          <a:xfrm>
            <a:off x="724520" y="4138987"/>
            <a:ext cx="1044575" cy="12870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sz="28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促进互助文化</a:t>
            </a:r>
            <a:endParaRPr sz="28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2047875" y="3794125"/>
            <a:ext cx="2486660" cy="181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话剧展示了角色们互相帮助、共同成长的过程，鼓励观众在遇到困难时寻求帮助，强化了建立互助小组、开展心理健康讲座等活动的意义，倡导积极的心理互助文化</a:t>
            </a:r>
            <a:endParaRPr sz="16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18"/>
            </p:custDataLst>
          </p:nvPr>
        </p:nvCxnSpPr>
        <p:spPr>
          <a:xfrm flipH="1">
            <a:off x="10215628" y="2637055"/>
            <a:ext cx="5420" cy="1289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19"/>
            </p:custDataLst>
          </p:nvPr>
        </p:nvSpPr>
        <p:spPr>
          <a:xfrm>
            <a:off x="10396309" y="2639480"/>
            <a:ext cx="1044575" cy="12870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sz="28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掌握应对策略</a:t>
            </a:r>
            <a:endParaRPr sz="28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>
            <a:off x="7925744" y="2444015"/>
            <a:ext cx="2402975" cy="181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剧中角色通过心理学知识和技巧解决了校园内的种种问题，观众可以从中学习到如何面对压力和挑战，掌握自我放松、正念冥想等有效的心理调节方法。</a:t>
            </a:r>
            <a:endParaRPr sz="16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21"/>
            </p:custDataLst>
          </p:nvPr>
        </p:nvCxnSpPr>
        <p:spPr>
          <a:xfrm flipH="1">
            <a:off x="10215628" y="4746518"/>
            <a:ext cx="5421" cy="1289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>
            <p:custDataLst>
              <p:tags r:id="rId22"/>
            </p:custDataLst>
          </p:nvPr>
        </p:nvSpPr>
        <p:spPr>
          <a:xfrm>
            <a:off x="10396309" y="4768628"/>
            <a:ext cx="1044575" cy="128700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sz="2800" b="1"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自我照顾成长</a:t>
            </a:r>
            <a:endParaRPr sz="2800" b="1"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3"/>
            </p:custDataLst>
          </p:nvPr>
        </p:nvSpPr>
        <p:spPr>
          <a:xfrm>
            <a:off x="7740015" y="4427855"/>
            <a:ext cx="2586990" cy="181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剧中</a:t>
            </a: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小杨</a:t>
            </a:r>
            <a:r>
              <a:rPr lang="zh-CN"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最终</a:t>
            </a: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学会了自我照顾的技巧，如呼吸放松和正念冥想，以更好地管理自己的情绪。</a:t>
            </a:r>
            <a:r>
              <a:rPr lang="zh-CN"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这向观众</a:t>
            </a:r>
            <a:r>
              <a:rPr sz="16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楷体" panose="02010609060101010101" charset="-122"/>
                <a:ea typeface="楷体" panose="02010609060101010101" charset="-122"/>
                <a:sym typeface="+mn-ea"/>
              </a:rPr>
              <a:t>传递了一个信息：面对压力和挑战时，个人的成长和自我照顾至关重要。</a:t>
            </a:r>
            <a:endParaRPr sz="16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楷体" panose="02010609060101010101" charset="-122"/>
              <a:ea typeface="楷体" panose="02010609060101010101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3496" y="280073"/>
            <a:ext cx="24263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Arial" panose="020B0604020202020204" pitchFamily="34" charset="0"/>
              </a:rPr>
              <a:t>预期效果</a:t>
            </a:r>
            <a:endParaRPr lang="zh-CN" sz="28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183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58712" y="2214489"/>
            <a:ext cx="859536" cy="87782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2838" y="3260623"/>
            <a:ext cx="859536" cy="87782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540000">
            <a:off x="4178218" y="4598931"/>
            <a:ext cx="4503984" cy="63935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829379" y="4739443"/>
            <a:ext cx="198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汇报人 </a:t>
            </a:r>
            <a:r>
              <a:rPr lang="en-US" altLang="zh-CN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:</a:t>
            </a:r>
            <a:r>
              <a:rPr lang="zh-CN" altLang="en-US" spc="300" dirty="0">
                <a:solidFill>
                  <a:schemeClr val="bg1"/>
                </a:solidFill>
                <a:effectLst>
                  <a:outerShdw blurRad="139700" sx="102000" sy="102000" algn="ctr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  <a:sym typeface="Arial" panose="020B0604020202020204" pitchFamily="34" charset="0"/>
              </a:rPr>
              <a:t>魏朝旭</a:t>
            </a:r>
            <a:endParaRPr lang="zh-CN" altLang="en-US" spc="300" dirty="0">
              <a:solidFill>
                <a:schemeClr val="bg1"/>
              </a:solidFill>
              <a:effectLst>
                <a:outerShdw blurRad="139700" sx="102000" sy="102000" algn="ctr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华文新魏" panose="020108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 rot="21000000">
            <a:off x="3169920" y="2274570"/>
            <a:ext cx="1948180" cy="201358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1500" dirty="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谢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240000">
            <a:off x="4714240" y="2310130"/>
            <a:ext cx="1734820" cy="184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1500" dirty="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谢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 rot="21060000">
            <a:off x="7564755" y="2263140"/>
            <a:ext cx="1363980" cy="17703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1500" dirty="0">
                <a:ln w="57150">
                  <a:noFill/>
                </a:ln>
                <a:gradFill flip="none" rotWithShape="1"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  <a:tileRect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家</a:t>
            </a:r>
            <a:endParaRPr lang="zh-CN" altLang="en-US" sz="11500" dirty="0">
              <a:ln w="57150">
                <a:noFill/>
              </a:ln>
              <a:gradFill flip="none" rotWithShape="1"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  <a:tileRect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77489" y="2390328"/>
            <a:ext cx="1518364" cy="169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400" dirty="0">
                <a:ln w="57150">
                  <a:noFill/>
                </a:ln>
                <a:gradFill>
                  <a:gsLst>
                    <a:gs pos="54000">
                      <a:srgbClr val="F6B7C3"/>
                    </a:gs>
                    <a:gs pos="0">
                      <a:srgbClr val="EA5873"/>
                    </a:gs>
                    <a:gs pos="100000">
                      <a:schemeClr val="tx1">
                        <a:lumMod val="95000"/>
                        <a:lumOff val="5000"/>
                      </a:schemeClr>
                    </a:gs>
                  </a:gsLst>
                  <a:lin ang="5400000" scaled="1"/>
                </a:gradFill>
                <a:latin typeface="汉仪行楷简" panose="02010609000101010101" pitchFamily="49" charset="-122"/>
                <a:ea typeface="汉仪行楷简" panose="02010609000101010101" pitchFamily="49" charset="-122"/>
                <a:sym typeface="Arial" panose="020B0604020202020204" pitchFamily="34" charset="0"/>
              </a:rPr>
              <a:t>大</a:t>
            </a:r>
            <a:endParaRPr lang="zh-CN" altLang="en-US" sz="10400" dirty="0">
              <a:ln w="57150">
                <a:noFill/>
              </a:ln>
              <a:gradFill>
                <a:gsLst>
                  <a:gs pos="54000">
                    <a:srgbClr val="F6B7C3"/>
                  </a:gs>
                  <a:gs pos="0">
                    <a:srgbClr val="EA5873"/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5400000" scaled="1"/>
              </a:gradFill>
              <a:latin typeface="汉仪行楷简" panose="02010609000101010101" pitchFamily="49" charset="-122"/>
              <a:ea typeface="汉仪行楷简" panose="0201060900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050030" y="4145280"/>
            <a:ext cx="38754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一场</a:t>
            </a:r>
            <a:r>
              <a:rPr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揭秘校园心理困扰</a:t>
            </a:r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的</a:t>
            </a:r>
            <a:r>
              <a:rPr lang="zh-CN" sz="2000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sym typeface="+mn-ea"/>
              </a:rPr>
              <a:t>探索</a:t>
            </a:r>
            <a:endParaRPr lang="zh-CN" sz="2000" b="1">
              <a:solidFill>
                <a:srgbClr val="000000"/>
              </a:solidFill>
              <a:highlight>
                <a:srgbClr val="FFFFFF">
                  <a:alpha val="0"/>
                </a:srgbClr>
              </a:highlight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0" grpId="0"/>
      <p:bldP spid="22" grpId="0"/>
      <p:bldP spid="17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2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3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4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5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6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7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8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9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10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11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12.xml><?xml version="1.0" encoding="utf-8"?>
<p:tagLst xmlns:p="http://schemas.openxmlformats.org/presentationml/2006/main">
  <p:tag name="KSO_WM_DIAGRAM_VIRTUALLY_FRAME" val="{&quot;height&quot;:377.93986508509886,&quot;left&quot;:81.16967806483602,&quot;top&quot;:67.24239029209619,&quot;width&quot;:753.5569361083922}"/>
</p:tagLst>
</file>

<file path=ppt/tags/tag13.xml><?xml version="1.0" encoding="utf-8"?>
<p:tagLst xmlns:p="http://schemas.openxmlformats.org/presentationml/2006/main">
  <p:tag name="KSO_WM_DIAGRAM_VIRTUALLY_FRAME" val="{&quot;height&quot;:467.5181889763779,&quot;left&quot;:62.45,&quot;top&quot;:104.3,&quot;width&quot;:897.55}"/>
</p:tagLst>
</file>

<file path=ppt/tags/tag14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15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16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17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18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19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0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1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2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3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4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5.xml><?xml version="1.0" encoding="utf-8"?>
<p:tagLst xmlns:p="http://schemas.openxmlformats.org/presentationml/2006/main">
  <p:tag name="KSO_WM_DIAGRAM_VIRTUALLY_FRAME" val="{&quot;height&quot;:541.718188976378,&quot;left&quot;:62.45,&quot;top&quot;:104.3,&quot;width&quot;:897.55}"/>
</p:tagLst>
</file>

<file path=ppt/tags/tag26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27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28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29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0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1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2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3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4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5.xml><?xml version="1.0" encoding="utf-8"?>
<p:tagLst xmlns:p="http://schemas.openxmlformats.org/presentationml/2006/main">
  <p:tag name="KSO_WM_DIAGRAM_VIRTUALLY_FRAME" val="{&quot;height&quot;:302.90165354330713,&quot;left&quot;:74.10708661417323,&quot;top&quot;:143.5315748031496,&quot;width&quot;:848.3211023622047}"/>
</p:tagLst>
</file>

<file path=ppt/tags/tag36.xml><?xml version="1.0" encoding="utf-8"?>
<p:tagLst xmlns:p="http://schemas.openxmlformats.org/presentationml/2006/main">
  <p:tag name="KSO_WM_DIAGRAM_VIRTUALLY_FRAME" val="{&quot;height&quot;:330.44409448818897,&quot;left&quot;:113.26220472440946,&quot;top&quot;:138.3,&quot;width&quot;:366.73779527559054}"/>
</p:tagLst>
</file>

<file path=ppt/tags/tag37.xml><?xml version="1.0" encoding="utf-8"?>
<p:tagLst xmlns:p="http://schemas.openxmlformats.org/presentationml/2006/main">
  <p:tag name="KSO_WM_DIAGRAM_VIRTUALLY_FRAME" val="{&quot;height&quot;:330.44409448818897,&quot;left&quot;:113.26220472440946,&quot;top&quot;:138.3,&quot;width&quot;:366.73779527559054}"/>
</p:tagLst>
</file>

<file path=ppt/tags/tag38.xml><?xml version="1.0" encoding="utf-8"?>
<p:tagLst xmlns:p="http://schemas.openxmlformats.org/presentationml/2006/main">
  <p:tag name="KSO_WM_DIAGRAM_VIRTUALLY_FRAME" val="{&quot;height&quot;:330.44409448818897,&quot;left&quot;:113.26220472440946,&quot;top&quot;:138.3,&quot;width&quot;:366.73779527559054}"/>
</p:tagLst>
</file>

<file path=ppt/tags/tag39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0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1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2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3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4.xml><?xml version="1.0" encoding="utf-8"?>
<p:tagLst xmlns:p="http://schemas.openxmlformats.org/presentationml/2006/main">
  <p:tag name="KSO_WM_DIAGRAM_VIRTUALLY_FRAME" val="{&quot;height&quot;:451.5050393700787,&quot;left&quot;:115.51220472440946,&quot;top&quot;:100.8,&quot;width&quot;:366.73779527559054}"/>
</p:tagLst>
</file>

<file path=ppt/tags/tag45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46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47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48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49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0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1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2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3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4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5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6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7.xml><?xml version="1.0" encoding="utf-8"?>
<p:tagLst xmlns:p="http://schemas.openxmlformats.org/presentationml/2006/main">
  <p:tag name="KSO_WM_DIAGRAM_VIRTUALLY_FRAME" val="{&quot;height&quot;:468.7658267716535,&quot;left&quot;:74.1492125984252,&quot;top&quot;:106.13622047244094,&quot;width&quot;:826.5082677165353}"/>
</p:tagLst>
</file>

<file path=ppt/tags/tag58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59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0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1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2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3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4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5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6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7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8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69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0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1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2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3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4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5.xml><?xml version="1.0" encoding="utf-8"?>
<p:tagLst xmlns:p="http://schemas.openxmlformats.org/presentationml/2006/main">
  <p:tag name="KSO_WM_DIAGRAM_VIRTUALLY_FRAME" val="{&quot;height&quot;:396.8227416067145,&quot;left&quot;:57.04881889763779,&quot;top&quot;:143.17732283464565,&quot;width&quot;:902.9511811023622}"/>
</p:tagLst>
</file>

<file path=ppt/tags/tag76.xml><?xml version="1.0" encoding="utf-8"?>
<p:tagLst xmlns:p="http://schemas.openxmlformats.org/presentationml/2006/main">
  <p:tag name="ISPRING_PRESENTATION_TITLE" val="3552.pptx"/>
  <p:tag name="commondata" val="eyJoZGlkIjoiNWY0ZTA5YzFmOTU5MWNhOTM2YTFmZWVkOTUzMzgxMj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2609</Words>
  <Application>WPS 演示</Application>
  <PresentationFormat>宽屏</PresentationFormat>
  <Paragraphs>232</Paragraphs>
  <Slides>20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华文新魏</vt:lpstr>
      <vt:lpstr>汉仪行楷简</vt:lpstr>
      <vt:lpstr>Times New Roman</vt:lpstr>
      <vt:lpstr>Arial Unicode MS</vt:lpstr>
      <vt:lpstr>Calibri Light</vt:lpstr>
      <vt:lpstr>Calibri</vt:lpstr>
      <vt:lpstr>等线</vt:lpstr>
      <vt:lpstr>汉仪中圆简</vt:lpstr>
      <vt:lpstr>Arial</vt:lpstr>
      <vt:lpstr>仿宋</vt:lpstr>
      <vt:lpstr>楷体</vt:lpstr>
      <vt:lpstr>字魂45号-冰宇雅宋</vt:lpstr>
      <vt:lpstr>黑体</vt:lpstr>
      <vt:lpstr>微软雅黑 Light</vt:lpstr>
      <vt:lpstr>爱奇艺黑体 Black</vt:lpstr>
      <vt:lpstr>第一PPT，www.1ppt.com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中国风</dc:title>
  <dc:creator/>
  <cp:keywords>www.1ppt.com</cp:keywords>
  <dc:description>www.1ppt.com</dc:description>
  <cp:lastModifiedBy>秋萤野马</cp:lastModifiedBy>
  <cp:revision>10</cp:revision>
  <dcterms:created xsi:type="dcterms:W3CDTF">2017-03-14T17:01:00Z</dcterms:created>
  <dcterms:modified xsi:type="dcterms:W3CDTF">2024-03-21T08:20:24Z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CCF39E1DD70C4929805C58E8BC71FE93_12</vt:lpwstr>
  </property>
  <property fmtid="{D5CDD505-2E9C-101B-9397-08002B2CF9AE}" pid="3" name="KSOProductBuildVer">
    <vt:lpwstr>2052-12.1.0.16412</vt:lpwstr>
  </property>
</Properties>
</file>