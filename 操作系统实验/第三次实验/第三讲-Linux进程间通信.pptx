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49" r:id="rId2"/>
    <p:sldId id="266" r:id="rId3"/>
    <p:sldId id="271" r:id="rId4"/>
    <p:sldId id="354" r:id="rId5"/>
    <p:sldId id="355" r:id="rId6"/>
    <p:sldId id="380" r:id="rId7"/>
    <p:sldId id="356" r:id="rId8"/>
    <p:sldId id="381" r:id="rId9"/>
    <p:sldId id="382" r:id="rId10"/>
    <p:sldId id="383" r:id="rId11"/>
    <p:sldId id="404" r:id="rId12"/>
    <p:sldId id="385" r:id="rId13"/>
    <p:sldId id="387" r:id="rId14"/>
    <p:sldId id="388" r:id="rId15"/>
    <p:sldId id="357" r:id="rId16"/>
    <p:sldId id="38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92191" autoAdjust="0"/>
  </p:normalViewPr>
  <p:slideViewPr>
    <p:cSldViewPr snapToGrid="0">
      <p:cViewPr varScale="1">
        <p:scale>
          <a:sx n="151" d="100"/>
          <a:sy n="151" d="100"/>
        </p:scale>
        <p:origin x="42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F8427-FECB-4E7B-9DFF-6DEAD5470E7A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C16BD-DB70-4C16-9C90-83B023C13E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fld id="{420671C6-DC18-4CFB-8CDB-DEA62C9BCA90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960895" y="6613525"/>
            <a:ext cx="4231105" cy="2444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</a:t>
            </a:r>
            <a:r>
              <a:rPr lang="en-US" altLang="zh-CN" sz="1000" b="1" dirty="0" err="1">
                <a:solidFill>
                  <a:srgbClr val="336699"/>
                </a:solidFill>
                <a:latin typeface="Helvetica" panose="020B0604020202020204" pitchFamily="34" charset="0"/>
              </a:rPr>
              <a:t>Xidian</a:t>
            </a:r>
            <a:r>
              <a:rPr lang="en-US" altLang="zh-CN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University,</a:t>
            </a:r>
            <a:r>
              <a:rPr lang="en-US" altLang="zh-CN" sz="1000" b="1" baseline="0" dirty="0">
                <a:solidFill>
                  <a:srgbClr val="336699"/>
                </a:solidFill>
                <a:latin typeface="Helvetica" panose="020B0604020202020204" pitchFamily="34" charset="0"/>
              </a:rPr>
              <a:t> Cyber Engineering, Pengbin Feng</a:t>
            </a:r>
            <a:r>
              <a:rPr lang="en-US" altLang="zh-CN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© 2024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5985" y="6613526"/>
            <a:ext cx="2659702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anose="05000000000000000000" pitchFamily="2" charset="2"/>
              <a:buChar char="p"/>
              <a:defRPr/>
            </a:lvl1pPr>
            <a:lvl2pPr marL="742950" indent="-285750">
              <a:buFont typeface="Wingdings" panose="05000000000000000000" pitchFamily="2" charset="2"/>
              <a:buChar char="Ø"/>
              <a:defRPr/>
            </a:lvl2pPr>
            <a:lvl3pPr marL="1085850" indent="-228600">
              <a:buFont typeface="Wingdings" panose="05000000000000000000" pitchFamily="2" charset="2"/>
              <a:buChar char="l"/>
              <a:defRPr/>
            </a:lvl3pPr>
            <a:lvl4pPr marL="1428750" indent="-228600">
              <a:buFont typeface="Wingdings" panose="05000000000000000000" pitchFamily="2" charset="2"/>
              <a:buChar char="n"/>
              <a:defRPr/>
            </a:lvl4pPr>
            <a:lvl5pPr marL="1828800" indent="-2857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1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267" y="1233489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Verdana" panose="020B0604030504040204" charset="0"/>
              <a:ea typeface="MS PGothic" panose="020B0600070205080204" pitchFamily="34" charset="-128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5802355" y="6613526"/>
            <a:ext cx="341760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fld id="{E47A1B8B-F58A-418B-942E-02E227757422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7884695" y="6605586"/>
            <a:ext cx="4289315" cy="2444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</a:t>
            </a:r>
            <a:r>
              <a:rPr lang="en-US" altLang="zh-CN" sz="1000" b="1" dirty="0" err="1">
                <a:solidFill>
                  <a:srgbClr val="336699"/>
                </a:solidFill>
                <a:latin typeface="Helvetica" panose="020B0604020202020204" pitchFamily="34" charset="0"/>
              </a:rPr>
              <a:t>Xidian</a:t>
            </a:r>
            <a:r>
              <a:rPr lang="en-US" altLang="zh-CN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University,</a:t>
            </a:r>
            <a:r>
              <a:rPr lang="en-US" altLang="zh-CN" sz="1000" b="1" baseline="0" dirty="0">
                <a:solidFill>
                  <a:srgbClr val="336699"/>
                </a:solidFill>
                <a:latin typeface="Helvetica" panose="020B0604020202020204" pitchFamily="34" charset="0"/>
              </a:rPr>
              <a:t> Cyber Engineering, Pengbin Feng</a:t>
            </a:r>
            <a:r>
              <a:rPr lang="en-US" altLang="zh-CN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© 2024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247651" y="6621464"/>
            <a:ext cx="2659702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2060" name="Picture 12" descr="dino_6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318" y="5849938"/>
            <a:ext cx="171238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3.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Linux下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的进程间通信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Linux下的进程间通信</a:t>
            </a:r>
            <a:r>
              <a:rPr lang="en-US" altLang="zh-CN" dirty="0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982027"/>
            <a:ext cx="10972800" cy="45307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sz="2000" dirty="0" err="1"/>
              <a:t>进程间通信至少可以通过打开文件来实现</a:t>
            </a:r>
            <a:r>
              <a:rPr lang="zh-CN" altLang="en-US" sz="2000" dirty="0"/>
              <a:t>传送</a:t>
            </a:r>
            <a:r>
              <a:rPr sz="2000" dirty="0"/>
              <a:t>，</a:t>
            </a:r>
            <a:r>
              <a:rPr sz="2000" dirty="0" err="1"/>
              <a:t>不同的进程通过一个或多个文件来传递信息，在很多应用系统里，都使用了这种方法</a:t>
            </a:r>
            <a:r>
              <a:rPr sz="2000" dirty="0"/>
              <a:t>。</a:t>
            </a:r>
          </a:p>
          <a:p>
            <a:pPr algn="just">
              <a:lnSpc>
                <a:spcPct val="150000"/>
              </a:lnSpc>
            </a:pPr>
            <a:r>
              <a:rPr sz="2000" dirty="0" err="1"/>
              <a:t>但一般说来，进程间通信（IPC：Inter</a:t>
            </a:r>
            <a:r>
              <a:rPr sz="2000" dirty="0"/>
              <a:t> Process Communication）不包括这种似乎比较低级的通信方法。Unix系统中实现进程间通信的方法很多，而且极少方法能在所有的Unix系统中进行移植（唯一一种是半双工的管道，这也是最原始的一种通信方式）。</a:t>
            </a:r>
          </a:p>
          <a:p>
            <a:pPr algn="just">
              <a:lnSpc>
                <a:spcPct val="150000"/>
              </a:lnSpc>
            </a:pPr>
            <a:r>
              <a:rPr sz="2000" dirty="0" err="1"/>
              <a:t>Linux作为一种新兴的操作系统，几乎支持所有的Unix下常用的进程间通信方法：管道、消息队列、共享内存、信号量、套接</a:t>
            </a:r>
            <a:r>
              <a:rPr lang="zh-CN" altLang="en-US" sz="2000" dirty="0"/>
              <a:t>字</a:t>
            </a:r>
            <a:r>
              <a:rPr sz="2000" dirty="0" err="1"/>
              <a:t>等等</a:t>
            </a:r>
            <a:r>
              <a:rPr sz="2000" dirty="0"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管道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995967"/>
            <a:ext cx="11438467" cy="47682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000" dirty="0" err="1"/>
              <a:t>管道是进程间通信中最古老的方式，它包括无名管道和</a:t>
            </a:r>
            <a:r>
              <a:rPr lang="zh-CN" altLang="en-US" sz="2000" dirty="0"/>
              <a:t>命名</a:t>
            </a:r>
            <a:r>
              <a:rPr sz="2000" dirty="0" err="1"/>
              <a:t>管道两种</a:t>
            </a:r>
            <a:r>
              <a:rPr lang="zh-CN" sz="2000" dirty="0"/>
              <a:t>。</a:t>
            </a:r>
          </a:p>
          <a:p>
            <a:pPr lvl="1">
              <a:lnSpc>
                <a:spcPct val="150000"/>
              </a:lnSpc>
            </a:pPr>
            <a:r>
              <a:rPr sz="2000" dirty="0">
                <a:sym typeface="+mn-ea"/>
              </a:rPr>
              <a:t>无名管道</a:t>
            </a:r>
            <a:r>
              <a:rPr sz="2000" dirty="0"/>
              <a:t>用于父进程和子进程间的通信</a:t>
            </a:r>
            <a:r>
              <a:rPr lang="zh-CN" sz="2000" dirty="0"/>
              <a:t>；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命名</a:t>
            </a:r>
            <a:r>
              <a:rPr sz="2000" dirty="0" err="1">
                <a:sym typeface="+mn-ea"/>
              </a:rPr>
              <a:t>管道</a:t>
            </a:r>
            <a:r>
              <a:rPr sz="2000" dirty="0" err="1"/>
              <a:t>用于运行于同一台机器上的任意两个进程间的通信</a:t>
            </a:r>
            <a:r>
              <a:rPr sz="2000" dirty="0"/>
              <a:t>。 </a:t>
            </a:r>
          </a:p>
          <a:p>
            <a:pPr>
              <a:lnSpc>
                <a:spcPct val="150000"/>
              </a:lnSpc>
            </a:pPr>
            <a:r>
              <a:rPr sz="2000" dirty="0"/>
              <a:t>无名管道由pipe()函数创建： </a:t>
            </a:r>
          </a:p>
          <a:p>
            <a:pPr>
              <a:lnSpc>
                <a:spcPct val="150000"/>
              </a:lnSpc>
            </a:pPr>
            <a:endParaRPr sz="2000" dirty="0"/>
          </a:p>
          <a:p>
            <a:pPr>
              <a:lnSpc>
                <a:spcPct val="150000"/>
              </a:lnSpc>
            </a:pPr>
            <a:endParaRPr sz="2000" dirty="0"/>
          </a:p>
          <a:p>
            <a:pPr lvl="1">
              <a:lnSpc>
                <a:spcPct val="150000"/>
              </a:lnSpc>
            </a:pPr>
            <a:r>
              <a:rPr sz="2000" dirty="0" err="1"/>
              <a:t>参数filedis返回两个文件描述符：filed</a:t>
            </a:r>
            <a:r>
              <a:rPr lang="en-US" sz="2000" dirty="0" err="1"/>
              <a:t>i</a:t>
            </a:r>
            <a:r>
              <a:rPr sz="2000" dirty="0" err="1"/>
              <a:t>s</a:t>
            </a:r>
            <a:r>
              <a:rPr sz="2000" dirty="0"/>
              <a:t>[0]</a:t>
            </a:r>
            <a:r>
              <a:rPr sz="2000" dirty="0" err="1"/>
              <a:t>为读而打开，filed</a:t>
            </a:r>
            <a:r>
              <a:rPr lang="en-US" sz="2000" dirty="0" err="1"/>
              <a:t>i</a:t>
            </a:r>
            <a:r>
              <a:rPr sz="2000" dirty="0" err="1"/>
              <a:t>s</a:t>
            </a:r>
            <a:r>
              <a:rPr sz="2000" dirty="0"/>
              <a:t>[1]</a:t>
            </a:r>
            <a:r>
              <a:rPr sz="2000" dirty="0" err="1"/>
              <a:t>为写而打开。filed</a:t>
            </a:r>
            <a:r>
              <a:rPr lang="en-US" sz="2000" dirty="0" err="1"/>
              <a:t>i</a:t>
            </a:r>
            <a:r>
              <a:rPr sz="2000" dirty="0" err="1"/>
              <a:t>s</a:t>
            </a:r>
            <a:r>
              <a:rPr sz="2000" dirty="0"/>
              <a:t>[1]</a:t>
            </a:r>
            <a:r>
              <a:rPr sz="2000" dirty="0" err="1"/>
              <a:t>的输出是filed</a:t>
            </a:r>
            <a:r>
              <a:rPr lang="en-US" sz="2000" dirty="0" err="1"/>
              <a:t>i</a:t>
            </a:r>
            <a:r>
              <a:rPr sz="2000" dirty="0" err="1"/>
              <a:t>s</a:t>
            </a:r>
            <a:r>
              <a:rPr sz="2000" dirty="0"/>
              <a:t>[0]的输入。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428" y="3285767"/>
            <a:ext cx="4059555" cy="9372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在父进程和子进程间实现通信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-34" r="7767" b="52695"/>
          <a:stretch>
            <a:fillRect/>
          </a:stretch>
        </p:blipFill>
        <p:spPr>
          <a:xfrm>
            <a:off x="609600" y="1385581"/>
            <a:ext cx="5770880" cy="32442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470" t="47176" r="-172"/>
          <a:stretch>
            <a:fillRect/>
          </a:stretch>
        </p:blipFill>
        <p:spPr>
          <a:xfrm>
            <a:off x="6490335" y="1399551"/>
            <a:ext cx="5520055" cy="3206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811" y="4629796"/>
            <a:ext cx="5344378" cy="1988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生成命名管道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09600" y="982027"/>
            <a:ext cx="10972800" cy="45307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sz="2000" dirty="0" err="1"/>
              <a:t>在Linux系统下</a:t>
            </a:r>
            <a:r>
              <a:rPr sz="2000" dirty="0"/>
              <a:t>，</a:t>
            </a:r>
            <a:r>
              <a:rPr lang="zh-CN" altLang="en-US" sz="2000" dirty="0"/>
              <a:t>命名</a:t>
            </a:r>
            <a:r>
              <a:rPr sz="2000" dirty="0" err="1"/>
              <a:t>管道可由两种方式创建：命令行方式mknod系统调用</a:t>
            </a:r>
            <a:r>
              <a:rPr lang="zh-CN" altLang="en-US" sz="2000" dirty="0"/>
              <a:t>，</a:t>
            </a:r>
            <a:r>
              <a:rPr sz="2000" dirty="0" err="1"/>
              <a:t>和函数mkfifo。下面的两种途径都在当前目录下生成了一个名为</a:t>
            </a:r>
            <a:r>
              <a:rPr lang="en-US" sz="2000" dirty="0"/>
              <a:t> </a:t>
            </a:r>
            <a:r>
              <a:rPr sz="2000" dirty="0" err="1"/>
              <a:t>myfifo</a:t>
            </a:r>
            <a:r>
              <a:rPr lang="en-US" sz="2000" dirty="0"/>
              <a:t> </a:t>
            </a:r>
            <a:r>
              <a:rPr sz="2000" dirty="0"/>
              <a:t>的</a:t>
            </a:r>
            <a:r>
              <a:rPr lang="zh-CN" altLang="en-US" sz="2000" dirty="0"/>
              <a:t>命名</a:t>
            </a:r>
            <a:r>
              <a:rPr sz="2000" dirty="0" err="1"/>
              <a:t>管道</a:t>
            </a:r>
            <a:r>
              <a:rPr sz="2000" dirty="0"/>
              <a:t>：</a:t>
            </a:r>
          </a:p>
          <a:p>
            <a:pPr lvl="1" algn="just">
              <a:lnSpc>
                <a:spcPct val="150000"/>
              </a:lnSpc>
            </a:pPr>
            <a:r>
              <a:rPr sz="2000" dirty="0" err="1"/>
              <a:t>方式一：</a:t>
            </a:r>
            <a:r>
              <a:rPr sz="2000" b="1" dirty="0" err="1"/>
              <a:t>mkfifo</a:t>
            </a:r>
            <a:r>
              <a:rPr sz="2000" b="1" dirty="0"/>
              <a:t>("</a:t>
            </a:r>
            <a:r>
              <a:rPr sz="2000" b="1" dirty="0" err="1"/>
              <a:t>myfifo</a:t>
            </a:r>
            <a:r>
              <a:rPr sz="2000" b="1" dirty="0"/>
              <a:t>","</a:t>
            </a:r>
            <a:r>
              <a:rPr sz="2000" b="1" dirty="0" err="1"/>
              <a:t>rw</a:t>
            </a:r>
            <a:r>
              <a:rPr sz="2000" b="1" dirty="0"/>
              <a:t>"); </a:t>
            </a:r>
          </a:p>
          <a:p>
            <a:pPr lvl="1" algn="just">
              <a:lnSpc>
                <a:spcPct val="150000"/>
              </a:lnSpc>
            </a:pPr>
            <a:r>
              <a:rPr sz="2000" dirty="0" err="1"/>
              <a:t>方式二：</a:t>
            </a:r>
            <a:r>
              <a:rPr sz="2000" b="1" dirty="0" err="1"/>
              <a:t>mknod</a:t>
            </a:r>
            <a:r>
              <a:rPr sz="2000" b="1" dirty="0"/>
              <a:t> </a:t>
            </a:r>
            <a:r>
              <a:rPr sz="2000" b="1" dirty="0" err="1"/>
              <a:t>myfifo</a:t>
            </a:r>
            <a:r>
              <a:rPr sz="2000" b="1" dirty="0"/>
              <a:t> p </a:t>
            </a:r>
          </a:p>
          <a:p>
            <a:pPr algn="just">
              <a:lnSpc>
                <a:spcPct val="150000"/>
              </a:lnSpc>
            </a:pPr>
            <a:r>
              <a:rPr sz="2000" dirty="0" err="1"/>
              <a:t>生成</a:t>
            </a:r>
            <a:r>
              <a:rPr lang="zh-CN" altLang="en-US" sz="2000" dirty="0"/>
              <a:t>命名</a:t>
            </a:r>
            <a:r>
              <a:rPr sz="2000" dirty="0" err="1"/>
              <a:t>管道后，就可以使用一般的文件</a:t>
            </a:r>
            <a:r>
              <a:rPr lang="en-US" sz="2000" dirty="0"/>
              <a:t> </a:t>
            </a:r>
            <a:r>
              <a:rPr sz="2000" dirty="0"/>
              <a:t>I/O</a:t>
            </a:r>
            <a:r>
              <a:rPr lang="en-US" sz="2000" dirty="0"/>
              <a:t> </a:t>
            </a:r>
            <a:r>
              <a:rPr lang="zh-CN" altLang="en-US" sz="2000" dirty="0"/>
              <a:t>的</a:t>
            </a:r>
            <a:r>
              <a:rPr sz="2000" dirty="0" err="1"/>
              <a:t>函数</a:t>
            </a:r>
            <a:r>
              <a:rPr lang="zh-CN" altLang="en-US" sz="2000" dirty="0"/>
              <a:t>，</a:t>
            </a:r>
            <a:r>
              <a:rPr sz="2000" dirty="0"/>
              <a:t>如</a:t>
            </a:r>
            <a:r>
              <a:rPr lang="en-US" sz="2000" dirty="0"/>
              <a:t> </a:t>
            </a:r>
            <a:r>
              <a:rPr sz="2000" dirty="0" err="1"/>
              <a:t>open、close、read、write</a:t>
            </a:r>
            <a:r>
              <a:rPr lang="en-US" sz="2000" dirty="0"/>
              <a:t> </a:t>
            </a:r>
            <a:r>
              <a:rPr sz="2000" dirty="0" err="1"/>
              <a:t>等来对它进行操作</a:t>
            </a:r>
            <a:r>
              <a:rPr sz="2000" dirty="0"/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87830"/>
            <a:ext cx="5029200" cy="3638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050" y="1687830"/>
            <a:ext cx="6457950" cy="3648075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/>
        </p:nvSpPr>
        <p:spPr>
          <a:xfrm>
            <a:off x="609600" y="982027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00000"/>
              </a:lnSpc>
            </a:pPr>
            <a:endParaRPr sz="2400"/>
          </a:p>
        </p:txBody>
      </p:sp>
      <p:sp>
        <p:nvSpPr>
          <p:cNvPr id="9" name="内容占位符 6"/>
          <p:cNvSpPr>
            <a:spLocks noGrp="1"/>
          </p:cNvSpPr>
          <p:nvPr/>
        </p:nvSpPr>
        <p:spPr>
          <a:xfrm>
            <a:off x="736600" y="1109027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00000"/>
              </a:lnSpc>
            </a:pPr>
            <a:r>
              <a:rPr sz="2000" dirty="0" err="1"/>
              <a:t>假设已经创建了一个名为myfifo的</a:t>
            </a:r>
            <a:r>
              <a:rPr lang="zh-CN" altLang="en-US" sz="2000" dirty="0"/>
              <a:t>命名</a:t>
            </a:r>
            <a:r>
              <a:rPr sz="2000" dirty="0" err="1"/>
              <a:t>管道</a:t>
            </a:r>
            <a:r>
              <a:rPr sz="2000" dirty="0"/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消息队列</a:t>
            </a:r>
            <a:r>
              <a:rPr lang="en-US" altLang="zh-CN" dirty="0"/>
              <a:t> </a:t>
            </a:r>
          </a:p>
        </p:txBody>
      </p:sp>
      <p:sp>
        <p:nvSpPr>
          <p:cNvPr id="9" name="内容占位符 6"/>
          <p:cNvSpPr>
            <a:spLocks noGrp="1"/>
          </p:cNvSpPr>
          <p:nvPr/>
        </p:nvSpPr>
        <p:spPr>
          <a:xfrm>
            <a:off x="736600" y="1109027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sz="2000" dirty="0" err="1"/>
              <a:t>消息队列用于运行于同一台机器上的进程间通信，它和管道很相似</a:t>
            </a:r>
            <a:r>
              <a:rPr lang="zh-CN" sz="2000" dirty="0"/>
              <a:t>。</a:t>
            </a:r>
          </a:p>
          <a:p>
            <a:pPr algn="just">
              <a:lnSpc>
                <a:spcPct val="150000"/>
              </a:lnSpc>
            </a:pPr>
            <a:r>
              <a:rPr sz="2000" dirty="0" err="1"/>
              <a:t>事实上，它是一种正逐渐被淘汰的通信方式，我们可以用流管道或者套接口的方式来取代它，我们对此方式不再解释</a:t>
            </a:r>
            <a:r>
              <a:rPr lang="zh-CN" sz="2000" dirty="0"/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共享内存</a:t>
            </a:r>
            <a:r>
              <a:rPr lang="en-US" altLang="zh-CN" dirty="0"/>
              <a:t> </a:t>
            </a:r>
          </a:p>
        </p:txBody>
      </p:sp>
      <p:sp>
        <p:nvSpPr>
          <p:cNvPr id="9" name="内容占位符 6"/>
          <p:cNvSpPr>
            <a:spLocks noGrp="1"/>
          </p:cNvSpPr>
          <p:nvPr/>
        </p:nvSpPr>
        <p:spPr>
          <a:xfrm>
            <a:off x="467932" y="1023168"/>
            <a:ext cx="11651088" cy="45307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sz="2000" dirty="0" err="1"/>
              <a:t>共享内存是运行在同一台机器上的进程间通信最快的方式，因为数据不需要在不同的进程间复制</a:t>
            </a:r>
            <a:r>
              <a:rPr sz="2000" dirty="0"/>
              <a:t>。</a:t>
            </a:r>
          </a:p>
          <a:p>
            <a:pPr algn="just">
              <a:lnSpc>
                <a:spcPct val="150000"/>
              </a:lnSpc>
            </a:pPr>
            <a:r>
              <a:rPr sz="2000" dirty="0" err="1"/>
              <a:t>通常由一个进程创建一块共享内存区，其余进程对这块内存区进行读写。得到共享内存有两种方式：映射</a:t>
            </a:r>
            <a:r>
              <a:rPr sz="2000" dirty="0"/>
              <a:t>/dev/</a:t>
            </a:r>
            <a:r>
              <a:rPr sz="2000" dirty="0" err="1"/>
              <a:t>mem设备</a:t>
            </a:r>
            <a:r>
              <a:rPr lang="en-US" sz="2000" dirty="0"/>
              <a:t> </a:t>
            </a:r>
            <a:r>
              <a:rPr sz="2000" dirty="0"/>
              <a:t>和</a:t>
            </a:r>
            <a:r>
              <a:rPr lang="en-US" sz="2000" dirty="0"/>
              <a:t> </a:t>
            </a:r>
            <a:r>
              <a:rPr sz="2000" dirty="0" err="1"/>
              <a:t>内存映像文件</a:t>
            </a:r>
            <a:r>
              <a:rPr sz="2000" dirty="0"/>
              <a:t>。</a:t>
            </a:r>
          </a:p>
          <a:p>
            <a:pPr lvl="1" algn="just">
              <a:lnSpc>
                <a:spcPct val="150000"/>
              </a:lnSpc>
            </a:pPr>
            <a:r>
              <a:rPr sz="2000" dirty="0"/>
              <a:t>前一种方式不给系统带来额外的开销，但在现实中并不常用，因为它控制存取的将是实际的物理内存，在Linux系统下，这只有通过限制Linux系统存取的内存才可以做到，这当然不太实际。</a:t>
            </a:r>
          </a:p>
          <a:p>
            <a:pPr lvl="1" algn="just">
              <a:lnSpc>
                <a:spcPct val="150000"/>
              </a:lnSpc>
            </a:pPr>
            <a:r>
              <a:rPr sz="2000" dirty="0" err="1"/>
              <a:t>常用的方式是</a:t>
            </a:r>
            <a:r>
              <a:rPr lang="zh-CN" altLang="en-US" sz="2000" dirty="0"/>
              <a:t>，</a:t>
            </a:r>
            <a:r>
              <a:rPr sz="2000" dirty="0" err="1"/>
              <a:t>通过shmXXX</a:t>
            </a:r>
            <a:r>
              <a:rPr lang="en-US" sz="2000" dirty="0"/>
              <a:t>()</a:t>
            </a:r>
            <a:r>
              <a:rPr sz="2000" dirty="0" err="1"/>
              <a:t>函数族来实现</a:t>
            </a:r>
            <a:r>
              <a:rPr lang="zh-CN" altLang="en-US" sz="2000" dirty="0"/>
              <a:t>创建</a:t>
            </a:r>
            <a:r>
              <a:rPr sz="2000" dirty="0" err="1"/>
              <a:t>共享内存进行</a:t>
            </a:r>
            <a:r>
              <a:rPr lang="zh-CN" altLang="en-US" sz="2000" dirty="0"/>
              <a:t>通信</a:t>
            </a:r>
            <a:r>
              <a:rPr sz="2000" dirty="0"/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423" y="4209833"/>
            <a:ext cx="3893038" cy="24537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共享内存</a:t>
            </a:r>
            <a:r>
              <a:rPr lang="en-US" altLang="zh-CN" dirty="0"/>
              <a:t> </a:t>
            </a:r>
          </a:p>
        </p:txBody>
      </p:sp>
      <p:sp>
        <p:nvSpPr>
          <p:cNvPr id="9" name="内容占位符 6"/>
          <p:cNvSpPr>
            <a:spLocks noGrp="1"/>
          </p:cNvSpPr>
          <p:nvPr/>
        </p:nvSpPr>
        <p:spPr>
          <a:xfrm>
            <a:off x="562377" y="1224937"/>
            <a:ext cx="11148811" cy="488394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sz="2000" dirty="0" err="1"/>
              <a:t>shmget</a:t>
            </a:r>
            <a:r>
              <a:rPr lang="zh-CN" sz="2000" dirty="0"/>
              <a:t>函数：</a:t>
            </a:r>
            <a:r>
              <a:rPr sz="2000" dirty="0" err="1"/>
              <a:t>它获得一个共享存储标识符</a:t>
            </a:r>
            <a:r>
              <a:rPr sz="2000" dirty="0"/>
              <a:t>。</a:t>
            </a:r>
          </a:p>
          <a:p>
            <a:pPr algn="just">
              <a:lnSpc>
                <a:spcPct val="150000"/>
              </a:lnSpc>
            </a:pPr>
            <a:endParaRPr sz="2000" dirty="0"/>
          </a:p>
          <a:p>
            <a:pPr algn="just">
              <a:lnSpc>
                <a:spcPct val="150000"/>
              </a:lnSpc>
            </a:pPr>
            <a:endParaRPr sz="2000" dirty="0"/>
          </a:p>
          <a:p>
            <a:pPr algn="just">
              <a:lnSpc>
                <a:spcPct val="150000"/>
              </a:lnSpc>
            </a:pPr>
            <a:endParaRPr sz="2000" dirty="0"/>
          </a:p>
          <a:p>
            <a:pPr lvl="1" algn="just">
              <a:lnSpc>
                <a:spcPct val="150000"/>
              </a:lnSpc>
            </a:pPr>
            <a:r>
              <a:rPr sz="2000" dirty="0" err="1"/>
              <a:t>类似</a:t>
            </a:r>
            <a:r>
              <a:rPr lang="en-US" sz="2000" dirty="0"/>
              <a:t> </a:t>
            </a:r>
            <a:r>
              <a:rPr sz="2000" dirty="0" err="1"/>
              <a:t>malloc</a:t>
            </a:r>
            <a:r>
              <a:rPr lang="en-US" sz="2000" dirty="0"/>
              <a:t> </a:t>
            </a:r>
            <a:r>
              <a:rPr sz="2000" dirty="0" err="1"/>
              <a:t>函数，系统按照请求</a:t>
            </a:r>
            <a:r>
              <a:rPr lang="en-US" sz="2000" dirty="0"/>
              <a:t>, </a:t>
            </a:r>
            <a:r>
              <a:rPr sz="2000" dirty="0" err="1"/>
              <a:t>分配</a:t>
            </a:r>
            <a:r>
              <a:rPr lang="en-US" sz="2000" dirty="0"/>
              <a:t> </a:t>
            </a:r>
            <a:r>
              <a:rPr sz="2000" dirty="0"/>
              <a:t>size</a:t>
            </a:r>
            <a:r>
              <a:rPr lang="en-US" sz="2000" dirty="0"/>
              <a:t> </a:t>
            </a:r>
            <a:r>
              <a:rPr sz="2000" dirty="0" err="1"/>
              <a:t>大小的内存用作共享内存。Linux内核中</a:t>
            </a:r>
            <a:r>
              <a:rPr lang="en-US" sz="2000" dirty="0"/>
              <a:t>, </a:t>
            </a:r>
            <a:r>
              <a:rPr sz="2000" dirty="0" err="1"/>
              <a:t>每个</a:t>
            </a:r>
            <a:r>
              <a:rPr lang="en-US" sz="2000" dirty="0"/>
              <a:t> </a:t>
            </a:r>
            <a:r>
              <a:rPr sz="2000" dirty="0"/>
              <a:t>IPC</a:t>
            </a:r>
            <a:r>
              <a:rPr lang="en-US" sz="2000" dirty="0"/>
              <a:t> </a:t>
            </a:r>
            <a:r>
              <a:rPr sz="2000" dirty="0" err="1"/>
              <a:t>结构都有的一个非负整数的标识符，这样对</a:t>
            </a:r>
            <a:r>
              <a:rPr lang="zh-CN" altLang="en-US" sz="2000" dirty="0"/>
              <a:t>每个</a:t>
            </a:r>
            <a:r>
              <a:rPr lang="en-US" altLang="zh-CN" sz="2000" dirty="0"/>
              <a:t>IPC </a:t>
            </a:r>
            <a:r>
              <a:rPr lang="zh-CN" altLang="en-US" sz="2000" dirty="0"/>
              <a:t>结构</a:t>
            </a:r>
            <a:r>
              <a:rPr sz="2000" dirty="0" err="1"/>
              <a:t>发送消息时只要引用标识符就可以了</a:t>
            </a:r>
            <a:r>
              <a:rPr sz="2000" dirty="0"/>
              <a:t>。</a:t>
            </a:r>
          </a:p>
          <a:p>
            <a:pPr lvl="1" algn="just">
              <a:lnSpc>
                <a:spcPct val="150000"/>
              </a:lnSpc>
            </a:pPr>
            <a:r>
              <a:rPr sz="2000" dirty="0" err="1"/>
              <a:t>标识符是由</a:t>
            </a:r>
            <a:r>
              <a:rPr lang="zh-CN" altLang="en-US" sz="2000" dirty="0"/>
              <a:t>内核中 </a:t>
            </a:r>
            <a:r>
              <a:rPr sz="2000" dirty="0"/>
              <a:t>IPC</a:t>
            </a:r>
            <a:r>
              <a:rPr lang="en-US" sz="2000" dirty="0"/>
              <a:t> </a:t>
            </a:r>
            <a:r>
              <a:rPr sz="2000" dirty="0" err="1"/>
              <a:t>结构的关键字得到的，这个关键字，就是上面</a:t>
            </a:r>
            <a:r>
              <a:rPr lang="zh-CN" altLang="en-US" sz="2000" dirty="0"/>
              <a:t>函数的</a:t>
            </a:r>
            <a:r>
              <a:rPr sz="2000" dirty="0" err="1"/>
              <a:t>第一个</a:t>
            </a:r>
            <a:r>
              <a:rPr lang="zh-CN" altLang="en-US" sz="2000" dirty="0"/>
              <a:t>参数</a:t>
            </a:r>
            <a:r>
              <a:rPr sz="2000" dirty="0" err="1"/>
              <a:t>key。数据类型key_t是在头文件</a:t>
            </a:r>
            <a:r>
              <a:rPr lang="en-US" sz="2000" dirty="0"/>
              <a:t> </a:t>
            </a:r>
            <a:r>
              <a:rPr sz="2000" dirty="0"/>
              <a:t>sys/</a:t>
            </a:r>
            <a:r>
              <a:rPr sz="2000" dirty="0" err="1"/>
              <a:t>types.h</a:t>
            </a:r>
            <a:r>
              <a:rPr lang="en-US" sz="2000" dirty="0"/>
              <a:t> </a:t>
            </a:r>
            <a:r>
              <a:rPr sz="2000" dirty="0" err="1"/>
              <a:t>中定义的，它是一个长整形的数据</a:t>
            </a:r>
            <a:r>
              <a:rPr sz="2000" dirty="0"/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585" y="1912620"/>
            <a:ext cx="6132195" cy="1377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共享内存</a:t>
            </a:r>
            <a:r>
              <a:rPr lang="en-US" altLang="zh-CN" dirty="0"/>
              <a:t> </a:t>
            </a:r>
          </a:p>
        </p:txBody>
      </p:sp>
      <p:sp>
        <p:nvSpPr>
          <p:cNvPr id="9" name="内容占位符 6"/>
          <p:cNvSpPr>
            <a:spLocks noGrp="1"/>
          </p:cNvSpPr>
          <p:nvPr/>
        </p:nvSpPr>
        <p:spPr>
          <a:xfrm>
            <a:off x="736600" y="1109027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sz="2000" dirty="0" err="1"/>
              <a:t>当共享内存创建后，其余进程可以调用</a:t>
            </a:r>
            <a:r>
              <a:rPr lang="en-US" sz="2000" dirty="0"/>
              <a:t> </a:t>
            </a:r>
            <a:r>
              <a:rPr sz="2000" dirty="0" err="1"/>
              <a:t>shmat</a:t>
            </a:r>
            <a:r>
              <a:rPr lang="en-US" sz="2000" dirty="0"/>
              <a:t>() </a:t>
            </a:r>
            <a:r>
              <a:rPr sz="2000" dirty="0" err="1"/>
              <a:t>将其连接到自身的地址空间中</a:t>
            </a:r>
            <a:r>
              <a:rPr sz="2000" dirty="0"/>
              <a:t>。</a:t>
            </a:r>
          </a:p>
          <a:p>
            <a:pPr algn="just">
              <a:lnSpc>
                <a:spcPct val="150000"/>
              </a:lnSpc>
            </a:pPr>
            <a:endParaRPr sz="2000" dirty="0"/>
          </a:p>
          <a:p>
            <a:pPr algn="just">
              <a:lnSpc>
                <a:spcPct val="150000"/>
              </a:lnSpc>
            </a:pPr>
            <a:endParaRPr sz="2000" dirty="0"/>
          </a:p>
          <a:p>
            <a:pPr lvl="1" algn="just">
              <a:lnSpc>
                <a:spcPct val="150000"/>
              </a:lnSpc>
            </a:pPr>
            <a:r>
              <a:rPr lang="en-US" altLang="zh-CN" sz="2000" dirty="0" err="1"/>
              <a:t>s</a:t>
            </a:r>
            <a:r>
              <a:rPr sz="2000" dirty="0" err="1"/>
              <a:t>hmid</a:t>
            </a:r>
            <a:r>
              <a:rPr lang="en-US" sz="2000" dirty="0"/>
              <a:t> </a:t>
            </a:r>
            <a:r>
              <a:rPr sz="2000" dirty="0"/>
              <a:t>为</a:t>
            </a:r>
            <a:r>
              <a:rPr lang="en-US" sz="2000" dirty="0"/>
              <a:t> </a:t>
            </a:r>
            <a:r>
              <a:rPr sz="2000" dirty="0" err="1"/>
              <a:t>shmget</a:t>
            </a:r>
            <a:r>
              <a:rPr lang="en-US" sz="2000" dirty="0"/>
              <a:t> </a:t>
            </a:r>
            <a:r>
              <a:rPr sz="2000" dirty="0" err="1"/>
              <a:t>函数返回的共享</a:t>
            </a:r>
            <a:r>
              <a:rPr lang="zh-CN" altLang="en-US" sz="2000" dirty="0"/>
              <a:t>内存</a:t>
            </a:r>
            <a:r>
              <a:rPr sz="2000" dirty="0" err="1"/>
              <a:t>标识符</a:t>
            </a:r>
            <a:r>
              <a:rPr lang="zh-CN" sz="2000" dirty="0"/>
              <a:t>；</a:t>
            </a:r>
            <a:endParaRPr sz="2000" dirty="0"/>
          </a:p>
          <a:p>
            <a:pPr lvl="1" algn="just">
              <a:lnSpc>
                <a:spcPct val="150000"/>
              </a:lnSpc>
            </a:pPr>
            <a:r>
              <a:rPr lang="en-US" sz="2000" dirty="0" err="1"/>
              <a:t>a</a:t>
            </a:r>
            <a:r>
              <a:rPr sz="2000" dirty="0" err="1"/>
              <a:t>ddr</a:t>
            </a:r>
            <a:r>
              <a:rPr lang="en-US" sz="2000" dirty="0"/>
              <a:t> </a:t>
            </a:r>
            <a:r>
              <a:rPr sz="2000" dirty="0"/>
              <a:t>和</a:t>
            </a:r>
            <a:r>
              <a:rPr lang="en-US" sz="2000" dirty="0"/>
              <a:t> </a:t>
            </a:r>
            <a:r>
              <a:rPr sz="2000" dirty="0"/>
              <a:t>flag</a:t>
            </a:r>
            <a:r>
              <a:rPr lang="en-US" sz="2000" dirty="0"/>
              <a:t> </a:t>
            </a:r>
            <a:r>
              <a:rPr sz="2000" dirty="0" err="1"/>
              <a:t>参数决定了以什么方式来确定连接的地址</a:t>
            </a:r>
            <a:r>
              <a:rPr lang="zh-CN" sz="2000" dirty="0"/>
              <a:t>；</a:t>
            </a:r>
          </a:p>
          <a:p>
            <a:pPr lvl="1" algn="just">
              <a:lnSpc>
                <a:spcPct val="150000"/>
              </a:lnSpc>
            </a:pPr>
            <a:r>
              <a:rPr sz="2000" dirty="0" err="1"/>
              <a:t>函数的返回值</a:t>
            </a:r>
            <a:r>
              <a:rPr lang="zh-CN" altLang="en-US" sz="2000" dirty="0"/>
              <a:t>，</a:t>
            </a:r>
            <a:r>
              <a:rPr sz="2000" dirty="0" err="1"/>
              <a:t>即是该进程数据段所连接的实际地址，进程可以对此</a:t>
            </a:r>
            <a:r>
              <a:rPr lang="zh-CN" altLang="en-US" sz="2000" dirty="0"/>
              <a:t>区域</a:t>
            </a:r>
            <a:r>
              <a:rPr sz="2000" dirty="0" err="1"/>
              <a:t>进行读写操作</a:t>
            </a:r>
            <a:r>
              <a:rPr sz="2000" dirty="0"/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195" y="2104390"/>
            <a:ext cx="7547610" cy="5149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共享内存</a:t>
            </a:r>
            <a:r>
              <a:rPr lang="en-US" altLang="zh-CN" dirty="0"/>
              <a:t> </a:t>
            </a:r>
          </a:p>
        </p:txBody>
      </p:sp>
      <p:sp>
        <p:nvSpPr>
          <p:cNvPr id="9" name="内容占位符 6"/>
          <p:cNvSpPr>
            <a:spLocks noGrp="1"/>
          </p:cNvSpPr>
          <p:nvPr/>
        </p:nvSpPr>
        <p:spPr>
          <a:xfrm>
            <a:off x="736600" y="1109027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sz="2000" dirty="0" err="1">
                <a:sym typeface="+mn-ea"/>
              </a:rPr>
              <a:t>使用共享存储来实现进程间通信的注意点</a:t>
            </a:r>
            <a:r>
              <a:rPr lang="zh-CN" altLang="en-US" sz="2000" dirty="0">
                <a:sym typeface="+mn-ea"/>
              </a:rPr>
              <a:t>：</a:t>
            </a:r>
            <a:r>
              <a:rPr sz="2000" dirty="0" err="1">
                <a:sym typeface="+mn-ea"/>
              </a:rPr>
              <a:t>对数据存取的同步，必须确保当一个进程去读取数据时，它所想要的数据已经写好了</a:t>
            </a:r>
            <a:r>
              <a:rPr sz="2000" dirty="0">
                <a:sym typeface="+mn-ea"/>
              </a:rPr>
              <a:t>。</a:t>
            </a:r>
            <a:endParaRPr sz="2000" dirty="0"/>
          </a:p>
          <a:p>
            <a:pPr lvl="1" algn="just">
              <a:lnSpc>
                <a:spcPct val="150000"/>
              </a:lnSpc>
            </a:pPr>
            <a:r>
              <a:rPr sz="2000" dirty="0" err="1">
                <a:sym typeface="+mn-ea"/>
              </a:rPr>
              <a:t>通常，信号量</a:t>
            </a:r>
            <a:r>
              <a:rPr lang="zh-CN" altLang="en-US" sz="2000" dirty="0">
                <a:sym typeface="+mn-ea"/>
              </a:rPr>
              <a:t>被</a:t>
            </a:r>
            <a:r>
              <a:rPr lang="zh-CN" sz="2000" dirty="0">
                <a:sym typeface="+mn-ea"/>
              </a:rPr>
              <a:t>用</a:t>
            </a:r>
            <a:r>
              <a:rPr sz="2000" dirty="0" err="1">
                <a:sym typeface="+mn-ea"/>
              </a:rPr>
              <a:t>来实现对共享</a:t>
            </a:r>
            <a:r>
              <a:rPr lang="zh-CN" altLang="en-US" sz="2000" dirty="0">
                <a:sym typeface="+mn-ea"/>
              </a:rPr>
              <a:t>内存</a:t>
            </a:r>
            <a:r>
              <a:rPr sz="2000" dirty="0" err="1">
                <a:sym typeface="+mn-ea"/>
              </a:rPr>
              <a:t>数据存取的同步</a:t>
            </a:r>
            <a:r>
              <a:rPr lang="zh-CN" altLang="en-US" sz="2000" dirty="0">
                <a:sym typeface="+mn-ea"/>
              </a:rPr>
              <a:t>；也</a:t>
            </a:r>
            <a:r>
              <a:rPr sz="2000" dirty="0" err="1">
                <a:sym typeface="+mn-ea"/>
              </a:rPr>
              <a:t>可以通过使用</a:t>
            </a:r>
            <a:r>
              <a:rPr lang="en-US" sz="2000" dirty="0">
                <a:sym typeface="+mn-ea"/>
              </a:rPr>
              <a:t> </a:t>
            </a:r>
            <a:r>
              <a:rPr sz="2000" dirty="0" err="1">
                <a:sym typeface="+mn-ea"/>
              </a:rPr>
              <a:t>shmctl</a:t>
            </a:r>
            <a:r>
              <a:rPr lang="en-US" sz="2000" dirty="0">
                <a:sym typeface="+mn-ea"/>
              </a:rPr>
              <a:t>() </a:t>
            </a:r>
            <a:r>
              <a:rPr sz="2000" dirty="0" err="1">
                <a:sym typeface="+mn-ea"/>
              </a:rPr>
              <a:t>函数设置共享内存的某些标志位如</a:t>
            </a:r>
            <a:r>
              <a:rPr lang="en-US" sz="2000" dirty="0">
                <a:sym typeface="+mn-ea"/>
              </a:rPr>
              <a:t> </a:t>
            </a:r>
            <a:r>
              <a:rPr sz="2000" dirty="0">
                <a:sym typeface="+mn-ea"/>
              </a:rPr>
              <a:t>SHM_LOCK、SHM_UNLOCK</a:t>
            </a:r>
            <a:r>
              <a:rPr lang="en-US" sz="2000" dirty="0">
                <a:sym typeface="+mn-ea"/>
              </a:rPr>
              <a:t> </a:t>
            </a:r>
            <a:r>
              <a:rPr sz="2000" dirty="0" err="1">
                <a:sym typeface="+mn-ea"/>
              </a:rPr>
              <a:t>等来实现</a:t>
            </a:r>
            <a:r>
              <a:rPr sz="2000" dirty="0">
                <a:sym typeface="+mn-ea"/>
              </a:rPr>
              <a:t>。</a:t>
            </a:r>
            <a:endParaRPr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信号量</a:t>
            </a:r>
            <a:endParaRPr lang="en-US" altLang="zh-CN" dirty="0"/>
          </a:p>
        </p:txBody>
      </p:sp>
      <p:sp>
        <p:nvSpPr>
          <p:cNvPr id="9" name="内容占位符 6"/>
          <p:cNvSpPr>
            <a:spLocks noGrp="1"/>
          </p:cNvSpPr>
          <p:nvPr/>
        </p:nvSpPr>
        <p:spPr>
          <a:xfrm>
            <a:off x="609600" y="1061805"/>
            <a:ext cx="11287975" cy="534804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sz="2000" dirty="0" err="1"/>
              <a:t>信号量又称为信号灯，它是用来协调不同进程间的数据对象，最主要的应用是共享内存</a:t>
            </a:r>
            <a:r>
              <a:rPr lang="zh-CN" altLang="en-US" sz="2000" dirty="0"/>
              <a:t>存取</a:t>
            </a:r>
            <a:r>
              <a:rPr sz="2000" dirty="0" err="1"/>
              <a:t>方式的进程间</a:t>
            </a:r>
            <a:r>
              <a:rPr lang="zh-CN" altLang="en-US" sz="2000" dirty="0"/>
              <a:t>同步</a:t>
            </a:r>
            <a:r>
              <a:rPr sz="2000" dirty="0"/>
              <a:t>。</a:t>
            </a:r>
            <a:endParaRPr lang="en-US" sz="2000" dirty="0"/>
          </a:p>
          <a:p>
            <a:pPr algn="just">
              <a:lnSpc>
                <a:spcPct val="150000"/>
              </a:lnSpc>
            </a:pPr>
            <a:r>
              <a:rPr sz="2000" dirty="0" err="1"/>
              <a:t>信号量是一个计数器，它用来记录对某个资源（如共享内存）的存取状况</a:t>
            </a:r>
            <a:r>
              <a:rPr sz="2000" dirty="0"/>
              <a:t>。</a:t>
            </a:r>
          </a:p>
          <a:p>
            <a:pPr algn="just">
              <a:lnSpc>
                <a:spcPct val="150000"/>
              </a:lnSpc>
            </a:pPr>
            <a:r>
              <a:rPr sz="2000" dirty="0" err="1"/>
              <a:t>一般说来，为了获得共享资源，进程需要执行下列操作</a:t>
            </a:r>
            <a:r>
              <a:rPr sz="2000" dirty="0"/>
              <a:t>：</a:t>
            </a:r>
          </a:p>
          <a:p>
            <a:pPr lvl="1" algn="just">
              <a:lnSpc>
                <a:spcPct val="150000"/>
              </a:lnSpc>
            </a:pPr>
            <a:r>
              <a:rPr lang="zh-CN" altLang="en-US" sz="2000" dirty="0"/>
              <a:t>申请</a:t>
            </a:r>
            <a:r>
              <a:rPr sz="2000" dirty="0" err="1"/>
              <a:t>控制该资源的信号量</a:t>
            </a:r>
            <a:r>
              <a:rPr sz="2000" dirty="0"/>
              <a:t>。 </a:t>
            </a:r>
          </a:p>
          <a:p>
            <a:pPr lvl="1" algn="just">
              <a:lnSpc>
                <a:spcPct val="150000"/>
              </a:lnSpc>
            </a:pPr>
            <a:r>
              <a:rPr sz="2000" dirty="0" err="1"/>
              <a:t>若此信号量的值为正，则允许</a:t>
            </a:r>
            <a:r>
              <a:rPr lang="zh-CN" altLang="en-US" sz="2000" dirty="0"/>
              <a:t>进程</a:t>
            </a:r>
            <a:r>
              <a:rPr sz="2000" dirty="0" err="1"/>
              <a:t>使用该资源。进程将</a:t>
            </a:r>
            <a:r>
              <a:rPr lang="zh-CN" altLang="en-US" sz="2000" dirty="0"/>
              <a:t>信</a:t>
            </a:r>
            <a:r>
              <a:rPr sz="2000" dirty="0"/>
              <a:t>号量减1。 </a:t>
            </a:r>
          </a:p>
          <a:p>
            <a:pPr lvl="1" algn="just">
              <a:lnSpc>
                <a:spcPct val="150000"/>
              </a:lnSpc>
            </a:pPr>
            <a:r>
              <a:rPr sz="2000" dirty="0"/>
              <a:t>若此信号量为0，则该资源目前不可用，进程进入睡眠状态，直至信号量值大于0，进程被唤醒，转入步骤（1）。 </a:t>
            </a:r>
          </a:p>
          <a:p>
            <a:pPr lvl="1" algn="just">
              <a:lnSpc>
                <a:spcPct val="150000"/>
              </a:lnSpc>
            </a:pPr>
            <a:r>
              <a:rPr sz="2000" dirty="0" err="1"/>
              <a:t>当进程不再使用一个信号量控制的资源时</a:t>
            </a:r>
            <a:r>
              <a:rPr sz="2000" dirty="0"/>
              <a:t>，</a:t>
            </a:r>
            <a:r>
              <a:rPr lang="zh-CN" altLang="en-US" sz="2000" dirty="0"/>
              <a:t>释放资源，</a:t>
            </a:r>
            <a:r>
              <a:rPr sz="2000" dirty="0"/>
              <a:t>信号量值加1。如果此时有进程正在睡眠等待此信号量，则唤醒此进程。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信号量</a:t>
            </a:r>
            <a:endParaRPr lang="en-US" altLang="zh-CN" dirty="0"/>
          </a:p>
        </p:txBody>
      </p:sp>
      <p:sp>
        <p:nvSpPr>
          <p:cNvPr id="9" name="内容占位符 6"/>
          <p:cNvSpPr>
            <a:spLocks noGrp="1"/>
          </p:cNvSpPr>
          <p:nvPr/>
        </p:nvSpPr>
        <p:spPr>
          <a:xfrm>
            <a:off x="296214" y="1061805"/>
            <a:ext cx="11711189" cy="47233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sz="2000" dirty="0" err="1"/>
              <a:t>维护信号量状态的是Linux操作系统</a:t>
            </a:r>
            <a:r>
              <a:rPr lang="zh-CN" altLang="en-US" sz="2000" dirty="0"/>
              <a:t>提供，</a:t>
            </a:r>
            <a:r>
              <a:rPr sz="2000" dirty="0" err="1"/>
              <a:t>而不是用户进程。可以从头文件</a:t>
            </a:r>
            <a:r>
              <a:rPr lang="en-US" sz="2000" dirty="0"/>
              <a:t> </a:t>
            </a:r>
            <a:r>
              <a:rPr sz="2000" dirty="0"/>
              <a:t>/</a:t>
            </a:r>
            <a:r>
              <a:rPr sz="2000" dirty="0" err="1"/>
              <a:t>usr</a:t>
            </a:r>
            <a:r>
              <a:rPr sz="2000" dirty="0"/>
              <a:t>/</a:t>
            </a:r>
            <a:r>
              <a:rPr sz="2000" dirty="0" err="1"/>
              <a:t>src</a:t>
            </a:r>
            <a:r>
              <a:rPr sz="2000" dirty="0"/>
              <a:t>/</a:t>
            </a:r>
            <a:r>
              <a:rPr sz="2000" dirty="0" err="1"/>
              <a:t>linux</a:t>
            </a:r>
            <a:r>
              <a:rPr sz="2000" dirty="0"/>
              <a:t>/include/</a:t>
            </a:r>
            <a:r>
              <a:rPr lang="en-US" altLang="zh-CN" sz="2000" dirty="0"/>
              <a:t> </a:t>
            </a:r>
            <a:r>
              <a:rPr sz="2000" dirty="0" err="1"/>
              <a:t>linux</a:t>
            </a:r>
            <a:r>
              <a:rPr sz="2000" dirty="0"/>
              <a:t>/</a:t>
            </a:r>
            <a:r>
              <a:rPr sz="2000" dirty="0" err="1"/>
              <a:t>sem.h</a:t>
            </a:r>
            <a:r>
              <a:rPr lang="en-US" sz="2000" dirty="0"/>
              <a:t> </a:t>
            </a:r>
            <a:r>
              <a:rPr sz="2000" dirty="0" err="1"/>
              <a:t>中看到内核用来维护信号量状态的各个</a:t>
            </a:r>
            <a:r>
              <a:rPr lang="zh-CN" altLang="en-US" sz="2000" dirty="0"/>
              <a:t>数据</a:t>
            </a:r>
            <a:r>
              <a:rPr sz="2000" dirty="0" err="1"/>
              <a:t>结构的定义</a:t>
            </a:r>
            <a:r>
              <a:rPr sz="2000" dirty="0"/>
              <a:t>。</a:t>
            </a:r>
          </a:p>
          <a:p>
            <a:pPr algn="just">
              <a:lnSpc>
                <a:spcPct val="150000"/>
              </a:lnSpc>
            </a:pPr>
            <a:r>
              <a:rPr sz="2000" dirty="0" err="1"/>
              <a:t>信号量是一个数据集合，用户可以单独使用这一集合的每个元素。要调用的第一个函数是</a:t>
            </a:r>
            <a:r>
              <a:rPr lang="en-US" sz="2000" dirty="0"/>
              <a:t> </a:t>
            </a:r>
            <a:r>
              <a:rPr sz="2000" dirty="0" err="1"/>
              <a:t>semget，用以获得一个信号量</a:t>
            </a:r>
            <a:r>
              <a:rPr lang="en-US" sz="2000" dirty="0"/>
              <a:t> </a:t>
            </a:r>
            <a:r>
              <a:rPr sz="2000" dirty="0"/>
              <a:t>ID</a:t>
            </a:r>
            <a:r>
              <a:rPr lang="zh-CN" sz="2000" dirty="0"/>
              <a:t>。</a:t>
            </a:r>
          </a:p>
          <a:p>
            <a:pPr algn="just">
              <a:lnSpc>
                <a:spcPct val="150000"/>
              </a:lnSpc>
            </a:pPr>
            <a:endParaRPr lang="zh-CN" sz="2000" dirty="0"/>
          </a:p>
          <a:p>
            <a:pPr algn="just">
              <a:lnSpc>
                <a:spcPct val="150000"/>
              </a:lnSpc>
            </a:pPr>
            <a:endParaRPr lang="zh-CN" sz="2000" dirty="0"/>
          </a:p>
          <a:p>
            <a:pPr lvl="1" algn="just">
              <a:lnSpc>
                <a:spcPct val="150000"/>
              </a:lnSpc>
            </a:pPr>
            <a:r>
              <a:rPr lang="zh-CN" sz="2000" dirty="0"/>
              <a:t>key：IPC结构的关键字，它将来决定是创建新的信号量集合，还是引用一个现有的信号量集合。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/>
              <a:t>n</a:t>
            </a:r>
            <a:r>
              <a:rPr lang="zh-CN" sz="2000" dirty="0"/>
              <a:t>sems</a:t>
            </a:r>
            <a:r>
              <a:rPr lang="en-US" altLang="zh-CN" sz="2000" dirty="0"/>
              <a:t> </a:t>
            </a:r>
            <a:r>
              <a:rPr lang="zh-CN" sz="2000" dirty="0"/>
              <a:t>是该集合中的信号量数。如果是创建新集合（一般在服务器中），则必须指定</a:t>
            </a:r>
            <a:r>
              <a:rPr lang="en-US" altLang="zh-CN" sz="2000" dirty="0"/>
              <a:t> </a:t>
            </a:r>
            <a:r>
              <a:rPr lang="zh-CN" sz="2000" dirty="0"/>
              <a:t>nsems；如果是引用一个现有的信号量集合（一般在客户机中）则将</a:t>
            </a:r>
            <a:r>
              <a:rPr lang="en-US" altLang="zh-CN" sz="2000" dirty="0"/>
              <a:t> </a:t>
            </a:r>
            <a:r>
              <a:rPr lang="zh-CN" sz="2000" dirty="0"/>
              <a:t>nsems</a:t>
            </a:r>
            <a:r>
              <a:rPr lang="en-US" altLang="zh-CN" sz="2000" dirty="0"/>
              <a:t> </a:t>
            </a:r>
            <a:r>
              <a:rPr lang="zh-CN" sz="2000" dirty="0"/>
              <a:t>指定为</a:t>
            </a:r>
            <a:r>
              <a:rPr lang="en-US" altLang="zh-CN" sz="2000" dirty="0"/>
              <a:t> </a:t>
            </a:r>
            <a:r>
              <a:rPr lang="zh-CN" sz="2000" dirty="0"/>
              <a:t>0。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28" y="3043683"/>
            <a:ext cx="5293360" cy="11417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信号量</a:t>
            </a:r>
            <a:endParaRPr lang="en-US" altLang="zh-CN" dirty="0"/>
          </a:p>
        </p:txBody>
      </p:sp>
      <p:sp>
        <p:nvSpPr>
          <p:cNvPr id="9" name="内容占位符 6"/>
          <p:cNvSpPr>
            <a:spLocks noGrp="1"/>
          </p:cNvSpPr>
          <p:nvPr/>
        </p:nvSpPr>
        <p:spPr>
          <a:xfrm>
            <a:off x="736600" y="1109027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/>
              <a:t>s</a:t>
            </a:r>
            <a:r>
              <a:rPr lang="zh-CN" sz="2000" dirty="0"/>
              <a:t>emctl</a:t>
            </a:r>
            <a:r>
              <a:rPr lang="en-US" altLang="zh-CN" sz="2000" dirty="0"/>
              <a:t> </a:t>
            </a:r>
            <a:r>
              <a:rPr lang="zh-CN" sz="2000" dirty="0"/>
              <a:t>函数用来对信号量进行操作：</a:t>
            </a:r>
          </a:p>
          <a:p>
            <a:pPr algn="just">
              <a:lnSpc>
                <a:spcPct val="150000"/>
              </a:lnSpc>
            </a:pPr>
            <a:endParaRPr lang="zh-CN" sz="2000" dirty="0"/>
          </a:p>
          <a:p>
            <a:pPr lvl="1" algn="just">
              <a:lnSpc>
                <a:spcPct val="150000"/>
              </a:lnSpc>
            </a:pPr>
            <a:r>
              <a:rPr lang="zh-CN" sz="2000" dirty="0"/>
              <a:t>不同的操作是通过</a:t>
            </a:r>
            <a:r>
              <a:rPr lang="en-US" altLang="zh-CN" sz="2000" dirty="0"/>
              <a:t> </a:t>
            </a:r>
            <a:r>
              <a:rPr lang="zh-CN" sz="2000" dirty="0"/>
              <a:t>cmd</a:t>
            </a:r>
            <a:r>
              <a:rPr lang="en-US" altLang="zh-CN" sz="2000" dirty="0"/>
              <a:t> </a:t>
            </a:r>
            <a:r>
              <a:rPr lang="zh-CN" sz="2000" dirty="0"/>
              <a:t>参数来实现的，在头文件</a:t>
            </a:r>
            <a:r>
              <a:rPr lang="en-US" altLang="zh-CN" sz="2000" dirty="0"/>
              <a:t> </a:t>
            </a:r>
            <a:r>
              <a:rPr lang="zh-CN" sz="2000" dirty="0"/>
              <a:t>sem.h</a:t>
            </a:r>
            <a:r>
              <a:rPr lang="en-US" altLang="zh-CN" sz="2000" dirty="0"/>
              <a:t> </a:t>
            </a:r>
            <a:r>
              <a:rPr lang="zh-CN" sz="2000" dirty="0"/>
              <a:t>中定义了</a:t>
            </a:r>
            <a:r>
              <a:rPr lang="en-US" altLang="zh-CN" sz="2000" dirty="0"/>
              <a:t> </a:t>
            </a:r>
            <a:r>
              <a:rPr lang="zh-CN" sz="2000" dirty="0"/>
              <a:t>7</a:t>
            </a:r>
            <a:r>
              <a:rPr lang="en-US" altLang="zh-CN" sz="2000" dirty="0"/>
              <a:t> </a:t>
            </a:r>
            <a:r>
              <a:rPr lang="zh-CN" sz="2000" dirty="0"/>
              <a:t>种不同的操作，实际编程时可以参照使用。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1849755"/>
            <a:ext cx="8007350" cy="3670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5" y="4167505"/>
            <a:ext cx="8030210" cy="374650"/>
          </a:xfrm>
          <a:prstGeom prst="rect">
            <a:avLst/>
          </a:prstGeom>
        </p:spPr>
      </p:pic>
      <p:sp>
        <p:nvSpPr>
          <p:cNvPr id="6" name="内容占位符 6"/>
          <p:cNvSpPr>
            <a:spLocks noGrp="1"/>
          </p:cNvSpPr>
          <p:nvPr/>
        </p:nvSpPr>
        <p:spPr>
          <a:xfrm>
            <a:off x="732307" y="3494467"/>
            <a:ext cx="10972800" cy="193761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s</a:t>
            </a:r>
            <a:r>
              <a:rPr lang="zh-CN" sz="2000" dirty="0">
                <a:sym typeface="+mn-ea"/>
              </a:rPr>
              <a:t>emop</a:t>
            </a:r>
            <a:r>
              <a:rPr lang="en-US" altLang="zh-CN" sz="2000" dirty="0">
                <a:sym typeface="+mn-ea"/>
              </a:rPr>
              <a:t> </a:t>
            </a:r>
            <a:r>
              <a:rPr lang="zh-CN" sz="2000" dirty="0">
                <a:sym typeface="+mn-ea"/>
              </a:rPr>
              <a:t>函数自动执行信号量集合上的操作数组。</a:t>
            </a:r>
          </a:p>
          <a:p>
            <a:pPr lvl="1" algn="just">
              <a:lnSpc>
                <a:spcPct val="150000"/>
              </a:lnSpc>
            </a:pPr>
            <a:endParaRPr lang="zh-CN" sz="2000" dirty="0">
              <a:sym typeface="+mn-ea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s</a:t>
            </a:r>
            <a:r>
              <a:rPr lang="zh-CN" sz="2000" dirty="0">
                <a:sym typeface="+mn-ea"/>
              </a:rPr>
              <a:t>emoparray</a:t>
            </a:r>
            <a:r>
              <a:rPr lang="en-US" altLang="zh-CN" sz="2000" dirty="0">
                <a:sym typeface="+mn-ea"/>
              </a:rPr>
              <a:t> </a:t>
            </a:r>
            <a:r>
              <a:rPr lang="zh-CN" sz="2000" dirty="0">
                <a:sym typeface="+mn-ea"/>
              </a:rPr>
              <a:t>是一个指针，它指向一个信号量操作数组。</a:t>
            </a:r>
            <a:r>
              <a:rPr lang="en-US" altLang="zh-CN" sz="2000" dirty="0">
                <a:sym typeface="+mn-ea"/>
              </a:rPr>
              <a:t>n</a:t>
            </a:r>
            <a:r>
              <a:rPr lang="zh-CN" sz="2000" dirty="0">
                <a:sym typeface="+mn-ea"/>
              </a:rPr>
              <a:t>ops</a:t>
            </a:r>
            <a:r>
              <a:rPr lang="en-US" altLang="zh-CN" sz="2000" dirty="0">
                <a:sym typeface="+mn-ea"/>
              </a:rPr>
              <a:t> </a:t>
            </a:r>
            <a:r>
              <a:rPr lang="zh-CN" sz="2000" dirty="0">
                <a:sym typeface="+mn-ea"/>
              </a:rPr>
              <a:t>规定该数组中操作的数量。</a:t>
            </a:r>
            <a:endParaRPr lang="zh-CN" sz="20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zh-CN" sz="2000" dirty="0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信号量</a:t>
            </a:r>
            <a:r>
              <a:rPr lang="en-US" altLang="zh-CN" dirty="0"/>
              <a:t>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521" b="40969"/>
          <a:stretch>
            <a:fillRect/>
          </a:stretch>
        </p:blipFill>
        <p:spPr>
          <a:xfrm>
            <a:off x="1246505" y="1201420"/>
            <a:ext cx="4366260" cy="3488690"/>
          </a:xfrm>
          <a:prstGeom prst="rect">
            <a:avLst/>
          </a:prstGeom>
        </p:spPr>
      </p:pic>
      <p:sp>
        <p:nvSpPr>
          <p:cNvPr id="9" name="内容占位符 6"/>
          <p:cNvSpPr>
            <a:spLocks noGrp="1"/>
          </p:cNvSpPr>
          <p:nvPr/>
        </p:nvSpPr>
        <p:spPr>
          <a:xfrm>
            <a:off x="1038896" y="4855335"/>
            <a:ext cx="10672293" cy="16484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sz="2000" dirty="0"/>
              <a:t>创建一个特定的</a:t>
            </a:r>
            <a:r>
              <a:rPr lang="en-US" altLang="zh-CN" sz="2000" dirty="0"/>
              <a:t> </a:t>
            </a:r>
            <a:r>
              <a:rPr lang="zh-CN" sz="2000" dirty="0"/>
              <a:t>IPC</a:t>
            </a:r>
            <a:r>
              <a:rPr lang="en-US" altLang="zh-CN" sz="2000" dirty="0"/>
              <a:t> </a:t>
            </a:r>
            <a:r>
              <a:rPr lang="zh-CN" sz="2000" dirty="0"/>
              <a:t>结构的关键字和一个信号量，建立此信号量的索引，修改索引指向的信号量的值。</a:t>
            </a:r>
          </a:p>
          <a:p>
            <a:pPr algn="just">
              <a:lnSpc>
                <a:spcPct val="150000"/>
              </a:lnSpc>
            </a:pPr>
            <a:r>
              <a:rPr lang="zh-CN" sz="2000" dirty="0"/>
              <a:t>最后清除信号量。在这段代码中，函数</a:t>
            </a:r>
            <a:r>
              <a:rPr lang="en-US" altLang="zh-CN" sz="2000" dirty="0"/>
              <a:t> </a:t>
            </a:r>
            <a:r>
              <a:rPr lang="zh-CN" sz="2000" dirty="0"/>
              <a:t>ftok</a:t>
            </a:r>
            <a:r>
              <a:rPr lang="en-US" altLang="zh-CN" sz="2000" dirty="0"/>
              <a:t> </a:t>
            </a:r>
            <a:r>
              <a:rPr lang="zh-CN" sz="2000" dirty="0"/>
              <a:t>生成唯一的IPC关键字。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289" t="58638" r="15073"/>
          <a:stretch>
            <a:fillRect/>
          </a:stretch>
        </p:blipFill>
        <p:spPr>
          <a:xfrm>
            <a:off x="6308725" y="1201420"/>
            <a:ext cx="5273675" cy="3470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套接</a:t>
            </a:r>
            <a:r>
              <a:rPr lang="zh-CN" altLang="en-US" dirty="0"/>
              <a:t>字</a:t>
            </a:r>
            <a:endParaRPr lang="en-US" altLang="zh-CN" dirty="0"/>
          </a:p>
        </p:txBody>
      </p:sp>
      <p:sp>
        <p:nvSpPr>
          <p:cNvPr id="9" name="内容占位符 6"/>
          <p:cNvSpPr>
            <a:spLocks noGrp="1"/>
          </p:cNvSpPr>
          <p:nvPr/>
        </p:nvSpPr>
        <p:spPr>
          <a:xfrm>
            <a:off x="510862" y="1044316"/>
            <a:ext cx="11242210" cy="4522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200000"/>
              </a:lnSpc>
            </a:pPr>
            <a:r>
              <a:rPr lang="zh-CN" altLang="en-US" sz="2000" dirty="0"/>
              <a:t>套接字</a:t>
            </a:r>
            <a:r>
              <a:rPr sz="2000" dirty="0"/>
              <a:t>（</a:t>
            </a:r>
            <a:r>
              <a:rPr sz="2000" dirty="0" err="1"/>
              <a:t>socket）编程是实现Linux系统和其他大多数操作系统中进程间通信的主要方式之一</a:t>
            </a:r>
            <a:r>
              <a:rPr sz="2000" dirty="0"/>
              <a:t>。</a:t>
            </a:r>
          </a:p>
          <a:p>
            <a:pPr algn="just">
              <a:lnSpc>
                <a:spcPct val="200000"/>
              </a:lnSpc>
            </a:pPr>
            <a:r>
              <a:rPr sz="2000" dirty="0"/>
              <a:t>WWW</a:t>
            </a:r>
            <a:r>
              <a:rPr lang="en-US" sz="2000" dirty="0"/>
              <a:t> </a:t>
            </a:r>
            <a:r>
              <a:rPr sz="2000" dirty="0" err="1"/>
              <a:t>服务、FTP</a:t>
            </a:r>
            <a:r>
              <a:rPr lang="en-US" sz="2000" dirty="0"/>
              <a:t> </a:t>
            </a:r>
            <a:r>
              <a:rPr sz="2000" dirty="0" err="1"/>
              <a:t>服务、TELNET</a:t>
            </a:r>
            <a:r>
              <a:rPr lang="en-US" sz="2000" dirty="0"/>
              <a:t> </a:t>
            </a:r>
            <a:r>
              <a:rPr sz="2000" dirty="0" err="1"/>
              <a:t>服务等都是基于套接</a:t>
            </a:r>
            <a:r>
              <a:rPr lang="zh-CN" altLang="en-US" sz="2000" dirty="0"/>
              <a:t>字</a:t>
            </a:r>
            <a:r>
              <a:rPr sz="2000" dirty="0" err="1"/>
              <a:t>编程来实现的。除了在异地的计算机进程间以外，套接口同样适用于本地同一台计算机内部的进程间通信</a:t>
            </a:r>
            <a:r>
              <a:rPr sz="2000" dirty="0"/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688</Words>
  <Application>Microsoft Office PowerPoint</Application>
  <PresentationFormat>宽屏</PresentationFormat>
  <Paragraphs>76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Monotype Sorts</vt:lpstr>
      <vt:lpstr>MS PGothic</vt:lpstr>
      <vt:lpstr>宋体</vt:lpstr>
      <vt:lpstr>微软雅黑</vt:lpstr>
      <vt:lpstr>Arial</vt:lpstr>
      <vt:lpstr>Calibri</vt:lpstr>
      <vt:lpstr>Helvetica</vt:lpstr>
      <vt:lpstr>Times New Roman</vt:lpstr>
      <vt:lpstr>Verdana</vt:lpstr>
      <vt:lpstr>Webdings</vt:lpstr>
      <vt:lpstr>Wingdings</vt:lpstr>
      <vt:lpstr>os-8</vt:lpstr>
      <vt:lpstr> 3. Linux下的进程间通信</vt:lpstr>
      <vt:lpstr>Linux下的进程间通信 </vt:lpstr>
      <vt:lpstr>管道 </vt:lpstr>
      <vt:lpstr>在父进程和子进程间实现通信</vt:lpstr>
      <vt:lpstr>生成命名管道</vt:lpstr>
      <vt:lpstr>示例</vt:lpstr>
      <vt:lpstr>消息队列 </vt:lpstr>
      <vt:lpstr>共享内存 </vt:lpstr>
      <vt:lpstr>共享内存 </vt:lpstr>
      <vt:lpstr>共享内存 </vt:lpstr>
      <vt:lpstr>共享内存 </vt:lpstr>
      <vt:lpstr>信号量</vt:lpstr>
      <vt:lpstr>信号量</vt:lpstr>
      <vt:lpstr>信号量</vt:lpstr>
      <vt:lpstr>信号量 </vt:lpstr>
      <vt:lpstr>套接字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</dc:title>
  <dc:creator>T an J</dc:creator>
  <cp:lastModifiedBy>Pengbin Feng</cp:lastModifiedBy>
  <cp:revision>315</cp:revision>
  <dcterms:created xsi:type="dcterms:W3CDTF">2017-09-18T08:18:00Z</dcterms:created>
  <dcterms:modified xsi:type="dcterms:W3CDTF">2024-03-19T13:48:37Z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2536A08C7993468594F9D27A1CAE9FB2</vt:lpwstr>
  </property>
  <property fmtid="{D5CDD505-2E9C-101B-9397-08002B2CF9AE}" pid="3" name="KSOProductBuildVer">
    <vt:lpwstr>2052-11.1.0.10495</vt:lpwstr>
  </property>
</Properties>
</file>