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49" r:id="rId2"/>
    <p:sldId id="374" r:id="rId3"/>
    <p:sldId id="277" r:id="rId4"/>
    <p:sldId id="377" r:id="rId5"/>
    <p:sldId id="353" r:id="rId6"/>
    <p:sldId id="261" r:id="rId7"/>
    <p:sldId id="263" r:id="rId8"/>
    <p:sldId id="378" r:id="rId9"/>
    <p:sldId id="379" r:id="rId10"/>
    <p:sldId id="264" r:id="rId11"/>
    <p:sldId id="268" r:id="rId12"/>
    <p:sldId id="269" r:id="rId13"/>
    <p:sldId id="270" r:id="rId14"/>
    <p:sldId id="40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2191" autoAdjust="0"/>
  </p:normalViewPr>
  <p:slideViewPr>
    <p:cSldViewPr snapToGrid="0">
      <p:cViewPr varScale="1">
        <p:scale>
          <a:sx n="151" d="100"/>
          <a:sy n="151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F8427-FECB-4E7B-9DFF-6DEAD5470E7A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C16BD-DB70-4C16-9C90-83B023C13E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fld id="{420671C6-DC18-4CFB-8CDB-DEA62C9BCA9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960895" y="6613525"/>
            <a:ext cx="4231105" cy="2444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anose="020B0604020202020204" pitchFamily="34" charset="0"/>
              </a:rPr>
              <a:t> Cyber Engineering, Pengbin Feng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© 2024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85" y="6613526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p"/>
              <a:defRPr/>
            </a:lvl1pPr>
            <a:lvl2pPr marL="742950" indent="-285750">
              <a:buFont typeface="Wingdings" panose="05000000000000000000" pitchFamily="2" charset="2"/>
              <a:buChar char="Ø"/>
              <a:defRPr/>
            </a:lvl2pPr>
            <a:lvl3pPr marL="1085850" indent="-228600">
              <a:buFont typeface="Wingdings" panose="05000000000000000000" pitchFamily="2" charset="2"/>
              <a:buChar char="l"/>
              <a:defRPr/>
            </a:lvl3pPr>
            <a:lvl4pPr marL="1428750" indent="-228600">
              <a:buFont typeface="Wingdings" panose="05000000000000000000" pitchFamily="2" charset="2"/>
              <a:buChar char="n"/>
              <a:defRPr/>
            </a:lvl4pPr>
            <a:lvl5pPr marL="1828800" indent="-2857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Verdana" panose="020B0604030504040204" charset="0"/>
              <a:ea typeface="MS PGothic" panose="020B0600070205080204" pitchFamily="34" charset="-128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802355" y="6613526"/>
            <a:ext cx="341760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fld id="{E47A1B8B-F58A-418B-942E-02E227757422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7884695" y="6605586"/>
            <a:ext cx="4289315" cy="2444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</a:t>
            </a:r>
            <a:r>
              <a:rPr lang="en-US" altLang="zh-CN" sz="1000" b="1" dirty="0" err="1">
                <a:solidFill>
                  <a:srgbClr val="336699"/>
                </a:solidFill>
                <a:latin typeface="Helvetica" panose="020B0604020202020204" pitchFamily="34" charset="0"/>
              </a:rPr>
              <a:t>Xidian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University,</a:t>
            </a:r>
            <a:r>
              <a:rPr lang="en-US" altLang="zh-CN" sz="1000" b="1" baseline="0" dirty="0">
                <a:solidFill>
                  <a:srgbClr val="336699"/>
                </a:solidFill>
                <a:latin typeface="Helvetica" panose="020B0604020202020204" pitchFamily="34" charset="0"/>
              </a:rPr>
              <a:t> Cyber Engineering, Pengbin Feng</a:t>
            </a:r>
            <a:r>
              <a:rPr lang="en-US" altLang="zh-CN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© 2024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47651" y="6621464"/>
            <a:ext cx="2659702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2.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Linux下的多进程编程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进程的概念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43189"/>
            <a:ext cx="11234671" cy="47210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sz="2000" dirty="0" err="1">
                <a:sym typeface="+mn-ea"/>
              </a:rPr>
              <a:t>进程是操作系统中最基本、重要的概念</a:t>
            </a:r>
            <a:r>
              <a:rPr sz="2000" dirty="0">
                <a:sym typeface="+mn-ea"/>
              </a:rPr>
              <a:t>。</a:t>
            </a:r>
            <a:endParaRPr lang="en-US" sz="2000" dirty="0"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sz="2000" dirty="0" err="1">
                <a:sym typeface="+mn-ea"/>
              </a:rPr>
              <a:t>多道程序系统出现后，为了刻画系统内部出现的动态情况，描述系统内部各道程序的活动规律</a:t>
            </a:r>
            <a:r>
              <a:rPr lang="zh-CN" altLang="en-US" sz="2000" dirty="0">
                <a:sym typeface="+mn-ea"/>
              </a:rPr>
              <a:t>而</a:t>
            </a:r>
            <a:r>
              <a:rPr sz="2000" dirty="0" err="1">
                <a:sym typeface="+mn-ea"/>
              </a:rPr>
              <a:t>引进的一个概念</a:t>
            </a:r>
            <a:r>
              <a:rPr lang="zh-CN" altLang="en-US" sz="2000" dirty="0">
                <a:sym typeface="+mn-ea"/>
              </a:rPr>
              <a:t>。</a:t>
            </a:r>
            <a:r>
              <a:rPr sz="2000" dirty="0" err="1">
                <a:sym typeface="+mn-ea"/>
              </a:rPr>
              <a:t>所有</a:t>
            </a:r>
            <a:r>
              <a:rPr lang="zh-CN" altLang="en-US" sz="2000" dirty="0">
                <a:sym typeface="+mn-ea"/>
              </a:rPr>
              <a:t>的</a:t>
            </a:r>
            <a:r>
              <a:rPr sz="2000" dirty="0" err="1">
                <a:sym typeface="+mn-ea"/>
              </a:rPr>
              <a:t>多道程序操作系统都建立在进程的基础上</a:t>
            </a:r>
            <a:r>
              <a:rPr sz="2000" dirty="0"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sz="2000" dirty="0" err="1">
                <a:sym typeface="+mn-ea"/>
              </a:rPr>
              <a:t>操作系统引入进程概念的原因</a:t>
            </a:r>
            <a:r>
              <a:rPr sz="2000" dirty="0">
                <a:sym typeface="+mn-ea"/>
              </a:rPr>
              <a:t>:</a:t>
            </a:r>
            <a:endParaRPr sz="2000" dirty="0"/>
          </a:p>
          <a:p>
            <a:pPr lvl="1" algn="just">
              <a:lnSpc>
                <a:spcPct val="150000"/>
              </a:lnSpc>
            </a:pPr>
            <a:r>
              <a:rPr sz="2000" dirty="0">
                <a:sym typeface="+mn-ea"/>
              </a:rPr>
              <a:t>从理论角度看，是对正在运行的程序过程的抽象；</a:t>
            </a:r>
            <a:endParaRPr sz="2000" dirty="0"/>
          </a:p>
          <a:p>
            <a:pPr lvl="1" algn="just">
              <a:lnSpc>
                <a:spcPct val="150000"/>
              </a:lnSpc>
            </a:pPr>
            <a:r>
              <a:rPr sz="2000" dirty="0" err="1">
                <a:sym typeface="+mn-ea"/>
              </a:rPr>
              <a:t>从实现角度看，是一种数据结构，目的在于清晰地刻划动态系统的内在规律，有效管理和调度进入计算机系统</a:t>
            </a:r>
            <a:r>
              <a:rPr lang="zh-CN" altLang="en-US" sz="2000" dirty="0">
                <a:sym typeface="+mn-ea"/>
              </a:rPr>
              <a:t>处理器</a:t>
            </a:r>
            <a:r>
              <a:rPr sz="2000" dirty="0" err="1">
                <a:sym typeface="+mn-ea"/>
              </a:rPr>
              <a:t>运行的程序</a:t>
            </a:r>
            <a:r>
              <a:rPr sz="2000" dirty="0">
                <a:sym typeface="+mn-ea"/>
              </a:rPr>
              <a:t>。</a:t>
            </a:r>
            <a:endParaRPr sz="2000" dirty="0"/>
          </a:p>
          <a:p>
            <a:pPr algn="just">
              <a:lnSpc>
                <a:spcPct val="150000"/>
              </a:lnSpc>
            </a:pP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进程切换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1" y="1233489"/>
            <a:ext cx="11260428" cy="45307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de-DE" altLang="zh-CN" sz="2000" dirty="0"/>
              <a:t>进程切换</a:t>
            </a:r>
            <a:r>
              <a:rPr lang="zh-CN" altLang="de-DE" sz="2000" dirty="0"/>
              <a:t>：</a:t>
            </a:r>
            <a:r>
              <a:rPr lang="de-DE" altLang="zh-CN" sz="2000" dirty="0"/>
              <a:t>从正在运行的进程中收回处理器，再</a:t>
            </a:r>
            <a:r>
              <a:rPr lang="zh-CN" altLang="en-US" sz="2000" dirty="0"/>
              <a:t>调度</a:t>
            </a:r>
            <a:r>
              <a:rPr lang="de-DE" altLang="zh-CN" sz="2000" dirty="0"/>
              <a:t>待运行进程</a:t>
            </a:r>
            <a:r>
              <a:rPr lang="zh-CN" altLang="en-US" sz="2000" dirty="0"/>
              <a:t>（</a:t>
            </a:r>
            <a:r>
              <a:rPr lang="en-US" altLang="zh-CN" sz="2000" dirty="0"/>
              <a:t>ready queue</a:t>
            </a:r>
            <a:r>
              <a:rPr lang="zh-CN" altLang="en-US" sz="2000" dirty="0"/>
              <a:t>）</a:t>
            </a:r>
            <a:r>
              <a:rPr lang="de-DE" altLang="zh-CN" sz="2000" dirty="0"/>
              <a:t>来占用处理器</a:t>
            </a:r>
          </a:p>
          <a:p>
            <a:pPr lvl="1" algn="just">
              <a:lnSpc>
                <a:spcPct val="150000"/>
              </a:lnSpc>
            </a:pPr>
            <a:r>
              <a:rPr lang="de-DE" altLang="zh-CN" sz="2000" dirty="0"/>
              <a:t>从某个进程收回处理器</a:t>
            </a:r>
            <a:r>
              <a:rPr lang="zh-CN" altLang="de-DE" sz="2000" dirty="0"/>
              <a:t>：</a:t>
            </a:r>
            <a:r>
              <a:rPr lang="de-DE" altLang="zh-CN" sz="2000" dirty="0"/>
              <a:t>把进程存放在处理器的寄存器中的中间数据找个地方存起来，从而</a:t>
            </a:r>
            <a:r>
              <a:rPr lang="zh-CN" altLang="en-US" sz="2000" dirty="0"/>
              <a:t>将</a:t>
            </a:r>
            <a:r>
              <a:rPr lang="de-DE" altLang="zh-CN" sz="2000" dirty="0"/>
              <a:t>处理器的寄存器腾出来让其他进程使用。</a:t>
            </a:r>
          </a:p>
          <a:p>
            <a:pPr lvl="1" algn="just">
              <a:lnSpc>
                <a:spcPct val="150000"/>
              </a:lnSpc>
            </a:pPr>
            <a:r>
              <a:rPr lang="de-DE" altLang="zh-CN" sz="2000" dirty="0"/>
              <a:t>被中止运行进程的中间数据存在何处好呢？</a:t>
            </a:r>
          </a:p>
          <a:p>
            <a:pPr lvl="2" algn="just">
              <a:lnSpc>
                <a:spcPct val="150000"/>
              </a:lnSpc>
            </a:pPr>
            <a:r>
              <a:rPr lang="de-DE" altLang="zh-CN" sz="2000" dirty="0"/>
              <a:t>进程的私有堆栈</a:t>
            </a:r>
            <a:r>
              <a:rPr lang="zh-CN" altLang="en-US" sz="2000" dirty="0"/>
              <a:t>，进程控制块（</a:t>
            </a:r>
            <a:r>
              <a:rPr lang="en-US" altLang="zh-CN" sz="2000" dirty="0"/>
              <a:t>PCB</a:t>
            </a:r>
            <a:r>
              <a:rPr lang="zh-CN" altLang="en-US" sz="2000" dirty="0"/>
              <a:t>）</a:t>
            </a:r>
            <a:endParaRPr lang="de-DE" altLang="zh-CN" sz="2000" dirty="0"/>
          </a:p>
          <a:p>
            <a:pPr marL="0" indent="0" algn="just">
              <a:lnSpc>
                <a:spcPct val="150000"/>
              </a:lnSpc>
              <a:buNone/>
            </a:pPr>
            <a:endParaRPr lang="de-DE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356" y="3498851"/>
            <a:ext cx="1930383" cy="3134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ym typeface="+mn-ea"/>
              </a:rPr>
              <a:t>进程切换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44451"/>
            <a:ext cx="11438467" cy="50217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进程占用处理器</a:t>
            </a:r>
            <a:r>
              <a:rPr lang="zh-CN" altLang="de-DE" sz="2000" dirty="0">
                <a:sym typeface="+mn-ea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把某个进程存放在私有堆栈中寄存器的数据（前一次本进程被中止时的中间数据）</a:t>
            </a:r>
            <a:r>
              <a:rPr lang="zh-CN" altLang="en-US" sz="2000" dirty="0">
                <a:sym typeface="+mn-ea"/>
              </a:rPr>
              <a:t>，</a:t>
            </a:r>
            <a:r>
              <a:rPr lang="de-DE" altLang="zh-CN" sz="2000" dirty="0">
                <a:sym typeface="+mn-ea"/>
              </a:rPr>
              <a:t>再</a:t>
            </a:r>
            <a:r>
              <a:rPr lang="de-DE" altLang="zh-CN" sz="2000" b="1" dirty="0">
                <a:sym typeface="+mn-ea"/>
              </a:rPr>
              <a:t>恢复</a:t>
            </a:r>
            <a:r>
              <a:rPr lang="de-DE" altLang="zh-CN" sz="2000" dirty="0">
                <a:sym typeface="+mn-ea"/>
              </a:rPr>
              <a:t>到处理器的</a:t>
            </a:r>
            <a:r>
              <a:rPr lang="de-DE" altLang="zh-CN" sz="2000" b="1" dirty="0">
                <a:sym typeface="+mn-ea"/>
              </a:rPr>
              <a:t>寄存器</a:t>
            </a:r>
            <a:r>
              <a:rPr lang="de-DE" altLang="zh-CN" sz="2000" dirty="0">
                <a:sym typeface="+mn-ea"/>
              </a:rPr>
              <a:t>中去</a:t>
            </a:r>
            <a:endParaRPr lang="en-US" altLang="zh-CN" sz="2000" dirty="0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并把待运行进程的断点</a:t>
            </a:r>
            <a:r>
              <a:rPr lang="de-DE" altLang="zh-CN" sz="2000" b="1" dirty="0">
                <a:sym typeface="+mn-ea"/>
              </a:rPr>
              <a:t>送入</a:t>
            </a:r>
            <a:r>
              <a:rPr lang="de-DE" altLang="zh-CN" sz="2000" dirty="0">
                <a:sym typeface="+mn-ea"/>
              </a:rPr>
              <a:t>处理器的</a:t>
            </a:r>
            <a:r>
              <a:rPr lang="de-DE" altLang="zh-CN" sz="2000" b="1" dirty="0">
                <a:sym typeface="+mn-ea"/>
              </a:rPr>
              <a:t>程序</a:t>
            </a:r>
            <a:r>
              <a:rPr lang="zh-CN" altLang="en-US" sz="2000" b="1" dirty="0">
                <a:sym typeface="+mn-ea"/>
              </a:rPr>
              <a:t>计数器</a:t>
            </a:r>
            <a:r>
              <a:rPr lang="de-DE" altLang="zh-CN" sz="2000" dirty="0">
                <a:sym typeface="+mn-ea"/>
              </a:rPr>
              <a:t>PC，于是待运行进程就开始被处理器运行了，</a:t>
            </a:r>
            <a:r>
              <a:rPr lang="zh-CN" altLang="de-DE" sz="2000" dirty="0">
                <a:sym typeface="+mn-ea"/>
              </a:rPr>
              <a:t>即该</a:t>
            </a:r>
            <a:r>
              <a:rPr lang="de-DE" altLang="zh-CN" sz="2000" dirty="0">
                <a:sym typeface="+mn-ea"/>
              </a:rPr>
              <a:t>进程已经占有处理器的使用权了。</a:t>
            </a:r>
          </a:p>
          <a:p>
            <a:pPr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进程的上下文</a:t>
            </a:r>
            <a:r>
              <a:rPr lang="zh-CN" altLang="de-DE" sz="2000" dirty="0">
                <a:sym typeface="+mn-ea"/>
              </a:rPr>
              <a:t>：</a:t>
            </a:r>
          </a:p>
          <a:p>
            <a:pPr lvl="1"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切换时一个进程存储在处理器各</a:t>
            </a:r>
            <a:r>
              <a:rPr lang="de-DE" altLang="zh-CN" sz="2000" b="1" dirty="0">
                <a:sym typeface="+mn-ea"/>
              </a:rPr>
              <a:t>寄存器中的中间数据</a:t>
            </a:r>
            <a:r>
              <a:rPr lang="zh-CN" altLang="de-DE" sz="2000" dirty="0">
                <a:sym typeface="+mn-ea"/>
              </a:rPr>
              <a:t>。</a:t>
            </a:r>
            <a:endParaRPr lang="de-DE" altLang="zh-CN" sz="20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进程的切换实质上就是 被中止运行进程 与 待运行进程 上下文的切换。</a:t>
            </a:r>
          </a:p>
          <a:p>
            <a:pPr>
              <a:lnSpc>
                <a:spcPct val="150000"/>
              </a:lnSpc>
            </a:pPr>
            <a:r>
              <a:rPr lang="de-DE" altLang="zh-CN" sz="2000" dirty="0">
                <a:sym typeface="+mn-ea"/>
              </a:rPr>
              <a:t>在进程未占用处理器时，进程的上下文存储在进程的私有堆栈中。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Linux下进程的结构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14548"/>
            <a:ext cx="11247549" cy="453072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zh-CN" altLang="en-US" sz="2000" dirty="0"/>
              <a:t>在Linux操作系统中，进程在内存里有三部分的数据：“数据段”、</a:t>
            </a:r>
            <a:r>
              <a:rPr lang="en-US" altLang="zh-CN" sz="2000" dirty="0"/>
              <a:t>”</a:t>
            </a:r>
            <a:r>
              <a:rPr lang="zh-CN" altLang="en-US" sz="2000" dirty="0"/>
              <a:t>堆栈段”和“代码段”。</a:t>
            </a:r>
          </a:p>
          <a:p>
            <a:pPr lvl="1" algn="just">
              <a:lnSpc>
                <a:spcPct val="200000"/>
              </a:lnSpc>
            </a:pPr>
            <a:r>
              <a:rPr lang="zh-CN" altLang="en-US" sz="2000" dirty="0"/>
              <a:t>代码段：存放了程序代码的数据，假如机器中有数个进程运行相同的一个程序，那么它们就可以使用同一个代码段。</a:t>
            </a:r>
          </a:p>
          <a:p>
            <a:pPr lvl="1" algn="just">
              <a:lnSpc>
                <a:spcPct val="200000"/>
              </a:lnSpc>
            </a:pPr>
            <a:r>
              <a:rPr lang="zh-CN" altLang="en-US" sz="2000" dirty="0"/>
              <a:t>堆栈段：存放子程序的返回地址、子程序的参数以及程序的局部变量。</a:t>
            </a:r>
          </a:p>
          <a:p>
            <a:pPr lvl="1" algn="just">
              <a:lnSpc>
                <a:spcPct val="200000"/>
              </a:lnSpc>
            </a:pPr>
            <a:r>
              <a:rPr lang="zh-CN" altLang="en-US" sz="2000" dirty="0"/>
              <a:t>数据段：存放程序的全局变量，常数以及动态数据分配的数据空间（比如用malloc之类的函数取得的空间）。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fork()函数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34848"/>
            <a:ext cx="10972800" cy="502251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fork函数：</a:t>
            </a:r>
            <a:r>
              <a:rPr lang="zh-CN" altLang="en-US" sz="2000" dirty="0"/>
              <a:t>在Linux下产生子进程的系统调用。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fork是最难理解的概念之一：它执行一次却返回两个值。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fork函数是Unix系统最杰出的成就之一，它是七十年代UNIX早期的开发者经过长期在理论和实践上的艰苦探索后取得的成果。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一方面，它使操作系统在进程管理上付出了最小的代价，另一方面，又为程序员提供了一个简洁明了的多进程方法。与DOS和早期的Windows不同，Unix/Linux系统是真正实现多任务操作的系统，可以说，不使用多进程编程，就不能算是真正的Linux环境下编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9347" y="1146810"/>
            <a:ext cx="6301740" cy="456438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761087" y="1143107"/>
            <a:ext cx="5121497" cy="50399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程序运行后，就能看到屏幕上交替出现子进程与父进程各打印出的一千条信息了。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如果程序还在运行中，用ps命令就能看到系统中有两个它在运行了。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调用这个fork函数时发生了什么？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09600" y="1137879"/>
            <a:ext cx="10972800" cy="502251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一个程序一调用fork函数，系统就为一个新的进程准备了三个段</a:t>
            </a:r>
            <a:r>
              <a:rPr lang="zh-CN" altLang="en-US" sz="2000" dirty="0"/>
              <a:t>：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首先，系统让新的进程与旧的进程使用同一个代码段，因为它们的程序还是相同的；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对于数据段和堆栈段，系统则复制一份给新的进程。这样，父进程的所有数据都可以留给子进程，但是，子进程一旦开始运行，虽然它继承了父进程的一切数据，但实际上数据却已经分开，相互之间不再有影响了，也就是说，它们之间不再共享任何数据了。</a:t>
            </a:r>
          </a:p>
          <a:p>
            <a:pPr lvl="1">
              <a:lnSpc>
                <a:spcPct val="200000"/>
              </a:lnSpc>
            </a:pPr>
            <a:r>
              <a:rPr lang="zh-CN" altLang="en-US" sz="2000" dirty="0"/>
              <a:t>如果两个进程要共享什么数据的话，要使用另一套函数（shmget，shmat，shmdt等）来操作。（通过共享内存和消息传递系统进行交互）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调用这个fork函数时发生了什么？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8766" y="1224903"/>
            <a:ext cx="11114468" cy="453072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现在，已经是两个进程了，对于父进程，fork函数返回了子程序的进程号，而对于子程序，fork函数则返回零。</a:t>
            </a:r>
          </a:p>
          <a:p>
            <a:pPr algn="just"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对于程序，只要判断fork函数的返回值，就知道自己是处于父进程还是子进程中。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fork</a:t>
            </a:r>
            <a:r>
              <a:rPr lang="zh-CN" altLang="en-US" dirty="0"/>
              <a:t>的系统开销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14549"/>
            <a:ext cx="10904113" cy="4530725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sz="2000" dirty="0"/>
              <a:t>如果一个大程序在运行中，它的数据段和堆栈都很大，一次fork就要复制一次，那么fork的系统开销不是很大吗？</a:t>
            </a:r>
          </a:p>
          <a:p>
            <a:pPr lvl="1" algn="just">
              <a:lnSpc>
                <a:spcPct val="200000"/>
              </a:lnSpc>
            </a:pPr>
            <a:r>
              <a:rPr sz="2000" dirty="0"/>
              <a:t>Linux自有其解决的办法</a:t>
            </a:r>
            <a:r>
              <a:rPr lang="zh-CN" sz="2000" dirty="0"/>
              <a:t>。</a:t>
            </a:r>
            <a:r>
              <a:rPr sz="2000" dirty="0" err="1"/>
              <a:t>一般CPU都是以“页”为单位分配空间的</a:t>
            </a:r>
            <a:r>
              <a:rPr sz="2000" dirty="0"/>
              <a:t>，</a:t>
            </a:r>
            <a:r>
              <a:rPr lang="zh-CN" altLang="en-US" sz="2000" dirty="0"/>
              <a:t>像</a:t>
            </a:r>
            <a:r>
              <a:rPr sz="2000" dirty="0"/>
              <a:t>INTEL的CPU，其一页在通常情况下是4K字节大小，而无论是数据段还是堆栈段都是由许多“页”构成的，fork函数复制这两个段，只是“逻辑”上的，并非“物理”上的，也就是说，实际执行fork时，物理空间上两个进程的数据段和堆栈段都还是共享着的，当有一个进程写了某个数据时，这时两个进程之间的数据才有了区别，系统就将有区别的“页”从物理上也分开。系统在空间上的开销就可以达到最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29858"/>
            <a:ext cx="10972800" cy="576262"/>
          </a:xfrm>
        </p:spPr>
        <p:txBody>
          <a:bodyPr/>
          <a:lstStyle/>
          <a:p>
            <a:r>
              <a:rPr lang="zh-CN" altLang="en-US" sz="3600" dirty="0"/>
              <a:t>死循环</a:t>
            </a:r>
            <a:r>
              <a:rPr lang="en-US" altLang="zh-CN" sz="3600" dirty="0"/>
              <a:t>fork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245" t="7637" r="19803" b="3805"/>
          <a:stretch>
            <a:fillRect/>
          </a:stretch>
        </p:blipFill>
        <p:spPr>
          <a:xfrm>
            <a:off x="1147445" y="2372360"/>
            <a:ext cx="4408170" cy="211328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01410" y="1250950"/>
            <a:ext cx="5166342" cy="510032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ym typeface="+mn-ea"/>
              </a:rPr>
              <a:t>程序不断产生进程，而这些进程又不断产生新的进程，很快，系统的进程就满了，系统就被这么多不断产生的进程"撑死了"。不用root权限，任何人运行上述程序都足以让系统死掉。</a:t>
            </a:r>
            <a:endParaRPr lang="zh-CN" altLang="en-US" sz="2000" dirty="0"/>
          </a:p>
          <a:p>
            <a:pPr algn="just">
              <a:lnSpc>
                <a:spcPct val="150000"/>
              </a:lnSpc>
            </a:pPr>
            <a:r>
              <a:rPr lang="zh-CN" altLang="en-US" sz="2000" b="1" dirty="0">
                <a:sym typeface="+mn-ea"/>
              </a:rPr>
              <a:t>解决</a:t>
            </a:r>
            <a:r>
              <a:rPr lang="zh-CN" altLang="en-US" sz="2000" dirty="0">
                <a:sym typeface="+mn-ea"/>
              </a:rPr>
              <a:t>：预先给每个用户设置可运行的最大进程数，这样，只要不是root，任何能运行的进程数也许不足系统总的能运行进程数的十分之一。</a:t>
            </a: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如何启动另一程序的执行</a:t>
            </a:r>
            <a:endParaRPr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9600" y="1229196"/>
            <a:ext cx="109728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000" dirty="0"/>
              <a:t>在Linux中</a:t>
            </a:r>
            <a:r>
              <a:rPr lang="zh-CN" sz="2000" dirty="0"/>
              <a:t>，</a:t>
            </a:r>
            <a:r>
              <a:rPr sz="2000" dirty="0"/>
              <a:t>使用exec类的函数</a:t>
            </a:r>
            <a:r>
              <a:rPr lang="zh-CN" sz="2000" dirty="0"/>
              <a:t>。</a:t>
            </a:r>
          </a:p>
          <a:p>
            <a:pPr lvl="1">
              <a:lnSpc>
                <a:spcPct val="150000"/>
              </a:lnSpc>
            </a:pPr>
            <a:r>
              <a:rPr sz="2000" dirty="0"/>
              <a:t>exec类的函数不止一个，</a:t>
            </a:r>
            <a:r>
              <a:rPr lang="zh-CN" sz="2000" dirty="0"/>
              <a:t>分别是：</a:t>
            </a:r>
            <a:r>
              <a:rPr sz="2000" dirty="0"/>
              <a:t>execl，execlp，execle，execv，execve和execvp</a:t>
            </a:r>
          </a:p>
          <a:p>
            <a:pPr>
              <a:lnSpc>
                <a:spcPct val="150000"/>
              </a:lnSpc>
            </a:pPr>
            <a:r>
              <a:rPr sz="2000" dirty="0"/>
              <a:t>以execlp为例</a:t>
            </a:r>
            <a:r>
              <a:rPr lang="zh-CN" sz="2000" dirty="0"/>
              <a:t>，</a:t>
            </a:r>
            <a:endParaRPr sz="2000" dirty="0"/>
          </a:p>
          <a:p>
            <a:pPr lvl="1">
              <a:lnSpc>
                <a:spcPct val="150000"/>
              </a:lnSpc>
            </a:pPr>
            <a:r>
              <a:rPr lang="zh-CN" sz="2000" dirty="0">
                <a:sym typeface="+mn-ea"/>
              </a:rPr>
              <a:t>可</a:t>
            </a:r>
            <a:r>
              <a:rPr sz="2000" dirty="0">
                <a:sym typeface="+mn-ea"/>
              </a:rPr>
              <a:t>通过man exec命令来了解其它函数与execlp有何区别</a:t>
            </a:r>
          </a:p>
          <a:p>
            <a:pPr lvl="1">
              <a:lnSpc>
                <a:spcPct val="150000"/>
              </a:lnSpc>
            </a:pPr>
            <a:r>
              <a:rPr sz="2000" dirty="0"/>
              <a:t>一个进程一旦调用exec类函数，它本身就“死亡”了，系统把代码段替换成新的程序的代码，废弃原有的数据段和堆栈段，并为新程序分配新的数据段与堆栈段，唯一留下的，就是进程号，也就是说，对系统而言，还是同一个进程，不过已经是另一个程序了。（不过exec类函数中有的还允许继承环境变量之类的信息。）</a:t>
            </a:r>
          </a:p>
          <a:p>
            <a:pPr>
              <a:lnSpc>
                <a:spcPct val="150000"/>
              </a:lnSpc>
            </a:pPr>
            <a:r>
              <a:rPr sz="2000" dirty="0" err="1"/>
              <a:t>如果当前程序想启动另一程序的执行</a:t>
            </a:r>
            <a:r>
              <a:rPr lang="zh-CN" altLang="en-US" sz="2000" dirty="0"/>
              <a:t>，</a:t>
            </a:r>
            <a:r>
              <a:rPr sz="2000" dirty="0" err="1"/>
              <a:t>但自己仍想继续运行的话</a:t>
            </a:r>
            <a:r>
              <a:rPr lang="zh-CN" sz="2000" dirty="0"/>
              <a:t>，</a:t>
            </a:r>
            <a:r>
              <a:rPr sz="2000" dirty="0"/>
              <a:t>结合fork与exec的使用。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如何启动运行其它程序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8855"/>
            <a:ext cx="6104890" cy="557339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23710" y="999490"/>
            <a:ext cx="5068570" cy="55727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000" dirty="0"/>
              <a:t>从终端读入命令并执行之，执行完成后，父进程继续等待从终端读入命令。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8965" y="1181735"/>
            <a:ext cx="11283315" cy="539051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sz="2000" dirty="0"/>
              <a:t>DOS/WINDOWS也有exec类函数，其使用方法是类似的，但DOS/WINDOWS还有spawn类函数，因为DOS是单任务的系统，它只能将“父进程”驻留在机器内再执行“子进程”，这就是spawn类的函数。WIN32已经是多任务的系统了，但还保留了spawn类函数，WIN32中实现spawn函数的方法同前述Linux中的方法差不多，开子进程后父进程等待子进程结束后才继续运行。Linux在其一开始就是多任务的系统，所以从核心角度上讲不需要spawn类函数。  </a:t>
            </a:r>
          </a:p>
          <a:p>
            <a:pPr algn="just">
              <a:lnSpc>
                <a:spcPct val="150000"/>
              </a:lnSpc>
            </a:pPr>
            <a:r>
              <a:rPr sz="2000" dirty="0" err="1"/>
              <a:t>另外，有一个更简单的执行其它程序的函数system</a:t>
            </a:r>
            <a:r>
              <a:rPr lang="en-US" sz="2000" dirty="0"/>
              <a:t>()</a:t>
            </a:r>
            <a:r>
              <a:rPr sz="2000" dirty="0"/>
              <a:t>，</a:t>
            </a:r>
            <a:r>
              <a:rPr sz="2000" dirty="0" err="1"/>
              <a:t>它是一个较高层的函数，实际上相当于在SHELL环境下执行一条命令</a:t>
            </a:r>
            <a:r>
              <a:rPr lang="zh-CN" altLang="en-US" sz="2000" dirty="0"/>
              <a:t>；</a:t>
            </a:r>
            <a:r>
              <a:rPr sz="2000" dirty="0"/>
              <a:t>而</a:t>
            </a:r>
            <a:r>
              <a:rPr lang="en-US" sz="2000" dirty="0"/>
              <a:t> </a:t>
            </a:r>
            <a:r>
              <a:rPr sz="2000" dirty="0"/>
              <a:t>exec</a:t>
            </a:r>
            <a:r>
              <a:rPr lang="en-US" sz="2000" dirty="0"/>
              <a:t> </a:t>
            </a:r>
            <a:r>
              <a:rPr sz="2000" dirty="0" err="1"/>
              <a:t>类函数则是低层的系统调用</a:t>
            </a:r>
            <a:r>
              <a:rPr sz="2000" dirty="0"/>
              <a:t>。</a:t>
            </a:r>
            <a:endParaRPr lang="zh-CN" altLang="en-US" sz="2000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6698020-4603-44C3-ACB7-4B355BEE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576262"/>
          </a:xfrm>
        </p:spPr>
        <p:txBody>
          <a:bodyPr/>
          <a:lstStyle/>
          <a:p>
            <a:r>
              <a:rPr lang="en-US" altLang="zh-CN" dirty="0"/>
              <a:t>如何启动运行其它程序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430,&quot;width&quot;:8745}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957</Words>
  <Application>Microsoft Office PowerPoint</Application>
  <PresentationFormat>宽屏</PresentationFormat>
  <Paragraphs>60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Monotype Sorts</vt:lpstr>
      <vt:lpstr>MS PGothic</vt:lpstr>
      <vt:lpstr>宋体</vt:lpstr>
      <vt:lpstr>微软雅黑</vt:lpstr>
      <vt:lpstr>Arial</vt:lpstr>
      <vt:lpstr>Calibri</vt:lpstr>
      <vt:lpstr>Helvetica</vt:lpstr>
      <vt:lpstr>Times New Roman</vt:lpstr>
      <vt:lpstr>Verdana</vt:lpstr>
      <vt:lpstr>Webdings</vt:lpstr>
      <vt:lpstr>Wingdings</vt:lpstr>
      <vt:lpstr>os-8</vt:lpstr>
      <vt:lpstr> 2. Linux下的多进程编程</vt:lpstr>
      <vt:lpstr>进程的概念</vt:lpstr>
      <vt:lpstr>进程切换</vt:lpstr>
      <vt:lpstr>进程切换</vt:lpstr>
      <vt:lpstr>Linux下进程的结构</vt:lpstr>
      <vt:lpstr>fork()函数</vt:lpstr>
      <vt:lpstr>示例</vt:lpstr>
      <vt:lpstr>调用这个fork函数时发生了什么？</vt:lpstr>
      <vt:lpstr>调用这个fork函数时发生了什么？</vt:lpstr>
      <vt:lpstr>fork的系统开销</vt:lpstr>
      <vt:lpstr>死循环fork</vt:lpstr>
      <vt:lpstr>如何启动另一程序的执行</vt:lpstr>
      <vt:lpstr>如何启动运行其它程序</vt:lpstr>
      <vt:lpstr>如何启动运行其它程序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</dc:title>
  <dc:creator>T an J</dc:creator>
  <cp:lastModifiedBy>Pengbin Feng</cp:lastModifiedBy>
  <cp:revision>315</cp:revision>
  <dcterms:created xsi:type="dcterms:W3CDTF">2017-09-18T08:18:00Z</dcterms:created>
  <dcterms:modified xsi:type="dcterms:W3CDTF">2024-03-19T13:48:17Z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2536A08C7993468594F9D27A1CAE9FB2</vt:lpwstr>
  </property>
  <property fmtid="{D5CDD505-2E9C-101B-9397-08002B2CF9AE}" pid="3" name="KSOProductBuildVer">
    <vt:lpwstr>2052-11.1.0.10495</vt:lpwstr>
  </property>
</Properties>
</file>