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1" r:id="rId2"/>
    <p:sldId id="257" r:id="rId3"/>
    <p:sldId id="277" r:id="rId4"/>
    <p:sldId id="278" r:id="rId5"/>
    <p:sldId id="279" r:id="rId6"/>
    <p:sldId id="366" r:id="rId7"/>
    <p:sldId id="282" r:id="rId8"/>
    <p:sldId id="361" r:id="rId9"/>
    <p:sldId id="365" r:id="rId10"/>
    <p:sldId id="362" r:id="rId11"/>
  </p:sldIdLst>
  <p:sldSz cx="9144000" cy="5143500" type="screen16x9"/>
  <p:notesSz cx="9144000" cy="51435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930" autoAdjust="0"/>
  </p:normalViewPr>
  <p:slideViewPr>
    <p:cSldViewPr>
      <p:cViewPr varScale="1">
        <p:scale>
          <a:sx n="93" d="100"/>
          <a:sy n="93" d="100"/>
        </p:scale>
        <p:origin x="843" y="5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178F5-1C48-4FB4-9DED-ADC3CF805898}" type="datetimeFigureOut">
              <a:rPr lang="zh-CN" altLang="en-US" smtClean="0"/>
              <a:t>2025/3/23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775E7-07A2-4C07-81FC-DEE5526FD6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4363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滚动码是一种保护措施，在遥控器和接收器中同时保存有一段很长的滚动码，每次截取一段固定长度的用于发送，如果两方的滚动码对不上（因为考虑到实际情况，滚动码会接受当前码字后面一段的码字，而不是只有下一个，这一个范围被称为窗口），就拒绝执行指令。最常见的应用是车钥匙。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775E7-07A2-4C07-81FC-DEE5526FD67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33883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C775E7-07A2-4C07-81FC-DEE5526FD67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834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250697"/>
            <a:ext cx="4874260" cy="574040"/>
          </a:xfrm>
        </p:spPr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0000E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001000" y="4764615"/>
            <a:ext cx="620013" cy="241300"/>
          </a:xfrm>
        </p:spPr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  <p:sp>
        <p:nvSpPr>
          <p:cNvPr id="7" name="object 2"/>
          <p:cNvSpPr/>
          <p:nvPr userDrawn="1"/>
        </p:nvSpPr>
        <p:spPr>
          <a:xfrm>
            <a:off x="0" y="0"/>
            <a:ext cx="285750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3"/>
          <p:cNvSpPr/>
          <p:nvPr userDrawn="1"/>
        </p:nvSpPr>
        <p:spPr>
          <a:xfrm>
            <a:off x="412750" y="101231"/>
            <a:ext cx="8731250" cy="2059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4"/>
          <p:cNvSpPr/>
          <p:nvPr userDrawn="1"/>
        </p:nvSpPr>
        <p:spPr>
          <a:xfrm>
            <a:off x="409575" y="101170"/>
            <a:ext cx="138430" cy="102870"/>
          </a:xfrm>
          <a:custGeom>
            <a:avLst/>
            <a:gdLst/>
            <a:ahLst/>
            <a:cxnLst/>
            <a:rect l="l" t="t" r="r" b="b"/>
            <a:pathLst>
              <a:path w="138429" h="102870">
                <a:moveTo>
                  <a:pt x="0" y="102410"/>
                </a:moveTo>
                <a:lnTo>
                  <a:pt x="138112" y="102410"/>
                </a:lnTo>
                <a:lnTo>
                  <a:pt x="138112" y="0"/>
                </a:lnTo>
                <a:lnTo>
                  <a:pt x="0" y="0"/>
                </a:lnTo>
                <a:lnTo>
                  <a:pt x="0" y="10241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5"/>
          <p:cNvSpPr/>
          <p:nvPr userDrawn="1"/>
        </p:nvSpPr>
        <p:spPr>
          <a:xfrm>
            <a:off x="547687" y="48"/>
            <a:ext cx="139700" cy="101600"/>
          </a:xfrm>
          <a:custGeom>
            <a:avLst/>
            <a:gdLst/>
            <a:ahLst/>
            <a:cxnLst/>
            <a:rect l="l" t="t" r="r" b="b"/>
            <a:pathLst>
              <a:path w="139700" h="101600">
                <a:moveTo>
                  <a:pt x="0" y="101122"/>
                </a:moveTo>
                <a:lnTo>
                  <a:pt x="139700" y="101122"/>
                </a:lnTo>
                <a:lnTo>
                  <a:pt x="139700" y="0"/>
                </a:lnTo>
                <a:lnTo>
                  <a:pt x="0" y="0"/>
                </a:lnTo>
                <a:lnTo>
                  <a:pt x="0" y="101122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6"/>
          <p:cNvSpPr/>
          <p:nvPr userDrawn="1"/>
        </p:nvSpPr>
        <p:spPr>
          <a:xfrm>
            <a:off x="547687" y="101170"/>
            <a:ext cx="139700" cy="106045"/>
          </a:xfrm>
          <a:custGeom>
            <a:avLst/>
            <a:gdLst/>
            <a:ahLst/>
            <a:cxnLst/>
            <a:rect l="l" t="t" r="r" b="b"/>
            <a:pathLst>
              <a:path w="139700" h="106045">
                <a:moveTo>
                  <a:pt x="0" y="105966"/>
                </a:moveTo>
                <a:lnTo>
                  <a:pt x="139700" y="105966"/>
                </a:lnTo>
                <a:lnTo>
                  <a:pt x="139700" y="0"/>
                </a:lnTo>
                <a:lnTo>
                  <a:pt x="0" y="0"/>
                </a:lnTo>
                <a:lnTo>
                  <a:pt x="0" y="105966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7"/>
          <p:cNvSpPr/>
          <p:nvPr userDrawn="1"/>
        </p:nvSpPr>
        <p:spPr>
          <a:xfrm>
            <a:off x="274637" y="205915"/>
            <a:ext cx="136525" cy="102870"/>
          </a:xfrm>
          <a:custGeom>
            <a:avLst/>
            <a:gdLst/>
            <a:ahLst/>
            <a:cxnLst/>
            <a:rect l="l" t="t" r="r" b="b"/>
            <a:pathLst>
              <a:path w="136525" h="102870">
                <a:moveTo>
                  <a:pt x="0" y="102457"/>
                </a:moveTo>
                <a:lnTo>
                  <a:pt x="136525" y="102457"/>
                </a:lnTo>
                <a:lnTo>
                  <a:pt x="136525" y="0"/>
                </a:lnTo>
                <a:lnTo>
                  <a:pt x="0" y="0"/>
                </a:lnTo>
                <a:lnTo>
                  <a:pt x="0" y="102457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8"/>
          <p:cNvSpPr/>
          <p:nvPr userDrawn="1"/>
        </p:nvSpPr>
        <p:spPr>
          <a:xfrm>
            <a:off x="131762" y="103631"/>
            <a:ext cx="141605" cy="104775"/>
          </a:xfrm>
          <a:custGeom>
            <a:avLst/>
            <a:gdLst/>
            <a:ahLst/>
            <a:cxnLst/>
            <a:rect l="l" t="t" r="r" b="b"/>
            <a:pathLst>
              <a:path w="141604" h="104775">
                <a:moveTo>
                  <a:pt x="0" y="104775"/>
                </a:moveTo>
                <a:lnTo>
                  <a:pt x="141287" y="104775"/>
                </a:lnTo>
                <a:lnTo>
                  <a:pt x="141287" y="0"/>
                </a:ln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9"/>
          <p:cNvSpPr/>
          <p:nvPr userDrawn="1"/>
        </p:nvSpPr>
        <p:spPr>
          <a:xfrm>
            <a:off x="409575" y="203581"/>
            <a:ext cx="138430" cy="104775"/>
          </a:xfrm>
          <a:custGeom>
            <a:avLst/>
            <a:gdLst/>
            <a:ahLst/>
            <a:cxnLst/>
            <a:rect l="l" t="t" r="r" b="b"/>
            <a:pathLst>
              <a:path w="138429" h="104775">
                <a:moveTo>
                  <a:pt x="0" y="104775"/>
                </a:moveTo>
                <a:lnTo>
                  <a:pt x="138112" y="104775"/>
                </a:lnTo>
                <a:lnTo>
                  <a:pt x="138112" y="0"/>
                </a:ln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0"/>
          <p:cNvSpPr/>
          <p:nvPr userDrawn="1"/>
        </p:nvSpPr>
        <p:spPr>
          <a:xfrm>
            <a:off x="274637" y="308372"/>
            <a:ext cx="136525" cy="101600"/>
          </a:xfrm>
          <a:custGeom>
            <a:avLst/>
            <a:gdLst/>
            <a:ahLst/>
            <a:cxnLst/>
            <a:rect l="l" t="t" r="r" b="b"/>
            <a:pathLst>
              <a:path w="136525" h="101600">
                <a:moveTo>
                  <a:pt x="0" y="101202"/>
                </a:moveTo>
                <a:lnTo>
                  <a:pt x="136525" y="101202"/>
                </a:lnTo>
                <a:lnTo>
                  <a:pt x="136525" y="0"/>
                </a:lnTo>
                <a:lnTo>
                  <a:pt x="0" y="0"/>
                </a:lnTo>
                <a:lnTo>
                  <a:pt x="0" y="101202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8001000" y="4764615"/>
            <a:ext cx="620013" cy="241300"/>
          </a:xfrm>
        </p:spPr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  <p:sp>
        <p:nvSpPr>
          <p:cNvPr id="5" name="object 2"/>
          <p:cNvSpPr/>
          <p:nvPr userDrawn="1"/>
        </p:nvSpPr>
        <p:spPr>
          <a:xfrm>
            <a:off x="0" y="0"/>
            <a:ext cx="285750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3"/>
          <p:cNvSpPr/>
          <p:nvPr userDrawn="1"/>
        </p:nvSpPr>
        <p:spPr>
          <a:xfrm>
            <a:off x="412750" y="101231"/>
            <a:ext cx="8731250" cy="2059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4"/>
          <p:cNvSpPr/>
          <p:nvPr userDrawn="1"/>
        </p:nvSpPr>
        <p:spPr>
          <a:xfrm>
            <a:off x="409575" y="101170"/>
            <a:ext cx="138430" cy="102870"/>
          </a:xfrm>
          <a:custGeom>
            <a:avLst/>
            <a:gdLst/>
            <a:ahLst/>
            <a:cxnLst/>
            <a:rect l="l" t="t" r="r" b="b"/>
            <a:pathLst>
              <a:path w="138429" h="102870">
                <a:moveTo>
                  <a:pt x="0" y="102410"/>
                </a:moveTo>
                <a:lnTo>
                  <a:pt x="138112" y="102410"/>
                </a:lnTo>
                <a:lnTo>
                  <a:pt x="138112" y="0"/>
                </a:lnTo>
                <a:lnTo>
                  <a:pt x="0" y="0"/>
                </a:lnTo>
                <a:lnTo>
                  <a:pt x="0" y="10241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/>
          <p:nvPr userDrawn="1"/>
        </p:nvSpPr>
        <p:spPr>
          <a:xfrm>
            <a:off x="547687" y="48"/>
            <a:ext cx="139700" cy="101600"/>
          </a:xfrm>
          <a:custGeom>
            <a:avLst/>
            <a:gdLst/>
            <a:ahLst/>
            <a:cxnLst/>
            <a:rect l="l" t="t" r="r" b="b"/>
            <a:pathLst>
              <a:path w="139700" h="101600">
                <a:moveTo>
                  <a:pt x="0" y="101122"/>
                </a:moveTo>
                <a:lnTo>
                  <a:pt x="139700" y="101122"/>
                </a:lnTo>
                <a:lnTo>
                  <a:pt x="139700" y="0"/>
                </a:lnTo>
                <a:lnTo>
                  <a:pt x="0" y="0"/>
                </a:lnTo>
                <a:lnTo>
                  <a:pt x="0" y="101122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6"/>
          <p:cNvSpPr/>
          <p:nvPr userDrawn="1"/>
        </p:nvSpPr>
        <p:spPr>
          <a:xfrm>
            <a:off x="547687" y="101170"/>
            <a:ext cx="139700" cy="106045"/>
          </a:xfrm>
          <a:custGeom>
            <a:avLst/>
            <a:gdLst/>
            <a:ahLst/>
            <a:cxnLst/>
            <a:rect l="l" t="t" r="r" b="b"/>
            <a:pathLst>
              <a:path w="139700" h="106045">
                <a:moveTo>
                  <a:pt x="0" y="105966"/>
                </a:moveTo>
                <a:lnTo>
                  <a:pt x="139700" y="105966"/>
                </a:lnTo>
                <a:lnTo>
                  <a:pt x="139700" y="0"/>
                </a:lnTo>
                <a:lnTo>
                  <a:pt x="0" y="0"/>
                </a:lnTo>
                <a:lnTo>
                  <a:pt x="0" y="105966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7"/>
          <p:cNvSpPr/>
          <p:nvPr userDrawn="1"/>
        </p:nvSpPr>
        <p:spPr>
          <a:xfrm>
            <a:off x="274637" y="205915"/>
            <a:ext cx="136525" cy="102870"/>
          </a:xfrm>
          <a:custGeom>
            <a:avLst/>
            <a:gdLst/>
            <a:ahLst/>
            <a:cxnLst/>
            <a:rect l="l" t="t" r="r" b="b"/>
            <a:pathLst>
              <a:path w="136525" h="102870">
                <a:moveTo>
                  <a:pt x="0" y="102457"/>
                </a:moveTo>
                <a:lnTo>
                  <a:pt x="136525" y="102457"/>
                </a:lnTo>
                <a:lnTo>
                  <a:pt x="136525" y="0"/>
                </a:lnTo>
                <a:lnTo>
                  <a:pt x="0" y="0"/>
                </a:lnTo>
                <a:lnTo>
                  <a:pt x="0" y="102457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8"/>
          <p:cNvSpPr/>
          <p:nvPr userDrawn="1"/>
        </p:nvSpPr>
        <p:spPr>
          <a:xfrm>
            <a:off x="131762" y="103631"/>
            <a:ext cx="141605" cy="104775"/>
          </a:xfrm>
          <a:custGeom>
            <a:avLst/>
            <a:gdLst/>
            <a:ahLst/>
            <a:cxnLst/>
            <a:rect l="l" t="t" r="r" b="b"/>
            <a:pathLst>
              <a:path w="141604" h="104775">
                <a:moveTo>
                  <a:pt x="0" y="104775"/>
                </a:moveTo>
                <a:lnTo>
                  <a:pt x="141287" y="104775"/>
                </a:lnTo>
                <a:lnTo>
                  <a:pt x="141287" y="0"/>
                </a:ln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9"/>
          <p:cNvSpPr/>
          <p:nvPr userDrawn="1"/>
        </p:nvSpPr>
        <p:spPr>
          <a:xfrm>
            <a:off x="409575" y="203581"/>
            <a:ext cx="138430" cy="104775"/>
          </a:xfrm>
          <a:custGeom>
            <a:avLst/>
            <a:gdLst/>
            <a:ahLst/>
            <a:cxnLst/>
            <a:rect l="l" t="t" r="r" b="b"/>
            <a:pathLst>
              <a:path w="138429" h="104775">
                <a:moveTo>
                  <a:pt x="0" y="104775"/>
                </a:moveTo>
                <a:lnTo>
                  <a:pt x="138112" y="104775"/>
                </a:lnTo>
                <a:lnTo>
                  <a:pt x="138112" y="0"/>
                </a:ln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0"/>
          <p:cNvSpPr/>
          <p:nvPr userDrawn="1"/>
        </p:nvSpPr>
        <p:spPr>
          <a:xfrm>
            <a:off x="274637" y="308372"/>
            <a:ext cx="136525" cy="101600"/>
          </a:xfrm>
          <a:custGeom>
            <a:avLst/>
            <a:gdLst/>
            <a:ahLst/>
            <a:cxnLst/>
            <a:rect l="l" t="t" r="r" b="b"/>
            <a:pathLst>
              <a:path w="136525" h="101600">
                <a:moveTo>
                  <a:pt x="0" y="101202"/>
                </a:moveTo>
                <a:lnTo>
                  <a:pt x="136525" y="101202"/>
                </a:lnTo>
                <a:lnTo>
                  <a:pt x="136525" y="0"/>
                </a:lnTo>
                <a:lnTo>
                  <a:pt x="0" y="0"/>
                </a:lnTo>
                <a:lnTo>
                  <a:pt x="0" y="101202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2011913"/>
      </p:ext>
    </p:extLst>
  </p:cSld>
  <p:clrMapOvr>
    <a:masterClrMapping/>
  </p:clrMapOvr>
  <p:transition>
    <p:pull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250697"/>
            <a:ext cx="231330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5790" y="947420"/>
            <a:ext cx="4924425" cy="1332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0000E1"/>
                </a:solidFill>
                <a:latin typeface="黑体"/>
                <a:cs typeface="黑体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65743" y="4764615"/>
            <a:ext cx="255270" cy="241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jpg"/><Relationship Id="rId4" Type="http://schemas.openxmlformats.org/officeDocument/2006/relationships/image" Target="../media/image14.png"/><Relationship Id="rId9" Type="http://schemas.openxmlformats.org/officeDocument/2006/relationships/image" Target="../media/image19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5.png"/><Relationship Id="rId4" Type="http://schemas.openxmlformats.org/officeDocument/2006/relationships/image" Target="../media/image24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6"/>
          <p:cNvSpPr>
            <a:spLocks noChangeArrowheads="1"/>
          </p:cNvSpPr>
          <p:nvPr/>
        </p:nvSpPr>
        <p:spPr bwMode="auto">
          <a:xfrm>
            <a:off x="0" y="1222536"/>
            <a:ext cx="9144000" cy="1160579"/>
          </a:xfrm>
          <a:prstGeom prst="rect">
            <a:avLst/>
          </a:prstGeom>
          <a:solidFill>
            <a:srgbClr val="0000CC"/>
          </a:solidFill>
          <a:ln w="9525" algn="ctr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6234" tIns="38117" rIns="76234" bIns="38117" anchor="ctr"/>
          <a:lstStyle>
            <a:lvl1pPr eaLnBrk="0" hangingPunct="0"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86381" name="Text Box 13"/>
          <p:cNvSpPr txBox="1">
            <a:spLocks noChangeArrowheads="1"/>
          </p:cNvSpPr>
          <p:nvPr/>
        </p:nvSpPr>
        <p:spPr bwMode="auto">
          <a:xfrm>
            <a:off x="987897" y="1536744"/>
            <a:ext cx="7379473" cy="692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6234" tIns="38117" rIns="76234" bIns="38117">
            <a:spAutoFit/>
          </a:bodyPr>
          <a:lstStyle/>
          <a:p>
            <a:pPr algn="ctr" eaLnBrk="0" hangingPunct="0">
              <a:spcBef>
                <a:spcPct val="50000"/>
              </a:spcBef>
              <a:defRPr/>
            </a:pPr>
            <a:r>
              <a:rPr lang="en-US" altLang="zh-CN" sz="40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ASK</a:t>
            </a:r>
            <a:r>
              <a:rPr lang="zh-CN" altLang="en-US" sz="400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调制信号的捕获</a:t>
            </a:r>
          </a:p>
        </p:txBody>
      </p:sp>
      <p:sp>
        <p:nvSpPr>
          <p:cNvPr id="387101" name="Rectangle 29"/>
          <p:cNvSpPr>
            <a:spLocks noRot="1" noChangeArrowheads="1"/>
          </p:cNvSpPr>
          <p:nvPr/>
        </p:nvSpPr>
        <p:spPr bwMode="auto">
          <a:xfrm>
            <a:off x="986410" y="3324633"/>
            <a:ext cx="7120596" cy="409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188" tIns="38093" rIns="76188" bIns="38093"/>
          <a:lstStyle/>
          <a:p>
            <a:pPr algn="ctr" defTabSz="816599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defRPr/>
            </a:pPr>
            <a:r>
              <a:rPr lang="zh-CN" altLang="en-US" b="0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49" charset="-122"/>
              </a:rPr>
              <a:t>主讲人：张跃宇</a:t>
            </a:r>
            <a:endParaRPr lang="en-US" altLang="zh-CN" b="0" dirty="0">
              <a:solidFill>
                <a:srgbClr val="6600CC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49" charset="-122"/>
            </a:endParaRPr>
          </a:p>
        </p:txBody>
      </p:sp>
      <p:sp>
        <p:nvSpPr>
          <p:cNvPr id="13317" name="Rectangle 29"/>
          <p:cNvSpPr>
            <a:spLocks noRot="1" noChangeArrowheads="1"/>
          </p:cNvSpPr>
          <p:nvPr/>
        </p:nvSpPr>
        <p:spPr bwMode="auto">
          <a:xfrm>
            <a:off x="1029556" y="3794839"/>
            <a:ext cx="7120596" cy="375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6188" tIns="38093" rIns="76188" bIns="38093"/>
          <a:lstStyle>
            <a:lvl1pPr defTabSz="979488" eaLnBrk="0" hangingPunct="0"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1pPr>
            <a:lvl2pPr marL="742950" indent="-285750" defTabSz="979488" eaLnBrk="0" hangingPunct="0"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2pPr>
            <a:lvl3pPr marL="1143000" indent="-228600" defTabSz="979488" eaLnBrk="0" hangingPunct="0"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3pPr>
            <a:lvl4pPr marL="1600200" indent="-228600" defTabSz="979488" eaLnBrk="0" hangingPunct="0"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4pPr>
            <a:lvl5pPr marL="2057400" indent="-228600" defTabSz="979488" eaLnBrk="0" hangingPunct="0"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5pPr>
            <a:lvl6pPr marL="2514600" indent="-228600" algn="ctr" defTabSz="9794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6pPr>
            <a:lvl7pPr marL="2971800" indent="-228600" algn="ctr" defTabSz="9794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7pPr>
            <a:lvl8pPr marL="3429000" indent="-228600" algn="ctr" defTabSz="9794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8pPr>
            <a:lvl9pPr marL="3886200" indent="-228600" algn="ctr" defTabSz="979488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bg1"/>
                </a:solidFill>
                <a:latin typeface="Arial" charset="0"/>
                <a:ea typeface="黑体" pitchFamily="49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r>
              <a:rPr lang="zh-CN" altLang="en-US" dirty="0">
                <a:solidFill>
                  <a:schemeClr val="tx2"/>
                </a:solidFill>
                <a:latin typeface="隶书" pitchFamily="49" charset="-122"/>
                <a:ea typeface="隶书" pitchFamily="49" charset="-122"/>
              </a:rPr>
              <a:t>网络与信息安全学院</a:t>
            </a:r>
          </a:p>
        </p:txBody>
      </p:sp>
    </p:spTree>
    <p:extLst>
      <p:ext uri="{BB962C8B-B14F-4D97-AF65-F5344CB8AC3E}">
        <p14:creationId xmlns:p14="http://schemas.microsoft.com/office/powerpoint/2010/main" val="2036006296"/>
      </p:ext>
    </p:extLst>
  </p:cSld>
  <p:clrMapOvr>
    <a:masterClrMapping/>
  </p:clrMapOvr>
  <p:transition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85750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750" y="101231"/>
            <a:ext cx="8731250" cy="2059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9575" y="101170"/>
            <a:ext cx="138430" cy="102870"/>
          </a:xfrm>
          <a:custGeom>
            <a:avLst/>
            <a:gdLst/>
            <a:ahLst/>
            <a:cxnLst/>
            <a:rect l="l" t="t" r="r" b="b"/>
            <a:pathLst>
              <a:path w="138429" h="102870">
                <a:moveTo>
                  <a:pt x="0" y="102410"/>
                </a:moveTo>
                <a:lnTo>
                  <a:pt x="138112" y="102410"/>
                </a:lnTo>
                <a:lnTo>
                  <a:pt x="138112" y="0"/>
                </a:lnTo>
                <a:lnTo>
                  <a:pt x="0" y="0"/>
                </a:lnTo>
                <a:lnTo>
                  <a:pt x="0" y="10241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7687" y="48"/>
            <a:ext cx="139700" cy="101600"/>
          </a:xfrm>
          <a:custGeom>
            <a:avLst/>
            <a:gdLst/>
            <a:ahLst/>
            <a:cxnLst/>
            <a:rect l="l" t="t" r="r" b="b"/>
            <a:pathLst>
              <a:path w="139700" h="101600">
                <a:moveTo>
                  <a:pt x="0" y="101122"/>
                </a:moveTo>
                <a:lnTo>
                  <a:pt x="139700" y="101122"/>
                </a:lnTo>
                <a:lnTo>
                  <a:pt x="139700" y="0"/>
                </a:lnTo>
                <a:lnTo>
                  <a:pt x="0" y="0"/>
                </a:lnTo>
                <a:lnTo>
                  <a:pt x="0" y="101122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7687" y="101170"/>
            <a:ext cx="139700" cy="106045"/>
          </a:xfrm>
          <a:custGeom>
            <a:avLst/>
            <a:gdLst/>
            <a:ahLst/>
            <a:cxnLst/>
            <a:rect l="l" t="t" r="r" b="b"/>
            <a:pathLst>
              <a:path w="139700" h="106045">
                <a:moveTo>
                  <a:pt x="0" y="105966"/>
                </a:moveTo>
                <a:lnTo>
                  <a:pt x="139700" y="105966"/>
                </a:lnTo>
                <a:lnTo>
                  <a:pt x="139700" y="0"/>
                </a:lnTo>
                <a:lnTo>
                  <a:pt x="0" y="0"/>
                </a:lnTo>
                <a:lnTo>
                  <a:pt x="0" y="105966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4637" y="205915"/>
            <a:ext cx="136525" cy="102870"/>
          </a:xfrm>
          <a:custGeom>
            <a:avLst/>
            <a:gdLst/>
            <a:ahLst/>
            <a:cxnLst/>
            <a:rect l="l" t="t" r="r" b="b"/>
            <a:pathLst>
              <a:path w="136525" h="102870">
                <a:moveTo>
                  <a:pt x="0" y="102457"/>
                </a:moveTo>
                <a:lnTo>
                  <a:pt x="136525" y="102457"/>
                </a:lnTo>
                <a:lnTo>
                  <a:pt x="136525" y="0"/>
                </a:lnTo>
                <a:lnTo>
                  <a:pt x="0" y="0"/>
                </a:lnTo>
                <a:lnTo>
                  <a:pt x="0" y="102457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1762" y="103631"/>
            <a:ext cx="141605" cy="104775"/>
          </a:xfrm>
          <a:custGeom>
            <a:avLst/>
            <a:gdLst/>
            <a:ahLst/>
            <a:cxnLst/>
            <a:rect l="l" t="t" r="r" b="b"/>
            <a:pathLst>
              <a:path w="141604" h="104775">
                <a:moveTo>
                  <a:pt x="0" y="104775"/>
                </a:moveTo>
                <a:lnTo>
                  <a:pt x="141287" y="104775"/>
                </a:lnTo>
                <a:lnTo>
                  <a:pt x="141287" y="0"/>
                </a:ln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9575" y="203581"/>
            <a:ext cx="138430" cy="104775"/>
          </a:xfrm>
          <a:custGeom>
            <a:avLst/>
            <a:gdLst/>
            <a:ahLst/>
            <a:cxnLst/>
            <a:rect l="l" t="t" r="r" b="b"/>
            <a:pathLst>
              <a:path w="138429" h="104775">
                <a:moveTo>
                  <a:pt x="0" y="104775"/>
                </a:moveTo>
                <a:lnTo>
                  <a:pt x="138112" y="104775"/>
                </a:lnTo>
                <a:lnTo>
                  <a:pt x="138112" y="0"/>
                </a:ln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4637" y="308372"/>
            <a:ext cx="136525" cy="101600"/>
          </a:xfrm>
          <a:custGeom>
            <a:avLst/>
            <a:gdLst/>
            <a:ahLst/>
            <a:cxnLst/>
            <a:rect l="l" t="t" r="r" b="b"/>
            <a:pathLst>
              <a:path w="136525" h="101600">
                <a:moveTo>
                  <a:pt x="0" y="101202"/>
                </a:moveTo>
                <a:lnTo>
                  <a:pt x="136525" y="101202"/>
                </a:lnTo>
                <a:lnTo>
                  <a:pt x="136525" y="0"/>
                </a:lnTo>
                <a:lnTo>
                  <a:pt x="0" y="0"/>
                </a:lnTo>
                <a:lnTo>
                  <a:pt x="0" y="101202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42DAA358-467D-48E0-BFB1-4F2E34DFAFDC}"/>
              </a:ext>
            </a:extLst>
          </p:cNvPr>
          <p:cNvSpPr txBox="1">
            <a:spLocks/>
          </p:cNvSpPr>
          <p:nvPr/>
        </p:nvSpPr>
        <p:spPr>
          <a:xfrm>
            <a:off x="1828800" y="1962150"/>
            <a:ext cx="5486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黑体"/>
                <a:ea typeface="+mj-ea"/>
                <a:cs typeface="黑体"/>
              </a:defRPr>
            </a:lvl1pPr>
          </a:lstStyle>
          <a:p>
            <a:pPr marL="1619250" marR="5080" indent="-1607185">
              <a:spcBef>
                <a:spcPts val="100"/>
              </a:spcBef>
            </a:pPr>
            <a:r>
              <a:rPr lang="en-US" altLang="zh-CN" sz="4400" kern="0" dirty="0">
                <a:solidFill>
                  <a:srgbClr val="00007C"/>
                </a:solidFill>
                <a:latin typeface="+mn-lt"/>
                <a:ea typeface="隶书" panose="02010509060101010101" pitchFamily="49" charset="-122"/>
              </a:rPr>
              <a:t>ASK</a:t>
            </a:r>
            <a:r>
              <a:rPr lang="zh-CN" altLang="en-US" sz="4400" kern="0" dirty="0">
                <a:solidFill>
                  <a:srgbClr val="00007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信号的调制与解调</a:t>
            </a:r>
            <a:endParaRPr lang="zh-CN" altLang="en-US" sz="4400" kern="0" dirty="0">
              <a:latin typeface="隶书"/>
              <a:cs typeface="隶书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85750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750" y="101231"/>
            <a:ext cx="8731250" cy="2059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9575" y="101170"/>
            <a:ext cx="138430" cy="102870"/>
          </a:xfrm>
          <a:custGeom>
            <a:avLst/>
            <a:gdLst/>
            <a:ahLst/>
            <a:cxnLst/>
            <a:rect l="l" t="t" r="r" b="b"/>
            <a:pathLst>
              <a:path w="138429" h="102870">
                <a:moveTo>
                  <a:pt x="0" y="102410"/>
                </a:moveTo>
                <a:lnTo>
                  <a:pt x="138112" y="102410"/>
                </a:lnTo>
                <a:lnTo>
                  <a:pt x="138112" y="0"/>
                </a:lnTo>
                <a:lnTo>
                  <a:pt x="0" y="0"/>
                </a:lnTo>
                <a:lnTo>
                  <a:pt x="0" y="10241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7687" y="48"/>
            <a:ext cx="139700" cy="101600"/>
          </a:xfrm>
          <a:custGeom>
            <a:avLst/>
            <a:gdLst/>
            <a:ahLst/>
            <a:cxnLst/>
            <a:rect l="l" t="t" r="r" b="b"/>
            <a:pathLst>
              <a:path w="139700" h="101600">
                <a:moveTo>
                  <a:pt x="0" y="101122"/>
                </a:moveTo>
                <a:lnTo>
                  <a:pt x="139700" y="101122"/>
                </a:lnTo>
                <a:lnTo>
                  <a:pt x="139700" y="0"/>
                </a:lnTo>
                <a:lnTo>
                  <a:pt x="0" y="0"/>
                </a:lnTo>
                <a:lnTo>
                  <a:pt x="0" y="101122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7687" y="101170"/>
            <a:ext cx="139700" cy="106045"/>
          </a:xfrm>
          <a:custGeom>
            <a:avLst/>
            <a:gdLst/>
            <a:ahLst/>
            <a:cxnLst/>
            <a:rect l="l" t="t" r="r" b="b"/>
            <a:pathLst>
              <a:path w="139700" h="106045">
                <a:moveTo>
                  <a:pt x="0" y="105966"/>
                </a:moveTo>
                <a:lnTo>
                  <a:pt x="139700" y="105966"/>
                </a:lnTo>
                <a:lnTo>
                  <a:pt x="139700" y="0"/>
                </a:lnTo>
                <a:lnTo>
                  <a:pt x="0" y="0"/>
                </a:lnTo>
                <a:lnTo>
                  <a:pt x="0" y="105966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4637" y="205915"/>
            <a:ext cx="136525" cy="102870"/>
          </a:xfrm>
          <a:custGeom>
            <a:avLst/>
            <a:gdLst/>
            <a:ahLst/>
            <a:cxnLst/>
            <a:rect l="l" t="t" r="r" b="b"/>
            <a:pathLst>
              <a:path w="136525" h="102870">
                <a:moveTo>
                  <a:pt x="0" y="102457"/>
                </a:moveTo>
                <a:lnTo>
                  <a:pt x="136525" y="102457"/>
                </a:lnTo>
                <a:lnTo>
                  <a:pt x="136525" y="0"/>
                </a:lnTo>
                <a:lnTo>
                  <a:pt x="0" y="0"/>
                </a:lnTo>
                <a:lnTo>
                  <a:pt x="0" y="102457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1762" y="103631"/>
            <a:ext cx="141605" cy="104775"/>
          </a:xfrm>
          <a:custGeom>
            <a:avLst/>
            <a:gdLst/>
            <a:ahLst/>
            <a:cxnLst/>
            <a:rect l="l" t="t" r="r" b="b"/>
            <a:pathLst>
              <a:path w="141604" h="104775">
                <a:moveTo>
                  <a:pt x="0" y="104775"/>
                </a:moveTo>
                <a:lnTo>
                  <a:pt x="141287" y="104775"/>
                </a:lnTo>
                <a:lnTo>
                  <a:pt x="141287" y="0"/>
                </a:ln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9575" y="203581"/>
            <a:ext cx="138430" cy="104775"/>
          </a:xfrm>
          <a:custGeom>
            <a:avLst/>
            <a:gdLst/>
            <a:ahLst/>
            <a:cxnLst/>
            <a:rect l="l" t="t" r="r" b="b"/>
            <a:pathLst>
              <a:path w="138429" h="104775">
                <a:moveTo>
                  <a:pt x="0" y="104775"/>
                </a:moveTo>
                <a:lnTo>
                  <a:pt x="138112" y="104775"/>
                </a:lnTo>
                <a:lnTo>
                  <a:pt x="138112" y="0"/>
                </a:ln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4637" y="308372"/>
            <a:ext cx="136525" cy="101600"/>
          </a:xfrm>
          <a:custGeom>
            <a:avLst/>
            <a:gdLst/>
            <a:ahLst/>
            <a:cxnLst/>
            <a:rect l="l" t="t" r="r" b="b"/>
            <a:pathLst>
              <a:path w="136525" h="101600">
                <a:moveTo>
                  <a:pt x="0" y="101202"/>
                </a:moveTo>
                <a:lnTo>
                  <a:pt x="136525" y="101202"/>
                </a:lnTo>
                <a:lnTo>
                  <a:pt x="136525" y="0"/>
                </a:lnTo>
                <a:lnTo>
                  <a:pt x="0" y="0"/>
                </a:lnTo>
                <a:lnTo>
                  <a:pt x="0" y="101202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35940" y="241172"/>
            <a:ext cx="54076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zh-CN" dirty="0" err="1"/>
              <a:t>PAM</a:t>
            </a:r>
            <a:r>
              <a:rPr dirty="0" err="1"/>
              <a:t>基带传输信号带宽计算</a:t>
            </a:r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1286674" y="2435085"/>
            <a:ext cx="5806507" cy="8856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991885" y="3578866"/>
            <a:ext cx="4904577" cy="638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22709" y="1462695"/>
            <a:ext cx="6833757" cy="6945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5790" y="947420"/>
            <a:ext cx="355092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E1"/>
                </a:solidFill>
                <a:latin typeface="黑体"/>
                <a:cs typeface="黑体"/>
              </a:rPr>
              <a:t>1.</a:t>
            </a:r>
            <a:r>
              <a:rPr sz="2400" b="1" spc="-20" dirty="0">
                <a:solidFill>
                  <a:srgbClr val="0000E1"/>
                </a:solidFill>
                <a:latin typeface="黑体"/>
                <a:cs typeface="黑体"/>
              </a:rPr>
              <a:t> </a:t>
            </a:r>
            <a:r>
              <a:rPr sz="2400" b="1" spc="-5" dirty="0">
                <a:solidFill>
                  <a:srgbClr val="0000E1"/>
                </a:solidFill>
                <a:latin typeface="黑体"/>
                <a:cs typeface="黑体"/>
              </a:rPr>
              <a:t>数字基带信号的功率谱</a:t>
            </a:r>
            <a:endParaRPr sz="2400" dirty="0">
              <a:latin typeface="黑体"/>
              <a:cs typeface="黑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429895">
              <a:lnSpc>
                <a:spcPct val="100000"/>
              </a:lnSpc>
            </a:pPr>
            <a:r>
              <a:rPr sz="2000" b="1" dirty="0" err="1">
                <a:solidFill>
                  <a:srgbClr val="FF0000"/>
                </a:solidFill>
                <a:latin typeface="黑体"/>
                <a:cs typeface="黑体"/>
              </a:rPr>
              <a:t>平稳无关</a:t>
            </a:r>
            <a:endParaRPr sz="2000" dirty="0">
              <a:latin typeface="黑体"/>
              <a:cs typeface="黑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26970" y="4259986"/>
            <a:ext cx="15519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黑体"/>
                <a:cs typeface="黑体"/>
              </a:rPr>
              <a:t>脉冲</a:t>
            </a:r>
            <a:r>
              <a:rPr sz="2000" spc="0" dirty="0">
                <a:solidFill>
                  <a:srgbClr val="FF0000"/>
                </a:solidFill>
                <a:latin typeface="黑体"/>
                <a:cs typeface="黑体"/>
              </a:rPr>
              <a:t>的</a:t>
            </a:r>
            <a:r>
              <a:rPr sz="2000" spc="-15" dirty="0">
                <a:solidFill>
                  <a:srgbClr val="FF0000"/>
                </a:solidFill>
                <a:latin typeface="黑体"/>
                <a:cs typeface="黑体"/>
              </a:rPr>
              <a:t>能</a:t>
            </a:r>
            <a:r>
              <a:rPr sz="2000" dirty="0">
                <a:solidFill>
                  <a:srgbClr val="FF0000"/>
                </a:solidFill>
                <a:latin typeface="黑体"/>
                <a:cs typeface="黑体"/>
              </a:rPr>
              <a:t>量谱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062854" y="4207561"/>
            <a:ext cx="2058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0000"/>
                </a:solidFill>
                <a:latin typeface="黑体"/>
                <a:cs typeface="黑体"/>
              </a:rPr>
              <a:t>一组谐</a:t>
            </a:r>
            <a:r>
              <a:rPr sz="2000" spc="-15" dirty="0">
                <a:solidFill>
                  <a:srgbClr val="FF0000"/>
                </a:solidFill>
                <a:latin typeface="黑体"/>
                <a:cs typeface="黑体"/>
              </a:rPr>
              <a:t>波</a:t>
            </a:r>
            <a:r>
              <a:rPr sz="2000" dirty="0">
                <a:solidFill>
                  <a:srgbClr val="FF0000"/>
                </a:solidFill>
                <a:latin typeface="黑体"/>
                <a:cs typeface="黑体"/>
              </a:rPr>
              <a:t>（</a:t>
            </a:r>
            <a:r>
              <a:rPr sz="2000" spc="-15" dirty="0">
                <a:solidFill>
                  <a:srgbClr val="FF0000"/>
                </a:solidFill>
                <a:latin typeface="黑体"/>
                <a:cs typeface="黑体"/>
              </a:rPr>
              <a:t>谱</a:t>
            </a:r>
            <a:r>
              <a:rPr sz="2000" dirty="0">
                <a:solidFill>
                  <a:srgbClr val="FF0000"/>
                </a:solidFill>
                <a:latin typeface="黑体"/>
                <a:cs typeface="黑体"/>
              </a:rPr>
              <a:t>线）</a:t>
            </a:r>
            <a:endParaRPr sz="2000">
              <a:latin typeface="黑体"/>
              <a:cs typeface="黑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745351" y="128651"/>
            <a:ext cx="2230374" cy="14366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732651" y="115951"/>
            <a:ext cx="2256155" cy="1462405"/>
          </a:xfrm>
          <a:custGeom>
            <a:avLst/>
            <a:gdLst/>
            <a:ahLst/>
            <a:cxnLst/>
            <a:rect l="l" t="t" r="r" b="b"/>
            <a:pathLst>
              <a:path w="2256154" h="1462405">
                <a:moveTo>
                  <a:pt x="0" y="1462024"/>
                </a:moveTo>
                <a:lnTo>
                  <a:pt x="2255774" y="1462024"/>
                </a:lnTo>
                <a:lnTo>
                  <a:pt x="2255774" y="0"/>
                </a:lnTo>
                <a:lnTo>
                  <a:pt x="0" y="0"/>
                </a:lnTo>
                <a:lnTo>
                  <a:pt x="0" y="1462024"/>
                </a:lnTo>
                <a:close/>
              </a:path>
            </a:pathLst>
          </a:custGeom>
          <a:ln w="25400">
            <a:solidFill>
              <a:srgbClr val="999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97226" y="3621151"/>
            <a:ext cx="1043305" cy="452755"/>
          </a:xfrm>
          <a:custGeom>
            <a:avLst/>
            <a:gdLst/>
            <a:ahLst/>
            <a:cxnLst/>
            <a:rect l="l" t="t" r="r" b="b"/>
            <a:pathLst>
              <a:path w="1043304" h="452754">
                <a:moveTo>
                  <a:pt x="0" y="226187"/>
                </a:moveTo>
                <a:lnTo>
                  <a:pt x="15923" y="170477"/>
                </a:lnTo>
                <a:lnTo>
                  <a:pt x="61089" y="119833"/>
                </a:lnTo>
                <a:lnTo>
                  <a:pt x="93417" y="96940"/>
                </a:lnTo>
                <a:lnTo>
                  <a:pt x="131591" y="75947"/>
                </a:lnTo>
                <a:lnTo>
                  <a:pt x="175122" y="57067"/>
                </a:lnTo>
                <a:lnTo>
                  <a:pt x="223521" y="40511"/>
                </a:lnTo>
                <a:lnTo>
                  <a:pt x="276302" y="26491"/>
                </a:lnTo>
                <a:lnTo>
                  <a:pt x="332974" y="15219"/>
                </a:lnTo>
                <a:lnTo>
                  <a:pt x="393051" y="6905"/>
                </a:lnTo>
                <a:lnTo>
                  <a:pt x="456042" y="1761"/>
                </a:lnTo>
                <a:lnTo>
                  <a:pt x="521462" y="0"/>
                </a:lnTo>
                <a:lnTo>
                  <a:pt x="586881" y="1761"/>
                </a:lnTo>
                <a:lnTo>
                  <a:pt x="649872" y="6905"/>
                </a:lnTo>
                <a:lnTo>
                  <a:pt x="709949" y="15219"/>
                </a:lnTo>
                <a:lnTo>
                  <a:pt x="766621" y="26491"/>
                </a:lnTo>
                <a:lnTo>
                  <a:pt x="819402" y="40511"/>
                </a:lnTo>
                <a:lnTo>
                  <a:pt x="867801" y="57067"/>
                </a:lnTo>
                <a:lnTo>
                  <a:pt x="911332" y="75947"/>
                </a:lnTo>
                <a:lnTo>
                  <a:pt x="949506" y="96940"/>
                </a:lnTo>
                <a:lnTo>
                  <a:pt x="981834" y="119833"/>
                </a:lnTo>
                <a:lnTo>
                  <a:pt x="1027000" y="170477"/>
                </a:lnTo>
                <a:lnTo>
                  <a:pt x="1042924" y="226187"/>
                </a:lnTo>
                <a:lnTo>
                  <a:pt x="1038861" y="254556"/>
                </a:lnTo>
                <a:lnTo>
                  <a:pt x="1007828" y="307931"/>
                </a:lnTo>
                <a:lnTo>
                  <a:pt x="949506" y="355405"/>
                </a:lnTo>
                <a:lnTo>
                  <a:pt x="911332" y="376400"/>
                </a:lnTo>
                <a:lnTo>
                  <a:pt x="867801" y="395284"/>
                </a:lnTo>
                <a:lnTo>
                  <a:pt x="819402" y="411844"/>
                </a:lnTo>
                <a:lnTo>
                  <a:pt x="766621" y="425869"/>
                </a:lnTo>
                <a:lnTo>
                  <a:pt x="709949" y="437147"/>
                </a:lnTo>
                <a:lnTo>
                  <a:pt x="649872" y="445465"/>
                </a:lnTo>
                <a:lnTo>
                  <a:pt x="586881" y="450611"/>
                </a:lnTo>
                <a:lnTo>
                  <a:pt x="521462" y="452374"/>
                </a:lnTo>
                <a:lnTo>
                  <a:pt x="456042" y="450611"/>
                </a:lnTo>
                <a:lnTo>
                  <a:pt x="393051" y="445465"/>
                </a:lnTo>
                <a:lnTo>
                  <a:pt x="332974" y="437147"/>
                </a:lnTo>
                <a:lnTo>
                  <a:pt x="276302" y="425869"/>
                </a:lnTo>
                <a:lnTo>
                  <a:pt x="223521" y="411844"/>
                </a:lnTo>
                <a:lnTo>
                  <a:pt x="175122" y="395284"/>
                </a:lnTo>
                <a:lnTo>
                  <a:pt x="131591" y="376400"/>
                </a:lnTo>
                <a:lnTo>
                  <a:pt x="93417" y="355405"/>
                </a:lnTo>
                <a:lnTo>
                  <a:pt x="61089" y="332511"/>
                </a:lnTo>
                <a:lnTo>
                  <a:pt x="15923" y="281875"/>
                </a:lnTo>
                <a:lnTo>
                  <a:pt x="0" y="226187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983226" y="3646551"/>
            <a:ext cx="2040255" cy="452755"/>
          </a:xfrm>
          <a:custGeom>
            <a:avLst/>
            <a:gdLst/>
            <a:ahLst/>
            <a:cxnLst/>
            <a:rect l="l" t="t" r="r" b="b"/>
            <a:pathLst>
              <a:path w="2040254" h="452754">
                <a:moveTo>
                  <a:pt x="0" y="226187"/>
                </a:moveTo>
                <a:lnTo>
                  <a:pt x="22526" y="178670"/>
                </a:lnTo>
                <a:lnTo>
                  <a:pt x="61137" y="148849"/>
                </a:lnTo>
                <a:lnTo>
                  <a:pt x="117011" y="120869"/>
                </a:lnTo>
                <a:lnTo>
                  <a:pt x="188770" y="95036"/>
                </a:lnTo>
                <a:lnTo>
                  <a:pt x="230175" y="83020"/>
                </a:lnTo>
                <a:lnTo>
                  <a:pt x="275033" y="71656"/>
                </a:lnTo>
                <a:lnTo>
                  <a:pt x="323173" y="60981"/>
                </a:lnTo>
                <a:lnTo>
                  <a:pt x="374421" y="51034"/>
                </a:lnTo>
                <a:lnTo>
                  <a:pt x="428605" y="41853"/>
                </a:lnTo>
                <a:lnTo>
                  <a:pt x="485554" y="33477"/>
                </a:lnTo>
                <a:lnTo>
                  <a:pt x="545093" y="25943"/>
                </a:lnTo>
                <a:lnTo>
                  <a:pt x="607051" y="19289"/>
                </a:lnTo>
                <a:lnTo>
                  <a:pt x="671256" y="13554"/>
                </a:lnTo>
                <a:lnTo>
                  <a:pt x="737534" y="8776"/>
                </a:lnTo>
                <a:lnTo>
                  <a:pt x="805714" y="4994"/>
                </a:lnTo>
                <a:lnTo>
                  <a:pt x="875623" y="2245"/>
                </a:lnTo>
                <a:lnTo>
                  <a:pt x="947088" y="567"/>
                </a:lnTo>
                <a:lnTo>
                  <a:pt x="1019937" y="0"/>
                </a:lnTo>
                <a:lnTo>
                  <a:pt x="1092770" y="567"/>
                </a:lnTo>
                <a:lnTo>
                  <a:pt x="1164223" y="2245"/>
                </a:lnTo>
                <a:lnTo>
                  <a:pt x="1234121" y="4994"/>
                </a:lnTo>
                <a:lnTo>
                  <a:pt x="1302293" y="8776"/>
                </a:lnTo>
                <a:lnTo>
                  <a:pt x="1368566" y="13554"/>
                </a:lnTo>
                <a:lnTo>
                  <a:pt x="1432767" y="19289"/>
                </a:lnTo>
                <a:lnTo>
                  <a:pt x="1494724" y="25943"/>
                </a:lnTo>
                <a:lnTo>
                  <a:pt x="1554263" y="33477"/>
                </a:lnTo>
                <a:lnTo>
                  <a:pt x="1611212" y="41853"/>
                </a:lnTo>
                <a:lnTo>
                  <a:pt x="1665399" y="51034"/>
                </a:lnTo>
                <a:lnTo>
                  <a:pt x="1716651" y="60981"/>
                </a:lnTo>
                <a:lnTo>
                  <a:pt x="1764794" y="71656"/>
                </a:lnTo>
                <a:lnTo>
                  <a:pt x="1809658" y="83020"/>
                </a:lnTo>
                <a:lnTo>
                  <a:pt x="1851068" y="95036"/>
                </a:lnTo>
                <a:lnTo>
                  <a:pt x="1888852" y="107665"/>
                </a:lnTo>
                <a:lnTo>
                  <a:pt x="1952852" y="134609"/>
                </a:lnTo>
                <a:lnTo>
                  <a:pt x="2000276" y="163548"/>
                </a:lnTo>
                <a:lnTo>
                  <a:pt x="2029744" y="194176"/>
                </a:lnTo>
                <a:lnTo>
                  <a:pt x="2039874" y="226187"/>
                </a:lnTo>
                <a:lnTo>
                  <a:pt x="2037312" y="242338"/>
                </a:lnTo>
                <a:lnTo>
                  <a:pt x="2000276" y="288802"/>
                </a:lnTo>
                <a:lnTo>
                  <a:pt x="1952852" y="317737"/>
                </a:lnTo>
                <a:lnTo>
                  <a:pt x="1888852" y="344680"/>
                </a:lnTo>
                <a:lnTo>
                  <a:pt x="1851068" y="357309"/>
                </a:lnTo>
                <a:lnTo>
                  <a:pt x="1809658" y="369326"/>
                </a:lnTo>
                <a:lnTo>
                  <a:pt x="1764794" y="380692"/>
                </a:lnTo>
                <a:lnTo>
                  <a:pt x="1716651" y="391369"/>
                </a:lnTo>
                <a:lnTo>
                  <a:pt x="1665399" y="401318"/>
                </a:lnTo>
                <a:lnTo>
                  <a:pt x="1611212" y="410502"/>
                </a:lnTo>
                <a:lnTo>
                  <a:pt x="1554263" y="418881"/>
                </a:lnTo>
                <a:lnTo>
                  <a:pt x="1494724" y="426418"/>
                </a:lnTo>
                <a:lnTo>
                  <a:pt x="1432767" y="433074"/>
                </a:lnTo>
                <a:lnTo>
                  <a:pt x="1368566" y="438812"/>
                </a:lnTo>
                <a:lnTo>
                  <a:pt x="1302293" y="443592"/>
                </a:lnTo>
                <a:lnTo>
                  <a:pt x="1234121" y="447376"/>
                </a:lnTo>
                <a:lnTo>
                  <a:pt x="1164223" y="450127"/>
                </a:lnTo>
                <a:lnTo>
                  <a:pt x="1092770" y="451806"/>
                </a:lnTo>
                <a:lnTo>
                  <a:pt x="1019937" y="452374"/>
                </a:lnTo>
                <a:lnTo>
                  <a:pt x="947088" y="451806"/>
                </a:lnTo>
                <a:lnTo>
                  <a:pt x="875623" y="450127"/>
                </a:lnTo>
                <a:lnTo>
                  <a:pt x="805714" y="447376"/>
                </a:lnTo>
                <a:lnTo>
                  <a:pt x="737534" y="443592"/>
                </a:lnTo>
                <a:lnTo>
                  <a:pt x="671256" y="438812"/>
                </a:lnTo>
                <a:lnTo>
                  <a:pt x="607051" y="433074"/>
                </a:lnTo>
                <a:lnTo>
                  <a:pt x="545093" y="426418"/>
                </a:lnTo>
                <a:lnTo>
                  <a:pt x="485554" y="418881"/>
                </a:lnTo>
                <a:lnTo>
                  <a:pt x="428605" y="410502"/>
                </a:lnTo>
                <a:lnTo>
                  <a:pt x="374421" y="401318"/>
                </a:lnTo>
                <a:lnTo>
                  <a:pt x="323173" y="391369"/>
                </a:lnTo>
                <a:lnTo>
                  <a:pt x="275033" y="380692"/>
                </a:lnTo>
                <a:lnTo>
                  <a:pt x="230175" y="369326"/>
                </a:lnTo>
                <a:lnTo>
                  <a:pt x="188770" y="357309"/>
                </a:lnTo>
                <a:lnTo>
                  <a:pt x="150991" y="344680"/>
                </a:lnTo>
                <a:lnTo>
                  <a:pt x="87002" y="317737"/>
                </a:lnTo>
                <a:lnTo>
                  <a:pt x="39587" y="288802"/>
                </a:lnTo>
                <a:lnTo>
                  <a:pt x="10126" y="258183"/>
                </a:lnTo>
                <a:lnTo>
                  <a:pt x="0" y="226187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7032625" y="3594100"/>
            <a:ext cx="936625" cy="33178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5572125" y="3076575"/>
            <a:ext cx="1590675" cy="485775"/>
          </a:xfrm>
          <a:custGeom>
            <a:avLst/>
            <a:gdLst/>
            <a:ahLst/>
            <a:cxnLst/>
            <a:rect l="l" t="t" r="r" b="b"/>
            <a:pathLst>
              <a:path w="1590675" h="485775">
                <a:moveTo>
                  <a:pt x="0" y="0"/>
                </a:moveTo>
                <a:lnTo>
                  <a:pt x="1590675" y="485775"/>
                </a:lnTo>
              </a:path>
            </a:pathLst>
          </a:custGeom>
          <a:ln w="25400">
            <a:solidFill>
              <a:srgbClr val="0000E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27" name="矩形 26"/>
          <p:cNvSpPr/>
          <p:nvPr/>
        </p:nvSpPr>
        <p:spPr>
          <a:xfrm>
            <a:off x="617537" y="2075397"/>
            <a:ext cx="23605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29895">
              <a:lnSpc>
                <a:spcPct val="100000"/>
              </a:lnSpc>
              <a:spcBef>
                <a:spcPts val="1065"/>
              </a:spcBef>
            </a:pPr>
            <a:r>
              <a:rPr lang="zh-CN" altLang="en-US" b="1" dirty="0">
                <a:solidFill>
                  <a:srgbClr val="0000E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/>
              </a:rPr>
              <a:t>功率谱</a:t>
            </a:r>
            <a:r>
              <a:rPr lang="zh-CN" altLang="en-US" b="1" spc="-5" dirty="0">
                <a:solidFill>
                  <a:srgbClr val="0000E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/>
              </a:rPr>
              <a:t>（</a:t>
            </a:r>
            <a:r>
              <a:rPr lang="en-US" altLang="zh-CN" b="1" spc="-5" dirty="0">
                <a:solidFill>
                  <a:srgbClr val="0000E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/>
              </a:rPr>
              <a:t>PSD</a:t>
            </a:r>
            <a:r>
              <a:rPr lang="zh-CN" altLang="en-US" b="1" spc="-5" dirty="0">
                <a:solidFill>
                  <a:srgbClr val="0000E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/>
              </a:rPr>
              <a:t>）：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6" grpId="0"/>
      <p:bldP spid="17" grpId="0"/>
      <p:bldP spid="20" grpId="0" animBg="1"/>
      <p:bldP spid="21" grpId="0" animBg="1"/>
      <p:bldP spid="22" grpId="0" animBg="1"/>
      <p:bldP spid="24" grpId="0" animBg="1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85750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750" y="101231"/>
            <a:ext cx="8731250" cy="2059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9575" y="101170"/>
            <a:ext cx="138430" cy="102870"/>
          </a:xfrm>
          <a:custGeom>
            <a:avLst/>
            <a:gdLst/>
            <a:ahLst/>
            <a:cxnLst/>
            <a:rect l="l" t="t" r="r" b="b"/>
            <a:pathLst>
              <a:path w="138429" h="102870">
                <a:moveTo>
                  <a:pt x="0" y="102410"/>
                </a:moveTo>
                <a:lnTo>
                  <a:pt x="138112" y="102410"/>
                </a:lnTo>
                <a:lnTo>
                  <a:pt x="138112" y="0"/>
                </a:lnTo>
                <a:lnTo>
                  <a:pt x="0" y="0"/>
                </a:lnTo>
                <a:lnTo>
                  <a:pt x="0" y="10241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7687" y="48"/>
            <a:ext cx="139700" cy="101600"/>
          </a:xfrm>
          <a:custGeom>
            <a:avLst/>
            <a:gdLst/>
            <a:ahLst/>
            <a:cxnLst/>
            <a:rect l="l" t="t" r="r" b="b"/>
            <a:pathLst>
              <a:path w="139700" h="101600">
                <a:moveTo>
                  <a:pt x="0" y="101122"/>
                </a:moveTo>
                <a:lnTo>
                  <a:pt x="139700" y="101122"/>
                </a:lnTo>
                <a:lnTo>
                  <a:pt x="139700" y="0"/>
                </a:lnTo>
                <a:lnTo>
                  <a:pt x="0" y="0"/>
                </a:lnTo>
                <a:lnTo>
                  <a:pt x="0" y="101122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7687" y="101170"/>
            <a:ext cx="139700" cy="106045"/>
          </a:xfrm>
          <a:custGeom>
            <a:avLst/>
            <a:gdLst/>
            <a:ahLst/>
            <a:cxnLst/>
            <a:rect l="l" t="t" r="r" b="b"/>
            <a:pathLst>
              <a:path w="139700" h="106045">
                <a:moveTo>
                  <a:pt x="0" y="105966"/>
                </a:moveTo>
                <a:lnTo>
                  <a:pt x="139700" y="105966"/>
                </a:lnTo>
                <a:lnTo>
                  <a:pt x="139700" y="0"/>
                </a:lnTo>
                <a:lnTo>
                  <a:pt x="0" y="0"/>
                </a:lnTo>
                <a:lnTo>
                  <a:pt x="0" y="105966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4637" y="205915"/>
            <a:ext cx="136525" cy="102870"/>
          </a:xfrm>
          <a:custGeom>
            <a:avLst/>
            <a:gdLst/>
            <a:ahLst/>
            <a:cxnLst/>
            <a:rect l="l" t="t" r="r" b="b"/>
            <a:pathLst>
              <a:path w="136525" h="102870">
                <a:moveTo>
                  <a:pt x="0" y="102457"/>
                </a:moveTo>
                <a:lnTo>
                  <a:pt x="136525" y="102457"/>
                </a:lnTo>
                <a:lnTo>
                  <a:pt x="136525" y="0"/>
                </a:lnTo>
                <a:lnTo>
                  <a:pt x="0" y="0"/>
                </a:lnTo>
                <a:lnTo>
                  <a:pt x="0" y="102457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1762" y="103631"/>
            <a:ext cx="141605" cy="104775"/>
          </a:xfrm>
          <a:custGeom>
            <a:avLst/>
            <a:gdLst/>
            <a:ahLst/>
            <a:cxnLst/>
            <a:rect l="l" t="t" r="r" b="b"/>
            <a:pathLst>
              <a:path w="141604" h="104775">
                <a:moveTo>
                  <a:pt x="0" y="104775"/>
                </a:moveTo>
                <a:lnTo>
                  <a:pt x="141287" y="104775"/>
                </a:lnTo>
                <a:lnTo>
                  <a:pt x="141287" y="0"/>
                </a:ln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9575" y="203581"/>
            <a:ext cx="138430" cy="104775"/>
          </a:xfrm>
          <a:custGeom>
            <a:avLst/>
            <a:gdLst/>
            <a:ahLst/>
            <a:cxnLst/>
            <a:rect l="l" t="t" r="r" b="b"/>
            <a:pathLst>
              <a:path w="138429" h="104775">
                <a:moveTo>
                  <a:pt x="0" y="104775"/>
                </a:moveTo>
                <a:lnTo>
                  <a:pt x="138112" y="104775"/>
                </a:lnTo>
                <a:lnTo>
                  <a:pt x="138112" y="0"/>
                </a:ln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4637" y="308372"/>
            <a:ext cx="136525" cy="101600"/>
          </a:xfrm>
          <a:custGeom>
            <a:avLst/>
            <a:gdLst/>
            <a:ahLst/>
            <a:cxnLst/>
            <a:rect l="l" t="t" r="r" b="b"/>
            <a:pathLst>
              <a:path w="136525" h="101600">
                <a:moveTo>
                  <a:pt x="0" y="101202"/>
                </a:moveTo>
                <a:lnTo>
                  <a:pt x="136525" y="101202"/>
                </a:lnTo>
                <a:lnTo>
                  <a:pt x="136525" y="0"/>
                </a:lnTo>
                <a:lnTo>
                  <a:pt x="0" y="0"/>
                </a:lnTo>
                <a:lnTo>
                  <a:pt x="0" y="101202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05790" y="947420"/>
            <a:ext cx="3400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E1"/>
                </a:solidFill>
                <a:latin typeface="黑体"/>
                <a:cs typeface="黑体"/>
              </a:rPr>
              <a:t>2.</a:t>
            </a:r>
            <a:r>
              <a:rPr sz="2400" b="1" spc="-15" dirty="0">
                <a:solidFill>
                  <a:srgbClr val="0000E1"/>
                </a:solidFill>
                <a:latin typeface="黑体"/>
                <a:cs typeface="黑体"/>
              </a:rPr>
              <a:t> </a:t>
            </a:r>
            <a:r>
              <a:rPr sz="2400" b="1" spc="-5" dirty="0">
                <a:solidFill>
                  <a:srgbClr val="0000E1"/>
                </a:solidFill>
                <a:latin typeface="黑体"/>
                <a:cs typeface="黑体"/>
              </a:rPr>
              <a:t>矩形NRZ信号的功率谱</a:t>
            </a:r>
            <a:endParaRPr sz="2400" dirty="0">
              <a:latin typeface="黑体"/>
              <a:cs typeface="黑体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35940" y="241172"/>
            <a:ext cx="4600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基带传输信号带宽计算</a:t>
            </a:r>
          </a:p>
        </p:txBody>
      </p:sp>
      <p:sp>
        <p:nvSpPr>
          <p:cNvPr id="13" name="object 13"/>
          <p:cNvSpPr/>
          <p:nvPr/>
        </p:nvSpPr>
        <p:spPr>
          <a:xfrm>
            <a:off x="4441825" y="901825"/>
            <a:ext cx="4593725" cy="6265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29125" y="808037"/>
            <a:ext cx="4634230" cy="770255"/>
          </a:xfrm>
          <a:custGeom>
            <a:avLst/>
            <a:gdLst/>
            <a:ahLst/>
            <a:cxnLst/>
            <a:rect l="l" t="t" r="r" b="b"/>
            <a:pathLst>
              <a:path w="4634230" h="770255">
                <a:moveTo>
                  <a:pt x="0" y="769937"/>
                </a:moveTo>
                <a:lnTo>
                  <a:pt x="4633976" y="769937"/>
                </a:lnTo>
                <a:lnTo>
                  <a:pt x="4633976" y="0"/>
                </a:lnTo>
                <a:lnTo>
                  <a:pt x="0" y="0"/>
                </a:lnTo>
                <a:lnTo>
                  <a:pt x="0" y="769937"/>
                </a:lnTo>
                <a:close/>
              </a:path>
            </a:pathLst>
          </a:custGeom>
          <a:ln w="25400">
            <a:solidFill>
              <a:srgbClr val="999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873191" y="3538724"/>
            <a:ext cx="4844917" cy="3441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27" name="组合 26"/>
          <p:cNvGrpSpPr/>
          <p:nvPr/>
        </p:nvGrpSpPr>
        <p:grpSpPr>
          <a:xfrm>
            <a:off x="2709020" y="1706129"/>
            <a:ext cx="2901204" cy="1237095"/>
            <a:chOff x="2709020" y="1706129"/>
            <a:chExt cx="2901204" cy="1237095"/>
          </a:xfrm>
        </p:grpSpPr>
        <p:sp>
          <p:nvSpPr>
            <p:cNvPr id="15" name="object 15"/>
            <p:cNvSpPr/>
            <p:nvPr/>
          </p:nvSpPr>
          <p:spPr>
            <a:xfrm>
              <a:off x="2709020" y="1706129"/>
              <a:ext cx="2901204" cy="78134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643501" y="2347912"/>
              <a:ext cx="758825" cy="59531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958850" y="1698625"/>
            <a:ext cx="1354201" cy="151765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46150" y="1685925"/>
            <a:ext cx="1379855" cy="1543050"/>
          </a:xfrm>
          <a:custGeom>
            <a:avLst/>
            <a:gdLst/>
            <a:ahLst/>
            <a:cxnLst/>
            <a:rect l="l" t="t" r="r" b="b"/>
            <a:pathLst>
              <a:path w="1379855" h="1543050">
                <a:moveTo>
                  <a:pt x="0" y="1543050"/>
                </a:moveTo>
                <a:lnTo>
                  <a:pt x="1379601" y="1543050"/>
                </a:lnTo>
                <a:lnTo>
                  <a:pt x="1379601" y="0"/>
                </a:lnTo>
                <a:lnTo>
                  <a:pt x="0" y="0"/>
                </a:lnTo>
                <a:lnTo>
                  <a:pt x="0" y="1543050"/>
                </a:lnTo>
                <a:close/>
              </a:path>
            </a:pathLst>
          </a:custGeom>
          <a:ln w="25400">
            <a:solidFill>
              <a:srgbClr val="999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72200" y="2082736"/>
            <a:ext cx="2600153" cy="200507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159500" y="2070036"/>
            <a:ext cx="2673350" cy="2030730"/>
          </a:xfrm>
          <a:prstGeom prst="rect">
            <a:avLst/>
          </a:prstGeom>
          <a:ln w="25400">
            <a:solidFill>
              <a:srgbClr val="FF0000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R="71755" algn="r">
              <a:lnSpc>
                <a:spcPct val="100000"/>
              </a:lnSpc>
              <a:spcBef>
                <a:spcPts val="459"/>
              </a:spcBef>
            </a:pPr>
            <a:r>
              <a:rPr sz="1800" dirty="0">
                <a:solidFill>
                  <a:srgbClr val="FF0000"/>
                </a:solidFill>
                <a:latin typeface="黑体"/>
                <a:cs typeface="黑体"/>
              </a:rPr>
              <a:t>NRZ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191375" y="361950"/>
            <a:ext cx="936625" cy="31077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7386828" y="688848"/>
            <a:ext cx="111251" cy="43433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7442200" y="711200"/>
            <a:ext cx="0" cy="349250"/>
          </a:xfrm>
          <a:custGeom>
            <a:avLst/>
            <a:gdLst/>
            <a:ahLst/>
            <a:cxnLst/>
            <a:rect l="l" t="t" r="r" b="b"/>
            <a:pathLst>
              <a:path h="349250">
                <a:moveTo>
                  <a:pt x="0" y="349250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E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85750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750" y="101231"/>
            <a:ext cx="8731250" cy="2059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9575" y="101170"/>
            <a:ext cx="138430" cy="102870"/>
          </a:xfrm>
          <a:custGeom>
            <a:avLst/>
            <a:gdLst/>
            <a:ahLst/>
            <a:cxnLst/>
            <a:rect l="l" t="t" r="r" b="b"/>
            <a:pathLst>
              <a:path w="138429" h="102870">
                <a:moveTo>
                  <a:pt x="0" y="102410"/>
                </a:moveTo>
                <a:lnTo>
                  <a:pt x="138112" y="102410"/>
                </a:lnTo>
                <a:lnTo>
                  <a:pt x="138112" y="0"/>
                </a:lnTo>
                <a:lnTo>
                  <a:pt x="0" y="0"/>
                </a:lnTo>
                <a:lnTo>
                  <a:pt x="0" y="10241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7687" y="48"/>
            <a:ext cx="139700" cy="101600"/>
          </a:xfrm>
          <a:custGeom>
            <a:avLst/>
            <a:gdLst/>
            <a:ahLst/>
            <a:cxnLst/>
            <a:rect l="l" t="t" r="r" b="b"/>
            <a:pathLst>
              <a:path w="139700" h="101600">
                <a:moveTo>
                  <a:pt x="0" y="101122"/>
                </a:moveTo>
                <a:lnTo>
                  <a:pt x="139700" y="101122"/>
                </a:lnTo>
                <a:lnTo>
                  <a:pt x="139700" y="0"/>
                </a:lnTo>
                <a:lnTo>
                  <a:pt x="0" y="0"/>
                </a:lnTo>
                <a:lnTo>
                  <a:pt x="0" y="101122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7687" y="101170"/>
            <a:ext cx="139700" cy="106045"/>
          </a:xfrm>
          <a:custGeom>
            <a:avLst/>
            <a:gdLst/>
            <a:ahLst/>
            <a:cxnLst/>
            <a:rect l="l" t="t" r="r" b="b"/>
            <a:pathLst>
              <a:path w="139700" h="106045">
                <a:moveTo>
                  <a:pt x="0" y="105966"/>
                </a:moveTo>
                <a:lnTo>
                  <a:pt x="139700" y="105966"/>
                </a:lnTo>
                <a:lnTo>
                  <a:pt x="139700" y="0"/>
                </a:lnTo>
                <a:lnTo>
                  <a:pt x="0" y="0"/>
                </a:lnTo>
                <a:lnTo>
                  <a:pt x="0" y="105966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4637" y="205915"/>
            <a:ext cx="136525" cy="102870"/>
          </a:xfrm>
          <a:custGeom>
            <a:avLst/>
            <a:gdLst/>
            <a:ahLst/>
            <a:cxnLst/>
            <a:rect l="l" t="t" r="r" b="b"/>
            <a:pathLst>
              <a:path w="136525" h="102870">
                <a:moveTo>
                  <a:pt x="0" y="102457"/>
                </a:moveTo>
                <a:lnTo>
                  <a:pt x="136525" y="102457"/>
                </a:lnTo>
                <a:lnTo>
                  <a:pt x="136525" y="0"/>
                </a:lnTo>
                <a:lnTo>
                  <a:pt x="0" y="0"/>
                </a:lnTo>
                <a:lnTo>
                  <a:pt x="0" y="102457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1762" y="103631"/>
            <a:ext cx="141605" cy="104775"/>
          </a:xfrm>
          <a:custGeom>
            <a:avLst/>
            <a:gdLst/>
            <a:ahLst/>
            <a:cxnLst/>
            <a:rect l="l" t="t" r="r" b="b"/>
            <a:pathLst>
              <a:path w="141604" h="104775">
                <a:moveTo>
                  <a:pt x="0" y="104775"/>
                </a:moveTo>
                <a:lnTo>
                  <a:pt x="141287" y="104775"/>
                </a:lnTo>
                <a:lnTo>
                  <a:pt x="141287" y="0"/>
                </a:ln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9575" y="203581"/>
            <a:ext cx="138430" cy="104775"/>
          </a:xfrm>
          <a:custGeom>
            <a:avLst/>
            <a:gdLst/>
            <a:ahLst/>
            <a:cxnLst/>
            <a:rect l="l" t="t" r="r" b="b"/>
            <a:pathLst>
              <a:path w="138429" h="104775">
                <a:moveTo>
                  <a:pt x="0" y="104775"/>
                </a:moveTo>
                <a:lnTo>
                  <a:pt x="138112" y="104775"/>
                </a:lnTo>
                <a:lnTo>
                  <a:pt x="138112" y="0"/>
                </a:ln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4637" y="308372"/>
            <a:ext cx="136525" cy="101600"/>
          </a:xfrm>
          <a:custGeom>
            <a:avLst/>
            <a:gdLst/>
            <a:ahLst/>
            <a:cxnLst/>
            <a:rect l="l" t="t" r="r" b="b"/>
            <a:pathLst>
              <a:path w="136525" h="101600">
                <a:moveTo>
                  <a:pt x="0" y="101202"/>
                </a:moveTo>
                <a:lnTo>
                  <a:pt x="136525" y="101202"/>
                </a:lnTo>
                <a:lnTo>
                  <a:pt x="136525" y="0"/>
                </a:lnTo>
                <a:lnTo>
                  <a:pt x="0" y="0"/>
                </a:lnTo>
                <a:lnTo>
                  <a:pt x="0" y="101202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106002" y="4268121"/>
            <a:ext cx="2324918" cy="26716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62000" y="3743325"/>
            <a:ext cx="5342255" cy="885825"/>
          </a:xfrm>
          <a:custGeom>
            <a:avLst/>
            <a:gdLst/>
            <a:ahLst/>
            <a:cxnLst/>
            <a:rect l="l" t="t" r="r" b="b"/>
            <a:pathLst>
              <a:path w="5342255" h="447675">
                <a:moveTo>
                  <a:pt x="0" y="447675"/>
                </a:moveTo>
                <a:lnTo>
                  <a:pt x="5342001" y="447675"/>
                </a:lnTo>
                <a:lnTo>
                  <a:pt x="5342001" y="0"/>
                </a:lnTo>
                <a:lnTo>
                  <a:pt x="0" y="0"/>
                </a:lnTo>
                <a:lnTo>
                  <a:pt x="0" y="447675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05790" y="947420"/>
            <a:ext cx="3400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0000E1"/>
                </a:solidFill>
                <a:latin typeface="黑体"/>
                <a:cs typeface="黑体"/>
              </a:rPr>
              <a:t>2.</a:t>
            </a:r>
            <a:r>
              <a:rPr sz="2400" b="1" spc="-15" dirty="0">
                <a:solidFill>
                  <a:srgbClr val="0000E1"/>
                </a:solidFill>
                <a:latin typeface="黑体"/>
                <a:cs typeface="黑体"/>
              </a:rPr>
              <a:t> </a:t>
            </a:r>
            <a:r>
              <a:rPr sz="2400" b="1" spc="-5" dirty="0">
                <a:solidFill>
                  <a:srgbClr val="0000E1"/>
                </a:solidFill>
                <a:latin typeface="黑体"/>
                <a:cs typeface="黑体"/>
              </a:rPr>
              <a:t>矩形NRZ信号的功率谱</a:t>
            </a:r>
            <a:endParaRPr sz="2400">
              <a:latin typeface="黑体"/>
              <a:cs typeface="黑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535940" y="241172"/>
            <a:ext cx="46005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基带传输信号带宽计算</a:t>
            </a:r>
          </a:p>
        </p:txBody>
      </p:sp>
      <p:sp>
        <p:nvSpPr>
          <p:cNvPr id="15" name="object 15"/>
          <p:cNvSpPr/>
          <p:nvPr/>
        </p:nvSpPr>
        <p:spPr>
          <a:xfrm>
            <a:off x="882724" y="1663950"/>
            <a:ext cx="4846426" cy="34416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293109" y="2329449"/>
            <a:ext cx="22860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sz="1800" dirty="0">
                <a:solidFill>
                  <a:srgbClr val="FF0000"/>
                </a:solidFill>
                <a:latin typeface="黑体"/>
                <a:cs typeface="黑体"/>
              </a:rPr>
              <a:t>：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491041" y="2281664"/>
            <a:ext cx="1778860" cy="31414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54586" y="2993010"/>
            <a:ext cx="2360705" cy="33677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72200" y="2082736"/>
            <a:ext cx="2647950" cy="20050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59500" y="2070036"/>
            <a:ext cx="2673350" cy="2030730"/>
          </a:xfrm>
          <a:custGeom>
            <a:avLst/>
            <a:gdLst/>
            <a:ahLst/>
            <a:cxnLst/>
            <a:rect l="l" t="t" r="r" b="b"/>
            <a:pathLst>
              <a:path w="2673350" h="2030729">
                <a:moveTo>
                  <a:pt x="0" y="2030476"/>
                </a:moveTo>
                <a:lnTo>
                  <a:pt x="2673350" y="2030476"/>
                </a:lnTo>
                <a:lnTo>
                  <a:pt x="2673350" y="0"/>
                </a:lnTo>
                <a:lnTo>
                  <a:pt x="0" y="0"/>
                </a:lnTo>
                <a:lnTo>
                  <a:pt x="0" y="2030476"/>
                </a:lnTo>
                <a:close/>
              </a:path>
            </a:pathLst>
          </a:custGeom>
          <a:ln w="254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1842" y="2235316"/>
            <a:ext cx="2484120" cy="67310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484"/>
              </a:spcBef>
              <a:buFont typeface="Wingdings"/>
              <a:buChar char=""/>
              <a:tabLst>
                <a:tab pos="299720" algn="l"/>
              </a:tabLst>
            </a:pPr>
            <a:r>
              <a:rPr sz="1800" dirty="0">
                <a:solidFill>
                  <a:srgbClr val="FF0000"/>
                </a:solidFill>
                <a:latin typeface="黑体"/>
                <a:cs typeface="黑体"/>
              </a:rPr>
              <a:t>双极性（如，+1/-1）</a:t>
            </a:r>
            <a:endParaRPr sz="1800" dirty="0">
              <a:latin typeface="黑体"/>
              <a:cs typeface="黑体"/>
            </a:endParaRPr>
          </a:p>
          <a:p>
            <a:pPr marL="307975">
              <a:lnSpc>
                <a:spcPct val="100000"/>
              </a:lnSpc>
              <a:spcBef>
                <a:spcPts val="395"/>
              </a:spcBef>
            </a:pPr>
            <a:r>
              <a:rPr sz="1800" spc="-5" dirty="0">
                <a:solidFill>
                  <a:srgbClr val="0000E1"/>
                </a:solidFill>
                <a:latin typeface="黑体"/>
                <a:cs typeface="黑体"/>
              </a:rPr>
              <a:t>无直流、无谐波</a:t>
            </a:r>
            <a:endParaRPr sz="1800" dirty="0">
              <a:latin typeface="黑体"/>
              <a:cs typeface="黑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36864" y="611266"/>
            <a:ext cx="228600" cy="228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sz="1800" dirty="0">
                <a:solidFill>
                  <a:srgbClr val="0000E1"/>
                </a:solidFill>
                <a:latin typeface="黑体"/>
                <a:cs typeface="黑体"/>
              </a:rPr>
              <a:t>RZ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11209" y="2116073"/>
            <a:ext cx="355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0000"/>
                </a:solidFill>
                <a:latin typeface="黑体"/>
                <a:cs typeface="黑体"/>
              </a:rPr>
              <a:t>NRZ</a:t>
            </a:r>
            <a:endParaRPr sz="1800">
              <a:latin typeface="黑体"/>
              <a:cs typeface="黑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06450" y="3805927"/>
            <a:ext cx="532892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1150"/>
              </a:spcBef>
            </a:pPr>
            <a:r>
              <a:rPr sz="1800" dirty="0" err="1">
                <a:solidFill>
                  <a:srgbClr val="0000E1"/>
                </a:solidFill>
                <a:latin typeface="黑体"/>
                <a:cs typeface="黑体"/>
              </a:rPr>
              <a:t>BW无穷。取主要部分（主瓣，第一零点</a:t>
            </a:r>
            <a:r>
              <a:rPr sz="1800" dirty="0">
                <a:solidFill>
                  <a:srgbClr val="0000E1"/>
                </a:solidFill>
                <a:latin typeface="黑体"/>
                <a:cs typeface="黑体"/>
              </a:rPr>
              <a:t>）：</a:t>
            </a:r>
            <a:endParaRPr sz="1800" dirty="0">
              <a:latin typeface="黑体"/>
              <a:cs typeface="黑体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588125" y="508000"/>
            <a:ext cx="2230501" cy="14367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575425" y="495300"/>
            <a:ext cx="2256155" cy="1462405"/>
          </a:xfrm>
          <a:custGeom>
            <a:avLst/>
            <a:gdLst/>
            <a:ahLst/>
            <a:cxnLst/>
            <a:rect l="l" t="t" r="r" b="b"/>
            <a:pathLst>
              <a:path w="2256154" h="1462405">
                <a:moveTo>
                  <a:pt x="0" y="1462151"/>
                </a:moveTo>
                <a:lnTo>
                  <a:pt x="2255901" y="1462151"/>
                </a:lnTo>
                <a:lnTo>
                  <a:pt x="2255901" y="0"/>
                </a:lnTo>
                <a:lnTo>
                  <a:pt x="0" y="0"/>
                </a:lnTo>
                <a:lnTo>
                  <a:pt x="0" y="1462151"/>
                </a:lnTo>
                <a:close/>
              </a:path>
            </a:pathLst>
          </a:custGeom>
          <a:ln w="25400">
            <a:solidFill>
              <a:srgbClr val="9999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29" name="矩形 28"/>
          <p:cNvSpPr/>
          <p:nvPr/>
        </p:nvSpPr>
        <p:spPr>
          <a:xfrm>
            <a:off x="693737" y="2952750"/>
            <a:ext cx="5402263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265" marR="2719705" indent="-314325">
              <a:lnSpc>
                <a:spcPct val="119800"/>
              </a:lnSpc>
              <a:spcBef>
                <a:spcPts val="100"/>
              </a:spcBef>
              <a:buFont typeface="Wingdings"/>
              <a:buChar char=""/>
              <a:tabLst>
                <a:tab pos="314960" algn="l"/>
              </a:tabLst>
            </a:pP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/>
              </a:rPr>
              <a:t>单极性（如，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/>
              </a:rPr>
              <a:t>0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/>
              </a:rPr>
              <a:t>、</a:t>
            </a:r>
            <a:r>
              <a:rPr lang="en-US" altLang="zh-CN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/>
              </a:rPr>
              <a:t>）： </a:t>
            </a:r>
            <a:r>
              <a:rPr lang="zh-CN" altLang="en-US" dirty="0">
                <a:solidFill>
                  <a:srgbClr val="0000E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/>
              </a:rPr>
              <a:t>有直流、无谐波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  <a:cs typeface="黑体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6" grpId="0"/>
      <p:bldP spid="17" grpId="0" animBg="1"/>
      <p:bldP spid="18" grpId="0" animBg="1"/>
      <p:bldP spid="21" grpId="0"/>
      <p:bldP spid="24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CED9B68-C09D-4F81-846C-06AD9FE89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200150"/>
            <a:ext cx="5410200" cy="3685309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63598E73-7AAE-4C2B-9E0F-8C62A5DA7713}"/>
              </a:ext>
            </a:extLst>
          </p:cNvPr>
          <p:cNvSpPr txBox="1"/>
          <p:nvPr/>
        </p:nvSpPr>
        <p:spPr>
          <a:xfrm>
            <a:off x="457200" y="742950"/>
            <a:ext cx="340421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lang="en-US" altLang="zh-CN" sz="2400" b="1" dirty="0">
                <a:solidFill>
                  <a:srgbClr val="0000E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PAM</a:t>
            </a:r>
            <a:r>
              <a:rPr lang="zh-CN" altLang="en-US" sz="2400" b="1" dirty="0">
                <a:solidFill>
                  <a:srgbClr val="0000E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基带信号的频域波形</a:t>
            </a:r>
            <a:endParaRPr sz="2400" b="1" dirty="0">
              <a:solidFill>
                <a:srgbClr val="0000E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id="{5B2713B0-0E30-4C50-9B9E-0A7E3B1F4520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001000" y="4764615"/>
            <a:ext cx="620013" cy="2413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1677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285750" cy="4000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12750" y="101231"/>
            <a:ext cx="8731250" cy="20598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9575" y="101170"/>
            <a:ext cx="138430" cy="102870"/>
          </a:xfrm>
          <a:custGeom>
            <a:avLst/>
            <a:gdLst/>
            <a:ahLst/>
            <a:cxnLst/>
            <a:rect l="l" t="t" r="r" b="b"/>
            <a:pathLst>
              <a:path w="138429" h="102870">
                <a:moveTo>
                  <a:pt x="0" y="102410"/>
                </a:moveTo>
                <a:lnTo>
                  <a:pt x="138112" y="102410"/>
                </a:lnTo>
                <a:lnTo>
                  <a:pt x="138112" y="0"/>
                </a:lnTo>
                <a:lnTo>
                  <a:pt x="0" y="0"/>
                </a:lnTo>
                <a:lnTo>
                  <a:pt x="0" y="102410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47687" y="48"/>
            <a:ext cx="139700" cy="101600"/>
          </a:xfrm>
          <a:custGeom>
            <a:avLst/>
            <a:gdLst/>
            <a:ahLst/>
            <a:cxnLst/>
            <a:rect l="l" t="t" r="r" b="b"/>
            <a:pathLst>
              <a:path w="139700" h="101600">
                <a:moveTo>
                  <a:pt x="0" y="101122"/>
                </a:moveTo>
                <a:lnTo>
                  <a:pt x="139700" y="101122"/>
                </a:lnTo>
                <a:lnTo>
                  <a:pt x="139700" y="0"/>
                </a:lnTo>
                <a:lnTo>
                  <a:pt x="0" y="0"/>
                </a:lnTo>
                <a:lnTo>
                  <a:pt x="0" y="101122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7687" y="101170"/>
            <a:ext cx="139700" cy="106045"/>
          </a:xfrm>
          <a:custGeom>
            <a:avLst/>
            <a:gdLst/>
            <a:ahLst/>
            <a:cxnLst/>
            <a:rect l="l" t="t" r="r" b="b"/>
            <a:pathLst>
              <a:path w="139700" h="106045">
                <a:moveTo>
                  <a:pt x="0" y="105966"/>
                </a:moveTo>
                <a:lnTo>
                  <a:pt x="139700" y="105966"/>
                </a:lnTo>
                <a:lnTo>
                  <a:pt x="139700" y="0"/>
                </a:lnTo>
                <a:lnTo>
                  <a:pt x="0" y="0"/>
                </a:lnTo>
                <a:lnTo>
                  <a:pt x="0" y="105966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74637" y="205915"/>
            <a:ext cx="136525" cy="102870"/>
          </a:xfrm>
          <a:custGeom>
            <a:avLst/>
            <a:gdLst/>
            <a:ahLst/>
            <a:cxnLst/>
            <a:rect l="l" t="t" r="r" b="b"/>
            <a:pathLst>
              <a:path w="136525" h="102870">
                <a:moveTo>
                  <a:pt x="0" y="102457"/>
                </a:moveTo>
                <a:lnTo>
                  <a:pt x="136525" y="102457"/>
                </a:lnTo>
                <a:lnTo>
                  <a:pt x="136525" y="0"/>
                </a:lnTo>
                <a:lnTo>
                  <a:pt x="0" y="0"/>
                </a:lnTo>
                <a:lnTo>
                  <a:pt x="0" y="102457"/>
                </a:lnTo>
                <a:close/>
              </a:path>
            </a:pathLst>
          </a:custGeom>
          <a:solidFill>
            <a:srgbClr val="CCCC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1762" y="103631"/>
            <a:ext cx="141605" cy="104775"/>
          </a:xfrm>
          <a:custGeom>
            <a:avLst/>
            <a:gdLst/>
            <a:ahLst/>
            <a:cxnLst/>
            <a:rect l="l" t="t" r="r" b="b"/>
            <a:pathLst>
              <a:path w="141604" h="104775">
                <a:moveTo>
                  <a:pt x="0" y="104775"/>
                </a:moveTo>
                <a:lnTo>
                  <a:pt x="141287" y="104775"/>
                </a:lnTo>
                <a:lnTo>
                  <a:pt x="141287" y="0"/>
                </a:ln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>
            <a:srgbClr val="00007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9575" y="203581"/>
            <a:ext cx="138430" cy="104775"/>
          </a:xfrm>
          <a:custGeom>
            <a:avLst/>
            <a:gdLst/>
            <a:ahLst/>
            <a:cxnLst/>
            <a:rect l="l" t="t" r="r" b="b"/>
            <a:pathLst>
              <a:path w="138429" h="104775">
                <a:moveTo>
                  <a:pt x="0" y="104775"/>
                </a:moveTo>
                <a:lnTo>
                  <a:pt x="138112" y="104775"/>
                </a:lnTo>
                <a:lnTo>
                  <a:pt x="138112" y="0"/>
                </a:lnTo>
                <a:lnTo>
                  <a:pt x="0" y="0"/>
                </a:lnTo>
                <a:lnTo>
                  <a:pt x="0" y="104775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74637" y="308372"/>
            <a:ext cx="136525" cy="101600"/>
          </a:xfrm>
          <a:custGeom>
            <a:avLst/>
            <a:gdLst/>
            <a:ahLst/>
            <a:cxnLst/>
            <a:rect l="l" t="t" r="r" b="b"/>
            <a:pathLst>
              <a:path w="136525" h="101600">
                <a:moveTo>
                  <a:pt x="0" y="101202"/>
                </a:moveTo>
                <a:lnTo>
                  <a:pt x="136525" y="101202"/>
                </a:lnTo>
                <a:lnTo>
                  <a:pt x="136525" y="0"/>
                </a:lnTo>
                <a:lnTo>
                  <a:pt x="0" y="0"/>
                </a:lnTo>
                <a:lnTo>
                  <a:pt x="0" y="101202"/>
                </a:lnTo>
                <a:close/>
              </a:path>
            </a:pathLst>
          </a:custGeom>
          <a:solidFill>
            <a:srgbClr val="9999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035175" y="2038350"/>
            <a:ext cx="54864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9250" marR="5080" indent="-1607185">
              <a:lnSpc>
                <a:spcPct val="100000"/>
              </a:lnSpc>
              <a:spcBef>
                <a:spcPts val="100"/>
              </a:spcBef>
            </a:pPr>
            <a:r>
              <a:rPr lang="en-US" altLang="zh-CN" sz="4400" dirty="0">
                <a:solidFill>
                  <a:srgbClr val="00007C"/>
                </a:solidFill>
                <a:latin typeface="+mn-lt"/>
                <a:ea typeface="隶书" panose="02010509060101010101" pitchFamily="49" charset="-122"/>
              </a:rPr>
              <a:t>ASK</a:t>
            </a:r>
            <a:r>
              <a:rPr lang="zh-CN" altLang="en-US" sz="4400" dirty="0">
                <a:solidFill>
                  <a:srgbClr val="00007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信号的攻击与捕获</a:t>
            </a:r>
            <a:endParaRPr sz="4400" dirty="0">
              <a:latin typeface="隶书"/>
              <a:cs typeface="隶书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76275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57200" y="742950"/>
            <a:ext cx="340421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lang="zh-CN" altLang="en-US" sz="2400" b="1" dirty="0">
                <a:solidFill>
                  <a:srgbClr val="0000E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2400" b="1" dirty="0">
                <a:solidFill>
                  <a:srgbClr val="0000E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ASK</a:t>
            </a:r>
            <a:r>
              <a:rPr lang="zh-CN" altLang="en-US" sz="2400" b="1" dirty="0">
                <a:solidFill>
                  <a:srgbClr val="0000E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信号的攻击</a:t>
            </a:r>
            <a:endParaRPr sz="2400" b="1" dirty="0">
              <a:solidFill>
                <a:srgbClr val="0000E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14350" y="2038350"/>
            <a:ext cx="8115300" cy="2337563"/>
          </a:xfrm>
          <a:prstGeom prst="rect">
            <a:avLst/>
          </a:prstGeom>
          <a:ln w="25400">
            <a:solidFill>
              <a:srgbClr val="9999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8740" marR="49530">
              <a:lnSpc>
                <a:spcPct val="1288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黑体"/>
                <a:cs typeface="黑体"/>
              </a:rPr>
              <a:t>攻击手段</a:t>
            </a:r>
            <a:r>
              <a:rPr sz="1800" dirty="0">
                <a:solidFill>
                  <a:srgbClr val="0000E1"/>
                </a:solidFill>
                <a:latin typeface="黑体"/>
                <a:cs typeface="黑体"/>
              </a:rPr>
              <a:t>：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录制解码，伪造信号，以及重放</a:t>
            </a:r>
            <a:r>
              <a:rPr dirty="0">
                <a:solidFill>
                  <a:srgbClr val="0000E1"/>
                </a:solidFill>
                <a:latin typeface="黑体"/>
              </a:rPr>
              <a:t>； </a:t>
            </a:r>
            <a:endParaRPr lang="en-US" dirty="0">
              <a:solidFill>
                <a:srgbClr val="0000E1"/>
              </a:solidFill>
              <a:latin typeface="黑体"/>
            </a:endParaRPr>
          </a:p>
          <a:p>
            <a:pPr marL="78740" marR="49530">
              <a:lnSpc>
                <a:spcPct val="128800"/>
              </a:lnSpc>
            </a:pPr>
            <a:r>
              <a:rPr lang="zh-CN" altLang="en-US" sz="1800" b="1" spc="-5" dirty="0">
                <a:solidFill>
                  <a:srgbClr val="FF0000"/>
                </a:solidFill>
                <a:latin typeface="黑体"/>
                <a:cs typeface="黑体"/>
              </a:rPr>
              <a:t>信号捕获</a:t>
            </a:r>
            <a:r>
              <a:rPr sz="1800" spc="-5" dirty="0">
                <a:solidFill>
                  <a:srgbClr val="0000E1"/>
                </a:solidFill>
                <a:latin typeface="黑体"/>
                <a:cs typeface="黑体"/>
              </a:rPr>
              <a:t>：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汽车遥控器和遥控门铃，中国常用频率一般在</a:t>
            </a:r>
            <a:r>
              <a:rPr lang="en-US" altLang="zh-CN" dirty="0">
                <a:solidFill>
                  <a:srgbClr val="0000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314</a:t>
            </a:r>
            <a:r>
              <a:rPr lang="zh-CN" altLang="zh-CN" dirty="0">
                <a:solidFill>
                  <a:srgbClr val="0000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dirty="0">
                <a:solidFill>
                  <a:srgbClr val="0000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316MHz</a:t>
            </a:r>
            <a:r>
              <a:rPr lang="zh-CN" altLang="zh-CN" dirty="0">
                <a:solidFill>
                  <a:srgbClr val="0000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430</a:t>
            </a:r>
            <a:r>
              <a:rPr lang="zh-CN" altLang="zh-CN" dirty="0">
                <a:solidFill>
                  <a:srgbClr val="0000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dirty="0">
                <a:solidFill>
                  <a:srgbClr val="0000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432MHz</a:t>
            </a:r>
            <a:r>
              <a:rPr lang="zh-CN" altLang="zh-CN" dirty="0">
                <a:solidFill>
                  <a:srgbClr val="0000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solidFill>
                  <a:srgbClr val="0000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433.00</a:t>
            </a:r>
            <a:r>
              <a:rPr lang="zh-CN" altLang="zh-CN" dirty="0">
                <a:solidFill>
                  <a:srgbClr val="0000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～</a:t>
            </a:r>
            <a:r>
              <a:rPr lang="en-US" altLang="zh-CN" dirty="0">
                <a:solidFill>
                  <a:srgbClr val="0000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434.79MHz</a:t>
            </a:r>
            <a:r>
              <a:rPr lang="zh-CN" altLang="zh-CN" dirty="0">
                <a:solidFill>
                  <a:srgbClr val="0000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这几个频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段</a:t>
            </a:r>
            <a:r>
              <a:rPr dirty="0">
                <a:solidFill>
                  <a:srgbClr val="0000E1"/>
                </a:solidFill>
                <a:latin typeface="黑体"/>
              </a:rPr>
              <a:t>； </a:t>
            </a:r>
            <a:endParaRPr lang="en-US" dirty="0">
              <a:solidFill>
                <a:srgbClr val="0000E1"/>
              </a:solidFill>
              <a:latin typeface="黑体"/>
            </a:endParaRPr>
          </a:p>
          <a:p>
            <a:pPr marL="78740" marR="49530">
              <a:lnSpc>
                <a:spcPct val="1288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黑体"/>
                <a:cs typeface="黑体"/>
              </a:rPr>
              <a:t>信号模式</a:t>
            </a:r>
            <a:r>
              <a:rPr lang="zh-CN" altLang="en-US" sz="1800" dirty="0">
                <a:solidFill>
                  <a:srgbClr val="0000E1"/>
                </a:solidFill>
                <a:latin typeface="黑体"/>
                <a:cs typeface="黑体"/>
              </a:rPr>
              <a:t>：</a:t>
            </a:r>
            <a:r>
              <a:rPr lang="zh-CN" altLang="en-US" dirty="0">
                <a:solidFill>
                  <a:srgbClr val="0000E1"/>
                </a:solidFill>
                <a:latin typeface="黑体"/>
              </a:rPr>
              <a:t>明确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攻击信号</a:t>
            </a:r>
            <a:r>
              <a:rPr lang="zh-CN" altLang="en-US" dirty="0">
                <a:solidFill>
                  <a:srgbClr val="0000E1"/>
                </a:solidFill>
                <a:latin typeface="黑体"/>
              </a:rPr>
              <a:t>的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类型</a:t>
            </a:r>
            <a:r>
              <a:rPr lang="zh-CN" altLang="en-US" dirty="0">
                <a:solidFill>
                  <a:srgbClr val="0000E1"/>
                </a:solidFill>
                <a:latin typeface="黑体"/>
              </a:rPr>
              <a:t>； </a:t>
            </a:r>
          </a:p>
          <a:p>
            <a:pPr marL="447675" marR="49530">
              <a:lnSpc>
                <a:spcPct val="128800"/>
              </a:lnSpc>
            </a:pPr>
            <a:r>
              <a:rPr lang="zh-CN" altLang="zh-CN" sz="1600" b="1" dirty="0">
                <a:solidFill>
                  <a:srgbClr val="0000E1"/>
                </a:solidFill>
                <a:latin typeface="黑体"/>
              </a:rPr>
              <a:t>普通信号</a:t>
            </a:r>
            <a:r>
              <a:rPr lang="zh-CN" altLang="zh-CN" sz="1600" dirty="0">
                <a:solidFill>
                  <a:srgbClr val="0000E1"/>
                </a:solidFill>
                <a:latin typeface="黑体"/>
              </a:rPr>
              <a:t>：只是在单一频率下发送固定的二进制串来遥控设备。</a:t>
            </a:r>
            <a:endParaRPr lang="en-US" altLang="zh-CN" sz="1600" dirty="0">
              <a:solidFill>
                <a:srgbClr val="0000E1"/>
              </a:solidFill>
              <a:latin typeface="黑体"/>
            </a:endParaRPr>
          </a:p>
          <a:p>
            <a:pPr marL="447675" marR="49530">
              <a:lnSpc>
                <a:spcPct val="128800"/>
              </a:lnSpc>
            </a:pPr>
            <a:r>
              <a:rPr lang="zh-CN" altLang="zh-CN" sz="1600" b="1" dirty="0">
                <a:solidFill>
                  <a:srgbClr val="0000E1"/>
                </a:solidFill>
                <a:latin typeface="黑体"/>
              </a:rPr>
              <a:t>跳频</a:t>
            </a:r>
            <a:r>
              <a:rPr lang="en-US" altLang="zh-CN" sz="1600" b="1" dirty="0">
                <a:solidFill>
                  <a:srgbClr val="0000E1"/>
                </a:solidFill>
                <a:latin typeface="黑体"/>
              </a:rPr>
              <a:t>/</a:t>
            </a:r>
            <a:r>
              <a:rPr lang="zh-CN" altLang="zh-CN" sz="1600" b="1" dirty="0">
                <a:solidFill>
                  <a:srgbClr val="0000E1"/>
                </a:solidFill>
                <a:latin typeface="黑体"/>
              </a:rPr>
              <a:t>多频段信号</a:t>
            </a:r>
            <a:r>
              <a:rPr lang="zh-CN" altLang="zh-CN" sz="1600" dirty="0">
                <a:solidFill>
                  <a:srgbClr val="0000E1"/>
                </a:solidFill>
                <a:latin typeface="黑体"/>
              </a:rPr>
              <a:t>：信号在多个中心频率间不断切换</a:t>
            </a:r>
            <a:r>
              <a:rPr lang="zh-CN" altLang="en-US" sz="1600" dirty="0">
                <a:solidFill>
                  <a:srgbClr val="0000E1"/>
                </a:solidFill>
                <a:latin typeface="黑体"/>
              </a:rPr>
              <a:t> ，</a:t>
            </a:r>
            <a:r>
              <a:rPr lang="zh-CN" altLang="zh-CN" sz="1600" dirty="0">
                <a:solidFill>
                  <a:srgbClr val="0000E1"/>
                </a:solidFill>
                <a:latin typeface="黑体"/>
              </a:rPr>
              <a:t>或多个相近频率同时发送信号。</a:t>
            </a:r>
            <a:endParaRPr lang="en-US" sz="1600" dirty="0">
              <a:solidFill>
                <a:srgbClr val="0000E1"/>
              </a:solidFill>
              <a:latin typeface="黑体"/>
            </a:endParaRPr>
          </a:p>
          <a:p>
            <a:pPr marL="447675" marR="49530">
              <a:lnSpc>
                <a:spcPct val="128800"/>
              </a:lnSpc>
            </a:pPr>
            <a:r>
              <a:rPr lang="zh-CN" altLang="zh-CN" sz="1600" b="1" dirty="0">
                <a:solidFill>
                  <a:srgbClr val="0000E1"/>
                </a:solidFill>
                <a:latin typeface="黑体"/>
              </a:rPr>
              <a:t>滚动码加密</a:t>
            </a:r>
            <a:r>
              <a:rPr lang="zh-CN" altLang="zh-CN" sz="1600" dirty="0">
                <a:solidFill>
                  <a:srgbClr val="0000E1"/>
                </a:solidFill>
                <a:latin typeface="黑体"/>
              </a:rPr>
              <a:t>：滚动码加密分为直接嵌入滚动码和用滚动码运算两种。</a:t>
            </a:r>
            <a:endParaRPr lang="en-US" sz="1600" dirty="0">
              <a:solidFill>
                <a:srgbClr val="0000E1"/>
              </a:solidFill>
              <a:latin typeface="黑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ct val="10000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836B22E-D06B-4163-8812-7B8F6CDE2588}"/>
              </a:ext>
            </a:extLst>
          </p:cNvPr>
          <p:cNvSpPr txBox="1"/>
          <p:nvPr/>
        </p:nvSpPr>
        <p:spPr>
          <a:xfrm>
            <a:off x="609600" y="1200363"/>
            <a:ext cx="762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>
                <a:solidFill>
                  <a:srgbClr val="0000E1"/>
                </a:solidFill>
                <a:latin typeface="黑体"/>
              </a:rPr>
              <a:t>最常见的</a:t>
            </a:r>
            <a:r>
              <a:rPr lang="en-US" altLang="zh-CN" dirty="0">
                <a:solidFill>
                  <a:srgbClr val="0000E1"/>
                </a:solidFill>
                <a:latin typeface="黑体"/>
              </a:rPr>
              <a:t>ASK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调制方法是</a:t>
            </a:r>
            <a:r>
              <a:rPr lang="en-US" altLang="zh-CN" dirty="0">
                <a:solidFill>
                  <a:srgbClr val="0000E1"/>
                </a:solidFill>
                <a:latin typeface="黑体"/>
              </a:rPr>
              <a:t>OOK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，大部分钥匙，诸如汽车钥匙，遥控等等都是使用的这种调制方式。</a:t>
            </a:r>
            <a:endParaRPr lang="zh-CN" altLang="en-US" dirty="0">
              <a:solidFill>
                <a:srgbClr val="0000E1"/>
              </a:solidFill>
              <a:latin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2612709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57200" y="742950"/>
            <a:ext cx="411480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lang="zh-CN" altLang="zh-CN" sz="2400" b="1" dirty="0">
                <a:solidFill>
                  <a:srgbClr val="0000E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海德曼无线家用数码门铃</a:t>
            </a:r>
            <a:r>
              <a:rPr lang="en-US" altLang="zh-CN" sz="2400" b="1" dirty="0">
                <a:solidFill>
                  <a:srgbClr val="0000E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E228</a:t>
            </a:r>
            <a:endParaRPr sz="2400" b="1" dirty="0">
              <a:solidFill>
                <a:srgbClr val="0000E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2000" y="3105150"/>
            <a:ext cx="7048500" cy="1378967"/>
          </a:xfrm>
          <a:prstGeom prst="rect">
            <a:avLst/>
          </a:prstGeom>
          <a:ln w="25400">
            <a:solidFill>
              <a:srgbClr val="9999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8740" marR="49530">
              <a:lnSpc>
                <a:spcPct val="128800"/>
              </a:lnSpc>
            </a:pPr>
            <a:r>
              <a:rPr lang="zh-CN" altLang="en-US" sz="1800" b="1" dirty="0">
                <a:solidFill>
                  <a:srgbClr val="FF0000"/>
                </a:solidFill>
                <a:latin typeface="黑体"/>
                <a:cs typeface="黑体"/>
              </a:rPr>
              <a:t>工作频率</a:t>
            </a:r>
            <a:r>
              <a:rPr sz="1800" dirty="0">
                <a:solidFill>
                  <a:srgbClr val="0000E1"/>
                </a:solidFill>
                <a:latin typeface="黑体"/>
                <a:cs typeface="黑体"/>
              </a:rPr>
              <a:t>：</a:t>
            </a:r>
            <a:r>
              <a:rPr lang="zh-CN" altLang="en-US" dirty="0">
                <a:solidFill>
                  <a:srgbClr val="0000E1"/>
                </a:solidFill>
                <a:latin typeface="黑体"/>
              </a:rPr>
              <a:t>门铃的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华芯微</a:t>
            </a:r>
            <a:r>
              <a:rPr lang="en-US" altLang="zh-CN" dirty="0">
                <a:solidFill>
                  <a:srgbClr val="0000E1"/>
                </a:solidFill>
                <a:latin typeface="黑体"/>
              </a:rPr>
              <a:t>HS1527</a:t>
            </a:r>
            <a:r>
              <a:rPr lang="zh-CN" altLang="en-US" dirty="0">
                <a:solidFill>
                  <a:srgbClr val="0000E1"/>
                </a:solidFill>
                <a:latin typeface="黑体"/>
              </a:rPr>
              <a:t>发射频率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在</a:t>
            </a:r>
            <a:r>
              <a:rPr lang="en-US" altLang="zh-CN" dirty="0">
                <a:solidFill>
                  <a:srgbClr val="0000E1"/>
                </a:solidFill>
                <a:latin typeface="黑体"/>
              </a:rPr>
              <a:t>315Mhz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、</a:t>
            </a:r>
            <a:r>
              <a:rPr lang="en-US" altLang="zh-CN" dirty="0">
                <a:solidFill>
                  <a:srgbClr val="0000E1"/>
                </a:solidFill>
                <a:latin typeface="黑体"/>
              </a:rPr>
              <a:t>433Mhz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，欧美的采用</a:t>
            </a:r>
            <a:r>
              <a:rPr lang="en-US" altLang="zh-CN" dirty="0">
                <a:solidFill>
                  <a:srgbClr val="0000E1"/>
                </a:solidFill>
                <a:latin typeface="黑体"/>
              </a:rPr>
              <a:t>868Mhz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、</a:t>
            </a:r>
            <a:r>
              <a:rPr lang="en-US" altLang="zh-CN" dirty="0">
                <a:solidFill>
                  <a:srgbClr val="0000E1"/>
                </a:solidFill>
                <a:latin typeface="黑体"/>
              </a:rPr>
              <a:t>915Mhz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这</a:t>
            </a:r>
            <a:r>
              <a:rPr lang="en-US" altLang="zh-CN" dirty="0">
                <a:solidFill>
                  <a:srgbClr val="0000E1"/>
                </a:solidFill>
                <a:latin typeface="黑体"/>
              </a:rPr>
              <a:t>2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个频率</a:t>
            </a:r>
            <a:r>
              <a:rPr dirty="0">
                <a:solidFill>
                  <a:srgbClr val="0000E1"/>
                </a:solidFill>
                <a:latin typeface="黑体"/>
              </a:rPr>
              <a:t>； </a:t>
            </a:r>
            <a:endParaRPr lang="en-US" dirty="0">
              <a:solidFill>
                <a:srgbClr val="0000E1"/>
              </a:solidFill>
              <a:latin typeface="黑体"/>
            </a:endParaRPr>
          </a:p>
          <a:p>
            <a:pPr marL="78740" marR="49530">
              <a:lnSpc>
                <a:spcPct val="128800"/>
              </a:lnSpc>
            </a:pPr>
            <a:r>
              <a:rPr lang="zh-CN" altLang="en-US" sz="1800" b="1" spc="-5" dirty="0">
                <a:solidFill>
                  <a:srgbClr val="FF0000"/>
                </a:solidFill>
                <a:latin typeface="黑体"/>
                <a:cs typeface="黑体"/>
              </a:rPr>
              <a:t>信号捕获</a:t>
            </a:r>
            <a:r>
              <a:rPr sz="1800" spc="-5" dirty="0">
                <a:solidFill>
                  <a:srgbClr val="0000E1"/>
                </a:solidFill>
                <a:latin typeface="黑体"/>
                <a:cs typeface="黑体"/>
              </a:rPr>
              <a:t>：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打开</a:t>
            </a:r>
            <a:r>
              <a:rPr lang="en-US" altLang="zh-CN" dirty="0">
                <a:solidFill>
                  <a:srgbClr val="0000E1"/>
                </a:solidFill>
                <a:latin typeface="黑体"/>
              </a:rPr>
              <a:t>SDR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软件设置频率为</a:t>
            </a:r>
            <a:r>
              <a:rPr lang="en-US" altLang="zh-CN" dirty="0">
                <a:solidFill>
                  <a:srgbClr val="0000E1"/>
                </a:solidFill>
                <a:latin typeface="黑体"/>
              </a:rPr>
              <a:t>315Mhz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或</a:t>
            </a:r>
            <a:r>
              <a:rPr lang="en-US" altLang="zh-CN" dirty="0">
                <a:solidFill>
                  <a:srgbClr val="0000E1"/>
                </a:solidFill>
                <a:latin typeface="黑体"/>
              </a:rPr>
              <a:t>433Mhz</a:t>
            </a:r>
            <a:r>
              <a:rPr lang="zh-CN" altLang="zh-CN" dirty="0">
                <a:solidFill>
                  <a:srgbClr val="0000E1"/>
                </a:solidFill>
                <a:latin typeface="黑体"/>
              </a:rPr>
              <a:t>，然后按下遥控器，能在瀑布图上看到明显的反应，确定工作频率。</a:t>
            </a:r>
            <a:endParaRPr lang="en-US" dirty="0">
              <a:solidFill>
                <a:srgbClr val="0000E1"/>
              </a:solidFill>
              <a:latin typeface="黑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ct val="10000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F28B547-07C0-4C86-833A-B1717B86D4A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71600" y="1310281"/>
            <a:ext cx="2245360" cy="155384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4F30F4C-4E36-43A3-AF3E-6699823F79CB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4648200" y="1310281"/>
            <a:ext cx="2362200" cy="155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682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405790" y="666750"/>
            <a:ext cx="3099410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35"/>
              </a:lnSpc>
            </a:pPr>
            <a:r>
              <a:rPr lang="en-US" altLang="zh-CN" sz="2400" b="1" dirty="0">
                <a:solidFill>
                  <a:srgbClr val="0000E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ASK</a:t>
            </a:r>
            <a:r>
              <a:rPr lang="zh-CN" altLang="en-US" sz="2400" b="1" dirty="0">
                <a:solidFill>
                  <a:srgbClr val="0000E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信号的发射与捕获</a:t>
            </a:r>
            <a:endParaRPr sz="2400" b="1" dirty="0">
              <a:solidFill>
                <a:srgbClr val="0000E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0">
              <a:lnSpc>
                <a:spcPct val="100000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B63FBF4-CFB0-42BC-B85A-EEAF70E7190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31190" y="1278954"/>
            <a:ext cx="3759810" cy="23120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163C3DE-9DF4-479A-8FA4-A246B287777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841850" y="1431354"/>
            <a:ext cx="3657600" cy="20574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7C00E4D-5D8D-434F-9A45-1555C2CD5E20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934845" y="3823377"/>
            <a:ext cx="5274310" cy="78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937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1162</TotalTime>
  <Words>405</Words>
  <Application>Microsoft Office PowerPoint</Application>
  <PresentationFormat>全屏显示(16:9)</PresentationFormat>
  <Paragraphs>49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等线</vt:lpstr>
      <vt:lpstr>黑体</vt:lpstr>
      <vt:lpstr>隶书</vt:lpstr>
      <vt:lpstr>Arial</vt:lpstr>
      <vt:lpstr>Arial Black</vt:lpstr>
      <vt:lpstr>Calibri</vt:lpstr>
      <vt:lpstr>Times New Roman</vt:lpstr>
      <vt:lpstr>Wingdings</vt:lpstr>
      <vt:lpstr>Office Theme</vt:lpstr>
      <vt:lpstr>PowerPoint 演示文稿</vt:lpstr>
      <vt:lpstr>PowerPoint 演示文稿</vt:lpstr>
      <vt:lpstr>PAM基带传输信号带宽计算</vt:lpstr>
      <vt:lpstr>基带传输信号带宽计算</vt:lpstr>
      <vt:lpstr>基带传输信号带宽计算</vt:lpstr>
      <vt:lpstr>PowerPoint 演示文稿</vt:lpstr>
      <vt:lpstr>ASK信号的攻击与捕获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随机信号分析</dc:title>
  <dc:creator>LXF-UESTC</dc:creator>
  <cp:lastModifiedBy>跃宇 张</cp:lastModifiedBy>
  <cp:revision>103</cp:revision>
  <dcterms:created xsi:type="dcterms:W3CDTF">2018-02-06T08:59:15Z</dcterms:created>
  <dcterms:modified xsi:type="dcterms:W3CDTF">2025-03-23T00:23:50Z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2016-02-20T00:00:00Z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2018-02-06T00:00:00Z</vt:filetime>
  </property>
</Properties>
</file>