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1" r:id="rId16"/>
    <p:sldId id="268" r:id="rId17"/>
    <p:sldId id="270" r:id="rId18"/>
  </p:sldIdLst>
  <p:sldSz cx="12858750" cy="723265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2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44"/>
        <p:guide pos="2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r>
              <a:t>目录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r>
              <a:t>（一）职业目标起源</a:t>
            </a:r>
          </a:p>
          <a:p>
            <a:r>
              <a:t>家庭：父母发掘了我对于软件编程的兴趣，鼓励我去了解实践编程</a:t>
            </a:r>
          </a:p>
          <a:p>
            <a:r>
              <a:t>学习经历：高中加入了校机器人社团，巩固了自己的编程体系，接触到硬件编程和软件编程</a:t>
            </a:r>
          </a:p>
          <a:p>
            <a:r>
              <a:t>专业方向：计算机大类，打算分流进入软件工程</a:t>
            </a:r>
          </a:p>
          <a:p>
            <a:r>
              <a:t>国家需求：十四五规划提出软件发展方面坚持创新驱动发展，加强产业基础研究，推进核心技术、关键产品、集成应用等体系化创新</a:t>
            </a:r>
          </a:p>
          <a:p>
            <a:r>
              <a:t>社会需求：5G落地，整个IT行业在未来将持续释放出大量的就业岗位，促进软件工程的发展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r>
              <a:t>（二）职业目标的适配性分析</a:t>
            </a:r>
          </a:p>
          <a:p>
            <a:r>
              <a:t>通过资料查询得知该职业从事于软件开发相关工作，主要工作任务和内容包括：软件工程系统的设计、开发、测试，编写软件说明书等</a:t>
            </a:r>
          </a:p>
          <a:p>
            <a:r>
              <a:t>结合招聘要求得知，该岗位对从业者的能力要求包括</a:t>
            </a:r>
          </a:p>
          <a:p>
            <a:r>
              <a:t>专业知识技能：CSS、HTML、JAVASCRIPT、AJAX、HIBERNATE、SPRING等</a:t>
            </a:r>
          </a:p>
          <a:p>
            <a:r>
              <a:t>可迁移技能：C，C++，JAVA等编程语言，Linux系统的使用，数据库技术</a:t>
            </a:r>
          </a:p>
          <a:p>
            <a:r>
              <a:t>自我管理技能：基本文档写作能力，钻研前沿技术的能力，抗压能力，团队合作能力等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r>
              <a:t>我的个人适配性分析</a:t>
            </a:r>
          </a:p>
          <a:p>
            <a:r>
              <a:t>1. 专业：计算机大类，打算进入软件工程</a:t>
            </a:r>
          </a:p>
          <a:p>
            <a:r>
              <a:t>2. 兴趣特点：喜欢钻研新技术，做网站研究算法等</a:t>
            </a:r>
          </a:p>
          <a:p>
            <a:r>
              <a:t>3. 能力：能吃苦，有领导能力，能撰写文本，能抗压</a:t>
            </a:r>
          </a:p>
          <a:p>
            <a:r>
              <a:t>4. 他人评价：观点犀利，思想深邃，执行力强</a:t>
            </a:r>
          </a:p>
          <a:p>
            <a:r>
              <a:t>以上分析证明与职业相适配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r>
              <a:t>我的成长实践</a:t>
            </a:r>
          </a:p>
          <a:p>
            <a:r>
              <a:t>高中生涯</a:t>
            </a:r>
          </a:p>
          <a:p>
            <a:r>
              <a:t>大学生涯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r>
              <a:t>高中生涯</a:t>
            </a:r>
          </a:p>
          <a:p>
            <a:r>
              <a:t>1． 为了学习编程知识，我加入了机器人社团，并在担任了社长的职务。在社团我的任务有两个：学习小车的编程与WEB前端的制作以及管理社团。C语言编程有所提升，并参加竞赛拿奖，且WEB前端有了基本框架，学习了职业目标要求的专业知识技能里的CSS、HTML、JAVASCRIPT，并搭建了博客。通过管理社团学到了大量的管理经验，并认清当时领导能力中出现的一些问题，之后加以反思改进，符合职业目标中自我管理技能所要求的团队精神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r>
              <a:t>高中生涯</a:t>
            </a:r>
          </a:p>
          <a:p>
            <a:r>
              <a:t>2． 准高三阶段，我参加了一场虚拟机器人竞赛。该竞赛要求以清晰的逻辑完成虚拟小车的编程，让它跑完整个赛道并完成沿途任务。考核了我的算法能力及思维逻辑。该比赛开始于高三初始。我均衡时间，规划学习和竞赛</a:t>
            </a:r>
          </a:p>
          <a:p>
            <a:r>
              <a:t>最终，这场比赛取得了国家级一等奖，并且高三备考处于一种积极状态。首先，这个比赛极大地考核并促使我提升了编程能力，为职业目标要求的可迁移技能打好了编程基础；其次，在学习竞赛双重压力下，这场比赛增强了我的抗压能力，符合职业目标要求的自我管理技能中抗压能力这一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r>
              <a:t>大学生涯</a:t>
            </a:r>
          </a:p>
          <a:p>
            <a:r>
              <a:t>1. 为了巩固职业目标要求的专业知识技能，我参加了浪潮俱乐部的招新，加入了WEB组。借这个平台，几乎可以学到职业目标要求专业知识技能的所有东西。我需要完成俱乐部布置的任务，借此发现自己的知识盲区并学习，俱乐部提供各种技术支持和学习路线。目前，我的相关技术已经有了很大提升，并在俱乐部的指导下完善了我的博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r>
              <a:t>大学生涯</a:t>
            </a:r>
          </a:p>
          <a:p>
            <a:r>
              <a:t>2. 为了巩固职业目标要求的可迁移技能，我同时参加了机甲大师I-robort战队的招新，进入算法组。我将巩固落实编程语言C++的学习和算法进阶。完成布置的任务借此学习。目前，已经学会了C++的基本使用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r>
              <a:t>大学生涯</a:t>
            </a:r>
          </a:p>
          <a:p>
            <a:r>
              <a:t>3. 为了检测我对当下知识的掌握，我组队参加了校星火杯竞赛。我负责我们申报项目里小程序部分的开发。这部分刚好属于我职业规划的方向。我运用自己所学知识去参加这个项目，同时发现了很多问题，如前后端的连接等。虽然竞赛还未结束，但我已经检测到了目前我知识储备中存在的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r>
              <a:t>大学生涯</a:t>
            </a:r>
          </a:p>
          <a:p>
            <a:r>
              <a:t>4. 我参加了一个团队项目的开发，负责这个项目在Linux CPU端的部分。借此，我了解到职业规划中可迁移技能Linux系统的使用</a:t>
            </a:r>
          </a:p>
          <a:p>
            <a:r>
              <a:t>我的成长计划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r>
              <a:t>大学生涯</a:t>
            </a:r>
          </a:p>
          <a:p>
            <a:r>
              <a:t>4. 我参加了一个团队项目的开发，负责这个项目在Linux CPU端的部分。借此，我了解到职业规划中可迁移技能Linux系统的使用</a:t>
            </a:r>
          </a:p>
          <a:p>
            <a:r>
              <a:t>我的成长计划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页面通过PPT超级市场(pptsupermarket.com)制作，如有异常请联系客服（微信：sootar_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643018" y="13816012"/>
            <a:ext cx="3000745" cy="38576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>
            <a:pPr>
              <a:defRPr/>
            </a:pPr>
            <a:fld id="{ECE45C20-9DC3-4C93-855F-0906F529D9E0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393156" y="13816012"/>
            <a:ext cx="4072440" cy="38576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214988" y="13816012"/>
            <a:ext cx="3000745" cy="38576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>
            <a:fld id="{438595A7-F137-4A1C-94F3-17BF434764D1}" type="slidenum">
              <a:rPr lang="zh-CN" altLang="en-US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Tm="0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advTm="0"/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日期占位符 3"/>
          <p:cNvSpPr>
            <a:spLocks noGrp="1"/>
          </p:cNvSpPr>
          <p:nvPr>
            <p:ph type="dt" sz="half" idx="10"/>
          </p:nvPr>
        </p:nvSpPr>
        <p:spPr>
          <a:xfrm>
            <a:off x="643018" y="6704013"/>
            <a:ext cx="3000745" cy="3857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E45C20-9DC3-4C93-855F-0906F529D9E0}" type="datetimeFigureOut">
              <a:rPr lang="zh-CN" altLang="en-US">
                <a:latin typeface="宋体" panose="02010600030101010101" pitchFamily="2" charset="-122"/>
                <a:sym typeface="宋体" panose="02010600030101010101" pitchFamily="2" charset="-122"/>
              </a:rPr>
            </a:fld>
            <a:endParaRPr lang="zh-CN" altLang="en-US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393156" y="6704013"/>
            <a:ext cx="4072440" cy="3857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/>
        </p:txBody>
      </p:sp>
      <p:sp>
        <p:nvSpPr>
          <p:cNvPr id="1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214988" y="6704013"/>
            <a:ext cx="3000745" cy="3857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38595A7-F137-4A1C-94F3-17BF434764D1}" type="slidenum">
              <a:rPr lang="zh-CN" altLang="en-US">
                <a:latin typeface="宋体" panose="02010600030101010101" pitchFamily="2" charset="-122"/>
                <a:sym typeface="宋体" panose="02010600030101010101" pitchFamily="2" charset="-122"/>
              </a:rPr>
            </a:fld>
            <a:endParaRPr lang="zh-CN" altLang="en-US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12867" r="5827"/>
          <a:stretch>
            <a:fillRect/>
          </a:stretch>
        </p:blipFill>
        <p:spPr>
          <a:xfrm>
            <a:off x="1" y="0"/>
            <a:ext cx="12858750" cy="721672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2176165"/>
            <a:ext cx="6429375" cy="3168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1pPr>
            <a:lvl2pPr marL="640080" marR="0" indent="-182880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2pPr>
            <a:lvl3pPr marL="1282700" marR="0" indent="-368300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3pPr>
            <a:lvl4pPr marL="1925955" marR="0" indent="-554355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4pPr>
            <a:lvl5pPr marL="2568575" marR="0" indent="-739775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9pPr>
          </a:lstStyle>
          <a:p/>
        </p:txBody>
      </p:sp>
      <p:sp>
        <p:nvSpPr>
          <p:cNvPr id="8" name="矩形 259"/>
          <p:cNvSpPr>
            <a:spLocks noChangeArrowheads="1"/>
          </p:cNvSpPr>
          <p:nvPr/>
        </p:nvSpPr>
        <p:spPr>
          <a:xfrm>
            <a:off x="236855" y="2536190"/>
            <a:ext cx="5832475" cy="1123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rmAutofit fontScale="70000"/>
          </a:bodyPr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 pitchFamily="34" charset="0"/>
              </a:defRPr>
            </a:lvl1pPr>
            <a:lvl2pPr marL="742950" indent="-28575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 pitchFamily="34" charset="0"/>
              </a:defRPr>
            </a:lvl2pPr>
            <a:lvl3pPr marL="1143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 pitchFamily="34" charset="0"/>
              </a:defRPr>
            </a:lvl3pPr>
            <a:lvl4pPr marL="1600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 pitchFamily="34" charset="0"/>
              </a:defRPr>
            </a:lvl4pPr>
            <a:lvl5pPr marL="20574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8200" dirty="0">
                <a:sym typeface="+mn-ea"/>
              </a:rPr>
              <a:t>破茧振翅划人生</a:t>
            </a:r>
            <a:endParaRPr lang="zh-CN" altLang="en-US" sz="8200" dirty="0">
              <a:sym typeface="+mn-ea"/>
            </a:endParaRPr>
          </a:p>
          <a:p>
            <a:pPr algn="ctr">
              <a:buNone/>
            </a:pPr>
            <a:endParaRPr lang="en-US" altLang="zh-CN" sz="1430" cap="all" spc="-90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方正姚体" panose="02010601030101010101" pitchFamily="2" charset="-122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98850" y="3832225"/>
            <a:ext cx="272415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——</a:t>
            </a:r>
            <a:r>
              <a:rPr lang="zh-CN" altLang="en-US"/>
              <a:t>生涯发展规划报告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36855" y="4624620"/>
            <a:ext cx="4286250" cy="64516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zh-CN" sz="1200" kern="100" dirty="0">
                <a:effectLst/>
                <a:ea typeface="等线" panose="02010600030101010101" charset="-122"/>
                <a:cs typeface="Times New Roman" panose="02020603050405020304" charset="0"/>
                <a:sym typeface="+mn-ea"/>
              </a:rPr>
              <a:t>学号：</a:t>
            </a:r>
            <a:r>
              <a:rPr lang="en-US" altLang="zh-CN" sz="1200" kern="100" dirty="0">
                <a:effectLst/>
                <a:ea typeface="等线" panose="02010600030101010101" charset="-122"/>
                <a:cs typeface="Times New Roman" panose="02020603050405020304" charset="0"/>
                <a:sym typeface="+mn-ea"/>
              </a:rPr>
              <a:t>23009201082     </a:t>
            </a:r>
            <a:r>
              <a:rPr lang="zh-CN" altLang="zh-CN" sz="1200" kern="100" dirty="0">
                <a:effectLst/>
                <a:ea typeface="等线" panose="02010600030101010101" charset="-122"/>
                <a:cs typeface="Times New Roman" panose="02020603050405020304" charset="0"/>
                <a:sym typeface="+mn-ea"/>
              </a:rPr>
              <a:t>书院：丁香书院</a:t>
            </a:r>
            <a:endParaRPr lang="zh-CN" altLang="zh-CN" sz="1200" kern="100" dirty="0">
              <a:effectLst/>
              <a:ea typeface="等线" panose="02010600030101010101" charset="-122"/>
              <a:cs typeface="Times New Roman" panose="02020603050405020304" charset="0"/>
              <a:sym typeface="+mn-ea"/>
            </a:endParaRPr>
          </a:p>
          <a:p>
            <a:pPr algn="l"/>
            <a:r>
              <a:rPr lang="zh-CN" altLang="zh-CN" sz="1200" kern="100" dirty="0">
                <a:effectLst/>
                <a:ea typeface="等线" panose="02010600030101010101" charset="-122"/>
                <a:cs typeface="Times New Roman" panose="02020603050405020304" charset="0"/>
                <a:sym typeface="+mn-ea"/>
              </a:rPr>
              <a:t>电话：</a:t>
            </a:r>
            <a:r>
              <a:rPr lang="en-US" altLang="zh-CN" sz="1200" kern="100" dirty="0">
                <a:effectLst/>
                <a:ea typeface="等线" panose="02010600030101010101" charset="-122"/>
                <a:cs typeface="Times New Roman" panose="02020603050405020304" charset="0"/>
                <a:sym typeface="+mn-ea"/>
              </a:rPr>
              <a:t>18392365865     </a:t>
            </a:r>
            <a:r>
              <a:rPr lang="zh-CN" altLang="zh-CN" sz="1200" kern="100" dirty="0">
                <a:effectLst/>
                <a:ea typeface="等线" panose="02010600030101010101" charset="-122"/>
                <a:cs typeface="Times New Roman" panose="02020603050405020304" charset="0"/>
                <a:sym typeface="+mn-ea"/>
              </a:rPr>
              <a:t>年级：大一</a:t>
            </a:r>
            <a:endParaRPr lang="zh-CN" altLang="zh-CN" sz="1200" kern="100" dirty="0">
              <a:effectLst/>
              <a:ea typeface="等线" panose="02010600030101010101" charset="-122"/>
              <a:cs typeface="Times New Roman" panose="02020603050405020304" charset="0"/>
              <a:sym typeface="+mn-ea"/>
            </a:endParaRPr>
          </a:p>
          <a:p>
            <a:pPr algn="l"/>
            <a:r>
              <a:rPr lang="zh-CN" altLang="zh-CN" sz="1200" kern="100" dirty="0">
                <a:effectLst/>
                <a:ea typeface="等线" panose="02010600030101010101" charset="-122"/>
                <a:cs typeface="Times New Roman" panose="02020603050405020304" charset="0"/>
                <a:sym typeface="+mn-ea"/>
              </a:rPr>
              <a:t>参加赛道：成长赛道</a:t>
            </a:r>
            <a:endParaRPr lang="zh-CN" altLang="en-US" sz="1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300" fill="hold"/>
                                        <p:tgtEl>
                                          <p:spTgt spid="4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" presetID="14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 prLst="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dvAuto="0"/>
      <p:bldP spid="8" grpId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67533" y="887468"/>
            <a:ext cx="11122482" cy="0"/>
          </a:xfrm>
          <a:prstGeom prst="line">
            <a:avLst/>
          </a:prstGeom>
          <a:ln>
            <a:solidFill>
              <a:srgbClr val="19AA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313309" y="324110"/>
            <a:ext cx="609600" cy="609600"/>
          </a:xfrm>
          <a:prstGeom prst="ellipse">
            <a:avLst/>
          </a:prstGeom>
          <a:solidFill>
            <a:srgbClr val="AAC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/>
        </p:txBody>
      </p:sp>
      <p:sp>
        <p:nvSpPr>
          <p:cNvPr id="5" name="Text Placeholder 12"/>
          <p:cNvSpPr txBox="1"/>
          <p:nvPr/>
        </p:nvSpPr>
        <p:spPr>
          <a:xfrm>
            <a:off x="383590" y="434207"/>
            <a:ext cx="491339" cy="406925"/>
          </a:xfrm>
          <a:prstGeom prst="rect">
            <a:avLst/>
          </a:prstGeom>
        </p:spPr>
        <p:txBody>
          <a:bodyPr lIns="0" tIns="60958" rIns="0" bIns="60958" anchor="ctr">
            <a:normAutofit fontScale="72500"/>
          </a:bodyPr>
          <a:lstStyle>
            <a:defPPr>
              <a:defRPr lang="zh-CN"/>
            </a:defPPr>
            <a:lvl1pPr marL="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800" b="0" kern="1200" baseline="0">
                <a:solidFill>
                  <a:schemeClr val="tx1"/>
                </a:solidFill>
                <a:latin typeface="Aller Light" panose="02000503000000020004" pitchFamily="2" charset="0"/>
                <a:ea typeface="Roboto" pitchFamily="2" charset="0"/>
                <a:cs typeface="+mn-cs"/>
              </a:defRPr>
            </a:lvl1pPr>
            <a:lvl2pPr marL="3429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200" b="0">
                <a:solidFill>
                  <a:schemeClr val="bg1"/>
                </a:solidFill>
                <a:latin typeface="宋体" panose="02010600030101010101" pitchFamily="2" charset="-122"/>
                <a:ea typeface="微软雅黑" panose="020B0503020204020204" charset="-122"/>
                <a:sym typeface="宋体" panose="02010600030101010101" pitchFamily="2" charset="-122"/>
              </a:rPr>
              <a:t>录</a:t>
            </a:r>
            <a:endParaRPr lang="zh-CN" altLang="zh-CN" sz="2200" b="0">
              <a:solidFill>
                <a:schemeClr val="bg1"/>
              </a:solidFill>
              <a:latin typeface="宋体" panose="02010600030101010101" pitchFamily="2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" name="箭头: 左 2"/>
          <p:cNvSpPr/>
          <p:nvPr/>
        </p:nvSpPr>
        <p:spPr>
          <a:xfrm>
            <a:off x="8661623" y="6440562"/>
            <a:ext cx="4104456" cy="792088"/>
          </a:xfrm>
          <a:prstGeom prst="leftArrow">
            <a:avLst/>
          </a:prstGeom>
          <a:solidFill>
            <a:schemeClr val="bg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文本框 7"/>
          <p:cNvSpPr txBox="1"/>
          <p:nvPr/>
        </p:nvSpPr>
        <p:spPr>
          <a:xfrm>
            <a:off x="1067533" y="324110"/>
            <a:ext cx="11122482" cy="563357"/>
          </a:xfrm>
          <a:prstGeom prst="rect">
            <a:avLst/>
          </a:prstGeom>
          <a:noFill/>
        </p:spPr>
        <p:txBody>
          <a:bodyPr wrap="square" rtlCol="0">
            <a:normAutofit fontScale="87500"/>
          </a:bodyPr>
          <a:lstStyle/>
          <a:p>
            <a:pPr algn="ctr"/>
            <a:r>
              <a:rPr lang="zh-CN" altLang="zh-CN" sz="3200">
                <a:latin typeface="宋体" panose="02010600030101010101" pitchFamily="2" charset="-122"/>
                <a:sym typeface="宋体" panose="02010600030101010101" pitchFamily="2" charset="-122"/>
              </a:rPr>
              <a:t>目录</a:t>
            </a:r>
            <a:endParaRPr lang="zh-CN" altLang="zh-CN" sz="320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9" name="New shape"/>
          <p:cNvSpPr/>
          <p:nvPr/>
        </p:nvSpPr>
        <p:spPr>
          <a:xfrm>
            <a:off x="3649980" y="5272405"/>
            <a:ext cx="4878070" cy="76200"/>
          </a:xfrm>
          <a:prstGeom prst="rect">
            <a:avLst/>
          </a:prstGeom>
          <a:solidFill>
            <a:srgbClr val="4E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New shape"/>
          <p:cNvSpPr/>
          <p:nvPr/>
        </p:nvSpPr>
        <p:spPr>
          <a:xfrm>
            <a:off x="1117600" y="1351280"/>
            <a:ext cx="9956800" cy="491363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indent="0" algn="ctr">
              <a:lnSpc>
                <a:spcPct val="120000"/>
              </a:lnSpc>
            </a:pPr>
            <a:r>
              <a:rPr sz="4800" b="1">
                <a:solidFill>
                  <a:srgbClr val="000000"/>
                </a:solidFill>
                <a:latin typeface="宋体" panose="02010600030101010101" pitchFamily="2" charset="-122"/>
              </a:rPr>
              <a:t>一、我的职业目标</a:t>
            </a:r>
            <a:endParaRPr sz="48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indent="0" algn="ctr">
              <a:lnSpc>
                <a:spcPct val="120000"/>
              </a:lnSpc>
            </a:pPr>
            <a:r>
              <a:rPr lang="zh-CN" sz="4800" b="1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二</a:t>
            </a:r>
            <a:r>
              <a:rPr sz="4800" b="1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、我的成长实践</a:t>
            </a:r>
            <a:endParaRPr sz="4800" b="1">
              <a:solidFill>
                <a:srgbClr val="000000"/>
              </a:solidFill>
              <a:latin typeface="宋体" panose="02010600030101010101" pitchFamily="2" charset="-122"/>
              <a:sym typeface="+mn-ea"/>
            </a:endParaRPr>
          </a:p>
          <a:p>
            <a:pPr indent="0" algn="ctr">
              <a:lnSpc>
                <a:spcPct val="120000"/>
              </a:lnSpc>
            </a:pPr>
            <a:r>
              <a:rPr lang="zh-CN" sz="4800" b="1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三</a:t>
            </a:r>
            <a:r>
              <a:rPr sz="4800" b="1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、我的成长计划</a:t>
            </a:r>
            <a:endParaRPr sz="48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 advAuto="0"/>
      <p:bldP spid="10" grpId="1" bldLvl="0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67533" y="887468"/>
            <a:ext cx="11122482" cy="0"/>
          </a:xfrm>
          <a:prstGeom prst="line">
            <a:avLst/>
          </a:prstGeom>
          <a:ln>
            <a:solidFill>
              <a:srgbClr val="19AA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313309" y="324110"/>
            <a:ext cx="609600" cy="609600"/>
          </a:xfrm>
          <a:prstGeom prst="ellipse">
            <a:avLst/>
          </a:prstGeom>
          <a:solidFill>
            <a:srgbClr val="AAC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/>
        </p:txBody>
      </p:sp>
      <p:sp>
        <p:nvSpPr>
          <p:cNvPr id="5" name="Text Placeholder 12"/>
          <p:cNvSpPr txBox="1"/>
          <p:nvPr/>
        </p:nvSpPr>
        <p:spPr>
          <a:xfrm>
            <a:off x="383590" y="434207"/>
            <a:ext cx="491339" cy="406925"/>
          </a:xfrm>
          <a:prstGeom prst="rect">
            <a:avLst/>
          </a:prstGeom>
        </p:spPr>
        <p:txBody>
          <a:bodyPr lIns="0" tIns="60958" rIns="0" bIns="60958" anchor="ctr">
            <a:normAutofit fontScale="77500"/>
          </a:bodyPr>
          <a:lstStyle>
            <a:defPPr>
              <a:defRPr lang="zh-CN"/>
            </a:defPPr>
            <a:lvl1pPr marL="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800" b="0" kern="1200" baseline="0">
                <a:solidFill>
                  <a:schemeClr val="tx1"/>
                </a:solidFill>
                <a:latin typeface="Aller Light" panose="02000503000000020004" pitchFamily="2" charset="0"/>
                <a:ea typeface="Roboto" pitchFamily="2" charset="0"/>
                <a:cs typeface="+mn-cs"/>
              </a:defRPr>
            </a:lvl1pPr>
            <a:lvl2pPr marL="3429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200" b="0">
                <a:solidFill>
                  <a:schemeClr val="bg1"/>
                </a:solidFill>
                <a:latin typeface="宋体" panose="02010600030101010101" pitchFamily="2" charset="-122"/>
                <a:ea typeface="微软雅黑" panose="020B0503020204020204" charset="-122"/>
                <a:sym typeface="宋体" panose="02010600030101010101" pitchFamily="2" charset="-122"/>
              </a:rPr>
              <a:t>源</a:t>
            </a:r>
            <a:endParaRPr lang="zh-CN" altLang="zh-CN" sz="2200" b="0">
              <a:solidFill>
                <a:schemeClr val="bg1"/>
              </a:solidFill>
              <a:latin typeface="宋体" panose="02010600030101010101" pitchFamily="2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" name="箭头: 左 2"/>
          <p:cNvSpPr/>
          <p:nvPr/>
        </p:nvSpPr>
        <p:spPr>
          <a:xfrm>
            <a:off x="8661623" y="6440562"/>
            <a:ext cx="4104456" cy="792088"/>
          </a:xfrm>
          <a:prstGeom prst="leftArrow">
            <a:avLst/>
          </a:prstGeom>
          <a:solidFill>
            <a:schemeClr val="bg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文本框 7"/>
          <p:cNvSpPr txBox="1"/>
          <p:nvPr/>
        </p:nvSpPr>
        <p:spPr>
          <a:xfrm>
            <a:off x="1067533" y="324110"/>
            <a:ext cx="11122482" cy="563357"/>
          </a:xfrm>
          <a:prstGeom prst="rect">
            <a:avLst/>
          </a:prstGeom>
          <a:noFill/>
        </p:spPr>
        <p:txBody>
          <a:bodyPr wrap="square" rtlCol="0">
            <a:normAutofit fontScale="87500"/>
          </a:bodyPr>
          <a:lstStyle/>
          <a:p>
            <a:pPr algn="ctr"/>
            <a:r>
              <a:rPr lang="zh-CN" altLang="zh-CN" sz="3200">
                <a:latin typeface="宋体" panose="02010600030101010101" pitchFamily="2" charset="-122"/>
                <a:sym typeface="宋体" panose="02010600030101010101" pitchFamily="2" charset="-122"/>
              </a:rPr>
              <a:t>我的职业目标：软件工程师</a:t>
            </a:r>
            <a:endParaRPr lang="zh-CN" altLang="zh-CN" sz="320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9" name="New shape"/>
          <p:cNvSpPr/>
          <p:nvPr/>
        </p:nvSpPr>
        <p:spPr>
          <a:xfrm>
            <a:off x="1117600" y="1816100"/>
            <a:ext cx="9956800" cy="4191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indent="0" algn="l">
              <a:lnSpc>
                <a:spcPct val="100000"/>
              </a:lnSpc>
            </a:pPr>
            <a:r>
              <a:rPr sz="3700" b="1">
                <a:solidFill>
                  <a:srgbClr val="000000"/>
                </a:solidFill>
                <a:latin typeface="宋体" panose="02010600030101010101" pitchFamily="2" charset="-122"/>
              </a:rPr>
              <a:t>（一）职业目标起源</a:t>
            </a:r>
            <a:endParaRPr sz="3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0" name="New shape"/>
          <p:cNvSpPr/>
          <p:nvPr/>
        </p:nvSpPr>
        <p:spPr>
          <a:xfrm>
            <a:off x="1117600" y="2476500"/>
            <a:ext cx="9956800" cy="3429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1">
                <a:solidFill>
                  <a:srgbClr val="000000"/>
                </a:solidFill>
                <a:latin typeface="宋体" panose="02010600030101010101" pitchFamily="2" charset="-122"/>
              </a:rPr>
              <a:t>家庭</a:t>
            </a: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：父母发掘了我对于软件编程的兴趣，鼓励我去了解</a:t>
            </a:r>
            <a:r>
              <a:rPr lang="zh-CN" sz="2100" b="0">
                <a:solidFill>
                  <a:srgbClr val="000000"/>
                </a:solidFill>
                <a:latin typeface="宋体" panose="02010600030101010101" pitchFamily="2" charset="-122"/>
              </a:rPr>
              <a:t>并</a:t>
            </a: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实践编程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New shape"/>
          <p:cNvSpPr/>
          <p:nvPr/>
        </p:nvSpPr>
        <p:spPr>
          <a:xfrm>
            <a:off x="1117600" y="2946400"/>
            <a:ext cx="9956800" cy="6858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1">
                <a:solidFill>
                  <a:srgbClr val="000000"/>
                </a:solidFill>
                <a:latin typeface="宋体" panose="02010600030101010101" pitchFamily="2" charset="-122"/>
              </a:rPr>
              <a:t>学习经历</a:t>
            </a: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：高中加入了校机器人社团，巩固了自己的编程体系，接触到硬件编程和软件编程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2" name="New shape"/>
          <p:cNvSpPr/>
          <p:nvPr/>
        </p:nvSpPr>
        <p:spPr>
          <a:xfrm>
            <a:off x="1117600" y="3759200"/>
            <a:ext cx="9956800" cy="3429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1">
                <a:solidFill>
                  <a:srgbClr val="000000"/>
                </a:solidFill>
                <a:latin typeface="宋体" panose="02010600030101010101" pitchFamily="2" charset="-122"/>
              </a:rPr>
              <a:t>专业方向</a:t>
            </a: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：计算机大类，打算分流进入软件工程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New shape"/>
          <p:cNvSpPr/>
          <p:nvPr/>
        </p:nvSpPr>
        <p:spPr>
          <a:xfrm>
            <a:off x="1117600" y="4229100"/>
            <a:ext cx="9956800" cy="6858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1">
                <a:solidFill>
                  <a:srgbClr val="000000"/>
                </a:solidFill>
                <a:latin typeface="宋体" panose="02010600030101010101" pitchFamily="2" charset="-122"/>
              </a:rPr>
              <a:t>国家需求</a:t>
            </a: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：十四五规划提出软件发展方面坚持创新驱动发展，加强产业基础研究，推进核心技术、关键产品、集成应用等体系化创新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New shape"/>
          <p:cNvSpPr/>
          <p:nvPr/>
        </p:nvSpPr>
        <p:spPr>
          <a:xfrm>
            <a:off x="1117600" y="5041900"/>
            <a:ext cx="9956800" cy="6858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1">
                <a:solidFill>
                  <a:srgbClr val="000000"/>
                </a:solidFill>
                <a:latin typeface="宋体" panose="02010600030101010101" pitchFamily="2" charset="-122"/>
              </a:rPr>
              <a:t>社会需求</a:t>
            </a: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：5G落地，整个IT行业在未来将持续释放出大量的就业岗位，促进软件工程的发展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dvAuto="0"/>
      <p:bldP spid="10" grpId="1" animBg="1" advAuto="0"/>
      <p:bldP spid="11" grpId="2" animBg="1" advAuto="0"/>
      <p:bldP spid="12" grpId="3" animBg="1" advAuto="0"/>
      <p:bldP spid="13" grpId="4" animBg="1" advAuto="0"/>
      <p:bldP spid="14" grpId="5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67533" y="887468"/>
            <a:ext cx="11122482" cy="0"/>
          </a:xfrm>
          <a:prstGeom prst="line">
            <a:avLst/>
          </a:prstGeom>
          <a:ln>
            <a:solidFill>
              <a:srgbClr val="19AA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313309" y="324110"/>
            <a:ext cx="609600" cy="609600"/>
          </a:xfrm>
          <a:prstGeom prst="ellipse">
            <a:avLst/>
          </a:prstGeom>
          <a:solidFill>
            <a:srgbClr val="AAC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/>
        </p:txBody>
      </p:sp>
      <p:sp>
        <p:nvSpPr>
          <p:cNvPr id="5" name="Text Placeholder 12"/>
          <p:cNvSpPr txBox="1"/>
          <p:nvPr/>
        </p:nvSpPr>
        <p:spPr>
          <a:xfrm>
            <a:off x="383590" y="434207"/>
            <a:ext cx="491339" cy="406925"/>
          </a:xfrm>
          <a:prstGeom prst="rect">
            <a:avLst/>
          </a:prstGeom>
        </p:spPr>
        <p:txBody>
          <a:bodyPr lIns="0" tIns="60958" rIns="0" bIns="60958" anchor="ctr">
            <a:normAutofit fontScale="77500"/>
          </a:bodyPr>
          <a:lstStyle>
            <a:defPPr>
              <a:defRPr lang="zh-CN"/>
            </a:defPPr>
            <a:lvl1pPr marL="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800" b="0" kern="1200" baseline="0">
                <a:solidFill>
                  <a:schemeClr val="tx1"/>
                </a:solidFill>
                <a:latin typeface="Aller Light" panose="02000503000000020004" pitchFamily="2" charset="0"/>
                <a:ea typeface="Roboto" pitchFamily="2" charset="0"/>
                <a:cs typeface="+mn-cs"/>
              </a:defRPr>
            </a:lvl1pPr>
            <a:lvl2pPr marL="3429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200" b="0">
                <a:solidFill>
                  <a:schemeClr val="bg1"/>
                </a:solidFill>
                <a:latin typeface="宋体" panose="02010600030101010101" pitchFamily="2" charset="-122"/>
                <a:ea typeface="微软雅黑" panose="020B0503020204020204" charset="-122"/>
                <a:sym typeface="宋体" panose="02010600030101010101" pitchFamily="2" charset="-122"/>
              </a:rPr>
              <a:t>析</a:t>
            </a:r>
            <a:endParaRPr lang="zh-CN" altLang="zh-CN" sz="2200" b="0">
              <a:solidFill>
                <a:schemeClr val="bg1"/>
              </a:solidFill>
              <a:latin typeface="宋体" panose="02010600030101010101" pitchFamily="2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" name="箭头: 左 2"/>
          <p:cNvSpPr/>
          <p:nvPr/>
        </p:nvSpPr>
        <p:spPr>
          <a:xfrm>
            <a:off x="8661623" y="6440562"/>
            <a:ext cx="4104456" cy="792088"/>
          </a:xfrm>
          <a:prstGeom prst="leftArrow">
            <a:avLst/>
          </a:prstGeom>
          <a:solidFill>
            <a:schemeClr val="bg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文本框 7"/>
          <p:cNvSpPr txBox="1"/>
          <p:nvPr/>
        </p:nvSpPr>
        <p:spPr>
          <a:xfrm>
            <a:off x="1067533" y="324110"/>
            <a:ext cx="11122482" cy="563357"/>
          </a:xfrm>
          <a:prstGeom prst="rect">
            <a:avLst/>
          </a:prstGeom>
          <a:noFill/>
        </p:spPr>
        <p:txBody>
          <a:bodyPr wrap="square" rtlCol="0">
            <a:normAutofit fontScale="87500"/>
          </a:bodyPr>
          <a:lstStyle/>
          <a:p>
            <a:pPr algn="ctr"/>
            <a:r>
              <a:rPr lang="zh-CN" altLang="zh-CN" sz="3200">
                <a:latin typeface="宋体" panose="02010600030101010101" pitchFamily="2" charset="-122"/>
                <a:sym typeface="宋体" panose="02010600030101010101" pitchFamily="2" charset="-122"/>
              </a:rPr>
              <a:t>我的职业目标：软件工程师</a:t>
            </a:r>
            <a:endParaRPr lang="zh-CN" altLang="zh-CN" sz="320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9" name="New shape"/>
          <p:cNvSpPr/>
          <p:nvPr/>
        </p:nvSpPr>
        <p:spPr>
          <a:xfrm rot="5400000">
            <a:off x="1117600" y="3822700"/>
            <a:ext cx="330200" cy="330200"/>
          </a:xfrm>
          <a:prstGeom prst="triangle">
            <a:avLst/>
          </a:prstGeom>
          <a:solidFill>
            <a:srgbClr val="4E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New shape"/>
          <p:cNvSpPr/>
          <p:nvPr/>
        </p:nvSpPr>
        <p:spPr>
          <a:xfrm rot="5400000">
            <a:off x="1117600" y="4635500"/>
            <a:ext cx="330200" cy="330200"/>
          </a:xfrm>
          <a:prstGeom prst="triangle">
            <a:avLst/>
          </a:prstGeom>
          <a:solidFill>
            <a:srgbClr val="4E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ew shape"/>
          <p:cNvSpPr/>
          <p:nvPr/>
        </p:nvSpPr>
        <p:spPr>
          <a:xfrm rot="5400000">
            <a:off x="1117600" y="5448300"/>
            <a:ext cx="330200" cy="330200"/>
          </a:xfrm>
          <a:prstGeom prst="triangle">
            <a:avLst/>
          </a:prstGeom>
          <a:solidFill>
            <a:srgbClr val="4E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7467600" y="2082800"/>
            <a:ext cx="3594100" cy="33782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</p:pic>
      <p:sp>
        <p:nvSpPr>
          <p:cNvPr id="13" name="New shape"/>
          <p:cNvSpPr/>
          <p:nvPr/>
        </p:nvSpPr>
        <p:spPr>
          <a:xfrm>
            <a:off x="1117600" y="1447800"/>
            <a:ext cx="6146800" cy="4191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indent="0" algn="l">
              <a:lnSpc>
                <a:spcPct val="100000"/>
              </a:lnSpc>
            </a:pPr>
            <a:r>
              <a:rPr sz="3700" b="1">
                <a:solidFill>
                  <a:srgbClr val="000000"/>
                </a:solidFill>
                <a:latin typeface="宋体" panose="02010600030101010101" pitchFamily="2" charset="-122"/>
              </a:rPr>
              <a:t>（二）职业目标的适配性分析</a:t>
            </a:r>
            <a:endParaRPr sz="3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New shape"/>
          <p:cNvSpPr/>
          <p:nvPr/>
        </p:nvSpPr>
        <p:spPr>
          <a:xfrm>
            <a:off x="1117600" y="2108200"/>
            <a:ext cx="6146800" cy="10287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通过资料查询得知该职业从事于软件开发相关工作，主要工作任务和内容包括：软件工程系统的设计、开发、测试，编写软件说明书等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New shape"/>
          <p:cNvSpPr/>
          <p:nvPr/>
        </p:nvSpPr>
        <p:spPr>
          <a:xfrm>
            <a:off x="1117600" y="3263900"/>
            <a:ext cx="6146800" cy="3429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结合招聘要求得知，该岗位对从业者的能力要求包括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6" name="New shape"/>
          <p:cNvSpPr/>
          <p:nvPr/>
        </p:nvSpPr>
        <p:spPr>
          <a:xfrm>
            <a:off x="1524000" y="3797300"/>
            <a:ext cx="5740400" cy="660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专业知识技能：CSS、HTML、JAVASCRIPT、AJAX、HIBERNATE、SPRING等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7" name="New shape"/>
          <p:cNvSpPr/>
          <p:nvPr/>
        </p:nvSpPr>
        <p:spPr>
          <a:xfrm>
            <a:off x="1524000" y="4610100"/>
            <a:ext cx="5740400" cy="660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可迁移技能：C，C++，JAVA等编程语言，Linux系统的使用，数据库技术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New shape"/>
          <p:cNvSpPr/>
          <p:nvPr/>
        </p:nvSpPr>
        <p:spPr>
          <a:xfrm>
            <a:off x="1524000" y="5422900"/>
            <a:ext cx="5740400" cy="660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自我管理技能：基本文档写作能力，钻研前沿技术的能力，抗压能力，团队合作能力等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3" presetClass="entr" presetSubtype="16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dvAuto="0"/>
      <p:bldP spid="10" grpId="1" animBg="1" advAuto="0"/>
      <p:bldP spid="11" grpId="2" animBg="1" advAuto="0"/>
      <p:bldP spid="12" grpId="3" animBg="1" advAuto="0"/>
      <p:bldP spid="13" grpId="4" animBg="1" advAuto="0"/>
      <p:bldP spid="14" grpId="5" animBg="1" advAuto="0"/>
      <p:bldP spid="15" grpId="6" animBg="1" advAuto="0"/>
      <p:bldP spid="16" grpId="7" animBg="1" advAuto="0"/>
      <p:bldP spid="17" grpId="8" animBg="1" advAuto="0"/>
      <p:bldP spid="18" grpId="9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67533" y="887468"/>
            <a:ext cx="11122482" cy="0"/>
          </a:xfrm>
          <a:prstGeom prst="line">
            <a:avLst/>
          </a:prstGeom>
          <a:ln>
            <a:solidFill>
              <a:srgbClr val="19AA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313309" y="324110"/>
            <a:ext cx="609600" cy="609600"/>
          </a:xfrm>
          <a:prstGeom prst="ellipse">
            <a:avLst/>
          </a:prstGeom>
          <a:solidFill>
            <a:srgbClr val="AAC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/>
        </p:txBody>
      </p:sp>
      <p:sp>
        <p:nvSpPr>
          <p:cNvPr id="5" name="Text Placeholder 12"/>
          <p:cNvSpPr txBox="1"/>
          <p:nvPr/>
        </p:nvSpPr>
        <p:spPr>
          <a:xfrm>
            <a:off x="383590" y="434207"/>
            <a:ext cx="491339" cy="406925"/>
          </a:xfrm>
          <a:prstGeom prst="rect">
            <a:avLst/>
          </a:prstGeom>
        </p:spPr>
        <p:txBody>
          <a:bodyPr lIns="0" tIns="60958" rIns="0" bIns="60958" anchor="ctr">
            <a:normAutofit fontScale="77500"/>
          </a:bodyPr>
          <a:lstStyle>
            <a:defPPr>
              <a:defRPr lang="zh-CN"/>
            </a:defPPr>
            <a:lvl1pPr marL="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800" b="0" kern="1200" baseline="0">
                <a:solidFill>
                  <a:schemeClr val="tx1"/>
                </a:solidFill>
                <a:latin typeface="Aller Light" panose="02000503000000020004" pitchFamily="2" charset="0"/>
                <a:ea typeface="Roboto" pitchFamily="2" charset="0"/>
                <a:cs typeface="+mn-cs"/>
              </a:defRPr>
            </a:lvl1pPr>
            <a:lvl2pPr marL="3429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200" b="0">
                <a:solidFill>
                  <a:schemeClr val="bg1"/>
                </a:solidFill>
                <a:latin typeface="宋体" panose="02010600030101010101" pitchFamily="2" charset="-122"/>
                <a:ea typeface="微软雅黑" panose="020B0503020204020204" charset="-122"/>
                <a:sym typeface="宋体" panose="02010600030101010101" pitchFamily="2" charset="-122"/>
              </a:rPr>
              <a:t>析</a:t>
            </a:r>
            <a:endParaRPr lang="zh-CN" altLang="zh-CN" sz="2200" b="0">
              <a:solidFill>
                <a:schemeClr val="bg1"/>
              </a:solidFill>
              <a:latin typeface="宋体" panose="02010600030101010101" pitchFamily="2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" name="箭头: 左 2"/>
          <p:cNvSpPr/>
          <p:nvPr/>
        </p:nvSpPr>
        <p:spPr>
          <a:xfrm>
            <a:off x="8661623" y="6440562"/>
            <a:ext cx="4104456" cy="792088"/>
          </a:xfrm>
          <a:prstGeom prst="leftArrow">
            <a:avLst/>
          </a:prstGeom>
          <a:solidFill>
            <a:schemeClr val="bg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文本框 7"/>
          <p:cNvSpPr txBox="1"/>
          <p:nvPr/>
        </p:nvSpPr>
        <p:spPr>
          <a:xfrm>
            <a:off x="1067533" y="324110"/>
            <a:ext cx="11122482" cy="563357"/>
          </a:xfrm>
          <a:prstGeom prst="rect">
            <a:avLst/>
          </a:prstGeom>
          <a:noFill/>
        </p:spPr>
        <p:txBody>
          <a:bodyPr wrap="square" rtlCol="0">
            <a:normAutofit fontScale="87500"/>
          </a:bodyPr>
          <a:lstStyle/>
          <a:p>
            <a:pPr algn="ctr"/>
            <a:r>
              <a:rPr lang="zh-CN" altLang="zh-CN" sz="3200">
                <a:latin typeface="宋体" panose="02010600030101010101" pitchFamily="2" charset="-122"/>
                <a:sym typeface="宋体" panose="02010600030101010101" pitchFamily="2" charset="-122"/>
              </a:rPr>
              <a:t>我的职业目标：软件工程师</a:t>
            </a:r>
            <a:endParaRPr lang="zh-CN" altLang="zh-CN" sz="320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9" name="New shape"/>
          <p:cNvSpPr/>
          <p:nvPr/>
        </p:nvSpPr>
        <p:spPr>
          <a:xfrm>
            <a:off x="1117600" y="1959610"/>
            <a:ext cx="9956800" cy="3429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/>
          <a:p>
            <a:pPr indent="0" algn="l">
              <a:lnSpc>
                <a:spcPct val="125000"/>
              </a:lnSpc>
            </a:pPr>
            <a:r>
              <a:rPr sz="2700" b="1">
                <a:solidFill>
                  <a:srgbClr val="000000"/>
                </a:solidFill>
                <a:latin typeface="宋体" panose="02010600030101010101" pitchFamily="2" charset="-122"/>
              </a:rPr>
              <a:t>我的个人适配性分析</a:t>
            </a:r>
            <a:endParaRPr sz="2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0" name="New shape"/>
          <p:cNvSpPr/>
          <p:nvPr/>
        </p:nvSpPr>
        <p:spPr>
          <a:xfrm>
            <a:off x="1117600" y="2870200"/>
            <a:ext cx="9956800" cy="3429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1. 专业：计算机大类，打算进入软件工程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New shape"/>
          <p:cNvSpPr/>
          <p:nvPr/>
        </p:nvSpPr>
        <p:spPr>
          <a:xfrm>
            <a:off x="1117600" y="3340100"/>
            <a:ext cx="9956800" cy="3429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2. 兴趣特点：喜欢钻研新技术，做网站研究算法等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2" name="New shape"/>
          <p:cNvSpPr/>
          <p:nvPr/>
        </p:nvSpPr>
        <p:spPr>
          <a:xfrm>
            <a:off x="1117600" y="3810000"/>
            <a:ext cx="9956800" cy="3429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3. 能力：能吃苦，有领导能力，能撰写文本，能抗压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New shape"/>
          <p:cNvSpPr/>
          <p:nvPr/>
        </p:nvSpPr>
        <p:spPr>
          <a:xfrm>
            <a:off x="1117600" y="4279900"/>
            <a:ext cx="9956800" cy="3429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4. 他人评价：观点犀利，思想深邃，执行力强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237980" y="1887855"/>
            <a:ext cx="1574165" cy="3028950"/>
          </a:xfrm>
          <a:prstGeom prst="rect">
            <a:avLst/>
          </a:prstGeom>
        </p:spPr>
        <p:txBody>
          <a:bodyPr vert="eaVert">
            <a:noAutofit/>
            <a:scene3d>
              <a:camera prst="orthographicFront"/>
              <a:lightRig rig="threePt" dir="t"/>
            </a:scene3d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sz="2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+mn-ea"/>
              </a:rPr>
              <a:t>以上分析证明</a:t>
            </a:r>
            <a:endParaRPr sz="28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sym typeface="+mn-ea"/>
            </a:endParaRPr>
          </a:p>
          <a:p>
            <a:pPr algn="ctr"/>
            <a:r>
              <a:rPr lang="zh-CN" sz="2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+mn-ea"/>
              </a:rPr>
              <a:t>本人</a:t>
            </a:r>
            <a:r>
              <a:rPr sz="2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sym typeface="+mn-ea"/>
              </a:rPr>
              <a:t>与职业相适配</a:t>
            </a:r>
            <a:endParaRPr sz="28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</a:endParaRPr>
          </a:p>
          <a:p>
            <a:pPr algn="ctr"/>
            <a:endParaRPr lang="zh-CN" altLang="en-US" sz="28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 advAuto="0"/>
      <p:bldP spid="10" grpId="1" animBg="1" advAuto="0"/>
      <p:bldP spid="11" grpId="2" animBg="1" advAuto="0"/>
      <p:bldP spid="12" grpId="3" animBg="1" advAuto="0"/>
      <p:bldP spid="13" grpId="4" animBg="1" advAuto="0"/>
      <p:bldP spid="6" grpId="0"/>
      <p:bldP spid="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67533" y="887468"/>
            <a:ext cx="11122482" cy="0"/>
          </a:xfrm>
          <a:prstGeom prst="line">
            <a:avLst/>
          </a:prstGeom>
          <a:ln>
            <a:solidFill>
              <a:srgbClr val="19AA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313309" y="324110"/>
            <a:ext cx="609600" cy="609600"/>
          </a:xfrm>
          <a:prstGeom prst="ellipse">
            <a:avLst/>
          </a:prstGeom>
          <a:solidFill>
            <a:srgbClr val="AAC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/>
        </p:txBody>
      </p:sp>
      <p:sp>
        <p:nvSpPr>
          <p:cNvPr id="5" name="Text Placeholder 12"/>
          <p:cNvSpPr txBox="1"/>
          <p:nvPr/>
        </p:nvSpPr>
        <p:spPr>
          <a:xfrm>
            <a:off x="383590" y="434207"/>
            <a:ext cx="491339" cy="406925"/>
          </a:xfrm>
          <a:prstGeom prst="rect">
            <a:avLst/>
          </a:prstGeom>
        </p:spPr>
        <p:txBody>
          <a:bodyPr lIns="0" tIns="60958" rIns="0" bIns="60958" anchor="ctr">
            <a:normAutofit fontScale="77500"/>
          </a:bodyPr>
          <a:lstStyle>
            <a:defPPr>
              <a:defRPr lang="zh-CN"/>
            </a:defPPr>
            <a:lvl1pPr marL="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800" b="0" kern="1200" baseline="0">
                <a:solidFill>
                  <a:schemeClr val="tx1"/>
                </a:solidFill>
                <a:latin typeface="Aller Light" panose="02000503000000020004" pitchFamily="2" charset="0"/>
                <a:ea typeface="Roboto" pitchFamily="2" charset="0"/>
                <a:cs typeface="+mn-cs"/>
              </a:defRPr>
            </a:lvl1pPr>
            <a:lvl2pPr marL="3429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200" b="0">
                <a:solidFill>
                  <a:schemeClr val="bg1"/>
                </a:solidFill>
                <a:latin typeface="宋体" panose="02010600030101010101" pitchFamily="2" charset="-122"/>
                <a:ea typeface="微软雅黑" panose="020B0503020204020204" charset="-122"/>
                <a:sym typeface="宋体" panose="02010600030101010101" pitchFamily="2" charset="-122"/>
              </a:rPr>
              <a:t>划</a:t>
            </a:r>
            <a:endParaRPr lang="zh-CN" altLang="zh-CN" sz="2200" b="0">
              <a:solidFill>
                <a:schemeClr val="bg1"/>
              </a:solidFill>
              <a:latin typeface="宋体" panose="02010600030101010101" pitchFamily="2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" name="箭头: 左 2"/>
          <p:cNvSpPr/>
          <p:nvPr/>
        </p:nvSpPr>
        <p:spPr>
          <a:xfrm>
            <a:off x="8661623" y="6440562"/>
            <a:ext cx="4104456" cy="792088"/>
          </a:xfrm>
          <a:prstGeom prst="leftArrow">
            <a:avLst/>
          </a:prstGeom>
          <a:solidFill>
            <a:schemeClr val="bg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文本框 7"/>
          <p:cNvSpPr txBox="1"/>
          <p:nvPr/>
        </p:nvSpPr>
        <p:spPr>
          <a:xfrm>
            <a:off x="1067533" y="324110"/>
            <a:ext cx="11122482" cy="563357"/>
          </a:xfrm>
          <a:prstGeom prst="rect">
            <a:avLst/>
          </a:prstGeom>
          <a:noFill/>
        </p:spPr>
        <p:txBody>
          <a:bodyPr wrap="square" rtlCol="0">
            <a:normAutofit fontScale="87500"/>
          </a:bodyPr>
          <a:lstStyle/>
          <a:p>
            <a:pPr algn="ctr">
              <a:buNone/>
            </a:pPr>
            <a:r>
              <a:rPr lang="zh-CN" altLang="en-US" sz="3200" dirty="0">
                <a:sym typeface="+mn-ea"/>
              </a:rPr>
              <a:t>破茧振翅划人生</a:t>
            </a:r>
            <a:endParaRPr lang="zh-CN" altLang="zh-CN" sz="320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9" name="New shape"/>
          <p:cNvSpPr/>
          <p:nvPr/>
        </p:nvSpPr>
        <p:spPr>
          <a:xfrm>
            <a:off x="1117600" y="3352800"/>
            <a:ext cx="9956800" cy="723900"/>
          </a:xfrm>
          <a:prstGeom prst="roundRect">
            <a:avLst>
              <a:gd name="adj" fmla="val 10526"/>
            </a:avLst>
          </a:prstGeom>
          <a:gradFill>
            <a:gsLst>
              <a:gs pos="100000">
                <a:srgbClr val="F2F2F2">
                  <a:alpha val="88235"/>
                </a:srgbClr>
              </a:gs>
              <a:gs pos="0">
                <a:srgbClr val="F2F2F2">
                  <a:alpha val="9804"/>
                </a:srgbClr>
              </a:gs>
            </a:gsLst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New shape"/>
          <p:cNvSpPr/>
          <p:nvPr/>
        </p:nvSpPr>
        <p:spPr>
          <a:xfrm>
            <a:off x="1168400" y="3403600"/>
            <a:ext cx="76200" cy="622300"/>
          </a:xfrm>
          <a:prstGeom prst="roundRect">
            <a:avLst>
              <a:gd name="adj" fmla="val 50000"/>
            </a:avLst>
          </a:prstGeom>
          <a:solidFill>
            <a:srgbClr val="4E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ew shape"/>
          <p:cNvSpPr/>
          <p:nvPr/>
        </p:nvSpPr>
        <p:spPr>
          <a:xfrm>
            <a:off x="1117600" y="4203700"/>
            <a:ext cx="9956800" cy="723900"/>
          </a:xfrm>
          <a:prstGeom prst="roundRect">
            <a:avLst>
              <a:gd name="adj" fmla="val 10526"/>
            </a:avLst>
          </a:prstGeom>
          <a:gradFill>
            <a:gsLst>
              <a:gs pos="100000">
                <a:srgbClr val="F2F2F2">
                  <a:alpha val="88235"/>
                </a:srgbClr>
              </a:gs>
              <a:gs pos="0">
                <a:srgbClr val="F2F2F2">
                  <a:alpha val="9804"/>
                </a:srgbClr>
              </a:gs>
            </a:gsLst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New shape"/>
          <p:cNvSpPr/>
          <p:nvPr/>
        </p:nvSpPr>
        <p:spPr>
          <a:xfrm>
            <a:off x="1168400" y="4254500"/>
            <a:ext cx="76200" cy="622300"/>
          </a:xfrm>
          <a:prstGeom prst="roundRect">
            <a:avLst>
              <a:gd name="adj" fmla="val 50000"/>
            </a:avLst>
          </a:prstGeom>
          <a:solidFill>
            <a:srgbClr val="4E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New shape"/>
          <p:cNvSpPr/>
          <p:nvPr/>
        </p:nvSpPr>
        <p:spPr>
          <a:xfrm>
            <a:off x="1101090" y="1311910"/>
            <a:ext cx="10647680" cy="1500505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indent="0" algn="l">
              <a:lnSpc>
                <a:spcPct val="100000"/>
              </a:lnSpc>
            </a:pPr>
            <a:r>
              <a:rPr sz="3700" b="1">
                <a:solidFill>
                  <a:srgbClr val="000000"/>
                </a:solidFill>
                <a:latin typeface="宋体" panose="02010600030101010101" pitchFamily="2" charset="-122"/>
              </a:rPr>
              <a:t>我的成长实践</a:t>
            </a:r>
            <a:endParaRPr sz="3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New shape"/>
          <p:cNvSpPr/>
          <p:nvPr/>
        </p:nvSpPr>
        <p:spPr>
          <a:xfrm>
            <a:off x="1435100" y="3404235"/>
            <a:ext cx="9639300" cy="6223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/>
          <a:p>
            <a:pPr indent="0" algn="l">
              <a:lnSpc>
                <a:spcPct val="125000"/>
              </a:lnSpc>
            </a:pPr>
            <a:r>
              <a:rPr sz="2700" b="0">
                <a:solidFill>
                  <a:srgbClr val="000000"/>
                </a:solidFill>
                <a:latin typeface="宋体" panose="02010600030101010101" pitchFamily="2" charset="-122"/>
              </a:rPr>
              <a:t>高中生涯</a:t>
            </a:r>
            <a:endParaRPr sz="27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New shape"/>
          <p:cNvSpPr/>
          <p:nvPr/>
        </p:nvSpPr>
        <p:spPr>
          <a:xfrm>
            <a:off x="1435100" y="4253865"/>
            <a:ext cx="9639300" cy="622935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/>
          <a:p>
            <a:pPr indent="0" algn="l">
              <a:lnSpc>
                <a:spcPct val="125000"/>
              </a:lnSpc>
            </a:pPr>
            <a:r>
              <a:rPr sz="2700" b="0">
                <a:solidFill>
                  <a:srgbClr val="000000"/>
                </a:solidFill>
                <a:latin typeface="宋体" panose="02010600030101010101" pitchFamily="2" charset="-122"/>
              </a:rPr>
              <a:t>大学生涯</a:t>
            </a:r>
            <a:endParaRPr sz="27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dvAuto="0"/>
      <p:bldP spid="10" grpId="1" animBg="1" advAuto="0"/>
      <p:bldP spid="11" grpId="2" animBg="1" advAuto="0"/>
      <p:bldP spid="12" grpId="3" animBg="1" advAuto="0"/>
      <p:bldP spid="13" grpId="4" bldLvl="0" animBg="1" advAuto="0"/>
      <p:bldP spid="14" grpId="5" bldLvl="0" animBg="1" advAuto="0"/>
      <p:bldP spid="15" grpId="6" bldLvl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67533" y="887468"/>
            <a:ext cx="11122482" cy="0"/>
          </a:xfrm>
          <a:prstGeom prst="line">
            <a:avLst/>
          </a:prstGeom>
          <a:ln>
            <a:solidFill>
              <a:srgbClr val="19AA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313309" y="324110"/>
            <a:ext cx="609600" cy="609600"/>
          </a:xfrm>
          <a:prstGeom prst="ellipse">
            <a:avLst/>
          </a:prstGeom>
          <a:solidFill>
            <a:srgbClr val="AAC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/>
        </p:txBody>
      </p:sp>
      <p:sp>
        <p:nvSpPr>
          <p:cNvPr id="5" name="Text Placeholder 12"/>
          <p:cNvSpPr txBox="1"/>
          <p:nvPr/>
        </p:nvSpPr>
        <p:spPr>
          <a:xfrm>
            <a:off x="383590" y="434207"/>
            <a:ext cx="491339" cy="406925"/>
          </a:xfrm>
          <a:prstGeom prst="rect">
            <a:avLst/>
          </a:prstGeom>
        </p:spPr>
        <p:txBody>
          <a:bodyPr lIns="0" tIns="60958" rIns="0" bIns="60958" anchor="ctr">
            <a:normAutofit fontScale="77500"/>
          </a:bodyPr>
          <a:lstStyle>
            <a:defPPr>
              <a:defRPr lang="zh-CN"/>
            </a:defPPr>
            <a:lvl1pPr marL="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800" b="0" kern="1200" baseline="0">
                <a:solidFill>
                  <a:schemeClr val="tx1"/>
                </a:solidFill>
                <a:latin typeface="Aller Light" panose="02000503000000020004" pitchFamily="2" charset="0"/>
                <a:ea typeface="Roboto" pitchFamily="2" charset="0"/>
                <a:cs typeface="+mn-cs"/>
              </a:defRPr>
            </a:lvl1pPr>
            <a:lvl2pPr marL="3429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200" b="0">
                <a:solidFill>
                  <a:schemeClr val="bg1"/>
                </a:solidFill>
                <a:latin typeface="宋体" panose="02010600030101010101" pitchFamily="2" charset="-122"/>
                <a:ea typeface="微软雅黑" panose="020B0503020204020204" charset="-122"/>
                <a:sym typeface="宋体" panose="02010600030101010101" pitchFamily="2" charset="-122"/>
              </a:rPr>
              <a:t>高</a:t>
            </a:r>
            <a:endParaRPr lang="zh-CN" altLang="zh-CN" sz="2200" b="0">
              <a:solidFill>
                <a:schemeClr val="bg1"/>
              </a:solidFill>
              <a:latin typeface="宋体" panose="02010600030101010101" pitchFamily="2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" name="箭头: 左 2"/>
          <p:cNvSpPr/>
          <p:nvPr/>
        </p:nvSpPr>
        <p:spPr>
          <a:xfrm>
            <a:off x="8661623" y="6440562"/>
            <a:ext cx="4104456" cy="792088"/>
          </a:xfrm>
          <a:prstGeom prst="leftArrow">
            <a:avLst/>
          </a:prstGeom>
          <a:solidFill>
            <a:schemeClr val="bg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文本框 7"/>
          <p:cNvSpPr txBox="1"/>
          <p:nvPr/>
        </p:nvSpPr>
        <p:spPr>
          <a:xfrm>
            <a:off x="1067533" y="324110"/>
            <a:ext cx="11122482" cy="563357"/>
          </a:xfrm>
          <a:prstGeom prst="rect">
            <a:avLst/>
          </a:prstGeom>
          <a:noFill/>
        </p:spPr>
        <p:txBody>
          <a:bodyPr wrap="square" rtlCol="0">
            <a:normAutofit fontScale="87500"/>
          </a:bodyPr>
          <a:lstStyle/>
          <a:p>
            <a:pPr algn="ctr"/>
            <a:r>
              <a:rPr lang="zh-CN" altLang="zh-CN" sz="3200">
                <a:latin typeface="宋体" panose="02010600030101010101" pitchFamily="2" charset="-122"/>
                <a:sym typeface="宋体" panose="02010600030101010101" pitchFamily="2" charset="-122"/>
              </a:rPr>
              <a:t>我的成长实践</a:t>
            </a:r>
            <a:endParaRPr lang="zh-CN" altLang="zh-CN" sz="320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9" name="New shape"/>
          <p:cNvSpPr/>
          <p:nvPr/>
        </p:nvSpPr>
        <p:spPr>
          <a:xfrm>
            <a:off x="5130800" y="2921000"/>
            <a:ext cx="1930400" cy="101600"/>
          </a:xfrm>
          <a:prstGeom prst="rect">
            <a:avLst/>
          </a:prstGeom>
          <a:solidFill>
            <a:srgbClr val="4E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New shape"/>
          <p:cNvSpPr/>
          <p:nvPr/>
        </p:nvSpPr>
        <p:spPr>
          <a:xfrm>
            <a:off x="1117600" y="2387600"/>
            <a:ext cx="9956800" cy="533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5000"/>
          </a:bodyPr>
          <a:lstStyle/>
          <a:p>
            <a:pPr indent="0" algn="ctr">
              <a:lnSpc>
                <a:spcPct val="120000"/>
              </a:lnSpc>
            </a:pPr>
            <a:r>
              <a:rPr sz="3700" b="1">
                <a:solidFill>
                  <a:srgbClr val="000000"/>
                </a:solidFill>
                <a:latin typeface="宋体" panose="02010600030101010101" pitchFamily="2" charset="-122"/>
              </a:rPr>
              <a:t>高中生涯</a:t>
            </a:r>
            <a:endParaRPr sz="3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New shape"/>
          <p:cNvSpPr/>
          <p:nvPr/>
        </p:nvSpPr>
        <p:spPr>
          <a:xfrm>
            <a:off x="1117600" y="3111500"/>
            <a:ext cx="9956800" cy="2057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/>
          </a:bodyPr>
          <a:lstStyle/>
          <a:p>
            <a:pPr indent="0" algn="l">
              <a:lnSpc>
                <a:spcPct val="125000"/>
              </a:lnSpc>
            </a:pPr>
            <a:r>
              <a:rPr lang="en-US" sz="2100" b="0">
                <a:solidFill>
                  <a:srgbClr val="000000"/>
                </a:solidFill>
                <a:latin typeface="宋体" panose="02010600030101010101" pitchFamily="2" charset="-122"/>
              </a:rPr>
              <a:t>   </a:t>
            </a: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 为了学习编程知识，我加入了机器人社团，并在担任了社长的职务。在社团我的任务有两个：学习小车的编程与WEB前端的制作以及管理社团。C语言编程有所提升，并参加竞赛拿奖，且WEB前端有了基本框架，学习了职业目标要求的专业知识技能里的CSS、HTML、JAVASCRIPT，并搭建了博客。通过管理社团学到了大量的管理经验，并认清当时领导能力中出现的一些问题，之后加以反思改进，符合职业目标中自我管理技能所要求的团队精神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dvAuto="0"/>
      <p:bldP spid="10" grpId="1" animBg="1" advAuto="0"/>
      <p:bldP spid="11" grpId="2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67533" y="887468"/>
            <a:ext cx="11122482" cy="0"/>
          </a:xfrm>
          <a:prstGeom prst="line">
            <a:avLst/>
          </a:prstGeom>
          <a:ln>
            <a:solidFill>
              <a:srgbClr val="19AA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313309" y="324110"/>
            <a:ext cx="609600" cy="609600"/>
          </a:xfrm>
          <a:prstGeom prst="ellipse">
            <a:avLst/>
          </a:prstGeom>
          <a:solidFill>
            <a:srgbClr val="AAC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/>
        </p:txBody>
      </p:sp>
      <p:sp>
        <p:nvSpPr>
          <p:cNvPr id="5" name="Text Placeholder 12"/>
          <p:cNvSpPr txBox="1"/>
          <p:nvPr/>
        </p:nvSpPr>
        <p:spPr>
          <a:xfrm>
            <a:off x="383590" y="434207"/>
            <a:ext cx="491339" cy="406925"/>
          </a:xfrm>
          <a:prstGeom prst="rect">
            <a:avLst/>
          </a:prstGeom>
        </p:spPr>
        <p:txBody>
          <a:bodyPr lIns="0" tIns="60958" rIns="0" bIns="60958" anchor="ctr">
            <a:normAutofit fontScale="77500"/>
          </a:bodyPr>
          <a:lstStyle>
            <a:defPPr>
              <a:defRPr lang="zh-CN"/>
            </a:defPPr>
            <a:lvl1pPr marL="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800" b="0" kern="1200" baseline="0">
                <a:solidFill>
                  <a:schemeClr val="tx1"/>
                </a:solidFill>
                <a:latin typeface="Aller Light" panose="02000503000000020004" pitchFamily="2" charset="0"/>
                <a:ea typeface="Roboto" pitchFamily="2" charset="0"/>
                <a:cs typeface="+mn-cs"/>
              </a:defRPr>
            </a:lvl1pPr>
            <a:lvl2pPr marL="3429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200" b="0">
                <a:solidFill>
                  <a:schemeClr val="bg1"/>
                </a:solidFill>
                <a:latin typeface="宋体" panose="02010600030101010101" pitchFamily="2" charset="-122"/>
                <a:ea typeface="微软雅黑" panose="020B0503020204020204" charset="-122"/>
                <a:sym typeface="宋体" panose="02010600030101010101" pitchFamily="2" charset="-122"/>
              </a:rPr>
              <a:t>高</a:t>
            </a:r>
            <a:endParaRPr lang="zh-CN" altLang="zh-CN" sz="2200" b="0">
              <a:solidFill>
                <a:schemeClr val="bg1"/>
              </a:solidFill>
              <a:latin typeface="宋体" panose="02010600030101010101" pitchFamily="2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" name="箭头: 左 2"/>
          <p:cNvSpPr/>
          <p:nvPr/>
        </p:nvSpPr>
        <p:spPr>
          <a:xfrm>
            <a:off x="8661623" y="6440562"/>
            <a:ext cx="4104456" cy="792088"/>
          </a:xfrm>
          <a:prstGeom prst="leftArrow">
            <a:avLst/>
          </a:prstGeom>
          <a:solidFill>
            <a:schemeClr val="bg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文本框 7"/>
          <p:cNvSpPr txBox="1"/>
          <p:nvPr/>
        </p:nvSpPr>
        <p:spPr>
          <a:xfrm>
            <a:off x="1067533" y="324110"/>
            <a:ext cx="11122482" cy="563357"/>
          </a:xfrm>
          <a:prstGeom prst="rect">
            <a:avLst/>
          </a:prstGeom>
          <a:noFill/>
        </p:spPr>
        <p:txBody>
          <a:bodyPr wrap="square" rtlCol="0">
            <a:normAutofit fontScale="90000" lnSpcReduction="10000"/>
          </a:bodyPr>
          <a:lstStyle/>
          <a:p>
            <a:pPr algn="ctr"/>
            <a:r>
              <a:rPr lang="zh-CN" altLang="zh-CN" sz="3200">
                <a:latin typeface="宋体" panose="02010600030101010101" pitchFamily="2" charset="-122"/>
                <a:sym typeface="宋体" panose="02010600030101010101" pitchFamily="2" charset="-122"/>
              </a:rPr>
              <a:t>我的成长实践</a:t>
            </a:r>
          </a:p>
        </p:txBody>
      </p:sp>
      <p:sp>
        <p:nvSpPr>
          <p:cNvPr id="9" name="New shape"/>
          <p:cNvSpPr/>
          <p:nvPr/>
        </p:nvSpPr>
        <p:spPr>
          <a:xfrm>
            <a:off x="5130800" y="2679700"/>
            <a:ext cx="1930400" cy="101600"/>
          </a:xfrm>
          <a:prstGeom prst="rect">
            <a:avLst/>
          </a:prstGeom>
          <a:solidFill>
            <a:srgbClr val="4E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New shape"/>
          <p:cNvSpPr/>
          <p:nvPr/>
        </p:nvSpPr>
        <p:spPr>
          <a:xfrm>
            <a:off x="1117600" y="2146300"/>
            <a:ext cx="9956800" cy="533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5000"/>
          </a:bodyPr>
          <a:lstStyle/>
          <a:p>
            <a:pPr indent="0" algn="ctr">
              <a:lnSpc>
                <a:spcPct val="120000"/>
              </a:lnSpc>
            </a:pPr>
            <a:r>
              <a:rPr sz="3700" b="1">
                <a:solidFill>
                  <a:srgbClr val="000000"/>
                </a:solidFill>
                <a:latin typeface="宋体" panose="02010600030101010101" pitchFamily="2" charset="-122"/>
              </a:rPr>
              <a:t>高中生涯</a:t>
            </a:r>
            <a:endParaRPr sz="3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New shape"/>
          <p:cNvSpPr/>
          <p:nvPr/>
        </p:nvSpPr>
        <p:spPr>
          <a:xfrm>
            <a:off x="1117600" y="2870200"/>
            <a:ext cx="9956800" cy="10287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lang="en-US" sz="2100" b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准高三阶段，我参加了一场虚拟机器人竞赛。该竞赛要求以清晰的逻辑完成虚拟小车的编程，让它跑完整个赛道并完成沿途任务。考核了我的算法能力及思维逻辑。该比赛开始于高三初始。我均衡时间，规划学习和竞赛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2" name="New shape"/>
          <p:cNvSpPr/>
          <p:nvPr/>
        </p:nvSpPr>
        <p:spPr>
          <a:xfrm>
            <a:off x="1117600" y="4025900"/>
            <a:ext cx="9956800" cy="13716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最终，这场比赛取得了国家级一等奖，并且高三备考处于一种积极状态。首先，这个比赛极大地考核并促使我提升了编程能力，为职业目标要求的可迁移技能打好了编程基础；其次，在学习竞赛双重压力下，这场比赛增强了我的抗压能力，符合职业目标要求的自我管理技能中抗压能力这一条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dvAuto="0"/>
      <p:bldP spid="10" grpId="1" animBg="1" advAuto="0"/>
      <p:bldP spid="11" grpId="2" animBg="1" advAuto="0"/>
      <p:bldP spid="12" grpId="3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67533" y="887468"/>
            <a:ext cx="11122482" cy="0"/>
          </a:xfrm>
          <a:prstGeom prst="line">
            <a:avLst/>
          </a:prstGeom>
          <a:ln>
            <a:solidFill>
              <a:srgbClr val="19AA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313309" y="324110"/>
            <a:ext cx="609600" cy="609600"/>
          </a:xfrm>
          <a:prstGeom prst="ellipse">
            <a:avLst/>
          </a:prstGeom>
          <a:solidFill>
            <a:srgbClr val="AAC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/>
        </p:txBody>
      </p:sp>
      <p:sp>
        <p:nvSpPr>
          <p:cNvPr id="5" name="Text Placeholder 12"/>
          <p:cNvSpPr txBox="1"/>
          <p:nvPr/>
        </p:nvSpPr>
        <p:spPr>
          <a:xfrm>
            <a:off x="383590" y="434207"/>
            <a:ext cx="491339" cy="406925"/>
          </a:xfrm>
          <a:prstGeom prst="rect">
            <a:avLst/>
          </a:prstGeom>
        </p:spPr>
        <p:txBody>
          <a:bodyPr lIns="0" tIns="60958" rIns="0" bIns="60958" anchor="ctr">
            <a:normAutofit fontScale="77500"/>
          </a:bodyPr>
          <a:lstStyle>
            <a:defPPr>
              <a:defRPr lang="zh-CN"/>
            </a:defPPr>
            <a:lvl1pPr marL="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800" b="0" kern="1200" baseline="0">
                <a:solidFill>
                  <a:schemeClr val="tx1"/>
                </a:solidFill>
                <a:latin typeface="Aller Light" panose="02000503000000020004" pitchFamily="2" charset="0"/>
                <a:ea typeface="Roboto" pitchFamily="2" charset="0"/>
                <a:cs typeface="+mn-cs"/>
              </a:defRPr>
            </a:lvl1pPr>
            <a:lvl2pPr marL="3429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200" b="0">
                <a:solidFill>
                  <a:schemeClr val="bg1"/>
                </a:solidFill>
                <a:latin typeface="宋体" panose="02010600030101010101" pitchFamily="2" charset="-122"/>
                <a:ea typeface="微软雅黑" panose="020B0503020204020204" charset="-122"/>
                <a:sym typeface="宋体" panose="02010600030101010101" pitchFamily="2" charset="-122"/>
              </a:rPr>
              <a:t>学</a:t>
            </a:r>
            <a:endParaRPr lang="zh-CN" altLang="zh-CN" sz="2200" b="0">
              <a:solidFill>
                <a:schemeClr val="bg1"/>
              </a:solidFill>
              <a:latin typeface="宋体" panose="02010600030101010101" pitchFamily="2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" name="箭头: 左 2"/>
          <p:cNvSpPr/>
          <p:nvPr/>
        </p:nvSpPr>
        <p:spPr>
          <a:xfrm>
            <a:off x="8661623" y="6440562"/>
            <a:ext cx="4104456" cy="792088"/>
          </a:xfrm>
          <a:prstGeom prst="leftArrow">
            <a:avLst/>
          </a:prstGeom>
          <a:solidFill>
            <a:schemeClr val="bg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文本框 7"/>
          <p:cNvSpPr txBox="1"/>
          <p:nvPr/>
        </p:nvSpPr>
        <p:spPr>
          <a:xfrm>
            <a:off x="1067533" y="324110"/>
            <a:ext cx="11122482" cy="563357"/>
          </a:xfrm>
          <a:prstGeom prst="rect">
            <a:avLst/>
          </a:prstGeom>
          <a:noFill/>
        </p:spPr>
        <p:txBody>
          <a:bodyPr wrap="square" rtlCol="0">
            <a:normAutofit fontScale="90000" lnSpcReduction="10000"/>
          </a:bodyPr>
          <a:lstStyle/>
          <a:p>
            <a:pPr algn="ctr"/>
            <a:r>
              <a:rPr lang="zh-CN" altLang="zh-CN" sz="3200">
                <a:latin typeface="宋体" panose="02010600030101010101" pitchFamily="2" charset="-122"/>
                <a:sym typeface="宋体" panose="02010600030101010101" pitchFamily="2" charset="-122"/>
              </a:rPr>
              <a:t>我的成长实践</a:t>
            </a:r>
          </a:p>
        </p:txBody>
      </p:sp>
      <p:sp>
        <p:nvSpPr>
          <p:cNvPr id="9" name="New shape"/>
          <p:cNvSpPr/>
          <p:nvPr/>
        </p:nvSpPr>
        <p:spPr>
          <a:xfrm>
            <a:off x="5130800" y="3086100"/>
            <a:ext cx="1930400" cy="101600"/>
          </a:xfrm>
          <a:prstGeom prst="rect">
            <a:avLst/>
          </a:prstGeom>
          <a:solidFill>
            <a:srgbClr val="4E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New shape"/>
          <p:cNvSpPr/>
          <p:nvPr/>
        </p:nvSpPr>
        <p:spPr>
          <a:xfrm>
            <a:off x="1117600" y="2552700"/>
            <a:ext cx="9956800" cy="533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5000"/>
          </a:bodyPr>
          <a:lstStyle/>
          <a:p>
            <a:pPr indent="0" algn="ctr">
              <a:lnSpc>
                <a:spcPct val="120000"/>
              </a:lnSpc>
            </a:pPr>
            <a:r>
              <a:rPr sz="3700" b="1">
                <a:solidFill>
                  <a:srgbClr val="000000"/>
                </a:solidFill>
                <a:latin typeface="宋体" panose="02010600030101010101" pitchFamily="2" charset="-122"/>
              </a:rPr>
              <a:t>大学生涯</a:t>
            </a:r>
            <a:endParaRPr sz="3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New shape"/>
          <p:cNvSpPr/>
          <p:nvPr/>
        </p:nvSpPr>
        <p:spPr>
          <a:xfrm>
            <a:off x="1117600" y="3276600"/>
            <a:ext cx="9956800" cy="17145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lnSpcReduction="20000"/>
          </a:bodyPr>
          <a:lstStyle/>
          <a:p>
            <a:pPr indent="0" algn="l">
              <a:lnSpc>
                <a:spcPct val="125000"/>
              </a:lnSpc>
            </a:pPr>
            <a:r>
              <a:rPr lang="en-US" sz="2100" b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 为了巩固职业目标要求的专业知识技能，我参加了浪潮俱乐部的招新，加入了WEB组。借这个平台，几乎可以学到职业目标要求专业知识技能的所有东西。我需要完成俱乐部布置的任务，借此发现自己的知识盲区并学习，俱乐部提供各种技术支持和学习路线。目前，我的相关技术已经有了很大提升，并在俱乐部的指导下完善了我的博客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dvAuto="0"/>
      <p:bldP spid="10" grpId="1" animBg="1" advAuto="0"/>
      <p:bldP spid="11" grpId="2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67533" y="887468"/>
            <a:ext cx="11122482" cy="0"/>
          </a:xfrm>
          <a:prstGeom prst="line">
            <a:avLst/>
          </a:prstGeom>
          <a:ln>
            <a:solidFill>
              <a:srgbClr val="19AA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313309" y="324110"/>
            <a:ext cx="609600" cy="609600"/>
          </a:xfrm>
          <a:prstGeom prst="ellipse">
            <a:avLst/>
          </a:prstGeom>
          <a:solidFill>
            <a:srgbClr val="AAC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/>
        </p:txBody>
      </p:sp>
      <p:sp>
        <p:nvSpPr>
          <p:cNvPr id="5" name="Text Placeholder 12"/>
          <p:cNvSpPr txBox="1"/>
          <p:nvPr/>
        </p:nvSpPr>
        <p:spPr>
          <a:xfrm>
            <a:off x="383590" y="434207"/>
            <a:ext cx="491339" cy="406925"/>
          </a:xfrm>
          <a:prstGeom prst="rect">
            <a:avLst/>
          </a:prstGeom>
        </p:spPr>
        <p:txBody>
          <a:bodyPr lIns="0" tIns="60958" rIns="0" bIns="60958" anchor="ctr">
            <a:normAutofit fontScale="77500"/>
          </a:bodyPr>
          <a:lstStyle>
            <a:defPPr>
              <a:defRPr lang="zh-CN"/>
            </a:defPPr>
            <a:lvl1pPr marL="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800" b="0" kern="1200" baseline="0">
                <a:solidFill>
                  <a:schemeClr val="tx1"/>
                </a:solidFill>
                <a:latin typeface="Aller Light" panose="02000503000000020004" pitchFamily="2" charset="0"/>
                <a:ea typeface="Roboto" pitchFamily="2" charset="0"/>
                <a:cs typeface="+mn-cs"/>
              </a:defRPr>
            </a:lvl1pPr>
            <a:lvl2pPr marL="3429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200" b="0">
                <a:solidFill>
                  <a:schemeClr val="bg1"/>
                </a:solidFill>
                <a:latin typeface="宋体" panose="02010600030101010101" pitchFamily="2" charset="-122"/>
                <a:ea typeface="微软雅黑" panose="020B0503020204020204" charset="-122"/>
                <a:sym typeface="宋体" panose="02010600030101010101" pitchFamily="2" charset="-122"/>
              </a:rPr>
              <a:t>学</a:t>
            </a:r>
            <a:endParaRPr lang="zh-CN" altLang="zh-CN" sz="2200" b="0">
              <a:solidFill>
                <a:schemeClr val="bg1"/>
              </a:solidFill>
              <a:latin typeface="宋体" panose="02010600030101010101" pitchFamily="2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" name="箭头: 左 2"/>
          <p:cNvSpPr/>
          <p:nvPr/>
        </p:nvSpPr>
        <p:spPr>
          <a:xfrm>
            <a:off x="8661623" y="6440562"/>
            <a:ext cx="4104456" cy="792088"/>
          </a:xfrm>
          <a:prstGeom prst="leftArrow">
            <a:avLst/>
          </a:prstGeom>
          <a:solidFill>
            <a:schemeClr val="bg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文本框 7"/>
          <p:cNvSpPr txBox="1"/>
          <p:nvPr/>
        </p:nvSpPr>
        <p:spPr>
          <a:xfrm>
            <a:off x="1067533" y="324110"/>
            <a:ext cx="11122482" cy="563357"/>
          </a:xfrm>
          <a:prstGeom prst="rect">
            <a:avLst/>
          </a:prstGeom>
          <a:noFill/>
        </p:spPr>
        <p:txBody>
          <a:bodyPr wrap="square" rtlCol="0">
            <a:normAutofit fontScale="90000" lnSpcReduction="10000"/>
          </a:bodyPr>
          <a:lstStyle/>
          <a:p>
            <a:pPr algn="ctr"/>
            <a:r>
              <a:rPr lang="zh-CN" altLang="zh-CN" sz="3200">
                <a:latin typeface="宋体" panose="02010600030101010101" pitchFamily="2" charset="-122"/>
                <a:sym typeface="宋体" panose="02010600030101010101" pitchFamily="2" charset="-122"/>
              </a:rPr>
              <a:t>我的成长实践</a:t>
            </a:r>
          </a:p>
        </p:txBody>
      </p:sp>
      <p:sp>
        <p:nvSpPr>
          <p:cNvPr id="9" name="New shape"/>
          <p:cNvSpPr/>
          <p:nvPr/>
        </p:nvSpPr>
        <p:spPr>
          <a:xfrm>
            <a:off x="1117600" y="2578100"/>
            <a:ext cx="1930400" cy="101600"/>
          </a:xfrm>
          <a:prstGeom prst="rect">
            <a:avLst/>
          </a:prstGeom>
          <a:solidFill>
            <a:srgbClr val="4E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4927600" y="2044700"/>
            <a:ext cx="6134100" cy="34544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</p:pic>
      <p:sp>
        <p:nvSpPr>
          <p:cNvPr id="11" name="New shape"/>
          <p:cNvSpPr/>
          <p:nvPr/>
        </p:nvSpPr>
        <p:spPr>
          <a:xfrm>
            <a:off x="1117600" y="2044700"/>
            <a:ext cx="3606800" cy="533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indent="0" algn="l">
              <a:lnSpc>
                <a:spcPct val="100000"/>
              </a:lnSpc>
            </a:pPr>
            <a:r>
              <a:rPr sz="4700" b="1">
                <a:solidFill>
                  <a:srgbClr val="000000"/>
                </a:solidFill>
                <a:latin typeface="宋体" panose="02010600030101010101" pitchFamily="2" charset="-122"/>
              </a:rPr>
              <a:t>大学生涯</a:t>
            </a:r>
            <a:endParaRPr sz="4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2" name="New shape"/>
          <p:cNvSpPr/>
          <p:nvPr/>
        </p:nvSpPr>
        <p:spPr>
          <a:xfrm>
            <a:off x="1117600" y="2768600"/>
            <a:ext cx="3606800" cy="27432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/>
          </a:bodyPr>
          <a:lstStyle/>
          <a:p>
            <a:pPr indent="0" algn="l">
              <a:lnSpc>
                <a:spcPct val="125000"/>
              </a:lnSpc>
            </a:pPr>
            <a:r>
              <a:rPr lang="en-US" sz="2100" b="0">
                <a:solidFill>
                  <a:srgbClr val="000000"/>
                </a:solidFill>
                <a:latin typeface="宋体" panose="02010600030101010101" pitchFamily="2" charset="-122"/>
              </a:rPr>
              <a:t>   </a:t>
            </a: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 为了巩固职业目标要求的可迁移技能，我同时参加了机甲大师I-robort战队的招新，进入算法组。我将巩固落实编程语言C++的学习和算法进阶。完成布置的任务借此学习。目前，已经学会了C++的基本使用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dvAuto="0"/>
      <p:bldP spid="10" grpId="1" animBg="1" advAuto="0"/>
      <p:bldP spid="11" grpId="2" animBg="1" advAuto="0"/>
      <p:bldP spid="12" grpId="3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67533" y="887468"/>
            <a:ext cx="11122482" cy="0"/>
          </a:xfrm>
          <a:prstGeom prst="line">
            <a:avLst/>
          </a:prstGeom>
          <a:ln>
            <a:solidFill>
              <a:srgbClr val="19AA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313309" y="324110"/>
            <a:ext cx="609600" cy="609600"/>
          </a:xfrm>
          <a:prstGeom prst="ellipse">
            <a:avLst/>
          </a:prstGeom>
          <a:solidFill>
            <a:srgbClr val="AAC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/>
        </p:txBody>
      </p:sp>
      <p:sp>
        <p:nvSpPr>
          <p:cNvPr id="5" name="Text Placeholder 12"/>
          <p:cNvSpPr txBox="1"/>
          <p:nvPr/>
        </p:nvSpPr>
        <p:spPr>
          <a:xfrm>
            <a:off x="383590" y="434207"/>
            <a:ext cx="491339" cy="406925"/>
          </a:xfrm>
          <a:prstGeom prst="rect">
            <a:avLst/>
          </a:prstGeom>
        </p:spPr>
        <p:txBody>
          <a:bodyPr lIns="0" tIns="60958" rIns="0" bIns="60958" anchor="ctr">
            <a:normAutofit fontScale="77500"/>
          </a:bodyPr>
          <a:lstStyle>
            <a:defPPr>
              <a:defRPr lang="zh-CN"/>
            </a:defPPr>
            <a:lvl1pPr marL="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800" b="0" kern="1200" baseline="0">
                <a:solidFill>
                  <a:schemeClr val="tx1"/>
                </a:solidFill>
                <a:latin typeface="Aller Light" panose="02000503000000020004" pitchFamily="2" charset="0"/>
                <a:ea typeface="Roboto" pitchFamily="2" charset="0"/>
                <a:cs typeface="+mn-cs"/>
              </a:defRPr>
            </a:lvl1pPr>
            <a:lvl2pPr marL="3429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200" b="0">
                <a:solidFill>
                  <a:schemeClr val="bg1"/>
                </a:solidFill>
                <a:latin typeface="宋体" panose="02010600030101010101" pitchFamily="2" charset="-122"/>
                <a:ea typeface="微软雅黑" panose="020B0503020204020204" charset="-122"/>
                <a:sym typeface="宋体" panose="02010600030101010101" pitchFamily="2" charset="-122"/>
              </a:rPr>
              <a:t>学</a:t>
            </a:r>
            <a:endParaRPr lang="zh-CN" altLang="zh-CN" sz="2200" b="0">
              <a:solidFill>
                <a:schemeClr val="bg1"/>
              </a:solidFill>
              <a:latin typeface="宋体" panose="02010600030101010101" pitchFamily="2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" name="箭头: 左 2"/>
          <p:cNvSpPr/>
          <p:nvPr/>
        </p:nvSpPr>
        <p:spPr>
          <a:xfrm>
            <a:off x="8661623" y="6440562"/>
            <a:ext cx="4104456" cy="792088"/>
          </a:xfrm>
          <a:prstGeom prst="leftArrow">
            <a:avLst/>
          </a:prstGeom>
          <a:solidFill>
            <a:schemeClr val="bg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文本框 7"/>
          <p:cNvSpPr txBox="1"/>
          <p:nvPr/>
        </p:nvSpPr>
        <p:spPr>
          <a:xfrm>
            <a:off x="1067533" y="324110"/>
            <a:ext cx="11122482" cy="563357"/>
          </a:xfrm>
          <a:prstGeom prst="rect">
            <a:avLst/>
          </a:prstGeom>
          <a:noFill/>
        </p:spPr>
        <p:txBody>
          <a:bodyPr wrap="square" rtlCol="0">
            <a:normAutofit fontScale="90000" lnSpcReduction="10000"/>
          </a:bodyPr>
          <a:lstStyle/>
          <a:p>
            <a:pPr algn="ctr"/>
            <a:r>
              <a:rPr lang="zh-CN" altLang="zh-CN" sz="3200">
                <a:latin typeface="宋体" panose="02010600030101010101" pitchFamily="2" charset="-122"/>
                <a:sym typeface="宋体" panose="02010600030101010101" pitchFamily="2" charset="-122"/>
              </a:rPr>
              <a:t>我的成长实践</a:t>
            </a:r>
            <a:endParaRPr lang="zh-CN" altLang="zh-CN" sz="3200">
              <a:latin typeface="宋体" panose="02010600030101010101" pitchFamily="2" charset="-122"/>
            </a:endParaRPr>
          </a:p>
        </p:txBody>
      </p:sp>
      <p:sp>
        <p:nvSpPr>
          <p:cNvPr id="9" name="New shape"/>
          <p:cNvSpPr/>
          <p:nvPr/>
        </p:nvSpPr>
        <p:spPr>
          <a:xfrm>
            <a:off x="5130800" y="3263900"/>
            <a:ext cx="1930400" cy="101600"/>
          </a:xfrm>
          <a:prstGeom prst="rect">
            <a:avLst/>
          </a:prstGeom>
          <a:solidFill>
            <a:srgbClr val="4E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New shape"/>
          <p:cNvSpPr/>
          <p:nvPr/>
        </p:nvSpPr>
        <p:spPr>
          <a:xfrm>
            <a:off x="1117600" y="2730500"/>
            <a:ext cx="9956800" cy="533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5000"/>
          </a:bodyPr>
          <a:lstStyle/>
          <a:p>
            <a:pPr indent="0" algn="ctr">
              <a:lnSpc>
                <a:spcPct val="120000"/>
              </a:lnSpc>
            </a:pPr>
            <a:r>
              <a:rPr sz="3700" b="1">
                <a:solidFill>
                  <a:srgbClr val="000000"/>
                </a:solidFill>
                <a:latin typeface="宋体" panose="02010600030101010101" pitchFamily="2" charset="-122"/>
              </a:rPr>
              <a:t>大学生涯</a:t>
            </a:r>
            <a:endParaRPr sz="3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New shape"/>
          <p:cNvSpPr/>
          <p:nvPr/>
        </p:nvSpPr>
        <p:spPr>
          <a:xfrm>
            <a:off x="1117600" y="3454400"/>
            <a:ext cx="9956800" cy="13716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lang="en-US" sz="2100" b="0">
                <a:solidFill>
                  <a:srgbClr val="000000"/>
                </a:solidFill>
                <a:latin typeface="宋体" panose="02010600030101010101" pitchFamily="2" charset="-122"/>
              </a:rPr>
              <a:t>   </a:t>
            </a: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 为了检测我对当下知识的掌握，我组队参加了校星火杯竞赛。我负责我们申报项目里小程序部分的开发。这部分刚好属于我职业规划的方向。我运用自己所学知识去参加这个项目，同时发现了很多问题，如前后端的连接等。虽然竞赛还未结束，但我已经检测到了目前我知识储备中存在的问题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dvAuto="0"/>
      <p:bldP spid="10" grpId="1" animBg="1" advAuto="0"/>
      <p:bldP spid="11" grpId="2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67533" y="887468"/>
            <a:ext cx="11122482" cy="0"/>
          </a:xfrm>
          <a:prstGeom prst="line">
            <a:avLst/>
          </a:prstGeom>
          <a:ln>
            <a:solidFill>
              <a:srgbClr val="19AA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313309" y="324110"/>
            <a:ext cx="609600" cy="609600"/>
          </a:xfrm>
          <a:prstGeom prst="ellipse">
            <a:avLst/>
          </a:prstGeom>
          <a:solidFill>
            <a:srgbClr val="AAC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/>
        </p:txBody>
      </p:sp>
      <p:sp>
        <p:nvSpPr>
          <p:cNvPr id="5" name="Text Placeholder 12"/>
          <p:cNvSpPr txBox="1"/>
          <p:nvPr/>
        </p:nvSpPr>
        <p:spPr>
          <a:xfrm>
            <a:off x="383590" y="434207"/>
            <a:ext cx="491339" cy="406925"/>
          </a:xfrm>
          <a:prstGeom prst="rect">
            <a:avLst/>
          </a:prstGeom>
        </p:spPr>
        <p:txBody>
          <a:bodyPr lIns="0" tIns="60958" rIns="0" bIns="60958" anchor="ctr">
            <a:normAutofit fontScale="77500"/>
          </a:bodyPr>
          <a:lstStyle>
            <a:defPPr>
              <a:defRPr lang="zh-CN"/>
            </a:defPPr>
            <a:lvl1pPr marL="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800" b="0" kern="1200" baseline="0">
                <a:solidFill>
                  <a:schemeClr val="tx1"/>
                </a:solidFill>
                <a:latin typeface="Aller Light" panose="02000503000000020004" pitchFamily="2" charset="0"/>
                <a:ea typeface="Roboto" pitchFamily="2" charset="0"/>
                <a:cs typeface="+mn-cs"/>
              </a:defRPr>
            </a:lvl1pPr>
            <a:lvl2pPr marL="3429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200" b="0">
                <a:solidFill>
                  <a:schemeClr val="bg1"/>
                </a:solidFill>
                <a:latin typeface="宋体" panose="02010600030101010101" pitchFamily="2" charset="-122"/>
                <a:ea typeface="微软雅黑" panose="020B0503020204020204" charset="-122"/>
                <a:sym typeface="宋体" panose="02010600030101010101" pitchFamily="2" charset="-122"/>
              </a:rPr>
              <a:t>学</a:t>
            </a:r>
            <a:endParaRPr lang="zh-CN" altLang="zh-CN" sz="2200" b="0">
              <a:solidFill>
                <a:schemeClr val="bg1"/>
              </a:solidFill>
              <a:latin typeface="宋体" panose="02010600030101010101" pitchFamily="2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" name="箭头: 左 2"/>
          <p:cNvSpPr/>
          <p:nvPr/>
        </p:nvSpPr>
        <p:spPr>
          <a:xfrm>
            <a:off x="8661623" y="6440562"/>
            <a:ext cx="4104456" cy="792088"/>
          </a:xfrm>
          <a:prstGeom prst="leftArrow">
            <a:avLst/>
          </a:prstGeom>
          <a:solidFill>
            <a:schemeClr val="bg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文本框 7"/>
          <p:cNvSpPr txBox="1"/>
          <p:nvPr/>
        </p:nvSpPr>
        <p:spPr>
          <a:xfrm>
            <a:off x="1067533" y="324110"/>
            <a:ext cx="11122482" cy="563357"/>
          </a:xfrm>
          <a:prstGeom prst="rect">
            <a:avLst/>
          </a:prstGeom>
          <a:noFill/>
        </p:spPr>
        <p:txBody>
          <a:bodyPr wrap="square" rtlCol="0">
            <a:normAutofit fontScale="90000" lnSpcReduction="10000"/>
          </a:bodyPr>
          <a:lstStyle/>
          <a:p>
            <a:pPr algn="ctr"/>
            <a:r>
              <a:rPr lang="zh-CN" altLang="zh-CN" sz="3200">
                <a:latin typeface="宋体" panose="02010600030101010101" pitchFamily="2" charset="-122"/>
                <a:sym typeface="宋体" panose="02010600030101010101" pitchFamily="2" charset="-122"/>
              </a:rPr>
              <a:t>我的成长实践</a:t>
            </a:r>
            <a:endParaRPr lang="zh-CN" altLang="zh-CN" sz="3200">
              <a:latin typeface="宋体" panose="02010600030101010101" pitchFamily="2" charset="-122"/>
            </a:endParaRPr>
          </a:p>
        </p:txBody>
      </p:sp>
      <p:sp>
        <p:nvSpPr>
          <p:cNvPr id="9" name="New shape"/>
          <p:cNvSpPr/>
          <p:nvPr/>
        </p:nvSpPr>
        <p:spPr>
          <a:xfrm>
            <a:off x="1117600" y="2895600"/>
            <a:ext cx="5551170" cy="76200"/>
          </a:xfrm>
          <a:prstGeom prst="rect">
            <a:avLst/>
          </a:prstGeom>
          <a:solidFill>
            <a:srgbClr val="4E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New shape"/>
          <p:cNvSpPr/>
          <p:nvPr/>
        </p:nvSpPr>
        <p:spPr>
          <a:xfrm>
            <a:off x="1118235" y="4552315"/>
            <a:ext cx="5550535" cy="81280"/>
          </a:xfrm>
          <a:prstGeom prst="rect">
            <a:avLst/>
          </a:prstGeom>
          <a:solidFill>
            <a:srgbClr val="4E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New shape"/>
          <p:cNvSpPr/>
          <p:nvPr/>
        </p:nvSpPr>
        <p:spPr>
          <a:xfrm>
            <a:off x="1117600" y="2336800"/>
            <a:ext cx="4876800" cy="533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indent="0" algn="l">
              <a:lnSpc>
                <a:spcPct val="100000"/>
              </a:lnSpc>
            </a:pPr>
            <a:r>
              <a:rPr sz="4700" b="1">
                <a:solidFill>
                  <a:srgbClr val="000000"/>
                </a:solidFill>
                <a:latin typeface="宋体" panose="02010600030101010101" pitchFamily="2" charset="-122"/>
              </a:rPr>
              <a:t>大学生涯</a:t>
            </a:r>
            <a:endParaRPr sz="47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New shape"/>
          <p:cNvSpPr/>
          <p:nvPr/>
        </p:nvSpPr>
        <p:spPr>
          <a:xfrm>
            <a:off x="1117600" y="3060700"/>
            <a:ext cx="5481320" cy="13716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/>
          </a:bodyPr>
          <a:lstStyle/>
          <a:p>
            <a:pPr indent="0" algn="l">
              <a:lnSpc>
                <a:spcPct val="125000"/>
              </a:lnSpc>
            </a:pPr>
            <a:r>
              <a:rPr lang="en-US" sz="2100" b="0">
                <a:solidFill>
                  <a:srgbClr val="000000"/>
                </a:solidFill>
                <a:latin typeface="宋体" panose="02010600030101010101" pitchFamily="2" charset="-122"/>
              </a:rPr>
              <a:t>   </a:t>
            </a: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 我参加了一个团队项目的开发，负责这个项目在Linux CPU端的部分。借此，我了解到职业规划中可迁移技能Linux系统的使用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80720" y="1383877"/>
            <a:ext cx="960755" cy="4821767"/>
          </a:xfrm>
          <a:prstGeom prst="rect">
            <a:avLst/>
          </a:prstGeom>
        </p:spPr>
        <p:txBody>
          <a:bodyPr vert="eaVert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sz="5060" b="1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我的成长实践</a:t>
            </a:r>
            <a:endParaRPr sz="5060" b="1">
              <a:solidFill>
                <a:srgbClr val="000000"/>
              </a:solidFill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 advAuto="0"/>
      <p:bldP spid="10" grpId="1" bldLvl="0" animBg="1" advAuto="0"/>
      <p:bldP spid="12" grpId="3" animBg="1" advAuto="0"/>
      <p:bldP spid="13" grpId="4" bldLvl="0" animBg="1" advAuto="0"/>
      <p:bldP spid="6" grpId="0"/>
      <p:bldP spid="6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67533" y="887468"/>
            <a:ext cx="11122482" cy="0"/>
          </a:xfrm>
          <a:prstGeom prst="line">
            <a:avLst/>
          </a:prstGeom>
          <a:ln>
            <a:solidFill>
              <a:srgbClr val="19AA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313309" y="324110"/>
            <a:ext cx="609600" cy="609600"/>
          </a:xfrm>
          <a:prstGeom prst="ellipse">
            <a:avLst/>
          </a:prstGeom>
          <a:solidFill>
            <a:srgbClr val="AAC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/>
        </p:txBody>
      </p:sp>
      <p:sp>
        <p:nvSpPr>
          <p:cNvPr id="5" name="Text Placeholder 12"/>
          <p:cNvSpPr txBox="1"/>
          <p:nvPr/>
        </p:nvSpPr>
        <p:spPr>
          <a:xfrm>
            <a:off x="383590" y="434207"/>
            <a:ext cx="491339" cy="406925"/>
          </a:xfrm>
          <a:prstGeom prst="rect">
            <a:avLst/>
          </a:prstGeom>
        </p:spPr>
        <p:txBody>
          <a:bodyPr lIns="0" tIns="60958" rIns="0" bIns="60958" anchor="ctr">
            <a:normAutofit fontScale="77500"/>
          </a:bodyPr>
          <a:lstStyle>
            <a:defPPr>
              <a:defRPr lang="zh-CN"/>
            </a:defPPr>
            <a:lvl1pPr marL="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800" b="0" kern="1200" baseline="0">
                <a:solidFill>
                  <a:schemeClr val="tx1"/>
                </a:solidFill>
                <a:latin typeface="Aller Light" panose="02000503000000020004" pitchFamily="2" charset="0"/>
                <a:ea typeface="Roboto" pitchFamily="2" charset="0"/>
                <a:cs typeface="+mn-cs"/>
              </a:defRPr>
            </a:lvl1pPr>
            <a:lvl2pPr marL="3429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200" b="0">
                <a:solidFill>
                  <a:schemeClr val="bg1"/>
                </a:solidFill>
                <a:latin typeface="宋体" panose="02010600030101010101" pitchFamily="2" charset="-122"/>
                <a:ea typeface="微软雅黑" panose="020B0503020204020204" charset="-122"/>
                <a:sym typeface="宋体" panose="02010600030101010101" pitchFamily="2" charset="-122"/>
              </a:rPr>
              <a:t>划</a:t>
            </a:r>
            <a:endParaRPr lang="zh-CN" altLang="zh-CN" sz="2200" b="0">
              <a:solidFill>
                <a:schemeClr val="bg1"/>
              </a:solidFill>
              <a:latin typeface="宋体" panose="02010600030101010101" pitchFamily="2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" name="箭头: 左 2"/>
          <p:cNvSpPr/>
          <p:nvPr/>
        </p:nvSpPr>
        <p:spPr>
          <a:xfrm>
            <a:off x="8661623" y="6440562"/>
            <a:ext cx="4104456" cy="792088"/>
          </a:xfrm>
          <a:prstGeom prst="leftArrow">
            <a:avLst/>
          </a:prstGeom>
          <a:solidFill>
            <a:schemeClr val="bg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文本框 7"/>
          <p:cNvSpPr txBox="1"/>
          <p:nvPr/>
        </p:nvSpPr>
        <p:spPr>
          <a:xfrm>
            <a:off x="1067533" y="324110"/>
            <a:ext cx="11122482" cy="56335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/>
        </p:txBody>
      </p:sp>
      <p:sp>
        <p:nvSpPr>
          <p:cNvPr id="9" name="New shape"/>
          <p:cNvSpPr/>
          <p:nvPr/>
        </p:nvSpPr>
        <p:spPr>
          <a:xfrm>
            <a:off x="3549015" y="2176145"/>
            <a:ext cx="5551170" cy="76200"/>
          </a:xfrm>
          <a:prstGeom prst="rect">
            <a:avLst/>
          </a:prstGeom>
          <a:solidFill>
            <a:srgbClr val="4E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New shape"/>
          <p:cNvSpPr/>
          <p:nvPr/>
        </p:nvSpPr>
        <p:spPr>
          <a:xfrm>
            <a:off x="3549650" y="4255770"/>
            <a:ext cx="5550535" cy="81280"/>
          </a:xfrm>
          <a:prstGeom prst="rect">
            <a:avLst/>
          </a:prstGeom>
          <a:solidFill>
            <a:srgbClr val="4E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6"/>
          <p:cNvSpPr txBox="1"/>
          <p:nvPr/>
        </p:nvSpPr>
        <p:spPr>
          <a:xfrm>
            <a:off x="3981450" y="2695270"/>
            <a:ext cx="8572500" cy="193802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l"/>
            <a:r>
              <a:rPr sz="6000" b="1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我的成长</a:t>
            </a:r>
            <a:r>
              <a:rPr lang="zh-CN" sz="6000" b="1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计划</a:t>
            </a:r>
            <a:endParaRPr sz="6000" b="1">
              <a:solidFill>
                <a:srgbClr val="000000"/>
              </a:solidFill>
              <a:latin typeface="宋体" panose="02010600030101010101" pitchFamily="2" charset="-122"/>
              <a:sym typeface="+mn-ea"/>
            </a:endParaRPr>
          </a:p>
          <a:p>
            <a:pPr algn="l"/>
            <a:endParaRPr lang="zh-CN" altLang="en-US" sz="6000" b="1" spc="422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1" name="文本框 7"/>
          <p:cNvSpPr txBox="1"/>
          <p:nvPr>
            <p:custDataLst>
              <p:tags r:id="rId1"/>
            </p:custDataLst>
          </p:nvPr>
        </p:nvSpPr>
        <p:spPr>
          <a:xfrm>
            <a:off x="1067533" y="232035"/>
            <a:ext cx="11122482" cy="5633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buNone/>
            </a:pPr>
            <a:r>
              <a:rPr lang="zh-CN" altLang="en-US" sz="39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破茧振翅划人生</a:t>
            </a:r>
            <a:endParaRPr lang="zh-CN" altLang="en-US" sz="39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 advAuto="0"/>
      <p:bldP spid="10" grpId="1" bldLvl="0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67533" y="887468"/>
            <a:ext cx="11122482" cy="0"/>
          </a:xfrm>
          <a:prstGeom prst="line">
            <a:avLst/>
          </a:prstGeom>
          <a:ln>
            <a:solidFill>
              <a:srgbClr val="19AA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313309" y="324110"/>
            <a:ext cx="609600" cy="609600"/>
          </a:xfrm>
          <a:prstGeom prst="ellipse">
            <a:avLst/>
          </a:prstGeom>
          <a:solidFill>
            <a:srgbClr val="AAC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/>
        </p:txBody>
      </p:sp>
      <p:sp>
        <p:nvSpPr>
          <p:cNvPr id="5" name="Text Placeholder 12"/>
          <p:cNvSpPr txBox="1"/>
          <p:nvPr/>
        </p:nvSpPr>
        <p:spPr>
          <a:xfrm>
            <a:off x="383590" y="434207"/>
            <a:ext cx="491339" cy="406925"/>
          </a:xfrm>
          <a:prstGeom prst="rect">
            <a:avLst/>
          </a:prstGeom>
        </p:spPr>
        <p:txBody>
          <a:bodyPr lIns="0" tIns="60958" rIns="0" bIns="60958" anchor="ctr">
            <a:normAutofit fontScale="77500"/>
          </a:bodyPr>
          <a:lstStyle>
            <a:defPPr>
              <a:defRPr lang="zh-CN"/>
            </a:defPPr>
            <a:lvl1pPr marL="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800" b="0" kern="1200" baseline="0">
                <a:solidFill>
                  <a:schemeClr val="tx1"/>
                </a:solidFill>
                <a:latin typeface="Aller Light" panose="02000503000000020004" pitchFamily="2" charset="0"/>
                <a:ea typeface="Roboto" pitchFamily="2" charset="0"/>
                <a:cs typeface="+mn-cs"/>
              </a:defRPr>
            </a:lvl1pPr>
            <a:lvl2pPr marL="3429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200" b="0">
                <a:solidFill>
                  <a:schemeClr val="bg1"/>
                </a:solidFill>
                <a:latin typeface="宋体" panose="02010600030101010101" pitchFamily="2" charset="-122"/>
                <a:ea typeface="微软雅黑" panose="020B0503020204020204" charset="-122"/>
                <a:sym typeface="宋体" panose="02010600030101010101" pitchFamily="2" charset="-122"/>
              </a:rPr>
              <a:t>划</a:t>
            </a:r>
            <a:endParaRPr lang="zh-CN" altLang="zh-CN" sz="2200" b="0">
              <a:solidFill>
                <a:schemeClr val="bg1"/>
              </a:solidFill>
              <a:latin typeface="宋体" panose="02010600030101010101" pitchFamily="2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" name="箭头: 左 2"/>
          <p:cNvSpPr/>
          <p:nvPr/>
        </p:nvSpPr>
        <p:spPr>
          <a:xfrm>
            <a:off x="8661623" y="6440562"/>
            <a:ext cx="4104456" cy="792088"/>
          </a:xfrm>
          <a:prstGeom prst="leftArrow">
            <a:avLst/>
          </a:prstGeom>
          <a:solidFill>
            <a:schemeClr val="bg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文本框 7"/>
          <p:cNvSpPr txBox="1"/>
          <p:nvPr/>
        </p:nvSpPr>
        <p:spPr>
          <a:xfrm>
            <a:off x="1067533" y="324110"/>
            <a:ext cx="11122482" cy="563357"/>
          </a:xfrm>
          <a:prstGeom prst="rect">
            <a:avLst/>
          </a:prstGeom>
          <a:noFill/>
        </p:spPr>
        <p:txBody>
          <a:bodyPr wrap="square" rtlCol="0">
            <a:normAutofit fontScale="97500" lnSpcReduction="10000"/>
          </a:bodyPr>
          <a:lstStyle/>
          <a:p>
            <a:pPr algn="ctr"/>
            <a:r>
              <a:rPr lang="zh-CN" altLang="zh-CN" sz="3200">
                <a:latin typeface="宋体" panose="02010600030101010101" pitchFamily="2" charset="-122"/>
                <a:sym typeface="宋体" panose="02010600030101010101" pitchFamily="2" charset="-122"/>
              </a:rPr>
              <a:t>我的成长计划</a:t>
            </a:r>
            <a:endParaRPr lang="zh-CN" altLang="zh-CN" sz="320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graphicFrame>
        <p:nvGraphicFramePr>
          <p:cNvPr id="9" name="New Table"/>
          <p:cNvGraphicFramePr>
            <a:graphicFrameLocks noGrp="1"/>
          </p:cNvGraphicFramePr>
          <p:nvPr/>
        </p:nvGraphicFramePr>
        <p:xfrm>
          <a:off x="1117600" y="1397000"/>
          <a:ext cx="9944100" cy="47625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511300"/>
                <a:gridCol w="3111500"/>
                <a:gridCol w="5321300"/>
              </a:tblGrid>
              <a:tr h="680357"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latin typeface="Arial" panose="020B0604020202020204"/>
                        </a:rPr>
                        <a:t>时间</a:t>
                      </a:r>
                      <a:endParaRPr b="1"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latin typeface="Arial" panose="020B0604020202020204"/>
                        </a:rPr>
                        <a:t>目标</a:t>
                      </a:r>
                      <a:endParaRPr b="1"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latin typeface="Arial" panose="020B0604020202020204"/>
                        </a:rPr>
                        <a:t>知识掌握检测</a:t>
                      </a:r>
                      <a:endParaRPr b="1"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>
                          <a:latin typeface="Arial" panose="020B0604020202020204"/>
                        </a:rPr>
                        <a:t>半个月内</a:t>
                      </a:r>
                      <a:endParaRPr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>
                          <a:latin typeface="Arial" panose="020B0604020202020204"/>
                        </a:rPr>
                        <a:t>掌握前端框架</a:t>
                      </a:r>
                      <a:endParaRPr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>
                          <a:latin typeface="Arial" panose="020B0604020202020204"/>
                        </a:rPr>
                        <a:t>完成我的星火杯小程序项目</a:t>
                      </a:r>
                      <a:endParaRPr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>
                          <a:latin typeface="Arial" panose="020B0604020202020204"/>
                        </a:rPr>
                        <a:t>一个月内</a:t>
                      </a:r>
                      <a:endParaRPr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>
                          <a:latin typeface="Arial" panose="020B0604020202020204"/>
                        </a:rPr>
                        <a:t>学会Linux驱动</a:t>
                      </a:r>
                      <a:endParaRPr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>
                          <a:latin typeface="Arial" panose="020B0604020202020204"/>
                        </a:rPr>
                        <a:t>团队发明项目完成初次调试</a:t>
                      </a:r>
                      <a:endParaRPr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>
                          <a:latin typeface="Arial" panose="020B0604020202020204"/>
                        </a:rPr>
                        <a:t>半年内</a:t>
                      </a:r>
                      <a:endParaRPr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>
                          <a:latin typeface="Arial" panose="020B0604020202020204"/>
                        </a:rPr>
                        <a:t>熟练运用Linux</a:t>
                      </a:r>
                      <a:endParaRPr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>
                          <a:latin typeface="Arial" panose="020B0604020202020204"/>
                        </a:rPr>
                        <a:t>团队项目完成收尾测试</a:t>
                      </a:r>
                      <a:endParaRPr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>
                          <a:latin typeface="Arial" panose="020B0604020202020204"/>
                        </a:rPr>
                        <a:t>一年内</a:t>
                      </a:r>
                      <a:endParaRPr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>
                          <a:latin typeface="Arial" panose="020B0604020202020204"/>
                        </a:rPr>
                        <a:t>学会java</a:t>
                      </a:r>
                      <a:endParaRPr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>
                          <a:latin typeface="Arial" panose="020B0604020202020204"/>
                        </a:rPr>
                        <a:t>尝试将其运行在web后端上</a:t>
                      </a:r>
                      <a:endParaRPr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>
                          <a:latin typeface="Arial" panose="020B0604020202020204"/>
                        </a:rPr>
                        <a:t>两年内</a:t>
                      </a:r>
                      <a:endParaRPr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>
                          <a:latin typeface="Arial" panose="020B0604020202020204"/>
                        </a:rPr>
                        <a:t>掌握数据库知识</a:t>
                      </a:r>
                      <a:endParaRPr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>
                          <a:latin typeface="Arial" panose="020B0604020202020204"/>
                        </a:rPr>
                        <a:t>能够自行做出或优化数据库</a:t>
                      </a:r>
                      <a:endParaRPr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</a:tr>
              <a:tr h="680357">
                <a:tc>
                  <a:txBody>
                    <a:bodyPr/>
                    <a:lstStyle/>
                    <a:p>
                      <a:pPr algn="l"/>
                      <a:r>
                        <a:rPr>
                          <a:latin typeface="Arial" panose="020B0604020202020204"/>
                        </a:rPr>
                        <a:t>三年内</a:t>
                      </a:r>
                      <a:endParaRPr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>
                          <a:latin typeface="Arial" panose="020B0604020202020204"/>
                        </a:rPr>
                        <a:t>整合所学知识</a:t>
                      </a:r>
                      <a:endParaRPr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>
                          <a:latin typeface="Arial" panose="020B0604020202020204"/>
                        </a:rPr>
                        <a:t>自己尝试牵头一个软件项目</a:t>
                      </a:r>
                      <a:endParaRPr>
                        <a:latin typeface="Arial" panose="020B0604020202020204"/>
                      </a:endParaRPr>
                    </a:p>
                  </a:txBody>
                  <a:tcPr anchor="ctr" anchorCtr="0">
                    <a:lnL w="25400">
                      <a:solidFill>
                        <a:srgbClr val="4E8542"/>
                      </a:solidFill>
                    </a:lnL>
                    <a:lnR w="25400">
                      <a:solidFill>
                        <a:srgbClr val="4E8542"/>
                      </a:solidFill>
                    </a:lnR>
                    <a:lnT w="25400">
                      <a:solidFill>
                        <a:srgbClr val="4E8542"/>
                      </a:solidFill>
                    </a:lnT>
                    <a:lnB w="25400">
                      <a:solidFill>
                        <a:srgbClr val="4E854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1"/>
          <p:cNvCxnSpPr/>
          <p:nvPr/>
        </p:nvCxnSpPr>
        <p:spPr>
          <a:xfrm>
            <a:off x="1067533" y="887468"/>
            <a:ext cx="11122482" cy="0"/>
          </a:xfrm>
          <a:prstGeom prst="line">
            <a:avLst/>
          </a:prstGeom>
          <a:ln>
            <a:solidFill>
              <a:srgbClr val="19AA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3"/>
          <p:cNvSpPr/>
          <p:nvPr/>
        </p:nvSpPr>
        <p:spPr>
          <a:xfrm>
            <a:off x="313309" y="324110"/>
            <a:ext cx="609600" cy="609600"/>
          </a:xfrm>
          <a:prstGeom prst="ellipse">
            <a:avLst/>
          </a:prstGeom>
          <a:solidFill>
            <a:srgbClr val="AAC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marR="0" indent="-18288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marR="0" indent="-368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marR="0" indent="-55435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marR="0" indent="-739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9pPr>
          </a:lstStyle>
          <a:p>
            <a:r>
              <a:rPr lang="zh-CN"/>
              <a:t>见</a:t>
            </a:r>
            <a:endParaRPr lang="zh-CN"/>
          </a:p>
        </p:txBody>
      </p:sp>
      <p:sp>
        <p:nvSpPr>
          <p:cNvPr id="12" name="箭头: 左 2"/>
          <p:cNvSpPr/>
          <p:nvPr/>
        </p:nvSpPr>
        <p:spPr>
          <a:xfrm>
            <a:off x="8661623" y="6440562"/>
            <a:ext cx="4104456" cy="792088"/>
          </a:xfrm>
          <a:prstGeom prst="leftArrow">
            <a:avLst/>
          </a:prstGeom>
          <a:solidFill>
            <a:schemeClr val="bg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9pPr>
          </a:lstStyle>
          <a:p/>
        </p:txBody>
      </p:sp>
      <p:sp>
        <p:nvSpPr>
          <p:cNvPr id="13" name="文本框 7"/>
          <p:cNvSpPr txBox="1"/>
          <p:nvPr/>
        </p:nvSpPr>
        <p:spPr>
          <a:xfrm>
            <a:off x="1067533" y="232035"/>
            <a:ext cx="11122482" cy="5633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buNone/>
            </a:pPr>
            <a:r>
              <a:rPr lang="zh-CN" altLang="en-US" sz="39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破茧振翅划人生</a:t>
            </a:r>
            <a:endParaRPr lang="zh-CN" altLang="en-US" sz="39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75782" y="2152767"/>
            <a:ext cx="778558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6600" b="1" kern="1200">
                <a:blipFill dpi="0" rotWithShape="1">
                  <a:blip r:embed="rId1"/>
                  <a:srcRect/>
                  <a:stretch>
                    <a:fillRect/>
                  </a:stretch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1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思源等宽" panose="020B0800000000000000" pitchFamily="34" charset="-122"/>
                <a:sym typeface="宋体" panose="02010600030101010101" pitchFamily="2" charset="-122"/>
              </a:rPr>
              <a:t>THANKS</a:t>
            </a:r>
            <a:endParaRPr kumimoji="0" lang="zh-CN" altLang="zh-CN" sz="115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思源等宽" panose="020B08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49087" y="3759563"/>
            <a:ext cx="5028382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4800" b="1" kern="1200">
                <a:blipFill dpi="0" rotWithShape="1">
                  <a:blip r:embed="rId1"/>
                  <a:srcRect/>
                  <a:stretch>
                    <a:fillRect/>
                  </a:stretch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kumimoji="0" lang="zh-CN" altLang="en-US" sz="5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思源等宽" panose="020B0800000000000000" pitchFamily="34" charset="-122"/>
                <a:sym typeface="宋体" panose="02010600030101010101" pitchFamily="2" charset="-122"/>
              </a:rPr>
              <a:t>感谢聆听</a:t>
            </a:r>
            <a:endParaRPr kumimoji="0" lang="zh-CN" altLang="en-US" sz="5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思源等宽" panose="020B08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79301" y="2581673"/>
            <a:ext cx="185421" cy="17954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NWY0ZTA5YzFmOTU5MWNhOTM2YTFmZWVkOTUzMzgxMjQifQ=="/>
</p:tagLst>
</file>

<file path=ppt/theme/theme1.xml><?xml version="1.0" encoding="utf-8"?>
<a:theme xmlns:a="http://schemas.openxmlformats.org/drawingml/2006/main" name="自定义设计方案">
  <a:themeElements>
    <a:clrScheme name="自定义 2">
      <a:dk1>
        <a:sysClr val="windowText" lastClr="000000"/>
      </a:dk1>
      <a:lt1>
        <a:sysClr val="window" lastClr="FFFFFF"/>
      </a:lt1>
      <a:dk2>
        <a:srgbClr val="323232"/>
      </a:dk2>
      <a:lt2>
        <a:srgbClr val="8DC182"/>
      </a:lt2>
      <a:accent1>
        <a:srgbClr val="8DC182"/>
      </a:accent1>
      <a:accent2>
        <a:srgbClr val="B3D5AB"/>
      </a:accent2>
      <a:accent3>
        <a:srgbClr val="A9DB66"/>
      </a:accent3>
      <a:accent4>
        <a:srgbClr val="4E8542"/>
      </a:accent4>
      <a:accent5>
        <a:srgbClr val="3A6331"/>
      </a:accent5>
      <a:accent6>
        <a:srgbClr val="50771B"/>
      </a:accent6>
      <a:hlink>
        <a:srgbClr val="6B9F25"/>
      </a:hlink>
      <a:folHlink>
        <a:srgbClr val="B26B02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/>
        </a:gradFill>
      </a:bgFillStyleLst>
    </a:fmtScheme>
  </a:themeElements>
  <a:objectDefaults>
    <a:spDef>
      <a:spPr>
        <a:solidFill>
          <a:srgbClr val="D9D9D9">
            <a:alpha val="50196"/>
          </a:srgb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1842</Words>
  <Application>WPS 演示</Application>
  <PresentationFormat>全屏显示(4:3)</PresentationFormat>
  <Paragraphs>194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宋体</vt:lpstr>
      <vt:lpstr>Wingdings</vt:lpstr>
      <vt:lpstr>Calibri</vt:lpstr>
      <vt:lpstr>Arial</vt:lpstr>
      <vt:lpstr>微软雅黑</vt:lpstr>
      <vt:lpstr>方正姚体</vt:lpstr>
      <vt:lpstr>Aller Light</vt:lpstr>
      <vt:lpstr>Sanskrit Text</vt:lpstr>
      <vt:lpstr>Roboto</vt:lpstr>
      <vt:lpstr>Times New Roman</vt:lpstr>
      <vt:lpstr>Calibri</vt:lpstr>
      <vt:lpstr>思源等宽</vt:lpstr>
      <vt:lpstr>等线</vt:lpstr>
      <vt:lpstr>Arial Unicode MS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秋萤野马</cp:lastModifiedBy>
  <cp:revision>3</cp:revision>
  <dcterms:created xsi:type="dcterms:W3CDTF">2023-11-19T03:02:00Z</dcterms:created>
  <dcterms:modified xsi:type="dcterms:W3CDTF">2023-11-19T04:24:53Z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D6F7E50C2DE6461A958DBAACB8D961B4_12</vt:lpwstr>
  </property>
  <property fmtid="{D5CDD505-2E9C-101B-9397-08002B2CF9AE}" pid="3" name="KSOProductBuildVer">
    <vt:lpwstr>2052-12.1.0.15712</vt:lpwstr>
  </property>
</Properties>
</file>