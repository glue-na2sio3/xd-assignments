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3" r:id="rId3"/>
    <p:sldId id="310" r:id="rId4"/>
    <p:sldId id="334" r:id="rId5"/>
    <p:sldId id="335" r:id="rId6"/>
    <p:sldId id="336" r:id="rId7"/>
    <p:sldId id="337" r:id="rId8"/>
    <p:sldId id="338" r:id="rId9"/>
    <p:sldId id="339" r:id="rId10"/>
    <p:sldId id="313" r:id="rId11"/>
    <p:sldId id="340" r:id="rId12"/>
    <p:sldId id="316" r:id="rId13"/>
    <p:sldId id="333" r:id="rId14"/>
    <p:sldId id="318" r:id="rId15"/>
    <p:sldId id="319" r:id="rId16"/>
    <p:sldId id="341" r:id="rId17"/>
    <p:sldId id="325" r:id="rId18"/>
    <p:sldId id="342" r:id="rId19"/>
    <p:sldId id="326" r:id="rId20"/>
    <p:sldId id="329" r:id="rId21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A04"/>
    <a:srgbClr val="AE3113"/>
    <a:srgbClr val="AB2F13"/>
    <a:srgbClr val="C92B2F"/>
    <a:srgbClr val="E6AFB0"/>
    <a:srgbClr val="CCCFD3"/>
    <a:srgbClr val="EFB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63" autoAdjust="0"/>
    <p:restoredTop sz="94660"/>
  </p:normalViewPr>
  <p:slideViewPr>
    <p:cSldViewPr snapToGrid="0">
      <p:cViewPr varScale="1">
        <p:scale>
          <a:sx n="83" d="100"/>
          <a:sy n="83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4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69" y="211319"/>
            <a:ext cx="2131831" cy="4793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1961" y="165200"/>
            <a:ext cx="3311449" cy="571592"/>
          </a:xfrm>
          <a:prstGeom prst="rect">
            <a:avLst/>
          </a:prstGeom>
        </p:spPr>
      </p:pic>
      <p:sp>
        <p:nvSpPr>
          <p:cNvPr id="9" name="圆角矩形 8"/>
          <p:cNvSpPr/>
          <p:nvPr userDrawn="1"/>
        </p:nvSpPr>
        <p:spPr>
          <a:xfrm>
            <a:off x="202316" y="836496"/>
            <a:ext cx="11787368" cy="5564458"/>
          </a:xfrm>
          <a:prstGeom prst="roundRect">
            <a:avLst>
              <a:gd name="adj" fmla="val 3927"/>
            </a:avLst>
          </a:prstGeom>
          <a:solidFill>
            <a:schemeClr val="bg1"/>
          </a:solidFill>
          <a:ln>
            <a:noFill/>
          </a:ln>
          <a:effectLst>
            <a:outerShdw blurRad="152400" dist="38100" dir="10200000" sx="101000" sy="101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7622" y="6500658"/>
            <a:ext cx="2516757" cy="2340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" r="1659" b="9712"/>
          <a:stretch>
            <a:fillRect/>
          </a:stretch>
        </p:blipFill>
        <p:spPr>
          <a:xfrm>
            <a:off x="202316" y="2254126"/>
            <a:ext cx="11787368" cy="4146828"/>
          </a:xfrm>
          <a:custGeom>
            <a:avLst/>
            <a:gdLst>
              <a:gd name="connsiteX0" fmla="*/ 0 w 11787368"/>
              <a:gd name="connsiteY0" fmla="*/ 0 h 4146828"/>
              <a:gd name="connsiteX1" fmla="*/ 11787368 w 11787368"/>
              <a:gd name="connsiteY1" fmla="*/ 0 h 4146828"/>
              <a:gd name="connsiteX2" fmla="*/ 11787368 w 11787368"/>
              <a:gd name="connsiteY2" fmla="*/ 3928312 h 4146828"/>
              <a:gd name="connsiteX3" fmla="*/ 11568852 w 11787368"/>
              <a:gd name="connsiteY3" fmla="*/ 4146828 h 4146828"/>
              <a:gd name="connsiteX4" fmla="*/ 218516 w 11787368"/>
              <a:gd name="connsiteY4" fmla="*/ 4146828 h 4146828"/>
              <a:gd name="connsiteX5" fmla="*/ 0 w 11787368"/>
              <a:gd name="connsiteY5" fmla="*/ 3928312 h 4146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87368" h="4146828">
                <a:moveTo>
                  <a:pt x="0" y="0"/>
                </a:moveTo>
                <a:lnTo>
                  <a:pt x="11787368" y="0"/>
                </a:lnTo>
                <a:lnTo>
                  <a:pt x="11787368" y="3928312"/>
                </a:lnTo>
                <a:cubicBezTo>
                  <a:pt x="11787368" y="4048995"/>
                  <a:pt x="11689535" y="4146828"/>
                  <a:pt x="11568852" y="4146828"/>
                </a:cubicBezTo>
                <a:lnTo>
                  <a:pt x="218516" y="4146828"/>
                </a:lnTo>
                <a:cubicBezTo>
                  <a:pt x="97833" y="4146828"/>
                  <a:pt x="0" y="4048995"/>
                  <a:pt x="0" y="3928312"/>
                </a:cubicBezTo>
                <a:close/>
              </a:path>
            </a:pathLst>
          </a:cu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1A0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8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tags" Target="../tags/tag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tags" Target="../tags/tag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image" Target="../media/image10.png"/><Relationship Id="rId3" Type="http://schemas.openxmlformats.org/officeDocument/2006/relationships/tags" Target="../tags/tag9.xml"/><Relationship Id="rId2" Type="http://schemas.openxmlformats.org/officeDocument/2006/relationships/image" Target="../media/image9.png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12.png"/><Relationship Id="rId3" Type="http://schemas.openxmlformats.org/officeDocument/2006/relationships/tags" Target="../tags/tag14.xml"/><Relationship Id="rId2" Type="http://schemas.openxmlformats.org/officeDocument/2006/relationships/image" Target="../media/image11.png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03448" y="1428003"/>
            <a:ext cx="10113908" cy="400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/>
              <a:t>可插入个人职业生涯规划标题</a:t>
            </a:r>
            <a:endParaRPr lang="en-US" altLang="zh-CN" sz="3600" dirty="0"/>
          </a:p>
          <a:p>
            <a:pPr algn="ctr">
              <a:lnSpc>
                <a:spcPct val="150000"/>
              </a:lnSpc>
            </a:pPr>
            <a:r>
              <a:rPr lang="zh-CN" altLang="zh-CN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提交时</a:t>
            </a:r>
            <a:r>
              <a:rPr lang="zh-CN" altLang="en-US" kern="100" dirty="0">
                <a:solidFill>
                  <a:srgbClr val="FF0000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务必</a:t>
            </a:r>
            <a:r>
              <a:rPr lang="zh-CN" altLang="en-US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zh-CN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正文标题下方加上学号、学院（书院）、电话、年级、参加赛道等个人信息</a:t>
            </a:r>
            <a:r>
              <a:rPr lang="zh-CN" altLang="en-US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。</a:t>
            </a:r>
            <a:endParaRPr lang="en-US" altLang="zh-CN" dirty="0"/>
          </a:p>
          <a:p>
            <a:pPr>
              <a:lnSpc>
                <a:spcPct val="125000"/>
              </a:lnSpc>
            </a:pP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</a:t>
            </a:r>
            <a:r>
              <a:rPr lang="zh-CN" altLang="en-US" sz="2000" dirty="0">
                <a:solidFill>
                  <a:srgbClr val="FF0000"/>
                </a:solidFill>
              </a:rPr>
              <a:t>注意： </a:t>
            </a:r>
            <a:r>
              <a:rPr lang="en-US" altLang="zh-CN" sz="2000" dirty="0">
                <a:solidFill>
                  <a:srgbClr val="FF0000"/>
                </a:solidFill>
              </a:rPr>
              <a:t>1.</a:t>
            </a:r>
            <a:r>
              <a:rPr lang="zh-CN" altLang="en-US" sz="2000" dirty="0">
                <a:solidFill>
                  <a:srgbClr val="FF0000"/>
                </a:solidFill>
              </a:rPr>
              <a:t>该模版仅为建议框架，请自行更改展现形式并更新内容注意；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              2.</a:t>
            </a:r>
            <a:r>
              <a:rPr lang="zh-CN" altLang="en-US" sz="2000" dirty="0">
                <a:solidFill>
                  <a:srgbClr val="FF0000"/>
                </a:solidFill>
              </a:rPr>
              <a:t>请确保内容详实且符合个人情况，以便评委能够全面了解；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              3.</a:t>
            </a:r>
            <a:r>
              <a:rPr lang="zh-CN" altLang="en-US" sz="2000" dirty="0">
                <a:solidFill>
                  <a:srgbClr val="FF0000"/>
                </a:solidFill>
              </a:rPr>
              <a:t>比赛的展示要求与平时汇报不同，请尽可能使我们的演示文稿美观、吸引人</a:t>
            </a:r>
            <a:r>
              <a:rPr lang="en-US" altLang="zh-CN" sz="2000" dirty="0">
                <a:solidFill>
                  <a:srgbClr val="FF0000"/>
                </a:solidFill>
              </a:rPr>
              <a:t>;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              4.</a:t>
            </a:r>
            <a:r>
              <a:rPr lang="zh-CN" altLang="en-US" sz="2000" dirty="0">
                <a:solidFill>
                  <a:srgbClr val="FF0000"/>
                </a:solidFill>
              </a:rPr>
              <a:t>套用本模板框架可能会直接影响比赛成绩，建议根据比赛要求进行适当的调整和个性化设计。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2000" dirty="0">
                <a:solidFill>
                  <a:srgbClr val="FF0000"/>
                </a:solidFill>
              </a:rPr>
              <a:t>                  </a:t>
            </a:r>
            <a:r>
              <a:rPr lang="zh-CN" altLang="en-US" sz="2000" dirty="0">
                <a:solidFill>
                  <a:srgbClr val="FF0000"/>
                </a:solidFill>
              </a:rPr>
              <a:t>感谢同学们的配合，祝大家在比赛中取得优异的成绩</a:t>
            </a:r>
            <a:r>
              <a:rPr lang="en-US" altLang="zh-CN" sz="2000" dirty="0">
                <a:solidFill>
                  <a:srgbClr val="FF0000"/>
                </a:solidFill>
              </a:rPr>
              <a:t>!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318591" y="1788190"/>
            <a:ext cx="9554817" cy="2349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/>
              <a:t>目录页参考</a:t>
            </a:r>
            <a:endParaRPr lang="en-US" altLang="zh-CN" sz="3200" dirty="0"/>
          </a:p>
          <a:p>
            <a:pPr>
              <a:lnSpc>
                <a:spcPct val="125000"/>
              </a:lnSpc>
            </a:pPr>
            <a:r>
              <a:rPr lang="en-US" altLang="zh-CN" sz="2800" dirty="0"/>
              <a:t>        </a:t>
            </a:r>
            <a:r>
              <a:rPr lang="zh-CN" altLang="en-US" sz="2400" dirty="0"/>
              <a:t>可从职业发展规划、成长行动、成长成果等方面进行阐述，注意语言简洁扼要。</a:t>
            </a: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zh-CN" altLang="en-US" sz="2400" dirty="0"/>
              <a:t>（该模版以职业发展规划、成长行动、成长成果为目录进行示范）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24001" y="2038739"/>
            <a:ext cx="8906337" cy="1718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职业发展规划总括页参考</a:t>
            </a:r>
            <a:endParaRPr lang="en-US" altLang="zh-CN" sz="32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            可围绕职业发展规划是什么？个人职业发展规划起源是什么？以及人职适配性（专业、兴趣、技能等）等方面进行分析。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143539" y="1656801"/>
            <a:ext cx="7123044" cy="4217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55600" algn="just">
              <a:lnSpc>
                <a:spcPct val="125000"/>
              </a:lnSpc>
            </a:pP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该部分主要说明自己的职业目标从何而来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可以从以下几个方面书写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并建立三个方面的逻辑关联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专业培养目标或就业方向的认知：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在专业学习过程中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对专业的就业方向、职业目标有哪些深入认知和体会？</a:t>
            </a:r>
            <a:endParaRPr lang="en-US" altLang="zh-CN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en-US" altLang="zh-CN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国家、社会或行业发展对该职业的需求：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从国家战略方向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如十四五规划、</a:t>
            </a:r>
            <a:r>
              <a:rPr lang="en-US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2035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年远景目标、社会需求、职业目标所在行业的发展趋势、对人才的需要特点分析该职业目标的意义价值。</a:t>
            </a:r>
            <a:endParaRPr lang="en-US" altLang="zh-CN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en-US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从家庭影响或个人成长经历中追溯：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可以运用家族树工具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说明家庭成员的职业、他们对职业的态度或价值观、家庭资源环境对自己选择这个专业、职业目标的影响。或者运用生命线、典型成长故事、榜样人物等方式来说明什么样的经历或事件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促使自己确定了这样一个职业目标。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62809" y="894642"/>
            <a:ext cx="70037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职业发展规划职业目标起源部分逻辑参考页</a:t>
            </a:r>
            <a:endParaRPr lang="zh-CN" altLang="en-US" sz="2800" dirty="0"/>
          </a:p>
        </p:txBody>
      </p:sp>
      <p:sp>
        <p:nvSpPr>
          <p:cNvPr id="4" name="对话气泡: 矩形 3"/>
          <p:cNvSpPr/>
          <p:nvPr/>
        </p:nvSpPr>
        <p:spPr>
          <a:xfrm rot="16200000" flipV="1">
            <a:off x="9841394" y="1187724"/>
            <a:ext cx="2163417" cy="2100474"/>
          </a:xfrm>
          <a:prstGeom prst="wedgeRectCallout">
            <a:avLst>
              <a:gd name="adj1" fmla="val 44446"/>
              <a:gd name="adj2" fmla="val 85274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+mn-ea"/>
              </a:rPr>
              <a:t>本部分的评审标准结合。</a:t>
            </a:r>
            <a:endParaRPr lang="zh-CN" altLang="en-US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49075" y="1296023"/>
            <a:ext cx="2024265" cy="2254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+mn-ea"/>
              </a:rPr>
              <a:t>本部分的评审标准，即需要重点体现内容：</a:t>
            </a:r>
            <a:endParaRPr lang="en-US" altLang="zh-CN" sz="1400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职业目标体现积极正向的价值追求，能够将个人理想与国家需要、经济社会发展相结合。</a:t>
            </a:r>
            <a:endParaRPr lang="zh-CN" altLang="en-US" sz="1400" dirty="0">
              <a:latin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437736" y="1089833"/>
            <a:ext cx="8906337" cy="1810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职业发展规划专业可能部分示例</a:t>
            </a:r>
            <a:endParaRPr lang="en-US" altLang="zh-CN" sz="36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         可与家庭影响和国家需要、经济社会发展部分整合为一页，缩减文字，凸显结合逻辑。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09932" y="3114483"/>
            <a:ext cx="9719093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文字示例：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我所在的市场营销专业侧重于电商领域，采取“岗位导向、项目驱动”式人才培养模式。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2021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8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，我有幸成为其中商学院与安踏电商产业学院合作的“订单班”的一员。在订单班的学习实践中，我学习了网络销售与服务等课程，接受了网店营销的一系列培训。培训合格后，我开启了一年的售前售后客服实习历程。一年的实习实践，不但让我的实际工作能力有了很大的提升，也让我深入了解了市场营销专业的一个就业方向：电商客服。虽然在顾客眼里客服可能仅仅是手机屏幕上跳动的文字，但这一个个字符，却有意无意地触动着顾客的情绪，传递着企业的文化价值，无时不刻地在塑造着企业的品牌形象。</a:t>
            </a:r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457200"/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建议合理配图作为支撑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  <a:p>
            <a:pPr indent="457200" fontAlgn="auto"/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457200" fontAlgn="auto"/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7106" y="789534"/>
            <a:ext cx="10537728" cy="8349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  </a:t>
            </a:r>
            <a:r>
              <a:rPr lang="zh-CN" altLang="en-US" sz="3600" dirty="0">
                <a:solidFill>
                  <a:schemeClr val="tx1"/>
                </a:solidFill>
              </a:rPr>
              <a:t>职业发展规划国家需要、经济社会发展部分示例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5251" y="1747487"/>
            <a:ext cx="10157791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         </a:t>
            </a:r>
            <a:r>
              <a:rPr lang="zh-CN" altLang="en-US" sz="2400" dirty="0"/>
              <a:t>可与家庭影响、专业可能部分整合为一页，缩减文字，凸显结合逻辑。</a:t>
            </a:r>
            <a:endParaRPr lang="zh-CN" altLang="en-US" sz="2400" dirty="0"/>
          </a:p>
        </p:txBody>
      </p:sp>
      <p:sp>
        <p:nvSpPr>
          <p:cNvPr id="5" name="文本框 4"/>
          <p:cNvSpPr txBox="1"/>
          <p:nvPr/>
        </p:nvSpPr>
        <p:spPr>
          <a:xfrm>
            <a:off x="1384852" y="2761356"/>
            <a:ext cx="9647582" cy="2100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>
                <a:latin typeface="+mn-ea"/>
              </a:rPr>
              <a:t>       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文字示例：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职业教育已成为衡量国家现代化程度的一个重要标志，中等职业教育是我国职业教育主体，它为社会输出初、中级技术人员及技术工人，是我国经济社会发展的重要基础。福建省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2015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年制定了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福建省人民政府关于加快发展现代职业教育的若干意见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，至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2020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年，各县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(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市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)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至少办好</a:t>
            </a:r>
            <a:r>
              <a:rPr lang="en-US" altLang="zh-CN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</a:t>
            </a:r>
            <a:r>
              <a:rPr lang="zh-CN" altLang="en-US" b="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所中等职业学校，每个设区市办好若干所示范性中等职业学校。但福建省仍存在师资数量严重不足的问题，与教育部规定的中职学校生师比的目标还有很远的距离。</a:t>
            </a:r>
            <a:endParaRPr lang="zh-CN" altLang="en-US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建议合理配图（如分析报告）作为支撑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590136" y="745276"/>
            <a:ext cx="8906337" cy="2041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职业发展规划家庭影响部分示例</a:t>
            </a:r>
            <a:endParaRPr lang="en-US" altLang="zh-CN" sz="3600" dirty="0">
              <a:solidFill>
                <a:schemeClr val="tx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3600" dirty="0"/>
              <a:t>      </a:t>
            </a:r>
            <a:r>
              <a:rPr lang="zh-CN" altLang="en-US" sz="2400" dirty="0">
                <a:solidFill>
                  <a:schemeClr val="tx1"/>
                </a:solidFill>
              </a:rPr>
              <a:t>可与专业可能和国家需要、经济社会发展部分整合为一页，缩减文字，凸显结合逻辑。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83757" y="3028844"/>
            <a:ext cx="9719093" cy="3347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fontAlgn="auto"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文字示例：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由于家庭经济原因，小学期间，家里的电器由于使用时间过长却无法及时更换，总需要不定时的维修。每当这时，我的爸爸和爷爷总会亲自出马，打开工具箱，对家里的风扇、电视等家用电器展开维修工作。那时的我总会站在一旁，帮他们递送螺丝刀、锤子、线圈等工具，并且对于修理机械用品产生了极大兴趣。于是，我便开始拆卸、组装一些小玩具，希望未来能够像他们一样，成功修理家里或邻里的电器。在这个过程中，我锻炼了自己的动手能力，并且第一次感受到了亲自组装玩具或机械用品的乐趣。这些经历在我的心灵中埋下了成为一名机械构造工程师的种子，在潜移默化中为我指明了未来的航向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/>
            <a:r>
              <a:rPr lang="zh-CN" altLang="en-US" b="1" dirty="0">
                <a:solidFill>
                  <a:srgbClr val="FF0000"/>
                </a:solidFill>
                <a:latin typeface="+mn-ea"/>
              </a:rPr>
              <a:t>建议合理配图作为支撑</a:t>
            </a:r>
            <a:endParaRPr lang="zh-CN" altLang="en-US" b="1" dirty="0">
              <a:solidFill>
                <a:srgbClr val="FF0000"/>
              </a:solidFill>
              <a:latin typeface="+mn-ea"/>
            </a:endParaRPr>
          </a:p>
          <a:p>
            <a:pPr indent="457200" fontAlgn="auto"/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indent="457200" fontAlgn="auto"/>
            <a:endParaRPr lang="en-US" altLang="zh-CN" b="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2203174" y="1817827"/>
            <a:ext cx="7123044" cy="3876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just" fontAlgn="auto">
              <a:lnSpc>
                <a:spcPct val="125000"/>
              </a:lnSpc>
            </a:pP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分析目标职业对从业者的要求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论证个人从能力、价值观、职业兴趣等方面与职业目标是适配的。其中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了解目标职业的途径可以是上网查</a:t>
            </a:r>
            <a:r>
              <a:rPr lang="zh-CN" altLang="en-US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最好有生涯人物访谈或实践。可以采用的写作方式如：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通过……方式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我了解到该职业的主要工作职责是……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对从业者的能力要求包括：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7380" lvl="0" indent="-269875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专业知识技能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7380" lvl="0" indent="-269875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可迁移技能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627380" lvl="0" indent="-269875" algn="just">
              <a:lnSpc>
                <a:spcPct val="125000"/>
              </a:lnSpc>
              <a:buFont typeface="+mj-lt"/>
              <a:buAutoNum type="arabicPeriod"/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自我管理技能（职业道德、素质、个性特征和品质）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我的个人适配性分析：我学习的专业……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我的兴趣特点……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我具备的能力……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他人对我的评价……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我的价值取向……</a:t>
            </a:r>
            <a:r>
              <a:rPr lang="zh-CN" altLang="en-US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证明与职业相适配。</a:t>
            </a:r>
            <a:endParaRPr lang="zh-CN" altLang="zh-CN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782" y="593899"/>
            <a:ext cx="113173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职业发展规划职业目标的适配性分析部分逻辑说明页</a:t>
            </a:r>
            <a:endParaRPr lang="zh-CN" altLang="en-US" sz="3600" dirty="0"/>
          </a:p>
        </p:txBody>
      </p:sp>
      <p:sp>
        <p:nvSpPr>
          <p:cNvPr id="4" name="对话气泡: 矩形 3"/>
          <p:cNvSpPr/>
          <p:nvPr/>
        </p:nvSpPr>
        <p:spPr>
          <a:xfrm rot="16200000" flipV="1">
            <a:off x="9329844" y="1653517"/>
            <a:ext cx="3077195" cy="2362205"/>
          </a:xfrm>
          <a:prstGeom prst="wedgeRectCallout">
            <a:avLst>
              <a:gd name="adj1" fmla="val 52409"/>
              <a:gd name="adj2" fmla="val 69502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+mn-ea"/>
              </a:rPr>
              <a:t>本部分的评审标准结合。</a:t>
            </a:r>
            <a:endParaRPr lang="zh-CN" altLang="en-US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687339" y="1296023"/>
            <a:ext cx="2286001" cy="3331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+mn-ea"/>
              </a:rPr>
              <a:t>本部分的评审标准，即需要重点体现内容：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职业目标匹配个人价值观、能力优势、兴趣特点。</a:t>
            </a:r>
            <a:endParaRPr lang="en-US" altLang="zh-CN" sz="1400" dirty="0">
              <a:latin typeface="+mn-ea"/>
            </a:endParaRP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准确认识目标职业在专业知识、通用素质、就业能力等方面的要求，科学分析个人现实情况与目标要求的差距，制定合理可行的计划。</a:t>
            </a:r>
            <a:endParaRPr lang="zh-CN" altLang="en-US" sz="1400" dirty="0">
              <a:latin typeface="+mn-ea"/>
            </a:endParaRP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516255" y="1711960"/>
            <a:ext cx="5422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b="1" dirty="0">
                <a:latin typeface="+mn-ea"/>
                <a:sym typeface="+mn-ea"/>
              </a:rPr>
              <a:t>示例：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以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法律援助律师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岗位为例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130290" y="2176145"/>
            <a:ext cx="5527675" cy="309689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4035" y="2176145"/>
            <a:ext cx="5514227" cy="309600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516255" y="5495290"/>
            <a:ext cx="82308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+mn-ea"/>
                <a:sym typeface="+mn-ea"/>
              </a:rPr>
              <a:t>案例来源：武进人才杯江苏省第十七届大学生职业规划大赛本科组获奖作品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00215" y="7810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个人分析部分逻辑说明页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040922" y="2218790"/>
            <a:ext cx="8306832" cy="217816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此处是重点，约占二分之一左右篇幅。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indent="457200" fontAlgn="auto">
              <a:lnSpc>
                <a:spcPct val="125000"/>
              </a:lnSpc>
            </a:pPr>
            <a:r>
              <a:rPr lang="zh-CN" altLang="en-US" dirty="0"/>
              <a:t>为了提升目标职业所要求的技能，我都做了哪些成长实践，包括：专业学习与实践、校园活动、社会实践、工作实习</a:t>
            </a:r>
            <a:r>
              <a:rPr lang="en-US" altLang="zh-CN" dirty="0"/>
              <a:t>……</a:t>
            </a:r>
            <a:r>
              <a:rPr lang="zh-CN" altLang="en-US" dirty="0"/>
              <a:t>等。这些活动取得了什么样的成果，提升或体现了我的何种能力，还有哪些不足？</a:t>
            </a:r>
            <a:endParaRPr lang="zh-CN" altLang="en-US" dirty="0"/>
          </a:p>
          <a:p>
            <a:pPr indent="457200" fontAlgn="auto">
              <a:lnSpc>
                <a:spcPct val="125000"/>
              </a:lnSpc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实践要丰富，如果实践项目很多，要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分类整合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，建立若干个成长行动之间的关联，而且要与职业所要求的能力相对应。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014869" y="840818"/>
            <a:ext cx="86271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成长行动部分逻辑说明页</a:t>
            </a:r>
            <a:endParaRPr lang="zh-CN" altLang="en-US" sz="3600" dirty="0"/>
          </a:p>
        </p:txBody>
      </p:sp>
      <p:sp>
        <p:nvSpPr>
          <p:cNvPr id="4" name="对话气泡: 矩形 3"/>
          <p:cNvSpPr/>
          <p:nvPr/>
        </p:nvSpPr>
        <p:spPr>
          <a:xfrm rot="16200000" flipV="1">
            <a:off x="8931627" y="1342121"/>
            <a:ext cx="3535695" cy="2706757"/>
          </a:xfrm>
          <a:prstGeom prst="wedgeRectCallout">
            <a:avLst>
              <a:gd name="adj1" fmla="val 40566"/>
              <a:gd name="adj2" fmla="val 96776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+mn-ea"/>
              </a:rPr>
              <a:t>本部分的评审标准结合。</a:t>
            </a:r>
            <a:endParaRPr lang="zh-CN" altLang="en-US" dirty="0">
              <a:latin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49409" y="1163982"/>
            <a:ext cx="2703444" cy="3299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400" dirty="0">
                <a:latin typeface="+mn-ea"/>
              </a:rPr>
              <a:t>本部分的评审标准，即需要重点体现内容：</a:t>
            </a:r>
            <a:endParaRPr lang="en-US" altLang="zh-CN" sz="1400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成长行动符合目标职业在通用素质、就业能力、职业道德等方面的要求。</a:t>
            </a:r>
            <a:endParaRPr lang="zh-CN" altLang="en-US" sz="1400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成长行动对弥补个人不足的针对性较强。</a:t>
            </a:r>
            <a:endParaRPr lang="zh-CN" altLang="en-US" sz="1400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能够将专业知识应用于成长实践，提高通用素质和就业能力。</a:t>
            </a:r>
            <a:endParaRPr lang="zh-CN" altLang="en-US" sz="1400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+mn-ea"/>
              </a:rPr>
              <a:t>成长行动内容丰富，取得阶段性成果。</a:t>
            </a:r>
            <a:endParaRPr lang="zh-CN" altLang="en-US" sz="1400" dirty="0">
              <a:latin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34035" y="2202180"/>
            <a:ext cx="5645785" cy="26403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072515" y="5090160"/>
            <a:ext cx="4380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sym typeface="+mn-ea"/>
              </a:rPr>
              <a:t>示例一：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按照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阶段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整合成长行动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b="12968"/>
          <a:stretch>
            <a:fillRect/>
          </a:stretch>
        </p:blipFill>
        <p:spPr>
          <a:xfrm>
            <a:off x="6279515" y="2202180"/>
            <a:ext cx="5637530" cy="26403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6908165" y="5059045"/>
            <a:ext cx="4380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sym typeface="+mn-ea"/>
              </a:rPr>
              <a:t>示例二：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按照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提升要项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整合成长行动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534035" y="5781626"/>
            <a:ext cx="82308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+mn-ea"/>
                <a:sym typeface="+mn-ea"/>
              </a:rPr>
              <a:t>案例来源：武进人才杯江苏省第十七届大学生职业规划大赛本科组获奖作品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80014" y="1076374"/>
            <a:ext cx="6105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成长行动总括页参考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2738810" y="2074794"/>
            <a:ext cx="6552565" cy="2899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在叙述具体行动时，可参考</a:t>
            </a:r>
            <a:r>
              <a:rPr lang="zh-CN" altLang="en-US" sz="2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STAR-L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的框架：</a:t>
            </a:r>
            <a:endParaRPr lang="zh-CN" altLang="en-US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Situation：背景和形势，在什么背景下，做了这件事情？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Task：任务。我要达成的任务和目标是什么，面临着什么样的困难和挑战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Action：行动。我采用了什么样的态度和行动，做了什么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Result：结果。行动产生了什么结果，可以用数字来说明业绩成果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Learning：从中我获得了哪些成长和提升，还有哪些不足。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099614" y="11604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成长行动部分逻辑说明页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l="3003"/>
          <a:stretch>
            <a:fillRect/>
          </a:stretch>
        </p:blipFill>
        <p:spPr>
          <a:xfrm>
            <a:off x="697230" y="1598295"/>
            <a:ext cx="6713855" cy="285051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6905" t="11948" r="10176" b="16756"/>
          <a:stretch>
            <a:fillRect/>
          </a:stretch>
        </p:blipFill>
        <p:spPr>
          <a:xfrm>
            <a:off x="5677535" y="3902075"/>
            <a:ext cx="5980430" cy="243141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1072515" y="5090160"/>
            <a:ext cx="4380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latin typeface="+mn-ea"/>
                <a:sym typeface="+mn-ea"/>
              </a:rPr>
              <a:t>示例：</a:t>
            </a:r>
            <a:r>
              <a:rPr lang="en-US" altLang="zh-CN" dirty="0">
                <a:latin typeface="+mn-ea"/>
                <a:sym typeface="+mn-ea"/>
              </a:rPr>
              <a:t>PPT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成长行动展示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566025" y="2205355"/>
            <a:ext cx="430022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>
                <a:latin typeface="+mn-ea"/>
              </a:rPr>
              <a:t>本部分的评审标准，即需要重点体现内容：</a:t>
            </a:r>
            <a:endParaRPr lang="en-US" altLang="zh-CN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行动成果与职业目标的契合程度。</a:t>
            </a:r>
            <a:endParaRPr lang="zh-CN" altLang="en-US" dirty="0">
              <a:latin typeface="+mn-ea"/>
            </a:endParaRPr>
          </a:p>
          <a:p>
            <a:pPr marL="342900" indent="-34290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总结成长行动中存在的不足和原因，对成长计划进行自我评估和动态调整</a:t>
            </a:r>
            <a:endParaRPr lang="zh-CN" altLang="en-US" dirty="0">
              <a:latin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7"/>
            </p:custDataLst>
          </p:nvPr>
        </p:nvSpPr>
        <p:spPr>
          <a:xfrm>
            <a:off x="516255" y="5565140"/>
            <a:ext cx="45872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+mn-ea"/>
                <a:sym typeface="+mn-ea"/>
              </a:rPr>
              <a:t>案例来源：</a:t>
            </a:r>
            <a:endParaRPr lang="zh-CN" altLang="en-US" sz="1600" dirty="0">
              <a:latin typeface="+mn-ea"/>
              <a:sym typeface="+mn-ea"/>
            </a:endParaRPr>
          </a:p>
          <a:p>
            <a:r>
              <a:rPr lang="zh-CN" altLang="en-US" sz="1600" dirty="0">
                <a:latin typeface="+mn-ea"/>
                <a:sym typeface="+mn-ea"/>
              </a:rPr>
              <a:t>武进人才杯江苏省第十七届大学生职业规划大赛</a:t>
            </a:r>
            <a:endParaRPr lang="zh-CN" altLang="en-US" sz="1600" dirty="0">
              <a:latin typeface="+mn-ea"/>
              <a:sym typeface="+mn-ea"/>
            </a:endParaRPr>
          </a:p>
          <a:p>
            <a:r>
              <a:rPr lang="zh-CN" altLang="en-US" sz="1600" dirty="0">
                <a:latin typeface="+mn-ea"/>
                <a:sym typeface="+mn-ea"/>
              </a:rPr>
              <a:t>本科组获奖作品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54157" y="63128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成长行动展示示例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09278" y="1476624"/>
            <a:ext cx="4859491" cy="454527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560392" y="1476624"/>
            <a:ext cx="6078515" cy="451800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09270" y="1073150"/>
            <a:ext cx="29641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latin typeface="+mn-ea"/>
                <a:sym typeface="+mn-ea"/>
              </a:rPr>
              <a:t>示例：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成长行动表格呈现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6"/>
            </p:custDataLst>
          </p:nvPr>
        </p:nvSpPr>
        <p:spPr>
          <a:xfrm>
            <a:off x="509270" y="6037580"/>
            <a:ext cx="823087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+mn-ea"/>
                <a:sym typeface="+mn-ea"/>
              </a:rPr>
              <a:t>案例来源：武汉大学</a:t>
            </a:r>
            <a:r>
              <a:rPr lang="en-US" altLang="zh-CN" sz="1600" dirty="0">
                <a:latin typeface="+mn-ea"/>
                <a:sym typeface="+mn-ea"/>
              </a:rPr>
              <a:t>2024</a:t>
            </a:r>
            <a:r>
              <a:rPr lang="zh-CN" altLang="en-US" sz="1600" dirty="0">
                <a:latin typeface="+mn-ea"/>
                <a:sym typeface="+mn-ea"/>
              </a:rPr>
              <a:t>毕业生就业指南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03983" y="4268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成长行动表格呈现示例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1649896" y="2967335"/>
            <a:ext cx="94461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/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针对我的长期目标，我需要分几步去实现，每步的路径是……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36675" y="1982064"/>
            <a:ext cx="6105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成长计划总括页参考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2027799" y="1414390"/>
            <a:ext cx="8136402" cy="2140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25000"/>
              </a:lnSpc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为了做到这一点我还需要采取哪些办法或措施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zh-CN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为了达到我的长期目标，设立了什么短期目标，我还需要成长提升的是什么？具体的目标和行动是什么，目标要符合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SMART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原则。可以采用列表或时间轴的方式，分别从专业知识、社会实践等多方面来写作。为了实现这一目标，在这一个月内我应该做的事，半年内、一年内、两年内、三年内应该要做的事情。列表示例如：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2974214" y="3762236"/>
          <a:ext cx="6681651" cy="2583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09304"/>
                <a:gridCol w="1256433"/>
                <a:gridCol w="2845501"/>
                <a:gridCol w="1670413"/>
              </a:tblGrid>
              <a:tr h="369080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时间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目标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具体行动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评估调整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altLang="en-US" sz="14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9080"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400" kern="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zh-CN" sz="14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文本框 3"/>
          <p:cNvSpPr txBox="1"/>
          <p:nvPr/>
        </p:nvSpPr>
        <p:spPr>
          <a:xfrm>
            <a:off x="3549927" y="663472"/>
            <a:ext cx="6105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成长计划总括页参考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549927" y="663472"/>
            <a:ext cx="61059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成长计划总括页参考</a:t>
            </a:r>
            <a:endParaRPr lang="zh-CN" altLang="en-US" sz="3600" dirty="0"/>
          </a:p>
        </p:txBody>
      </p:sp>
      <p:sp>
        <p:nvSpPr>
          <p:cNvPr id="3" name="文本框 2"/>
          <p:cNvSpPr txBox="1"/>
          <p:nvPr/>
        </p:nvSpPr>
        <p:spPr>
          <a:xfrm>
            <a:off x="1212574" y="1576363"/>
            <a:ext cx="10012018" cy="3875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lnSpc>
                <a:spcPct val="125000"/>
              </a:lnSpc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为了达到目标，依托学校的平台能为我的学涯目标提供的资源或者帮助，或者家人、朋友等社会资源能提供什么样的帮助和支持。</a:t>
            </a:r>
            <a:endParaRPr lang="zh-CN" altLang="zh-CN" sz="14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1.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院系层面：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院系不同方向老师、专家；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院系科研实验室；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院系组织的技术讲座、实践实习、各类比赛等活动。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355600" algn="just"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2.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校级层面：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团委、学生会或社团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;b)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感兴趣的科研实验室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;c)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旁听相关课程或咨询相关专家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;d)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主动联系专门提供相关服务的职能机构（如国际合作与交流部、创新创业中心咨询等。</a:t>
            </a:r>
            <a:endParaRPr lang="zh-CN" altLang="zh-CN" sz="1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en-US" altLang="zh-CN" sz="2000" kern="100" dirty="0">
                <a:effectLst/>
                <a:latin typeface="等线" panose="02010600030101010101" pitchFamily="2" charset="-122"/>
                <a:cs typeface="Times New Roman" panose="02020603050405020304" pitchFamily="18" charset="0"/>
              </a:rPr>
              <a:t>       3.</a:t>
            </a:r>
            <a:r>
              <a:rPr lang="zh-CN" altLang="zh-CN" sz="20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社会资源：家人、朋友、校友或通过各种方式可以联络到的相关人士在目标领域工作，可以进行咨询了解，提供实习实践机会等。</a:t>
            </a:r>
            <a:br>
              <a:rPr lang="en-US" altLang="zh-CN" sz="1800" kern="100" dirty="0"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720090" y="2080260"/>
          <a:ext cx="10829925" cy="329120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62050"/>
                <a:gridCol w="1750695"/>
                <a:gridCol w="5509895"/>
                <a:gridCol w="2407285"/>
              </a:tblGrid>
              <a:tr h="447675"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时间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kern="100" dirty="0">
                          <a:solidFill>
                            <a:schemeClr val="bg1"/>
                          </a:solidFill>
                          <a:effectLst/>
                        </a:rPr>
                        <a:t>目标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具体行动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00" kern="100" dirty="0">
                          <a:solidFill>
                            <a:schemeClr val="bg1"/>
                          </a:solidFill>
                          <a:effectLst/>
                        </a:rPr>
                        <a:t>评估调整</a:t>
                      </a:r>
                      <a:endParaRPr lang="zh-CN" sz="1800" kern="100" dirty="0">
                        <a:solidFill>
                          <a:schemeClr val="bg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2843530"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学业阶段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考取社会工作（养老服务与管理）专业研究生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专业知识能力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：研究与智慧化养老、养老规划等相关课题，辅修社会工作相关课程，积极与高质量养老联合研究院专家进行交流。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just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素质拓展能力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：在互联网创新创业中心中以智慧养老为主题，取得省级以上荣誉，与信息工程学院的学生老师探讨智慧养老相关理论。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85750" indent="-285750" algn="just" fontAlgn="auto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1600" b="1" kern="100" dirty="0">
                          <a:solidFill>
                            <a:schemeClr val="tx1"/>
                          </a:solidFill>
                          <a:effectLst/>
                        </a:rPr>
                        <a:t>实践服务能力</a:t>
                      </a: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：拓展老年心理学、老年行为学等知识，提升沟通与社会交往能力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 fontAlgn="auto">
                        <a:lnSpc>
                          <a:spcPct val="120000"/>
                        </a:lnSpc>
                      </a:pPr>
                      <a:r>
                        <a:rPr lang="zh-CN" altLang="en-US" sz="1600" kern="100" dirty="0">
                          <a:solidFill>
                            <a:schemeClr val="tx1"/>
                          </a:solidFill>
                          <a:effectLst/>
                        </a:rPr>
                        <a:t>未能成为智慧养老规划师，转至养老险销售顾问</a:t>
                      </a:r>
                      <a:endParaRPr lang="zh-CN" altLang="en-US" sz="160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00075" y="1572895"/>
            <a:ext cx="43802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b="1" dirty="0">
                <a:latin typeface="+mn-ea"/>
                <a:sym typeface="+mn-ea"/>
              </a:rPr>
              <a:t>示例：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sym typeface="+mn-ea"/>
              </a:rPr>
              <a:t>以智慧养老规划师为例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3"/>
            </p:custDataLst>
          </p:nvPr>
        </p:nvSpPr>
        <p:spPr>
          <a:xfrm>
            <a:off x="653415" y="5728335"/>
            <a:ext cx="711581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600" dirty="0">
                <a:latin typeface="+mn-ea"/>
                <a:sym typeface="+mn-ea"/>
              </a:rPr>
              <a:t>案例来源：武进人才杯江苏省第十七届大学生职业规划大赛本科组获奖作品</a:t>
            </a:r>
            <a:endParaRPr lang="zh-CN" altLang="en-US" sz="1600" dirty="0">
              <a:latin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810001" y="66155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成长计划部分呈现参考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165975" y="3198167"/>
            <a:ext cx="47665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可将参赛口号作为结尾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4558747" y="231999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dirty="0">
                <a:solidFill>
                  <a:schemeClr val="tx1"/>
                </a:solidFill>
              </a:rPr>
              <a:t>结束致谢页</a:t>
            </a:r>
            <a:endParaRPr lang="zh-CN" altLang="en-US" sz="3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  <p:tag name="TABLE_ENDDRAG_ORIGIN_RECT" val="852*259"/>
  <p:tag name="TABLE_ENDDRAG_RECT" val="56*163*852*259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COMMONDATA" val="eyJoZGlkIjoiMDJjMTI5M2YwMzdiNTA1ZDIwYzAzY2Q1MzVlYmQ3ODYifQ=="/>
  <p:tag name="commondata" val="eyJoZGlkIjoiYzllZDdkOWIwMWE3OWI3ODJiNzBlM2NlMWUyMGUzNzU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3755</Words>
  <Application>WPS 演示</Application>
  <PresentationFormat>宽屏</PresentationFormat>
  <Paragraphs>211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等线</vt:lpstr>
      <vt:lpstr>Times New Roman</vt:lpstr>
      <vt:lpstr>楷体</vt:lpstr>
      <vt:lpstr>微软雅黑</vt:lpstr>
      <vt:lpstr>Calibri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占珍</cp:lastModifiedBy>
  <cp:revision>45</cp:revision>
  <dcterms:created xsi:type="dcterms:W3CDTF">2023-10-23T10:12:00Z</dcterms:created>
  <dcterms:modified xsi:type="dcterms:W3CDTF">2023-11-02T07:15:34Z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24BDE3382D5D4B8ABB36A9CD0F638D99_13</vt:lpwstr>
  </property>
  <property fmtid="{D5CDD505-2E9C-101B-9397-08002B2CF9AE}" pid="3" name="KSOProductBuildVer">
    <vt:lpwstr>2052-12.1.0.15712</vt:lpwstr>
  </property>
</Properties>
</file>