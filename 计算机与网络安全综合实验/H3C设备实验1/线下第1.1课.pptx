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8"/>
  </p:handoutMasterIdLst>
  <p:sldIdLst>
    <p:sldId id="256" r:id="rId3"/>
    <p:sldId id="257" r:id="rId4"/>
    <p:sldId id="258" r:id="rId6"/>
    <p:sldId id="259" r:id="rId7"/>
    <p:sldId id="260" r:id="rId8"/>
    <p:sldId id="264" r:id="rId9"/>
    <p:sldId id="265" r:id="rId10"/>
    <p:sldId id="266" r:id="rId11"/>
    <p:sldId id="267" r:id="rId12"/>
    <p:sldId id="30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3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6035"/>
            <a:ext cx="9108440" cy="6883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7.jpeg"/><Relationship Id="rId7" Type="http://schemas.openxmlformats.org/officeDocument/2006/relationships/image" Target="../media/image26.jpeg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jpe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jpeg"/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8.jpeg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image" Target="../media/image5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image" Target="../media/image6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image" Target="../media/image6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5.jpeg"/><Relationship Id="rId1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image" Target="../media/image76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2.jpeg"/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image" Target="../media/image7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4.png"/><Relationship Id="rId1" Type="http://schemas.openxmlformats.org/officeDocument/2006/relationships/image" Target="../media/image8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image" Target="../media/image8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1.jpeg"/><Relationship Id="rId1" Type="http://schemas.openxmlformats.org/officeDocument/2006/relationships/image" Target="../media/image90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image" Target="../media/image9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5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9.jpeg"/><Relationship Id="rId4" Type="http://schemas.openxmlformats.org/officeDocument/2006/relationships/image" Target="../media/image98.jpeg"/><Relationship Id="rId3" Type="http://schemas.openxmlformats.org/officeDocument/2006/relationships/image" Target="../media/image97.jpeg"/><Relationship Id="rId2" Type="http://schemas.openxmlformats.org/officeDocument/2006/relationships/slide" Target="slide39.xml"/><Relationship Id="rId1" Type="http://schemas.openxmlformats.org/officeDocument/2006/relationships/image" Target="../media/image96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3.jpeg"/><Relationship Id="rId3" Type="http://schemas.openxmlformats.org/officeDocument/2006/relationships/image" Target="../media/image102.jpeg"/><Relationship Id="rId2" Type="http://schemas.openxmlformats.org/officeDocument/2006/relationships/image" Target="../media/image101.jpeg"/><Relationship Id="rId1" Type="http://schemas.openxmlformats.org/officeDocument/2006/relationships/image" Target="../media/image10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9.jpeg"/><Relationship Id="rId2" Type="http://schemas.openxmlformats.org/officeDocument/2006/relationships/image" Target="../media/image108.jpeg"/><Relationship Id="rId1" Type="http://schemas.openxmlformats.org/officeDocument/2006/relationships/image" Target="../media/image10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25820" y="0"/>
            <a:ext cx="2743199" cy="30099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76705" y="3561715"/>
            <a:ext cx="5781675" cy="8966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algn="ctr" rtl="0" eaLnBrk="0">
              <a:lnSpc>
                <a:spcPct val="96000"/>
              </a:lnSpc>
            </a:pPr>
            <a:r>
              <a:rPr lang="zh-CN" sz="5500" b="1" kern="0" spc="-10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计算机与网络安全综合实验</a:t>
            </a:r>
            <a:endParaRPr lang="zh-CN" sz="5500" b="1" kern="0" spc="-100" dirty="0">
              <a:solidFill>
                <a:srgbClr val="FFFF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2984520" y="5654686"/>
            <a:ext cx="3174364" cy="4197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3300" b="1" kern="0" spc="-5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nli@xidian.edu.cn</a:t>
            </a:r>
            <a:endParaRPr lang="en-US" altLang="en-US" sz="33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3070" y="5010180"/>
            <a:ext cx="1003279" cy="4190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770113" y="584483"/>
            <a:ext cx="7218680" cy="47123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4500" b="1" kern="0" spc="-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线下上机注意事项</a:t>
            </a:r>
            <a:endParaRPr lang="en-US" altLang="en-US" sz="4500" dirty="0"/>
          </a:p>
          <a:p>
            <a:pPr marL="245110" algn="l" rtl="0" eaLnBrk="0">
              <a:lnSpc>
                <a:spcPct val="96000"/>
              </a:lnSpc>
              <a:spcBef>
                <a:spcPts val="2110"/>
              </a:spcBef>
            </a:pPr>
            <a:r>
              <a:rPr sz="31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请勿将水杯放在试验</a:t>
            </a:r>
            <a:r>
              <a:rPr sz="31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</a:t>
            </a:r>
            <a:endParaRPr lang="en-US" altLang="en-US" sz="3100" dirty="0"/>
          </a:p>
          <a:p>
            <a:pPr algn="l" rtl="0" eaLnBrk="0">
              <a:lnSpc>
                <a:spcPct val="172000"/>
              </a:lnSpc>
            </a:pPr>
            <a:endParaRPr lang="en-US" altLang="en-US" sz="1000" dirty="0"/>
          </a:p>
          <a:p>
            <a:pPr marL="24511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禁止在实验室打闹嬉</a:t>
            </a:r>
            <a:r>
              <a:rPr sz="31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戏</a:t>
            </a:r>
            <a:endParaRPr lang="en-US" altLang="en-US" sz="3100" dirty="0"/>
          </a:p>
          <a:p>
            <a:pPr algn="l" rtl="0" eaLnBrk="0">
              <a:lnSpc>
                <a:spcPct val="162000"/>
              </a:lnSpc>
            </a:pPr>
            <a:endParaRPr lang="en-US" altLang="en-US" sz="1000" dirty="0"/>
          </a:p>
          <a:p>
            <a:pPr marL="24511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严格按照规范使用实验设备</a:t>
            </a:r>
            <a:endParaRPr lang="en-US" altLang="en-US" sz="3100" dirty="0"/>
          </a:p>
          <a:p>
            <a:pPr algn="l" rtl="0" eaLnBrk="0">
              <a:lnSpc>
                <a:spcPct val="170000"/>
              </a:lnSpc>
            </a:pPr>
            <a:endParaRPr lang="en-US" altLang="en-US" sz="1000" dirty="0"/>
          </a:p>
          <a:p>
            <a:pPr marL="245110" algn="l" rtl="0" eaLnBrk="0">
              <a:lnSpc>
                <a:spcPct val="96000"/>
              </a:lnSpc>
              <a:spcBef>
                <a:spcPts val="940"/>
              </a:spcBef>
            </a:pP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不允许代替签到</a:t>
            </a:r>
            <a:endParaRPr lang="en-US" altLang="en-US" sz="3100" dirty="0"/>
          </a:p>
          <a:p>
            <a:pPr algn="l" rtl="0" eaLnBrk="0">
              <a:lnSpc>
                <a:spcPct val="170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7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algn="r" rtl="0" eaLnBrk="0">
              <a:lnSpc>
                <a:spcPct val="96000"/>
              </a:lnSpc>
            </a:pPr>
            <a:r>
              <a:rPr sz="31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禁止在实验室打游戏等和学习无</a:t>
            </a: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关的事</a:t>
            </a:r>
            <a:endParaRPr lang="en-US" altLang="en-US" sz="3100" dirty="0"/>
          </a:p>
        </p:txBody>
      </p:sp>
      <p:sp>
        <p:nvSpPr>
          <p:cNvPr id="16" name="textbox 16"/>
          <p:cNvSpPr/>
          <p:nvPr/>
        </p:nvSpPr>
        <p:spPr>
          <a:xfrm>
            <a:off x="3374040" y="6542808"/>
            <a:ext cx="4969509" cy="2101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455"/>
              </a:lnSpc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</a:t>
            </a:r>
            <a:r>
              <a:rPr lang="en-US"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年秋季《计算机与网络安全》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 </a:t>
            </a:r>
            <a:r>
              <a:rPr sz="1600" kern="0" spc="-30" baseline="-6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en-US" altLang="en-US" sz="1600" baseline="-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198880" y="2491740"/>
            <a:ext cx="7240270" cy="22777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课时</a:t>
            </a:r>
            <a:r>
              <a:rPr lang="zh-CN"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理论课</a:t>
            </a:r>
            <a:endParaRPr lang="en-US" altLang="en-US" sz="2800" dirty="0"/>
          </a:p>
          <a:p>
            <a:pPr algn="l" rtl="0" eaLnBrk="0">
              <a:lnSpc>
                <a:spcPct val="155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850"/>
              </a:spcBef>
            </a:pPr>
            <a:r>
              <a:rPr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48</a:t>
            </a:r>
            <a:r>
              <a:rPr lang="zh-CN" altLang="en-US"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课时实验</a:t>
            </a:r>
            <a:r>
              <a:rPr sz="28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</a:t>
            </a:r>
            <a:endParaRPr lang="en-US" sz="2800" b="1" kern="0" spc="90" dirty="0">
              <a:solidFill>
                <a:srgbClr val="FFFF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27100" lvl="1" indent="-457200" algn="l" rtl="0" eaLnBrk="0">
              <a:lnSpc>
                <a:spcPct val="95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模拟器</a:t>
            </a: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Packet Tracer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：</a:t>
            </a: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6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次（每次</a:t>
            </a: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6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课时）</a:t>
            </a:r>
            <a:endParaRPr lang="zh-CN" altLang="en-US" sz="2800" dirty="0" smtClean="0">
              <a:solidFill>
                <a:schemeClr val="bg1"/>
              </a:solidFill>
              <a:sym typeface="+mn-ea"/>
            </a:endParaRPr>
          </a:p>
          <a:p>
            <a:pPr marL="927100" lvl="1" indent="-457200" algn="l" rtl="0" eaLnBrk="0">
              <a:lnSpc>
                <a:spcPct val="95000"/>
              </a:lnSpc>
              <a:spcBef>
                <a:spcPts val="850"/>
              </a:spcBef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H3C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设备：</a:t>
            </a: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次（每次</a:t>
            </a:r>
            <a:r>
              <a:rPr lang="en-US" altLang="zh-CN" sz="2800" dirty="0" smtClean="0">
                <a:solidFill>
                  <a:schemeClr val="bg1"/>
                </a:solidFill>
                <a:sym typeface="+mn-ea"/>
              </a:rPr>
              <a:t>6</a:t>
            </a:r>
            <a:r>
              <a:rPr lang="zh-CN" altLang="en-US" sz="2800" dirty="0" smtClean="0">
                <a:solidFill>
                  <a:schemeClr val="bg1"/>
                </a:solidFill>
                <a:sym typeface="+mn-ea"/>
              </a:rPr>
              <a:t>课时）</a:t>
            </a:r>
            <a:endParaRPr lang="zh-CN" altLang="en-US" sz="28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44500" y="569595"/>
            <a:ext cx="6919595" cy="56134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课时分配</a:t>
            </a:r>
            <a:endParaRPr lang="en-US" altLang="en-US" sz="45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03000"/>
              </a:lnSpc>
            </a:pPr>
            <a:endParaRPr lang="en-US" altLang="en-US" sz="8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r>
              <a:rPr sz="3300" b="1" kern="0" spc="4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2学分(32课时)</a:t>
            </a:r>
            <a:endParaRPr sz="3300" b="1" kern="0" spc="430" dirty="0">
              <a:solidFill>
                <a:srgbClr val="FFFF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r>
              <a:rPr lang="zh-CN" altLang="en-US" sz="2400" b="1" dirty="0">
                <a:solidFill>
                  <a:schemeClr val="bg1"/>
                </a:solidFill>
                <a:sym typeface="+mn-ea"/>
              </a:rPr>
              <a:t>每次实验开始之前会有关于实验的简单讲解。</a:t>
            </a: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每次：</a:t>
            </a:r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课时讲解</a:t>
            </a:r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+6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课时实验</a:t>
            </a:r>
            <a:r>
              <a:rPr lang="en-US" altLang="zh-CN" sz="2400" b="1" dirty="0" smtClean="0">
                <a:solidFill>
                  <a:schemeClr val="bg1"/>
                </a:solidFill>
                <a:sym typeface="+mn-ea"/>
              </a:rPr>
              <a:t>=7</a:t>
            </a:r>
            <a:r>
              <a:rPr lang="zh-CN" altLang="en-US" sz="2400" b="1" dirty="0" smtClean="0">
                <a:solidFill>
                  <a:schemeClr val="bg1"/>
                </a:solidFill>
                <a:sym typeface="+mn-ea"/>
              </a:rPr>
              <a:t>课时</a:t>
            </a:r>
            <a:endParaRPr lang="en-US" altLang="zh-CN" sz="3300" dirty="0" smtClean="0"/>
          </a:p>
          <a:p>
            <a:pPr marL="22860" algn="l" rtl="0" eaLnBrk="0">
              <a:lnSpc>
                <a:spcPct val="95000"/>
              </a:lnSpc>
              <a:spcBef>
                <a:spcPts val="5"/>
              </a:spcBef>
            </a:pPr>
            <a:endParaRPr lang="en-US" altLang="en-US" sz="3300" dirty="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7067"/>
            <a:ext cx="2012960" cy="2127214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2909570" y="6548755"/>
            <a:ext cx="2313305" cy="2133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</a:t>
            </a:r>
            <a:r>
              <a:rPr lang="en-US"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年秋季《计算机与网络安全》</a:t>
            </a:r>
            <a:endParaRPr lang="en-US" altLang="en-US" sz="1200" dirty="0"/>
          </a:p>
        </p:txBody>
      </p:sp>
      <p:sp>
        <p:nvSpPr>
          <p:cNvPr id="28" name="textbox 28"/>
          <p:cNvSpPr/>
          <p:nvPr/>
        </p:nvSpPr>
        <p:spPr>
          <a:xfrm>
            <a:off x="5342255" y="6548755"/>
            <a:ext cx="694690" cy="2038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b="1" kern="0" spc="-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7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endParaRPr lang="en-US" altLang="en-US" sz="1200" dirty="0"/>
          </a:p>
        </p:txBody>
      </p:sp>
      <p:sp>
        <p:nvSpPr>
          <p:cNvPr id="30" name="textbox 30"/>
          <p:cNvSpPr/>
          <p:nvPr/>
        </p:nvSpPr>
        <p:spPr>
          <a:xfrm>
            <a:off x="8248630" y="6592392"/>
            <a:ext cx="92710" cy="1689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760584" y="567323"/>
            <a:ext cx="6456679" cy="3335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2000"/>
              </a:lnSpc>
            </a:pPr>
            <a:r>
              <a:rPr sz="4700" b="1" kern="0" spc="-19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考核方式</a:t>
            </a:r>
            <a:endParaRPr lang="en-US" altLang="en-US" sz="4700" b="1" dirty="0"/>
          </a:p>
          <a:p>
            <a:pPr algn="l" rtl="0" eaLnBrk="0">
              <a:lnSpc>
                <a:spcPct val="146000"/>
              </a:lnSpc>
            </a:pPr>
            <a:endParaRPr lang="en-US" altLang="en-US" sz="1000" dirty="0"/>
          </a:p>
          <a:p>
            <a:pPr algn="l" rtl="0" eaLnBrk="0">
              <a:lnSpc>
                <a:spcPct val="146000"/>
              </a:lnSpc>
            </a:pPr>
            <a:endParaRPr lang="en-US" altLang="en-US" sz="1000" dirty="0"/>
          </a:p>
          <a:p>
            <a:pPr marL="781685" indent="-457200" algn="l" rtl="0" eaLnBrk="0">
              <a:lnSpc>
                <a:spcPct val="9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3300" b="1" kern="0" spc="3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实验报告:</a:t>
            </a:r>
            <a:r>
              <a:rPr lang="en-US" sz="3300" b="1" kern="0" spc="3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</a:t>
            </a:r>
            <a:r>
              <a:rPr sz="3300" b="1" kern="0" spc="3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  <a:endParaRPr lang="en-US" altLang="en-US" sz="3300" b="1" dirty="0"/>
          </a:p>
          <a:p>
            <a:pPr marL="171450" indent="-171450" algn="l" rtl="0" eaLnBrk="0">
              <a:lnSpc>
                <a:spcPct val="142000"/>
              </a:lnSpc>
              <a:buFont typeface="Arial" panose="020B0604020202020204" pitchFamily="34" charset="0"/>
              <a:buChar char="•"/>
            </a:pPr>
            <a:endParaRPr lang="en-US" altLang="en-US" sz="1000" b="1" dirty="0"/>
          </a:p>
          <a:p>
            <a:pPr marL="781685" indent="-457200" algn="l" rtl="0" eaLnBrk="0">
              <a:lnSpc>
                <a:spcPts val="6650"/>
              </a:lnSpc>
              <a:buFont typeface="Arial" panose="020B0604020202020204" pitchFamily="34" charset="0"/>
              <a:buChar char="•"/>
            </a:pPr>
            <a:r>
              <a:rPr sz="3300" b="1" kern="0" spc="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验收：20%</a:t>
            </a:r>
            <a:endParaRPr lang="en-US" altLang="en-US" sz="3300" b="1" dirty="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7067"/>
            <a:ext cx="2000250" cy="212090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374040" y="6542808"/>
            <a:ext cx="4968875" cy="2101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455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</a:t>
            </a:r>
            <a:r>
              <a:rPr lang="en-US"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en-US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932296" y="3564228"/>
            <a:ext cx="4781550" cy="31889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8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举例</a:t>
            </a:r>
            <a:endParaRPr lang="en-US" altLang="en-US" sz="28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marL="112395" algn="l" rtl="0" eaLnBrk="0">
              <a:lnSpc>
                <a:spcPct val="97000"/>
              </a:lnSpc>
              <a:spcBef>
                <a:spcPts val="575"/>
              </a:spcBef>
            </a:pPr>
            <a:r>
              <a:rPr sz="19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一物理层比特</a:t>
            </a:r>
            <a:r>
              <a:rPr sz="19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bit</a:t>
            </a:r>
            <a:r>
              <a:rPr sz="19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900" kern="0" spc="-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</a:t>
            </a:r>
            <a:endParaRPr lang="en-US" altLang="en-US" sz="19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marL="108585" algn="l" rtl="0" eaLnBrk="0">
              <a:lnSpc>
                <a:spcPct val="97000"/>
              </a:lnSpc>
              <a:spcBef>
                <a:spcPts val="575"/>
              </a:spcBef>
            </a:pP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一数据链路层是帧</a:t>
            </a:r>
            <a:r>
              <a:rPr sz="1900" kern="0" spc="-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frame</a:t>
            </a: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900" kern="0" spc="7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</a:t>
            </a:r>
            <a:endParaRPr lang="en-US" altLang="en-US" sz="19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marL="112395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一网络层是分组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packet</a:t>
            </a: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</a:t>
            </a:r>
            <a:endParaRPr lang="en-US" altLang="en-US" sz="1900" dirty="0"/>
          </a:p>
          <a:p>
            <a:pPr marL="112395" algn="l" rtl="0" eaLnBrk="0">
              <a:lnSpc>
                <a:spcPts val="3990"/>
              </a:lnSpc>
            </a:pP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一传输层是报文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message</a:t>
            </a: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900" kern="0" spc="5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</a:t>
            </a:r>
            <a:r>
              <a:rPr sz="19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</a:t>
            </a:r>
            <a:endParaRPr lang="en-US" altLang="en-US" sz="19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300" dirty="0"/>
          </a:p>
          <a:p>
            <a:pPr algn="r" rtl="0" eaLnBrk="0">
              <a:lnSpc>
                <a:spcPts val="1455"/>
              </a:lnSpc>
              <a:spcBef>
                <a:spcPts val="0"/>
              </a:spcBef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</a:t>
            </a:r>
            <a:r>
              <a:rPr lang="en-US"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endParaRPr lang="en-US" altLang="en-US" sz="1200" dirty="0"/>
          </a:p>
        </p:txBody>
      </p:sp>
      <p:sp>
        <p:nvSpPr>
          <p:cNvPr id="44" name="textbox 44"/>
          <p:cNvSpPr/>
          <p:nvPr/>
        </p:nvSpPr>
        <p:spPr>
          <a:xfrm>
            <a:off x="763751" y="588267"/>
            <a:ext cx="6787515" cy="13081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b="1" kern="0" spc="1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实验课程与理论课之间关系</a:t>
            </a:r>
            <a:endParaRPr lang="en-US" altLang="en-US" sz="4400" dirty="0"/>
          </a:p>
          <a:p>
            <a:pPr algn="l" rtl="0" eaLnBrk="0">
              <a:lnSpc>
                <a:spcPct val="100000"/>
              </a:lnSpc>
            </a:pPr>
            <a:endParaRPr lang="en-US" altLang="en-US" sz="1500" dirty="0"/>
          </a:p>
          <a:p>
            <a:pPr marL="347345" algn="l" rtl="0" eaLnBrk="0">
              <a:lnSpc>
                <a:spcPct val="96000"/>
              </a:lnSpc>
            </a:pPr>
            <a:r>
              <a:rPr sz="2800" kern="0" spc="-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《计算机网络》《网络管理》等</a:t>
            </a:r>
            <a:endParaRPr lang="en-US" altLang="en-US" sz="2800" dirty="0"/>
          </a:p>
        </p:txBody>
      </p:sp>
      <p:sp>
        <p:nvSpPr>
          <p:cNvPr id="46" name="textbox 46"/>
          <p:cNvSpPr/>
          <p:nvPr/>
        </p:nvSpPr>
        <p:spPr>
          <a:xfrm>
            <a:off x="932247" y="2174649"/>
            <a:ext cx="7547609" cy="10744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8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理论课内容是实验的基础，实</a:t>
            </a: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验又是对理论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</a:t>
            </a:r>
            <a:endParaRPr lang="en-US" altLang="en-US" sz="2800" dirty="0"/>
          </a:p>
          <a:p>
            <a:pPr algn="l" rtl="0" eaLnBrk="0">
              <a:lnSpc>
                <a:spcPct val="104000"/>
              </a:lnSpc>
            </a:pPr>
            <a:endParaRPr lang="en-US" altLang="en-US" sz="1400" dirty="0"/>
          </a:p>
          <a:p>
            <a:pPr algn="l" rtl="0" eaLnBrk="0">
              <a:lnSpc>
                <a:spcPct val="14000"/>
              </a:lnSpc>
            </a:pPr>
            <a:endParaRPr lang="en-US" altLang="en-US" sz="100" dirty="0"/>
          </a:p>
          <a:p>
            <a:pPr marL="69215" algn="l" rtl="0" eaLnBrk="0">
              <a:lnSpc>
                <a:spcPct val="97000"/>
              </a:lnSpc>
            </a:pPr>
            <a:r>
              <a:rPr sz="2800" b="1" kern="0" spc="-2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的运用和理解。</a:t>
            </a:r>
            <a:endParaRPr lang="en-US" altLang="en-US" sz="2800" dirty="0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7067"/>
            <a:ext cx="2127260" cy="2190719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8248629" y="6589052"/>
            <a:ext cx="95885" cy="1720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en-US" altLang="en-US" sz="1200" dirty="0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9119" y="3721082"/>
            <a:ext cx="25420" cy="120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267970"/>
            <a:ext cx="9144000" cy="6858000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769903" y="594645"/>
            <a:ext cx="7325994" cy="16224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lang="en-US"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H3C</a:t>
            </a:r>
            <a:r>
              <a:rPr lang="zh-CN" altLang="en-US"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r>
              <a:rPr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</a:t>
            </a:r>
            <a:endParaRPr sz="4400" b="1" kern="0" spc="0" dirty="0">
              <a:solidFill>
                <a:srgbClr val="FFFF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sz="4400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基于实验室设备</a:t>
            </a:r>
            <a:endParaRPr lang="en-US" altLang="en-US" sz="44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700" dirty="0"/>
          </a:p>
          <a:p>
            <a:pPr marL="251460" algn="l" rtl="0" eaLnBrk="0">
              <a:lnSpc>
                <a:spcPct val="96000"/>
              </a:lnSpc>
            </a:pP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3100" kern="0" spc="-6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100" b="1" kern="0" spc="3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MSR</a:t>
            </a:r>
            <a:r>
              <a:rPr sz="3100" b="1" kern="0" spc="3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810-W-DB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无线路由器</a:t>
            </a:r>
            <a:endParaRPr lang="en-US" altLang="en-US" sz="3100" dirty="0"/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6369" y="4518687"/>
            <a:ext cx="4718121" cy="1460479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23140" y="4330689"/>
            <a:ext cx="2120859" cy="2203475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3374050" y="6538367"/>
            <a:ext cx="4970779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465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500" kern="0" spc="-20" baseline="-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lang="en-US" altLang="en-US" sz="1500" baseline="-3000" dirty="0"/>
          </a:p>
        </p:txBody>
      </p:sp>
      <p:sp>
        <p:nvSpPr>
          <p:cNvPr id="114" name="textbox 114"/>
          <p:cNvSpPr/>
          <p:nvPr/>
        </p:nvSpPr>
        <p:spPr>
          <a:xfrm>
            <a:off x="1861868" y="3136354"/>
            <a:ext cx="831214" cy="304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800" i="1" kern="0" spc="-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历安毛子种技大学</a:t>
            </a:r>
            <a:endParaRPr lang="en-US" altLang="en-US" sz="800" dirty="0"/>
          </a:p>
          <a:p>
            <a:pPr marL="61595" indent="-38100" algn="l" rtl="0" eaLnBrk="0">
              <a:lnSpc>
                <a:spcPct val="81000"/>
              </a:lnSpc>
              <a:spcBef>
                <a:spcPts val="10"/>
              </a:spcBef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XIDIAN UNIV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ERSITY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无线路由器</a:t>
            </a:r>
            <a:endParaRPr lang="en-US" altLang="en-US" sz="800" dirty="0"/>
          </a:p>
        </p:txBody>
      </p:sp>
      <p:sp>
        <p:nvSpPr>
          <p:cNvPr id="116" name="textbox 116"/>
          <p:cNvSpPr/>
          <p:nvPr/>
        </p:nvSpPr>
        <p:spPr>
          <a:xfrm>
            <a:off x="5873749" y="3041419"/>
            <a:ext cx="514350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第一组</a:t>
            </a:r>
            <a:endParaRPr lang="en-US" altLang="en-US" sz="1300" dirty="0"/>
          </a:p>
        </p:txBody>
      </p:sp>
      <p:sp>
        <p:nvSpPr>
          <p:cNvPr id="118" name="textbox 118"/>
          <p:cNvSpPr/>
          <p:nvPr/>
        </p:nvSpPr>
        <p:spPr>
          <a:xfrm>
            <a:off x="1974840" y="3648351"/>
            <a:ext cx="321945" cy="977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17015705</a:t>
            </a:r>
            <a:endParaRPr lang="en-US" alt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5794" y="3195960"/>
            <a:ext cx="5994440" cy="2978155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767882" y="1725127"/>
            <a:ext cx="6273800" cy="12636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2台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MSR 36-40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企业级路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由器</a:t>
            </a:r>
            <a:endParaRPr lang="en-US" altLang="en-US" sz="3200" dirty="0"/>
          </a:p>
          <a:p>
            <a:pPr marL="12700" algn="l" rtl="0" eaLnBrk="0">
              <a:lnSpc>
                <a:spcPts val="6500"/>
              </a:lnSpc>
            </a:pPr>
            <a:r>
              <a:rPr sz="3200" b="1" kern="0" spc="-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1台</a:t>
            </a:r>
            <a:r>
              <a:rPr sz="3200" b="1" kern="0" spc="-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MSR 26</a:t>
            </a:r>
            <a:r>
              <a:rPr sz="3200" b="1" kern="0" spc="-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-00</a:t>
            </a:r>
            <a:r>
              <a:rPr sz="3200" b="1" kern="0" spc="-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路由器。</a:t>
            </a:r>
            <a:endParaRPr lang="en-US" altLang="en-US" sz="3200" dirty="0"/>
          </a:p>
        </p:txBody>
      </p:sp>
      <p:sp>
        <p:nvSpPr>
          <p:cNvPr id="126" name="textbox 126"/>
          <p:cNvSpPr/>
          <p:nvPr/>
        </p:nvSpPr>
        <p:spPr>
          <a:xfrm>
            <a:off x="3374040" y="6542808"/>
            <a:ext cx="4975225" cy="2178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2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100" kern="0" spc="-50" baseline="-10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lang="en-US" altLang="en-US" sz="2100" baseline="-10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7859" y="3663955"/>
            <a:ext cx="6826268" cy="2095462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1051182" y="1914508"/>
            <a:ext cx="5732145" cy="1289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3300" b="1" kern="0" spc="-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2台</a:t>
            </a:r>
            <a:r>
              <a:rPr sz="3300" b="1" kern="0" spc="-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S5130</a:t>
            </a:r>
            <a:r>
              <a:rPr sz="3300" b="1" kern="0" spc="-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S-28P-EI</a:t>
            </a:r>
            <a:r>
              <a:rPr sz="3300" b="1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交换机</a:t>
            </a:r>
            <a:endParaRPr lang="en-US" altLang="en-US" sz="3300" dirty="0"/>
          </a:p>
          <a:p>
            <a:pPr marL="12700" algn="l" rtl="0" eaLnBrk="0">
              <a:lnSpc>
                <a:spcPts val="6650"/>
              </a:lnSpc>
            </a:pPr>
            <a:r>
              <a:rPr sz="3300" b="1" kern="0" spc="-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1台H3C</a:t>
            </a:r>
            <a:r>
              <a:rPr sz="33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300" b="1" kern="0" spc="-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S5560-30S-EI交换</a:t>
            </a:r>
            <a:r>
              <a:rPr sz="3300" b="1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lang="en-US" altLang="en-US" sz="3300" dirty="0"/>
          </a:p>
        </p:txBody>
      </p:sp>
      <p:sp>
        <p:nvSpPr>
          <p:cNvPr id="134" name="textbox 134"/>
          <p:cNvSpPr/>
          <p:nvPr/>
        </p:nvSpPr>
        <p:spPr>
          <a:xfrm>
            <a:off x="3374039" y="6549064"/>
            <a:ext cx="497840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 </a:t>
            </a:r>
            <a:r>
              <a:rPr sz="1800" kern="0" spc="-30" baseline="-6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lang="en-US" altLang="en-US" sz="1800" baseline="-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692119" y="3241642"/>
            <a:ext cx="2473960" cy="17595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38100" algn="l" rtl="0" eaLnBrk="0">
              <a:lnSpc>
                <a:spcPts val="2195"/>
              </a:lnSpc>
            </a:pPr>
            <a:r>
              <a:rPr sz="29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H3CNE</a:t>
            </a:r>
            <a:endParaRPr lang="en-US" altLang="en-US" sz="2900" dirty="0"/>
          </a:p>
          <a:p>
            <a:pPr marL="12700" algn="l" rtl="0" eaLnBrk="0">
              <a:lnSpc>
                <a:spcPct val="97000"/>
              </a:lnSpc>
              <a:spcBef>
                <a:spcPts val="10"/>
              </a:spcBef>
            </a:pPr>
            <a:r>
              <a:rPr sz="1000" kern="0" spc="70" baseline="6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王场川梁周0漏著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30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实验手册</a:t>
            </a:r>
            <a:endParaRPr lang="en-US" altLang="en-US" sz="3000" dirty="0"/>
          </a:p>
          <a:p>
            <a:pPr marL="920750" algn="l" rtl="0" eaLnBrk="0">
              <a:lnSpc>
                <a:spcPct val="71000"/>
              </a:lnSpc>
              <a:spcBef>
                <a:spcPts val="740"/>
              </a:spcBef>
            </a:pPr>
            <a:r>
              <a:rPr sz="600" kern="0" spc="50" dirty="0">
                <a:solidFill>
                  <a:srgbClr val="884F4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*0*M.a*</a:t>
            </a:r>
            <a:r>
              <a:rPr sz="600" kern="0" spc="0" dirty="0">
                <a:solidFill>
                  <a:srgbClr val="884F4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SONMXCNE</a:t>
            </a:r>
            <a:endParaRPr lang="en-US" altLang="en-US" sz="600" dirty="0"/>
          </a:p>
          <a:p>
            <a:pPr marL="920750" algn="l" rtl="0" eaLnBrk="0">
              <a:lnSpc>
                <a:spcPct val="83000"/>
              </a:lnSpc>
              <a:spcBef>
                <a:spcPts val="5"/>
              </a:spcBef>
            </a:pP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euaunzr</a:t>
            </a:r>
            <a:r>
              <a:rPr sz="800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TtaurueaeAa,cipm?azu</a:t>
            </a:r>
            <a:r>
              <a:rPr sz="800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</a:t>
            </a:r>
            <a:endParaRPr lang="en-US" altLang="en-US" sz="800" dirty="0"/>
          </a:p>
          <a:p>
            <a:pPr algn="l" rtl="0" eaLnBrk="0">
              <a:lnSpc>
                <a:spcPct val="135000"/>
              </a:lnSpc>
            </a:pPr>
            <a:endParaRPr lang="en-US" altLang="en-US" sz="1000" dirty="0"/>
          </a:p>
          <a:p>
            <a:pPr marL="1022350" algn="l" rtl="0" eaLnBrk="0">
              <a:lnSpc>
                <a:spcPts val="730"/>
              </a:lnSpc>
              <a:spcBef>
                <a:spcPts val="185"/>
              </a:spcBef>
            </a:pPr>
            <a:r>
              <a:rPr sz="600" kern="0" spc="-40" dirty="0">
                <a:solidFill>
                  <a:srgbClr val="A1372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解在你也证名，化实第而体作源</a:t>
            </a:r>
            <a:endParaRPr lang="en-US" altLang="en-US" sz="600" dirty="0"/>
          </a:p>
          <a:p>
            <a:pPr marL="920750" algn="l" rtl="0" eaLnBrk="0">
              <a:lnSpc>
                <a:spcPct val="76000"/>
              </a:lnSpc>
              <a:spcBef>
                <a:spcPts val="125"/>
              </a:spcBef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AK6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WERZNA*,*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Ca,Rn</a:t>
            </a:r>
            <a:endParaRPr lang="en-US" altLang="en-US" sz="600" dirty="0"/>
          </a:p>
          <a:p>
            <a:pPr marL="920750" algn="l" rtl="0" eaLnBrk="0">
              <a:lnSpc>
                <a:spcPct val="84000"/>
              </a:lnSpc>
              <a:spcBef>
                <a:spcPts val="0"/>
              </a:spcBef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4*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=**a=</a:t>
            </a:r>
            <a:endParaRPr lang="en-US" altLang="en-US" sz="6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29000"/>
              </a:lnSpc>
            </a:pPr>
            <a:endParaRPr lang="en-US" altLang="en-US" sz="100" dirty="0"/>
          </a:p>
          <a:p>
            <a:pPr marL="920750" algn="l" rtl="0" eaLnBrk="0">
              <a:lnSpc>
                <a:spcPts val="650"/>
              </a:lnSpc>
            </a:pPr>
            <a:r>
              <a:rPr sz="500" kern="0" spc="-20" dirty="0">
                <a:solidFill>
                  <a:srgbClr val="894C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专动的老例理前家和查许的检道</a:t>
            </a:r>
            <a:endParaRPr lang="en-US" altLang="en-US" sz="500" dirty="0"/>
          </a:p>
        </p:txBody>
      </p:sp>
      <p:sp>
        <p:nvSpPr>
          <p:cNvPr id="140" name="textbox 140"/>
          <p:cNvSpPr/>
          <p:nvPr/>
        </p:nvSpPr>
        <p:spPr>
          <a:xfrm>
            <a:off x="770086" y="578105"/>
            <a:ext cx="4531995" cy="6737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线下实验参考书</a:t>
            </a:r>
            <a:r>
              <a:rPr lang="zh-CN"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</a:t>
            </a:r>
            <a:endParaRPr lang="zh-CN" sz="4500" b="1" kern="0" spc="-80" dirty="0">
              <a:solidFill>
                <a:srgbClr val="FFFF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42" name="table 142"/>
          <p:cNvGraphicFramePr>
            <a:graphicFrameLocks noGrp="1"/>
          </p:cNvGraphicFramePr>
          <p:nvPr/>
        </p:nvGraphicFramePr>
        <p:xfrm>
          <a:off x="4019518" y="3357294"/>
          <a:ext cx="1096010" cy="1534795"/>
        </p:xfrm>
        <a:graphic>
          <a:graphicData uri="http://schemas.openxmlformats.org/drawingml/2006/table">
            <a:tbl>
              <a:tblPr/>
              <a:tblGrid>
                <a:gridCol w="1096010"/>
              </a:tblGrid>
              <a:tr h="1209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400" dirty="0"/>
                    </a:p>
                    <a:p>
                      <a:pPr marL="753745" algn="l" rtl="0" eaLnBrk="0">
                        <a:lnSpc>
                          <a:spcPts val="625"/>
                        </a:lnSpc>
                        <a:spcBef>
                          <a:spcPts val="0"/>
                        </a:spcBef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技 术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43000"/>
                        </a:lnSpc>
                      </a:pPr>
                      <a:endParaRPr lang="en-US" altLang="en-US" sz="1000" dirty="0"/>
                    </a:p>
                    <a:p>
                      <a:pPr marL="10795" algn="l" rtl="0" eaLnBrk="0">
                        <a:lnSpc>
                          <a:spcPts val="625"/>
                        </a:lnSpc>
                        <a:spcBef>
                          <a:spcPts val="155"/>
                        </a:spcBef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时由交接技来</a:t>
                      </a:r>
                      <a:endParaRPr lang="en-US" altLang="en-US" sz="500" dirty="0"/>
                    </a:p>
                    <a:p>
                      <a:pPr marL="492760" algn="l" rtl="0" eaLnBrk="0">
                        <a:lnSpc>
                          <a:spcPct val="91000"/>
                        </a:lnSpc>
                        <a:spcBef>
                          <a:spcPts val="975"/>
                        </a:spcBef>
                      </a:pPr>
                      <a:r>
                        <a:rPr sz="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分析教程。实路</a:t>
                      </a:r>
                      <a:endParaRPr lang="en-US" altLang="en-US" sz="500" dirty="0"/>
                    </a:p>
                    <a:p>
                      <a:pPr marL="904875" algn="l" rtl="0" eaLnBrk="0">
                        <a:lnSpc>
                          <a:spcPts val="1395"/>
                        </a:lnSpc>
                      </a:pPr>
                      <a:r>
                        <a:rPr sz="500" kern="0" spc="7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册</a:t>
                      </a:r>
                      <a:endParaRPr lang="en-US" altLang="en-US" sz="5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8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80645" algn="l" rtl="0" eaLnBrk="0">
                        <a:lnSpc>
                          <a:spcPts val="625"/>
                        </a:lnSpc>
                      </a:pP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路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接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技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术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详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臣</a:t>
                      </a:r>
                      <a:endParaRPr lang="en-US" altLang="en-US" sz="500" dirty="0"/>
                    </a:p>
                  </a:txBody>
                  <a:tcPr marL="0" marR="0" marT="0" marB="0" vert="eaVer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5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r" rtl="0" eaLnBrk="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sz="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A民世</a:t>
                      </a:r>
                      <a:endParaRPr lang="en-US" altLang="en-US" sz="500" dirty="0"/>
                    </a:p>
                  </a:txBody>
                  <a:tcPr marL="0" marR="0" marT="0" marB="0" vert="eaVer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4" name="textbox 144"/>
          <p:cNvSpPr/>
          <p:nvPr/>
        </p:nvSpPr>
        <p:spPr>
          <a:xfrm>
            <a:off x="3374050" y="6538367"/>
            <a:ext cx="4980940" cy="2127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sz="1900" kern="0" spc="-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900" kern="0" spc="-2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en-US" altLang="en-US" sz="1900" baseline="-5000" dirty="0"/>
          </a:p>
        </p:txBody>
      </p:sp>
      <p:sp>
        <p:nvSpPr>
          <p:cNvPr id="146" name="textbox 146"/>
          <p:cNvSpPr/>
          <p:nvPr/>
        </p:nvSpPr>
        <p:spPr>
          <a:xfrm>
            <a:off x="1600210" y="5021647"/>
            <a:ext cx="1559560" cy="4356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       ac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Ran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koneh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**?.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xmetasr</a:t>
            </a:r>
            <a:endParaRPr lang="en-US" altLang="en-US" sz="800" dirty="0"/>
          </a:p>
          <a:p>
            <a:pPr algn="l" rtl="0" eaLnBrk="0">
              <a:lnSpc>
                <a:spcPct val="105000"/>
              </a:lnSpc>
            </a:pPr>
            <a:endParaRPr lang="en-US" altLang="en-US" sz="11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algn="r" rtl="0" eaLnBrk="0">
              <a:lnSpc>
                <a:spcPts val="1045"/>
              </a:lnSpc>
            </a:pP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人民解电出赔其</a:t>
            </a:r>
            <a:endParaRPr lang="en-US" altLang="en-US" sz="600" dirty="0"/>
          </a:p>
        </p:txBody>
      </p:sp>
      <p:sp>
        <p:nvSpPr>
          <p:cNvPr id="148" name="textbox 148"/>
          <p:cNvSpPr/>
          <p:nvPr/>
        </p:nvSpPr>
        <p:spPr>
          <a:xfrm>
            <a:off x="1601587" y="1818892"/>
            <a:ext cx="1534794" cy="255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indent="95250" algn="l" rtl="0" eaLnBrk="0">
              <a:lnSpc>
                <a:spcPct val="94000"/>
              </a:lnSpc>
            </a:pP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根据最新的H3CNE</a:t>
            </a:r>
            <a:r>
              <a:rPr sz="800" kern="0" spc="3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考试大细</a:t>
            </a:r>
            <a:r>
              <a:rPr sz="8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全面讲解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H3CNE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数程所沙及</a:t>
            </a:r>
            <a:r>
              <a:rPr sz="8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的卖验</a:t>
            </a:r>
            <a:endParaRPr lang="en-US" altLang="en-US" sz="800" dirty="0"/>
          </a:p>
        </p:txBody>
      </p:sp>
      <p:sp>
        <p:nvSpPr>
          <p:cNvPr id="150" name="textbox 150"/>
          <p:cNvSpPr/>
          <p:nvPr/>
        </p:nvSpPr>
        <p:spPr>
          <a:xfrm rot="16200000">
            <a:off x="6998962" y="3450959"/>
            <a:ext cx="682625" cy="1123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15"/>
              </a:lnSpc>
            </a:pPr>
            <a:r>
              <a:rPr sz="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盛肆是蠹理某定或交盘色</a:t>
            </a:r>
            <a:endParaRPr lang="en-US" altLang="en-US" sz="500" dirty="0"/>
          </a:p>
        </p:txBody>
      </p:sp>
      <p:sp>
        <p:nvSpPr>
          <p:cNvPr id="152" name="textbox 152"/>
          <p:cNvSpPr/>
          <p:nvPr/>
        </p:nvSpPr>
        <p:spPr>
          <a:xfrm>
            <a:off x="7279204" y="3220825"/>
            <a:ext cx="150495" cy="1643379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阅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木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院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教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1300" kern="0" spc="40" baseline="-12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</a:t>
            </a:r>
            <a:endParaRPr lang="en-US" altLang="en-US" sz="1300" baseline="-12000" dirty="0"/>
          </a:p>
        </p:txBody>
      </p:sp>
      <p:sp>
        <p:nvSpPr>
          <p:cNvPr id="154" name="textbox 154"/>
          <p:cNvSpPr/>
          <p:nvPr/>
        </p:nvSpPr>
        <p:spPr>
          <a:xfrm>
            <a:off x="7877167" y="2768583"/>
            <a:ext cx="105410" cy="148780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册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繁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园</a:t>
            </a:r>
            <a:endParaRPr lang="en-US" altLang="en-US" sz="500" dirty="0"/>
          </a:p>
        </p:txBody>
      </p:sp>
      <p:sp>
        <p:nvSpPr>
          <p:cNvPr id="156" name="textbox 156"/>
          <p:cNvSpPr/>
          <p:nvPr/>
        </p:nvSpPr>
        <p:spPr>
          <a:xfrm>
            <a:off x="8270861" y="2834812"/>
            <a:ext cx="105410" cy="142748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册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黛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藏</a:t>
            </a:r>
            <a:endParaRPr lang="en-US" altLang="en-US" sz="500" dirty="0"/>
          </a:p>
        </p:txBody>
      </p:sp>
      <p:sp>
        <p:nvSpPr>
          <p:cNvPr id="158" name="textbox 158"/>
          <p:cNvSpPr/>
          <p:nvPr/>
        </p:nvSpPr>
        <p:spPr>
          <a:xfrm>
            <a:off x="596930" y="1868502"/>
            <a:ext cx="527684" cy="2787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2000" b="1" kern="0" spc="-20" dirty="0">
                <a:solidFill>
                  <a:srgbClr val="B1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H3C</a:t>
            </a:r>
            <a:endParaRPr lang="en-US" altLang="en-US" sz="2000" dirty="0"/>
          </a:p>
        </p:txBody>
      </p:sp>
      <p:sp>
        <p:nvSpPr>
          <p:cNvPr id="160" name="textbox 160"/>
          <p:cNvSpPr/>
          <p:nvPr/>
        </p:nvSpPr>
        <p:spPr>
          <a:xfrm>
            <a:off x="3870312" y="3393602"/>
            <a:ext cx="105410" cy="115633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略</a:t>
            </a:r>
            <a:r>
              <a:rPr sz="500" kern="0" spc="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术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</a:t>
            </a:r>
            <a:r>
              <a:rPr sz="5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</a:t>
            </a:r>
            <a:r>
              <a:rPr sz="5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践</a:t>
            </a:r>
            <a:endParaRPr lang="en-US" altLang="en-US" sz="500" dirty="0"/>
          </a:p>
        </p:txBody>
      </p:sp>
      <p:sp>
        <p:nvSpPr>
          <p:cNvPr id="162" name="textbox 162"/>
          <p:cNvSpPr/>
          <p:nvPr/>
        </p:nvSpPr>
        <p:spPr>
          <a:xfrm>
            <a:off x="8095760" y="2895824"/>
            <a:ext cx="113664" cy="883919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90"/>
              </a:lnSpc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℃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lang="en-US" altLang="en-US" sz="500" dirty="0"/>
          </a:p>
        </p:txBody>
      </p:sp>
      <p:sp>
        <p:nvSpPr>
          <p:cNvPr id="164" name="textbox 164"/>
          <p:cNvSpPr/>
          <p:nvPr/>
        </p:nvSpPr>
        <p:spPr>
          <a:xfrm>
            <a:off x="5115150" y="3590495"/>
            <a:ext cx="104775" cy="90170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MNA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路由与交模肇习指南</a:t>
            </a:r>
            <a:endParaRPr lang="en-US" altLang="en-US" sz="500" dirty="0"/>
          </a:p>
        </p:txBody>
      </p:sp>
      <p:sp>
        <p:nvSpPr>
          <p:cNvPr id="166" name="textbox 166"/>
          <p:cNvSpPr/>
          <p:nvPr/>
        </p:nvSpPr>
        <p:spPr>
          <a:xfrm>
            <a:off x="7623147" y="3203087"/>
            <a:ext cx="105410" cy="67246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时由器典型配置指母</a:t>
            </a:r>
            <a:endParaRPr lang="en-US" altLang="en-US" sz="500" dirty="0"/>
          </a:p>
        </p:txBody>
      </p:sp>
      <p:sp>
        <p:nvSpPr>
          <p:cNvPr id="168" name="textbox 168"/>
          <p:cNvSpPr/>
          <p:nvPr/>
        </p:nvSpPr>
        <p:spPr>
          <a:xfrm>
            <a:off x="7619979" y="4586880"/>
            <a:ext cx="154304" cy="3790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2785"/>
              </a:lnSpc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en-US" altLang="en-US" sz="2200" dirty="0"/>
          </a:p>
        </p:txBody>
      </p:sp>
      <p:sp>
        <p:nvSpPr>
          <p:cNvPr id="170" name="textbox 170"/>
          <p:cNvSpPr/>
          <p:nvPr/>
        </p:nvSpPr>
        <p:spPr>
          <a:xfrm>
            <a:off x="8496262" y="3310068"/>
            <a:ext cx="105410" cy="52260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5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lang="en-US" altLang="en-US" sz="500" dirty="0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08940" y="4406882"/>
            <a:ext cx="139629" cy="158762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 rot="16200000">
            <a:off x="4728844" y="3482177"/>
            <a:ext cx="376554" cy="1016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500" kern="0" spc="-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年时而时或生</a:t>
            </a:r>
            <a:endParaRPr lang="en-US" altLang="en-US" sz="500" dirty="0"/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40694" y="3870312"/>
            <a:ext cx="63459" cy="228611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13584" y="3870311"/>
            <a:ext cx="66659" cy="212735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97744" y="3844937"/>
            <a:ext cx="63459" cy="222233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24830" y="2578127"/>
            <a:ext cx="107899" cy="114254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5022809" y="3726746"/>
            <a:ext cx="106045" cy="1352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86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</a:t>
            </a:r>
            <a:endParaRPr lang="en-US" altLang="en-US" sz="600" dirty="0"/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97769" y="4432325"/>
            <a:ext cx="69860" cy="114254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019518" y="4759314"/>
            <a:ext cx="47640" cy="117511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8505320" y="3096568"/>
            <a:ext cx="95885" cy="9525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●</a:t>
            </a:r>
            <a:endParaRPr lang="en-US" altLang="en-US" sz="500" dirty="0"/>
          </a:p>
        </p:txBody>
      </p:sp>
      <p:sp>
        <p:nvSpPr>
          <p:cNvPr id="192" name="textbox 192"/>
          <p:cNvSpPr/>
          <p:nvPr/>
        </p:nvSpPr>
        <p:spPr>
          <a:xfrm rot="16200000">
            <a:off x="8126031" y="4754848"/>
            <a:ext cx="92710" cy="1136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20"/>
              </a:lnSpc>
              <a:spcBef>
                <a:spcPts val="0"/>
              </a:spcBef>
            </a:pP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犀</a:t>
            </a:r>
            <a:endParaRPr lang="en-US" altLang="en-US" sz="500" dirty="0"/>
          </a:p>
        </p:txBody>
      </p:sp>
      <p:sp>
        <p:nvSpPr>
          <p:cNvPr id="194" name="textbox 194"/>
          <p:cNvSpPr/>
          <p:nvPr/>
        </p:nvSpPr>
        <p:spPr>
          <a:xfrm rot="16200000">
            <a:off x="7112707" y="3704040"/>
            <a:ext cx="88264" cy="161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300" dirty="0"/>
          </a:p>
          <a:p>
            <a:pPr marL="12700" algn="l" rtl="0" eaLnBrk="0">
              <a:lnSpc>
                <a:spcPts val="810"/>
              </a:lnSpc>
              <a:spcBef>
                <a:spcPts val="5"/>
              </a:spcBef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endParaRPr lang="en-US" altLang="en-US" sz="500" dirty="0"/>
          </a:p>
        </p:txBody>
      </p:sp>
      <p:sp>
        <p:nvSpPr>
          <p:cNvPr id="196" name="textbox 196"/>
          <p:cNvSpPr/>
          <p:nvPr/>
        </p:nvSpPr>
        <p:spPr>
          <a:xfrm>
            <a:off x="8522782" y="2883068"/>
            <a:ext cx="95885" cy="8636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500" kern="0" spc="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en-US" sz="500" dirty="0"/>
          </a:p>
        </p:txBody>
      </p:sp>
      <p:sp>
        <p:nvSpPr>
          <p:cNvPr id="198" name="textbox 198"/>
          <p:cNvSpPr/>
          <p:nvPr/>
        </p:nvSpPr>
        <p:spPr>
          <a:xfrm>
            <a:off x="3803639" y="4835843"/>
            <a:ext cx="57150" cy="1111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670"/>
              </a:lnSpc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en-US" altLang="en-US" sz="500" dirty="0"/>
          </a:p>
        </p:txBody>
      </p:sp>
      <p:sp>
        <p:nvSpPr>
          <p:cNvPr id="200" name="textbox 200"/>
          <p:cNvSpPr/>
          <p:nvPr/>
        </p:nvSpPr>
        <p:spPr>
          <a:xfrm rot="5400000">
            <a:off x="6964955" y="3192697"/>
            <a:ext cx="52705" cy="1060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4000"/>
              </a:lnSpc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en-US" sz="500" dirty="0"/>
          </a:p>
        </p:txBody>
      </p:sp>
      <p:sp>
        <p:nvSpPr>
          <p:cNvPr id="202" name="textbox 202"/>
          <p:cNvSpPr/>
          <p:nvPr/>
        </p:nvSpPr>
        <p:spPr>
          <a:xfrm rot="16200000">
            <a:off x="7072973" y="3240948"/>
            <a:ext cx="75564" cy="46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100" dirty="0"/>
          </a:p>
          <a:p>
            <a:pPr algn="r" rtl="0" eaLnBrk="0">
              <a:lnSpc>
                <a:spcPts val="140"/>
              </a:lnSpc>
            </a:pPr>
            <a:r>
              <a:rPr sz="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100" dirty="0"/>
          </a:p>
        </p:txBody>
      </p:sp>
      <p:sp>
        <p:nvSpPr>
          <p:cNvPr id="204" name="textbox 204"/>
          <p:cNvSpPr/>
          <p:nvPr/>
        </p:nvSpPr>
        <p:spPr>
          <a:xfrm rot="16200000">
            <a:off x="8152258" y="4278500"/>
            <a:ext cx="75564" cy="46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100" dirty="0"/>
          </a:p>
          <a:p>
            <a:pPr algn="r" rtl="0" eaLnBrk="0">
              <a:lnSpc>
                <a:spcPts val="140"/>
              </a:lnSpc>
            </a:pPr>
            <a:r>
              <a:rPr sz="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" name="textbox 96"/>
          <p:cNvSpPr/>
          <p:nvPr>
            <p:custDataLst>
              <p:tags r:id="rId1"/>
            </p:custDataLst>
          </p:nvPr>
        </p:nvSpPr>
        <p:spPr>
          <a:xfrm>
            <a:off x="770109" y="595009"/>
            <a:ext cx="3407409" cy="684530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实验资料</a:t>
            </a:r>
            <a:endParaRPr lang="en-US" altLang="en-US" sz="45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1800" y="1836420"/>
            <a:ext cx="7672070" cy="3384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1045845" y="4523105"/>
            <a:ext cx="7374890" cy="22301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sz="2300" kern="0" spc="-2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CSE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(H3C</a:t>
            </a:r>
            <a:r>
              <a:rPr sz="2300" b="1" kern="0" spc="1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认证高级网络工程师</a:t>
            </a:r>
            <a:r>
              <a:rPr sz="2300" b="1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en-US" sz="2300" dirty="0"/>
          </a:p>
          <a:p>
            <a:pPr algn="l" rtl="0" eaLnBrk="0">
              <a:lnSpc>
                <a:spcPct val="140000"/>
              </a:lnSpc>
            </a:pPr>
            <a:endParaRPr lang="en-US" altLang="en-US" sz="1000" dirty="0"/>
          </a:p>
          <a:p>
            <a:pPr marL="312420" indent="-300355" algn="l" rtl="0" eaLnBrk="0">
              <a:lnSpc>
                <a:spcPct val="129000"/>
              </a:lnSpc>
              <a:spcBef>
                <a:spcPts val="700"/>
              </a:spcBef>
            </a:pP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300" kern="0" spc="-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sz="2300" kern="0" spc="-2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CTE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(H3C</a:t>
            </a:r>
            <a:r>
              <a:rPr sz="2300" b="1" kern="0" spc="1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认证网络排错专家)和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CIE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1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认证互联网络专家)</a:t>
            </a:r>
            <a:endParaRPr lang="en-US" altLang="en-US" sz="23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algn="l" rtl="0" eaLnBrk="0">
              <a:lnSpc>
                <a:spcPct val="102000"/>
              </a:lnSpc>
            </a:pPr>
            <a:endParaRPr lang="en-US" altLang="en-US" sz="300" dirty="0"/>
          </a:p>
          <a:p>
            <a:pPr marL="2340610" algn="l" rtl="0" eaLnBrk="0">
              <a:lnSpc>
                <a:spcPts val="1505"/>
              </a:lnSpc>
              <a:spcBef>
                <a:spcPts val="5"/>
              </a:spcBef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30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endParaRPr lang="en-US" altLang="en-US" sz="1200" dirty="0"/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4889" y="1212837"/>
            <a:ext cx="5137189" cy="2114595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764115" y="559674"/>
            <a:ext cx="2356485" cy="15532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600" b="1" kern="0" spc="-4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H3C</a:t>
            </a:r>
            <a:r>
              <a:rPr sz="4600" kern="0" spc="-5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600" b="1" kern="0" spc="-4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</a:t>
            </a:r>
            <a:endParaRPr lang="en-US" altLang="en-US" sz="46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网络认证体系</a:t>
            </a:r>
            <a:endParaRPr lang="en-US" altLang="en-US" sz="2700" dirty="0"/>
          </a:p>
        </p:txBody>
      </p:sp>
      <p:sp>
        <p:nvSpPr>
          <p:cNvPr id="216" name="textbox 216"/>
          <p:cNvSpPr/>
          <p:nvPr/>
        </p:nvSpPr>
        <p:spPr>
          <a:xfrm>
            <a:off x="1041420" y="3901002"/>
            <a:ext cx="5233034" cy="346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23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300" kern="0" spc="-2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初级</a:t>
            </a: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CNE</a:t>
            </a: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(H3C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3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认证网络</a:t>
            </a:r>
            <a:r>
              <a:rPr sz="23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工程师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en-US" sz="2300" dirty="0"/>
          </a:p>
        </p:txBody>
      </p:sp>
      <p:sp>
        <p:nvSpPr>
          <p:cNvPr id="218" name="textbox 218"/>
          <p:cNvSpPr/>
          <p:nvPr/>
        </p:nvSpPr>
        <p:spPr>
          <a:xfrm>
            <a:off x="8166059" y="6582829"/>
            <a:ext cx="187325" cy="181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1299845" y="1026795"/>
            <a:ext cx="6487795" cy="26720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4500" b="1" kern="0" spc="-11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线下实验</a:t>
            </a:r>
            <a:r>
              <a:rPr lang="en-US" sz="4500" b="1" kern="0" spc="-11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</a:t>
            </a:r>
            <a:r>
              <a:rPr sz="4500" b="1" kern="0" spc="-11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：传输介质</a:t>
            </a:r>
            <a:endParaRPr lang="en-US" altLang="en-US" sz="45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marL="609600" algn="l" rtl="0" eaLnBrk="0">
              <a:lnSpc>
                <a:spcPct val="96000"/>
              </a:lnSpc>
              <a:spcBef>
                <a:spcPts val="1350"/>
              </a:spcBef>
            </a:pPr>
            <a:r>
              <a:rPr sz="4500" b="1" kern="0" spc="-10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网线的制作和测试</a:t>
            </a:r>
            <a:endParaRPr lang="en-US" altLang="en-US" sz="4500" dirty="0"/>
          </a:p>
          <a:p>
            <a:pPr algn="l" rtl="0" eaLnBrk="0">
              <a:lnSpc>
                <a:spcPct val="134000"/>
              </a:lnSpc>
            </a:pPr>
            <a:endParaRPr lang="en-US" altLang="en-US" sz="1000" dirty="0"/>
          </a:p>
          <a:p>
            <a:pPr algn="l" rtl="0" eaLnBrk="0">
              <a:lnSpc>
                <a:spcPct val="135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300" dirty="0"/>
          </a:p>
          <a:p>
            <a:pPr marL="444500" algn="l" rtl="0" eaLnBrk="0">
              <a:lnSpc>
                <a:spcPts val="1530"/>
              </a:lnSpc>
              <a:spcBef>
                <a:spcPts val="0"/>
              </a:spcBef>
            </a:pPr>
            <a:r>
              <a:rPr sz="1200" i="1" kern="0" spc="-30" dirty="0">
                <a:solidFill>
                  <a:srgbClr val="0C00C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图7</a:t>
            </a:r>
            <a:r>
              <a:rPr sz="1200" b="1" i="1" kern="0" spc="-30" dirty="0">
                <a:solidFill>
                  <a:srgbClr val="0C00C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.1</a:t>
            </a:r>
            <a:r>
              <a:rPr sz="1200" kern="0" spc="-30" dirty="0">
                <a:solidFill>
                  <a:srgbClr val="0C00C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</a:t>
            </a:r>
            <a:r>
              <a:rPr sz="1200" b="1" i="1" kern="0" spc="-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传输介质与物理层</a:t>
            </a:r>
            <a:endParaRPr lang="en-US" altLang="en-US" sz="1200" dirty="0"/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9450" y="4330690"/>
            <a:ext cx="2108240" cy="2197096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3917939" y="4481159"/>
            <a:ext cx="2352675" cy="14986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algn="r" rtl="0" eaLnBrk="0">
              <a:lnSpc>
                <a:spcPct val="86000"/>
              </a:lnSpc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接收方</a:t>
            </a:r>
            <a:endParaRPr lang="en-US" altLang="en-US" sz="1300" dirty="0"/>
          </a:p>
          <a:p>
            <a:pPr marL="1824355" algn="l" rtl="0" eaLnBrk="0">
              <a:lnSpc>
                <a:spcPts val="225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物理层</a:t>
            </a:r>
            <a:endParaRPr lang="en-US" altLang="en-US" sz="13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marL="90805" algn="l" rtl="0" eaLnBrk="0">
              <a:lnSpc>
                <a:spcPct val="98000"/>
              </a:lnSpc>
              <a:spcBef>
                <a:spcPts val="395"/>
              </a:spcBef>
            </a:pPr>
            <a:r>
              <a:rPr sz="13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传输介质</a:t>
            </a:r>
            <a:endParaRPr lang="en-US" altLang="en-US" sz="1300" dirty="0"/>
          </a:p>
          <a:p>
            <a:pPr algn="l" rtl="0" eaLnBrk="0">
              <a:lnSpc>
                <a:spcPct val="119000"/>
              </a:lnSpc>
            </a:pPr>
            <a:endParaRPr lang="en-US" altLang="en-US" sz="1000" dirty="0"/>
          </a:p>
          <a:p>
            <a:pPr algn="l" rtl="0" eaLnBrk="0">
              <a:lnSpc>
                <a:spcPct val="119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300" dirty="0"/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电缆或空气</a:t>
            </a:r>
            <a:endParaRPr lang="en-US" altLang="en-US" sz="1300" dirty="0"/>
          </a:p>
        </p:txBody>
      </p:sp>
      <p:sp>
        <p:nvSpPr>
          <p:cNvPr id="228" name="textbox 228"/>
          <p:cNvSpPr/>
          <p:nvPr/>
        </p:nvSpPr>
        <p:spPr>
          <a:xfrm>
            <a:off x="3371860" y="6532746"/>
            <a:ext cx="2344420" cy="2254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70"/>
              </a:lnSpc>
            </a:pPr>
            <a:r>
              <a:rPr sz="1300" kern="0" spc="-10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300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300" kern="0" spc="20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endParaRPr lang="en-US" altLang="en-US" sz="1300" dirty="0"/>
          </a:p>
        </p:txBody>
      </p:sp>
      <p:sp>
        <p:nvSpPr>
          <p:cNvPr id="230" name="textbox 230"/>
          <p:cNvSpPr/>
          <p:nvPr/>
        </p:nvSpPr>
        <p:spPr>
          <a:xfrm>
            <a:off x="2434491" y="4431026"/>
            <a:ext cx="546100" cy="555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发送方</a:t>
            </a:r>
            <a:endParaRPr lang="en-US" altLang="en-US" sz="1300" dirty="0"/>
          </a:p>
          <a:p>
            <a:pPr algn="l" rtl="0" eaLnBrk="0">
              <a:lnSpc>
                <a:spcPct val="102000"/>
              </a:lnSpc>
            </a:pPr>
            <a:endParaRPr lang="en-US" altLang="en-US" sz="9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25400" algn="l" rtl="0" eaLnBrk="0">
              <a:lnSpc>
                <a:spcPct val="98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物理层</a:t>
            </a:r>
            <a:endParaRPr lang="en-US" altLang="en-US" sz="1300" dirty="0"/>
          </a:p>
        </p:txBody>
      </p:sp>
      <p:sp>
        <p:nvSpPr>
          <p:cNvPr id="232" name="textbox 232"/>
          <p:cNvSpPr/>
          <p:nvPr/>
        </p:nvSpPr>
        <p:spPr>
          <a:xfrm>
            <a:off x="8166059" y="6572043"/>
            <a:ext cx="177800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1000"/>
              </a:lnSpc>
            </a:pP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lang="en-US" alt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1384320" y="2868881"/>
            <a:ext cx="5953125" cy="11074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2148840" algn="l" rtl="0" eaLnBrk="0">
              <a:lnSpc>
                <a:spcPct val="97000"/>
              </a:lnSpc>
            </a:pP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1700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sz="1700" kern="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介</a:t>
            </a:r>
            <a:r>
              <a:rPr sz="17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</a:t>
            </a:r>
            <a:endParaRPr lang="en-US" altLang="en-US" sz="17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300" dirty="0"/>
          </a:p>
          <a:p>
            <a:pPr marL="12700" indent="304165" algn="l" rtl="0" eaLnBrk="0">
              <a:lnSpc>
                <a:spcPct val="113000"/>
              </a:lnSpc>
              <a:spcBef>
                <a:spcPts val="5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在第3章-第6章，我们讨论了许多与物理层相关的问题。这一章，我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们讨论传输介质。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传输介质实际上位于物理层以下并直接由物理层控制。可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以说，传输介质属于第0层。图7-1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说明了传输介质相对于物理层的位置关系。</a:t>
            </a:r>
            <a:endParaRPr lang="en-US" altLang="en-US" sz="1200" dirty="0"/>
          </a:p>
        </p:txBody>
      </p:sp>
      <p:sp>
        <p:nvSpPr>
          <p:cNvPr id="238" name="textbox 238"/>
          <p:cNvSpPr/>
          <p:nvPr/>
        </p:nvSpPr>
        <p:spPr>
          <a:xfrm>
            <a:off x="2273300" y="4145038"/>
            <a:ext cx="2839720" cy="11074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发送方       物理层</a:t>
            </a:r>
            <a:endParaRPr lang="en-US" altLang="en-US" sz="900" dirty="0"/>
          </a:p>
          <a:p>
            <a:pPr marL="1904365" algn="l" rtl="0" eaLnBrk="0">
              <a:lnSpc>
                <a:spcPct val="99000"/>
              </a:lnSpc>
              <a:spcBef>
                <a:spcPts val="77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介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</a:t>
            </a:r>
            <a:endParaRPr lang="en-US" altLang="en-US" sz="900" dirty="0"/>
          </a:p>
          <a:p>
            <a:pPr algn="l" rtl="0" eaLnBrk="0">
              <a:lnSpc>
                <a:spcPct val="184000"/>
              </a:lnSpc>
            </a:pPr>
            <a:endParaRPr lang="en-US" altLang="en-US" sz="1000" dirty="0"/>
          </a:p>
          <a:p>
            <a:pPr marL="1784350" algn="l" rtl="0" eaLnBrk="0">
              <a:lnSpc>
                <a:spcPct val="99000"/>
              </a:lnSpc>
              <a:spcBef>
                <a:spcPts val="28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电缆或者空气</a:t>
            </a:r>
            <a:endParaRPr lang="en-US" altLang="en-US" sz="900" dirty="0"/>
          </a:p>
          <a:p>
            <a:pPr algn="l" rtl="0" eaLnBrk="0">
              <a:lnSpc>
                <a:spcPct val="101000"/>
              </a:lnSpc>
            </a:pPr>
            <a:endParaRPr lang="en-US" altLang="en-US" sz="800" dirty="0"/>
          </a:p>
          <a:p>
            <a:pPr algn="r" rtl="0" eaLnBrk="0">
              <a:lnSpc>
                <a:spcPct val="99000"/>
              </a:lnSpc>
              <a:spcBef>
                <a:spcPts val="5"/>
              </a:spcBef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图7-1</a:t>
            </a:r>
            <a:r>
              <a:rPr sz="900" kern="0" spc="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传输介质与物理层</a:t>
            </a:r>
            <a:endParaRPr lang="en-US" altLang="en-US" sz="900" dirty="0"/>
          </a:p>
        </p:txBody>
      </p:sp>
      <p:sp>
        <p:nvSpPr>
          <p:cNvPr id="240" name="textbox 240"/>
          <p:cNvSpPr/>
          <p:nvPr/>
        </p:nvSpPr>
        <p:spPr>
          <a:xfrm>
            <a:off x="932841" y="1660109"/>
            <a:ext cx="6372225" cy="4781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本次实验属于理论学习中的哪一层?</a:t>
            </a:r>
            <a:endParaRPr lang="en-US" altLang="en-US" sz="3100" dirty="0"/>
          </a:p>
        </p:txBody>
      </p:sp>
      <p:sp>
        <p:nvSpPr>
          <p:cNvPr id="242" name="textbox 242"/>
          <p:cNvSpPr/>
          <p:nvPr/>
        </p:nvSpPr>
        <p:spPr>
          <a:xfrm>
            <a:off x="3374040" y="6542808"/>
            <a:ext cx="4982845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</a:t>
            </a:r>
            <a:r>
              <a:rPr sz="1900" kern="0" spc="-4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900" kern="0" spc="-5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en-US" altLang="en-US" sz="1900" baseline="-5000" dirty="0"/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9259" y="533415"/>
            <a:ext cx="1174821" cy="628604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6076929" y="4164103"/>
            <a:ext cx="383540" cy="161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接收方</a:t>
            </a:r>
            <a:endParaRPr lang="en-US" altLang="en-US" sz="900" dirty="0"/>
          </a:p>
        </p:txBody>
      </p:sp>
      <p:sp>
        <p:nvSpPr>
          <p:cNvPr id="248" name="textbox 248"/>
          <p:cNvSpPr/>
          <p:nvPr/>
        </p:nvSpPr>
        <p:spPr>
          <a:xfrm>
            <a:off x="5346689" y="4145038"/>
            <a:ext cx="368934" cy="161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物理层</a:t>
            </a:r>
            <a:endParaRPr lang="en-US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782792" y="575944"/>
            <a:ext cx="7995284" cy="6184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500" b="1" kern="0" spc="-9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认识双绞线</a:t>
            </a:r>
            <a:endParaRPr lang="en-US" altLang="en-US" sz="45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marL="85725" algn="l" rtl="0" eaLnBrk="0">
              <a:lnSpc>
                <a:spcPct val="91000"/>
              </a:lnSpc>
              <a:spcBef>
                <a:spcPts val="840"/>
              </a:spcBef>
            </a:pP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双绞线</a:t>
            </a:r>
            <a:r>
              <a:rPr sz="28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Twisted</a:t>
            </a: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Pair</a:t>
            </a: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TP</a:t>
            </a: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800" b="1" kern="0" spc="5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b="1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是一种计算</a:t>
            </a:r>
            <a:r>
              <a:rPr sz="28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机网络连</a:t>
            </a:r>
            <a:endParaRPr lang="en-US" altLang="en-US" sz="28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marL="123190" algn="l" rtl="0" eaLnBrk="0">
              <a:lnSpc>
                <a:spcPct val="96000"/>
              </a:lnSpc>
              <a:spcBef>
                <a:spcPts val="720"/>
              </a:spcBef>
            </a:pPr>
            <a:r>
              <a:rPr sz="2400" b="1" kern="0" spc="3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接和综合布线工程中最常用</a:t>
            </a:r>
            <a:r>
              <a:rPr sz="2400" b="1" kern="0" spc="2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的传输介质。</a:t>
            </a:r>
            <a:endParaRPr lang="en-US" altLang="en-US" sz="2400" dirty="0"/>
          </a:p>
          <a:p>
            <a:pPr algn="l" rtl="0" eaLnBrk="0">
              <a:lnSpc>
                <a:spcPct val="132000"/>
              </a:lnSpc>
            </a:pPr>
            <a:endParaRPr lang="en-US" altLang="en-US" sz="1000" dirty="0"/>
          </a:p>
          <a:p>
            <a:pPr marL="188595" algn="l" rtl="0" eaLnBrk="0">
              <a:lnSpc>
                <a:spcPct val="97000"/>
              </a:lnSpc>
              <a:spcBef>
                <a:spcPts val="725"/>
              </a:spcBef>
            </a:pP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-两根具有绝缘保护层的铜导线组成。</a:t>
            </a:r>
            <a:endParaRPr lang="en-US" altLang="en-US" sz="24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marL="188595" algn="l" rtl="0" eaLnBrk="0">
              <a:lnSpc>
                <a:spcPct val="97000"/>
              </a:lnSpc>
              <a:spcBef>
                <a:spcPts val="730"/>
              </a:spcBef>
            </a:pPr>
            <a:r>
              <a:rPr sz="24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-两根绝缘的铜导线按一定密度绞在</a:t>
            </a:r>
            <a:r>
              <a:rPr sz="24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一起。</a:t>
            </a:r>
            <a:endParaRPr lang="en-US" altLang="en-US" sz="24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marL="188595" algn="l" rtl="0" eaLnBrk="0">
              <a:lnSpc>
                <a:spcPct val="96000"/>
              </a:lnSpc>
              <a:spcBef>
                <a:spcPts val="720"/>
              </a:spcBef>
            </a:pPr>
            <a:r>
              <a:rPr sz="2400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-每根导线在传输中辐射出来的电波会被另一根线上发出</a:t>
            </a:r>
            <a:endParaRPr lang="en-US" altLang="en-US" sz="2400" dirty="0"/>
          </a:p>
          <a:p>
            <a:pPr marL="542290" algn="l" rtl="0" eaLnBrk="0">
              <a:lnSpc>
                <a:spcPct val="96000"/>
              </a:lnSpc>
              <a:spcBef>
                <a:spcPts val="1450"/>
              </a:spcBef>
            </a:pPr>
            <a:r>
              <a:rPr sz="2400" b="1" kern="0" spc="-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的电波抵消，有效降</a:t>
            </a:r>
            <a:r>
              <a:rPr sz="2400" b="1" kern="0" spc="-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低信号干扰。</a:t>
            </a:r>
            <a:endParaRPr lang="en-US" altLang="en-US" sz="24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r" rtl="0" eaLnBrk="0">
              <a:lnSpc>
                <a:spcPct val="97000"/>
              </a:lnSpc>
              <a:spcBef>
                <a:spcPts val="730"/>
              </a:spcBef>
            </a:pPr>
            <a:r>
              <a:rPr sz="24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-双绞线一般由两根22~26号绝缘铜导线相互缠绕而成，</a:t>
            </a:r>
            <a:r>
              <a:rPr sz="2400" kern="0" spc="-3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故</a:t>
            </a:r>
            <a:endParaRPr lang="en-US" altLang="en-US" sz="2400" dirty="0"/>
          </a:p>
          <a:p>
            <a:pPr marL="497840" algn="l" rtl="0" eaLnBrk="0">
              <a:lnSpc>
                <a:spcPct val="97000"/>
              </a:lnSpc>
              <a:spcBef>
                <a:spcPts val="1505"/>
              </a:spcBef>
            </a:pPr>
            <a:r>
              <a:rPr sz="24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得此名</a:t>
            </a:r>
            <a:endParaRPr lang="en-US" altLang="en-US" sz="2400" dirty="0"/>
          </a:p>
          <a:p>
            <a:pPr algn="l" rtl="0" eaLnBrk="0">
              <a:lnSpc>
                <a:spcPct val="199000"/>
              </a:lnSpc>
            </a:pPr>
            <a:endParaRPr lang="en-US" altLang="en-US" sz="1000" dirty="0"/>
          </a:p>
          <a:p>
            <a:pPr algn="l" rtl="0" eaLnBrk="0">
              <a:lnSpc>
                <a:spcPct val="121000"/>
              </a:lnSpc>
            </a:pPr>
            <a:endParaRPr lang="en-US" altLang="en-US" sz="300" dirty="0"/>
          </a:p>
          <a:p>
            <a:pPr marL="2603500" algn="l" rtl="0" eaLnBrk="0">
              <a:lnSpc>
                <a:spcPct val="88000"/>
              </a:lnSpc>
              <a:spcBef>
                <a:spcPts val="0"/>
              </a:spcBef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</a:t>
            </a:r>
            <a:r>
              <a:rPr sz="2200" kern="0" spc="-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lang="en-US" altLang="en-US" sz="2200" baseline="-5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782865" y="569782"/>
            <a:ext cx="7304405" cy="34524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600" b="1" kern="0" spc="-15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实验目的</a:t>
            </a:r>
            <a:endParaRPr lang="en-US" altLang="en-US" sz="46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27000"/>
              </a:lnSpc>
            </a:pPr>
            <a:endParaRPr lang="en-US" altLang="en-US" sz="1000" dirty="0"/>
          </a:p>
          <a:p>
            <a:pPr marL="359410" algn="l" rtl="0" eaLnBrk="0">
              <a:lnSpc>
                <a:spcPct val="96000"/>
              </a:lnSpc>
              <a:spcBef>
                <a:spcPts val="930"/>
              </a:spcBef>
            </a:pPr>
            <a:r>
              <a:rPr sz="3100" b="1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了解双绞线传输原理</a:t>
            </a:r>
            <a:endParaRPr lang="en-US" altLang="en-US" sz="3100" dirty="0"/>
          </a:p>
          <a:p>
            <a:pPr algn="l" rtl="0" eaLnBrk="0">
              <a:lnSpc>
                <a:spcPct val="170000"/>
              </a:lnSpc>
            </a:pPr>
            <a:endParaRPr lang="en-US" altLang="en-US" sz="1000" dirty="0"/>
          </a:p>
          <a:p>
            <a:pPr marL="327660" algn="l" rtl="0" eaLnBrk="0">
              <a:lnSpc>
                <a:spcPct val="85000"/>
              </a:lnSpc>
              <a:spcBef>
                <a:spcPts val="930"/>
              </a:spcBef>
            </a:pP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学会使用工具制作直通网线和交叉网线</a:t>
            </a:r>
            <a:endParaRPr lang="en-US" altLang="en-US" sz="3100" dirty="0"/>
          </a:p>
          <a:p>
            <a:pPr algn="r" rtl="0" eaLnBrk="0">
              <a:lnSpc>
                <a:spcPts val="6550"/>
              </a:lnSpc>
            </a:pPr>
            <a:r>
              <a:rPr sz="31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学会实用工具测试直通网</a:t>
            </a: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线和交叉网线</a:t>
            </a:r>
            <a:endParaRPr lang="en-US" altLang="en-US" sz="3100" dirty="0"/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7067"/>
            <a:ext cx="2012960" cy="2120905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3374040" y="6536551"/>
            <a:ext cx="4979034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515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</a:t>
            </a:r>
            <a:r>
              <a:rPr sz="1900" kern="0" spc="-2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900" kern="0" spc="-2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lang="en-US" altLang="en-US" sz="1900" baseline="-7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770061" y="586006"/>
            <a:ext cx="7586344" cy="61690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b="1" kern="0" spc="1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双绞线结构与通信原理</a:t>
            </a:r>
            <a:endParaRPr lang="en-US" altLang="en-US" sz="4400" dirty="0"/>
          </a:p>
          <a:p>
            <a:pPr algn="l" rtl="0" eaLnBrk="0">
              <a:lnSpc>
                <a:spcPct val="133000"/>
              </a:lnSpc>
            </a:pPr>
            <a:endParaRPr lang="en-US" altLang="en-US" sz="1000" dirty="0"/>
          </a:p>
          <a:p>
            <a:pPr algn="l" rtl="0" eaLnBrk="0">
              <a:lnSpc>
                <a:spcPct val="133000"/>
              </a:lnSpc>
            </a:pPr>
            <a:endParaRPr lang="en-US" altLang="en-US" sz="1000" dirty="0"/>
          </a:p>
          <a:p>
            <a:pPr marL="245745" algn="l" rtl="0" eaLnBrk="0">
              <a:lnSpc>
                <a:spcPct val="96000"/>
              </a:lnSpc>
              <a:spcBef>
                <a:spcPts val="810"/>
              </a:spcBef>
            </a:pP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实际使用中的双绞线是由多对双绞线一起包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endParaRPr lang="en-US" altLang="en-US" sz="2700" dirty="0"/>
          </a:p>
          <a:p>
            <a:pPr marL="295275" algn="l" rtl="0" eaLnBrk="0">
              <a:lnSpc>
                <a:spcPct val="96000"/>
              </a:lnSpc>
              <a:spcBef>
                <a:spcPts val="1800"/>
              </a:spcBef>
            </a:pPr>
            <a:r>
              <a:rPr sz="2700" b="1" kern="0" spc="-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一个绝缘电缆套管里的。</a:t>
            </a:r>
            <a:endParaRPr lang="en-US" altLang="en-US" sz="2700" dirty="0"/>
          </a:p>
          <a:p>
            <a:pPr algn="l" rtl="0" eaLnBrk="0">
              <a:lnSpc>
                <a:spcPct val="165000"/>
              </a:lnSpc>
            </a:pPr>
            <a:endParaRPr lang="en-US" altLang="en-US" sz="1000" dirty="0"/>
          </a:p>
          <a:p>
            <a:pPr marL="250825" algn="l" rtl="0" eaLnBrk="0">
              <a:lnSpc>
                <a:spcPct val="96000"/>
              </a:lnSpc>
              <a:spcBef>
                <a:spcPts val="810"/>
              </a:spcBef>
            </a:pP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一对或多对双绞线放在绝缘套管中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构成双绞线</a:t>
            </a:r>
            <a:endParaRPr lang="en-US" altLang="en-US" sz="2700" dirty="0"/>
          </a:p>
          <a:p>
            <a:pPr marL="327025" algn="l" rtl="0" eaLnBrk="0">
              <a:lnSpc>
                <a:spcPct val="96000"/>
              </a:lnSpc>
              <a:spcBef>
                <a:spcPts val="1740"/>
              </a:spcBef>
            </a:pP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电缆，通常就将双绞线电缆称为</a:t>
            </a:r>
            <a:r>
              <a:rPr sz="2700" b="1" kern="0" spc="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双绞线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7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25082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和其它传输介质相比，双绞线在传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输距离、信</a:t>
            </a:r>
            <a:endParaRPr lang="en-US" altLang="en-US" sz="27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25082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道带宽和数据传输速度等方面均受限，但价格</a:t>
            </a:r>
            <a:endParaRPr lang="en-US" altLang="en-US" sz="2700" dirty="0"/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marL="250825" algn="l" rtl="0" eaLnBrk="0">
              <a:lnSpc>
                <a:spcPct val="100000"/>
              </a:lnSpc>
              <a:spcBef>
                <a:spcPts val="785"/>
              </a:spcBef>
            </a:pPr>
            <a:r>
              <a:rPr sz="2600" b="1" kern="0" spc="-2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低廉。</a:t>
            </a:r>
            <a:endParaRPr lang="en-US" altLang="en-US" sz="26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300" dirty="0"/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300" kern="0" spc="2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</a:t>
            </a:r>
            <a:r>
              <a:rPr sz="2000" kern="0" spc="-110" baseline="-8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2000" kern="0" spc="-110" baseline="-8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lang="en-US" altLang="en-US" sz="2000" baseline="-8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68" name="textbox 268"/>
          <p:cNvSpPr/>
          <p:nvPr/>
        </p:nvSpPr>
        <p:spPr>
          <a:xfrm>
            <a:off x="760939" y="567323"/>
            <a:ext cx="7626984" cy="28721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2000"/>
              </a:lnSpc>
            </a:pPr>
            <a:r>
              <a:rPr sz="4700" b="1" i="1" kern="0" spc="-20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双绞线分类</a:t>
            </a:r>
            <a:endParaRPr lang="en-US" altLang="en-US" sz="47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101600" algn="l" rtl="0" eaLnBrk="0">
              <a:lnSpc>
                <a:spcPct val="95000"/>
              </a:lnSpc>
              <a:spcBef>
                <a:spcPts val="960"/>
              </a:spcBef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按照有无屏蔽层分类</a:t>
            </a:r>
            <a:endParaRPr lang="en-US" altLang="en-US" sz="3200" dirty="0"/>
          </a:p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algn="r" rtl="0" eaLnBrk="0">
              <a:lnSpc>
                <a:spcPct val="95000"/>
              </a:lnSpc>
              <a:spcBef>
                <a:spcPts val="810"/>
              </a:spcBef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一屏蔽双绞线 (Shiel</a:t>
            </a: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sz="2700" kern="0" spc="9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Twisted</a:t>
            </a:r>
            <a:r>
              <a:rPr sz="2700" kern="0" spc="9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Pair,STP): 双</a:t>
            </a:r>
            <a:endParaRPr lang="en-US" altLang="en-US" sz="27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600" dirty="0"/>
          </a:p>
          <a:p>
            <a:pPr marL="495935" algn="l" rtl="0" eaLnBrk="0">
              <a:lnSpc>
                <a:spcPct val="96000"/>
              </a:lnSpc>
              <a:spcBef>
                <a:spcPts val="5"/>
              </a:spcBef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绞线与外层绝缘套封之间有一个金属屏蔽层</a:t>
            </a:r>
            <a:endParaRPr lang="en-US" altLang="en-US" sz="2700" dirty="0"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33868" y="4324380"/>
            <a:ext cx="3263950" cy="1974829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1080" y="4311624"/>
            <a:ext cx="3073389" cy="2012960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933429" y="3707218"/>
            <a:ext cx="7418705" cy="408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3000"/>
              </a:lnSpc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非屏蔽双绞线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Unshield</a:t>
            </a:r>
            <a:r>
              <a:rPr sz="2700" b="1" kern="0" spc="2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Twisted</a:t>
            </a:r>
            <a:r>
              <a:rPr sz="2700" b="1" kern="0" spc="2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Pair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UTP</a:t>
            </a:r>
            <a:r>
              <a:rPr sz="2700" b="1" kern="0" spc="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lang="en-US" altLang="en-US" sz="2700" dirty="0"/>
          </a:p>
        </p:txBody>
      </p:sp>
      <p:sp>
        <p:nvSpPr>
          <p:cNvPr id="276" name="textbox 276"/>
          <p:cNvSpPr/>
          <p:nvPr/>
        </p:nvSpPr>
        <p:spPr>
          <a:xfrm>
            <a:off x="3371860" y="6545078"/>
            <a:ext cx="4975225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900" kern="0" spc="-40" baseline="-11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900" kern="0" spc="-40" baseline="-11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lang="en-US" altLang="en-US" sz="1900" baseline="-1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770151" y="567445"/>
            <a:ext cx="7581265" cy="61925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600" b="1" kern="0" spc="-14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屏蔽双绞线</a:t>
            </a:r>
            <a:endParaRPr lang="en-US" altLang="en-US" sz="46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marL="26352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屏蔽双绞线的屏蔽层可以减少辐射，防止信息</a:t>
            </a:r>
            <a:endParaRPr lang="en-US" altLang="en-US" sz="27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marL="281940" algn="l" rtl="0" eaLnBrk="0">
              <a:lnSpc>
                <a:spcPct val="96000"/>
              </a:lnSpc>
              <a:spcBef>
                <a:spcPts val="810"/>
              </a:spcBef>
            </a:pP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被窃听，也可阻止外部电磁干扰进入，所以比</a:t>
            </a:r>
            <a:endParaRPr lang="en-US" altLang="en-US" sz="2700" dirty="0"/>
          </a:p>
          <a:p>
            <a:pPr marL="315595" algn="l" rtl="0" eaLnBrk="0">
              <a:lnSpc>
                <a:spcPct val="96000"/>
              </a:lnSpc>
              <a:spcBef>
                <a:spcPts val="1880"/>
              </a:spcBef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同类非屏蔽双绞线具有更高</a:t>
            </a: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的传输速率。</a:t>
            </a:r>
            <a:endParaRPr lang="en-US" altLang="en-US" sz="2700" dirty="0"/>
          </a:p>
          <a:p>
            <a:pPr algn="l" rtl="0" eaLnBrk="0">
              <a:lnSpc>
                <a:spcPct val="152000"/>
              </a:lnSpc>
            </a:pPr>
            <a:endParaRPr lang="en-US" altLang="en-US" sz="1000" dirty="0"/>
          </a:p>
          <a:p>
            <a:pPr marL="258445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缺点：要求两端都要接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地才起作用，所以整个</a:t>
            </a:r>
            <a:endParaRPr lang="en-US" altLang="en-US" sz="2700" dirty="0"/>
          </a:p>
          <a:p>
            <a:pPr marL="281940" algn="l" rtl="0" eaLnBrk="0">
              <a:lnSpc>
                <a:spcPct val="96000"/>
              </a:lnSpc>
              <a:spcBef>
                <a:spcPts val="1870"/>
              </a:spcBef>
            </a:pP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系统都是屏蔽器件。实际施工中，很难全部完</a:t>
            </a:r>
            <a:endParaRPr lang="en-US" altLang="en-US" sz="2700" dirty="0"/>
          </a:p>
          <a:p>
            <a:pPr marL="281940" algn="l" rtl="0" eaLnBrk="0">
              <a:lnSpc>
                <a:spcPct val="96000"/>
              </a:lnSpc>
              <a:spcBef>
                <a:spcPts val="1920"/>
              </a:spcBef>
            </a:pPr>
            <a:r>
              <a:rPr sz="27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美接地，屏蔽层反到成为最大的干扰源。</a:t>
            </a:r>
            <a:endParaRPr lang="en-US" altLang="en-US" sz="27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marL="2446655" algn="l" rtl="0" eaLnBrk="0">
              <a:lnSpc>
                <a:spcPct val="97000"/>
              </a:lnSpc>
              <a:spcBef>
                <a:spcPts val="700"/>
              </a:spcBef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论接地的重要性</a:t>
            </a:r>
            <a:endParaRPr lang="en-US" altLang="en-US" sz="23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algn="l" rtl="0" eaLnBrk="0">
              <a:lnSpc>
                <a:spcPct val="119000"/>
              </a:lnSpc>
            </a:pPr>
            <a:endParaRPr lang="en-US" altLang="en-US" sz="300" dirty="0"/>
          </a:p>
          <a:p>
            <a:pPr algn="r" rtl="0" eaLnBrk="0">
              <a:lnSpc>
                <a:spcPct val="88000"/>
              </a:lnSpc>
              <a:spcBef>
                <a:spcPts val="5"/>
              </a:spcBef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</a:t>
            </a:r>
            <a:r>
              <a:rPr sz="2200" kern="0" spc="-5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2200" kern="0" spc="-5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en-US" sz="2200" baseline="-7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2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763791" y="567323"/>
            <a:ext cx="7698740" cy="61912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非屏蔽双绞线</a:t>
            </a:r>
            <a:endParaRPr lang="en-US" altLang="en-US" sz="4500" dirty="0"/>
          </a:p>
          <a:p>
            <a:pPr algn="l" rtl="0" eaLnBrk="0">
              <a:lnSpc>
                <a:spcPct val="137000"/>
              </a:lnSpc>
            </a:pPr>
            <a:endParaRPr lang="en-US" altLang="en-US" sz="1000" dirty="0"/>
          </a:p>
          <a:p>
            <a:pPr algn="l" rtl="0" eaLnBrk="0">
              <a:lnSpc>
                <a:spcPct val="138000"/>
              </a:lnSpc>
            </a:pPr>
            <a:endParaRPr lang="en-US" altLang="en-US" sz="1000" dirty="0"/>
          </a:p>
          <a:p>
            <a:pPr marL="111125" algn="l" rtl="0" eaLnBrk="0">
              <a:lnSpc>
                <a:spcPct val="94000"/>
              </a:lnSpc>
              <a:spcBef>
                <a:spcPts val="845"/>
              </a:spcBef>
            </a:pPr>
            <a:r>
              <a:rPr sz="2800" b="1" kern="0" spc="4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综合布线系统中广泛应</a:t>
            </a:r>
            <a:r>
              <a:rPr sz="2800" b="1" kern="0" spc="4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用非屏蔽双绞线</a:t>
            </a:r>
            <a:endParaRPr lang="en-US" altLang="en-US" sz="2800" dirty="0"/>
          </a:p>
          <a:p>
            <a:pPr algn="l" rtl="0" eaLnBrk="0">
              <a:lnSpc>
                <a:spcPct val="178000"/>
              </a:lnSpc>
            </a:pPr>
            <a:endParaRPr lang="en-US" altLang="en-US" sz="1000" dirty="0"/>
          </a:p>
          <a:p>
            <a:pPr algn="r" rtl="0" eaLnBrk="0">
              <a:lnSpc>
                <a:spcPct val="94000"/>
              </a:lnSpc>
              <a:spcBef>
                <a:spcPts val="845"/>
              </a:spcBef>
            </a:pP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一无屏蔽外套，直径小，节省所占空间，成本低</a:t>
            </a:r>
            <a:endParaRPr lang="en-US" altLang="en-US" sz="28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marL="207645" algn="l" rtl="0" eaLnBrk="0">
              <a:lnSpc>
                <a:spcPct val="95000"/>
              </a:lnSpc>
              <a:spcBef>
                <a:spcPts val="850"/>
              </a:spcBef>
            </a:pPr>
            <a:r>
              <a:rPr sz="28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-重量轻，易弯曲，易安装</a:t>
            </a:r>
            <a:endParaRPr lang="en-US" altLang="en-US" sz="28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marL="207645" algn="l" rtl="0" eaLnBrk="0">
              <a:lnSpc>
                <a:spcPct val="95000"/>
              </a:lnSpc>
              <a:spcBef>
                <a:spcPts val="840"/>
              </a:spcBef>
            </a:pPr>
            <a:r>
              <a:rPr sz="2800" kern="0" spc="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-将串扰减至最小</a:t>
            </a:r>
            <a:endParaRPr lang="en-US" altLang="en-US" sz="2800" dirty="0"/>
          </a:p>
          <a:p>
            <a:pPr algn="l" rtl="0" eaLnBrk="0">
              <a:lnSpc>
                <a:spcPct val="137000"/>
              </a:lnSpc>
            </a:pPr>
            <a:endParaRPr lang="en-US" altLang="en-US" sz="1000" dirty="0"/>
          </a:p>
          <a:p>
            <a:pPr marL="212725" algn="l" rtl="0" eaLnBrk="0">
              <a:lnSpc>
                <a:spcPct val="95000"/>
              </a:lnSpc>
              <a:spcBef>
                <a:spcPts val="845"/>
              </a:spcBef>
            </a:pPr>
            <a:r>
              <a:rPr sz="2800" b="1" kern="0" spc="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-具有阻燃性</a:t>
            </a:r>
            <a:endParaRPr lang="en-US" altLang="en-US" sz="2800" dirty="0"/>
          </a:p>
          <a:p>
            <a:pPr algn="l" rtl="0" eaLnBrk="0">
              <a:lnSpc>
                <a:spcPct val="138000"/>
              </a:lnSpc>
            </a:pPr>
            <a:endParaRPr lang="en-US" altLang="en-US" sz="1000" dirty="0"/>
          </a:p>
          <a:p>
            <a:pPr marL="212725" algn="l" rtl="0" eaLnBrk="0">
              <a:lnSpc>
                <a:spcPct val="94000"/>
              </a:lnSpc>
              <a:spcBef>
                <a:spcPts val="845"/>
              </a:spcBef>
            </a:pPr>
            <a:r>
              <a:rPr sz="28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一具有独立性和灵活性</a:t>
            </a:r>
            <a:r>
              <a:rPr sz="28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，适用于综合布线</a:t>
            </a:r>
            <a:endParaRPr lang="en-US" altLang="en-US" sz="28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300" dirty="0"/>
          </a:p>
          <a:p>
            <a:pPr marL="2622550" algn="l" rtl="0" eaLnBrk="0">
              <a:lnSpc>
                <a:spcPct val="91000"/>
              </a:lnSpc>
              <a:spcBef>
                <a:spcPts val="0"/>
              </a:spcBef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</a:t>
            </a:r>
            <a:r>
              <a:rPr sz="2100" kern="0" spc="-3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2100" kern="0" spc="-3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en-US" sz="2100" baseline="-7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2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88" name="textbox 288"/>
          <p:cNvSpPr/>
          <p:nvPr/>
        </p:nvSpPr>
        <p:spPr>
          <a:xfrm>
            <a:off x="4654580" y="4082806"/>
            <a:ext cx="3821429" cy="19691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信息与通信技术5项</a:t>
            </a:r>
            <a:endParaRPr lang="en-US" altLang="en-US" sz="1300" dirty="0"/>
          </a:p>
          <a:p>
            <a:pPr marL="272415" algn="l" rtl="0" eaLnBrk="0">
              <a:lnSpc>
                <a:spcPct val="96000"/>
              </a:lnSpc>
              <a:spcBef>
                <a:spcPts val="885"/>
              </a:spcBef>
            </a:pPr>
            <a:r>
              <a:rPr sz="1000" kern="0" spc="110" dirty="0">
                <a:solidFill>
                  <a:srgbClr val="3180C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信息网络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Information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Cabling</a:t>
            </a:r>
            <a:r>
              <a:rPr sz="1000" kern="0" spc="110" dirty="0">
                <a:solidFill>
                  <a:srgbClr val="3180C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lang="en-US" altLang="en-US" sz="10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r" rtl="0" eaLnBrk="0">
              <a:lnSpc>
                <a:spcPct val="93000"/>
              </a:lnSpc>
              <a:spcBef>
                <a:spcPts val="305"/>
              </a:spcBef>
            </a:pP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信息/计算机网络支持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Systems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Administration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lang="en-US" altLang="en-US" sz="1000" dirty="0"/>
          </a:p>
          <a:p>
            <a:pPr marL="272415" algn="l" rtl="0" eaLnBrk="0">
              <a:lnSpc>
                <a:spcPts val="2850"/>
              </a:lnSpc>
            </a:pP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信息/软件应用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Solutionsfor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Business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lang="en-US" altLang="en-US" sz="1000" dirty="0"/>
          </a:p>
          <a:p>
            <a:pPr algn="l" rtl="0" eaLnBrk="0">
              <a:lnSpc>
                <a:spcPct val="136000"/>
              </a:lnSpc>
            </a:pPr>
            <a:endParaRPr lang="en-US" altLang="en-US" sz="1000" dirty="0"/>
          </a:p>
          <a:p>
            <a:pPr marL="272415" algn="l" rtl="0" eaLnBrk="0">
              <a:lnSpc>
                <a:spcPct val="93000"/>
              </a:lnSpc>
              <a:spcBef>
                <a:spcPts val="300"/>
              </a:spcBef>
            </a:pPr>
            <a:r>
              <a:rPr sz="1000" kern="0" spc="80" dirty="0">
                <a:solidFill>
                  <a:srgbClr val="3180C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胶版印刷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Offset    Printing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lang="en-US" altLang="en-US" sz="1000" dirty="0"/>
          </a:p>
          <a:p>
            <a:pPr marL="272415" algn="l" rtl="0" eaLnBrk="0">
              <a:lnSpc>
                <a:spcPts val="2900"/>
              </a:lnSpc>
            </a:pPr>
            <a:r>
              <a:rPr sz="1000" kern="0" spc="100" dirty="0">
                <a:solidFill>
                  <a:srgbClr val="3180C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网页设计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Web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lang="en-US" altLang="en-US" sz="1000" dirty="0"/>
          </a:p>
        </p:txBody>
      </p:sp>
      <p:pic>
        <p:nvPicPr>
          <p:cNvPr id="290" name="picture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67330" y="2254224"/>
            <a:ext cx="2622499" cy="1714500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770152" y="578105"/>
            <a:ext cx="2282825" cy="6737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4500" b="1" kern="0" spc="-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综合布线</a:t>
            </a:r>
            <a:endParaRPr lang="en-US" altLang="en-US" sz="4500" dirty="0"/>
          </a:p>
        </p:txBody>
      </p:sp>
      <p:sp>
        <p:nvSpPr>
          <p:cNvPr id="294" name="textbox 294"/>
          <p:cNvSpPr/>
          <p:nvPr/>
        </p:nvSpPr>
        <p:spPr>
          <a:xfrm>
            <a:off x="3828380" y="1426354"/>
            <a:ext cx="2823845" cy="480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3100" b="1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世界技能大赛：</a:t>
            </a:r>
            <a:endParaRPr lang="en-US" altLang="en-US" sz="3100" dirty="0"/>
          </a:p>
        </p:txBody>
      </p:sp>
      <p:sp>
        <p:nvSpPr>
          <p:cNvPr id="296" name="textbox 296"/>
          <p:cNvSpPr/>
          <p:nvPr/>
        </p:nvSpPr>
        <p:spPr>
          <a:xfrm>
            <a:off x="1939796" y="3498030"/>
            <a:ext cx="1074419" cy="8483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700" b="1" kern="0" spc="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信息网络</a:t>
            </a:r>
            <a:endParaRPr lang="en-US" altLang="en-US" sz="1700" dirty="0"/>
          </a:p>
          <a:p>
            <a:pPr marL="309880" algn="l" rtl="0" eaLnBrk="0">
              <a:lnSpc>
                <a:spcPct val="94000"/>
              </a:lnSpc>
              <a:spcBef>
                <a:spcPts val="410"/>
              </a:spcBef>
            </a:pPr>
            <a:r>
              <a:rPr sz="1300" b="1" kern="0" spc="20" dirty="0">
                <a:solidFill>
                  <a:srgbClr val="F9BB1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布线教程</a:t>
            </a:r>
            <a:endParaRPr lang="en-US" altLang="en-US" sz="1300" dirty="0"/>
          </a:p>
          <a:p>
            <a:pPr algn="l" rtl="0" eaLnBrk="0">
              <a:lnSpc>
                <a:spcPct val="107000"/>
              </a:lnSpc>
            </a:pPr>
            <a:endParaRPr lang="en-US" altLang="en-US" sz="900" dirty="0"/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1300" kern="0" spc="-60" dirty="0">
                <a:solidFill>
                  <a:srgbClr val="FFFFFF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五王“线</a:t>
            </a:r>
            <a:endParaRPr lang="en-US" altLang="en-US" sz="1300" dirty="0"/>
          </a:p>
        </p:txBody>
      </p:sp>
      <p:sp>
        <p:nvSpPr>
          <p:cNvPr id="298" name="textbox 298"/>
          <p:cNvSpPr/>
          <p:nvPr/>
        </p:nvSpPr>
        <p:spPr>
          <a:xfrm>
            <a:off x="3373766" y="6568368"/>
            <a:ext cx="2337435" cy="177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10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2023年秋季《计算机与网络安全》</a:t>
            </a:r>
            <a:r>
              <a:rPr sz="1000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0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</a:t>
            </a:r>
            <a:r>
              <a:rPr sz="1000" kern="0" spc="2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娜</a:t>
            </a:r>
            <a:endParaRPr lang="en-US" altLang="en-US" sz="1000" dirty="0"/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21609" y="6432529"/>
            <a:ext cx="412760" cy="29215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2419329" y="5337839"/>
            <a:ext cx="506730" cy="1752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sz="1000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1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endParaRPr lang="en-US" alt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4979" y="3517879"/>
            <a:ext cx="5613410" cy="2851144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769970" y="585884"/>
            <a:ext cx="5391150" cy="20345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b="1" kern="0" spc="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按功能分类</a:t>
            </a:r>
            <a:endParaRPr lang="en-US" altLang="en-US" sz="44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marL="92075" algn="l" rtl="0" eaLnBrk="0">
              <a:lnSpc>
                <a:spcPct val="94000"/>
              </a:lnSpc>
              <a:spcBef>
                <a:spcPts val="815"/>
              </a:spcBef>
            </a:pP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超五类的线身都会印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着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</a:t>
            </a:r>
            <a:r>
              <a:rPr sz="2700" b="1" kern="0" spc="3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5e</a:t>
            </a:r>
            <a:endParaRPr lang="en-US" altLang="en-US" sz="27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algn="r" rtl="0" eaLnBrk="0">
              <a:lnSpc>
                <a:spcPct val="95000"/>
              </a:lnSpc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六类线的线身都印有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CAT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sz="2700" kern="0" spc="12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的标识</a:t>
            </a:r>
            <a:endParaRPr lang="en-US" altLang="en-US" sz="2700" dirty="0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27010" y="3517879"/>
            <a:ext cx="2876519" cy="2235227"/>
            <a:chOff x="0" y="0"/>
            <a:chExt cx="2876519" cy="2235227"/>
          </a:xfrm>
        </p:grpSpPr>
        <p:pic>
          <p:nvPicPr>
            <p:cNvPr id="310" name="picture 3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76519" cy="2235227"/>
            </a:xfrm>
            <a:prstGeom prst="rect">
              <a:avLst/>
            </a:prstGeom>
          </p:spPr>
        </p:pic>
        <p:sp>
          <p:nvSpPr>
            <p:cNvPr id="312" name="textbox 312"/>
            <p:cNvSpPr/>
            <p:nvPr/>
          </p:nvSpPr>
          <p:spPr>
            <a:xfrm>
              <a:off x="82580" y="214818"/>
              <a:ext cx="2503170" cy="197929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lang="en-US" altLang="en-US" sz="100" dirty="0"/>
            </a:p>
            <a:p>
              <a:pPr marL="100965" algn="l" rtl="0" eaLnBrk="0">
                <a:lnSpc>
                  <a:spcPct val="88000"/>
                </a:lnSpc>
              </a:pPr>
              <a:r>
                <a:rPr sz="1200" kern="0" spc="1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匠心工艺精密做工</a:t>
              </a:r>
              <a:endParaRPr lang="en-US" altLang="en-US" sz="1200" dirty="0"/>
            </a:p>
            <a:p>
              <a:pPr marL="88265" algn="l" rtl="0" eaLnBrk="0">
                <a:lnSpc>
                  <a:spcPts val="1990"/>
                </a:lnSpc>
              </a:pP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千兆网线结构展示</a:t>
              </a:r>
              <a:endParaRPr lang="en-US" altLang="en-US" sz="1200" dirty="0"/>
            </a:p>
            <a:p>
              <a:pPr marL="1504315" algn="l" rtl="0" eaLnBrk="0">
                <a:lnSpc>
                  <a:spcPct val="96000"/>
                </a:lnSpc>
                <a:spcBef>
                  <a:spcPts val="220"/>
                </a:spcBef>
              </a:pPr>
              <a:r>
                <a:rPr sz="600" kern="0" spc="-60" dirty="0">
                  <a:solidFill>
                    <a:srgbClr val="CB555D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十字骨架</a:t>
              </a:r>
              <a:endParaRPr lang="en-US" altLang="en-US" sz="600" dirty="0"/>
            </a:p>
            <a:p>
              <a:pPr algn="l" rtl="0" eaLnBrk="0">
                <a:lnSpc>
                  <a:spcPct val="115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15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16000"/>
                </a:lnSpc>
              </a:pPr>
              <a:endParaRPr lang="en-US" altLang="en-US" sz="1000" dirty="0"/>
            </a:p>
            <a:p>
              <a:pPr marL="12700" algn="l" rtl="0" eaLnBrk="0">
                <a:lnSpc>
                  <a:spcPts val="610"/>
                </a:lnSpc>
                <a:spcBef>
                  <a:spcPts val="160"/>
                </a:spcBef>
              </a:pP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百米导体电阻约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BΩ</a:t>
              </a:r>
              <a:endParaRPr lang="en-US" altLang="en-US" sz="500" dirty="0"/>
            </a:p>
            <a:p>
              <a:pPr algn="l" rtl="0" eaLnBrk="0">
                <a:lnSpc>
                  <a:spcPct val="13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31000"/>
                </a:lnSpc>
              </a:pPr>
              <a:endParaRPr lang="en-US" altLang="en-US" sz="1000" dirty="0"/>
            </a:p>
            <a:p>
              <a:pPr algn="r" rtl="0" eaLnBrk="0">
                <a:lnSpc>
                  <a:spcPts val="610"/>
                </a:lnSpc>
                <a:spcBef>
                  <a:spcPts val="160"/>
                </a:spcBef>
              </a:pPr>
              <a:r>
                <a:rPr sz="5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外径约6.2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mm</a:t>
              </a:r>
              <a:endParaRPr lang="en-US" altLang="en-US" sz="500" dirty="0"/>
            </a:p>
            <a:p>
              <a:pPr algn="l" rtl="0" eaLnBrk="0">
                <a:lnSpc>
                  <a:spcPct val="135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33000"/>
                </a:lnSpc>
              </a:pPr>
              <a:endParaRPr lang="en-US" altLang="en-US" sz="100" dirty="0"/>
            </a:p>
            <a:p>
              <a:pPr marL="882015" algn="l" rtl="0" eaLnBrk="0">
                <a:lnSpc>
                  <a:spcPts val="610"/>
                </a:lnSpc>
              </a:pP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线芯外径约1.02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mm</a:t>
              </a:r>
              <a:endParaRPr lang="en-US" altLang="en-US" sz="500" dirty="0"/>
            </a:p>
          </p:txBody>
        </p:sp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457450" y="965194"/>
              <a:ext cx="381030" cy="285772"/>
            </a:xfrm>
            <a:prstGeom prst="rect">
              <a:avLst/>
            </a:prstGeom>
          </p:spPr>
        </p:pic>
      </p:grpSp>
      <p:pic>
        <p:nvPicPr>
          <p:cNvPr id="316" name="picture 3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6550" y="349277"/>
            <a:ext cx="1809780" cy="1460479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3289289" y="5578680"/>
            <a:ext cx="2649220" cy="7226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0650" algn="l" rtl="0" eaLnBrk="0">
              <a:lnSpc>
                <a:spcPct val="95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低烟无卤)</a:t>
            </a:r>
            <a:endParaRPr lang="en-US" altLang="en-US" sz="600" dirty="0"/>
          </a:p>
          <a:p>
            <a:pPr marL="1441450" algn="l" rtl="0" eaLnBrk="0">
              <a:lnSpc>
                <a:spcPct val="95000"/>
              </a:lnSpc>
              <a:spcBef>
                <a:spcPts val="1110"/>
              </a:spcBef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对对丽蔽屋</a:t>
            </a:r>
            <a:endParaRPr lang="en-US" altLang="en-US" sz="600" dirty="0"/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300" dirty="0"/>
          </a:p>
          <a:p>
            <a:pPr marL="12700" algn="l" rtl="0" eaLnBrk="0">
              <a:lnSpc>
                <a:spcPct val="99000"/>
              </a:lnSpc>
              <a:spcBef>
                <a:spcPts val="0"/>
              </a:spcBef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黄色低烟无卤600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MHz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频宽10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超速率</a:t>
            </a:r>
            <a:endParaRPr lang="en-US" altLang="en-US" sz="1200" dirty="0"/>
          </a:p>
        </p:txBody>
      </p:sp>
      <p:sp>
        <p:nvSpPr>
          <p:cNvPr id="320" name="textbox 320"/>
          <p:cNvSpPr/>
          <p:nvPr/>
        </p:nvSpPr>
        <p:spPr>
          <a:xfrm>
            <a:off x="849453" y="2929827"/>
            <a:ext cx="3983354" cy="415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七类线已经不是非屏蔽线</a:t>
            </a:r>
            <a:endParaRPr lang="en-US" altLang="en-US" sz="2700" dirty="0"/>
          </a:p>
        </p:txBody>
      </p:sp>
      <p:sp>
        <p:nvSpPr>
          <p:cNvPr id="322" name="textbox 322"/>
          <p:cNvSpPr/>
          <p:nvPr/>
        </p:nvSpPr>
        <p:spPr>
          <a:xfrm>
            <a:off x="3371860" y="6545713"/>
            <a:ext cx="4991734" cy="2076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2023年秋季《计算机与网络安全》</a:t>
            </a:r>
            <a:r>
              <a:rPr sz="1200" kern="0" spc="2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1900" kern="0" spc="-4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200" kern="0" spc="-3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4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en-US" sz="1900" baseline="-5000" dirty="0"/>
          </a:p>
        </p:txBody>
      </p:sp>
      <p:sp>
        <p:nvSpPr>
          <p:cNvPr id="324" name="textbox 324"/>
          <p:cNvSpPr/>
          <p:nvPr/>
        </p:nvSpPr>
        <p:spPr>
          <a:xfrm>
            <a:off x="4440960" y="3724050"/>
            <a:ext cx="1442719" cy="353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180" dirty="0">
                <a:solidFill>
                  <a:srgbClr val="C5000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万兆七类多层屏蔽</a:t>
            </a:r>
            <a:endParaRPr lang="en-US" altLang="en-US" sz="1200" dirty="0"/>
          </a:p>
          <a:p>
            <a:pPr algn="l" rtl="0" eaLnBrk="0">
              <a:lnSpc>
                <a:spcPct val="131000"/>
              </a:lnSpc>
            </a:pPr>
            <a:endParaRPr lang="en-US" altLang="en-US" sz="300" dirty="0"/>
          </a:p>
          <a:p>
            <a:pPr marL="416560" algn="l" rtl="0" eaLnBrk="0">
              <a:lnSpc>
                <a:spcPct val="95000"/>
              </a:lnSpc>
              <a:spcBef>
                <a:spcPts val="5"/>
              </a:spcBef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对对屏蔽+防水膜+双层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屏蔽</a:t>
            </a:r>
            <a:endParaRPr lang="en-US" altLang="en-US" sz="600" dirty="0"/>
          </a:p>
        </p:txBody>
      </p:sp>
      <p:sp>
        <p:nvSpPr>
          <p:cNvPr id="326" name="textbox 326"/>
          <p:cNvSpPr/>
          <p:nvPr/>
        </p:nvSpPr>
        <p:spPr>
          <a:xfrm>
            <a:off x="215899" y="6076506"/>
            <a:ext cx="2621279" cy="2076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串联机器生产成缆退纽工艺稳定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千兆传输</a:t>
            </a:r>
            <a:endParaRPr lang="en-US" altLang="en-US" sz="1200" dirty="0"/>
          </a:p>
        </p:txBody>
      </p:sp>
      <p:sp>
        <p:nvSpPr>
          <p:cNvPr id="328" name="textbox 328"/>
          <p:cNvSpPr/>
          <p:nvPr/>
        </p:nvSpPr>
        <p:spPr>
          <a:xfrm>
            <a:off x="3397281" y="4805586"/>
            <a:ext cx="504190" cy="3676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2690"/>
              </a:lnSpc>
            </a:pPr>
            <a:r>
              <a:rPr sz="1900" kern="0" spc="-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1900" kern="0" spc="-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</a:t>
            </a:r>
            <a:endParaRPr lang="en-US" altLang="en-US" sz="1900" dirty="0"/>
          </a:p>
        </p:txBody>
      </p:sp>
      <p:sp>
        <p:nvSpPr>
          <p:cNvPr id="330" name="textbox 330"/>
          <p:cNvSpPr/>
          <p:nvPr/>
        </p:nvSpPr>
        <p:spPr>
          <a:xfrm>
            <a:off x="3320249" y="3637611"/>
            <a:ext cx="390525" cy="3886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30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endParaRPr lang="en-US" altLang="en-US" sz="3000" dirty="0"/>
          </a:p>
        </p:txBody>
      </p:sp>
      <p:sp>
        <p:nvSpPr>
          <p:cNvPr id="332" name="textbox 332"/>
          <p:cNvSpPr/>
          <p:nvPr/>
        </p:nvSpPr>
        <p:spPr>
          <a:xfrm>
            <a:off x="5518139" y="4773757"/>
            <a:ext cx="460375" cy="135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865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0.62mm铜芯</a:t>
            </a:r>
            <a:endParaRPr lang="en-US" altLang="en-US" sz="700" dirty="0"/>
          </a:p>
        </p:txBody>
      </p:sp>
      <p:sp>
        <p:nvSpPr>
          <p:cNvPr id="334" name="textbox 334"/>
          <p:cNvSpPr/>
          <p:nvPr/>
        </p:nvSpPr>
        <p:spPr>
          <a:xfrm>
            <a:off x="4514860" y="4339562"/>
            <a:ext cx="480694" cy="1130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6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加密钢网编制)</a:t>
            </a:r>
            <a:endParaRPr lang="en-US" alt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picture 3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38" name="textbox 338"/>
          <p:cNvSpPr/>
          <p:nvPr/>
        </p:nvSpPr>
        <p:spPr>
          <a:xfrm>
            <a:off x="666750" y="1583690"/>
            <a:ext cx="8164830" cy="19177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lang="en-US" sz="30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0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EIA</a:t>
            </a:r>
            <a:r>
              <a:rPr sz="30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30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TIA</a:t>
            </a:r>
            <a:r>
              <a:rPr sz="30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0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(美国电子工业协会/电信工业</a:t>
            </a:r>
            <a:endParaRPr lang="en-US" altLang="en-US" sz="3000" dirty="0"/>
          </a:p>
          <a:p>
            <a:pPr marL="322580" indent="-6350" algn="l" rtl="0" eaLnBrk="0">
              <a:lnSpc>
                <a:spcPct val="164000"/>
              </a:lnSpc>
              <a:spcBef>
                <a:spcPts val="40"/>
              </a:spcBef>
            </a:pPr>
            <a:r>
              <a:rPr sz="3000" b="1" kern="0" spc="2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协会)的布线标准中规定双绞线的两种</a:t>
            </a:r>
            <a:r>
              <a:rPr sz="30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线序</a:t>
            </a:r>
            <a:r>
              <a:rPr sz="3000" b="1" kern="0" spc="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T568A</a:t>
            </a:r>
            <a:r>
              <a:rPr sz="3000" kern="0" spc="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3000" b="1" kern="0" spc="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T568B</a:t>
            </a:r>
            <a:r>
              <a:rPr sz="3000" kern="0" spc="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0" b="1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3000" dirty="0"/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30400" y="3774440"/>
            <a:ext cx="3509010" cy="2399030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35759" y="4298937"/>
            <a:ext cx="1987630" cy="2133592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6640" y="520727"/>
            <a:ext cx="1193749" cy="641291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3371860" y="6557409"/>
            <a:ext cx="4987925" cy="2076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r>
              <a:rPr sz="2300" kern="0" spc="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lang="en-US" altLang="en-US" sz="2300" baseline="-5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icture 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350" name="table 350"/>
          <p:cNvGraphicFramePr>
            <a:graphicFrameLocks noGrp="1"/>
          </p:cNvGraphicFramePr>
          <p:nvPr/>
        </p:nvGraphicFramePr>
        <p:xfrm>
          <a:off x="722523" y="2815708"/>
          <a:ext cx="5589905" cy="1093470"/>
        </p:xfrm>
        <a:graphic>
          <a:graphicData uri="http://schemas.openxmlformats.org/drawingml/2006/table">
            <a:tbl>
              <a:tblPr/>
              <a:tblGrid>
                <a:gridCol w="4693920"/>
                <a:gridCol w="895985"/>
              </a:tblGrid>
              <a:tr h="1093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algn="l" rtl="0" eaLnBrk="0">
                        <a:lnSpc>
                          <a:spcPct val="96000"/>
                        </a:lnSpc>
                      </a:pPr>
                      <a:r>
                        <a:rPr sz="27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信号接收端，所以这两对信</a:t>
                      </a:r>
                      <a:endParaRPr lang="en-US" altLang="en-US" sz="27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500" dirty="0"/>
                    </a:p>
                    <a:p>
                      <a:pPr algn="l" rtl="0" eaLnBrk="0">
                        <a:lnSpc>
                          <a:spcPct val="15000"/>
                        </a:lnSpc>
                      </a:pPr>
                      <a:endParaRPr lang="en-US" altLang="en-US" sz="100" dirty="0"/>
                    </a:p>
                    <a:p>
                      <a:pPr algn="l" rtl="0" eaLnBrk="0">
                        <a:lnSpc>
                          <a:spcPct val="96000"/>
                        </a:lnSpc>
                      </a:pPr>
                      <a:r>
                        <a:rPr sz="2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号必须分别使用一对双绞线</a:t>
                      </a:r>
                      <a:endParaRPr lang="en-US" altLang="en-US" sz="27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lang="en-US" altLang="en-US" sz="200" dirty="0"/>
                    </a:p>
                    <a:p>
                      <a:pPr marL="5397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Station</a:t>
                      </a:r>
                      <a:endParaRPr lang="en-US" altLang="en-US" sz="600" dirty="0"/>
                    </a:p>
                    <a:p>
                      <a:pPr algn="r" rtl="0" eaLnBrk="0">
                        <a:lnSpc>
                          <a:spcPts val="885"/>
                        </a:lnSpc>
                        <a:spcBef>
                          <a:spcPts val="1210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b.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Half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duple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endParaRPr lang="en-US" altLang="en-US" sz="600" dirty="0"/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57000"/>
                        </a:lnSpc>
                      </a:pPr>
                      <a:endParaRPr lang="en-US" altLang="en-US" sz="100" dirty="0"/>
                    </a:p>
                    <a:p>
                      <a:pPr algn="r" rtl="0" eaLnBrk="0">
                        <a:lnSpc>
                          <a:spcPts val="835"/>
                        </a:lnSpc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c.Full-duplex</a:t>
                      </a:r>
                      <a:endParaRPr lang="en-US" altLang="en-US" sz="600" dirty="0"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52" name="textbox 352"/>
          <p:cNvSpPr/>
          <p:nvPr/>
        </p:nvSpPr>
        <p:spPr>
          <a:xfrm>
            <a:off x="709823" y="1512863"/>
            <a:ext cx="4472304" cy="1062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规定全双工方式下本</a:t>
            </a:r>
            <a:r>
              <a:rPr sz="27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地的1、</a:t>
            </a:r>
            <a:endParaRPr lang="en-US" altLang="en-US" sz="2700" dirty="0"/>
          </a:p>
          <a:p>
            <a:pPr algn="l" rtl="0" eaLnBrk="0">
              <a:lnSpc>
                <a:spcPct val="101000"/>
              </a:lnSpc>
            </a:pPr>
            <a:endParaRPr lang="en-US" altLang="en-US" sz="16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2脚为信号发送端，3、6脚为</a:t>
            </a:r>
            <a:endParaRPr lang="en-US" altLang="en-US" sz="2700" dirty="0"/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40270" y="4210057"/>
            <a:ext cx="2031979" cy="2139970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704829" y="4071925"/>
            <a:ext cx="3178810" cy="1161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7145" algn="l" rtl="0" eaLnBrk="0">
              <a:lnSpc>
                <a:spcPct val="96000"/>
              </a:lnSpc>
            </a:pPr>
            <a:r>
              <a:rPr sz="2700" b="1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进行信号传输。</a:t>
            </a:r>
            <a:endParaRPr lang="en-US" altLang="en-US" sz="27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2700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制作网线如下所示：</a:t>
            </a:r>
            <a:endParaRPr lang="en-US" altLang="en-US" sz="2700" dirty="0"/>
          </a:p>
        </p:txBody>
      </p:sp>
      <p:sp>
        <p:nvSpPr>
          <p:cNvPr id="358" name="textbox 358"/>
          <p:cNvSpPr/>
          <p:nvPr/>
        </p:nvSpPr>
        <p:spPr>
          <a:xfrm>
            <a:off x="704829" y="553178"/>
            <a:ext cx="5016500" cy="6940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4600" b="1" kern="0" spc="-20" dirty="0">
                <a:solidFill>
                  <a:srgbClr val="FFFF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EIA/TIA</a:t>
            </a:r>
            <a:r>
              <a:rPr sz="4600" b="1" kern="0" spc="-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的布线标准</a:t>
            </a:r>
            <a:endParaRPr lang="en-US" altLang="en-US" sz="4600" dirty="0"/>
          </a:p>
        </p:txBody>
      </p:sp>
      <p:pic>
        <p:nvPicPr>
          <p:cNvPr id="360" name="picture 3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91320" y="4445012"/>
            <a:ext cx="1790760" cy="1625620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6807170" y="2690377"/>
            <a:ext cx="1745614" cy="3816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9050" algn="l" rtl="0" eaLnBrk="0">
              <a:lnSpc>
                <a:spcPct val="84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Direction of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at time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lang="en-US" altLang="en-US" sz="600" dirty="0"/>
          </a:p>
          <a:p>
            <a:pPr marL="1479550" algn="l" rtl="0" eaLnBrk="0">
              <a:lnSpc>
                <a:spcPct val="87000"/>
              </a:lnSpc>
              <a:spcBef>
                <a:spcPts val="625"/>
              </a:spcBef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Station</a:t>
            </a:r>
            <a:endParaRPr lang="en-US" altLang="en-US" sz="600" dirty="0"/>
          </a:p>
          <a:p>
            <a:pPr algn="l" rtl="0" eaLnBrk="0">
              <a:lnSpc>
                <a:spcPct val="143000"/>
              </a:lnSpc>
            </a:pPr>
            <a:endParaRPr lang="en-US" altLang="en-US" sz="200" dirty="0"/>
          </a:p>
          <a:p>
            <a:pPr marL="12700" algn="l" rtl="0" eaLnBrk="0">
              <a:lnSpc>
                <a:spcPct val="84000"/>
              </a:lnSpc>
              <a:spcBef>
                <a:spcPts val="0"/>
              </a:spcBef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Direction of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at time 2</a:t>
            </a:r>
            <a:endParaRPr lang="en-US" altLang="en-US" sz="600" dirty="0"/>
          </a:p>
        </p:txBody>
      </p:sp>
      <p:sp>
        <p:nvSpPr>
          <p:cNvPr id="364" name="textbox 364"/>
          <p:cNvSpPr/>
          <p:nvPr/>
        </p:nvSpPr>
        <p:spPr>
          <a:xfrm>
            <a:off x="3374040" y="6542808"/>
            <a:ext cx="2332989" cy="2101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455"/>
              </a:lnSpc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7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endParaRPr lang="en-US" altLang="en-US" sz="1200" dirty="0"/>
          </a:p>
        </p:txBody>
      </p:sp>
      <p:sp>
        <p:nvSpPr>
          <p:cNvPr id="366" name="textbox 366"/>
          <p:cNvSpPr/>
          <p:nvPr/>
        </p:nvSpPr>
        <p:spPr>
          <a:xfrm>
            <a:off x="5494473" y="1420678"/>
            <a:ext cx="2532379" cy="1784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1000" b="1" kern="0" spc="-10" dirty="0">
                <a:solidFill>
                  <a:srgbClr val="1004C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图1.2</a:t>
            </a:r>
            <a:r>
              <a:rPr sz="1000" kern="0" spc="-10" dirty="0">
                <a:solidFill>
                  <a:srgbClr val="1004C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数据流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(a.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单工，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b.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半双工，</a:t>
            </a:r>
            <a:r>
              <a:rPr sz="10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c.</a:t>
            </a:r>
            <a:r>
              <a:rPr sz="1000" b="1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全双工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lang="en-US" altLang="en-US" sz="1000" dirty="0"/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21609" y="6432529"/>
            <a:ext cx="412760" cy="292150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6775439" y="3399505"/>
            <a:ext cx="988060" cy="1384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885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Direction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</a:t>
            </a:r>
            <a:endParaRPr lang="en-US" altLang="en-US" sz="600" dirty="0"/>
          </a:p>
        </p:txBody>
      </p:sp>
      <p:sp>
        <p:nvSpPr>
          <p:cNvPr id="372" name="textbox 372"/>
          <p:cNvSpPr/>
          <p:nvPr/>
        </p:nvSpPr>
        <p:spPr>
          <a:xfrm>
            <a:off x="5835619" y="2255804"/>
            <a:ext cx="447675" cy="2559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algn="r" rtl="0" eaLnBrk="0">
              <a:lnSpc>
                <a:spcPct val="87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Mainframe</a:t>
            </a:r>
            <a:endParaRPr lang="en-US" altLang="en-US" sz="600" dirty="0"/>
          </a:p>
          <a:p>
            <a:pPr algn="l" rtl="0" eaLnBrk="0">
              <a:lnSpc>
                <a:spcPct val="115000"/>
              </a:lnSpc>
            </a:pPr>
            <a:endParaRPr lang="en-US" altLang="en-US" sz="400" dirty="0"/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a.Simplex</a:t>
            </a:r>
            <a:endParaRPr lang="en-US" altLang="en-US" sz="600" dirty="0"/>
          </a:p>
        </p:txBody>
      </p:sp>
      <p:sp>
        <p:nvSpPr>
          <p:cNvPr id="374" name="textbox 374"/>
          <p:cNvSpPr/>
          <p:nvPr/>
        </p:nvSpPr>
        <p:spPr>
          <a:xfrm>
            <a:off x="7670820" y="6131453"/>
            <a:ext cx="417830" cy="1562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 B</a:t>
            </a:r>
            <a:endParaRPr lang="en-US" altLang="en-US" sz="1100" dirty="0"/>
          </a:p>
        </p:txBody>
      </p:sp>
      <p:sp>
        <p:nvSpPr>
          <p:cNvPr id="376" name="textbox 376"/>
          <p:cNvSpPr/>
          <p:nvPr/>
        </p:nvSpPr>
        <p:spPr>
          <a:xfrm>
            <a:off x="6972310" y="1928384"/>
            <a:ext cx="582930" cy="1022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4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Direction of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</a:t>
            </a:r>
            <a:endParaRPr lang="en-US" altLang="en-US" sz="600" dirty="0"/>
          </a:p>
        </p:txBody>
      </p:sp>
      <p:sp>
        <p:nvSpPr>
          <p:cNvPr id="378" name="textbox 378"/>
          <p:cNvSpPr/>
          <p:nvPr/>
        </p:nvSpPr>
        <p:spPr>
          <a:xfrm>
            <a:off x="8293069" y="2225111"/>
            <a:ext cx="295909" cy="1041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Monitor</a:t>
            </a:r>
            <a:endParaRPr lang="en-US" alt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779048" y="126998"/>
            <a:ext cx="7876540" cy="36823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lang="en-US" altLang="en-US" sz="1000" dirty="0"/>
          </a:p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48260" algn="l" rtl="0" eaLnBrk="0">
              <a:lnSpc>
                <a:spcPct val="93000"/>
              </a:lnSpc>
            </a:pPr>
            <a:r>
              <a:rPr sz="46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以T568为例</a:t>
            </a:r>
            <a:r>
              <a:rPr sz="4600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endParaRPr lang="en-US" altLang="en-US" sz="46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4000"/>
              </a:lnSpc>
              <a:spcBef>
                <a:spcPts val="720"/>
              </a:spcBef>
            </a:pP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1、2脚使用橙色线对：白橙线接1脚，橙线接2脚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4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4000"/>
              </a:lnSpc>
              <a:spcBef>
                <a:spcPts val="730"/>
              </a:spcBef>
            </a:pP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3、6两脚使用绿色线对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：白绿线接3脚，绿线接6脚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400" dirty="0"/>
          </a:p>
          <a:p>
            <a:pPr algn="l" rtl="0" eaLnBrk="0">
              <a:lnSpc>
                <a:spcPct val="121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730"/>
              </a:spcBef>
            </a:pP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剩下的两对线在10Mb/s、100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Mb/s</a:t>
            </a:r>
            <a:r>
              <a:rPr sz="2400" kern="0" spc="-3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快速以太网</a:t>
            </a: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中一般不用，</a:t>
            </a:r>
            <a:endParaRPr lang="en-US" altLang="en-US" sz="2400" dirty="0"/>
          </a:p>
          <a:p>
            <a:pPr algn="l" rtl="0" eaLnBrk="0">
              <a:lnSpc>
                <a:spcPct val="100000"/>
              </a:lnSpc>
            </a:pPr>
            <a:endParaRPr lang="en-US" altLang="en-US" sz="1300" dirty="0"/>
          </a:p>
          <a:p>
            <a:pPr marL="43815" algn="l" rtl="0" eaLnBrk="0">
              <a:lnSpc>
                <a:spcPct val="95000"/>
              </a:lnSpc>
              <a:spcBef>
                <a:spcPts val="5"/>
              </a:spcBef>
            </a:pP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通常将两个接头的4、5和7、8分别使用一对双</a:t>
            </a: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绞</a:t>
            </a:r>
            <a:r>
              <a:rPr sz="2400" kern="0" spc="-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线直连。</a:t>
            </a:r>
            <a:endParaRPr lang="en-US" altLang="en-US" sz="2400" dirty="0"/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91731" y="139698"/>
            <a:ext cx="1612910" cy="1454169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887039" y="4078150"/>
            <a:ext cx="5840095" cy="9817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-4、5使用蓝色线对：4为蓝色，5为白蓝色</a:t>
            </a:r>
            <a:endParaRPr lang="en-US" altLang="en-US" sz="24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600" dirty="0"/>
          </a:p>
          <a:p>
            <a:pPr marL="18415" algn="l" rtl="0" eaLnBrk="0">
              <a:lnSpc>
                <a:spcPct val="95000"/>
              </a:lnSpc>
              <a:spcBef>
                <a:spcPts val="0"/>
              </a:spcBef>
            </a:pPr>
            <a:r>
              <a:rPr sz="24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-7、8使用棕色线对：7为白棕色，8为棕色</a:t>
            </a:r>
            <a:endParaRPr lang="en-US" altLang="en-US" sz="2400" dirty="0"/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16739" y="4330690"/>
            <a:ext cx="2127260" cy="2197096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2493645" y="6543040"/>
            <a:ext cx="3219450" cy="219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455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endParaRPr lang="en-US" altLang="en-US" sz="1200" dirty="0"/>
          </a:p>
        </p:txBody>
      </p:sp>
      <p:sp>
        <p:nvSpPr>
          <p:cNvPr id="392" name="textbox 392"/>
          <p:cNvSpPr/>
          <p:nvPr/>
        </p:nvSpPr>
        <p:spPr>
          <a:xfrm>
            <a:off x="8147039" y="6563825"/>
            <a:ext cx="204470" cy="1974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3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96" name="textbox 396"/>
          <p:cNvSpPr/>
          <p:nvPr/>
        </p:nvSpPr>
        <p:spPr>
          <a:xfrm>
            <a:off x="615950" y="588483"/>
            <a:ext cx="8093709" cy="46253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60020" algn="l" rtl="0" eaLnBrk="0">
              <a:lnSpc>
                <a:spcPct val="95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直连线和交叉线</a:t>
            </a:r>
            <a:endParaRPr lang="en-US" altLang="en-US" sz="45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18415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直通线：如果网线两端都按一</a:t>
            </a:r>
            <a:r>
              <a:rPr sz="3100" b="1" kern="0" spc="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种线序方式(</a:t>
            </a:r>
            <a:endParaRPr lang="en-US" altLang="en-US" sz="3100" dirty="0"/>
          </a:p>
          <a:p>
            <a:pPr marL="69215" algn="l" rtl="0" eaLnBrk="0">
              <a:lnSpc>
                <a:spcPct val="96000"/>
              </a:lnSpc>
              <a:spcBef>
                <a:spcPts val="2105"/>
              </a:spcBef>
            </a:pPr>
            <a:r>
              <a:rPr sz="31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T568A</a:t>
            </a:r>
            <a:r>
              <a:rPr sz="31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或T568B)</a:t>
            </a:r>
            <a:r>
              <a:rPr sz="3100" kern="0" spc="12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制作就是直通线，也叫直连</a:t>
            </a:r>
            <a:endParaRPr lang="en-US" altLang="en-US" sz="3100" dirty="0"/>
          </a:p>
          <a:p>
            <a:pPr marL="12700" algn="l" rtl="0" eaLnBrk="0">
              <a:lnSpc>
                <a:spcPts val="4215"/>
              </a:lnSpc>
              <a:spcBef>
                <a:spcPts val="1885"/>
              </a:spcBef>
            </a:pPr>
            <a:r>
              <a:rPr sz="3300" kern="0" spc="-2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线。</a:t>
            </a:r>
            <a:endParaRPr lang="en-US" altLang="en-US" sz="33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交叉线：如果网线两</a:t>
            </a:r>
            <a:r>
              <a:rPr sz="31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端不按一种线序方式，</a:t>
            </a:r>
            <a:endParaRPr lang="en-US" altLang="en-US" sz="31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7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88265" algn="l" rtl="0" eaLnBrk="0">
              <a:lnSpc>
                <a:spcPct val="96000"/>
              </a:lnSpc>
            </a:pP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即一端是T568B</a:t>
            </a:r>
            <a:r>
              <a:rPr sz="3100" kern="0" spc="-3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线序，另一端是T568A 线序。</a:t>
            </a:r>
            <a:endParaRPr lang="en-US" altLang="en-US" sz="3100" dirty="0"/>
          </a:p>
        </p:txBody>
      </p:sp>
      <p:sp>
        <p:nvSpPr>
          <p:cNvPr id="398" name="textbox 398"/>
          <p:cNvSpPr/>
          <p:nvPr/>
        </p:nvSpPr>
        <p:spPr>
          <a:xfrm>
            <a:off x="3302635" y="6543040"/>
            <a:ext cx="5053330" cy="3149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r>
              <a:rPr sz="1900" kern="0" spc="-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900" kern="0" spc="-2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lang="en-US" altLang="en-US" sz="1900" baseline="-5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763787" y="575796"/>
            <a:ext cx="7411084" cy="36068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500" b="1" kern="0" spc="-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直通线和交叉线的区别</a:t>
            </a:r>
            <a:endParaRPr lang="en-US" altLang="en-US" sz="4500" dirty="0"/>
          </a:p>
          <a:p>
            <a:pPr algn="l" rtl="0" eaLnBrk="0">
              <a:lnSpc>
                <a:spcPct val="186000"/>
              </a:lnSpc>
            </a:pPr>
            <a:endParaRPr lang="en-US" altLang="en-US" sz="1000" dirty="0"/>
          </a:p>
          <a:p>
            <a:pPr marL="99695" algn="l" rtl="0" eaLnBrk="0">
              <a:lnSpc>
                <a:spcPct val="97000"/>
              </a:lnSpc>
              <a:spcBef>
                <a:spcPts val="840"/>
              </a:spcBef>
              <a:tabLst>
                <a:tab pos="150495" algn="l"/>
              </a:tabLst>
            </a:pP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800" kern="0" spc="-9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kern="0" spc="3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在用途上</a:t>
            </a:r>
            <a:endParaRPr lang="en-US" altLang="en-US" sz="2800" dirty="0"/>
          </a:p>
          <a:p>
            <a:pPr algn="l" rtl="0" eaLnBrk="0">
              <a:lnSpc>
                <a:spcPct val="139000"/>
              </a:lnSpc>
            </a:pPr>
            <a:endParaRPr lang="en-US" altLang="en-US" sz="1000" dirty="0"/>
          </a:p>
          <a:p>
            <a:pPr marL="613410" indent="-299085" algn="l" rtl="0" eaLnBrk="0">
              <a:lnSpc>
                <a:spcPct val="123000"/>
              </a:lnSpc>
              <a:spcBef>
                <a:spcPts val="845"/>
              </a:spcBef>
            </a:pPr>
            <a:r>
              <a:rPr sz="28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-直通线用于连接不同种的设备，</a:t>
            </a:r>
            <a:r>
              <a:rPr sz="28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例</a:t>
            </a:r>
            <a:r>
              <a:rPr sz="28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如连接电</a:t>
            </a: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脑和交换机，交换机和路由器等。</a:t>
            </a:r>
            <a:endParaRPr lang="en-US" altLang="en-US" sz="2800" dirty="0"/>
          </a:p>
          <a:p>
            <a:pPr algn="l" rtl="0" eaLnBrk="0">
              <a:lnSpc>
                <a:spcPct val="154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700" dirty="0"/>
          </a:p>
          <a:p>
            <a:pPr marL="295275" algn="l" rtl="0" eaLnBrk="0">
              <a:lnSpc>
                <a:spcPct val="97000"/>
              </a:lnSpc>
              <a:spcBef>
                <a:spcPts val="5"/>
              </a:spcBef>
            </a:pPr>
            <a:r>
              <a:rPr sz="28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一交叉线用于连接同种设备，例</a:t>
            </a:r>
            <a:r>
              <a:rPr sz="28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如电脑和电脑</a:t>
            </a:r>
            <a:endParaRPr lang="en-US" altLang="en-US" sz="2800" dirty="0"/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4400" y="1682747"/>
            <a:ext cx="50840" cy="152384"/>
          </a:xfrm>
          <a:prstGeom prst="rect">
            <a:avLst/>
          </a:prstGeom>
        </p:spPr>
      </p:pic>
      <p:pic>
        <p:nvPicPr>
          <p:cNvPr id="406" name="picture 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9119" y="1778005"/>
            <a:ext cx="44439" cy="114322"/>
          </a:xfrm>
          <a:prstGeom prst="rect">
            <a:avLst/>
          </a:prstGeom>
        </p:spPr>
      </p:pic>
      <p:pic>
        <p:nvPicPr>
          <p:cNvPr id="408" name="picture 4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23140" y="4337067"/>
            <a:ext cx="2120859" cy="2197097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3374040" y="6542808"/>
            <a:ext cx="4985384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</a:t>
            </a:r>
            <a:r>
              <a:rPr sz="1900" kern="0" spc="-5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200" kern="0" spc="-3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5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lang="en-US" altLang="en-US" sz="1900" baseline="-5000" dirty="0"/>
          </a:p>
        </p:txBody>
      </p:sp>
      <p:sp>
        <p:nvSpPr>
          <p:cNvPr id="412" name="textbox 412"/>
          <p:cNvSpPr/>
          <p:nvPr/>
        </p:nvSpPr>
        <p:spPr>
          <a:xfrm>
            <a:off x="1351365" y="4371160"/>
            <a:ext cx="1059814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45"/>
              </a:lnSpc>
            </a:pPr>
            <a:r>
              <a:rPr sz="2600" b="1" kern="0" spc="-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之间。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picture 4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16" name="textbox 416"/>
          <p:cNvSpPr/>
          <p:nvPr/>
        </p:nvSpPr>
        <p:spPr>
          <a:xfrm>
            <a:off x="763760" y="578105"/>
            <a:ext cx="7569834" cy="40868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为什么会有这</a:t>
            </a:r>
            <a:r>
              <a:rPr lang="zh-CN"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</a:t>
            </a:r>
            <a:r>
              <a:rPr sz="4500" b="1" kern="0" spc="-8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种线</a:t>
            </a:r>
            <a:r>
              <a:rPr sz="4500" b="1" kern="0" spc="-9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呢?</a:t>
            </a:r>
            <a:endParaRPr lang="en-US" altLang="en-US" sz="4500" dirty="0"/>
          </a:p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marL="53340" algn="l" rtl="0" eaLnBrk="0">
              <a:lnSpc>
                <a:spcPct val="93000"/>
              </a:lnSpc>
              <a:spcBef>
                <a:spcPts val="820"/>
              </a:spcBef>
            </a:pPr>
            <a:r>
              <a:rPr sz="2700" b="1" kern="0" spc="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如果速率不超过百兆，即100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Mbit</a:t>
            </a:r>
            <a:r>
              <a:rPr sz="2700" b="1" kern="0" spc="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2700" kern="0" spc="5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</a:t>
            </a: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需要双绞</a:t>
            </a:r>
            <a:endParaRPr lang="en-US" altLang="en-US" sz="2700" dirty="0"/>
          </a:p>
          <a:p>
            <a:pPr marL="78740" algn="l" rtl="0" eaLnBrk="0">
              <a:lnSpc>
                <a:spcPct val="95000"/>
              </a:lnSpc>
              <a:spcBef>
                <a:spcPts val="2005"/>
              </a:spcBef>
            </a:pPr>
            <a:r>
              <a:rPr sz="2700" b="1" kern="0" spc="1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线中的1236四根线正常工作即可，其中两根负</a:t>
            </a:r>
            <a:endParaRPr lang="en-US" altLang="en-US" sz="27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74295" algn="l" rtl="0" eaLnBrk="0">
              <a:lnSpc>
                <a:spcPct val="95000"/>
              </a:lnSpc>
              <a:spcBef>
                <a:spcPts val="810"/>
              </a:spcBef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责接收/输入，两根负责发送/输出。那么在同种</a:t>
            </a:r>
            <a:endParaRPr lang="en-US" altLang="en-US" sz="2700" dirty="0"/>
          </a:p>
          <a:p>
            <a:pPr marL="74295" algn="l" rtl="0" eaLnBrk="0">
              <a:lnSpc>
                <a:spcPct val="95000"/>
              </a:lnSpc>
              <a:spcBef>
                <a:spcPts val="1870"/>
              </a:spcBef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设备连接通信的时候，</a:t>
            </a: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就需要把一端的输出输入</a:t>
            </a:r>
            <a:endParaRPr lang="en-US" altLang="en-US" sz="27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600" dirty="0"/>
          </a:p>
          <a:p>
            <a:pPr marL="74295" algn="l" rtl="0" eaLnBrk="0">
              <a:lnSpc>
                <a:spcPct val="95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线序对调，即可完成同种设</a:t>
            </a:r>
            <a:r>
              <a:rPr sz="27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备之间的连接通信。</a:t>
            </a:r>
            <a:endParaRPr lang="en-US" altLang="en-US" sz="2700" dirty="0"/>
          </a:p>
        </p:txBody>
      </p:sp>
      <p:sp>
        <p:nvSpPr>
          <p:cNvPr id="418" name="textbox 418"/>
          <p:cNvSpPr/>
          <p:nvPr/>
        </p:nvSpPr>
        <p:spPr>
          <a:xfrm>
            <a:off x="3374040" y="6542808"/>
            <a:ext cx="4991100" cy="2171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</a:t>
            </a:r>
            <a:r>
              <a:rPr sz="2200" kern="0" spc="-3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2200" kern="0" spc="-3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lang="en-US" altLang="en-US" sz="2200" baseline="-7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93840" y="2546375"/>
            <a:ext cx="2286000" cy="2565371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11969" y="4337067"/>
            <a:ext cx="2432029" cy="2197097"/>
          </a:xfrm>
          <a:prstGeom prst="rect">
            <a:avLst/>
          </a:prstGeom>
        </p:spPr>
      </p:pic>
      <p:sp>
        <p:nvSpPr>
          <p:cNvPr id="426" name="textbox 426"/>
          <p:cNvSpPr/>
          <p:nvPr/>
        </p:nvSpPr>
        <p:spPr>
          <a:xfrm>
            <a:off x="4065784" y="4817338"/>
            <a:ext cx="2428239" cy="14573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673735" algn="l" rtl="0" eaLnBrk="0">
              <a:lnSpc>
                <a:spcPct val="96000"/>
              </a:lnSpc>
            </a:pPr>
            <a:r>
              <a:rPr sz="1400" b="1" kern="0" spc="110" dirty="0">
                <a:solidFill>
                  <a:srgbClr val="93EBF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交叉互联法</a:t>
            </a:r>
            <a:endParaRPr lang="en-US" altLang="en-US" sz="1400" dirty="0"/>
          </a:p>
          <a:p>
            <a:pPr algn="l" rtl="0" eaLnBrk="0">
              <a:lnSpc>
                <a:spcPct val="158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300"/>
              </a:spcBef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二、交叉互连</a:t>
            </a:r>
            <a:endParaRPr lang="en-US" altLang="en-US" sz="1000" dirty="0"/>
          </a:p>
          <a:p>
            <a:pPr marL="12700" algn="l" rtl="0" eaLnBrk="0">
              <a:lnSpc>
                <a:spcPct val="102000"/>
              </a:lnSpc>
              <a:spcBef>
                <a:spcPts val="100"/>
              </a:spcBef>
            </a:pP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网线的一端按T568B</a:t>
            </a:r>
            <a:r>
              <a:rPr sz="10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接，另一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端按T568A</a:t>
            </a:r>
            <a:r>
              <a:rPr sz="1000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脑——</a:t>
            </a:r>
            <a:r>
              <a:rPr sz="1000" kern="0" spc="-3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10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脑，即对等网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连接</a:t>
            </a: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130"/>
              </a:spcBef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集线器——→集线器</a:t>
            </a:r>
            <a:endParaRPr lang="en-US" altLang="en-US" sz="1000" dirty="0"/>
          </a:p>
          <a:p>
            <a:pPr marL="12700" algn="l" rtl="0" eaLnBrk="0">
              <a:lnSpc>
                <a:spcPct val="85000"/>
              </a:lnSpc>
              <a:spcBef>
                <a:spcPts val="225"/>
              </a:spcBef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交换机——→交换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</a:t>
            </a:r>
            <a:endParaRPr lang="en-US" altLang="en-US" sz="1000" dirty="0"/>
          </a:p>
          <a:p>
            <a:pPr marL="12700" algn="l" rtl="0" eaLnBrk="0">
              <a:lnSpc>
                <a:spcPts val="1260"/>
              </a:lnSpc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路由器</a:t>
            </a:r>
            <a:r>
              <a:rPr sz="1000" kern="0" spc="-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10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1000" kern="0" spc="-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由器</a:t>
            </a:r>
            <a:endParaRPr lang="en-US" altLang="en-US" sz="1000" dirty="0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2914650" y="596920"/>
            <a:ext cx="1600200" cy="1308094"/>
            <a:chOff x="0" y="0"/>
            <a:chExt cx="1600200" cy="1308094"/>
          </a:xfrm>
        </p:grpSpPr>
        <p:pic>
          <p:nvPicPr>
            <p:cNvPr id="428" name="picture 4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600200" cy="1308094"/>
            </a:xfrm>
            <a:prstGeom prst="rect">
              <a:avLst/>
            </a:prstGeom>
          </p:spPr>
        </p:pic>
        <p:pic>
          <p:nvPicPr>
            <p:cNvPr id="430" name="picture 4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85775" y="253951"/>
              <a:ext cx="101635" cy="549291"/>
            </a:xfrm>
            <a:prstGeom prst="rect">
              <a:avLst/>
            </a:prstGeom>
          </p:spPr>
        </p:pic>
        <p:sp>
          <p:nvSpPr>
            <p:cNvPr id="432" name="textbox 432"/>
            <p:cNvSpPr/>
            <p:nvPr/>
          </p:nvSpPr>
          <p:spPr>
            <a:xfrm>
              <a:off x="133329" y="151716"/>
              <a:ext cx="580390" cy="14732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88000"/>
                </a:lnSpc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1  2  </a:t>
              </a:r>
              <a:r>
                <a:rPr sz="7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3</a:t>
              </a:r>
              <a:r>
                <a:rPr sz="700" kern="0" spc="1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4</a:t>
              </a:r>
              <a:endParaRPr lang="en-US" altLang="en-US" sz="900" dirty="0"/>
            </a:p>
          </p:txBody>
        </p:sp>
      </p:grpSp>
      <p:sp>
        <p:nvSpPr>
          <p:cNvPr id="434" name="textbox 434"/>
          <p:cNvSpPr/>
          <p:nvPr/>
        </p:nvSpPr>
        <p:spPr>
          <a:xfrm>
            <a:off x="1208285" y="5290931"/>
            <a:ext cx="2190114" cy="9893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一、直连线互连</a:t>
            </a:r>
            <a:endParaRPr lang="en-US" altLang="en-US" sz="1000" dirty="0"/>
          </a:p>
          <a:p>
            <a:pPr marL="12700" algn="l" rtl="0" eaLnBrk="0">
              <a:lnSpc>
                <a:spcPct val="85000"/>
              </a:lnSpc>
              <a:spcBef>
                <a:spcPts val="105"/>
              </a:spcBef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网线的两端均按</a:t>
            </a:r>
            <a:r>
              <a:rPr sz="10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T568B</a:t>
            </a:r>
            <a:r>
              <a:rPr sz="1000" kern="0" spc="-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</a:t>
            </a:r>
            <a:endParaRPr lang="en-US" altLang="en-US" sz="1000" dirty="0"/>
          </a:p>
          <a:p>
            <a:pPr marL="12700" algn="l" rtl="0" eaLnBrk="0">
              <a:lnSpc>
                <a:spcPts val="1310"/>
              </a:lnSpc>
            </a:pP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</a:t>
            </a:r>
            <a:r>
              <a:rPr sz="10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脑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1000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ADSL</a:t>
            </a:r>
            <a:r>
              <a:rPr sz="1000" kern="0" spc="-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猫</a:t>
            </a:r>
            <a:endParaRPr lang="en-US" altLang="en-US" sz="1000" dirty="0"/>
          </a:p>
          <a:p>
            <a:pPr algn="l" rtl="0" eaLnBrk="0">
              <a:lnSpc>
                <a:spcPct val="134000"/>
              </a:lnSpc>
            </a:pPr>
            <a:endParaRPr lang="en-US" altLang="en-US" sz="200" dirty="0"/>
          </a:p>
          <a:p>
            <a:pPr marL="12700" algn="l" rtl="0" eaLnBrk="0">
              <a:lnSpc>
                <a:spcPct val="106000"/>
              </a:lnSpc>
              <a:spcBef>
                <a:spcPts val="0"/>
              </a:spcBef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2.ADSL</a:t>
            </a:r>
            <a:r>
              <a:rPr sz="1000" kern="0" spc="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猫——→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ADSL</a:t>
            </a:r>
            <a:r>
              <a:rPr sz="10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路由器的</a:t>
            </a:r>
            <a:r>
              <a:rPr sz="1000" kern="0" spc="-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WAN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口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</a:t>
            </a:r>
            <a:r>
              <a:rPr sz="900" kern="0" spc="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脑</a:t>
            </a:r>
            <a:r>
              <a:rPr sz="900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900"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900" kern="0" spc="-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ADSL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路由器的</a:t>
            </a:r>
            <a:r>
              <a:rPr sz="9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LAN</a:t>
            </a:r>
            <a:r>
              <a:rPr sz="9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口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脑——</a:t>
            </a:r>
            <a:r>
              <a:rPr sz="1000" kern="0" spc="-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→集线器或交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换机</a:t>
            </a:r>
            <a:endParaRPr lang="en-US" altLang="en-US" sz="1000" dirty="0"/>
          </a:p>
        </p:txBody>
      </p:sp>
      <p:pic>
        <p:nvPicPr>
          <p:cNvPr id="436" name="picture 4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70010" y="628672"/>
            <a:ext cx="1250899" cy="1162019"/>
          </a:xfrm>
          <a:prstGeom prst="rect">
            <a:avLst/>
          </a:prstGeom>
        </p:spPr>
      </p:pic>
      <p:sp>
        <p:nvSpPr>
          <p:cNvPr id="438" name="textbox 438"/>
          <p:cNvSpPr/>
          <p:nvPr/>
        </p:nvSpPr>
        <p:spPr>
          <a:xfrm>
            <a:off x="4724440" y="730227"/>
            <a:ext cx="1416050" cy="9061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241300" algn="l" rtl="0" eaLnBrk="0">
              <a:lnSpc>
                <a:spcPct val="89000"/>
              </a:lnSpc>
            </a:pPr>
            <a:r>
              <a:rPr sz="2300" kern="0" spc="-60" baseline="-14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500" kern="0" spc="30" baseline="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900" kern="0" spc="4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30" baseline="2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sz="1000" kern="0" spc="5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30" baseline="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sz="900" kern="0" spc="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marL="62865" algn="l" rtl="0" eaLnBrk="0">
              <a:lnSpc>
                <a:spcPct val="74000"/>
              </a:lnSpc>
              <a:spcBef>
                <a:spcPts val="240"/>
              </a:spcBef>
            </a:pPr>
            <a:r>
              <a:rPr sz="800" kern="0" spc="-10" dirty="0">
                <a:solidFill>
                  <a:srgbClr val="B87006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1</a:t>
            </a:r>
            <a:endParaRPr lang="en-US" altLang="en-US" sz="800" dirty="0"/>
          </a:p>
          <a:p>
            <a:pPr marL="12700" algn="l" rtl="0" eaLnBrk="0">
              <a:lnSpc>
                <a:spcPct val="99000"/>
              </a:lnSpc>
              <a:spcBef>
                <a:spcPts val="25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白橙白蓝白绿白棕</a:t>
            </a:r>
            <a:endParaRPr lang="en-US" altLang="en-US" sz="1400" dirty="0"/>
          </a:p>
        </p:txBody>
      </p:sp>
      <p:sp>
        <p:nvSpPr>
          <p:cNvPr id="440" name="textbox 440"/>
          <p:cNvSpPr/>
          <p:nvPr/>
        </p:nvSpPr>
        <p:spPr>
          <a:xfrm>
            <a:off x="3374040" y="6524038"/>
            <a:ext cx="4980940" cy="231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625"/>
              </a:lnSpc>
            </a:pPr>
            <a:r>
              <a:rPr sz="1300" b="1" kern="0" spc="-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300" b="1" kern="0" spc="-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300" kern="0" spc="9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b="1" kern="0" spc="-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300" kern="0" spc="-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</a:t>
            </a:r>
            <a:r>
              <a:rPr sz="1900" kern="0" spc="-60" baseline="-10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1900" kern="0" spc="-60" baseline="-10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en-US" sz="1900" baseline="-10000" dirty="0"/>
          </a:p>
        </p:txBody>
      </p:sp>
      <p:sp>
        <p:nvSpPr>
          <p:cNvPr id="442" name="textbox 442"/>
          <p:cNvSpPr/>
          <p:nvPr/>
        </p:nvSpPr>
        <p:spPr>
          <a:xfrm>
            <a:off x="3735427" y="1387046"/>
            <a:ext cx="84455" cy="6350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60"/>
              </a:lnSpc>
            </a:pP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…</a:t>
            </a:r>
            <a:endParaRPr lang="en-US" altLang="en-US" sz="300" dirty="0"/>
          </a:p>
        </p:txBody>
      </p:sp>
      <p:sp>
        <p:nvSpPr>
          <p:cNvPr id="444" name="textbox 444"/>
          <p:cNvSpPr/>
          <p:nvPr/>
        </p:nvSpPr>
        <p:spPr>
          <a:xfrm>
            <a:off x="2990829" y="1399214"/>
            <a:ext cx="1441450" cy="446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indent="25400" algn="l" rtl="0" eaLnBrk="0">
              <a:lnSpc>
                <a:spcPct val="99000"/>
              </a:lnSpc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白绿白蓝白橙白棕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绿</a:t>
            </a:r>
            <a:r>
              <a:rPr sz="1400" kern="0" spc="5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橙</a:t>
            </a:r>
            <a:r>
              <a:rPr sz="1400" kern="0" spc="5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蓝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棕</a:t>
            </a:r>
            <a:endParaRPr lang="en-US" altLang="en-US" sz="1400" dirty="0"/>
          </a:p>
        </p:txBody>
      </p:sp>
      <p:sp>
        <p:nvSpPr>
          <p:cNvPr id="446" name="textbox 446"/>
          <p:cNvSpPr/>
          <p:nvPr/>
        </p:nvSpPr>
        <p:spPr>
          <a:xfrm>
            <a:off x="4724440" y="1608726"/>
            <a:ext cx="1229360" cy="5092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橙</a:t>
            </a:r>
            <a:r>
              <a:rPr sz="1400" kern="0" spc="67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绿</a:t>
            </a:r>
            <a:r>
              <a:rPr sz="1400" kern="0" spc="58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蓝</a:t>
            </a:r>
            <a:r>
              <a:rPr sz="1400" kern="0" spc="65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棕</a:t>
            </a:r>
            <a:endParaRPr lang="en-US" altLang="en-US" sz="1400" dirty="0"/>
          </a:p>
          <a:p>
            <a:pPr algn="l" rtl="0" eaLnBrk="0">
              <a:lnSpc>
                <a:spcPct val="116000"/>
              </a:lnSpc>
            </a:pPr>
            <a:endParaRPr lang="en-US" altLang="en-US" sz="600" dirty="0"/>
          </a:p>
          <a:p>
            <a:pPr marL="478155" algn="l" rtl="0" eaLnBrk="0">
              <a:lnSpc>
                <a:spcPct val="78000"/>
              </a:lnSpc>
              <a:spcBef>
                <a:spcPts val="0"/>
              </a:spcBef>
            </a:pPr>
            <a:r>
              <a:rPr sz="1400" b="1" kern="0" spc="-20" dirty="0">
                <a:solidFill>
                  <a:srgbClr val="33EEF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T568B</a:t>
            </a:r>
            <a:endParaRPr lang="en-US" altLang="en-US" sz="1400" dirty="0"/>
          </a:p>
        </p:txBody>
      </p:sp>
      <p:sp>
        <p:nvSpPr>
          <p:cNvPr id="448" name="textbox 448"/>
          <p:cNvSpPr/>
          <p:nvPr/>
        </p:nvSpPr>
        <p:spPr>
          <a:xfrm>
            <a:off x="4159249" y="2444141"/>
            <a:ext cx="1668779" cy="1517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1000" kern="0" spc="-10" dirty="0">
                <a:solidFill>
                  <a:srgbClr val="1D91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12345678</a:t>
            </a:r>
            <a:r>
              <a:rPr sz="1000" kern="0" spc="10" dirty="0">
                <a:solidFill>
                  <a:srgbClr val="1D919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1000" kern="0" spc="-10" dirty="0">
                <a:solidFill>
                  <a:srgbClr val="189398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000" kern="0" spc="-20" dirty="0">
                <a:solidFill>
                  <a:srgbClr val="189398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2345678</a:t>
            </a:r>
            <a:endParaRPr lang="en-US" altLang="en-US" sz="1000" dirty="0"/>
          </a:p>
        </p:txBody>
      </p:sp>
      <p:sp>
        <p:nvSpPr>
          <p:cNvPr id="450" name="textbox 450"/>
          <p:cNvSpPr/>
          <p:nvPr/>
        </p:nvSpPr>
        <p:spPr>
          <a:xfrm>
            <a:off x="1301750" y="2412388"/>
            <a:ext cx="1656079" cy="145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1000" kern="0" spc="-10" dirty="0">
                <a:solidFill>
                  <a:srgbClr val="0A848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12345678</a:t>
            </a:r>
            <a:r>
              <a:rPr sz="1000" kern="0" spc="0" dirty="0">
                <a:solidFill>
                  <a:srgbClr val="0A848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1000" kern="0" spc="-10" dirty="0">
                <a:solidFill>
                  <a:srgbClr val="0A848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000" kern="0" spc="-20" dirty="0">
                <a:solidFill>
                  <a:srgbClr val="0A848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2345678</a:t>
            </a:r>
            <a:endParaRPr lang="en-US" altLang="en-US" sz="1000" dirty="0"/>
          </a:p>
        </p:txBody>
      </p:sp>
      <p:sp>
        <p:nvSpPr>
          <p:cNvPr id="452" name="textbox 452"/>
          <p:cNvSpPr/>
          <p:nvPr/>
        </p:nvSpPr>
        <p:spPr>
          <a:xfrm>
            <a:off x="1593809" y="1771324"/>
            <a:ext cx="765175" cy="226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1580"/>
              </a:lnSpc>
            </a:pPr>
            <a:r>
              <a:rPr sz="13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RJ-45</a:t>
            </a:r>
            <a:r>
              <a:rPr sz="13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</a:t>
            </a:r>
            <a:r>
              <a:rPr sz="13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</a:t>
            </a:r>
            <a:endParaRPr lang="en-US" altLang="en-US" sz="1300" dirty="0"/>
          </a:p>
        </p:txBody>
      </p:sp>
      <p:sp>
        <p:nvSpPr>
          <p:cNvPr id="454" name="textbox 454"/>
          <p:cNvSpPr/>
          <p:nvPr/>
        </p:nvSpPr>
        <p:spPr>
          <a:xfrm rot="16200000">
            <a:off x="4912365" y="1024216"/>
            <a:ext cx="543559" cy="2533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lang="en-US" altLang="en-US" sz="300" dirty="0"/>
          </a:p>
          <a:p>
            <a:pPr marL="12700" algn="l" rtl="0" eaLnBrk="0">
              <a:lnSpc>
                <a:spcPts val="1495"/>
              </a:lnSpc>
              <a:spcBef>
                <a:spcPts val="0"/>
              </a:spcBef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………3</a:t>
            </a:r>
            <a:endParaRPr lang="en-US" altLang="en-US" sz="1200" dirty="0"/>
          </a:p>
        </p:txBody>
      </p:sp>
      <p:sp>
        <p:nvSpPr>
          <p:cNvPr id="456" name="textbox 456"/>
          <p:cNvSpPr/>
          <p:nvPr/>
        </p:nvSpPr>
        <p:spPr>
          <a:xfrm>
            <a:off x="3479759" y="1925018"/>
            <a:ext cx="465455" cy="1943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9000"/>
              </a:lnSpc>
            </a:pPr>
            <a:r>
              <a:rPr sz="1400" kern="0" spc="-10" dirty="0">
                <a:solidFill>
                  <a:srgbClr val="2EC9C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T568A</a:t>
            </a:r>
            <a:endParaRPr lang="en-US" altLang="en-US" sz="1400" dirty="0"/>
          </a:p>
        </p:txBody>
      </p:sp>
      <p:sp>
        <p:nvSpPr>
          <p:cNvPr id="458" name="textbox 458"/>
          <p:cNvSpPr/>
          <p:nvPr/>
        </p:nvSpPr>
        <p:spPr>
          <a:xfrm rot="5400000">
            <a:off x="2880176" y="963839"/>
            <a:ext cx="421640" cy="2336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400" dirty="0"/>
          </a:p>
          <a:p>
            <a:pPr marL="12700" algn="l" rtl="0" eaLnBrk="0">
              <a:lnSpc>
                <a:spcPts val="1220"/>
              </a:lnSpc>
              <a:spcBef>
                <a:spcPts val="0"/>
              </a:spcBef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………一</a:t>
            </a:r>
            <a:endParaRPr lang="en-US" altLang="en-US" sz="800" dirty="0"/>
          </a:p>
        </p:txBody>
      </p:sp>
      <p:sp>
        <p:nvSpPr>
          <p:cNvPr id="460" name="textbox 460"/>
          <p:cNvSpPr/>
          <p:nvPr/>
        </p:nvSpPr>
        <p:spPr>
          <a:xfrm>
            <a:off x="4248129" y="770730"/>
            <a:ext cx="106679" cy="193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lang="en-US" altLang="en-US" sz="1400" dirty="0"/>
          </a:p>
        </p:txBody>
      </p:sp>
      <p:sp>
        <p:nvSpPr>
          <p:cNvPr id="462" name="textbox 462"/>
          <p:cNvSpPr/>
          <p:nvPr/>
        </p:nvSpPr>
        <p:spPr>
          <a:xfrm>
            <a:off x="3898920" y="755522"/>
            <a:ext cx="83185" cy="145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8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lang="en-US" altLang="en-US" sz="1000" dirty="0"/>
          </a:p>
        </p:txBody>
      </p:sp>
      <p:sp>
        <p:nvSpPr>
          <p:cNvPr id="464" name="textbox 464"/>
          <p:cNvSpPr/>
          <p:nvPr/>
        </p:nvSpPr>
        <p:spPr>
          <a:xfrm rot="16200000">
            <a:off x="5861903" y="1278269"/>
            <a:ext cx="64769" cy="1479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</a:pPr>
            <a:endParaRPr lang="en-US" altLang="en-US" sz="200" dirty="0"/>
          </a:p>
          <a:p>
            <a:pPr algn="r" rtl="0" eaLnBrk="0">
              <a:lnSpc>
                <a:spcPct val="79000"/>
              </a:lnSpc>
              <a:spcBef>
                <a:spcPts val="0"/>
              </a:spcBef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en-US" sz="800" dirty="0"/>
          </a:p>
        </p:txBody>
      </p:sp>
      <p:sp>
        <p:nvSpPr>
          <p:cNvPr id="466" name="textbox 466"/>
          <p:cNvSpPr/>
          <p:nvPr/>
        </p:nvSpPr>
        <p:spPr>
          <a:xfrm>
            <a:off x="3735427" y="1042406"/>
            <a:ext cx="84455" cy="6350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60"/>
              </a:lnSpc>
            </a:pP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…</a:t>
            </a:r>
            <a:endParaRPr lang="en-US" altLang="en-US" sz="300" dirty="0"/>
          </a:p>
        </p:txBody>
      </p:sp>
      <p:sp>
        <p:nvSpPr>
          <p:cNvPr id="468" name="textbox 468"/>
          <p:cNvSpPr/>
          <p:nvPr/>
        </p:nvSpPr>
        <p:spPr>
          <a:xfrm>
            <a:off x="4084834" y="1034089"/>
            <a:ext cx="84455" cy="63500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60"/>
              </a:lnSpc>
            </a:pP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endParaRPr lang="en-US" altLang="en-US" sz="300" dirty="0"/>
          </a:p>
        </p:txBody>
      </p:sp>
      <p:sp>
        <p:nvSpPr>
          <p:cNvPr id="470" name="textbox 470"/>
          <p:cNvSpPr/>
          <p:nvPr/>
        </p:nvSpPr>
        <p:spPr>
          <a:xfrm>
            <a:off x="3765121" y="697766"/>
            <a:ext cx="64135" cy="5905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3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endParaRPr lang="en-US" altLang="en-US" sz="300" dirty="0"/>
          </a:p>
        </p:txBody>
      </p:sp>
      <p:sp>
        <p:nvSpPr>
          <p:cNvPr id="472" name="textbox 472"/>
          <p:cNvSpPr/>
          <p:nvPr/>
        </p:nvSpPr>
        <p:spPr>
          <a:xfrm>
            <a:off x="4114528" y="716831"/>
            <a:ext cx="64135" cy="59055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3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lang="en-US" altLang="en-US" sz="300" dirty="0"/>
          </a:p>
        </p:txBody>
      </p:sp>
      <p:sp>
        <p:nvSpPr>
          <p:cNvPr id="474" name="textbox 474"/>
          <p:cNvSpPr/>
          <p:nvPr/>
        </p:nvSpPr>
        <p:spPr>
          <a:xfrm>
            <a:off x="4104628" y="1351348"/>
            <a:ext cx="74294" cy="58419"/>
          </a:xfrm>
          <a:prstGeom prst="rect">
            <a:avLst/>
          </a:prstGeom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80"/>
              </a:lnSpc>
            </a:pPr>
            <a:r>
              <a:rPr sz="3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en-US" sz="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4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78" name="textbox 478"/>
          <p:cNvSpPr/>
          <p:nvPr/>
        </p:nvSpPr>
        <p:spPr>
          <a:xfrm>
            <a:off x="767700" y="567445"/>
            <a:ext cx="7778115" cy="22555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4605" algn="l" rtl="0" eaLnBrk="0">
              <a:lnSpc>
                <a:spcPct val="95000"/>
              </a:lnSpc>
            </a:pPr>
            <a:r>
              <a:rPr sz="4600" b="1" kern="0" spc="-1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使用规则</a:t>
            </a:r>
            <a:endParaRPr lang="en-US" altLang="en-US" sz="4600" dirty="0"/>
          </a:p>
          <a:p>
            <a:pPr algn="l" rtl="0" eaLnBrk="0">
              <a:lnSpc>
                <a:spcPct val="19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5000"/>
              </a:lnSpc>
              <a:spcBef>
                <a:spcPts val="940"/>
              </a:spcBef>
            </a:pPr>
            <a:r>
              <a:rPr sz="31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计算机开放系统互联模型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OSI</a:t>
            </a:r>
            <a:r>
              <a:rPr sz="3100" kern="0" spc="-3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的七层中，同</a:t>
            </a:r>
            <a:endParaRPr lang="en-US" altLang="en-US" sz="3100" dirty="0"/>
          </a:p>
          <a:p>
            <a:pPr marL="12700" algn="l" rtl="0" eaLnBrk="0">
              <a:lnSpc>
                <a:spcPts val="5910"/>
              </a:lnSpc>
            </a:pP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一层设备相连用交叉线；不同</a:t>
            </a:r>
            <a:r>
              <a:rPr sz="31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层设备相连用</a:t>
            </a:r>
            <a:endParaRPr lang="en-US" altLang="en-US" sz="3100" dirty="0"/>
          </a:p>
        </p:txBody>
      </p:sp>
      <p:sp>
        <p:nvSpPr>
          <p:cNvPr id="480" name="textbox 480"/>
          <p:cNvSpPr/>
          <p:nvPr/>
        </p:nvSpPr>
        <p:spPr>
          <a:xfrm>
            <a:off x="761979" y="3141797"/>
            <a:ext cx="3815715" cy="25469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9000"/>
              </a:lnSpc>
            </a:pPr>
            <a:r>
              <a:rPr sz="3000" kern="0" spc="-2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直通线。</a:t>
            </a:r>
            <a:endParaRPr lang="en-US" altLang="en-US" sz="3000" dirty="0"/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1000" b="1" kern="0" spc="-30" dirty="0">
                <a:solidFill>
                  <a:srgbClr val="2210B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OSl</a:t>
            </a:r>
            <a:r>
              <a:rPr sz="1000" b="1" kern="0" spc="160" dirty="0">
                <a:solidFill>
                  <a:srgbClr val="2210B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b="1" kern="0" spc="-30" dirty="0">
                <a:solidFill>
                  <a:srgbClr val="2210B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的体系结构</a:t>
            </a:r>
            <a:endParaRPr lang="en-US" altLang="en-US" sz="10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marL="2921000" algn="l" rtl="0" eaLnBrk="0">
              <a:lnSpc>
                <a:spcPct val="95000"/>
              </a:lnSpc>
              <a:spcBef>
                <a:spcPts val="300"/>
              </a:spcBef>
            </a:pPr>
            <a:r>
              <a:rPr sz="1500" kern="0" spc="-40" baseline="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应用层</a:t>
            </a:r>
            <a:endParaRPr lang="en-US" altLang="en-US" sz="1000" dirty="0"/>
          </a:p>
          <a:p>
            <a:pPr marL="2921000" algn="l" rtl="0" eaLnBrk="0">
              <a:lnSpc>
                <a:spcPct val="95000"/>
              </a:lnSpc>
              <a:spcBef>
                <a:spcPts val="1010"/>
              </a:spcBef>
            </a:pPr>
            <a:r>
              <a:rPr sz="1500" kern="0" spc="10" baseline="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表示层</a:t>
            </a:r>
            <a:endParaRPr lang="en-US" altLang="en-US" sz="1000" dirty="0"/>
          </a:p>
          <a:p>
            <a:pPr marL="2921000" algn="l" rtl="0" eaLnBrk="0">
              <a:lnSpc>
                <a:spcPct val="94000"/>
              </a:lnSpc>
              <a:spcBef>
                <a:spcPts val="865"/>
              </a:spcBef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会话层</a:t>
            </a:r>
            <a:endParaRPr lang="en-US" altLang="en-US" sz="1000" dirty="0"/>
          </a:p>
          <a:p>
            <a:pPr marL="2895600" algn="l" rtl="0" eaLnBrk="0">
              <a:lnSpc>
                <a:spcPct val="95000"/>
              </a:lnSpc>
              <a:spcBef>
                <a:spcPts val="1155"/>
              </a:spcBef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运输层</a:t>
            </a:r>
            <a:endParaRPr lang="en-US" altLang="en-US" sz="1000" dirty="0"/>
          </a:p>
          <a:p>
            <a:pPr marL="2921000" algn="l" rtl="0" eaLnBrk="0">
              <a:lnSpc>
                <a:spcPct val="95000"/>
              </a:lnSpc>
              <a:spcBef>
                <a:spcPts val="875"/>
              </a:spcBef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000" kern="0" spc="-40" dirty="0">
                <a:solidFill>
                  <a:srgbClr val="2243A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网络层</a:t>
            </a:r>
            <a:endParaRPr lang="en-US" altLang="en-US" sz="1000" dirty="0"/>
          </a:p>
          <a:p>
            <a:pPr marL="2921000" algn="l" rtl="0" eaLnBrk="0">
              <a:lnSpc>
                <a:spcPct val="83000"/>
              </a:lnSpc>
              <a:spcBef>
                <a:spcPts val="965"/>
              </a:spcBef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000" kern="0" spc="4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数据链路层</a:t>
            </a:r>
            <a:endParaRPr lang="en-US" altLang="en-US" sz="1000" dirty="0"/>
          </a:p>
          <a:p>
            <a:pPr marL="2921000" algn="l" rtl="0" eaLnBrk="0">
              <a:lnSpc>
                <a:spcPts val="22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物理层</a:t>
            </a:r>
            <a:endParaRPr lang="en-US" altLang="en-US" sz="1000" dirty="0"/>
          </a:p>
        </p:txBody>
      </p:sp>
      <p:pic>
        <p:nvPicPr>
          <p:cNvPr id="482" name="picture 4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0689"/>
            <a:ext cx="2025670" cy="2120905"/>
          </a:xfrm>
          <a:prstGeom prst="rect">
            <a:avLst/>
          </a:prstGeom>
        </p:spPr>
      </p:pic>
      <p:sp>
        <p:nvSpPr>
          <p:cNvPr id="484" name="textbox 484"/>
          <p:cNvSpPr/>
          <p:nvPr/>
        </p:nvSpPr>
        <p:spPr>
          <a:xfrm>
            <a:off x="4796025" y="3548908"/>
            <a:ext cx="1234439" cy="19742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1000" kern="0" spc="0" dirty="0">
                <a:solidFill>
                  <a:srgbClr val="12039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TCP/IP</a:t>
            </a:r>
            <a:r>
              <a:rPr sz="1000" kern="0" spc="0" dirty="0">
                <a:solidFill>
                  <a:srgbClr val="12039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的体系结构</a:t>
            </a:r>
            <a:endParaRPr lang="en-US" altLang="en-US" sz="1000" dirty="0"/>
          </a:p>
          <a:p>
            <a:pPr algn="l" rtl="0" eaLnBrk="0">
              <a:lnSpc>
                <a:spcPct val="137000"/>
              </a:lnSpc>
            </a:pPr>
            <a:endParaRPr lang="en-US" altLang="en-US" sz="1000" dirty="0"/>
          </a:p>
          <a:p>
            <a:pPr marL="404495" algn="l" rtl="0" eaLnBrk="0">
              <a:lnSpc>
                <a:spcPct val="95000"/>
              </a:lnSpc>
              <a:spcBef>
                <a:spcPts val="310"/>
              </a:spcBef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应用层</a:t>
            </a:r>
            <a:endParaRPr lang="en-US" altLang="en-US" sz="1000" dirty="0"/>
          </a:p>
          <a:p>
            <a:pPr marL="86995" algn="l" rtl="0" eaLnBrk="0">
              <a:lnSpc>
                <a:spcPct val="95000"/>
              </a:lnSpc>
              <a:spcBef>
                <a:spcPts val="560"/>
              </a:spcBef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(各种应用层协议如</a:t>
            </a:r>
            <a:endParaRPr lang="en-US" altLang="en-US" sz="1000" dirty="0"/>
          </a:p>
          <a:p>
            <a:pPr marL="169545" algn="l" rtl="0" eaLnBrk="0">
              <a:lnSpc>
                <a:spcPct val="81000"/>
              </a:lnSpc>
              <a:spcBef>
                <a:spcPts val="80"/>
              </a:spcBef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TELNET,FTP,</a:t>
            </a:r>
            <a:endParaRPr lang="en-US" altLang="en-US" sz="1000" dirty="0"/>
          </a:p>
          <a:p>
            <a:pPr marL="315595" algn="l" rtl="0" eaLnBrk="0">
              <a:lnSpc>
                <a:spcPct val="96000"/>
              </a:lnSpc>
              <a:spcBef>
                <a:spcPts val="370"/>
              </a:spcBef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SMTP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等)</a:t>
            </a:r>
            <a:endParaRPr lang="en-US" altLang="en-US" sz="1000" dirty="0"/>
          </a:p>
          <a:p>
            <a:pPr marL="12700" algn="l" rtl="0" eaLnBrk="0">
              <a:lnSpc>
                <a:spcPct val="91000"/>
              </a:lnSpc>
              <a:spcBef>
                <a:spcPts val="935"/>
              </a:spcBef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运输层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TCP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UDP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lang="en-US" altLang="en-US" sz="1000" dirty="0"/>
          </a:p>
          <a:p>
            <a:pPr marL="309245" algn="l" rtl="0" eaLnBrk="0">
              <a:lnSpc>
                <a:spcPct val="83000"/>
              </a:lnSpc>
              <a:spcBef>
                <a:spcPts val="1165"/>
              </a:spcBef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网际层</a:t>
            </a:r>
            <a:r>
              <a:rPr sz="1000" kern="0" spc="-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</a:t>
            </a:r>
            <a:endParaRPr lang="en-US" altLang="en-US" sz="1000" dirty="0"/>
          </a:p>
          <a:p>
            <a:pPr marL="277495" algn="l" rtl="0" eaLnBrk="0">
              <a:lnSpc>
                <a:spcPts val="2650"/>
              </a:lnSpc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网络接口层</a:t>
            </a:r>
            <a:endParaRPr lang="en-US" altLang="en-US" sz="1000" dirty="0"/>
          </a:p>
        </p:txBody>
      </p:sp>
      <p:sp>
        <p:nvSpPr>
          <p:cNvPr id="486" name="textbox 486"/>
          <p:cNvSpPr/>
          <p:nvPr/>
        </p:nvSpPr>
        <p:spPr>
          <a:xfrm>
            <a:off x="3374040" y="6542808"/>
            <a:ext cx="4972684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</a:t>
            </a:r>
            <a:endParaRPr lang="en-US" altLang="en-US" sz="2100" baseline="-7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picture 4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48068" y="2095530"/>
            <a:ext cx="5022890" cy="2901894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8929" y="2533619"/>
            <a:ext cx="2851190" cy="2197097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770197" y="576160"/>
            <a:ext cx="3406140" cy="692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4600" b="1" kern="0" spc="-19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网线制作工具</a:t>
            </a:r>
            <a:endParaRPr lang="en-US" altLang="en-US" sz="4600" dirty="0"/>
          </a:p>
        </p:txBody>
      </p:sp>
      <p:sp>
        <p:nvSpPr>
          <p:cNvPr id="496" name="textbox 496"/>
          <p:cNvSpPr/>
          <p:nvPr/>
        </p:nvSpPr>
        <p:spPr>
          <a:xfrm>
            <a:off x="812412" y="1693498"/>
            <a:ext cx="1680845" cy="5022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33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工具套件</a:t>
            </a:r>
            <a:endParaRPr lang="en-US" altLang="en-US" sz="3300" dirty="0"/>
          </a:p>
        </p:txBody>
      </p:sp>
      <p:sp>
        <p:nvSpPr>
          <p:cNvPr id="498" name="textbox 498"/>
          <p:cNvSpPr/>
          <p:nvPr/>
        </p:nvSpPr>
        <p:spPr>
          <a:xfrm>
            <a:off x="3371860" y="6580964"/>
            <a:ext cx="4982209" cy="1790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900" kern="0" spc="-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sz="900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sz="900" kern="0" spc="-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900" kern="0" spc="-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900" kern="0" spc="-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秋</a:t>
            </a:r>
            <a:r>
              <a:rPr sz="900" kern="0" spc="-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</a:t>
            </a:r>
            <a:r>
              <a:rPr sz="900" kern="0" spc="-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 </a:t>
            </a:r>
            <a:r>
              <a:rPr lang="zh-CN"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计算机与网络安全</a:t>
            </a:r>
            <a:r>
              <a:rPr sz="900" kern="0" spc="-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</a:t>
            </a:r>
            <a:r>
              <a:rPr sz="900" kern="0" spc="1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  娜                                    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endParaRPr lang="en-US" altLang="en-US" sz="2100" baseline="-5000" dirty="0"/>
          </a:p>
        </p:txBody>
      </p:sp>
      <p:sp>
        <p:nvSpPr>
          <p:cNvPr id="500" name="textbox 500"/>
          <p:cNvSpPr/>
          <p:nvPr/>
        </p:nvSpPr>
        <p:spPr>
          <a:xfrm>
            <a:off x="5930899" y="5134505"/>
            <a:ext cx="640715" cy="789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1000"/>
              </a:lnSpc>
              <a:spcBef>
                <a:spcPts val="0"/>
              </a:spcBef>
            </a:pPr>
            <a:r>
              <a:rPr sz="900" kern="0" spc="-7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测试仪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</a:t>
            </a:r>
            <a:r>
              <a:rPr sz="900" kern="0" spc="-7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‘1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9V电池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*1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油性笔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*1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数据线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网络跳线*1</a:t>
            </a:r>
            <a:endParaRPr lang="en-US" altLang="en-US" sz="900" dirty="0"/>
          </a:p>
        </p:txBody>
      </p:sp>
      <p:sp>
        <p:nvSpPr>
          <p:cNvPr id="502" name="textbox 502"/>
          <p:cNvSpPr/>
          <p:nvPr/>
        </p:nvSpPr>
        <p:spPr>
          <a:xfrm>
            <a:off x="7302499" y="5129093"/>
            <a:ext cx="687705" cy="6324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1000"/>
              </a:lnSpc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超五类水晶头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六类水晶头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水晶头护套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电话水晶头</a:t>
            </a:r>
            <a:endParaRPr lang="en-US" altLang="en-US" sz="900" dirty="0"/>
          </a:p>
        </p:txBody>
      </p:sp>
      <p:sp>
        <p:nvSpPr>
          <p:cNvPr id="504" name="textbox 504"/>
          <p:cNvSpPr/>
          <p:nvPr/>
        </p:nvSpPr>
        <p:spPr>
          <a:xfrm>
            <a:off x="4375139" y="5129781"/>
            <a:ext cx="381634" cy="7962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8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网线钳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剥线刀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打线刀 </a:t>
            </a: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小黄刀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扎带</a:t>
            </a:r>
            <a:endParaRPr lang="en-US" altLang="en-US" sz="900" dirty="0"/>
          </a:p>
        </p:txBody>
      </p:sp>
      <p:sp>
        <p:nvSpPr>
          <p:cNvPr id="506" name="textbox 506"/>
          <p:cNvSpPr/>
          <p:nvPr/>
        </p:nvSpPr>
        <p:spPr>
          <a:xfrm>
            <a:off x="4803743" y="5148361"/>
            <a:ext cx="245109" cy="7620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59690" algn="l" rtl="0" eaLnBrk="0">
              <a:lnSpc>
                <a:spcPct val="82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</a:t>
            </a:r>
            <a:endParaRPr lang="en-US" altLang="en-US" sz="900" dirty="0"/>
          </a:p>
          <a:p>
            <a:pPr marL="59690" algn="l" rtl="0" eaLnBrk="0">
              <a:lnSpc>
                <a:spcPct val="82000"/>
              </a:lnSpc>
              <a:spcBef>
                <a:spcPts val="365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</a:t>
            </a:r>
            <a:endParaRPr lang="en-US" altLang="en-US" sz="900" dirty="0"/>
          </a:p>
          <a:p>
            <a:pPr marL="59690" algn="l" rtl="0" eaLnBrk="0">
              <a:lnSpc>
                <a:spcPct val="82000"/>
              </a:lnSpc>
              <a:spcBef>
                <a:spcPts val="365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</a:t>
            </a:r>
            <a:endParaRPr lang="en-US" altLang="en-US" sz="900" dirty="0"/>
          </a:p>
          <a:p>
            <a:pPr marL="59690" algn="l" rtl="0" eaLnBrk="0">
              <a:lnSpc>
                <a:spcPct val="83000"/>
              </a:lnSpc>
              <a:spcBef>
                <a:spcPts val="520"/>
              </a:spcBef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</a:t>
            </a:r>
            <a:endParaRPr lang="en-US" altLang="en-US" sz="700" dirty="0"/>
          </a:p>
          <a:p>
            <a:pPr algn="l" rtl="0" eaLnBrk="0">
              <a:lnSpc>
                <a:spcPct val="102000"/>
              </a:lnSpc>
            </a:pPr>
            <a:endParaRPr lang="en-US" altLang="en-US" sz="200" dirty="0"/>
          </a:p>
          <a:p>
            <a:pPr algn="r" rtl="0" eaLnBrk="0">
              <a:lnSpc>
                <a:spcPts val="950"/>
              </a:lnSpc>
              <a:spcBef>
                <a:spcPts val="0"/>
              </a:spcBef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‘20</a:t>
            </a:r>
            <a:endParaRPr lang="en-US" altLang="en-US" sz="600" dirty="0"/>
          </a:p>
        </p:txBody>
      </p:sp>
      <p:sp>
        <p:nvSpPr>
          <p:cNvPr id="508" name="textbox 508"/>
          <p:cNvSpPr/>
          <p:nvPr/>
        </p:nvSpPr>
        <p:spPr>
          <a:xfrm>
            <a:off x="8029564" y="5143691"/>
            <a:ext cx="281940" cy="6178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73025" algn="l" rtl="0" eaLnBrk="0">
              <a:lnSpc>
                <a:spcPts val="865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YouYuan"/>
                <a:ea typeface="YouYuan"/>
                <a:cs typeface="YouYuan"/>
              </a:rPr>
              <a:t>‘10</a:t>
            </a:r>
            <a:endParaRPr lang="en-US" altLang="en-US" sz="700" dirty="0"/>
          </a:p>
          <a:p>
            <a:pPr marL="91440" algn="l" rtl="0" eaLnBrk="0">
              <a:lnSpc>
                <a:spcPct val="83000"/>
              </a:lnSpc>
              <a:spcBef>
                <a:spcPts val="550"/>
              </a:spcBef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*10</a:t>
            </a:r>
            <a:endParaRPr lang="en-US" altLang="en-US" sz="700" dirty="0"/>
          </a:p>
          <a:p>
            <a:pPr algn="l" rtl="0" eaLnBrk="0">
              <a:lnSpc>
                <a:spcPct val="107000"/>
              </a:lnSpc>
            </a:pPr>
            <a:endParaRPr lang="en-US" altLang="en-US" sz="400" dirty="0"/>
          </a:p>
          <a:p>
            <a:pPr marL="91440" algn="l" rtl="0" eaLnBrk="0">
              <a:lnSpc>
                <a:spcPct val="94000"/>
              </a:lnSpc>
              <a:spcBef>
                <a:spcPts val="5"/>
              </a:spcBef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*20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*20</a:t>
            </a:r>
            <a:endParaRPr lang="en-US" alt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picture 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703514" y="556731"/>
            <a:ext cx="7914640" cy="35255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78740" algn="l" rtl="0" eaLnBrk="0">
              <a:lnSpc>
                <a:spcPct val="95000"/>
              </a:lnSpc>
            </a:pPr>
            <a:r>
              <a:rPr sz="4500" b="1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压线钳(驳线钳)</a:t>
            </a:r>
            <a:endParaRPr lang="en-US" altLang="en-US" sz="45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功能：用来剥线和压制水晶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头的工具</a:t>
            </a:r>
            <a:endParaRPr lang="en-US" altLang="en-US" sz="2700" dirty="0"/>
          </a:p>
          <a:p>
            <a:pPr algn="l" rtl="0" eaLnBrk="0">
              <a:lnSpc>
                <a:spcPct val="134000"/>
              </a:lnSpc>
            </a:pPr>
            <a:endParaRPr lang="en-US" altLang="en-US" sz="1000" dirty="0"/>
          </a:p>
          <a:p>
            <a:pPr marL="18415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压线钳最顶部是压线槽，可以提供不同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类型的</a:t>
            </a: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线槽</a:t>
            </a:r>
            <a:endParaRPr lang="en-US" altLang="en-US" sz="2700" dirty="0"/>
          </a:p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marL="125730" algn="l" rtl="0" eaLnBrk="0">
              <a:lnSpc>
                <a:spcPct val="94000"/>
              </a:lnSpc>
              <a:spcBef>
                <a:spcPts val="720"/>
              </a:spcBef>
            </a:pP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-8P</a:t>
            </a:r>
            <a:r>
              <a:rPr sz="2400" kern="0" spc="3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槽是RJ-45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水晶头压线槽</a:t>
            </a:r>
            <a:endParaRPr lang="en-US" altLang="en-US" sz="24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600" dirty="0"/>
          </a:p>
          <a:p>
            <a:pPr marL="140970" algn="l" rtl="0" eaLnBrk="0">
              <a:lnSpc>
                <a:spcPct val="95000"/>
              </a:lnSpc>
              <a:spcBef>
                <a:spcPts val="0"/>
              </a:spcBef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-4P</a:t>
            </a:r>
            <a:r>
              <a:rPr sz="2400" b="1" kern="0" spc="2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槽是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RJ-11</a:t>
            </a: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电话线压线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槽</a:t>
            </a:r>
            <a:endParaRPr lang="en-US" altLang="en-US" sz="2400" dirty="0"/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27760" y="4343377"/>
            <a:ext cx="3016239" cy="2190788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5330" y="4546579"/>
            <a:ext cx="2444739" cy="1835200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09980" y="4565644"/>
            <a:ext cx="2387589" cy="1803379"/>
          </a:xfrm>
          <a:prstGeom prst="rect">
            <a:avLst/>
          </a:prstGeom>
        </p:spPr>
      </p:pic>
      <p:sp>
        <p:nvSpPr>
          <p:cNvPr id="520" name="textbox 520"/>
          <p:cNvSpPr/>
          <p:nvPr/>
        </p:nvSpPr>
        <p:spPr>
          <a:xfrm>
            <a:off x="3371860" y="6545078"/>
            <a:ext cx="4987290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endParaRPr lang="en-US" altLang="en-US" sz="2100" baseline="-7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picture 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901699" y="2563724"/>
            <a:ext cx="7389494" cy="31756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69850" algn="l" rtl="0" eaLnBrk="0">
              <a:lnSpc>
                <a:spcPct val="96000"/>
              </a:lnSpc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的电信网络接口。提供声音和数据传输的接口。</a:t>
            </a:r>
            <a:endParaRPr lang="en-US" altLang="en-US" sz="23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5000"/>
              </a:lnSpc>
              <a:spcBef>
                <a:spcPts val="690"/>
              </a:spcBef>
            </a:pPr>
            <a:r>
              <a:rPr sz="23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水晶头是一种能沿固定方向插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入并自动防止脱落的塑料</a:t>
            </a:r>
            <a:endParaRPr lang="en-US" altLang="en-US" sz="2300" dirty="0"/>
          </a:p>
          <a:p>
            <a:pPr marL="12700" algn="l" rtl="0" eaLnBrk="0">
              <a:lnSpc>
                <a:spcPts val="4260"/>
              </a:lnSpc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接头，俗称“水晶头”,专业术语为</a:t>
            </a:r>
            <a:r>
              <a:rPr sz="2300" kern="0" spc="0" dirty="0">
                <a:solidFill>
                  <a:srgbClr val="FFFF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RJ</a:t>
            </a:r>
            <a:r>
              <a:rPr sz="2300" kern="0" spc="30" dirty="0">
                <a:solidFill>
                  <a:srgbClr val="FFFF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-45</a:t>
            </a:r>
            <a:r>
              <a:rPr sz="2300" kern="0" spc="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连接器 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RJ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-45</a:t>
            </a:r>
            <a:endParaRPr lang="en-US" altLang="en-US" sz="23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是一种网络接口规范，类似的还有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RJ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-11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口，即平常</a:t>
            </a:r>
            <a:endParaRPr lang="en-US" altLang="en-US" sz="2300" dirty="0"/>
          </a:p>
          <a:p>
            <a:pPr marL="12700" algn="l" rtl="0" eaLnBrk="0">
              <a:lnSpc>
                <a:spcPct val="95000"/>
              </a:lnSpc>
              <a:spcBef>
                <a:spcPts val="1675"/>
              </a:spcBef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所用的“电话接口”,用来连接电话线)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。之所把它称之</a:t>
            </a:r>
            <a:endParaRPr lang="en-US" altLang="en-US" sz="2300" dirty="0"/>
          </a:p>
          <a:p>
            <a:pPr algn="l" rtl="0" eaLnBrk="0">
              <a:lnSpc>
                <a:spcPct val="105000"/>
              </a:lnSpc>
            </a:pPr>
            <a:endParaRPr lang="en-US" altLang="en-US" sz="1400" dirty="0"/>
          </a:p>
          <a:p>
            <a:pPr algn="l" rtl="0" eaLnBrk="0">
              <a:lnSpc>
                <a:spcPct val="1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为“水晶头”,是因为它</a:t>
            </a:r>
            <a:r>
              <a:rPr sz="23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的外表晶莹透亮的原因。</a:t>
            </a:r>
            <a:endParaRPr lang="en-US" altLang="en-US" sz="2300" dirty="0"/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2950" y="304770"/>
            <a:ext cx="7619969" cy="1352602"/>
          </a:xfrm>
          <a:prstGeom prst="rect">
            <a:avLst/>
          </a:prstGeom>
        </p:spPr>
      </p:pic>
      <p:sp>
        <p:nvSpPr>
          <p:cNvPr id="528" name="textbox 528"/>
          <p:cNvSpPr/>
          <p:nvPr/>
        </p:nvSpPr>
        <p:spPr>
          <a:xfrm>
            <a:off x="905967" y="2036750"/>
            <a:ext cx="7338694" cy="3549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水晶头(英语：</a:t>
            </a: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Registered</a:t>
            </a:r>
            <a:r>
              <a:rPr sz="2300" kern="0" spc="4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jack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RJ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sz="2300" kern="0" spc="-3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是一种标准化</a:t>
            </a:r>
            <a:endParaRPr lang="en-US" altLang="en-US" sz="2300" dirty="0"/>
          </a:p>
        </p:txBody>
      </p:sp>
      <p:sp>
        <p:nvSpPr>
          <p:cNvPr id="530" name="textbox 530"/>
          <p:cNvSpPr/>
          <p:nvPr/>
        </p:nvSpPr>
        <p:spPr>
          <a:xfrm>
            <a:off x="3374040" y="6542808"/>
            <a:ext cx="4976495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</a:t>
            </a:r>
            <a:endParaRPr lang="en-US" altLang="en-US" sz="2100" baseline="-5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picture 5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34" name="textbox 534"/>
          <p:cNvSpPr/>
          <p:nvPr/>
        </p:nvSpPr>
        <p:spPr>
          <a:xfrm>
            <a:off x="653582" y="573824"/>
            <a:ext cx="4543425" cy="4208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2555" algn="l" rtl="0" eaLnBrk="0">
              <a:lnSpc>
                <a:spcPct val="95000"/>
              </a:lnSpc>
            </a:pPr>
            <a:r>
              <a:rPr sz="4600" b="1" kern="0" spc="-1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测线仪</a:t>
            </a:r>
            <a:endParaRPr lang="en-US" altLang="en-US" sz="4600" dirty="0"/>
          </a:p>
          <a:p>
            <a:pPr algn="l" rtl="0" eaLnBrk="0">
              <a:lnSpc>
                <a:spcPct val="139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70"/>
              </a:spcBef>
            </a:pP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两部分组成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marL="119380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一主机和子机</a:t>
            </a:r>
            <a:endParaRPr lang="en-US" altLang="en-US" sz="27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600" dirty="0"/>
          </a:p>
          <a:p>
            <a:pPr marL="442595" indent="-323215" algn="l" rtl="0" eaLnBrk="0">
              <a:lnSpc>
                <a:spcPct val="136000"/>
              </a:lnSpc>
              <a:spcBef>
                <a:spcPts val="5"/>
              </a:spcBef>
            </a:pPr>
            <a:r>
              <a:rPr sz="2700" b="1" kern="0" spc="1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-两部分都有8个指示灯和两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个端口</a:t>
            </a:r>
            <a:r>
              <a:rPr sz="2700" kern="0" spc="-5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-11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电话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线端口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RJ</a:t>
            </a:r>
            <a:r>
              <a:rPr sz="27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-45水晶头端口)</a:t>
            </a:r>
            <a:endParaRPr lang="en-US" altLang="en-US" sz="2700" dirty="0"/>
          </a:p>
        </p:txBody>
      </p:sp>
      <p:sp>
        <p:nvSpPr>
          <p:cNvPr id="536" name="textbox 536"/>
          <p:cNvSpPr/>
          <p:nvPr/>
        </p:nvSpPr>
        <p:spPr>
          <a:xfrm>
            <a:off x="3374039" y="6549064"/>
            <a:ext cx="4973954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9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3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</a:t>
            </a:r>
            <a:endParaRPr lang="en-US" altLang="en-US" sz="1800" baseline="-6000" dirty="0"/>
          </a:p>
        </p:txBody>
      </p:sp>
      <p:sp>
        <p:nvSpPr>
          <p:cNvPr id="538" name="textbox 538"/>
          <p:cNvSpPr/>
          <p:nvPr/>
        </p:nvSpPr>
        <p:spPr>
          <a:xfrm>
            <a:off x="6197630" y="1914214"/>
            <a:ext cx="2148204" cy="300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344805" algn="l" rtl="0" eaLnBrk="0">
              <a:lnSpc>
                <a:spcPct val="95000"/>
              </a:lnSpc>
            </a:pPr>
            <a:r>
              <a:rPr sz="1200" b="1" kern="0" spc="-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第三代网络电话测试仪</a:t>
            </a:r>
            <a:endParaRPr lang="en-US" altLang="en-US" sz="1200" dirty="0"/>
          </a:p>
          <a:p>
            <a:pPr marL="12700" algn="l" rtl="0" eaLnBrk="0">
              <a:lnSpc>
                <a:spcPts val="665"/>
              </a:lnSpc>
              <a:spcBef>
                <a:spcPts val="125"/>
              </a:spcBef>
            </a:pP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采用多种方式供电移动电测/电验/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</a:t>
            </a:r>
            <a:r>
              <a:rPr sz="500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</a:t>
            </a:r>
            <a:r>
              <a:rPr sz="500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据线以及?N电池供电(降送电泡)</a:t>
            </a:r>
            <a:endParaRPr lang="en-US" altLang="en-US" sz="500" dirty="0"/>
          </a:p>
        </p:txBody>
      </p:sp>
      <p:sp>
        <p:nvSpPr>
          <p:cNvPr id="540" name="textbox 540"/>
          <p:cNvSpPr/>
          <p:nvPr/>
        </p:nvSpPr>
        <p:spPr>
          <a:xfrm>
            <a:off x="6940580" y="2384373"/>
            <a:ext cx="386715" cy="260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indent="5715" algn="l" rtl="0" eaLnBrk="0">
              <a:lnSpc>
                <a:spcPct val="110000"/>
              </a:lnSpc>
            </a:pPr>
            <a:r>
              <a:rPr sz="7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铜壳镶镍</a:t>
            </a:r>
            <a:r>
              <a:rPr sz="700" kern="0" spc="-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屏概外壳</a:t>
            </a:r>
            <a:endParaRPr lang="en-US" altLang="en-US" sz="700" dirty="0"/>
          </a:p>
        </p:txBody>
      </p:sp>
      <p:sp>
        <p:nvSpPr>
          <p:cNvPr id="542" name="textbox 542"/>
          <p:cNvSpPr/>
          <p:nvPr/>
        </p:nvSpPr>
        <p:spPr>
          <a:xfrm>
            <a:off x="7639090" y="2479440"/>
            <a:ext cx="404495" cy="1574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900" b="1" kern="0" spc="-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RJI</a:t>
            </a:r>
            <a:r>
              <a:rPr sz="900" b="1" kern="0" spc="-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接口</a:t>
            </a:r>
            <a:endParaRPr lang="en-US" altLang="en-US" sz="900" dirty="0"/>
          </a:p>
        </p:txBody>
      </p:sp>
      <p:sp>
        <p:nvSpPr>
          <p:cNvPr id="544" name="textbox 544"/>
          <p:cNvSpPr/>
          <p:nvPr/>
        </p:nvSpPr>
        <p:spPr>
          <a:xfrm>
            <a:off x="6172210" y="2511383"/>
            <a:ext cx="403225" cy="1327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RJ</a:t>
            </a:r>
            <a:r>
              <a:rPr sz="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45接口</a:t>
            </a:r>
            <a:endParaRPr lang="en-US" altLang="en-US" sz="700" dirty="0"/>
          </a:p>
        </p:txBody>
      </p:sp>
      <p:sp>
        <p:nvSpPr>
          <p:cNvPr id="546" name="textbox 546"/>
          <p:cNvSpPr/>
          <p:nvPr/>
        </p:nvSpPr>
        <p:spPr>
          <a:xfrm>
            <a:off x="8312179" y="2498695"/>
            <a:ext cx="306704" cy="1339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850"/>
              </a:lnSpc>
            </a:pPr>
            <a:r>
              <a:rPr sz="700" kern="0" spc="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照明灯</a:t>
            </a:r>
            <a:endParaRPr lang="en-US" alt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5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783316" y="570364"/>
            <a:ext cx="7252334" cy="44761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700" b="1" kern="0" spc="-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网线制作1:直通线</a:t>
            </a:r>
            <a:endParaRPr lang="en-US" altLang="en-US" sz="4700" dirty="0"/>
          </a:p>
          <a:p>
            <a:pPr algn="l" rtl="0" eaLnBrk="0">
              <a:lnSpc>
                <a:spcPct val="174000"/>
              </a:lnSpc>
            </a:pPr>
            <a:endParaRPr lang="en-US" altLang="en-US" sz="1000" dirty="0"/>
          </a:p>
          <a:p>
            <a:pPr algn="r" rtl="0" eaLnBrk="0">
              <a:lnSpc>
                <a:spcPct val="94000"/>
              </a:lnSpc>
              <a:spcBef>
                <a:spcPts val="1000"/>
              </a:spcBef>
            </a:pPr>
            <a:r>
              <a:rPr sz="3300" b="1" kern="0" spc="-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直通线：以100</a:t>
            </a:r>
            <a:r>
              <a:rPr sz="3300" b="1" kern="0" spc="-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Mb/s</a:t>
            </a:r>
            <a:r>
              <a:rPr sz="3300" b="1" kern="0" spc="-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3300" b="1" kern="0" spc="-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EIA/TIA</a:t>
            </a:r>
            <a:r>
              <a:rPr sz="3300" b="1" kern="0" spc="-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布线标准</a:t>
            </a:r>
            <a:endParaRPr lang="en-US" altLang="en-US" sz="33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marL="129540" algn="l" rtl="0" eaLnBrk="0">
              <a:lnSpc>
                <a:spcPct val="91000"/>
              </a:lnSpc>
              <a:spcBef>
                <a:spcPts val="940"/>
              </a:spcBef>
            </a:pPr>
            <a:r>
              <a:rPr sz="3100" b="1" i="1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T568B</a:t>
            </a:r>
            <a:r>
              <a:rPr sz="3100" kern="0" spc="-6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100" b="1" i="1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作为标准规格。</a:t>
            </a:r>
            <a:endParaRPr lang="en-US" altLang="en-US" sz="3100" dirty="0"/>
          </a:p>
          <a:p>
            <a:pPr algn="l" rtl="0" eaLnBrk="0">
              <a:lnSpc>
                <a:spcPct val="165000"/>
              </a:lnSpc>
            </a:pPr>
            <a:endParaRPr lang="en-US" altLang="en-US" sz="1000" dirty="0"/>
          </a:p>
          <a:p>
            <a:pPr marL="92075" algn="l" rtl="0" eaLnBrk="0">
              <a:lnSpc>
                <a:spcPct val="95000"/>
              </a:lnSpc>
              <a:spcBef>
                <a:spcPts val="995"/>
              </a:spcBef>
            </a:pPr>
            <a:r>
              <a:rPr sz="33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步骤</a:t>
            </a:r>
            <a:endParaRPr lang="en-US" altLang="en-US" sz="33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199390" algn="l" rtl="0" eaLnBrk="0">
              <a:lnSpc>
                <a:spcPct val="85000"/>
              </a:lnSpc>
              <a:spcBef>
                <a:spcPts val="875"/>
              </a:spcBef>
            </a:pPr>
            <a:r>
              <a:rPr sz="29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-剥线、排列4对线、</a:t>
            </a:r>
            <a:r>
              <a:rPr sz="29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理线、排序、整线、插</a:t>
            </a:r>
            <a:endParaRPr lang="en-US" altLang="en-US" sz="2900" dirty="0"/>
          </a:p>
          <a:p>
            <a:pPr marL="516890" algn="l" rtl="0" eaLnBrk="0">
              <a:lnSpc>
                <a:spcPts val="4950"/>
              </a:lnSpc>
            </a:pPr>
            <a:r>
              <a:rPr sz="2900" b="1" kern="0" spc="-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线、压线</a:t>
            </a:r>
            <a:endParaRPr lang="en-US" altLang="en-US" sz="2900" dirty="0"/>
          </a:p>
        </p:txBody>
      </p:sp>
      <p:sp>
        <p:nvSpPr>
          <p:cNvPr id="552" name="textbox 552"/>
          <p:cNvSpPr/>
          <p:nvPr/>
        </p:nvSpPr>
        <p:spPr>
          <a:xfrm>
            <a:off x="3374040" y="6542808"/>
            <a:ext cx="5014595" cy="2197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endParaRPr lang="en-US" altLang="en-US" sz="2300" baseline="-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picture 5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56" name="textbox 556"/>
          <p:cNvSpPr/>
          <p:nvPr/>
        </p:nvSpPr>
        <p:spPr>
          <a:xfrm>
            <a:off x="932841" y="1699370"/>
            <a:ext cx="6983094" cy="20802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8415" algn="l" rtl="0" eaLnBrk="0">
              <a:lnSpc>
                <a:spcPct val="96000"/>
              </a:lnSpc>
            </a:pPr>
            <a:r>
              <a:rPr sz="3100" b="1" kern="0" spc="1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利用工具剪下所需的双绞线长度(发给</a:t>
            </a:r>
            <a:endParaRPr lang="en-US" altLang="en-US" sz="3100" dirty="0"/>
          </a:p>
          <a:p>
            <a:pPr algn="l" rtl="0" eaLnBrk="0">
              <a:lnSpc>
                <a:spcPct val="124000"/>
              </a:lnSpc>
            </a:pPr>
            <a:endParaRPr lang="en-US" altLang="en-US" sz="1000" dirty="0"/>
          </a:p>
          <a:p>
            <a:pPr marL="32385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kern="0" spc="2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大家是2米):0.6-100米</a:t>
            </a:r>
            <a:r>
              <a:rPr sz="3100" kern="0" spc="1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en-US" altLang="en-US" sz="3100" dirty="0"/>
          </a:p>
          <a:p>
            <a:pPr algn="l" rtl="0" eaLnBrk="0">
              <a:lnSpc>
                <a:spcPct val="175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7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31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利用工具将双绞线外皮除去2~3</a:t>
            </a:r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cm</a:t>
            </a:r>
            <a:endParaRPr lang="en-US" altLang="en-US" sz="3100" dirty="0"/>
          </a:p>
        </p:txBody>
      </p:sp>
      <p:pic>
        <p:nvPicPr>
          <p:cNvPr id="558" name="picture 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0689"/>
            <a:ext cx="2006650" cy="2127282"/>
          </a:xfrm>
          <a:prstGeom prst="rect">
            <a:avLst/>
          </a:prstGeom>
        </p:spPr>
      </p:pic>
      <p:sp>
        <p:nvSpPr>
          <p:cNvPr id="560" name="textbox 560"/>
          <p:cNvSpPr/>
          <p:nvPr/>
        </p:nvSpPr>
        <p:spPr>
          <a:xfrm>
            <a:off x="3374040" y="6542808"/>
            <a:ext cx="4975859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endParaRPr lang="en-US" altLang="en-US" sz="1900" baseline="-5000" dirty="0"/>
          </a:p>
        </p:txBody>
      </p:sp>
      <p:pic>
        <p:nvPicPr>
          <p:cNvPr id="562" name="picture 5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259" y="520727"/>
            <a:ext cx="1187531" cy="64129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picture 5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66" name="textbox 566"/>
          <p:cNvSpPr/>
          <p:nvPr/>
        </p:nvSpPr>
        <p:spPr>
          <a:xfrm>
            <a:off x="763847" y="575944"/>
            <a:ext cx="7690484" cy="61823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500" b="1" kern="0" spc="-5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排列4对线</a:t>
            </a:r>
            <a:endParaRPr lang="en-US" altLang="en-US" sz="45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106045" algn="l" rtl="0" eaLnBrk="0">
              <a:lnSpc>
                <a:spcPct val="96000"/>
              </a:lnSpc>
              <a:spcBef>
                <a:spcPts val="940"/>
              </a:spcBef>
            </a:pPr>
            <a:r>
              <a:rPr sz="31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剥去双绞线外皮后，可见两两缠绕在一起</a:t>
            </a:r>
            <a:endParaRPr lang="en-US" altLang="en-US" sz="3100" dirty="0"/>
          </a:p>
          <a:p>
            <a:pPr algn="r" rtl="0" eaLnBrk="0">
              <a:lnSpc>
                <a:spcPct val="96000"/>
              </a:lnSpc>
              <a:spcBef>
                <a:spcPts val="2110"/>
              </a:spcBef>
            </a:pPr>
            <a:r>
              <a:rPr sz="31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的不同颜色的4对线，按照橙、</a:t>
            </a:r>
            <a:r>
              <a:rPr sz="31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蓝、绿、棕</a:t>
            </a:r>
            <a:endParaRPr lang="en-US" altLang="en-US" sz="3100" dirty="0"/>
          </a:p>
          <a:p>
            <a:pPr algn="l" rtl="0" eaLnBrk="0">
              <a:lnSpc>
                <a:spcPct val="103000"/>
              </a:lnSpc>
            </a:pPr>
            <a:endParaRPr lang="en-US" altLang="en-US" sz="1000" dirty="0"/>
          </a:p>
          <a:p>
            <a:pPr marL="175260" algn="l" rtl="0" eaLnBrk="0">
              <a:lnSpc>
                <a:spcPct val="96000"/>
              </a:lnSpc>
              <a:spcBef>
                <a:spcPts val="940"/>
              </a:spcBef>
            </a:pPr>
            <a:r>
              <a:rPr sz="31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的顺序从左到右排列</a:t>
            </a:r>
            <a:endParaRPr lang="en-US" altLang="en-US" sz="31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300" dirty="0"/>
          </a:p>
          <a:p>
            <a:pPr marL="2622550" algn="l" rtl="0" eaLnBrk="0">
              <a:lnSpc>
                <a:spcPct val="91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7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</a:t>
            </a:r>
            <a:endParaRPr lang="en-US" altLang="en-US" sz="2100" baseline="-7000" dirty="0"/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6739" y="4330689"/>
            <a:ext cx="2127260" cy="22034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picture 5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>
            <a:off x="628161" y="1572674"/>
            <a:ext cx="7990840" cy="33058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小心拨开4对线</a:t>
            </a:r>
            <a:endParaRPr lang="en-US" altLang="en-US" sz="3200" dirty="0"/>
          </a:p>
          <a:p>
            <a:pPr marL="119380" algn="l" rtl="0" eaLnBrk="0">
              <a:lnSpc>
                <a:spcPts val="5885"/>
              </a:lnSpc>
            </a:pPr>
            <a:r>
              <a:rPr sz="27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一捋直每根线</a:t>
            </a:r>
            <a:endParaRPr lang="en-US" altLang="en-US" sz="2700" dirty="0"/>
          </a:p>
          <a:p>
            <a:pPr algn="l" rtl="0" eaLnBrk="0">
              <a:lnSpc>
                <a:spcPct val="170000"/>
              </a:lnSpc>
            </a:pPr>
            <a:endParaRPr lang="en-US" altLang="en-US" sz="1000" dirty="0"/>
          </a:p>
          <a:p>
            <a:pPr marL="114300" algn="l" rtl="0" eaLnBrk="0">
              <a:lnSpc>
                <a:spcPct val="83000"/>
              </a:lnSpc>
              <a:spcBef>
                <a:spcPts val="815"/>
              </a:spcBef>
            </a:pP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-将每</a:t>
            </a:r>
            <a:r>
              <a:rPr sz="2700" kern="0" spc="-7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一对</a:t>
            </a:r>
            <a:r>
              <a:rPr sz="27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中的白橙线、白蓝线、白绿线、白棕线</a:t>
            </a:r>
            <a:endParaRPr lang="en-US" altLang="en-US" sz="2700" dirty="0"/>
          </a:p>
          <a:p>
            <a:pPr marL="431800" algn="l" rtl="0" eaLnBrk="0">
              <a:lnSpc>
                <a:spcPts val="5090"/>
              </a:lnSpc>
            </a:pPr>
            <a:r>
              <a:rPr sz="27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排在相应橙线、蓝线、</a:t>
            </a: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绿线、棕线的左边</a:t>
            </a:r>
            <a:endParaRPr lang="en-US" altLang="en-US" sz="2700" dirty="0"/>
          </a:p>
          <a:p>
            <a:pPr algn="l" rtl="0" eaLnBrk="0">
              <a:lnSpc>
                <a:spcPct val="184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600" dirty="0"/>
          </a:p>
          <a:p>
            <a:pPr algn="r" rtl="0" eaLnBrk="0">
              <a:lnSpc>
                <a:spcPct val="94000"/>
              </a:lnSpc>
              <a:spcBef>
                <a:spcPts val="5"/>
              </a:spcBef>
            </a:pP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一即白橙/橙色、白蓝/蓝色、白绿/绿色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、白棕棕色</a:t>
            </a:r>
            <a:endParaRPr lang="en-US" altLang="en-US" sz="2700" dirty="0"/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3140" y="4813287"/>
            <a:ext cx="2120859" cy="1720878"/>
          </a:xfrm>
          <a:prstGeom prst="rect">
            <a:avLst/>
          </a:prstGeom>
        </p:spPr>
      </p:pic>
      <p:sp>
        <p:nvSpPr>
          <p:cNvPr id="576" name="textbox 576"/>
          <p:cNvSpPr/>
          <p:nvPr/>
        </p:nvSpPr>
        <p:spPr>
          <a:xfrm>
            <a:off x="3374040" y="6542808"/>
            <a:ext cx="4994275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7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</a:t>
            </a:r>
            <a:r>
              <a:rPr sz="2100" kern="0" spc="-4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2100" kern="0" spc="-4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lang="en-US" altLang="en-US" sz="2100" baseline="-7000" dirty="0"/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259" y="527037"/>
            <a:ext cx="1181130" cy="6349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5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632927" y="573632"/>
            <a:ext cx="7951469" cy="43764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49860" algn="l" rtl="0" eaLnBrk="0">
              <a:lnSpc>
                <a:spcPct val="96000"/>
              </a:lnSpc>
            </a:pPr>
            <a:r>
              <a:rPr sz="4500" b="1" kern="0" spc="-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排序并整线</a:t>
            </a:r>
            <a:endParaRPr lang="en-US" altLang="en-US" sz="45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690"/>
              </a:spcBef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遵循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EIA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TIAT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568B</a:t>
            </a:r>
            <a:r>
              <a:rPr sz="2300" b="1" kern="0" spc="2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标准制作接头，线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对颜色需要注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意：从</a:t>
            </a:r>
            <a:endParaRPr lang="en-US" altLang="en-US" sz="2300" dirty="0"/>
          </a:p>
          <a:p>
            <a:pPr marL="43815" algn="l" rtl="0" eaLnBrk="0">
              <a:lnSpc>
                <a:spcPct val="97000"/>
              </a:lnSpc>
              <a:spcBef>
                <a:spcPts val="1475"/>
              </a:spcBef>
            </a:pP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左数第3根和第5根互换</a:t>
            </a:r>
            <a:endParaRPr lang="en-US" altLang="en-US" sz="2300" dirty="0"/>
          </a:p>
          <a:p>
            <a:pPr algn="l" rtl="0" eaLnBrk="0">
              <a:lnSpc>
                <a:spcPct val="141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700"/>
              </a:spcBef>
            </a:pPr>
            <a:r>
              <a:rPr sz="2300" b="1" kern="0" spc="1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线序</a:t>
            </a:r>
            <a:endParaRPr lang="en-US" altLang="en-US" sz="23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marL="116205" algn="l" rtl="0" eaLnBrk="0">
              <a:lnSpc>
                <a:spcPct val="100000"/>
              </a:lnSpc>
              <a:spcBef>
                <a:spcPts val="665"/>
              </a:spcBef>
            </a:pPr>
            <a:r>
              <a:rPr sz="2200" b="1" kern="0" spc="-1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—From</a:t>
            </a:r>
            <a:r>
              <a:rPr sz="2200" b="1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“白橙/橙色、</a:t>
            </a:r>
            <a:r>
              <a:rPr sz="2200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1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白蓝</a:t>
            </a:r>
            <a:r>
              <a:rPr sz="2200" b="1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/蓝色、</a:t>
            </a:r>
            <a:r>
              <a:rPr sz="2200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b="1" kern="0" spc="-1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白绿</a:t>
            </a:r>
            <a:r>
              <a:rPr sz="2200" b="1" kern="0" spc="-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/绿色</a:t>
            </a:r>
            <a:r>
              <a:rPr sz="2200" b="1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、白棕/棕色”</a:t>
            </a:r>
            <a:endParaRPr lang="en-US" altLang="en-US" sz="2200" dirty="0"/>
          </a:p>
          <a:p>
            <a:pPr marL="109855" algn="l" rtl="0" eaLnBrk="0">
              <a:lnSpc>
                <a:spcPct val="96000"/>
              </a:lnSpc>
              <a:spcBef>
                <a:spcPts val="1700"/>
              </a:spcBef>
            </a:pPr>
            <a:r>
              <a:rPr sz="2300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-To “白橙/橙色、</a:t>
            </a:r>
            <a:r>
              <a:rPr sz="2300" kern="0" spc="-1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白绿</a:t>
            </a:r>
            <a:r>
              <a:rPr sz="2300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/蓝色、</a:t>
            </a:r>
            <a:r>
              <a:rPr sz="2300" kern="0" spc="-1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白蓝</a:t>
            </a:r>
            <a:r>
              <a:rPr sz="2300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/绿色、白棕/棕色”</a:t>
            </a:r>
            <a:endParaRPr lang="en-US" altLang="en-US" sz="23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排好序后，将8根线整理平整，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便于后面剪线和插线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300" dirty="0"/>
          </a:p>
        </p:txBody>
      </p:sp>
      <p:sp>
        <p:nvSpPr>
          <p:cNvPr id="584" name="textbox 584"/>
          <p:cNvSpPr/>
          <p:nvPr/>
        </p:nvSpPr>
        <p:spPr>
          <a:xfrm>
            <a:off x="3374040" y="6536551"/>
            <a:ext cx="4981575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300" kern="0" spc="25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</a:t>
            </a:r>
            <a:r>
              <a:rPr sz="2000" kern="0" spc="-110" baseline="-8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2000" kern="0" spc="-110" baseline="-8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en-US" sz="2000" baseline="-8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picture 5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88" name="textbox 588"/>
          <p:cNvSpPr/>
          <p:nvPr/>
        </p:nvSpPr>
        <p:spPr>
          <a:xfrm>
            <a:off x="527070" y="1639788"/>
            <a:ext cx="7830184" cy="5114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6510" algn="l" rtl="0" eaLnBrk="0">
              <a:lnSpc>
                <a:spcPct val="83000"/>
              </a:lnSpc>
            </a:pP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将裸露出的双绞线用工具剪下只剩1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4mm</a:t>
            </a:r>
            <a:r>
              <a:rPr sz="2400" kern="0" spc="5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endParaRPr lang="en-US" altLang="en-US" sz="2400" dirty="0"/>
          </a:p>
          <a:p>
            <a:pPr marL="16510" algn="l" rtl="0" eaLnBrk="0">
              <a:lnSpc>
                <a:spcPts val="4290"/>
              </a:lnSpc>
            </a:pPr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长度</a:t>
            </a:r>
            <a:r>
              <a:rPr sz="24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EIA</a:t>
            </a:r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TIA</a:t>
            </a:r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的标准),然后</a:t>
            </a:r>
            <a:r>
              <a:rPr sz="24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将双绞线的</a:t>
            </a:r>
            <a:endParaRPr lang="en-US" altLang="en-US" sz="2400" dirty="0"/>
          </a:p>
          <a:p>
            <a:pPr marL="12700" algn="l" rtl="0" eaLnBrk="0">
              <a:lnSpc>
                <a:spcPts val="43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一根线依序放入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RJ-45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接头引脚内，</a:t>
            </a:r>
            <a:r>
              <a:rPr sz="2400" kern="0" spc="-3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RJ-45</a:t>
            </a:r>
            <a:endParaRPr lang="en-US" altLang="en-US" sz="2400" dirty="0"/>
          </a:p>
          <a:p>
            <a:pPr marL="16510" algn="l" rtl="0" eaLnBrk="0">
              <a:lnSpc>
                <a:spcPts val="44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接头8个铜片向上，第一只引脚放白橙色的</a:t>
            </a:r>
            <a:endParaRPr lang="en-US" altLang="en-US" sz="2400" dirty="0"/>
          </a:p>
          <a:p>
            <a:pPr marL="16510" algn="l" rtl="0" eaLnBrk="0">
              <a:lnSpc>
                <a:spcPts val="4300"/>
              </a:lnSpc>
            </a:pPr>
            <a:r>
              <a:rPr sz="2400" b="1" kern="0" spc="-2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线，依次类推。</a:t>
            </a:r>
            <a:endParaRPr lang="en-US" altLang="en-US" sz="24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marL="3872865" algn="l" rtl="0" eaLnBrk="0">
              <a:lnSpc>
                <a:spcPct val="86000"/>
              </a:lnSpc>
              <a:spcBef>
                <a:spcPts val="725"/>
              </a:spcBef>
              <a:tabLst>
                <a:tab pos="4879975" algn="l"/>
              </a:tabLst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一根不合格网线</a:t>
            </a:r>
            <a:endParaRPr lang="en-US" altLang="en-US" sz="2400" dirty="0"/>
          </a:p>
          <a:p>
            <a:pPr algn="l" rtl="0" eaLnBrk="0">
              <a:lnSpc>
                <a:spcPct val="148000"/>
              </a:lnSpc>
            </a:pPr>
            <a:endParaRPr lang="en-US" altLang="en-US" sz="1000" dirty="0"/>
          </a:p>
          <a:p>
            <a:pPr algn="l" rtl="0" eaLnBrk="0">
              <a:lnSpc>
                <a:spcPct val="149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300" dirty="0"/>
          </a:p>
          <a:p>
            <a:pPr algn="r" rtl="0" eaLnBrk="0">
              <a:lnSpc>
                <a:spcPts val="1515"/>
              </a:lnSpc>
              <a:spcBef>
                <a:spcPts val="0"/>
              </a:spcBef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  </a:t>
            </a:r>
            <a:r>
              <a:rPr sz="1900" kern="0" spc="-20" baseline="-7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4</a:t>
            </a:r>
            <a:r>
              <a:rPr sz="1200" kern="0" spc="-2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2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en-US" sz="1900" baseline="-7000" dirty="0"/>
          </a:p>
        </p:txBody>
      </p:sp>
      <p:pic>
        <p:nvPicPr>
          <p:cNvPr id="590" name="picture 5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259" y="4603775"/>
            <a:ext cx="3651290" cy="1936699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56409" y="1377977"/>
            <a:ext cx="2038380" cy="3232106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5660" y="520727"/>
            <a:ext cx="1181130" cy="64129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picture 5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98" name="textbox 598"/>
          <p:cNvSpPr/>
          <p:nvPr/>
        </p:nvSpPr>
        <p:spPr>
          <a:xfrm>
            <a:off x="906785" y="1456906"/>
            <a:ext cx="7644765" cy="22396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28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确定每根线放置正确后，可以使用压</a:t>
            </a:r>
            <a:r>
              <a:rPr sz="2800" b="1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线钳压接</a:t>
            </a:r>
            <a:endParaRPr lang="en-US" altLang="en-US" sz="2800" dirty="0"/>
          </a:p>
          <a:p>
            <a:pPr marL="33020" algn="l" rtl="0" eaLnBrk="0">
              <a:lnSpc>
                <a:spcPts val="5030"/>
              </a:lnSpc>
            </a:pPr>
            <a:r>
              <a:rPr sz="2700" b="1" kern="0" spc="-1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700" b="1" kern="0" spc="-1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J-45水晶头。</a:t>
            </a:r>
            <a:endParaRPr lang="en-US" altLang="en-US" sz="2700" dirty="0"/>
          </a:p>
          <a:p>
            <a:pPr algn="l" rtl="0" eaLnBrk="0">
              <a:lnSpc>
                <a:spcPct val="163000"/>
              </a:lnSpc>
            </a:pPr>
            <a:endParaRPr lang="en-US" altLang="en-US" sz="1000" dirty="0"/>
          </a:p>
          <a:p>
            <a:pPr algn="r" rtl="0" eaLnBrk="0">
              <a:lnSpc>
                <a:spcPct val="94000"/>
              </a:lnSpc>
              <a:spcBef>
                <a:spcPts val="730"/>
              </a:spcBef>
            </a:pP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RJ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-45 接头的保护套可以防止接头在拉扯时造成接触不</a:t>
            </a:r>
            <a:endParaRPr lang="en-US" altLang="en-US" sz="2400" dirty="0"/>
          </a:p>
          <a:p>
            <a:pPr algn="l" rtl="0" eaLnBrk="0">
              <a:lnSpc>
                <a:spcPct val="104000"/>
              </a:lnSpc>
            </a:pPr>
            <a:endParaRPr lang="en-US" altLang="en-US" sz="1200" dirty="0"/>
          </a:p>
          <a:p>
            <a:pPr algn="l" rtl="0" eaLnBrk="0">
              <a:lnSpc>
                <a:spcPct val="10000"/>
              </a:lnSpc>
            </a:pPr>
            <a:endParaRPr lang="en-US" altLang="en-US" sz="100" dirty="0"/>
          </a:p>
          <a:p>
            <a:pPr marL="474980" algn="l" rtl="0" eaLnBrk="0">
              <a:lnSpc>
                <a:spcPct val="94000"/>
              </a:lnSpc>
            </a:pPr>
            <a:r>
              <a:rPr sz="24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良，使用保护套，需要在压接RJ-45接头前就将这种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胶</a:t>
            </a:r>
            <a:endParaRPr lang="en-US" altLang="en-US" sz="2400" dirty="0"/>
          </a:p>
        </p:txBody>
      </p:sp>
      <p:pic>
        <p:nvPicPr>
          <p:cNvPr id="600" name="picture 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39870" y="4343377"/>
            <a:ext cx="2508198" cy="2139970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60879" y="4159239"/>
            <a:ext cx="2051090" cy="2324107"/>
          </a:xfrm>
          <a:prstGeom prst="rect">
            <a:avLst/>
          </a:prstGeom>
        </p:spPr>
      </p:pic>
      <p:sp>
        <p:nvSpPr>
          <p:cNvPr id="604" name="textbox 604"/>
          <p:cNvSpPr/>
          <p:nvPr/>
        </p:nvSpPr>
        <p:spPr>
          <a:xfrm>
            <a:off x="3371860" y="6538912"/>
            <a:ext cx="4989195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300" kern="0" spc="-9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300" kern="0" spc="19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kern="0" spc="-9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李娜</a:t>
            </a: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</a:t>
            </a:r>
            <a:r>
              <a:rPr sz="2000" kern="0" spc="-9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2000" kern="0" spc="-9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en-US" altLang="en-US" sz="2000" baseline="-5000" dirty="0"/>
          </a:p>
        </p:txBody>
      </p:sp>
      <p:pic>
        <p:nvPicPr>
          <p:cNvPr id="606" name="picture 6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0239" y="520727"/>
            <a:ext cx="1212860" cy="641291"/>
          </a:xfrm>
          <a:prstGeom prst="rect">
            <a:avLst/>
          </a:prstGeom>
        </p:spPr>
      </p:pic>
      <p:sp>
        <p:nvSpPr>
          <p:cNvPr id="608" name="textbox 608"/>
          <p:cNvSpPr/>
          <p:nvPr/>
        </p:nvSpPr>
        <p:spPr>
          <a:xfrm>
            <a:off x="1325128" y="3895232"/>
            <a:ext cx="2436495" cy="3733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2400" b="1" kern="0" spc="-1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套插在双绞线上。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picture 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12" name="textbox 612"/>
          <p:cNvSpPr/>
          <p:nvPr/>
        </p:nvSpPr>
        <p:spPr>
          <a:xfrm>
            <a:off x="1917689" y="1815161"/>
            <a:ext cx="2914014" cy="1190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58115" algn="l" rtl="0" eaLnBrk="0">
              <a:lnSpc>
                <a:spcPct val="80000"/>
              </a:lnSpc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568B</a:t>
            </a:r>
            <a:endParaRPr lang="en-US" altLang="en-US" sz="2100" dirty="0"/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algn="l" rtl="0" eaLnBrk="0">
              <a:lnSpc>
                <a:spcPct val="102000"/>
              </a:lnSpc>
            </a:pPr>
            <a:endParaRPr lang="en-US" altLang="en-US" sz="1000" dirty="0"/>
          </a:p>
          <a:p>
            <a:pPr algn="l" rtl="0" eaLnBrk="0">
              <a:lnSpc>
                <a:spcPct val="106000"/>
              </a:lnSpc>
            </a:pPr>
            <a:endParaRPr lang="en-US" altLang="en-US" sz="400" dirty="0"/>
          </a:p>
          <a:p>
            <a:pPr algn="r" rtl="0" eaLnBrk="0">
              <a:lnSpc>
                <a:spcPts val="4205"/>
              </a:lnSpc>
              <a:spcBef>
                <a:spcPts val="5"/>
              </a:spcBef>
            </a:pPr>
            <a:r>
              <a:rPr sz="2600" kern="0" spc="-60" baseline="-8000" dirty="0">
                <a:solidFill>
                  <a:srgbClr val="B4585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登</a:t>
            </a:r>
            <a:r>
              <a:rPr sz="1900" kern="0" spc="-60" baseline="-10000" dirty="0">
                <a:solidFill>
                  <a:srgbClr val="AA5B1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白</a:t>
            </a:r>
            <a:r>
              <a:rPr sz="2600" kern="0" spc="-60" baseline="46000" dirty="0">
                <a:solidFill>
                  <a:srgbClr val="C75C1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橙绿白蓝蓝6绿</a:t>
            </a:r>
            <a:r>
              <a:rPr sz="2600" kern="0" spc="-60" baseline="46000" dirty="0">
                <a:solidFill>
                  <a:srgbClr val="7A4A39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棕</a:t>
            </a:r>
            <a:r>
              <a:rPr sz="1600" kern="0" spc="-120" dirty="0">
                <a:solidFill>
                  <a:srgbClr val="7A4A39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2600" kern="0" spc="-60" baseline="46000" dirty="0">
                <a:solidFill>
                  <a:srgbClr val="7A4A39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白</a:t>
            </a:r>
            <a:r>
              <a:rPr sz="2600" kern="0" spc="-60" baseline="-48000" dirty="0">
                <a:solidFill>
                  <a:srgbClr val="6D3B3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棕</a:t>
            </a:r>
            <a:r>
              <a:rPr sz="1600" kern="0" spc="-280" dirty="0">
                <a:solidFill>
                  <a:srgbClr val="6D3B3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600" kern="0" spc="-60" baseline="1000" dirty="0">
                <a:solidFill>
                  <a:srgbClr val="86A68A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绿自</a:t>
            </a:r>
            <a:endParaRPr lang="en-US" altLang="en-US" sz="2600" baseline="1000" dirty="0"/>
          </a:p>
        </p:txBody>
      </p:sp>
      <p:sp>
        <p:nvSpPr>
          <p:cNvPr id="614" name="textbox 614"/>
          <p:cNvSpPr/>
          <p:nvPr/>
        </p:nvSpPr>
        <p:spPr>
          <a:xfrm>
            <a:off x="783316" y="576742"/>
            <a:ext cx="4800600" cy="7131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7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网线制作2:交叉线</a:t>
            </a:r>
            <a:endParaRPr lang="en-US" altLang="en-US" sz="4700" dirty="0"/>
          </a:p>
        </p:txBody>
      </p:sp>
      <p:sp>
        <p:nvSpPr>
          <p:cNvPr id="616" name="textbox 616"/>
          <p:cNvSpPr/>
          <p:nvPr/>
        </p:nvSpPr>
        <p:spPr>
          <a:xfrm>
            <a:off x="3374040" y="6542808"/>
            <a:ext cx="4989195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7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</a:t>
            </a:r>
            <a:r>
              <a:rPr sz="1900" kern="0" spc="-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1900" kern="0" spc="-2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en-US" altLang="en-US" sz="1900" baseline="-5000" dirty="0"/>
          </a:p>
        </p:txBody>
      </p:sp>
      <p:sp>
        <p:nvSpPr>
          <p:cNvPr id="618" name="textbox 618"/>
          <p:cNvSpPr/>
          <p:nvPr/>
        </p:nvSpPr>
        <p:spPr>
          <a:xfrm>
            <a:off x="6419829" y="1819354"/>
            <a:ext cx="555625" cy="2832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568A</a:t>
            </a:r>
            <a:endParaRPr lang="en-US" alt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picture 6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22" name="textbox 622"/>
          <p:cNvSpPr/>
          <p:nvPr/>
        </p:nvSpPr>
        <p:spPr>
          <a:xfrm>
            <a:off x="770137" y="561136"/>
            <a:ext cx="7307580" cy="47961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600" b="1" kern="0" spc="-14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测试仪</a:t>
            </a:r>
            <a:endParaRPr lang="en-US" altLang="en-US" sz="46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27000"/>
              </a:lnSpc>
            </a:pPr>
            <a:endParaRPr lang="en-US" altLang="en-US" sz="1000" dirty="0"/>
          </a:p>
          <a:p>
            <a:pPr algn="r" rtl="0" eaLnBrk="0">
              <a:lnSpc>
                <a:spcPct val="96000"/>
              </a:lnSpc>
              <a:spcBef>
                <a:spcPts val="940"/>
              </a:spcBef>
            </a:pPr>
            <a:r>
              <a:rPr sz="3100" b="1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主模块按顺序每根芯</a:t>
            </a:r>
            <a:r>
              <a:rPr sz="3100" b="1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线都发出一个电平</a:t>
            </a:r>
            <a:endParaRPr lang="en-US" altLang="en-US" sz="31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marL="34036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信号，如果网络线相应芯线和</a:t>
            </a:r>
            <a:r>
              <a:rPr sz="31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水晶头的</a:t>
            </a:r>
            <a:endParaRPr lang="en-US" altLang="en-US" sz="31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marL="340360" algn="l" rtl="0" eaLnBrk="0">
              <a:lnSpc>
                <a:spcPct val="96000"/>
              </a:lnSpc>
              <a:spcBef>
                <a:spcPts val="935"/>
              </a:spcBef>
            </a:pPr>
            <a:r>
              <a:rPr sz="3100" b="1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金属切片是相通的，那么主模块和副</a:t>
            </a:r>
            <a:r>
              <a:rPr sz="3100" b="1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</a:t>
            </a:r>
            <a:endParaRPr lang="en-US" altLang="en-US" sz="31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marL="334645" algn="l" rtl="0" eaLnBrk="0">
              <a:lnSpc>
                <a:spcPct val="96000"/>
              </a:lnSpc>
              <a:spcBef>
                <a:spcPts val="940"/>
              </a:spcBef>
            </a:pPr>
            <a:r>
              <a:rPr sz="3100" kern="0" spc="1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块相应的灯也会亮，</a:t>
            </a:r>
            <a:r>
              <a:rPr sz="3100" kern="0" spc="1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否则说明该根芯线</a:t>
            </a:r>
            <a:endParaRPr lang="en-US" altLang="en-US" sz="31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700" dirty="0"/>
          </a:p>
          <a:p>
            <a:pPr marL="340360" algn="l" rtl="0" eaLnBrk="0">
              <a:lnSpc>
                <a:spcPct val="96000"/>
              </a:lnSpc>
              <a:spcBef>
                <a:spcPts val="5"/>
              </a:spcBef>
            </a:pPr>
            <a:r>
              <a:rPr sz="3100" b="1" kern="0" spc="-2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连接有问题。</a:t>
            </a:r>
            <a:endParaRPr lang="en-US" altLang="en-US" sz="3100" dirty="0"/>
          </a:p>
        </p:txBody>
      </p:sp>
      <p:sp>
        <p:nvSpPr>
          <p:cNvPr id="624" name="textbox 624"/>
          <p:cNvSpPr/>
          <p:nvPr/>
        </p:nvSpPr>
        <p:spPr>
          <a:xfrm>
            <a:off x="3374040" y="6542808"/>
            <a:ext cx="4967604" cy="2114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28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200" b="1" kern="0" spc="-4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sz="1900" kern="0" spc="-4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1900" kern="0" spc="-4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en-US" altLang="en-US" sz="1900" baseline="-5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picture 6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628" name="table 628"/>
          <p:cNvGraphicFramePr>
            <a:graphicFrameLocks noGrp="1"/>
          </p:cNvGraphicFramePr>
          <p:nvPr/>
        </p:nvGraphicFramePr>
        <p:xfrm>
          <a:off x="631784" y="1660507"/>
          <a:ext cx="7772400" cy="3968750"/>
        </p:xfrm>
        <a:graphic>
          <a:graphicData uri="http://schemas.openxmlformats.org/drawingml/2006/table">
            <a:tbl>
              <a:tblPr/>
              <a:tblGrid>
                <a:gridCol w="1939925"/>
                <a:gridCol w="1949450"/>
                <a:gridCol w="1936750"/>
                <a:gridCol w="1946275"/>
              </a:tblGrid>
              <a:tr h="6381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700" dirty="0"/>
                    </a:p>
                    <a:p>
                      <a:pPr marL="2870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4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直通线测试时灯闪动顺序</a:t>
                      </a:r>
                      <a:endParaRPr lang="en-US" altLang="en-US" sz="24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700" dirty="0"/>
                    </a:p>
                    <a:p>
                      <a:pPr marL="27114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4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交叉线测试时灯闪动顺序</a:t>
                      </a:r>
                      <a:endParaRPr lang="en-US" altLang="en-US" sz="24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500" dirty="0"/>
                    </a:p>
                    <a:p>
                      <a:pPr marL="28575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主机端指示灯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2889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测试端指示灯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500" dirty="0"/>
                    </a:p>
                    <a:p>
                      <a:pPr marL="28257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主机端指示灯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2889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测试端指示灯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8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911225" algn="l" rtl="0" eaLnBrk="0">
                        <a:lnSpc>
                          <a:spcPct val="79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8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914400" algn="l" rtl="0" eaLnBrk="0">
                        <a:lnSpc>
                          <a:spcPct val="79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8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908050" algn="l" rtl="0" eaLnBrk="0">
                        <a:lnSpc>
                          <a:spcPct val="79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800" dirty="0"/>
                    </a:p>
                    <a:p>
                      <a:pPr marL="914400" algn="l" rtl="0" eaLnBrk="0">
                        <a:lnSpc>
                          <a:spcPct val="79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122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0805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800" dirty="0"/>
                    </a:p>
                    <a:p>
                      <a:pPr marL="914400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800" dirty="0"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30" name="textbox 630"/>
          <p:cNvSpPr/>
          <p:nvPr/>
        </p:nvSpPr>
        <p:spPr>
          <a:xfrm>
            <a:off x="414429" y="636824"/>
            <a:ext cx="6203950" cy="667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b="1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观察灯闪情况判断连通性</a:t>
            </a:r>
            <a:endParaRPr lang="en-US" altLang="en-US" sz="4400" dirty="0"/>
          </a:p>
        </p:txBody>
      </p:sp>
      <p:sp>
        <p:nvSpPr>
          <p:cNvPr id="632" name="textbox 632"/>
          <p:cNvSpPr/>
          <p:nvPr/>
        </p:nvSpPr>
        <p:spPr>
          <a:xfrm>
            <a:off x="3374040" y="6536551"/>
            <a:ext cx="4986020" cy="218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300" b="1" kern="0" spc="-10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</a:t>
            </a: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</a:t>
            </a:r>
            <a:r>
              <a:rPr sz="1300" kern="0" spc="2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300" b="1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300" kern="0" spc="-1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</a:t>
            </a:r>
            <a:r>
              <a:rPr sz="2000" kern="0" spc="-110" baseline="-8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2000" kern="0" spc="-110" baseline="-8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en-US" altLang="en-US" sz="2000" baseline="-8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picture 6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36" name="textbox 636"/>
          <p:cNvSpPr/>
          <p:nvPr/>
        </p:nvSpPr>
        <p:spPr>
          <a:xfrm>
            <a:off x="533379" y="489501"/>
            <a:ext cx="8010525" cy="52184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marL="96520" algn="l" rtl="0" eaLnBrk="0">
              <a:lnSpc>
                <a:spcPct val="96000"/>
              </a:lnSpc>
            </a:pPr>
            <a:r>
              <a:rPr sz="4600" b="1" kern="0" spc="-160" dirty="0">
                <a:solidFill>
                  <a:srgbClr val="FFFF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实验要求</a:t>
            </a:r>
            <a:endParaRPr lang="en-US" altLang="en-US" sz="4600" dirty="0"/>
          </a:p>
          <a:p>
            <a:pPr marL="50800" algn="l" rtl="0" eaLnBrk="0">
              <a:lnSpc>
                <a:spcPct val="95000"/>
              </a:lnSpc>
              <a:spcBef>
                <a:spcPts val="1935"/>
              </a:spcBef>
              <a:tabLst>
                <a:tab pos="100330" algn="l"/>
              </a:tabLst>
            </a:pP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3200" kern="0" spc="-11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撰写实验报告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marL="264795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b="1" kern="0" spc="1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-按照模板书写实验</a:t>
            </a:r>
            <a:r>
              <a:rPr sz="2700" b="1" kern="0" spc="1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步骤</a:t>
            </a:r>
            <a:endParaRPr lang="en-US" altLang="en-US" sz="27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marL="271145" algn="l" rtl="0" eaLnBrk="0">
              <a:lnSpc>
                <a:spcPct val="97000"/>
              </a:lnSpc>
              <a:spcBef>
                <a:spcPts val="820"/>
              </a:spcBef>
            </a:pPr>
            <a:r>
              <a:rPr sz="2700" b="1" kern="0" spc="1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-上网查阅资料回答课后问题</a:t>
            </a:r>
            <a:endParaRPr lang="en-US" altLang="en-US" sz="2700" dirty="0"/>
          </a:p>
          <a:p>
            <a:pPr algn="l" rtl="0" eaLnBrk="0">
              <a:lnSpc>
                <a:spcPct val="127000"/>
              </a:lnSpc>
            </a:pPr>
            <a:endParaRPr lang="en-US" altLang="en-US" sz="1000" dirty="0"/>
          </a:p>
          <a:p>
            <a:pPr algn="r" rtl="0" eaLnBrk="0">
              <a:lnSpc>
                <a:spcPct val="94000"/>
              </a:lnSpc>
              <a:spcBef>
                <a:spcPts val="730"/>
              </a:spcBef>
            </a:pP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◆上网查阅H3C</a:t>
            </a: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交换机路由器</a:t>
            </a: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命名规则，判断实验室目</a:t>
            </a:r>
            <a:endParaRPr lang="en-US" altLang="en-US" sz="2400" dirty="0"/>
          </a:p>
          <a:p>
            <a:pPr marL="970915" algn="l" rtl="0" eaLnBrk="0">
              <a:lnSpc>
                <a:spcPct val="95000"/>
              </a:lnSpc>
              <a:spcBef>
                <a:spcPts val="1635"/>
              </a:spcBef>
            </a:pPr>
            <a:r>
              <a:rPr sz="2400" kern="0" spc="-2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前设备级别。</a:t>
            </a:r>
            <a:endParaRPr lang="en-US" altLang="en-US" sz="24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600" dirty="0"/>
          </a:p>
          <a:p>
            <a:pPr marL="975360" indent="-226060" algn="l" rtl="0" eaLnBrk="0">
              <a:lnSpc>
                <a:spcPct val="120000"/>
              </a:lnSpc>
              <a:spcBef>
                <a:spcPts val="5"/>
              </a:spcBef>
            </a:pPr>
            <a:r>
              <a:rPr sz="2400" kern="0" spc="10" dirty="0">
                <a:solidFill>
                  <a:srgbClr val="00CBC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◆</a:t>
            </a:r>
            <a:r>
              <a:rPr sz="2400" b="1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上网查阅关于光纤、电缆、双绞</a:t>
            </a:r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线(五类、六类、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类等包括超*类)有何不同，适用于哪些不同场景?</a:t>
            </a:r>
            <a:endParaRPr lang="en-US" altLang="en-US" sz="2400" dirty="0"/>
          </a:p>
        </p:txBody>
      </p:sp>
      <p:pic>
        <p:nvPicPr>
          <p:cNvPr id="638" name="picture 6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4959" y="1543050"/>
            <a:ext cx="57150" cy="146075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079" y="1644617"/>
            <a:ext cx="38130" cy="95257"/>
          </a:xfrm>
          <a:prstGeom prst="rect">
            <a:avLst/>
          </a:prstGeom>
        </p:spPr>
      </p:pic>
      <p:sp>
        <p:nvSpPr>
          <p:cNvPr id="642" name="textbox 642"/>
          <p:cNvSpPr/>
          <p:nvPr/>
        </p:nvSpPr>
        <p:spPr>
          <a:xfrm>
            <a:off x="3374040" y="6542808"/>
            <a:ext cx="4974590" cy="2152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2023年秋季《计算机与网络安全》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娜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</a:t>
            </a:r>
            <a:r>
              <a:rPr sz="2100" kern="0" spc="-20" baseline="-50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2100" kern="0" spc="-20" baseline="-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lang="en-US" altLang="en-US" sz="2100" baseline="-5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OGQ5ZWRmZGVlYTg3MDI0N2UwODgyODBlMDlhOGQxZGM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7497</Words>
  <Application>WPS 演示</Application>
  <PresentationFormat/>
  <Paragraphs>941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楷体</vt:lpstr>
      <vt:lpstr>STXingkai</vt:lpstr>
      <vt:lpstr>Segoe Print</vt:lpstr>
      <vt:lpstr>黑体</vt:lpstr>
      <vt:lpstr>Arial</vt:lpstr>
      <vt:lpstr>LiSu</vt:lpstr>
      <vt:lpstr>微软雅黑</vt:lpstr>
      <vt:lpstr>Arial Unicode MS</vt:lpstr>
      <vt:lpstr>Calibri</vt:lpstr>
      <vt:lpstr>仿宋</vt:lpstr>
      <vt:lpstr>YouYuan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Kingsoft-PDF</dc:creator>
  <dc:subject>pdfbuilder</dc:subject>
  <cp:lastModifiedBy>babybee</cp:lastModifiedBy>
  <cp:revision>7</cp:revision>
  <dcterms:created xsi:type="dcterms:W3CDTF">2023-11-10T16:39:00Z</dcterms:created>
  <dcterms:modified xsi:type="dcterms:W3CDTF">2024-04-08T15:37:02Z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2023-11-13T00:12:35Z</vt:filetime>
  </property>
  <property fmtid="{D5CDD505-2E9C-101B-9397-08002B2CF9AE}" pid="4" name="UsrData">
    <vt:lpwstr>654e565d7c0d8a001fd40676wl</vt:lpwstr>
  </property>
  <property fmtid="{D5CDD505-2E9C-101B-9397-08002B2CF9AE}" pid="5" name="ICV">
    <vt:lpwstr>460AF0AF2BA3491EB7785A55985F7D8D_12</vt:lpwstr>
  </property>
  <property fmtid="{D5CDD505-2E9C-101B-9397-08002B2CF9AE}" pid="6" name="KSOProductBuildVer">
    <vt:lpwstr>2052-12.1.0.16250</vt:lpwstr>
  </property>
</Properties>
</file>