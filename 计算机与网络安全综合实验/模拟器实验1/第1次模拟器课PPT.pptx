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2" r:id="rId5"/>
    <p:sldId id="283" r:id="rId6"/>
    <p:sldId id="285" r:id="rId7"/>
    <p:sldId id="290" r:id="rId8"/>
    <p:sldId id="291" r:id="rId9"/>
    <p:sldId id="284" r:id="rId10"/>
    <p:sldId id="286" r:id="rId11"/>
    <p:sldId id="296" r:id="rId12"/>
    <p:sldId id="288" r:id="rId13"/>
    <p:sldId id="294" r:id="rId14"/>
    <p:sldId id="287" r:id="rId15"/>
    <p:sldId id="297" r:id="rId16"/>
    <p:sldId id="289" r:id="rId17"/>
    <p:sldId id="298" r:id="rId18"/>
    <p:sldId id="292" r:id="rId19"/>
    <p:sldId id="300" r:id="rId20"/>
    <p:sldId id="293" r:id="rId21"/>
    <p:sldId id="299" r:id="rId22"/>
    <p:sldId id="295" r:id="rId23"/>
  </p:sldIdLst>
  <p:sldSz cx="9145270" cy="5144770"/>
  <p:notesSz cx="6858000" cy="9144000"/>
  <p:custDataLst>
    <p:tags r:id="rId27"/>
  </p:custDataLst>
  <p:defaultTextStyle>
    <a:defPPr>
      <a:defRPr lang="zh-CN"/>
    </a:defPPr>
    <a:lvl1pPr marL="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322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580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902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5161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1483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7741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4063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0322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howGuides="1">
      <p:cViewPr varScale="1">
        <p:scale>
          <a:sx n="109" d="100"/>
          <a:sy n="109" d="100"/>
        </p:scale>
        <p:origin x="240" y="-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1B12F-6A0D-4FE8-BAE3-DB3D162E51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A053C-24B9-4FA6-A8F8-2156AAF873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A053C-24B9-4FA6-A8F8-2156AAF873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>
            <a:lvl1pPr algn="l">
              <a:defRPr sz="4000" b="1" u="sng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0" y="1200521"/>
            <a:ext cx="8231029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80" y="1200521"/>
            <a:ext cx="4039301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008" y="1200521"/>
            <a:ext cx="4039301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619446" y="2801234"/>
            <a:ext cx="615260" cy="242568"/>
          </a:xfrm>
          <a:prstGeom prst="rect">
            <a:avLst/>
          </a:prstGeom>
        </p:spPr>
        <p:txBody>
          <a:bodyPr wrap="square" lIns="72581" tIns="36291" rIns="72581" bIns="36291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PPT</a:t>
            </a:r>
            <a:r>
              <a:rPr lang="zh-CN" altLang="en-US" sz="100" dirty="0">
                <a:solidFill>
                  <a:schemeClr val="bg1"/>
                </a:solidFill>
              </a:rPr>
              <a:t>素材：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  PPT</a:t>
            </a:r>
            <a:r>
              <a:rPr lang="zh-CN" altLang="en-US" sz="100" dirty="0">
                <a:solidFill>
                  <a:schemeClr val="bg1"/>
                </a:solidFill>
              </a:rPr>
              <a:t>图表：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精美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课件：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            </a:t>
            </a:r>
            <a:r>
              <a:rPr lang="zh-CN" altLang="en-US" sz="100" dirty="0">
                <a:solidFill>
                  <a:schemeClr val="bg1"/>
                </a:solidFill>
              </a:rPr>
              <a:t>字体下载：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www.1ppt.com/ziti/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工作总结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www.1ppt.com/xiazai/zongjie/ </a:t>
            </a:r>
            <a:r>
              <a:rPr lang="zh-CN" altLang="en-US" sz="100" dirty="0">
                <a:solidFill>
                  <a:schemeClr val="bg1"/>
                </a:solidFill>
              </a:rPr>
              <a:t>工作计划：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www.1ppt.com/xiazai/jihua/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商务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www.1ppt.com/moban/shangwu/  </a:t>
            </a:r>
            <a:r>
              <a:rPr lang="zh-CN" altLang="en-US" sz="100" dirty="0">
                <a:solidFill>
                  <a:schemeClr val="bg1"/>
                </a:solidFill>
              </a:rPr>
              <a:t>个人简历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www.1ppt.com/xiazai/jianli/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毕业答辩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www.1ppt.com/xiazai/dabian/  </a:t>
            </a:r>
            <a:r>
              <a:rPr lang="zh-CN" altLang="en-US" sz="100" dirty="0">
                <a:solidFill>
                  <a:schemeClr val="bg1"/>
                </a:solidFill>
              </a:rPr>
              <a:t>工作汇报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www.1ppt.com/xiazai/huibao/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en-US" altLang="zh-CN" sz="1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79" y="1151690"/>
            <a:ext cx="4040890" cy="479970"/>
          </a:xfrm>
          <a:prstGeom prst="rect">
            <a:avLst/>
          </a:prstGeom>
        </p:spPr>
        <p:txBody>
          <a:bodyPr lIns="72581" tIns="36291" rIns="72581" bIns="36291" anchor="b"/>
          <a:lstStyle>
            <a:lvl1pPr marL="0" indent="0">
              <a:buNone/>
              <a:defRPr sz="1900" b="1"/>
            </a:lvl1pPr>
            <a:lvl2pPr marL="363220" indent="0">
              <a:buNone/>
              <a:defRPr sz="1600" b="1"/>
            </a:lvl2pPr>
            <a:lvl3pPr marL="725805" indent="0">
              <a:buNone/>
              <a:defRPr sz="1400" b="1"/>
            </a:lvl3pPr>
            <a:lvl4pPr marL="1089025" indent="0">
              <a:buNone/>
              <a:defRPr sz="1300" b="1"/>
            </a:lvl4pPr>
            <a:lvl5pPr marL="1451610" indent="0">
              <a:buNone/>
              <a:defRPr sz="1300" b="1"/>
            </a:lvl5pPr>
            <a:lvl6pPr marL="1814830" indent="0">
              <a:buNone/>
              <a:defRPr sz="1300" b="1"/>
            </a:lvl6pPr>
            <a:lvl7pPr marL="2177415" indent="0">
              <a:buNone/>
              <a:defRPr sz="1300" b="1"/>
            </a:lvl7pPr>
            <a:lvl8pPr marL="2540635" indent="0">
              <a:buNone/>
              <a:defRPr sz="1300" b="1"/>
            </a:lvl8pPr>
            <a:lvl9pPr marL="2903220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79" y="1631661"/>
            <a:ext cx="4040890" cy="2964381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833" y="1151690"/>
            <a:ext cx="4042477" cy="479970"/>
          </a:xfrm>
          <a:prstGeom prst="rect">
            <a:avLst/>
          </a:prstGeom>
        </p:spPr>
        <p:txBody>
          <a:bodyPr lIns="72581" tIns="36291" rIns="72581" bIns="36291" anchor="b"/>
          <a:lstStyle>
            <a:lvl1pPr marL="0" indent="0">
              <a:buNone/>
              <a:defRPr sz="1900" b="1"/>
            </a:lvl1pPr>
            <a:lvl2pPr marL="363220" indent="0">
              <a:buNone/>
              <a:defRPr sz="1600" b="1"/>
            </a:lvl2pPr>
            <a:lvl3pPr marL="725805" indent="0">
              <a:buNone/>
              <a:defRPr sz="1400" b="1"/>
            </a:lvl3pPr>
            <a:lvl4pPr marL="1089025" indent="0">
              <a:buNone/>
              <a:defRPr sz="1300" b="1"/>
            </a:lvl4pPr>
            <a:lvl5pPr marL="1451610" indent="0">
              <a:buNone/>
              <a:defRPr sz="1300" b="1"/>
            </a:lvl5pPr>
            <a:lvl6pPr marL="1814830" indent="0">
              <a:buNone/>
              <a:defRPr sz="1300" b="1"/>
            </a:lvl6pPr>
            <a:lvl7pPr marL="2177415" indent="0">
              <a:buNone/>
              <a:defRPr sz="1300" b="1"/>
            </a:lvl7pPr>
            <a:lvl8pPr marL="2540635" indent="0">
              <a:buNone/>
              <a:defRPr sz="1300" b="1"/>
            </a:lvl8pPr>
            <a:lvl9pPr marL="2903220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833" y="1631661"/>
            <a:ext cx="4042477" cy="2964381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3776315" cy="2329675"/>
          </a:xfrm>
          <a:prstGeom prst="rect">
            <a:avLst/>
          </a:prstGeom>
          <a:effectLst>
            <a:outerShdw blurRad="228600" dist="38100" dir="5400000" sx="101000" sy="101000" algn="t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121" y="3205610"/>
            <a:ext cx="6072467" cy="1939478"/>
          </a:xfrm>
          <a:prstGeom prst="rect">
            <a:avLst/>
          </a:prstGeom>
          <a:effectLst>
            <a:outerShdw blurRad="228600" dist="38100" dir="16200000" sx="101000" sy="101000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4851"/>
            <a:ext cx="3008836" cy="871807"/>
          </a:xfrm>
          <a:prstGeom prst="rect">
            <a:avLst/>
          </a:prstGeom>
        </p:spPr>
        <p:txBody>
          <a:bodyPr lIns="72581" tIns="36291" rIns="72581" bIns="36291" anchor="b"/>
          <a:lstStyle>
            <a:lvl1pPr algn="l">
              <a:defRPr sz="16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670" y="204851"/>
            <a:ext cx="5112638" cy="439119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80" y="1076658"/>
            <a:ext cx="3008836" cy="351938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1100"/>
            </a:lvl1pPr>
            <a:lvl2pPr marL="363220" indent="0">
              <a:buNone/>
              <a:defRPr sz="1000"/>
            </a:lvl2pPr>
            <a:lvl3pPr marL="725805" indent="0">
              <a:buNone/>
              <a:defRPr sz="800"/>
            </a:lvl3pPr>
            <a:lvl4pPr marL="1089025" indent="0">
              <a:buNone/>
              <a:defRPr sz="800"/>
            </a:lvl4pPr>
            <a:lvl5pPr marL="1451610" indent="0">
              <a:buNone/>
              <a:defRPr sz="800"/>
            </a:lvl5pPr>
            <a:lvl6pPr marL="1814830" indent="0">
              <a:buNone/>
              <a:defRPr sz="800"/>
            </a:lvl6pPr>
            <a:lvl7pPr marL="2177415" indent="0">
              <a:buNone/>
              <a:defRPr sz="800"/>
            </a:lvl7pPr>
            <a:lvl8pPr marL="2540635" indent="0">
              <a:buNone/>
              <a:defRPr sz="800"/>
            </a:lvl8pPr>
            <a:lvl9pPr marL="290322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599" y="3601562"/>
            <a:ext cx="5487353" cy="425185"/>
          </a:xfrm>
          <a:prstGeom prst="rect">
            <a:avLst/>
          </a:prstGeom>
        </p:spPr>
        <p:txBody>
          <a:bodyPr lIns="72581" tIns="36291" rIns="72581" bIns="36291" anchor="b"/>
          <a:lstStyle>
            <a:lvl1pPr algn="l">
              <a:defRPr sz="16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599" y="459724"/>
            <a:ext cx="5487353" cy="308705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2600"/>
            </a:lvl1pPr>
            <a:lvl2pPr marL="363220" indent="0">
              <a:buNone/>
              <a:defRPr sz="2300"/>
            </a:lvl2pPr>
            <a:lvl3pPr marL="725805" indent="0">
              <a:buNone/>
              <a:defRPr sz="1900"/>
            </a:lvl3pPr>
            <a:lvl4pPr marL="1089025" indent="0">
              <a:buNone/>
              <a:defRPr sz="1600"/>
            </a:lvl4pPr>
            <a:lvl5pPr marL="1451610" indent="0">
              <a:buNone/>
              <a:defRPr sz="1600"/>
            </a:lvl5pPr>
            <a:lvl6pPr marL="1814830" indent="0">
              <a:buNone/>
              <a:defRPr sz="1600"/>
            </a:lvl6pPr>
            <a:lvl7pPr marL="2177415" indent="0">
              <a:buNone/>
              <a:defRPr sz="1600"/>
            </a:lvl7pPr>
            <a:lvl8pPr marL="2540635" indent="0">
              <a:buNone/>
              <a:defRPr sz="1600"/>
            </a:lvl8pPr>
            <a:lvl9pPr marL="2903220" indent="0">
              <a:buNone/>
              <a:defRPr sz="16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599" y="4026746"/>
            <a:ext cx="5487353" cy="60383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1100"/>
            </a:lvl1pPr>
            <a:lvl2pPr marL="363220" indent="0">
              <a:buNone/>
              <a:defRPr sz="1000"/>
            </a:lvl2pPr>
            <a:lvl3pPr marL="725805" indent="0">
              <a:buNone/>
              <a:defRPr sz="800"/>
            </a:lvl3pPr>
            <a:lvl4pPr marL="1089025" indent="0">
              <a:buNone/>
              <a:defRPr sz="800"/>
            </a:lvl4pPr>
            <a:lvl5pPr marL="1451610" indent="0">
              <a:buNone/>
              <a:defRPr sz="800"/>
            </a:lvl5pPr>
            <a:lvl6pPr marL="1814830" indent="0">
              <a:buNone/>
              <a:defRPr sz="800"/>
            </a:lvl6pPr>
            <a:lvl7pPr marL="2177415" indent="0">
              <a:buNone/>
              <a:defRPr sz="800"/>
            </a:lvl7pPr>
            <a:lvl8pPr marL="2540635" indent="0">
              <a:buNone/>
              <a:defRPr sz="800"/>
            </a:lvl8pPr>
            <a:lvl9pPr marL="290322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80" y="1200521"/>
            <a:ext cx="8231029" cy="3395520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552" y="206042"/>
            <a:ext cx="2057757" cy="4389999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80" y="206042"/>
            <a:ext cx="6020845" cy="4389999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jpeg"/><Relationship Id="rId13" Type="http://schemas.microsoft.com/office/2007/relationships/hdphoto" Target="../media/image4.wdp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blipFill dpi="0" rotWithShape="1">
            <a:blip r:embed="rId12">
              <a:alphaModFix amt="26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-75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9145588" cy="5145088"/>
          </a:xfrm>
          <a:prstGeom prst="rect">
            <a:avLst/>
          </a:prstGeom>
          <a:blipFill dpi="0" rotWithShape="1">
            <a:blip r:embed="rId14">
              <a:alphaModFix amt="16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lIns="68589" tIns="34295" rIns="68589" bIns="34295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302" y="4178169"/>
            <a:ext cx="3676286" cy="966919"/>
          </a:xfrm>
          <a:prstGeom prst="rect">
            <a:avLst/>
          </a:prstGeom>
          <a:effectLst>
            <a:outerShdw blurRad="228600" dist="38100" dir="16200000" sx="101000" sy="101000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0358" cy="740522"/>
          </a:xfrm>
          <a:prstGeom prst="rect">
            <a:avLst/>
          </a:prstGeom>
          <a:effectLst>
            <a:outerShdw blurRad="228600" dist="38100" dir="5400000" sx="101000" sy="101000" algn="t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725805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2415" indent="-272415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89915" indent="-226695" algn="l" defTabSz="7258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0741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7000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322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9580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5902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2161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8483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322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902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5161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1483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7741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4063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0322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-4287" y="-3811"/>
            <a:ext cx="9153686" cy="5152234"/>
          </a:xfrm>
          <a:prstGeom prst="rect">
            <a:avLst/>
          </a:prstGeom>
        </p:spPr>
      </p:pic>
      <p:sp>
        <p:nvSpPr>
          <p:cNvPr id="17" name="文本框 19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SpPr txBox="1"/>
          <p:nvPr/>
        </p:nvSpPr>
        <p:spPr>
          <a:xfrm>
            <a:off x="1620466" y="2121544"/>
            <a:ext cx="5982262" cy="561702"/>
          </a:xfrm>
          <a:prstGeom prst="rect">
            <a:avLst/>
          </a:prstGeom>
          <a:noFill/>
          <a:effectLst/>
        </p:spPr>
        <p:txBody>
          <a:bodyPr wrap="square" lIns="68589" tIns="34295" rIns="68589" bIns="34295" rtlCol="0">
            <a:spAutoFit/>
          </a:bodyPr>
          <a:lstStyle/>
          <a:p>
            <a:pPr algn="ctr" defTabSz="685800"/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计算机与网络安全综合实验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矩形 18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SpPr/>
          <p:nvPr/>
        </p:nvSpPr>
        <p:spPr>
          <a:xfrm>
            <a:off x="173386" y="171503"/>
            <a:ext cx="8799294" cy="4802082"/>
          </a:xfrm>
          <a:prstGeom prst="rect">
            <a:avLst/>
          </a:prstGeom>
          <a:noFill/>
          <a:ln w="12700" cap="flat" cmpd="sng" algn="ctr">
            <a:solidFill>
              <a:srgbClr val="1F2F50"/>
            </a:solidFill>
            <a:prstDash val="solid"/>
            <a:miter lim="800000"/>
          </a:ln>
          <a:effectLst/>
        </p:spPr>
        <p:txBody>
          <a:bodyPr lIns="68589" tIns="34295" rIns="68589" bIns="34295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46021" y="844987"/>
            <a:ext cx="2911652" cy="1101878"/>
            <a:chOff x="3124200" y="1641336"/>
            <a:chExt cx="5840064" cy="2209800"/>
          </a:xfrm>
        </p:grpSpPr>
        <p:sp>
          <p:nvSpPr>
            <p:cNvPr id="40" name="矩形: 圆角 5"/>
            <p:cNvSpPr/>
            <p:nvPr/>
          </p:nvSpPr>
          <p:spPr>
            <a:xfrm>
              <a:off x="3124200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1" name="矩形: 圆角 6"/>
            <p:cNvSpPr/>
            <p:nvPr/>
          </p:nvSpPr>
          <p:spPr>
            <a:xfrm>
              <a:off x="4607584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2" name="矩形: 圆角 7"/>
            <p:cNvSpPr/>
            <p:nvPr/>
          </p:nvSpPr>
          <p:spPr>
            <a:xfrm>
              <a:off x="6084993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3" name="矩形: 圆角 8"/>
            <p:cNvSpPr/>
            <p:nvPr/>
          </p:nvSpPr>
          <p:spPr>
            <a:xfrm>
              <a:off x="7562402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4" name="文本框 9"/>
            <p:cNvSpPr txBox="1"/>
            <p:nvPr/>
          </p:nvSpPr>
          <p:spPr>
            <a:xfrm>
              <a:off x="3149785" y="1676223"/>
              <a:ext cx="1362719" cy="2036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gency FB" panose="020B0503020202020204" pitchFamily="34" charset="0"/>
                  <a:ea typeface="包图粗黑体" panose="02000800000000000000" pitchFamily="2" charset="-122"/>
                </a:rPr>
                <a:t>2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5" name="文本框 10"/>
            <p:cNvSpPr txBox="1"/>
            <p:nvPr/>
          </p:nvSpPr>
          <p:spPr>
            <a:xfrm>
              <a:off x="4639850" y="1665402"/>
              <a:ext cx="1254003" cy="203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gency FB" panose="020B0503020202020204" pitchFamily="34" charset="0"/>
                  <a:ea typeface="包图粗黑体" panose="02000800000000000000" pitchFamily="2" charset="-122"/>
                </a:rPr>
                <a:t>0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6" name="文本框 11"/>
            <p:cNvSpPr txBox="1"/>
            <p:nvPr/>
          </p:nvSpPr>
          <p:spPr>
            <a:xfrm>
              <a:off x="6094396" y="1676221"/>
              <a:ext cx="1362719" cy="203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6000" kern="0" dirty="0" smtClean="0">
                  <a:solidFill>
                    <a:schemeClr val="accent1">
                      <a:lumMod val="75000"/>
                    </a:schemeClr>
                  </a:solidFill>
                  <a:latin typeface="Agency FB" panose="020B0503020202020204" pitchFamily="34" charset="0"/>
                  <a:ea typeface="包图粗黑体" panose="02000800000000000000" pitchFamily="2" charset="-122"/>
                </a:rPr>
                <a:t>2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7" name="文本框 12"/>
            <p:cNvSpPr txBox="1"/>
            <p:nvPr/>
          </p:nvSpPr>
          <p:spPr>
            <a:xfrm>
              <a:off x="7601545" y="1676223"/>
              <a:ext cx="1362719" cy="2035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6000" kern="0" dirty="0">
                  <a:solidFill>
                    <a:schemeClr val="accent1">
                      <a:lumMod val="75000"/>
                    </a:schemeClr>
                  </a:solidFill>
                  <a:latin typeface="Agency FB" panose="020B0503020202020204" pitchFamily="34" charset="0"/>
                  <a:ea typeface="包图粗黑体" panose="02000800000000000000" pitchFamily="2" charset="-122"/>
                </a:rPr>
                <a:t>4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</p:grpSp>
      <p:sp>
        <p:nvSpPr>
          <p:cNvPr id="49" name="文本框 17"/>
          <p:cNvSpPr txBox="1"/>
          <p:nvPr/>
        </p:nvSpPr>
        <p:spPr>
          <a:xfrm>
            <a:off x="2006291" y="4633950"/>
            <a:ext cx="4703166" cy="283845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pPr algn="ctr" defTabSz="685800"/>
            <a:r>
              <a:rPr lang="zh-CN" altLang="en-US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 bldLvl="0"/>
      <p:bldP spid="19" grpId="0" animBg="1"/>
      <p:bldP spid="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课程必要性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6013" y="1276400"/>
            <a:ext cx="7687182" cy="3395520"/>
          </a:xfrm>
        </p:spPr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网络安全是一门实验性很强的课程，通过大量的实验验证才能深刻了解各种网络安全技术的应用过程。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课时安排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1" y="1200520"/>
            <a:ext cx="8147962" cy="3820295"/>
          </a:xfrm>
        </p:spPr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学分（</a:t>
            </a:r>
            <a:r>
              <a:rPr lang="en-US" altLang="zh-CN" dirty="0"/>
              <a:t>32</a:t>
            </a:r>
            <a:r>
              <a:rPr lang="zh-CN" altLang="en-US" dirty="0" smtClean="0"/>
              <a:t>课时）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</a:t>
            </a:r>
            <a:r>
              <a:rPr lang="zh-CN" altLang="en-US" dirty="0" smtClean="0"/>
              <a:t>课时理论课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48</a:t>
            </a:r>
            <a:r>
              <a:rPr lang="zh-CN" altLang="en-US" dirty="0" smtClean="0"/>
              <a:t>课时实验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模拟器</a:t>
            </a:r>
            <a:r>
              <a:rPr lang="en-US" altLang="zh-CN" dirty="0" smtClean="0"/>
              <a:t>Packet Tracer</a:t>
            </a:r>
            <a:r>
              <a:rPr lang="zh-CN" altLang="en-US" dirty="0" smtClean="0"/>
              <a:t>：</a:t>
            </a:r>
            <a:r>
              <a:rPr lang="en-US" altLang="zh-CN" dirty="0" smtClean="0"/>
              <a:t>6</a:t>
            </a:r>
            <a:r>
              <a:rPr lang="zh-CN" altLang="en-US" dirty="0" smtClean="0"/>
              <a:t>次（每次</a:t>
            </a:r>
            <a:r>
              <a:rPr lang="en-US" altLang="zh-CN" dirty="0" smtClean="0"/>
              <a:t>6</a:t>
            </a:r>
            <a:r>
              <a:rPr lang="zh-CN" altLang="en-US" dirty="0" smtClean="0"/>
              <a:t>课时）</a:t>
            </a:r>
            <a:endParaRPr lang="en-US" altLang="zh-CN" dirty="0"/>
          </a:p>
          <a:p>
            <a:pPr lvl="2"/>
            <a:r>
              <a:rPr lang="en-US" altLang="zh-CN" dirty="0" smtClean="0"/>
              <a:t>H3C</a:t>
            </a:r>
            <a:r>
              <a:rPr lang="zh-CN" altLang="en-US" dirty="0" smtClean="0"/>
              <a:t>设备：</a:t>
            </a:r>
            <a:r>
              <a:rPr lang="en-US" altLang="zh-CN" dirty="0" smtClean="0"/>
              <a:t>2</a:t>
            </a:r>
            <a:r>
              <a:rPr lang="zh-CN" altLang="en-US" dirty="0" smtClean="0"/>
              <a:t>次（每次</a:t>
            </a:r>
            <a:r>
              <a:rPr lang="en-US" altLang="zh-CN" dirty="0" smtClean="0"/>
              <a:t>6</a:t>
            </a:r>
            <a:r>
              <a:rPr lang="zh-CN" altLang="en-US" dirty="0" smtClean="0"/>
              <a:t>课时）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具体实施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每次实验开始之前会有关于实验的简单讲解。</a:t>
            </a:r>
            <a:endParaRPr lang="zh-CN" altLang="en-US" dirty="0"/>
          </a:p>
          <a:p>
            <a:pPr lvl="1"/>
            <a:r>
              <a:rPr lang="zh-CN" altLang="en-US" dirty="0" smtClean="0"/>
              <a:t>每次：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课时讲解</a:t>
            </a:r>
            <a:r>
              <a:rPr lang="en-US" altLang="zh-CN" dirty="0" smtClean="0"/>
              <a:t>+6</a:t>
            </a:r>
            <a:r>
              <a:rPr lang="zh-CN" altLang="en-US" dirty="0" smtClean="0"/>
              <a:t>课时实验</a:t>
            </a:r>
            <a:r>
              <a:rPr lang="en-US" altLang="zh-CN" dirty="0" smtClean="0"/>
              <a:t>=7</a:t>
            </a:r>
            <a:r>
              <a:rPr lang="zh-CN" altLang="en-US" dirty="0" smtClean="0"/>
              <a:t>课时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本周：</a:t>
            </a:r>
            <a:r>
              <a:rPr lang="en-US" altLang="zh-CN" dirty="0" smtClean="0">
                <a:solidFill>
                  <a:srgbClr val="FF0000"/>
                </a:solidFill>
              </a:rPr>
              <a:t>9:00-12:00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</a:rPr>
              <a:t>课时）</a:t>
            </a:r>
            <a:r>
              <a:rPr lang="en-US" altLang="zh-CN" dirty="0" smtClean="0">
                <a:solidFill>
                  <a:srgbClr val="FF0000"/>
                </a:solidFill>
              </a:rPr>
              <a:t> 14:00-16:15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课时）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具体实施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78" y="1072194"/>
            <a:ext cx="8580011" cy="3948621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</a:rPr>
              <a:t>08</a:t>
            </a:r>
            <a:r>
              <a:rPr lang="zh-CN" altLang="en-US" sz="2400" dirty="0" smtClean="0">
                <a:solidFill>
                  <a:srgbClr val="FF0000"/>
                </a:solidFill>
              </a:rPr>
              <a:t>周  周六 </a:t>
            </a: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09:00-12:00 14:00-16:15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</a:rPr>
              <a:t>11</a:t>
            </a:r>
            <a:r>
              <a:rPr lang="zh-CN" altLang="en-US" sz="2400" dirty="0" smtClean="0">
                <a:solidFill>
                  <a:srgbClr val="FF0000"/>
                </a:solidFill>
              </a:rPr>
              <a:t>周  周四 </a:t>
            </a:r>
            <a:r>
              <a:rPr lang="en-US" altLang="zh-CN" sz="2400" dirty="0" smtClean="0">
                <a:solidFill>
                  <a:srgbClr val="FF0000"/>
                </a:solidFill>
              </a:rPr>
              <a:t>14:00-18:00 19:00-20:15 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</a:rPr>
              <a:t>12</a:t>
            </a:r>
            <a:r>
              <a:rPr lang="zh-CN" altLang="en-US" sz="2400" dirty="0" smtClean="0">
                <a:solidFill>
                  <a:srgbClr val="FF0000"/>
                </a:solidFill>
              </a:rPr>
              <a:t>周  周六 </a:t>
            </a:r>
            <a:r>
              <a:rPr lang="en-US" altLang="zh-CN" sz="2400" dirty="0" smtClean="0">
                <a:solidFill>
                  <a:srgbClr val="FF0000"/>
                </a:solidFill>
              </a:rPr>
              <a:t>09:00-12:00 14:00-16:15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</a:rPr>
              <a:t>13</a:t>
            </a:r>
            <a:r>
              <a:rPr lang="zh-CN" altLang="en-US" sz="2400" dirty="0" smtClean="0">
                <a:solidFill>
                  <a:srgbClr val="FF0000"/>
                </a:solidFill>
              </a:rPr>
              <a:t>周  周六 </a:t>
            </a:r>
            <a:r>
              <a:rPr lang="en-US" altLang="zh-CN" sz="2400" dirty="0">
                <a:solidFill>
                  <a:srgbClr val="FF0000"/>
                </a:solidFill>
              </a:rPr>
              <a:t>09:00-12:00 14:00-16:15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</a:rPr>
              <a:t>14</a:t>
            </a:r>
            <a:r>
              <a:rPr lang="zh-CN" altLang="en-US" sz="2400" dirty="0" smtClean="0">
                <a:solidFill>
                  <a:srgbClr val="FF0000"/>
                </a:solidFill>
              </a:rPr>
              <a:t>周  周六 </a:t>
            </a:r>
            <a:r>
              <a:rPr lang="en-US" altLang="zh-CN" sz="2400" dirty="0">
                <a:solidFill>
                  <a:srgbClr val="FF0000"/>
                </a:solidFill>
              </a:rPr>
              <a:t>09:00-12:00 </a:t>
            </a:r>
            <a:r>
              <a:rPr lang="en-US" altLang="zh-CN" sz="2400" dirty="0" smtClean="0">
                <a:solidFill>
                  <a:srgbClr val="FF0000"/>
                </a:solidFill>
              </a:rPr>
              <a:t>14:00-16:15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</a:rPr>
              <a:t>16</a:t>
            </a:r>
            <a:r>
              <a:rPr lang="zh-CN" altLang="en-US" sz="2400" dirty="0" smtClean="0">
                <a:solidFill>
                  <a:srgbClr val="FF0000"/>
                </a:solidFill>
              </a:rPr>
              <a:t>周  周四 </a:t>
            </a:r>
            <a:r>
              <a:rPr lang="en-US" altLang="zh-CN" sz="2400" dirty="0" smtClean="0">
                <a:solidFill>
                  <a:srgbClr val="FF0000"/>
                </a:solidFill>
              </a:rPr>
              <a:t>14:00-18:00 19:00-20:15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H3C</a:t>
            </a:r>
            <a:r>
              <a:rPr lang="zh-CN" altLang="en-US" dirty="0" smtClean="0"/>
              <a:t>设备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H3C</a:t>
            </a:r>
            <a:r>
              <a:rPr lang="zh-CN" altLang="en-US" dirty="0" smtClean="0"/>
              <a:t>实验设备都在</a:t>
            </a:r>
            <a:r>
              <a:rPr lang="en-US" altLang="zh-CN" dirty="0" smtClean="0"/>
              <a:t>E</a:t>
            </a:r>
            <a:r>
              <a:rPr lang="zh-CN" altLang="en-US" dirty="0" smtClean="0"/>
              <a:t>楼</a:t>
            </a:r>
            <a:r>
              <a:rPr lang="en-US" altLang="zh-CN" dirty="0" smtClean="0"/>
              <a:t>III</a:t>
            </a:r>
            <a:r>
              <a:rPr lang="zh-CN" altLang="en-US" dirty="0" smtClean="0"/>
              <a:t>区</a:t>
            </a:r>
            <a:r>
              <a:rPr lang="en-US" altLang="zh-CN" dirty="0" smtClean="0"/>
              <a:t>508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20</a:t>
            </a:r>
            <a:r>
              <a:rPr lang="zh-CN" altLang="en-US" dirty="0" smtClean="0"/>
              <a:t>套设备，需要按班级进行实验，请注意时间安排。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2" t="566" r="5682" b="10629"/>
          <a:stretch>
            <a:fillRect/>
          </a:stretch>
        </p:blipFill>
        <p:spPr bwMode="auto">
          <a:xfrm>
            <a:off x="2988618" y="2964387"/>
            <a:ext cx="2682917" cy="130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5" r="11908" b="41624"/>
          <a:stretch>
            <a:fillRect/>
          </a:stretch>
        </p:blipFill>
        <p:spPr bwMode="auto">
          <a:xfrm>
            <a:off x="126787" y="3668741"/>
            <a:ext cx="2645805" cy="56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6" b="40044"/>
          <a:stretch>
            <a:fillRect/>
          </a:stretch>
        </p:blipFill>
        <p:spPr bwMode="auto">
          <a:xfrm>
            <a:off x="457280" y="2889496"/>
            <a:ext cx="2144649" cy="63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7" b="41444"/>
          <a:stretch>
            <a:fillRect/>
          </a:stretch>
        </p:blipFill>
        <p:spPr bwMode="auto">
          <a:xfrm>
            <a:off x="5887561" y="3169528"/>
            <a:ext cx="3013864" cy="896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参考书目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8738" y="1063557"/>
            <a:ext cx="4619571" cy="3532484"/>
          </a:xfrm>
        </p:spPr>
        <p:txBody>
          <a:bodyPr/>
          <a:lstStyle/>
          <a:p>
            <a:r>
              <a:rPr lang="zh-CN" altLang="en-US" dirty="0" smtClean="0"/>
              <a:t>模拟器实验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《</a:t>
            </a:r>
            <a:r>
              <a:rPr lang="zh-CN" altLang="en-US" dirty="0" smtClean="0"/>
              <a:t>网络安全实验教程</a:t>
            </a:r>
            <a:r>
              <a:rPr lang="en-US" altLang="zh-CN" dirty="0" smtClean="0"/>
              <a:t>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清华大学出版社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沈鑫剑等编著</a:t>
            </a:r>
            <a:endParaRPr lang="en-US" altLang="zh-CN" dirty="0" smtClean="0"/>
          </a:p>
          <a:p>
            <a:r>
              <a:rPr lang="en-US" altLang="zh-CN" dirty="0" smtClean="0"/>
              <a:t>H3C</a:t>
            </a:r>
            <a:r>
              <a:rPr lang="zh-CN" altLang="en-US" dirty="0" smtClean="0"/>
              <a:t>实验有相关资料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370" y="1276400"/>
            <a:ext cx="2466776" cy="35292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考核方式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实验报告：</a:t>
            </a:r>
            <a:r>
              <a:rPr lang="en-US" altLang="zh-CN" dirty="0" smtClean="0"/>
              <a:t>80%</a:t>
            </a:r>
            <a:endParaRPr lang="en-US" altLang="zh-CN" dirty="0" smtClean="0"/>
          </a:p>
          <a:p>
            <a:r>
              <a:rPr lang="zh-CN" altLang="en-US" dirty="0" smtClean="0"/>
              <a:t>验收：</a:t>
            </a:r>
            <a:r>
              <a:rPr lang="en-US" altLang="zh-CN" dirty="0" smtClean="0"/>
              <a:t>20%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线上实验基础</a:t>
            </a:r>
            <a:r>
              <a:rPr lang="en-US" altLang="zh-CN" dirty="0" smtClean="0"/>
              <a:t>-Packet Tracer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314" y="1072037"/>
            <a:ext cx="8231029" cy="3741235"/>
          </a:xfrm>
        </p:spPr>
        <p:txBody>
          <a:bodyPr/>
          <a:lstStyle/>
          <a:p>
            <a:r>
              <a:rPr lang="zh-CN" altLang="en-US" dirty="0"/>
              <a:t>用户</a:t>
            </a:r>
            <a:r>
              <a:rPr lang="zh-CN" altLang="en-US" dirty="0" smtClean="0"/>
              <a:t>界面</a:t>
            </a:r>
            <a:endParaRPr lang="en-US" altLang="zh-CN" dirty="0" smtClean="0"/>
          </a:p>
          <a:p>
            <a:pPr marL="363220" lvl="1" indent="0">
              <a:buNone/>
            </a:pPr>
            <a:r>
              <a:rPr lang="zh-CN" altLang="en-US" sz="2000" dirty="0"/>
              <a:t>菜单</a:t>
            </a:r>
            <a:r>
              <a:rPr lang="zh-CN" altLang="en-US" sz="2000" dirty="0" smtClean="0"/>
              <a:t>栏、主工具栏、公共工具栏、</a:t>
            </a:r>
            <a:endParaRPr lang="en-US" altLang="zh-CN" sz="2000" dirty="0" smtClean="0"/>
          </a:p>
          <a:p>
            <a:pPr marL="363220" lvl="1" indent="0">
              <a:buNone/>
            </a:pPr>
            <a:r>
              <a:rPr lang="zh-CN" altLang="en-US" sz="2000" dirty="0" smtClean="0"/>
              <a:t>工作区、工作区选择栏、模式选择栏</a:t>
            </a:r>
            <a:endParaRPr lang="en-US" altLang="zh-CN" sz="2000" dirty="0" smtClean="0"/>
          </a:p>
          <a:p>
            <a:r>
              <a:rPr lang="zh-CN" altLang="en-US" dirty="0"/>
              <a:t>工作</a:t>
            </a:r>
            <a:r>
              <a:rPr lang="zh-CN" altLang="en-US" dirty="0" smtClean="0"/>
              <a:t>区分</a:t>
            </a:r>
            <a:r>
              <a:rPr lang="zh-CN" altLang="en-US" dirty="0" smtClean="0"/>
              <a:t>类：</a:t>
            </a:r>
            <a:r>
              <a:rPr lang="zh-CN" altLang="en-US" sz="2000" dirty="0" smtClean="0"/>
              <a:t>逻辑工作区、物理工作区</a:t>
            </a:r>
            <a:endParaRPr lang="en-US" altLang="zh-CN" sz="2000" dirty="0" smtClean="0"/>
          </a:p>
          <a:p>
            <a:r>
              <a:rPr lang="zh-CN" altLang="en-US" dirty="0" smtClean="0"/>
              <a:t>操作</a:t>
            </a:r>
            <a:r>
              <a:rPr lang="zh-CN" altLang="en-US" dirty="0" smtClean="0"/>
              <a:t>模式：</a:t>
            </a:r>
            <a:r>
              <a:rPr lang="zh-CN" altLang="en-US" sz="2000" dirty="0" smtClean="0"/>
              <a:t>实时操作模式、模拟操作模式</a:t>
            </a:r>
            <a:endParaRPr lang="en-US" altLang="zh-CN" sz="20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922" y="1063557"/>
            <a:ext cx="3332833" cy="2697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线上实验基础</a:t>
            </a:r>
            <a:r>
              <a:rPr lang="en-US" altLang="zh-CN" dirty="0" smtClean="0"/>
              <a:t>-Packet Tracer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768" y="916360"/>
            <a:ext cx="8231029" cy="3741235"/>
          </a:xfrm>
        </p:spPr>
        <p:txBody>
          <a:bodyPr/>
          <a:lstStyle/>
          <a:p>
            <a:r>
              <a:rPr lang="zh-CN" altLang="en-US" dirty="0" smtClean="0"/>
              <a:t>设备</a:t>
            </a:r>
            <a:r>
              <a:rPr lang="zh-CN" altLang="en-US" dirty="0" smtClean="0"/>
              <a:t>类型和配置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 lvl="1"/>
            <a:r>
              <a:rPr lang="zh-CN" altLang="en-US" sz="2000" dirty="0" smtClean="0"/>
              <a:t>物理配置选项（</a:t>
            </a:r>
            <a:r>
              <a:rPr lang="en-US" altLang="zh-CN" sz="2000" dirty="0" smtClean="0"/>
              <a:t>physical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图形接口配置选项（</a:t>
            </a:r>
            <a:r>
              <a:rPr lang="en-US" altLang="zh-CN" sz="2000" dirty="0" err="1" smtClean="0"/>
              <a:t>config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命令行接口配置选项（</a:t>
            </a:r>
            <a:r>
              <a:rPr lang="en-US" altLang="zh-CN" sz="2000" dirty="0" smtClean="0"/>
              <a:t>CLI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065" y="3153671"/>
            <a:ext cx="2257631" cy="19914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26" y="3153671"/>
            <a:ext cx="2257631" cy="199141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426" y="3153671"/>
            <a:ext cx="2283727" cy="20144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线上实验基础</a:t>
            </a:r>
            <a:r>
              <a:rPr lang="en-US" altLang="zh-CN" dirty="0" smtClean="0"/>
              <a:t>——IOS</a:t>
            </a:r>
            <a:r>
              <a:rPr lang="zh-CN" altLang="en-US" dirty="0" smtClean="0"/>
              <a:t>命令模式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0" y="988368"/>
            <a:ext cx="8231029" cy="3960440"/>
          </a:xfrm>
        </p:spPr>
        <p:txBody>
          <a:bodyPr/>
          <a:lstStyle/>
          <a:p>
            <a:r>
              <a:rPr lang="zh-CN" altLang="en-US" sz="2400" dirty="0" smtClean="0"/>
              <a:t>如果将</a:t>
            </a:r>
            <a:r>
              <a:rPr lang="en-US" altLang="zh-CN" sz="2400" dirty="0" smtClean="0"/>
              <a:t>Cisco</a:t>
            </a:r>
            <a:r>
              <a:rPr lang="zh-CN" altLang="en-US" sz="2400" dirty="0" smtClean="0"/>
              <a:t>设备看做计算机系统，其核心系统软件时互联网操作系统</a:t>
            </a:r>
            <a:r>
              <a:rPr lang="en-US" altLang="zh-CN" sz="2400" dirty="0" smtClean="0"/>
              <a:t>IOS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en-US" altLang="zh-CN" sz="2400" dirty="0" smtClean="0"/>
              <a:t>IOS</a:t>
            </a:r>
            <a:r>
              <a:rPr lang="zh-CN" altLang="en-US" sz="2400" dirty="0" smtClean="0"/>
              <a:t>用户界面是命令行接口界面，用户通过输入命令实现对网络设备的配置和管理。</a:t>
            </a:r>
            <a:endParaRPr lang="en-US" altLang="zh-CN" sz="2400" dirty="0" smtClean="0"/>
          </a:p>
          <a:p>
            <a:pPr lvl="1"/>
            <a:r>
              <a:rPr lang="zh-CN" altLang="en-US" sz="2000" dirty="0"/>
              <a:t>三</a:t>
            </a:r>
            <a:r>
              <a:rPr lang="zh-CN" altLang="en-US" sz="2000" dirty="0" smtClean="0"/>
              <a:t>种命令行模式对应不同权限：用户模式、特权模式、全局</a:t>
            </a:r>
            <a:r>
              <a:rPr lang="zh-CN" altLang="en-US" sz="2000" dirty="0" smtClean="0"/>
              <a:t>模式</a:t>
            </a:r>
            <a:endParaRPr lang="en-US" altLang="zh-CN" sz="2000" dirty="0" smtClean="0"/>
          </a:p>
          <a:p>
            <a:pPr lvl="1"/>
            <a:r>
              <a:rPr lang="en-US" altLang="zh-CN" sz="1700" dirty="0" smtClean="0"/>
              <a:t>IOS</a:t>
            </a:r>
            <a:r>
              <a:rPr lang="zh-CN" altLang="en-US" sz="1700" dirty="0" smtClean="0"/>
              <a:t>帮助</a:t>
            </a:r>
            <a:r>
              <a:rPr lang="zh-CN" altLang="en-US" sz="1700" dirty="0" smtClean="0"/>
              <a:t>工具：？</a:t>
            </a:r>
            <a:endParaRPr lang="en-US" altLang="zh-CN" sz="1700" dirty="0" smtClean="0"/>
          </a:p>
          <a:p>
            <a:pPr lvl="1"/>
            <a:r>
              <a:rPr lang="zh-CN" altLang="en-US" sz="1700" dirty="0"/>
              <a:t>取消</a:t>
            </a:r>
            <a:r>
              <a:rPr lang="zh-CN" altLang="en-US" sz="1700" dirty="0" smtClean="0"/>
              <a:t>命令</a:t>
            </a:r>
            <a:r>
              <a:rPr lang="zh-CN" altLang="en-US" sz="1700" dirty="0" smtClean="0"/>
              <a:t>过程：</a:t>
            </a:r>
            <a:r>
              <a:rPr lang="en-US" altLang="zh-CN" sz="1700" dirty="0" smtClean="0"/>
              <a:t>no</a:t>
            </a:r>
            <a:endParaRPr lang="zh-CN" alt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340663"/>
            <a:ext cx="8231029" cy="857514"/>
          </a:xfrm>
        </p:spPr>
        <p:txBody>
          <a:bodyPr/>
          <a:lstStyle/>
          <a:p>
            <a:r>
              <a:rPr lang="zh-CN" altLang="en-US" dirty="0" smtClean="0"/>
              <a:t>本次实验任务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网络攻击实验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集线器和嗅探攻击实验</a:t>
            </a:r>
            <a:endParaRPr lang="en-US" altLang="zh-CN" dirty="0" smtClean="0"/>
          </a:p>
          <a:p>
            <a:r>
              <a:rPr lang="en-US" altLang="zh-CN" dirty="0" smtClean="0"/>
              <a:t>MAC</a:t>
            </a:r>
            <a:r>
              <a:rPr lang="zh-CN" altLang="en-US" dirty="0" smtClean="0"/>
              <a:t>地址欺骗攻击实验</a:t>
            </a:r>
            <a:endParaRPr lang="en-US" altLang="zh-CN" dirty="0" smtClean="0"/>
          </a:p>
          <a:p>
            <a:r>
              <a:rPr lang="zh-CN" altLang="en-US" dirty="0" smtClean="0"/>
              <a:t>钓鱼网站实验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集线器和嗅探攻击实验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314" y="3349557"/>
            <a:ext cx="8712968" cy="2171384"/>
          </a:xfrm>
        </p:spPr>
        <p:txBody>
          <a:bodyPr/>
          <a:lstStyle/>
          <a:p>
            <a:r>
              <a:rPr lang="zh-CN" altLang="en-US" sz="1400" dirty="0" smtClean="0"/>
              <a:t>正常情况下，</a:t>
            </a:r>
            <a:r>
              <a:rPr lang="zh-CN" altLang="zh-CN" sz="1400" dirty="0"/>
              <a:t>终端</a:t>
            </a:r>
            <a:r>
              <a:rPr lang="en-US" altLang="zh-CN" sz="1400" dirty="0"/>
              <a:t>A</a:t>
            </a:r>
            <a:r>
              <a:rPr lang="zh-CN" altLang="zh-CN" sz="1400" dirty="0"/>
              <a:t>和终端</a:t>
            </a:r>
            <a:r>
              <a:rPr lang="en-US" altLang="zh-CN" sz="1400" dirty="0"/>
              <a:t>B</a:t>
            </a:r>
            <a:r>
              <a:rPr lang="zh-CN" altLang="zh-CN" sz="1400" dirty="0"/>
              <a:t>连接在交换机上，交换机和路由器相连，终端</a:t>
            </a:r>
            <a:r>
              <a:rPr lang="en-US" altLang="zh-CN" sz="1400" dirty="0"/>
              <a:t>A</a:t>
            </a:r>
            <a:r>
              <a:rPr lang="zh-CN" altLang="zh-CN" sz="1400" dirty="0"/>
              <a:t>和终端</a:t>
            </a:r>
            <a:r>
              <a:rPr lang="en-US" altLang="zh-CN" sz="1400" dirty="0"/>
              <a:t>B</a:t>
            </a:r>
            <a:r>
              <a:rPr lang="zh-CN" altLang="zh-CN" sz="1400" dirty="0"/>
              <a:t>可以通过交换机向路由器发送</a:t>
            </a:r>
            <a:r>
              <a:rPr lang="en-US" altLang="zh-CN" sz="1400" dirty="0"/>
              <a:t> MAC</a:t>
            </a:r>
            <a:r>
              <a:rPr lang="zh-CN" altLang="zh-CN" sz="1400" dirty="0" smtClean="0"/>
              <a:t>帧</a:t>
            </a:r>
            <a:r>
              <a:rPr lang="zh-CN" altLang="en-US" sz="1400" dirty="0" smtClean="0"/>
              <a:t>，如左图所示</a:t>
            </a:r>
            <a:r>
              <a:rPr lang="zh-CN" altLang="zh-CN" sz="1400" dirty="0" smtClean="0"/>
              <a:t>。</a:t>
            </a:r>
            <a:endParaRPr lang="en-US" altLang="zh-CN" sz="1400" dirty="0" smtClean="0"/>
          </a:p>
          <a:p>
            <a:r>
              <a:rPr lang="zh-CN" altLang="zh-CN" sz="1400" dirty="0"/>
              <a:t>如果黑客需要嗅探终端</a:t>
            </a:r>
            <a:r>
              <a:rPr lang="en-US" altLang="zh-CN" sz="1400" dirty="0"/>
              <a:t>A</a:t>
            </a:r>
            <a:r>
              <a:rPr lang="zh-CN" altLang="zh-CN" sz="1400" dirty="0"/>
              <a:t>和终端</a:t>
            </a:r>
            <a:r>
              <a:rPr lang="en-US" altLang="zh-CN" sz="1400" dirty="0"/>
              <a:t>B</a:t>
            </a:r>
            <a:r>
              <a:rPr lang="zh-CN" altLang="zh-CN" sz="1400" dirty="0"/>
              <a:t>发送给路由器的</a:t>
            </a:r>
            <a:r>
              <a:rPr lang="en-US" altLang="zh-CN" sz="1400" dirty="0"/>
              <a:t>MAC</a:t>
            </a:r>
            <a:r>
              <a:rPr lang="zh-CN" altLang="zh-CN" sz="1400" dirty="0"/>
              <a:t>帧，</a:t>
            </a:r>
            <a:r>
              <a:rPr lang="zh-CN" altLang="zh-CN" sz="1400" dirty="0" smtClean="0"/>
              <a:t>可在</a:t>
            </a:r>
            <a:r>
              <a:rPr lang="zh-CN" altLang="zh-CN" sz="1400" dirty="0"/>
              <a:t>路由器和交换机之间插入一个集线器，并在集线器上连接一个黑客终端，</a:t>
            </a:r>
            <a:r>
              <a:rPr lang="zh-CN" altLang="zh-CN" sz="1400" dirty="0" smtClean="0"/>
              <a:t>如</a:t>
            </a:r>
            <a:r>
              <a:rPr lang="zh-CN" altLang="en-US" sz="1400" dirty="0" smtClean="0"/>
              <a:t>右图</a:t>
            </a:r>
            <a:r>
              <a:rPr lang="zh-CN" altLang="zh-CN" sz="1400" dirty="0" smtClean="0"/>
              <a:t>所示，</a:t>
            </a:r>
            <a:r>
              <a:rPr lang="zh-CN" altLang="zh-CN" sz="1400" dirty="0"/>
              <a:t>黑客终端可以嗅探所有终端</a:t>
            </a:r>
            <a:r>
              <a:rPr lang="en-US" altLang="zh-CN" sz="1400" dirty="0"/>
              <a:t>A</a:t>
            </a:r>
            <a:r>
              <a:rPr lang="zh-CN" altLang="zh-CN" sz="1400" dirty="0"/>
              <a:t>和终端</a:t>
            </a:r>
            <a:r>
              <a:rPr lang="en-US" altLang="zh-CN" sz="1400" dirty="0"/>
              <a:t>B</a:t>
            </a:r>
            <a:r>
              <a:rPr lang="zh-CN" altLang="zh-CN" sz="1400" dirty="0"/>
              <a:t>与路由器之间传输的</a:t>
            </a:r>
            <a:r>
              <a:rPr lang="en-US" altLang="zh-CN" sz="1400" dirty="0"/>
              <a:t>MAC</a:t>
            </a:r>
            <a:r>
              <a:rPr lang="zh-CN" altLang="zh-CN" sz="1400" dirty="0"/>
              <a:t>帧。</a:t>
            </a:r>
            <a:endParaRPr lang="zh-CN" altLang="en-US" sz="1400" dirty="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620466" y="1063557"/>
            <a:ext cx="4464496" cy="20850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集线器和嗅探攻击实验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0" y="1055055"/>
            <a:ext cx="8291979" cy="4300736"/>
          </a:xfrm>
        </p:spPr>
        <p:txBody>
          <a:bodyPr/>
          <a:lstStyle/>
          <a:p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验证利用集线器实施嗅探攻击的过程。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验证嗅探攻击不会影响正常的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帧传输过程。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验证嗅探攻击对于源和目的终端是透明的。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MAC</a:t>
            </a:r>
            <a:r>
              <a:rPr lang="zh-CN" altLang="en-US" dirty="0" smtClean="0"/>
              <a:t>地址欺骗攻击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549" y="3288338"/>
            <a:ext cx="8579733" cy="2239521"/>
          </a:xfrm>
        </p:spPr>
        <p:txBody>
          <a:bodyPr/>
          <a:lstStyle/>
          <a:p>
            <a:r>
              <a:rPr lang="zh-CN" altLang="zh-CN" sz="1600" dirty="0"/>
              <a:t>交换机建立完整转发表后，终端</a:t>
            </a:r>
            <a:r>
              <a:rPr lang="en-US" altLang="zh-CN" sz="1600" dirty="0"/>
              <a:t>B</a:t>
            </a:r>
            <a:r>
              <a:rPr lang="zh-CN" altLang="zh-CN" sz="1600" dirty="0"/>
              <a:t>发送给终端</a:t>
            </a:r>
            <a:r>
              <a:rPr lang="en-US" altLang="zh-CN" sz="1600" dirty="0"/>
              <a:t>A</a:t>
            </a:r>
            <a:r>
              <a:rPr lang="zh-CN" altLang="zh-CN" sz="1600" dirty="0"/>
              <a:t>的</a:t>
            </a:r>
            <a:r>
              <a:rPr lang="en-US" altLang="zh-CN" sz="1600" dirty="0"/>
              <a:t> MAC</a:t>
            </a:r>
            <a:r>
              <a:rPr lang="zh-CN" altLang="zh-CN" sz="1600" dirty="0"/>
              <a:t>帧只到达终端</a:t>
            </a:r>
            <a:r>
              <a:rPr lang="en-US" altLang="zh-CN" sz="1600" dirty="0"/>
              <a:t>A</a:t>
            </a:r>
            <a:r>
              <a:rPr lang="zh-CN" altLang="zh-CN" sz="1600" dirty="0" smtClean="0"/>
              <a:t>。</a:t>
            </a:r>
            <a:endParaRPr lang="en-US" altLang="zh-CN" sz="1600" dirty="0" smtClean="0"/>
          </a:p>
          <a:p>
            <a:r>
              <a:rPr lang="zh-CN" altLang="zh-CN" sz="1600" dirty="0" smtClean="0"/>
              <a:t>如果</a:t>
            </a:r>
            <a:r>
              <a:rPr lang="zh-CN" altLang="zh-CN" sz="1600" dirty="0"/>
              <a:t>终端</a:t>
            </a:r>
            <a:r>
              <a:rPr lang="en-US" altLang="zh-CN" sz="1600" dirty="0"/>
              <a:t>C</a:t>
            </a:r>
            <a:r>
              <a:rPr lang="zh-CN" altLang="zh-CN" sz="1600" dirty="0"/>
              <a:t>将自己的</a:t>
            </a:r>
            <a:r>
              <a:rPr lang="en-US" altLang="zh-CN" sz="1600" dirty="0"/>
              <a:t>MAC</a:t>
            </a:r>
            <a:r>
              <a:rPr lang="zh-CN" altLang="zh-CN" sz="1600" dirty="0"/>
              <a:t>地址改为终端</a:t>
            </a:r>
            <a:r>
              <a:rPr lang="en-US" altLang="zh-CN" sz="1600" dirty="0"/>
              <a:t>A</a:t>
            </a:r>
            <a:r>
              <a:rPr lang="zh-CN" altLang="zh-CN" sz="1600" dirty="0"/>
              <a:t>的</a:t>
            </a:r>
            <a:r>
              <a:rPr lang="en-US" altLang="zh-CN" sz="1600" dirty="0"/>
              <a:t>MAC</a:t>
            </a:r>
            <a:r>
              <a:rPr lang="zh-CN" altLang="zh-CN" sz="1600" dirty="0"/>
              <a:t>地址</a:t>
            </a:r>
            <a:r>
              <a:rPr lang="en-US" altLang="zh-CN" sz="1600" dirty="0"/>
              <a:t>MAC A</a:t>
            </a:r>
            <a:r>
              <a:rPr lang="zh-CN" altLang="zh-CN" sz="1600" dirty="0"/>
              <a:t>，且向终端</a:t>
            </a:r>
            <a:r>
              <a:rPr lang="en-US" altLang="zh-CN" sz="1600" dirty="0"/>
              <a:t>B</a:t>
            </a:r>
            <a:r>
              <a:rPr lang="zh-CN" altLang="zh-CN" sz="1600" dirty="0"/>
              <a:t>发送一帧</a:t>
            </a:r>
            <a:r>
              <a:rPr lang="en-US" altLang="zh-CN" sz="1600" dirty="0"/>
              <a:t>MAC</a:t>
            </a:r>
            <a:r>
              <a:rPr lang="zh-CN" altLang="zh-CN" sz="1600" dirty="0" smtClean="0"/>
              <a:t>帧，则终端</a:t>
            </a:r>
            <a:r>
              <a:rPr lang="en-US" altLang="zh-CN" sz="1600" dirty="0" smtClean="0"/>
              <a:t>B</a:t>
            </a:r>
            <a:r>
              <a:rPr lang="zh-CN" altLang="zh-CN" sz="1600" dirty="0" smtClean="0"/>
              <a:t>再向终端</a:t>
            </a:r>
            <a:r>
              <a:rPr lang="en-US" altLang="zh-CN" sz="1600" dirty="0" smtClean="0"/>
              <a:t>A</a:t>
            </a:r>
            <a:r>
              <a:rPr lang="zh-CN" altLang="zh-CN" sz="1600" dirty="0" smtClean="0"/>
              <a:t>发送</a:t>
            </a:r>
            <a:r>
              <a:rPr lang="en-US" altLang="zh-CN" sz="1600" dirty="0" smtClean="0"/>
              <a:t>MAC</a:t>
            </a:r>
            <a:r>
              <a:rPr lang="zh-CN" altLang="zh-CN" sz="1600" dirty="0" smtClean="0"/>
              <a:t>帧时，终端</a:t>
            </a:r>
            <a:r>
              <a:rPr lang="en-US" altLang="zh-CN" sz="1600" dirty="0" smtClean="0"/>
              <a:t>B</a:t>
            </a:r>
            <a:r>
              <a:rPr lang="zh-CN" altLang="zh-CN" sz="1600" dirty="0" smtClean="0"/>
              <a:t>发送给终端</a:t>
            </a:r>
            <a:r>
              <a:rPr lang="en-US" altLang="zh-CN" sz="1600" dirty="0" smtClean="0"/>
              <a:t>A</a:t>
            </a:r>
            <a:r>
              <a:rPr lang="zh-CN" altLang="zh-CN" sz="1600" dirty="0" smtClean="0"/>
              <a:t>的</a:t>
            </a:r>
            <a:r>
              <a:rPr lang="en-US" altLang="zh-CN" sz="1600" dirty="0" smtClean="0"/>
              <a:t> MAC</a:t>
            </a:r>
            <a:r>
              <a:rPr lang="zh-CN" altLang="zh-CN" sz="1600" dirty="0" smtClean="0"/>
              <a:t>帧不是到达终端</a:t>
            </a:r>
            <a:r>
              <a:rPr lang="en-US" altLang="zh-CN" sz="1600" dirty="0" smtClean="0"/>
              <a:t>A</a:t>
            </a:r>
            <a:r>
              <a:rPr lang="zh-CN" altLang="zh-CN" sz="1600" dirty="0" smtClean="0"/>
              <a:t>，而是到达终端</a:t>
            </a:r>
            <a:r>
              <a:rPr lang="en-US" altLang="zh-CN" sz="1600" dirty="0" smtClean="0"/>
              <a:t>C</a:t>
            </a:r>
            <a:r>
              <a:rPr lang="zh-CN" altLang="zh-CN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注意：交换机转发表的改变</a:t>
            </a:r>
            <a:endParaRPr lang="zh-CN" altLang="en-US" sz="1600" dirty="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772594" y="988368"/>
            <a:ext cx="3240360" cy="2160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MAC</a:t>
            </a:r>
            <a:r>
              <a:rPr lang="zh-CN" altLang="en-US" dirty="0" smtClean="0"/>
              <a:t>地址欺骗攻击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验证交换机建立</a:t>
            </a:r>
            <a:r>
              <a:rPr lang="en-US" altLang="zh-CN" dirty="0" smtClean="0"/>
              <a:t>MAC</a:t>
            </a:r>
            <a:r>
              <a:rPr lang="zh-CN" altLang="en-US" dirty="0" smtClean="0"/>
              <a:t>表（转发表）过程。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验证交换机转发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帧机制。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验证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地址欺骗攻击原理。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掌握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地址欺骗攻击过程。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钓鱼网站实验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314" y="3893623"/>
            <a:ext cx="8712968" cy="1224136"/>
          </a:xfrm>
        </p:spPr>
        <p:txBody>
          <a:bodyPr/>
          <a:lstStyle/>
          <a:p>
            <a:r>
              <a:rPr lang="zh-CN" altLang="zh-CN" sz="1600" dirty="0"/>
              <a:t>正确情况下，终端应该从</a:t>
            </a:r>
            <a:r>
              <a:rPr lang="en-US" altLang="zh-CN" sz="1600" dirty="0"/>
              <a:t>DHCP</a:t>
            </a:r>
            <a:r>
              <a:rPr lang="zh-CN" altLang="zh-CN" sz="1600" dirty="0"/>
              <a:t>服务器获取正确的域名系统</a:t>
            </a:r>
            <a:r>
              <a:rPr lang="en-US" altLang="zh-CN" sz="1600" dirty="0"/>
              <a:t>(Domain Name System</a:t>
            </a:r>
            <a:r>
              <a:rPr lang="zh-CN" altLang="zh-CN" sz="1600" dirty="0"/>
              <a:t>，</a:t>
            </a:r>
            <a:r>
              <a:rPr lang="en-US" altLang="zh-CN" sz="1600" dirty="0"/>
              <a:t> DNS)</a:t>
            </a:r>
            <a:r>
              <a:rPr lang="zh-CN" altLang="zh-CN" sz="1600" dirty="0"/>
              <a:t>服务器地址</a:t>
            </a:r>
            <a:r>
              <a:rPr lang="en-US" altLang="zh-CN" sz="1600" dirty="0"/>
              <a:t>192.1.2.7</a:t>
            </a:r>
            <a:r>
              <a:rPr lang="zh-CN" altLang="zh-CN" sz="1600" dirty="0"/>
              <a:t>，通过正确的</a:t>
            </a:r>
            <a:r>
              <a:rPr lang="en-US" altLang="zh-CN" sz="1600" dirty="0"/>
              <a:t>DNS</a:t>
            </a:r>
            <a:r>
              <a:rPr lang="zh-CN" altLang="zh-CN" sz="1600" dirty="0"/>
              <a:t>服务器解析完全合格的域名</a:t>
            </a:r>
            <a:r>
              <a:rPr lang="en-US" altLang="zh-CN" sz="1600" dirty="0"/>
              <a:t> www.bank.com</a:t>
            </a:r>
            <a:r>
              <a:rPr lang="zh-CN" altLang="zh-CN" sz="1600" dirty="0" smtClean="0"/>
              <a:t>，</a:t>
            </a:r>
            <a:r>
              <a:rPr lang="zh-CN" altLang="en-US" sz="1600" dirty="0" smtClean="0"/>
              <a:t>其</a:t>
            </a:r>
            <a:r>
              <a:rPr lang="zh-CN" altLang="zh-CN" sz="1600" dirty="0" smtClean="0"/>
              <a:t>得到</a:t>
            </a:r>
            <a:r>
              <a:rPr lang="zh-CN" altLang="zh-CN" sz="1600" dirty="0"/>
              <a:t>的结果是正确的</a:t>
            </a:r>
            <a:r>
              <a:rPr lang="en-US" altLang="zh-CN" sz="1600" dirty="0"/>
              <a:t>Web</a:t>
            </a:r>
            <a:r>
              <a:rPr lang="zh-CN" altLang="zh-CN" sz="1600" dirty="0"/>
              <a:t>服务器地址</a:t>
            </a:r>
            <a:r>
              <a:rPr lang="en-US" altLang="zh-CN" sz="1600" dirty="0"/>
              <a:t>192.1.3.7</a:t>
            </a:r>
            <a:r>
              <a:rPr lang="zh-CN" altLang="zh-CN" sz="1600" dirty="0"/>
              <a:t>。</a:t>
            </a:r>
            <a:endParaRPr lang="zh-CN" altLang="en-US" sz="1600" dirty="0"/>
          </a:p>
        </p:txBody>
      </p:sp>
      <p:pic>
        <p:nvPicPr>
          <p:cNvPr id="4" name="图片 3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8"/>
          <a:stretch>
            <a:fillRect/>
          </a:stretch>
        </p:blipFill>
        <p:spPr bwMode="auto">
          <a:xfrm rot="5400000">
            <a:off x="2984139" y="-1239400"/>
            <a:ext cx="3049270" cy="72167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钓鱼网站实验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314" y="3436640"/>
            <a:ext cx="8712968" cy="1656184"/>
          </a:xfrm>
        </p:spPr>
        <p:txBody>
          <a:bodyPr/>
          <a:lstStyle/>
          <a:p>
            <a:r>
              <a:rPr lang="zh-CN" altLang="zh-CN" sz="1600" dirty="0" smtClean="0"/>
              <a:t>黑客</a:t>
            </a:r>
            <a:r>
              <a:rPr lang="zh-CN" altLang="zh-CN" sz="1600" dirty="0"/>
              <a:t>在网络中接入伪造的</a:t>
            </a:r>
            <a:r>
              <a:rPr lang="en-US" altLang="zh-CN" sz="1600" dirty="0"/>
              <a:t>DHCP</a:t>
            </a:r>
            <a:r>
              <a:rPr lang="zh-CN" altLang="zh-CN" sz="1600" dirty="0"/>
              <a:t>服务器﹑伪造</a:t>
            </a:r>
            <a:r>
              <a:rPr lang="zh-CN" altLang="zh-CN" sz="1600" dirty="0" smtClean="0"/>
              <a:t>的</a:t>
            </a:r>
            <a:r>
              <a:rPr lang="en-US" altLang="zh-CN" sz="1600" dirty="0" smtClean="0"/>
              <a:t>DNS</a:t>
            </a:r>
            <a:r>
              <a:rPr lang="zh-CN" altLang="zh-CN" sz="1600" dirty="0"/>
              <a:t>服务器和伪造</a:t>
            </a:r>
            <a:r>
              <a:rPr lang="zh-CN" altLang="zh-CN" sz="1600" dirty="0" smtClean="0"/>
              <a:t>的</a:t>
            </a:r>
            <a:r>
              <a:rPr lang="en-US" altLang="zh-CN" sz="1600" dirty="0" smtClean="0"/>
              <a:t>Web</a:t>
            </a:r>
            <a:r>
              <a:rPr lang="zh-CN" altLang="zh-CN" sz="1600" dirty="0" smtClean="0"/>
              <a:t>服务器</a:t>
            </a:r>
            <a:r>
              <a:rPr lang="zh-CN" altLang="en-US" sz="1600" dirty="0" smtClean="0"/>
              <a:t>，</a:t>
            </a:r>
            <a:r>
              <a:rPr lang="zh-CN" altLang="zh-CN" sz="1600" dirty="0" smtClean="0"/>
              <a:t>终端</a:t>
            </a:r>
            <a:r>
              <a:rPr lang="zh-CN" altLang="zh-CN" sz="1600" dirty="0"/>
              <a:t>可能从伪造的</a:t>
            </a:r>
            <a:r>
              <a:rPr lang="en-US" altLang="zh-CN" sz="1600" dirty="0"/>
              <a:t>DHCP</a:t>
            </a:r>
            <a:r>
              <a:rPr lang="zh-CN" altLang="zh-CN" sz="1600" dirty="0"/>
              <a:t>服务器获取伪造的</a:t>
            </a:r>
            <a:r>
              <a:rPr lang="en-US" altLang="zh-CN" sz="1600" dirty="0"/>
              <a:t>DNS</a:t>
            </a:r>
            <a:r>
              <a:rPr lang="zh-CN" altLang="zh-CN" sz="1600" dirty="0"/>
              <a:t>服务器地址</a:t>
            </a:r>
            <a:r>
              <a:rPr lang="en-US" altLang="zh-CN" sz="1600" dirty="0" smtClean="0"/>
              <a:t>192.1</a:t>
            </a:r>
            <a:r>
              <a:rPr lang="en-US" altLang="zh-CN" sz="1600" dirty="0"/>
              <a:t>.</a:t>
            </a:r>
            <a:r>
              <a:rPr lang="en-US" altLang="zh-CN" sz="1600" dirty="0" smtClean="0"/>
              <a:t>3.1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zh-CN" sz="1600" dirty="0" smtClean="0"/>
              <a:t>通过</a:t>
            </a:r>
            <a:r>
              <a:rPr lang="zh-CN" altLang="zh-CN" sz="1600" dirty="0"/>
              <a:t>伪造</a:t>
            </a:r>
            <a:r>
              <a:rPr lang="zh-CN" altLang="zh-CN" sz="1600" dirty="0" smtClean="0"/>
              <a:t>的</a:t>
            </a:r>
            <a:r>
              <a:rPr lang="en-US" altLang="zh-CN" sz="1600" dirty="0" smtClean="0"/>
              <a:t>DNS</a:t>
            </a:r>
            <a:r>
              <a:rPr lang="zh-CN" altLang="zh-CN" sz="1600" dirty="0"/>
              <a:t>服务器解析完全合格的域名</a:t>
            </a:r>
            <a:r>
              <a:rPr lang="en-US" altLang="zh-CN" sz="1600" dirty="0"/>
              <a:t>www.bank.com</a:t>
            </a:r>
            <a:r>
              <a:rPr lang="zh-CN" altLang="zh-CN" sz="1600" dirty="0"/>
              <a:t>，得到的结果是伪造的</a:t>
            </a:r>
            <a:r>
              <a:rPr lang="en-US" altLang="zh-CN" sz="1600" dirty="0"/>
              <a:t>Web</a:t>
            </a:r>
            <a:r>
              <a:rPr lang="zh-CN" altLang="zh-CN" sz="1600" dirty="0"/>
              <a:t>服务器地址</a:t>
            </a:r>
            <a:r>
              <a:rPr lang="en-US" altLang="zh-CN" sz="1600" dirty="0" smtClean="0"/>
              <a:t>192.1.2.5,</a:t>
            </a:r>
            <a:r>
              <a:rPr lang="zh-CN" altLang="zh-CN" sz="1600" dirty="0" smtClean="0"/>
              <a:t>导致</a:t>
            </a:r>
            <a:r>
              <a:rPr lang="zh-CN" altLang="zh-CN" sz="1600" dirty="0"/>
              <a:t>用户通过域名</a:t>
            </a:r>
            <a:r>
              <a:rPr lang="en-US" altLang="zh-CN" sz="1600" dirty="0" smtClean="0"/>
              <a:t>www.bank.com</a:t>
            </a:r>
            <a:r>
              <a:rPr lang="zh-CN" altLang="zh-CN" sz="1600" dirty="0" smtClean="0"/>
              <a:t>访问</a:t>
            </a:r>
            <a:r>
              <a:rPr lang="zh-CN" altLang="zh-CN" sz="1600" dirty="0"/>
              <a:t>到伪造的</a:t>
            </a:r>
            <a:r>
              <a:rPr lang="en-US" altLang="zh-CN" sz="1600" dirty="0"/>
              <a:t>Web</a:t>
            </a:r>
            <a:r>
              <a:rPr lang="zh-CN" altLang="zh-CN" sz="1600" dirty="0"/>
              <a:t>服务器。</a:t>
            </a:r>
            <a:endParaRPr lang="zh-CN" altLang="en-US" sz="1600" dirty="0"/>
          </a:p>
        </p:txBody>
      </p:sp>
      <p:pic>
        <p:nvPicPr>
          <p:cNvPr id="4" name="图片 3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8"/>
          <a:stretch>
            <a:fillRect/>
          </a:stretch>
        </p:blipFill>
        <p:spPr bwMode="auto">
          <a:xfrm rot="5400000">
            <a:off x="2793921" y="-934521"/>
            <a:ext cx="2333614" cy="626469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钓鱼网站实验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306" y="1200521"/>
            <a:ext cx="8784976" cy="3395520"/>
          </a:xfrm>
        </p:spPr>
        <p:txBody>
          <a:bodyPr/>
          <a:lstStyle/>
          <a:p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pPr lvl="1"/>
            <a:r>
              <a:rPr lang="zh-CN" altLang="en-US" dirty="0"/>
              <a:t>验证伪造的 </a:t>
            </a:r>
            <a:r>
              <a:rPr lang="en-US" altLang="zh-CN" dirty="0"/>
              <a:t>DHCP </a:t>
            </a:r>
            <a:r>
              <a:rPr lang="zh-CN" altLang="en-US" dirty="0"/>
              <a:t>服务器为终端提供网络信息配置服务的过程。 </a:t>
            </a:r>
            <a:endParaRPr lang="zh-CN" altLang="en-US" dirty="0"/>
          </a:p>
          <a:p>
            <a:pPr lvl="1"/>
            <a:r>
              <a:rPr lang="zh-CN" altLang="en-US" dirty="0" smtClean="0"/>
              <a:t>验证</a:t>
            </a:r>
            <a:r>
              <a:rPr lang="zh-CN" altLang="en-US" dirty="0"/>
              <a:t>错误的本地域名服务器地址造成的后果。 </a:t>
            </a:r>
            <a:endParaRPr lang="zh-CN" altLang="en-US" dirty="0"/>
          </a:p>
          <a:p>
            <a:pPr lvl="1"/>
            <a:r>
              <a:rPr lang="zh-CN" altLang="en-US" dirty="0" smtClean="0"/>
              <a:t>验证</a:t>
            </a:r>
            <a:r>
              <a:rPr lang="zh-CN" altLang="en-US" dirty="0"/>
              <a:t>利用网络实施钓鱼网站的</a:t>
            </a:r>
            <a:r>
              <a:rPr lang="zh-CN" altLang="en-US" dirty="0" smtClean="0"/>
              <a:t>过程。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按时到课，不早退</a:t>
            </a:r>
            <a:endParaRPr lang="en-US" altLang="zh-CN" dirty="0" smtClean="0"/>
          </a:p>
          <a:p>
            <a:r>
              <a:rPr lang="zh-CN" altLang="en-US" dirty="0" smtClean="0"/>
              <a:t>撰写</a:t>
            </a:r>
            <a:r>
              <a:rPr lang="zh-CN" altLang="en-US" dirty="0"/>
              <a:t>实验报告</a:t>
            </a:r>
            <a:endParaRPr lang="en-US" altLang="zh-CN" dirty="0"/>
          </a:p>
          <a:p>
            <a:pPr lvl="1"/>
            <a:r>
              <a:rPr lang="zh-CN" altLang="en-US" dirty="0"/>
              <a:t>按照模板书写实验步骤</a:t>
            </a:r>
            <a:endParaRPr lang="en-US" altLang="zh-CN" dirty="0"/>
          </a:p>
          <a:p>
            <a:pPr lvl="1"/>
            <a:r>
              <a:rPr lang="zh-CN" altLang="en-US" dirty="0" smtClean="0"/>
              <a:t>查阅</a:t>
            </a:r>
            <a:r>
              <a:rPr lang="zh-CN" altLang="en-US" dirty="0"/>
              <a:t>资料回答课后问题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Q5ZWRmZGVlYTg3MDI0N2UwODgyODBlMDlhOGQxZGM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5b2h0d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1758</Words>
  <Application>WPS 演示</Application>
  <PresentationFormat>自定义</PresentationFormat>
  <Paragraphs>140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等线</vt:lpstr>
      <vt:lpstr>Agency FB</vt:lpstr>
      <vt:lpstr>Trebuchet MS</vt:lpstr>
      <vt:lpstr>包图粗黑体</vt:lpstr>
      <vt:lpstr>微软雅黑</vt:lpstr>
      <vt:lpstr>Arial Unicode MS</vt:lpstr>
      <vt:lpstr>Calibri</vt:lpstr>
      <vt:lpstr>黑体</vt:lpstr>
      <vt:lpstr>第一PPT，www.1ppt.com</vt:lpstr>
      <vt:lpstr>PowerPoint 演示文稿</vt:lpstr>
      <vt:lpstr>课程必要性</vt:lpstr>
      <vt:lpstr>课时安排</vt:lpstr>
      <vt:lpstr>具体实施</vt:lpstr>
      <vt:lpstr>具体实施</vt:lpstr>
      <vt:lpstr>H3C设备</vt:lpstr>
      <vt:lpstr>参考书目</vt:lpstr>
      <vt:lpstr>考核方式</vt:lpstr>
      <vt:lpstr>线上实验基础-Packet Tracer</vt:lpstr>
      <vt:lpstr>线上实验基础-Packet Tracer</vt:lpstr>
      <vt:lpstr>线上实验基础——IOS命令模式</vt:lpstr>
      <vt:lpstr>本次实验任务——网络攻击实验</vt:lpstr>
      <vt:lpstr>集线器和嗅探攻击实验</vt:lpstr>
      <vt:lpstr>集线器和嗅探攻击实验 </vt:lpstr>
      <vt:lpstr>MAC地址欺骗攻击</vt:lpstr>
      <vt:lpstr>MAC地址欺骗攻击</vt:lpstr>
      <vt:lpstr>钓鱼网站实验</vt:lpstr>
      <vt:lpstr>钓鱼网站实验</vt:lpstr>
      <vt:lpstr>钓鱼网站实验</vt:lpstr>
      <vt:lpstr>实验要求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大气群山PPT模板</dc:title>
  <dc:creator>第一PPT</dc:creator>
  <cp:keywords>www.1ppt.com</cp:keywords>
  <dc:description>www.1ppt.com</dc:description>
  <cp:lastModifiedBy>babybee</cp:lastModifiedBy>
  <cp:revision>48</cp:revision>
  <dcterms:created xsi:type="dcterms:W3CDTF">2019-12-24T09:15:00Z</dcterms:created>
  <dcterms:modified xsi:type="dcterms:W3CDTF">2024-04-08T08:28:30Z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C371C4F12BB547EB8E31FABE5D17AD96_13</vt:lpwstr>
  </property>
  <property fmtid="{D5CDD505-2E9C-101B-9397-08002B2CF9AE}" pid="3" name="KSOProductBuildVer">
    <vt:lpwstr>2052-12.1.0.16250</vt:lpwstr>
  </property>
</Properties>
</file>