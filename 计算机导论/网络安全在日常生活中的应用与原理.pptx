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7" r:id="rId4"/>
    <p:sldId id="258" r:id="rId5"/>
    <p:sldId id="259" r:id="rId6"/>
    <p:sldId id="291" r:id="rId7"/>
    <p:sldId id="284" r:id="rId8"/>
    <p:sldId id="263" r:id="rId9"/>
    <p:sldId id="264" r:id="rId10"/>
    <p:sldId id="267" r:id="rId11"/>
    <p:sldId id="268" r:id="rId12"/>
    <p:sldId id="288" r:id="rId13"/>
    <p:sldId id="289" r:id="rId14"/>
    <p:sldId id="290" r:id="rId15"/>
    <p:sldId id="271" r:id="rId16"/>
    <p:sldId id="261" r:id="rId17"/>
    <p:sldId id="270" r:id="rId18"/>
    <p:sldId id="272" r:id="rId19"/>
    <p:sldId id="262" r:id="rId20"/>
    <p:sldId id="273" r:id="rId21"/>
    <p:sldId id="274" r:id="rId22"/>
    <p:sldId id="276" r:id="rId23"/>
    <p:sldId id="260" r:id="rId24"/>
    <p:sldId id="275" r:id="rId25"/>
    <p:sldId id="265" r:id="rId26"/>
    <p:sldId id="285" r:id="rId27"/>
    <p:sldId id="266" r:id="rId28"/>
    <p:sldId id="279" r:id="rId29"/>
    <p:sldId id="280" r:id="rId30"/>
    <p:sldId id="281" r:id="rId31"/>
    <p:sldId id="282" r:id="rId32"/>
    <p:sldId id="283" r:id="rId33"/>
  </p:sldIdLst>
  <p:sldSz cx="12192000" cy="6858000" type="screen16x9"/>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212"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7" Type="http://schemas.openxmlformats.org/officeDocument/2006/relationships/tags" Target="tags/tag7.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E8FD0B7A-F5DD-4F40-B4CB-3B2C354B893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FD0B7A-F5DD-4F40-B4CB-3B2C354B893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0"/>
            <a:ext cx="2844800" cy="365125"/>
          </a:xfrm>
        </p:spPr>
        <p:txBody>
          <a:bodyPr/>
          <a:lstStyle/>
          <a:p>
            <a:fld id="{E8FD0B7A-F5DD-4F40-B4CB-3B2C354B893A}" type="datetimeFigureOut">
              <a:rPr lang="en-US" smtClean="0"/>
            </a:fld>
            <a:endParaRPr lang="en-US"/>
          </a:p>
        </p:txBody>
      </p:sp>
      <p:sp>
        <p:nvSpPr>
          <p:cNvPr id="3" name="Footer Placeholder 2"/>
          <p:cNvSpPr>
            <a:spLocks noGrp="1"/>
          </p:cNvSpPr>
          <p:nvPr>
            <p:ph type="ftr" sz="quarter" idx="11"/>
          </p:nvPr>
        </p:nvSpPr>
        <p:spPr>
          <a:xfrm>
            <a:off x="4165600" y="6356350"/>
            <a:ext cx="3860800" cy="365125"/>
          </a:xfrm>
        </p:spPr>
        <p:txBody>
          <a:bodyPr/>
          <a:lstStyle/>
          <a:p>
            <a:endParaRPr lang="en-US"/>
          </a:p>
        </p:txBody>
      </p:sp>
      <p:sp>
        <p:nvSpPr>
          <p:cNvPr id="4" name="Slide Number Placeholder 3"/>
          <p:cNvSpPr>
            <a:spLocks noGrp="1"/>
          </p:cNvSpPr>
          <p:nvPr>
            <p:ph type="sldNum" sz="quarter" idx="12"/>
          </p:nvPr>
        </p:nvSpPr>
        <p:spPr>
          <a:xfrm>
            <a:off x="8737600" y="6356350"/>
            <a:ext cx="2844800" cy="365125"/>
          </a:xfrm>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E8FD0B7A-F5DD-4F40-B4CB-3B2C354B893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8FD0B7A-F5DD-4F40-B4CB-3B2C354B893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AE1883-0942-4AA3-9DB2-9C7C3A0314B1}" type="slidenum">
              <a:rPr lang="en-US" smtClean="0"/>
            </a:fld>
            <a:endParaRPr lang="en-US"/>
          </a:p>
        </p:txBody>
      </p:sp>
    </p:spTree>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image" Target="../media/image7.png"/><Relationship Id="rId4" Type="http://schemas.openxmlformats.org/officeDocument/2006/relationships/tags" Target="../tags/tag1.xml"/><Relationship Id="rId3" Type="http://schemas.microsoft.com/office/2007/relationships/media" Target="../media/media1.mp4"/><Relationship Id="rId2" Type="http://schemas.openxmlformats.org/officeDocument/2006/relationships/video" Target="../media/media1.mp4"/><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9.png"/><Relationship Id="rId3" Type="http://schemas.openxmlformats.org/officeDocument/2006/relationships/tags" Target="../tags/tag2.xml"/><Relationship Id="rId2" Type="http://schemas.openxmlformats.org/officeDocument/2006/relationships/image" Target="../media/image8.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xml"/><Relationship Id="rId2" Type="http://schemas.openxmlformats.org/officeDocument/2006/relationships/image" Target="../media/image8.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4.xml"/><Relationship Id="rId2" Type="http://schemas.openxmlformats.org/officeDocument/2006/relationships/image" Target="../media/image8.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5.xml"/><Relationship Id="rId2" Type="http://schemas.openxmlformats.org/officeDocument/2006/relationships/image" Target="../media/image8.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tags" Target="../tags/tag6.xml"/><Relationship Id="rId2" Type="http://schemas.openxmlformats.org/officeDocument/2006/relationships/image" Target="../media/image8.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8.png"/><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1.png"/><Relationship Id="rId4" Type="http://schemas.microsoft.com/office/2007/relationships/media" Target="../media/media2.mp3"/><Relationship Id="rId3" Type="http://schemas.openxmlformats.org/officeDocument/2006/relationships/audio" Target="../media/media2.mp3"/><Relationship Id="rId2" Type="http://schemas.openxmlformats.org/officeDocument/2006/relationships/image" Target="../media/image5.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jpeg"/><Relationship Id="rId2" Type="http://schemas.openxmlformats.org/officeDocument/2006/relationships/image" Target="../media/image8.png"/><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1514467"/>
            <a:ext cx="11038043"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4800" b="0" i="0">
                <a:solidFill>
                  <a:srgbClr val="000000"/>
                </a:solidFill>
                <a:highlight>
                  <a:srgbClr val="FFFFFF">
                    <a:alpha val="0"/>
                  </a:srgbClr>
                </a:highlight>
                <a:latin typeface="微软雅黑" panose="020B0503020204020204" charset="-122"/>
              </a:rPr>
              <a:t>网络安全在日常生活中的应用与原理</a:t>
            </a:r>
            <a:endParaRPr sz="4800" b="0" i="0">
              <a:solidFill>
                <a:srgbClr val="000000"/>
              </a:solidFill>
              <a:highlight>
                <a:srgbClr val="FFFFFF">
                  <a:alpha val="0"/>
                </a:srgbClr>
              </a:highlight>
              <a:latin typeface="微软雅黑" panose="020B0503020204020204" charset="-122"/>
            </a:endParaRPr>
          </a:p>
        </p:txBody>
      </p:sp>
      <p:sp>
        <p:nvSpPr>
          <p:cNvPr id="3" name="New shape"/>
          <p:cNvSpPr/>
          <p:nvPr/>
        </p:nvSpPr>
        <p:spPr>
          <a:xfrm>
            <a:off x="622800" y="3101012"/>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4" name="New shape"/>
          <p:cNvSpPr/>
          <p:nvPr/>
        </p:nvSpPr>
        <p:spPr>
          <a:xfrm>
            <a:off x="611778" y="3101012"/>
            <a:ext cx="11038043"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3000" b="0" i="0">
                <a:solidFill>
                  <a:srgbClr val="18AFAB"/>
                </a:solidFill>
                <a:highlight>
                  <a:srgbClr val="FFFFFF">
                    <a:alpha val="0"/>
                  </a:srgbClr>
                </a:highlight>
                <a:latin typeface="微软雅黑" panose="020B0503020204020204" charset="-122"/>
              </a:rPr>
              <a:t>计算机调研报告深度解析</a:t>
            </a:r>
            <a:endParaRPr sz="3000" b="0" i="0">
              <a:solidFill>
                <a:srgbClr val="18AFAB"/>
              </a:solidFill>
              <a:highlight>
                <a:srgbClr val="FFFFFF">
                  <a:alpha val="0"/>
                </a:srgbClr>
              </a:highlight>
              <a:latin typeface="微软雅黑" panose="020B0503020204020204" charset="-122"/>
            </a:endParaRPr>
          </a:p>
        </p:txBody>
      </p:sp>
      <p:sp>
        <p:nvSpPr>
          <p:cNvPr id="5"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6"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7" name="New shape"/>
          <p:cNvSpPr/>
          <p:nvPr/>
        </p:nvSpPr>
        <p:spPr>
          <a:xfrm>
            <a:off x="622800" y="4138369"/>
            <a:ext cx="1101600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p:txBody>
      </p:sp>
      <p:sp>
        <p:nvSpPr>
          <p:cNvPr id="8" name="New shape"/>
          <p:cNvSpPr/>
          <p:nvPr/>
        </p:nvSpPr>
        <p:spPr>
          <a:xfrm>
            <a:off x="611778" y="4136689"/>
            <a:ext cx="11038043" cy="455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1575" b="0" i="0">
                <a:solidFill>
                  <a:srgbClr val="000000"/>
                </a:solidFill>
                <a:highlight>
                  <a:srgbClr val="FFFFFF">
                    <a:alpha val="0"/>
                  </a:srgbClr>
                </a:highlight>
                <a:latin typeface="微软雅黑" panose="020B0503020204020204" charset="-122"/>
              </a:rPr>
              <a:t>作者: </a:t>
            </a:r>
            <a:r>
              <a:rPr lang="zh-CN" sz="1575" b="0" i="0">
                <a:solidFill>
                  <a:srgbClr val="000000"/>
                </a:solidFill>
                <a:highlight>
                  <a:srgbClr val="FFFFFF">
                    <a:alpha val="0"/>
                  </a:srgbClr>
                </a:highlight>
                <a:latin typeface="微软雅黑" panose="020B0503020204020204" charset="-122"/>
              </a:rPr>
              <a:t>魏朝旭</a:t>
            </a:r>
            <a:r>
              <a:rPr lang="en-US" altLang="zh-CN" sz="1575" b="0" i="0">
                <a:solidFill>
                  <a:srgbClr val="000000"/>
                </a:solidFill>
                <a:highlight>
                  <a:srgbClr val="FFFFFF">
                    <a:alpha val="0"/>
                  </a:srgbClr>
                </a:highlight>
                <a:latin typeface="微软雅黑" panose="020B0503020204020204" charset="-122"/>
              </a:rPr>
              <a:t>                学号：23009201082 </a:t>
            </a:r>
            <a:endParaRPr lang="en-US" altLang="zh-CN" sz="1575" b="0" i="0">
              <a:solidFill>
                <a:srgbClr val="000000"/>
              </a:solidFill>
              <a:highlight>
                <a:srgbClr val="FFFFFF">
                  <a:alpha val="0"/>
                </a:srgbClr>
              </a:highlight>
              <a:latin typeface="微软雅黑" panose="020B0503020204020204" charset="-122"/>
            </a:endParaRPr>
          </a:p>
        </p:txBody>
      </p:sp>
      <p:sp>
        <p:nvSpPr>
          <p:cNvPr id="9" name="New shape"/>
          <p:cNvSpPr/>
          <p:nvPr/>
        </p:nvSpPr>
        <p:spPr>
          <a:xfrm>
            <a:off x="611778" y="4739271"/>
            <a:ext cx="11038043" cy="4552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1575" b="0" i="0">
                <a:solidFill>
                  <a:srgbClr val="000000"/>
                </a:solidFill>
                <a:highlight>
                  <a:srgbClr val="FFFFFF">
                    <a:alpha val="0"/>
                  </a:srgbClr>
                </a:highlight>
                <a:latin typeface="微软雅黑" panose="020B0503020204020204" charset="-122"/>
              </a:rPr>
              <a:t>汇报时间: 2024/01/0</a:t>
            </a:r>
            <a:r>
              <a:rPr lang="en-US" sz="1575" b="0" i="0">
                <a:solidFill>
                  <a:srgbClr val="000000"/>
                </a:solidFill>
                <a:highlight>
                  <a:srgbClr val="FFFFFF">
                    <a:alpha val="0"/>
                  </a:srgbClr>
                </a:highlight>
                <a:latin typeface="微软雅黑" panose="020B0503020204020204" charset="-122"/>
              </a:rPr>
              <a:t>7</a:t>
            </a:r>
            <a:endParaRPr lang="en-US"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838800" y="979200"/>
            <a:ext cx="3672000" cy="511200"/>
          </a:xfrm>
          <a:prstGeom prst="rect">
            <a:avLst/>
          </a:prstGeom>
          <a:ln>
            <a:noFill/>
          </a:ln>
        </p:spPr>
      </p:pic>
      <p:sp>
        <p:nvSpPr>
          <p:cNvPr id="3" name="New shape"/>
          <p:cNvSpPr/>
          <p:nvPr/>
        </p:nvSpPr>
        <p:spPr>
          <a:xfrm>
            <a:off x="1054800" y="1037646"/>
            <a:ext cx="2482880"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479D"/>
                </a:solidFill>
                <a:highlight>
                  <a:srgbClr val="FFFFFF">
                    <a:alpha val="0"/>
                  </a:srgbClr>
                </a:highlight>
                <a:latin typeface="微软雅黑" panose="020B0503020204020204" charset="-122"/>
              </a:rPr>
              <a:t>目录</a:t>
            </a:r>
            <a:endParaRPr sz="4800" b="1" i="0">
              <a:solidFill>
                <a:srgbClr val="00479D"/>
              </a:solidFill>
              <a:highlight>
                <a:srgbClr val="FFFFFF">
                  <a:alpha val="0"/>
                </a:srgbClr>
              </a:highlight>
              <a:latin typeface="微软雅黑" panose="020B0503020204020204" charset="-122"/>
            </a:endParaRPr>
          </a:p>
        </p:txBody>
      </p:sp>
      <p:sp>
        <p:nvSpPr>
          <p:cNvPr id="4" name="New shape"/>
          <p:cNvSpPr/>
          <p:nvPr/>
        </p:nvSpPr>
        <p:spPr>
          <a:xfrm>
            <a:off x="1920240" y="2925445"/>
            <a:ext cx="1779270" cy="698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sz="1575" b="1">
                <a:solidFill>
                  <a:srgbClr val="18AFAB"/>
                </a:solidFill>
                <a:latin typeface="微软雅黑" panose="020B0503020204020204" charset="-122"/>
              </a:rPr>
              <a:t>01</a:t>
            </a:r>
            <a:endParaRPr sz="1575" b="1">
              <a:solidFill>
                <a:srgbClr val="18AFAB"/>
              </a:solidFill>
              <a:latin typeface="微软雅黑" panose="020B0503020204020204" charset="-122"/>
            </a:endParaRPr>
          </a:p>
          <a:p>
            <a:pPr algn="ctr">
              <a:lnSpc>
                <a:spcPct val="150000"/>
              </a:lnSpc>
            </a:pPr>
            <a:r>
              <a:rPr lang="zh-CN" sz="1575" b="0" i="0">
                <a:solidFill>
                  <a:srgbClr val="000000"/>
                </a:solidFill>
                <a:highlight>
                  <a:srgbClr val="FFFFFF">
                    <a:alpha val="0"/>
                  </a:srgbClr>
                </a:highlight>
                <a:latin typeface="微软雅黑" panose="020B0503020204020204" charset="-122"/>
              </a:rPr>
              <a:t>引言</a:t>
            </a:r>
            <a:endParaRPr lang="zh-CN"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343400" y="2921318"/>
            <a:ext cx="2499995" cy="698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algn="ctr"/>
            <a:r>
              <a:rPr sz="1575" b="1">
                <a:solidFill>
                  <a:srgbClr val="18AFAB"/>
                </a:solidFill>
                <a:latin typeface="微软雅黑" panose="020B0503020204020204" charset="-122"/>
              </a:rPr>
              <a:t>02</a:t>
            </a:r>
            <a:endParaRPr sz="1575" b="1">
              <a:solidFill>
                <a:srgbClr val="18AFAB"/>
              </a:solidFill>
              <a:latin typeface="微软雅黑" panose="020B0503020204020204" charset="-122"/>
            </a:endParaRPr>
          </a:p>
          <a:p>
            <a:pPr algn="ctr">
              <a:lnSpc>
                <a:spcPct val="150000"/>
              </a:lnSpc>
            </a:pPr>
            <a:r>
              <a:rPr sz="1575" b="0" i="0">
                <a:solidFill>
                  <a:srgbClr val="000000"/>
                </a:solidFill>
                <a:highlight>
                  <a:srgbClr val="FFFFFF">
                    <a:alpha val="0"/>
                  </a:srgbClr>
                </a:highlight>
                <a:latin typeface="微软雅黑" panose="020B0503020204020204" charset="-122"/>
              </a:rPr>
              <a:t>网络安全的定义和重要性</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536473" y="3029951"/>
            <a:ext cx="1841514" cy="698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sz="1575" b="1">
                <a:solidFill>
                  <a:srgbClr val="18AFAB"/>
                </a:solidFill>
                <a:latin typeface="微软雅黑" panose="020B0503020204020204" charset="-122"/>
              </a:rPr>
              <a:t>03</a:t>
            </a:r>
            <a:endParaRPr sz="1575" b="1">
              <a:solidFill>
                <a:srgbClr val="18AFAB"/>
              </a:solidFill>
              <a:latin typeface="微软雅黑" panose="020B0503020204020204" charset="-122"/>
            </a:endParaRPr>
          </a:p>
          <a:p>
            <a:pPr algn="ctr">
              <a:lnSpc>
                <a:spcPct val="150000"/>
              </a:lnSpc>
            </a:pPr>
            <a:r>
              <a:rPr sz="1575" b="0" i="0">
                <a:solidFill>
                  <a:srgbClr val="000000"/>
                </a:solidFill>
                <a:highlight>
                  <a:srgbClr val="FFFFFF">
                    <a:alpha val="0"/>
                  </a:srgbClr>
                </a:highlight>
                <a:latin typeface="微软雅黑" panose="020B0503020204020204" charset="-122"/>
              </a:rPr>
              <a:t>网络安全原理</a:t>
            </a:r>
            <a:endParaRPr sz="1575" b="0" i="0">
              <a:solidFill>
                <a:srgbClr val="000000"/>
              </a:solidFill>
              <a:highlight>
                <a:srgbClr val="FFFFFF">
                  <a:alpha val="0"/>
                </a:srgbClr>
              </a:highlight>
              <a:latin typeface="微软雅黑" panose="020B0503020204020204" charset="-122"/>
            </a:endParaRPr>
          </a:p>
        </p:txBody>
      </p:sp>
      <p:sp>
        <p:nvSpPr>
          <p:cNvPr id="7" name="New shape"/>
          <p:cNvSpPr/>
          <p:nvPr/>
        </p:nvSpPr>
        <p:spPr>
          <a:xfrm>
            <a:off x="1992302" y="4721729"/>
            <a:ext cx="1841514" cy="698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sz="1575" b="1">
                <a:solidFill>
                  <a:srgbClr val="18AFAB"/>
                </a:solidFill>
                <a:latin typeface="微软雅黑" panose="020B0503020204020204" charset="-122"/>
              </a:rPr>
              <a:t>04</a:t>
            </a:r>
            <a:endParaRPr sz="1575" b="1">
              <a:solidFill>
                <a:srgbClr val="18AFAB"/>
              </a:solidFill>
              <a:latin typeface="微软雅黑" panose="020B0503020204020204" charset="-122"/>
            </a:endParaRPr>
          </a:p>
          <a:p>
            <a:pPr algn="ctr">
              <a:lnSpc>
                <a:spcPct val="150000"/>
              </a:lnSpc>
            </a:pPr>
            <a:r>
              <a:rPr sz="1575" b="0" i="0">
                <a:solidFill>
                  <a:srgbClr val="000000"/>
                </a:solidFill>
                <a:highlight>
                  <a:srgbClr val="FFFFFF">
                    <a:alpha val="0"/>
                  </a:srgbClr>
                </a:highlight>
                <a:latin typeface="微软雅黑" panose="020B0503020204020204" charset="-122"/>
              </a:rPr>
              <a:t>具体应用</a:t>
            </a:r>
            <a:endParaRPr sz="1575" b="0" i="0">
              <a:solidFill>
                <a:srgbClr val="000000"/>
              </a:solidFill>
              <a:highlight>
                <a:srgbClr val="FFFFFF">
                  <a:alpha val="0"/>
                </a:srgbClr>
              </a:highlight>
              <a:latin typeface="微软雅黑" panose="020B0503020204020204" charset="-122"/>
            </a:endParaRPr>
          </a:p>
        </p:txBody>
      </p:sp>
      <p:sp>
        <p:nvSpPr>
          <p:cNvPr id="8" name="New shape"/>
          <p:cNvSpPr/>
          <p:nvPr/>
        </p:nvSpPr>
        <p:spPr>
          <a:xfrm>
            <a:off x="4727897" y="4685396"/>
            <a:ext cx="1841514" cy="698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sz="1575" b="1">
                <a:solidFill>
                  <a:srgbClr val="18AFAB"/>
                </a:solidFill>
                <a:latin typeface="微软雅黑" panose="020B0503020204020204" charset="-122"/>
              </a:rPr>
              <a:t>05</a:t>
            </a:r>
            <a:endParaRPr sz="1575" b="1">
              <a:solidFill>
                <a:srgbClr val="18AFAB"/>
              </a:solidFill>
              <a:latin typeface="微软雅黑" panose="020B0503020204020204" charset="-122"/>
            </a:endParaRPr>
          </a:p>
          <a:p>
            <a:pPr algn="ctr">
              <a:lnSpc>
                <a:spcPct val="150000"/>
              </a:lnSpc>
            </a:pPr>
            <a:r>
              <a:rPr sz="1575" b="0" i="0">
                <a:solidFill>
                  <a:srgbClr val="000000"/>
                </a:solidFill>
                <a:highlight>
                  <a:srgbClr val="FFFFFF">
                    <a:alpha val="0"/>
                  </a:srgbClr>
                </a:highlight>
                <a:latin typeface="微软雅黑" panose="020B0503020204020204" charset="-122"/>
              </a:rPr>
              <a:t>常见算法原理</a:t>
            </a:r>
            <a:endParaRPr sz="1575" b="0" i="0">
              <a:solidFill>
                <a:srgbClr val="000000"/>
              </a:solidFill>
              <a:highlight>
                <a:srgbClr val="FFFFFF">
                  <a:alpha val="0"/>
                </a:srgbClr>
              </a:highlight>
              <a:latin typeface="微软雅黑" panose="020B0503020204020204" charset="-122"/>
            </a:endParaRPr>
          </a:p>
        </p:txBody>
      </p:sp>
      <p:sp>
        <p:nvSpPr>
          <p:cNvPr id="9" name="New shape"/>
          <p:cNvSpPr/>
          <p:nvPr/>
        </p:nvSpPr>
        <p:spPr>
          <a:xfrm>
            <a:off x="7464690" y="4614693"/>
            <a:ext cx="1841514" cy="698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r>
              <a:rPr sz="1575" b="1">
                <a:solidFill>
                  <a:srgbClr val="18AFAB"/>
                </a:solidFill>
                <a:latin typeface="微软雅黑" panose="020B0503020204020204" charset="-122"/>
              </a:rPr>
              <a:t>06</a:t>
            </a:r>
            <a:endParaRPr sz="1575" b="1">
              <a:solidFill>
                <a:srgbClr val="18AFAB"/>
              </a:solidFill>
              <a:latin typeface="微软雅黑" panose="020B0503020204020204" charset="-122"/>
            </a:endParaRPr>
          </a:p>
          <a:p>
            <a:pPr algn="ctr">
              <a:lnSpc>
                <a:spcPct val="150000"/>
              </a:lnSpc>
            </a:pPr>
            <a:r>
              <a:rPr sz="1575" b="0" i="0">
                <a:solidFill>
                  <a:srgbClr val="000000"/>
                </a:solidFill>
                <a:highlight>
                  <a:srgbClr val="FFFFFF">
                    <a:alpha val="0"/>
                  </a:srgbClr>
                </a:highlight>
                <a:latin typeface="微软雅黑" panose="020B0503020204020204" charset="-122"/>
              </a:rPr>
              <a:t>结论</a:t>
            </a: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EFD"/>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18AFAB"/>
                </a:solidFill>
                <a:highlight>
                  <a:srgbClr val="FFFFFF">
                    <a:alpha val="0"/>
                  </a:srgbClr>
                </a:highlight>
                <a:latin typeface="微软雅黑" panose="020B0503020204020204" charset="-122"/>
              </a:rPr>
              <a:t>01</a:t>
            </a:r>
            <a:endParaRPr sz="4800" b="1" i="0">
              <a:solidFill>
                <a:srgbClr val="18AFAB"/>
              </a:solidFill>
              <a:highlight>
                <a:srgbClr val="FFFFFF">
                  <a:alpha val="0"/>
                </a:srgbClr>
              </a:highlight>
              <a:latin typeface="微软雅黑" panose="020B0503020204020204" charset="-122"/>
            </a:endParaRPr>
          </a:p>
        </p:txBody>
      </p:sp>
      <p:sp>
        <p:nvSpPr>
          <p:cNvPr id="5" name="New shape"/>
          <p:cNvSpPr/>
          <p:nvPr/>
        </p:nvSpPr>
        <p:spPr>
          <a:xfrm>
            <a:off x="986400" y="2448178"/>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479D"/>
                </a:solidFill>
                <a:highlight>
                  <a:srgbClr val="FFFFFF">
                    <a:alpha val="0"/>
                  </a:srgbClr>
                </a:highlight>
                <a:latin typeface="微软雅黑" panose="020B0503020204020204" charset="-122"/>
              </a:rPr>
              <a:t>引言</a:t>
            </a:r>
            <a:endParaRPr sz="4800" b="1" i="0">
              <a:solidFill>
                <a:srgbClr val="00479D"/>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5" name="网络安全">
            <a:hlinkClick r:id="" action="ppaction://media"/>
          </p:cNvPr>
          <p:cNvPicPr/>
          <p:nvPr>
            <a:videoFile r:link="rId2"/>
            <p:extLst>
              <p:ext uri="{DAA4B4D4-6D71-4841-9C94-3DE7FCFB9230}">
                <p14:media xmlns:p14="http://schemas.microsoft.com/office/powerpoint/2010/main" r:embed="rId3"/>
              </p:ext>
            </p:extLst>
            <p:custDataLst>
              <p:tags r:id="rId4"/>
            </p:custDataLst>
          </p:nvPr>
        </p:nvPicPr>
        <p:blipFill>
          <a:blip r:embed="rId5"/>
          <a:stretch>
            <a:fillRect/>
          </a:stretch>
        </p:blipFill>
        <p:spPr>
          <a:xfrm>
            <a:off x="0" y="0"/>
            <a:ext cx="12192000" cy="6858000"/>
          </a:xfrm>
          <a:prstGeom prst="rect">
            <a:avLst/>
          </a:prstGeom>
        </p:spPr>
      </p:pic>
    </p:spTree>
  </p:cSld>
  <p:clrMapOvr>
    <a:masterClrMapping/>
  </p:clrMapOvr>
  <p:transition/>
  <p:timing>
    <p:tnLst>
      <p:par>
        <p:cTn id="1" dur="indefinite" restart="never" nodeType="tmRoot">
          <p:childTnLst>
            <p:video fullScrn="0">
              <p:cMediaNode>
                <p:cTn id="2" fill="hold" display="1">
                  <p:stCondLst>
                    <p:cond delay="indefinite"/>
                  </p:stCondLst>
                </p:cTn>
                <p:tgtEl>
                  <p:spTgt spid="5"/>
                </p:tgtEl>
              </p:cMediaNode>
            </p:video>
            <p:seq concurrent="1" nextAc="seek">
              <p:cTn id="3" restart="whenNotActive" fill="hold" evtFilter="cancelBubble" nodeType="interactiveSeq">
                <p:stCondLst>
                  <p:cond evt="onClick" delay="0">
                    <p:tgtEl>
                      <p:spTgt spid="5"/>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11860" y="764540"/>
            <a:ext cx="7099935" cy="4751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nSpc>
                <a:spcPct val="150000"/>
              </a:lnSpc>
            </a:pPr>
            <a:r>
              <a:rPr lang="en-US" sz="2400" b="1" i="0">
                <a:solidFill>
                  <a:srgbClr val="000000"/>
                </a:solidFill>
                <a:highlight>
                  <a:srgbClr val="FFFFFF">
                    <a:alpha val="0"/>
                  </a:srgbClr>
                </a:highlight>
                <a:latin typeface="微软雅黑" panose="020B0503020204020204" charset="-122"/>
              </a:rPr>
              <a:t>       </a:t>
            </a:r>
            <a:r>
              <a:rPr sz="2400" b="1" i="0">
                <a:solidFill>
                  <a:srgbClr val="000000"/>
                </a:solidFill>
                <a:highlight>
                  <a:srgbClr val="FFFFFF">
                    <a:alpha val="0"/>
                  </a:srgbClr>
                </a:highlight>
                <a:latin typeface="微软雅黑" panose="020B0503020204020204" charset="-122"/>
              </a:rPr>
              <a:t>随着互联网的普及和信息技术的快速发展，网络安全问题日益突出。网络安全不仅关系到个人隐私的保护，还涉及到国家安全、经济发展等方面。计算机网络安全是指保护计算机网络不受未经授权的访问、攻击、损坏或干扰。在日常生活中，我们离不开计算机网络，如互联网、智能手机、智能家居等。而网络安全的原理和具体应用对我们个人隐私和信息的保护至关重要。本调研报告将探讨计算机网络安全的原理和在日常生活中的具体应用,旨在提高人们对网络安全的认识和重视程度。</a:t>
            </a:r>
            <a:endParaRPr sz="2400" b="1" i="0">
              <a:solidFill>
                <a:srgbClr val="000000"/>
              </a:solidFill>
              <a:highlight>
                <a:srgbClr val="FFFFFF">
                  <a:alpha val="0"/>
                </a:srgbClr>
              </a:highlight>
              <a:latin typeface="微软雅黑" panose="020B0503020204020204" charset="-122"/>
            </a:endParaRPr>
          </a:p>
        </p:txBody>
      </p:sp>
      <p:pic>
        <p:nvPicPr>
          <p:cNvPr id="4" name="图片 1" descr="IMG_256"/>
          <p:cNvPicPr>
            <a:picLocks noChangeAspect="1"/>
          </p:cNvPicPr>
          <p:nvPr>
            <p:custDataLst>
              <p:tags r:id="rId3"/>
            </p:custDataLst>
          </p:nvPr>
        </p:nvPicPr>
        <p:blipFill>
          <a:blip r:embed="rId4"/>
          <a:stretch>
            <a:fillRect/>
          </a:stretch>
        </p:blipFill>
        <p:spPr>
          <a:xfrm>
            <a:off x="8184515" y="1701165"/>
            <a:ext cx="1755140" cy="2499995"/>
          </a:xfrm>
          <a:prstGeom prst="rect">
            <a:avLst/>
          </a:prstGeom>
          <a:noFill/>
          <a:ln w="9525">
            <a:noFill/>
          </a:ln>
        </p:spPr>
      </p:pic>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EFD"/>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18AFAB"/>
                </a:solidFill>
                <a:highlight>
                  <a:srgbClr val="FFFFFF">
                    <a:alpha val="0"/>
                  </a:srgbClr>
                </a:highlight>
                <a:latin typeface="微软雅黑" panose="020B0503020204020204" charset="-122"/>
              </a:rPr>
              <a:t>02</a:t>
            </a:r>
            <a:endParaRPr sz="4800" b="1" i="0">
              <a:solidFill>
                <a:srgbClr val="18AFAB"/>
              </a:solidFill>
              <a:highlight>
                <a:srgbClr val="FFFFFF">
                  <a:alpha val="0"/>
                </a:srgbClr>
              </a:highlight>
              <a:latin typeface="微软雅黑" panose="020B0503020204020204" charset="-122"/>
            </a:endParaRPr>
          </a:p>
        </p:txBody>
      </p:sp>
      <p:sp>
        <p:nvSpPr>
          <p:cNvPr id="5" name="New shape"/>
          <p:cNvSpPr/>
          <p:nvPr/>
        </p:nvSpPr>
        <p:spPr>
          <a:xfrm>
            <a:off x="986400" y="2077204"/>
            <a:ext cx="5771526" cy="23069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4800" b="1" i="0">
                <a:solidFill>
                  <a:srgbClr val="00479D"/>
                </a:solidFill>
                <a:highlight>
                  <a:srgbClr val="FFFFFF">
                    <a:alpha val="0"/>
                  </a:srgbClr>
                </a:highlight>
                <a:latin typeface="微软雅黑" panose="020B0503020204020204" charset="-122"/>
              </a:rPr>
              <a:t>网络安全的定义和重要性</a:t>
            </a:r>
            <a:endParaRPr sz="4800" b="1" i="0">
              <a:solidFill>
                <a:srgbClr val="00479D"/>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33989"/>
            <a:ext cx="9369360" cy="9220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lang="en-US" b="1" i="0">
                <a:solidFill>
                  <a:srgbClr val="000000"/>
                </a:solidFill>
                <a:highlight>
                  <a:srgbClr val="FFFFFF">
                    <a:alpha val="0"/>
                  </a:srgbClr>
                </a:highlight>
                <a:latin typeface="微软雅黑" panose="020B0503020204020204" charset="-122"/>
              </a:rPr>
              <a:t>      </a:t>
            </a:r>
            <a:r>
              <a:rPr b="1" i="0">
                <a:solidFill>
                  <a:srgbClr val="000000"/>
                </a:solidFill>
                <a:highlight>
                  <a:srgbClr val="FFFFFF">
                    <a:alpha val="0"/>
                  </a:srgbClr>
                </a:highlight>
                <a:latin typeface="微软雅黑" panose="020B0503020204020204" charset="-122"/>
              </a:rPr>
              <a:t>网络安全是指保护计算机网络不受未经授权的访问、破坏、篡改或信息泄露的威胁。网络安全的重要性体现在以下几个方面：</a:t>
            </a:r>
            <a:endParaRPr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2232548"/>
            <a:ext cx="2744215" cy="21482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个人隐私保护</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网络安全可以保护个人的隐私信息，如银行账号、身份证号码等不被他人获取和滥用。</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429760" y="2113280"/>
            <a:ext cx="2744470" cy="20853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l"/>
            <a:r>
              <a:rPr sz="2100" b="1" i="0">
                <a:solidFill>
                  <a:srgbClr val="18AFAB"/>
                </a:solidFill>
                <a:highlight>
                  <a:srgbClr val="FFFFFF">
                    <a:alpha val="0"/>
                  </a:srgbClr>
                </a:highlight>
                <a:latin typeface="微软雅黑" panose="020B0503020204020204" charset="-122"/>
              </a:rPr>
              <a:t>经济安全</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网络安全可以保护企业的商业机密和客户数据，防止经济损失和声誉受损。</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301230" y="2113915"/>
            <a:ext cx="2744470" cy="2084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l"/>
            <a:r>
              <a:rPr sz="2100" b="1" i="0">
                <a:solidFill>
                  <a:srgbClr val="18AFAB"/>
                </a:solidFill>
                <a:highlight>
                  <a:srgbClr val="FFFFFF">
                    <a:alpha val="0"/>
                  </a:srgbClr>
                </a:highlight>
                <a:latin typeface="微软雅黑" panose="020B0503020204020204" charset="-122"/>
              </a:rPr>
              <a:t>国家安全</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网络安全可以保护国家的重要信息基础设施，防止敌对势力的入侵和攻击。</a:t>
            </a: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EFD"/>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18AFAB"/>
                </a:solidFill>
                <a:highlight>
                  <a:srgbClr val="FFFFFF">
                    <a:alpha val="0"/>
                  </a:srgbClr>
                </a:highlight>
                <a:latin typeface="微软雅黑" panose="020B0503020204020204" charset="-122"/>
              </a:rPr>
              <a:t>03</a:t>
            </a:r>
            <a:endParaRPr sz="4800" b="1" i="0">
              <a:solidFill>
                <a:srgbClr val="18AFAB"/>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479D"/>
                </a:solidFill>
                <a:highlight>
                  <a:srgbClr val="FFFFFF">
                    <a:alpha val="0"/>
                  </a:srgbClr>
                </a:highlight>
                <a:latin typeface="微软雅黑" panose="020B0503020204020204" charset="-122"/>
              </a:rPr>
              <a:t>网络安全原理</a:t>
            </a:r>
            <a:endParaRPr sz="4800" b="1" i="0">
              <a:solidFill>
                <a:srgbClr val="00479D"/>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网络安全原理</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684020" y="2079625"/>
            <a:ext cx="5146040" cy="25634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r>
              <a:rPr sz="3200" b="0" i="0">
                <a:solidFill>
                  <a:srgbClr val="000000"/>
                </a:solidFill>
                <a:highlight>
                  <a:srgbClr val="FFFFFF">
                    <a:alpha val="0"/>
                  </a:srgbClr>
                </a:highlight>
                <a:latin typeface="微软雅黑" panose="020B0503020204020204" charset="-122"/>
              </a:rPr>
              <a:t>确保信息只能被授权人员访问。常用的技术包括加密算法、访问控制等。</a:t>
            </a:r>
            <a:endParaRPr sz="3200" b="0" i="0">
              <a:solidFill>
                <a:srgbClr val="000000"/>
              </a:solidFill>
              <a:highlight>
                <a:srgbClr val="FFFFFF">
                  <a:alpha val="0"/>
                </a:srgbClr>
              </a:highlight>
              <a:latin typeface="微软雅黑" panose="020B0503020204020204" charset="-122"/>
            </a:endParaRPr>
          </a:p>
        </p:txBody>
      </p:sp>
      <p:sp>
        <p:nvSpPr>
          <p:cNvPr id="10" name="New shape"/>
          <p:cNvSpPr/>
          <p:nvPr>
            <p:custDataLst>
              <p:tags r:id="rId3"/>
            </p:custDataLst>
          </p:nvPr>
        </p:nvSpPr>
        <p:spPr>
          <a:xfrm>
            <a:off x="8112760" y="836930"/>
            <a:ext cx="862965" cy="51644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r>
              <a:rPr sz="9600" b="1" i="0">
                <a:solidFill>
                  <a:srgbClr val="18AFAB"/>
                </a:solidFill>
                <a:highlight>
                  <a:srgbClr val="FFFFFF">
                    <a:alpha val="0"/>
                  </a:srgbClr>
                </a:highlight>
                <a:latin typeface="微软雅黑" panose="020B0503020204020204" charset="-122"/>
              </a:rPr>
              <a:t>机密性</a:t>
            </a:r>
            <a:br>
              <a:rPr sz="1800">
                <a:latin typeface="微软雅黑" panose="020B0503020204020204" charset="-122"/>
              </a:rPr>
            </a:br>
            <a:endParaRPr sz="1800">
              <a:latin typeface="微软雅黑" panose="020B0503020204020204" charset="-122"/>
            </a:endParaRPr>
          </a:p>
          <a:p>
            <a:pPr algn="l">
              <a:lnSpc>
                <a:spcPct val="150000"/>
              </a:lnSpc>
            </a:pP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网络安全原理</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684020" y="2079625"/>
            <a:ext cx="5146040" cy="25634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r>
              <a:rPr sz="3200" b="0" i="0">
                <a:solidFill>
                  <a:srgbClr val="000000"/>
                </a:solidFill>
                <a:highlight>
                  <a:srgbClr val="FFFFFF">
                    <a:alpha val="0"/>
                  </a:srgbClr>
                </a:highlight>
                <a:latin typeface="微软雅黑" panose="020B0503020204020204" charset="-122"/>
              </a:rPr>
              <a:t>确保信息在传输和存储过程中不被篡改。常用的技术包括数字签名、数据校验等</a:t>
            </a:r>
            <a:endParaRPr sz="3200" b="0" i="0">
              <a:solidFill>
                <a:srgbClr val="000000"/>
              </a:solidFill>
              <a:highlight>
                <a:srgbClr val="FFFFFF">
                  <a:alpha val="0"/>
                </a:srgbClr>
              </a:highlight>
              <a:latin typeface="微软雅黑" panose="020B0503020204020204" charset="-122"/>
            </a:endParaRPr>
          </a:p>
        </p:txBody>
      </p:sp>
      <p:sp>
        <p:nvSpPr>
          <p:cNvPr id="10" name="New shape"/>
          <p:cNvSpPr/>
          <p:nvPr>
            <p:custDataLst>
              <p:tags r:id="rId3"/>
            </p:custDataLst>
          </p:nvPr>
        </p:nvSpPr>
        <p:spPr>
          <a:xfrm>
            <a:off x="8112760" y="836930"/>
            <a:ext cx="862965" cy="51644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r>
              <a:rPr sz="9600" b="1" i="0">
                <a:solidFill>
                  <a:srgbClr val="18AFAB"/>
                </a:solidFill>
                <a:highlight>
                  <a:srgbClr val="FFFFFF">
                    <a:alpha val="0"/>
                  </a:srgbClr>
                </a:highlight>
                <a:latin typeface="微软雅黑" panose="020B0503020204020204" charset="-122"/>
              </a:rPr>
              <a:t>完整性</a:t>
            </a:r>
            <a:br>
              <a:rPr sz="1800">
                <a:latin typeface="微软雅黑" panose="020B0503020204020204" charset="-122"/>
              </a:rPr>
            </a:br>
            <a:endParaRPr sz="1800">
              <a:latin typeface="微软雅黑" panose="020B0503020204020204" charset="-122"/>
            </a:endParaRPr>
          </a:p>
          <a:p>
            <a:pPr algn="l">
              <a:lnSpc>
                <a:spcPct val="150000"/>
              </a:lnSpc>
            </a:pP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网络安全原理</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684020" y="2079625"/>
            <a:ext cx="5146040" cy="25634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r>
              <a:rPr sz="3200" b="0" i="0">
                <a:solidFill>
                  <a:srgbClr val="000000"/>
                </a:solidFill>
                <a:highlight>
                  <a:srgbClr val="FFFFFF">
                    <a:alpha val="0"/>
                  </a:srgbClr>
                </a:highlight>
                <a:latin typeface="微软雅黑" panose="020B0503020204020204" charset="-122"/>
              </a:rPr>
              <a:t>确保网络服务正常运行，不被拒绝服务攻击等破坏。常用的技术包括负载均衡、备份系统等。</a:t>
            </a:r>
            <a:endParaRPr sz="3200" b="0" i="0">
              <a:solidFill>
                <a:srgbClr val="000000"/>
              </a:solidFill>
              <a:highlight>
                <a:srgbClr val="FFFFFF">
                  <a:alpha val="0"/>
                </a:srgbClr>
              </a:highlight>
              <a:latin typeface="微软雅黑" panose="020B0503020204020204" charset="-122"/>
            </a:endParaRPr>
          </a:p>
        </p:txBody>
      </p:sp>
      <p:sp>
        <p:nvSpPr>
          <p:cNvPr id="10" name="New shape"/>
          <p:cNvSpPr/>
          <p:nvPr>
            <p:custDataLst>
              <p:tags r:id="rId3"/>
            </p:custDataLst>
          </p:nvPr>
        </p:nvSpPr>
        <p:spPr>
          <a:xfrm>
            <a:off x="8112760" y="836930"/>
            <a:ext cx="862965" cy="51644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r>
              <a:rPr sz="9600" b="1" i="0">
                <a:solidFill>
                  <a:srgbClr val="18AFAB"/>
                </a:solidFill>
                <a:highlight>
                  <a:srgbClr val="FFFFFF">
                    <a:alpha val="0"/>
                  </a:srgbClr>
                </a:highlight>
                <a:latin typeface="微软雅黑" panose="020B0503020204020204" charset="-122"/>
              </a:rPr>
              <a:t>可用性</a:t>
            </a:r>
            <a:br>
              <a:rPr sz="1800">
                <a:latin typeface="微软雅黑" panose="020B0503020204020204" charset="-122"/>
              </a:rPr>
            </a:br>
            <a:endParaRPr sz="1800">
              <a:latin typeface="微软雅黑" panose="020B0503020204020204" charset="-122"/>
            </a:endParaRPr>
          </a:p>
          <a:p>
            <a:pPr algn="l">
              <a:lnSpc>
                <a:spcPct val="150000"/>
              </a:lnSpc>
            </a:pP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3205"/>
            <a:ext cx="9369360" cy="7835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网络安全原理</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684020" y="2079625"/>
            <a:ext cx="5146040" cy="25634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l"/>
            <a:r>
              <a:rPr sz="3200" b="0" i="0">
                <a:solidFill>
                  <a:srgbClr val="000000"/>
                </a:solidFill>
                <a:highlight>
                  <a:srgbClr val="FFFFFF">
                    <a:alpha val="0"/>
                  </a:srgbClr>
                </a:highlight>
                <a:latin typeface="微软雅黑" panose="020B0503020204020204" charset="-122"/>
              </a:rPr>
              <a:t>确保网络活动可以被监控和审查，便于追踪和分析。常用的技术包括日志管理、审计记录等。</a:t>
            </a:r>
            <a:endParaRPr sz="3200" b="0" i="0">
              <a:solidFill>
                <a:srgbClr val="000000"/>
              </a:solidFill>
              <a:highlight>
                <a:srgbClr val="FFFFFF">
                  <a:alpha val="0"/>
                </a:srgbClr>
              </a:highlight>
              <a:latin typeface="微软雅黑" panose="020B0503020204020204" charset="-122"/>
            </a:endParaRPr>
          </a:p>
        </p:txBody>
      </p:sp>
      <p:sp>
        <p:nvSpPr>
          <p:cNvPr id="10" name="New shape"/>
          <p:cNvSpPr/>
          <p:nvPr>
            <p:custDataLst>
              <p:tags r:id="rId3"/>
            </p:custDataLst>
          </p:nvPr>
        </p:nvSpPr>
        <p:spPr>
          <a:xfrm>
            <a:off x="8112760" y="98108"/>
            <a:ext cx="862965" cy="66421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p>
            <a:pPr algn="l"/>
            <a:r>
              <a:rPr sz="9600" b="1" i="0">
                <a:solidFill>
                  <a:srgbClr val="18AFAB"/>
                </a:solidFill>
                <a:highlight>
                  <a:srgbClr val="FFFFFF">
                    <a:alpha val="0"/>
                  </a:srgbClr>
                </a:highlight>
                <a:latin typeface="微软雅黑" panose="020B0503020204020204" charset="-122"/>
              </a:rPr>
              <a:t>可审计性</a:t>
            </a:r>
            <a:br>
              <a:rPr sz="1800">
                <a:latin typeface="微软雅黑" panose="020B0503020204020204" charset="-122"/>
              </a:rPr>
            </a:br>
            <a:endParaRPr sz="1800">
              <a:latin typeface="微软雅黑" panose="020B0503020204020204" charset="-122"/>
            </a:endParaRPr>
          </a:p>
          <a:p>
            <a:pPr algn="l">
              <a:lnSpc>
                <a:spcPct val="150000"/>
              </a:lnSpc>
            </a:pP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EFD"/>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18AFAB"/>
                </a:solidFill>
                <a:highlight>
                  <a:srgbClr val="FFFFFF">
                    <a:alpha val="0"/>
                  </a:srgbClr>
                </a:highlight>
                <a:latin typeface="微软雅黑" panose="020B0503020204020204" charset="-122"/>
              </a:rPr>
              <a:t>04</a:t>
            </a:r>
            <a:endParaRPr sz="4800" b="1" i="0">
              <a:solidFill>
                <a:srgbClr val="18AFAB"/>
              </a:solidFill>
              <a:highlight>
                <a:srgbClr val="FFFFFF">
                  <a:alpha val="0"/>
                </a:srgbClr>
              </a:highlight>
              <a:latin typeface="微软雅黑" panose="020B0503020204020204" charset="-122"/>
            </a:endParaRPr>
          </a:p>
        </p:txBody>
      </p:sp>
      <p:sp>
        <p:nvSpPr>
          <p:cNvPr id="5" name="New shape"/>
          <p:cNvSpPr/>
          <p:nvPr/>
        </p:nvSpPr>
        <p:spPr>
          <a:xfrm>
            <a:off x="986400" y="2631242"/>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479D"/>
                </a:solidFill>
                <a:highlight>
                  <a:srgbClr val="FFFFFF">
                    <a:alpha val="0"/>
                  </a:srgbClr>
                </a:highlight>
                <a:latin typeface="微软雅黑" panose="020B0503020204020204" charset="-122"/>
              </a:rPr>
              <a:t>具体应用</a:t>
            </a:r>
            <a:endParaRPr sz="4800" b="1" i="0">
              <a:solidFill>
                <a:srgbClr val="00479D"/>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防止网络诈骗</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3674066"/>
            <a:ext cx="2744215" cy="11727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highlight>
                  <a:srgbClr val="FFFFFF">
                    <a:alpha val="0"/>
                  </a:srgbClr>
                </a:highlight>
                <a:latin typeface="微软雅黑" panose="020B0503020204020204" charset="-122"/>
              </a:rPr>
              <a:t>介绍网络诈骗的各种形式，如钓鱼网站、虚假广告等，帮助观众了解其特点和手段。</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1556410" y="2422801"/>
            <a:ext cx="2580658" cy="1124265"/>
          </a:xfrm>
          <a:prstGeom prst="roundRect">
            <a:avLst>
              <a:gd name="adj" fmla="val 10888"/>
            </a:avLst>
          </a:prstGeom>
          <a:solidFill>
            <a:srgbClr val="DCF3FF"/>
          </a:solidFill>
          <a:ln w="6350">
            <a:solidFill>
              <a:srgbClr val="0047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18AFAB"/>
                </a:solidFill>
                <a:highlight>
                  <a:srgbClr val="FFFFFF">
                    <a:alpha val="0"/>
                  </a:srgbClr>
                </a:highlight>
                <a:latin typeface="微软雅黑" panose="020B0503020204020204" charset="-122"/>
              </a:rPr>
              <a:t>网络诈骗的常见形式</a:t>
            </a:r>
            <a:endParaRPr sz="2100" b="1" i="0">
              <a:solidFill>
                <a:srgbClr val="18AFAB"/>
              </a:solidFill>
              <a:highlight>
                <a:srgbClr val="FFFFFF">
                  <a:alpha val="0"/>
                </a:srgbClr>
              </a:highlight>
              <a:latin typeface="微软雅黑" panose="020B0503020204020204" charset="-122"/>
            </a:endParaRPr>
          </a:p>
        </p:txBody>
      </p:sp>
      <p:sp>
        <p:nvSpPr>
          <p:cNvPr id="6" name="New shape"/>
          <p:cNvSpPr/>
          <p:nvPr/>
        </p:nvSpPr>
        <p:spPr>
          <a:xfrm>
            <a:off x="4430015" y="3674066"/>
            <a:ext cx="2744215" cy="1533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highlight>
                  <a:srgbClr val="FFFFFF">
                    <a:alpha val="0"/>
                  </a:srgbClr>
                </a:highlight>
                <a:latin typeface="微软雅黑" panose="020B0503020204020204" charset="-122"/>
              </a:rPr>
              <a:t>强调提高网络安全意识的必要性，包括密码保护、不轻易点击陌生链接等，以减少成为网络诈骗受害者的风险。</a:t>
            </a:r>
            <a:endParaRPr sz="1575" b="0" i="0">
              <a:solidFill>
                <a:srgbClr val="000000"/>
              </a:solidFill>
              <a:highlight>
                <a:srgbClr val="FFFFFF">
                  <a:alpha val="0"/>
                </a:srgbClr>
              </a:highlight>
              <a:latin typeface="微软雅黑" panose="020B0503020204020204" charset="-122"/>
            </a:endParaRPr>
          </a:p>
        </p:txBody>
      </p:sp>
      <p:sp>
        <p:nvSpPr>
          <p:cNvPr id="7" name="New shape"/>
          <p:cNvSpPr/>
          <p:nvPr/>
        </p:nvSpPr>
        <p:spPr>
          <a:xfrm>
            <a:off x="4427625" y="2422801"/>
            <a:ext cx="2580660" cy="1124265"/>
          </a:xfrm>
          <a:prstGeom prst="roundRect">
            <a:avLst>
              <a:gd name="adj" fmla="val 10888"/>
            </a:avLst>
          </a:prstGeom>
          <a:solidFill>
            <a:srgbClr val="DCF3FF"/>
          </a:solidFill>
          <a:ln w="6350">
            <a:solidFill>
              <a:srgbClr val="0047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18AFAB"/>
                </a:solidFill>
                <a:highlight>
                  <a:srgbClr val="FFFFFF">
                    <a:alpha val="0"/>
                  </a:srgbClr>
                </a:highlight>
                <a:latin typeface="微软雅黑" panose="020B0503020204020204" charset="-122"/>
              </a:rPr>
              <a:t>提高网络安全意识的重要性</a:t>
            </a:r>
            <a:endParaRPr sz="2100" b="1" i="0">
              <a:solidFill>
                <a:srgbClr val="18AFAB"/>
              </a:solidFill>
              <a:highlight>
                <a:srgbClr val="FFFFFF">
                  <a:alpha val="0"/>
                </a:srgbClr>
              </a:highlight>
              <a:latin typeface="微软雅黑" panose="020B0503020204020204" charset="-122"/>
            </a:endParaRPr>
          </a:p>
        </p:txBody>
      </p:sp>
      <p:sp>
        <p:nvSpPr>
          <p:cNvPr id="8" name="New shape"/>
          <p:cNvSpPr/>
          <p:nvPr/>
        </p:nvSpPr>
        <p:spPr>
          <a:xfrm>
            <a:off x="7301229" y="3674066"/>
            <a:ext cx="2744216" cy="1533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highlight>
                  <a:srgbClr val="FFFFFF">
                    <a:alpha val="0"/>
                  </a:srgbClr>
                </a:highlight>
                <a:latin typeface="微软雅黑" panose="020B0503020204020204" charset="-122"/>
              </a:rPr>
              <a:t>提供一些实用的防范网络诈骗的方法，如安装杀毒软件、定期更新操作系统等，帮助观众保护自己的网络安全。</a:t>
            </a:r>
            <a:endParaRPr sz="1575" b="0" i="0">
              <a:solidFill>
                <a:srgbClr val="000000"/>
              </a:solidFill>
              <a:highlight>
                <a:srgbClr val="FFFFFF">
                  <a:alpha val="0"/>
                </a:srgbClr>
              </a:highlight>
              <a:latin typeface="微软雅黑" panose="020B0503020204020204" charset="-122"/>
            </a:endParaRPr>
          </a:p>
        </p:txBody>
      </p:sp>
      <p:sp>
        <p:nvSpPr>
          <p:cNvPr id="9" name="New shape"/>
          <p:cNvSpPr/>
          <p:nvPr/>
        </p:nvSpPr>
        <p:spPr>
          <a:xfrm>
            <a:off x="7298841" y="2422801"/>
            <a:ext cx="2580658" cy="1124266"/>
          </a:xfrm>
          <a:prstGeom prst="roundRect">
            <a:avLst>
              <a:gd name="adj" fmla="val 10888"/>
            </a:avLst>
          </a:prstGeom>
          <a:solidFill>
            <a:srgbClr val="DCF3FF"/>
          </a:solidFill>
          <a:ln w="6350">
            <a:solidFill>
              <a:srgbClr val="0047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18AFAB"/>
                </a:solidFill>
                <a:highlight>
                  <a:srgbClr val="FFFFFF">
                    <a:alpha val="0"/>
                  </a:srgbClr>
                </a:highlight>
                <a:latin typeface="微软雅黑" panose="020B0503020204020204" charset="-122"/>
              </a:rPr>
              <a:t>防范网络诈骗的有效方法</a:t>
            </a:r>
            <a:endParaRPr sz="2100" b="1" i="0">
              <a:solidFill>
                <a:srgbClr val="18AFAB"/>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密码管理器的选择与使用</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2422800"/>
            <a:ext cx="2744215" cy="2488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密码管理器的重要性</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密码管理器是网络安全工具中的关键一环，它帮助我们生成、存储和管理复杂的密码，保护我们的个人信息安全。</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430015" y="2422800"/>
            <a:ext cx="2744215" cy="2808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选择密码管理器的标准</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在选择密码管理器时，我们需要考虑其安全性、易用性、兼容性和价格等因素，以确保它能为我们提供高效且安全的密码管理服务。</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301229" y="2422800"/>
            <a:ext cx="2744216" cy="28088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密码管理器的使用步骤</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使用密码管理器的步骤包括注册账号、添加密码、设置主密码和同步密码等，通过这些步骤，我们可以方便地管理和保护我们的密码。</a:t>
            </a: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个人信息泄露事件</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6458401" y="1555200"/>
            <a:ext cx="4545078"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个人信息泄露案例</a:t>
            </a:r>
            <a:endParaRPr sz="2100" b="1" i="0">
              <a:solidFill>
                <a:srgbClr val="18AFAB"/>
              </a:solidFill>
              <a:highlight>
                <a:srgbClr val="FFFFFF">
                  <a:alpha val="0"/>
                </a:srgbClr>
              </a:highlight>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探讨近年来发生的个人信息泄露事件，引发对网络安全的思考。</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981860" y="2390400"/>
            <a:ext cx="4545077"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sz="2100" b="1" i="0">
                <a:solidFill>
                  <a:srgbClr val="18AFAB"/>
                </a:solidFill>
                <a:highlight>
                  <a:srgbClr val="FFFFFF">
                    <a:alpha val="0"/>
                  </a:srgbClr>
                </a:highlight>
                <a:latin typeface="微软雅黑" panose="020B0503020204020204" charset="-122"/>
              </a:rPr>
              <a:t>泄露途径分析</a:t>
            </a:r>
            <a:endParaRPr sz="2100" b="1" i="0">
              <a:solidFill>
                <a:srgbClr val="18AFAB"/>
              </a:solidFill>
              <a:highlight>
                <a:srgbClr val="FFFFFF">
                  <a:alpha val="0"/>
                </a:srgbClr>
              </a:highlight>
              <a:latin typeface="微软雅黑" panose="020B0503020204020204" charset="-122"/>
            </a:endParaRPr>
          </a:p>
          <a:p>
            <a:pPr algn="r">
              <a:lnSpc>
                <a:spcPct val="150000"/>
              </a:lnSpc>
            </a:pPr>
            <a:r>
              <a:rPr sz="1575" b="0" i="0">
                <a:solidFill>
                  <a:srgbClr val="000000"/>
                </a:solidFill>
                <a:highlight>
                  <a:srgbClr val="FFFFFF">
                    <a:alpha val="0"/>
                  </a:srgbClr>
                </a:highlight>
                <a:latin typeface="微软雅黑" panose="020B0503020204020204" charset="-122"/>
              </a:rPr>
              <a:t>分析个人信息泄露的途径，包括网络钓鱼、恶意软件等，提醒人们警惕网络安全风险。</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6458401" y="3005402"/>
            <a:ext cx="4554174"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防范措施建议</a:t>
            </a:r>
            <a:endParaRPr sz="2100" b="1" i="0">
              <a:solidFill>
                <a:srgbClr val="18AFAB"/>
              </a:solidFill>
              <a:highlight>
                <a:srgbClr val="FFFFFF">
                  <a:alpha val="0"/>
                </a:srgbClr>
              </a:highlight>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提供有效的个人信息保护措施和建议，帮助人们加强网络安全意识，避免成为受害者。</a:t>
            </a:r>
            <a:endParaRPr sz="1575" b="0" i="0">
              <a:solidFill>
                <a:srgbClr val="000000"/>
              </a:solidFill>
              <a:highlight>
                <a:srgbClr val="FFFFFF">
                  <a:alpha val="0"/>
                </a:srgbClr>
              </a:highlight>
              <a:latin typeface="微软雅黑" panose="020B0503020204020204" charset="-122"/>
            </a:endParaRPr>
          </a:p>
        </p:txBody>
      </p:sp>
      <p:sp>
        <p:nvSpPr>
          <p:cNvPr id="7" name="New shape"/>
          <p:cNvSpPr/>
          <p:nvPr/>
        </p:nvSpPr>
        <p:spPr>
          <a:xfrm>
            <a:off x="5965200" y="1926000"/>
            <a:ext cx="39600" cy="4644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New shape"/>
          <p:cNvSpPr/>
          <p:nvPr/>
        </p:nvSpPr>
        <p:spPr>
          <a:xfrm>
            <a:off x="6152400" y="1735740"/>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New shape"/>
          <p:cNvSpPr/>
          <p:nvPr/>
        </p:nvSpPr>
        <p:spPr>
          <a:xfrm>
            <a:off x="5806800" y="1555200"/>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1</a:t>
            </a:r>
            <a:endParaRPr lang="en-US">
              <a:solidFill>
                <a:srgbClr val="FFFFFF"/>
              </a:solidFill>
            </a:endParaRPr>
          </a:p>
        </p:txBody>
      </p:sp>
      <p:sp>
        <p:nvSpPr>
          <p:cNvPr id="10" name="New shape"/>
          <p:cNvSpPr/>
          <p:nvPr/>
        </p:nvSpPr>
        <p:spPr>
          <a:xfrm>
            <a:off x="5965200" y="2761200"/>
            <a:ext cx="39600" cy="244201"/>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ew shape"/>
          <p:cNvSpPr/>
          <p:nvPr/>
        </p:nvSpPr>
        <p:spPr>
          <a:xfrm>
            <a:off x="5515200" y="2570940"/>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ew shape"/>
          <p:cNvSpPr/>
          <p:nvPr/>
        </p:nvSpPr>
        <p:spPr>
          <a:xfrm>
            <a:off x="5806800" y="2390400"/>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endParaRPr lang="en-US">
              <a:solidFill>
                <a:srgbClr val="FFFFFF"/>
              </a:solidFill>
            </a:endParaRPr>
          </a:p>
        </p:txBody>
      </p:sp>
      <p:sp>
        <p:nvSpPr>
          <p:cNvPr id="13" name="New shape"/>
          <p:cNvSpPr/>
          <p:nvPr/>
        </p:nvSpPr>
        <p:spPr>
          <a:xfrm>
            <a:off x="5965200" y="3376202"/>
            <a:ext cx="39600" cy="4572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New shape"/>
          <p:cNvSpPr/>
          <p:nvPr/>
        </p:nvSpPr>
        <p:spPr>
          <a:xfrm>
            <a:off x="6152400" y="3185942"/>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New shape"/>
          <p:cNvSpPr/>
          <p:nvPr/>
        </p:nvSpPr>
        <p:spPr>
          <a:xfrm>
            <a:off x="5806800" y="3005402"/>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3</a:t>
            </a:r>
            <a:endParaRPr lang="en-US">
              <a:solidFill>
                <a:srgbClr val="FFFFFF"/>
              </a:solidFill>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防范病毒攻击</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3011879"/>
            <a:ext cx="2744215"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病毒识别与防护</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通过安装杀毒软件，实时扫描并识别电脑中的病毒文件，并进行隔离或清除。</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430015" y="3011879"/>
            <a:ext cx="2744215"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安全浏览习惯养成</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避免点击不明链接和下载来路不明的文件，不访问可疑网站，提高上网安全意识。</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301229" y="3011880"/>
            <a:ext cx="2744216"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定期更新系统和软件</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及时安装操作系统和应用程序的安全补丁，修复已知漏洞，防止病毒利用漏洞入侵。</a:t>
            </a:r>
            <a:endParaRPr sz="1575" b="0" i="0">
              <a:solidFill>
                <a:srgbClr val="000000"/>
              </a:solidFill>
              <a:highlight>
                <a:srgbClr val="FFFFFF">
                  <a:alpha val="0"/>
                </a:srgbClr>
              </a:highlight>
              <a:latin typeface="微软雅黑" panose="020B0503020204020204" charset="-122"/>
            </a:endParaRPr>
          </a:p>
        </p:txBody>
      </p:sp>
      <p:pic>
        <p:nvPicPr>
          <p:cNvPr id="7" name="New picture"/>
          <p:cNvPicPr/>
          <p:nvPr/>
        </p:nvPicPr>
        <p:blipFill>
          <a:blip r:embed="rId3"/>
          <a:srcRect/>
          <a:stretch>
            <a:fillRect/>
          </a:stretch>
        </p:blipFill>
        <p:spPr>
          <a:xfrm>
            <a:off x="1558800" y="1342800"/>
            <a:ext cx="2738736" cy="1540539"/>
          </a:xfrm>
          <a:prstGeom prst="rect">
            <a:avLst/>
          </a:prstGeom>
          <a:ln>
            <a:noFill/>
          </a:ln>
        </p:spPr>
      </p:pic>
      <p:pic>
        <p:nvPicPr>
          <p:cNvPr id="8" name="New picture"/>
          <p:cNvPicPr/>
          <p:nvPr/>
        </p:nvPicPr>
        <p:blipFill>
          <a:blip r:embed="rId3"/>
          <a:srcRect/>
          <a:stretch>
            <a:fillRect/>
          </a:stretch>
        </p:blipFill>
        <p:spPr>
          <a:xfrm>
            <a:off x="4430015" y="1342800"/>
            <a:ext cx="2738736" cy="1540539"/>
          </a:xfrm>
          <a:prstGeom prst="rect">
            <a:avLst/>
          </a:prstGeom>
          <a:ln>
            <a:noFill/>
          </a:ln>
        </p:spPr>
      </p:pic>
      <p:pic>
        <p:nvPicPr>
          <p:cNvPr id="9" name="New picture"/>
          <p:cNvPicPr/>
          <p:nvPr/>
        </p:nvPicPr>
        <p:blipFill>
          <a:blip r:embed="rId3"/>
          <a:srcRect/>
          <a:stretch>
            <a:fillRect/>
          </a:stretch>
        </p:blipFill>
        <p:spPr>
          <a:xfrm>
            <a:off x="7301230" y="1342800"/>
            <a:ext cx="2738736" cy="1540539"/>
          </a:xfrm>
          <a:prstGeom prst="rect">
            <a:avLst/>
          </a:prstGeom>
          <a:ln>
            <a:noFill/>
          </a:ln>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企业数据被盗案例</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3674066"/>
            <a:ext cx="2744215" cy="11727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highlight>
                  <a:srgbClr val="FFFFFF">
                    <a:alpha val="0"/>
                  </a:srgbClr>
                </a:highlight>
                <a:latin typeface="微软雅黑" panose="020B0503020204020204" charset="-122"/>
              </a:rPr>
              <a:t>探讨企业数据被盗案例中，导致数据泄露的主要原因和漏洞。</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1556410" y="2422801"/>
            <a:ext cx="2580658" cy="1124265"/>
          </a:xfrm>
          <a:prstGeom prst="roundRect">
            <a:avLst>
              <a:gd name="adj" fmla="val 10888"/>
            </a:avLst>
          </a:prstGeom>
          <a:solidFill>
            <a:srgbClr val="DCF3FF"/>
          </a:solidFill>
          <a:ln w="6350">
            <a:solidFill>
              <a:srgbClr val="0047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18AFAB"/>
                </a:solidFill>
                <a:highlight>
                  <a:srgbClr val="FFFFFF">
                    <a:alpha val="0"/>
                  </a:srgbClr>
                </a:highlight>
                <a:latin typeface="微软雅黑" panose="020B0503020204020204" charset="-122"/>
              </a:rPr>
              <a:t>企业数据泄露的起因</a:t>
            </a:r>
            <a:endParaRPr sz="2100" b="1" i="0">
              <a:solidFill>
                <a:srgbClr val="18AFAB"/>
              </a:solidFill>
              <a:highlight>
                <a:srgbClr val="FFFFFF">
                  <a:alpha val="0"/>
                </a:srgbClr>
              </a:highlight>
              <a:latin typeface="微软雅黑" panose="020B0503020204020204" charset="-122"/>
            </a:endParaRPr>
          </a:p>
        </p:txBody>
      </p:sp>
      <p:sp>
        <p:nvSpPr>
          <p:cNvPr id="6" name="New shape"/>
          <p:cNvSpPr/>
          <p:nvPr/>
        </p:nvSpPr>
        <p:spPr>
          <a:xfrm>
            <a:off x="4430015" y="3674066"/>
            <a:ext cx="2744215" cy="81234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highlight>
                  <a:srgbClr val="FFFFFF">
                    <a:alpha val="0"/>
                  </a:srgbClr>
                </a:highlight>
                <a:latin typeface="微软雅黑" panose="020B0503020204020204" charset="-122"/>
              </a:rPr>
              <a:t>分析在企业数据被盗案例中，黑客采用的具体技术和手段。</a:t>
            </a:r>
            <a:endParaRPr sz="1575" b="0" i="0">
              <a:solidFill>
                <a:srgbClr val="000000"/>
              </a:solidFill>
              <a:highlight>
                <a:srgbClr val="FFFFFF">
                  <a:alpha val="0"/>
                </a:srgbClr>
              </a:highlight>
              <a:latin typeface="微软雅黑" panose="020B0503020204020204" charset="-122"/>
            </a:endParaRPr>
          </a:p>
        </p:txBody>
      </p:sp>
      <p:sp>
        <p:nvSpPr>
          <p:cNvPr id="7" name="New shape"/>
          <p:cNvSpPr/>
          <p:nvPr/>
        </p:nvSpPr>
        <p:spPr>
          <a:xfrm>
            <a:off x="4427625" y="2422801"/>
            <a:ext cx="2580660" cy="1124265"/>
          </a:xfrm>
          <a:prstGeom prst="roundRect">
            <a:avLst>
              <a:gd name="adj" fmla="val 10888"/>
            </a:avLst>
          </a:prstGeom>
          <a:solidFill>
            <a:srgbClr val="DCF3FF"/>
          </a:solidFill>
          <a:ln w="6350">
            <a:solidFill>
              <a:srgbClr val="0047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18AFAB"/>
                </a:solidFill>
                <a:highlight>
                  <a:srgbClr val="FFFFFF">
                    <a:alpha val="0"/>
                  </a:srgbClr>
                </a:highlight>
                <a:latin typeface="微软雅黑" panose="020B0503020204020204" charset="-122"/>
              </a:rPr>
              <a:t>数据盗窃手段与技术</a:t>
            </a:r>
            <a:endParaRPr sz="2100" b="1" i="0">
              <a:solidFill>
                <a:srgbClr val="18AFAB"/>
              </a:solidFill>
              <a:highlight>
                <a:srgbClr val="FFFFFF">
                  <a:alpha val="0"/>
                </a:srgbClr>
              </a:highlight>
              <a:latin typeface="微软雅黑" panose="020B0503020204020204" charset="-122"/>
            </a:endParaRPr>
          </a:p>
        </p:txBody>
      </p:sp>
      <p:sp>
        <p:nvSpPr>
          <p:cNvPr id="8" name="New shape"/>
          <p:cNvSpPr/>
          <p:nvPr/>
        </p:nvSpPr>
        <p:spPr>
          <a:xfrm>
            <a:off x="7301229" y="3197871"/>
            <a:ext cx="2744216" cy="11727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lnSpc>
                <a:spcPct val="150000"/>
              </a:lnSpc>
            </a:pPr>
            <a:r>
              <a:rPr sz="1575" b="0" i="0">
                <a:solidFill>
                  <a:srgbClr val="000000"/>
                </a:solidFill>
                <a:highlight>
                  <a:srgbClr val="FFFFFF">
                    <a:alpha val="0"/>
                  </a:srgbClr>
                </a:highlight>
                <a:latin typeface="微软雅黑" panose="020B0503020204020204" charset="-122"/>
              </a:rPr>
              <a:t>提供针对企业数据被盗案例中的防范措施和建议，保护企业数据安全。</a:t>
            </a:r>
            <a:endParaRPr sz="1575" b="0" i="0">
              <a:solidFill>
                <a:srgbClr val="000000"/>
              </a:solidFill>
              <a:highlight>
                <a:srgbClr val="FFFFFF">
                  <a:alpha val="0"/>
                </a:srgbClr>
              </a:highlight>
              <a:latin typeface="微软雅黑" panose="020B0503020204020204" charset="-122"/>
            </a:endParaRPr>
          </a:p>
        </p:txBody>
      </p:sp>
      <p:sp>
        <p:nvSpPr>
          <p:cNvPr id="9" name="New shape"/>
          <p:cNvSpPr/>
          <p:nvPr/>
        </p:nvSpPr>
        <p:spPr>
          <a:xfrm>
            <a:off x="7298959" y="2422801"/>
            <a:ext cx="2532802" cy="648071"/>
          </a:xfrm>
          <a:prstGeom prst="roundRect">
            <a:avLst>
              <a:gd name="adj" fmla="val 20033"/>
            </a:avLst>
          </a:prstGeom>
          <a:solidFill>
            <a:srgbClr val="DCF3FF"/>
          </a:solidFill>
          <a:ln w="6350">
            <a:solidFill>
              <a:srgbClr val="00479D"/>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2100" b="1" i="0">
                <a:solidFill>
                  <a:srgbClr val="18AFAB"/>
                </a:solidFill>
                <a:highlight>
                  <a:srgbClr val="FFFFFF">
                    <a:alpha val="0"/>
                  </a:srgbClr>
                </a:highlight>
                <a:latin typeface="微软雅黑" panose="020B0503020204020204" charset="-122"/>
              </a:rPr>
              <a:t>防范措施与建议</a:t>
            </a:r>
            <a:endParaRPr sz="2100" b="1" i="0">
              <a:solidFill>
                <a:srgbClr val="18AFAB"/>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大规模网络攻击事件</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3011879"/>
            <a:ext cx="2744215" cy="20880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大规模网络攻击事件概述</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介绍大规模网络攻击事件的定义和特点，以及其对网络安全的影响。</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430015" y="3011879"/>
            <a:ext cx="2744215" cy="2088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常见大规模网络攻击手段</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分析常见的大规模网络攻击手段，如DDoS攻击、恶意软件等，并解释其原理和危害。</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301229" y="3011879"/>
            <a:ext cx="2744216" cy="24484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防范大规模网络攻击的策略</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探讨如何有效防范大规模网络攻击，包括加强网络安全意识、使用安全工具和技术等措施。</a:t>
            </a:r>
            <a:endParaRPr sz="1575" b="0" i="0">
              <a:solidFill>
                <a:srgbClr val="000000"/>
              </a:solidFill>
              <a:highlight>
                <a:srgbClr val="FFFFFF">
                  <a:alpha val="0"/>
                </a:srgbClr>
              </a:highlight>
              <a:latin typeface="微软雅黑" panose="020B0503020204020204" charset="-122"/>
            </a:endParaRPr>
          </a:p>
        </p:txBody>
      </p:sp>
      <p:pic>
        <p:nvPicPr>
          <p:cNvPr id="7" name="New picture"/>
          <p:cNvPicPr/>
          <p:nvPr/>
        </p:nvPicPr>
        <p:blipFill>
          <a:blip r:embed="rId3"/>
          <a:srcRect/>
          <a:stretch>
            <a:fillRect/>
          </a:stretch>
        </p:blipFill>
        <p:spPr>
          <a:xfrm>
            <a:off x="1558800" y="1342800"/>
            <a:ext cx="2738736" cy="1540539"/>
          </a:xfrm>
          <a:prstGeom prst="rect">
            <a:avLst/>
          </a:prstGeom>
          <a:ln>
            <a:noFill/>
          </a:ln>
        </p:spPr>
      </p:pic>
      <p:pic>
        <p:nvPicPr>
          <p:cNvPr id="8" name="New picture"/>
          <p:cNvPicPr/>
          <p:nvPr/>
        </p:nvPicPr>
        <p:blipFill>
          <a:blip r:embed="rId3"/>
          <a:srcRect/>
          <a:stretch>
            <a:fillRect/>
          </a:stretch>
        </p:blipFill>
        <p:spPr>
          <a:xfrm>
            <a:off x="4430015" y="1342800"/>
            <a:ext cx="2738736" cy="1540539"/>
          </a:xfrm>
          <a:prstGeom prst="rect">
            <a:avLst/>
          </a:prstGeom>
          <a:ln>
            <a:noFill/>
          </a:ln>
        </p:spPr>
      </p:pic>
      <p:pic>
        <p:nvPicPr>
          <p:cNvPr id="9" name="New picture"/>
          <p:cNvPicPr/>
          <p:nvPr/>
        </p:nvPicPr>
        <p:blipFill>
          <a:blip r:embed="rId3"/>
          <a:srcRect/>
          <a:stretch>
            <a:fillRect/>
          </a:stretch>
        </p:blipFill>
        <p:spPr>
          <a:xfrm>
            <a:off x="7301230" y="1342800"/>
            <a:ext cx="2738736" cy="1540539"/>
          </a:xfrm>
          <a:prstGeom prst="rect">
            <a:avLst/>
          </a:prstGeom>
          <a:ln>
            <a:noFill/>
          </a:ln>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AI在网络安全中的应用</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2422800"/>
            <a:ext cx="2744215" cy="20880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AI在网络防御中的作用</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利用AI技术，可以快速识别并阻止恶意攻击，提高网络防御效率。</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430015" y="2422800"/>
            <a:ext cx="2744215" cy="2088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AI在数据加密中的应用</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AI算法能够生成复杂的加密密钥，有效保护用户数据的安全。</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301229" y="2422800"/>
            <a:ext cx="2744216" cy="20880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AI在安全审计中的使用</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AI能够自动分析大量日志，发现异常行为，帮助进行安全审计。</a:t>
            </a: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个人隐私保护</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6458401" y="1555200"/>
            <a:ext cx="4545078"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个人隐私泄露风险</a:t>
            </a:r>
            <a:endParaRPr sz="2100" b="1" i="0">
              <a:solidFill>
                <a:srgbClr val="18AFAB"/>
              </a:solidFill>
              <a:highlight>
                <a:srgbClr val="FFFFFF">
                  <a:alpha val="0"/>
                </a:srgbClr>
              </a:highlight>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探讨日常生活中可能面临的个人隐私泄露风险，如社交媒体、网络购物等。</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981860" y="2390400"/>
            <a:ext cx="4545077"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sz="2100" b="1" i="0">
                <a:solidFill>
                  <a:srgbClr val="18AFAB"/>
                </a:solidFill>
                <a:highlight>
                  <a:srgbClr val="FFFFFF">
                    <a:alpha val="0"/>
                  </a:srgbClr>
                </a:highlight>
                <a:latin typeface="微软雅黑" panose="020B0503020204020204" charset="-122"/>
              </a:rPr>
              <a:t>密码保护与安全意识</a:t>
            </a:r>
            <a:endParaRPr sz="2100" b="1" i="0">
              <a:solidFill>
                <a:srgbClr val="18AFAB"/>
              </a:solidFill>
              <a:highlight>
                <a:srgbClr val="FFFFFF">
                  <a:alpha val="0"/>
                </a:srgbClr>
              </a:highlight>
              <a:latin typeface="微软雅黑" panose="020B0503020204020204" charset="-122"/>
            </a:endParaRPr>
          </a:p>
          <a:p>
            <a:pPr algn="r">
              <a:lnSpc>
                <a:spcPct val="150000"/>
              </a:lnSpc>
            </a:pPr>
            <a:r>
              <a:rPr sz="1575" b="0" i="0">
                <a:solidFill>
                  <a:srgbClr val="000000"/>
                </a:solidFill>
                <a:highlight>
                  <a:srgbClr val="FFFFFF">
                    <a:alpha val="0"/>
                  </a:srgbClr>
                </a:highlight>
                <a:latin typeface="微软雅黑" panose="020B0503020204020204" charset="-122"/>
              </a:rPr>
              <a:t>强调使用强密码和定期更换密码的重要性，以及培养网络安全意识的必要性。</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6458401" y="3005402"/>
            <a:ext cx="4554174"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防范网络钓鱼攻击</a:t>
            </a:r>
            <a:endParaRPr sz="2100" b="1" i="0">
              <a:solidFill>
                <a:srgbClr val="18AFAB"/>
              </a:solidFill>
              <a:highlight>
                <a:srgbClr val="FFFFFF">
                  <a:alpha val="0"/>
                </a:srgbClr>
              </a:highlight>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介绍网络钓鱼攻击的常见手段和特点，提供防范措施和识别方法，保护个人信息安全。</a:t>
            </a:r>
            <a:endParaRPr sz="1575" b="0" i="0">
              <a:solidFill>
                <a:srgbClr val="000000"/>
              </a:solidFill>
              <a:highlight>
                <a:srgbClr val="FFFFFF">
                  <a:alpha val="0"/>
                </a:srgbClr>
              </a:highlight>
              <a:latin typeface="微软雅黑" panose="020B0503020204020204" charset="-122"/>
            </a:endParaRPr>
          </a:p>
        </p:txBody>
      </p:sp>
      <p:sp>
        <p:nvSpPr>
          <p:cNvPr id="7" name="New shape"/>
          <p:cNvSpPr/>
          <p:nvPr/>
        </p:nvSpPr>
        <p:spPr>
          <a:xfrm>
            <a:off x="5965200" y="1926000"/>
            <a:ext cx="39600" cy="4644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New shape"/>
          <p:cNvSpPr/>
          <p:nvPr/>
        </p:nvSpPr>
        <p:spPr>
          <a:xfrm>
            <a:off x="6152400" y="1735740"/>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New shape"/>
          <p:cNvSpPr/>
          <p:nvPr/>
        </p:nvSpPr>
        <p:spPr>
          <a:xfrm>
            <a:off x="5806800" y="1555200"/>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1</a:t>
            </a:r>
            <a:endParaRPr lang="en-US">
              <a:solidFill>
                <a:srgbClr val="FFFFFF"/>
              </a:solidFill>
            </a:endParaRPr>
          </a:p>
        </p:txBody>
      </p:sp>
      <p:sp>
        <p:nvSpPr>
          <p:cNvPr id="10" name="New shape"/>
          <p:cNvSpPr/>
          <p:nvPr/>
        </p:nvSpPr>
        <p:spPr>
          <a:xfrm>
            <a:off x="5965200" y="2761200"/>
            <a:ext cx="39600" cy="244201"/>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ew shape"/>
          <p:cNvSpPr/>
          <p:nvPr/>
        </p:nvSpPr>
        <p:spPr>
          <a:xfrm>
            <a:off x="5515200" y="2570940"/>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ew shape"/>
          <p:cNvSpPr/>
          <p:nvPr/>
        </p:nvSpPr>
        <p:spPr>
          <a:xfrm>
            <a:off x="5806800" y="2390400"/>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endParaRPr lang="en-US">
              <a:solidFill>
                <a:srgbClr val="FFFFFF"/>
              </a:solidFill>
            </a:endParaRPr>
          </a:p>
        </p:txBody>
      </p:sp>
      <p:sp>
        <p:nvSpPr>
          <p:cNvPr id="13" name="New shape"/>
          <p:cNvSpPr/>
          <p:nvPr/>
        </p:nvSpPr>
        <p:spPr>
          <a:xfrm>
            <a:off x="5965200" y="3376202"/>
            <a:ext cx="39600" cy="4572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New shape"/>
          <p:cNvSpPr/>
          <p:nvPr/>
        </p:nvSpPr>
        <p:spPr>
          <a:xfrm>
            <a:off x="6152400" y="3185942"/>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New shape"/>
          <p:cNvSpPr/>
          <p:nvPr/>
        </p:nvSpPr>
        <p:spPr>
          <a:xfrm>
            <a:off x="5806800" y="3005402"/>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3</a:t>
            </a:r>
            <a:endParaRPr lang="en-US">
              <a:solidFill>
                <a:srgbClr val="FFFFFF"/>
              </a:solidFill>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EFD"/>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18AFAB"/>
                </a:solidFill>
                <a:highlight>
                  <a:srgbClr val="FFFFFF">
                    <a:alpha val="0"/>
                  </a:srgbClr>
                </a:highlight>
                <a:latin typeface="微软雅黑" panose="020B0503020204020204" charset="-122"/>
              </a:rPr>
              <a:t>05</a:t>
            </a:r>
            <a:endParaRPr sz="4800" b="1" i="0">
              <a:solidFill>
                <a:srgbClr val="18AFAB"/>
              </a:solidFill>
              <a:highlight>
                <a:srgbClr val="FFFFFF">
                  <a:alpha val="0"/>
                </a:srgbClr>
              </a:highlight>
              <a:latin typeface="微软雅黑" panose="020B0503020204020204" charset="-122"/>
            </a:endParaRPr>
          </a:p>
        </p:txBody>
      </p:sp>
      <p:sp>
        <p:nvSpPr>
          <p:cNvPr id="5" name="New shape"/>
          <p:cNvSpPr/>
          <p:nvPr/>
        </p:nvSpPr>
        <p:spPr>
          <a:xfrm>
            <a:off x="986400" y="2448178"/>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479D"/>
                </a:solidFill>
                <a:highlight>
                  <a:srgbClr val="FFFFFF">
                    <a:alpha val="0"/>
                  </a:srgbClr>
                </a:highlight>
                <a:latin typeface="微软雅黑" panose="020B0503020204020204" charset="-122"/>
              </a:rPr>
              <a:t>常见算法原理</a:t>
            </a:r>
            <a:endParaRPr sz="4800" b="1" i="0">
              <a:solidFill>
                <a:srgbClr val="00479D"/>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防火墙技术</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799" y="2422801"/>
            <a:ext cx="3031739" cy="3267239"/>
          </a:xfrm>
          <a:prstGeom prst="roundRect">
            <a:avLst>
              <a:gd name="adj" fmla="val 10032"/>
            </a:avLst>
          </a:prstGeom>
          <a:solidFill>
            <a:srgbClr val="DCF3FF"/>
          </a:solidFill>
          <a:ln w="6350">
            <a:solidFill>
              <a:srgbClr val="18AF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panose="020B0503020204020204" charset="-122"/>
              </a:rPr>
            </a:br>
            <a:endParaRPr sz="1800">
              <a:latin typeface="微软雅黑" panose="020B0503020204020204" charset="-122"/>
            </a:endParaRPr>
          </a:p>
          <a:p>
            <a:pPr algn="l"/>
            <a:r>
              <a:rPr sz="2100" b="1" i="0">
                <a:solidFill>
                  <a:srgbClr val="18AFAB"/>
                </a:solidFill>
                <a:highlight>
                  <a:srgbClr val="FFFFFF">
                    <a:alpha val="0"/>
                  </a:srgbClr>
                </a:highlight>
                <a:latin typeface="微软雅黑" panose="020B0503020204020204" charset="-122"/>
              </a:rPr>
              <a:t>防火墙技术概述</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防火墙技术是网络安全中的一种重要手段，用于监控和控制网络流量。</a:t>
            </a:r>
            <a:br>
              <a:rPr sz="1800">
                <a:latin typeface="微软雅黑" panose="020B0503020204020204" charset="-122"/>
              </a:rPr>
            </a:br>
            <a:endParaRPr sz="1800">
              <a:latin typeface="微软雅黑" panose="020B0503020204020204" charset="-122"/>
            </a:endParaRPr>
          </a:p>
        </p:txBody>
      </p:sp>
      <p:sp>
        <p:nvSpPr>
          <p:cNvPr id="5" name="New shape"/>
          <p:cNvSpPr/>
          <p:nvPr/>
        </p:nvSpPr>
        <p:spPr>
          <a:xfrm>
            <a:off x="4717538" y="2422802"/>
            <a:ext cx="3040501" cy="3267239"/>
          </a:xfrm>
          <a:prstGeom prst="roundRect">
            <a:avLst>
              <a:gd name="adj" fmla="val 10000"/>
            </a:avLst>
          </a:prstGeom>
          <a:solidFill>
            <a:srgbClr val="DCF3FF"/>
          </a:solidFill>
          <a:ln w="6350">
            <a:solidFill>
              <a:srgbClr val="18AF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panose="020B0503020204020204" charset="-122"/>
              </a:rPr>
            </a:br>
            <a:endParaRPr sz="1800">
              <a:latin typeface="微软雅黑" panose="020B0503020204020204" charset="-122"/>
            </a:endParaRPr>
          </a:p>
          <a:p>
            <a:pPr algn="l"/>
            <a:r>
              <a:rPr sz="2100" b="1" i="0">
                <a:solidFill>
                  <a:srgbClr val="18AFAB"/>
                </a:solidFill>
                <a:highlight>
                  <a:srgbClr val="FFFFFF">
                    <a:alpha val="0"/>
                  </a:srgbClr>
                </a:highlight>
                <a:latin typeface="微软雅黑" panose="020B0503020204020204" charset="-122"/>
              </a:rPr>
              <a:t>数据包过滤原理</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防火墙通过分析数据包的源地址、目标地址和协议等信息，对不符合安全策略的数据包进行过滤。</a:t>
            </a:r>
            <a:br>
              <a:rPr sz="1800">
                <a:latin typeface="微软雅黑" panose="020B0503020204020204" charset="-122"/>
              </a:rPr>
            </a:br>
            <a:endParaRPr sz="1800">
              <a:latin typeface="微软雅黑" panose="020B0503020204020204" charset="-122"/>
            </a:endParaRPr>
          </a:p>
        </p:txBody>
      </p:sp>
      <p:sp>
        <p:nvSpPr>
          <p:cNvPr id="6" name="New shape"/>
          <p:cNvSpPr/>
          <p:nvPr/>
        </p:nvSpPr>
        <p:spPr>
          <a:xfrm>
            <a:off x="7885040" y="2422802"/>
            <a:ext cx="3040503" cy="3267239"/>
          </a:xfrm>
          <a:prstGeom prst="roundRect">
            <a:avLst>
              <a:gd name="adj" fmla="val 10000"/>
            </a:avLst>
          </a:prstGeom>
          <a:solidFill>
            <a:srgbClr val="DCF3FF"/>
          </a:solidFill>
          <a:ln w="6350">
            <a:solidFill>
              <a:srgbClr val="18AF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br>
              <a:rPr sz="1800">
                <a:latin typeface="微软雅黑" panose="020B0503020204020204" charset="-122"/>
              </a:rPr>
            </a:br>
            <a:endParaRPr sz="1800">
              <a:latin typeface="微软雅黑" panose="020B0503020204020204" charset="-122"/>
            </a:endParaRPr>
          </a:p>
          <a:p>
            <a:pPr algn="l"/>
            <a:r>
              <a:rPr sz="2100" b="1" i="0">
                <a:solidFill>
                  <a:srgbClr val="18AFAB"/>
                </a:solidFill>
                <a:highlight>
                  <a:srgbClr val="FFFFFF">
                    <a:alpha val="0"/>
                  </a:srgbClr>
                </a:highlight>
                <a:latin typeface="微软雅黑" panose="020B0503020204020204" charset="-122"/>
              </a:rPr>
              <a:t>应用层防火墙功能</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应用层防火墙能够识别并控制特定应用程序的网络连接，提供更细致的访问控制和安全防护。</a:t>
            </a:r>
            <a:br>
              <a:rPr sz="1800">
                <a:latin typeface="微软雅黑" panose="020B0503020204020204" charset="-122"/>
              </a:rPr>
            </a:br>
            <a:endParaRPr sz="1800">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加密技术</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2422800"/>
            <a:ext cx="2744215"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对称加密技术</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通过相同密钥进行加解密，保证数据安全传输的加密方法。</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430015" y="2422800"/>
            <a:ext cx="2744215"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非对称加密技术</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使用一对公钥和私钥进行加解密，确保数据传输的安全性和完整性。</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301229" y="2422800"/>
            <a:ext cx="2744216"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数字签名技术</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利用密码算法对数据进行签名，验证数据的完整性和真实性，保障网络安全。</a:t>
            </a: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入侵检测系统</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6458401" y="1555200"/>
            <a:ext cx="4545078"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入侵检测系统概述</a:t>
            </a:r>
            <a:endParaRPr sz="2100" b="1" i="0">
              <a:solidFill>
                <a:srgbClr val="18AFAB"/>
              </a:solidFill>
              <a:highlight>
                <a:srgbClr val="FFFFFF">
                  <a:alpha val="0"/>
                </a:srgbClr>
              </a:highlight>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介绍入侵检测系统的基本概念和作用，为后续内容做铺垫。</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981860" y="2390400"/>
            <a:ext cx="4545077"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sz="2100" b="1" i="0">
                <a:solidFill>
                  <a:srgbClr val="18AFAB"/>
                </a:solidFill>
                <a:highlight>
                  <a:srgbClr val="FFFFFF">
                    <a:alpha val="0"/>
                  </a:srgbClr>
                </a:highlight>
                <a:latin typeface="微软雅黑" panose="020B0503020204020204" charset="-122"/>
              </a:rPr>
              <a:t>入侵检测技术分类</a:t>
            </a:r>
            <a:endParaRPr sz="2100" b="1" i="0">
              <a:solidFill>
                <a:srgbClr val="18AFAB"/>
              </a:solidFill>
              <a:highlight>
                <a:srgbClr val="FFFFFF">
                  <a:alpha val="0"/>
                </a:srgbClr>
              </a:highlight>
              <a:latin typeface="微软雅黑" panose="020B0503020204020204" charset="-122"/>
            </a:endParaRPr>
          </a:p>
          <a:p>
            <a:pPr algn="r">
              <a:lnSpc>
                <a:spcPct val="150000"/>
              </a:lnSpc>
            </a:pPr>
            <a:r>
              <a:rPr sz="1575" b="0" i="0">
                <a:solidFill>
                  <a:srgbClr val="000000"/>
                </a:solidFill>
                <a:highlight>
                  <a:srgbClr val="FFFFFF">
                    <a:alpha val="0"/>
                  </a:srgbClr>
                </a:highlight>
                <a:latin typeface="微软雅黑" panose="020B0503020204020204" charset="-122"/>
              </a:rPr>
              <a:t>分析入侵检测技术的分类，包括基于特征、异常和行为等方法。</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6458401" y="3005402"/>
            <a:ext cx="4554174" cy="11327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入侵检测系统应用案例</a:t>
            </a:r>
            <a:endParaRPr sz="2100" b="1" i="0">
              <a:solidFill>
                <a:srgbClr val="18AFAB"/>
              </a:solidFill>
              <a:highlight>
                <a:srgbClr val="FFFFFF">
                  <a:alpha val="0"/>
                </a:srgbClr>
              </a:highlight>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展示入侵检测系统在网络安全中的实际应用案例，加深理解。</a:t>
            </a:r>
            <a:endParaRPr sz="1575" b="0" i="0">
              <a:solidFill>
                <a:srgbClr val="000000"/>
              </a:solidFill>
              <a:highlight>
                <a:srgbClr val="FFFFFF">
                  <a:alpha val="0"/>
                </a:srgbClr>
              </a:highlight>
              <a:latin typeface="微软雅黑" panose="020B0503020204020204" charset="-122"/>
            </a:endParaRPr>
          </a:p>
        </p:txBody>
      </p:sp>
      <p:sp>
        <p:nvSpPr>
          <p:cNvPr id="7" name="New shape"/>
          <p:cNvSpPr/>
          <p:nvPr/>
        </p:nvSpPr>
        <p:spPr>
          <a:xfrm>
            <a:off x="5965200" y="1926000"/>
            <a:ext cx="39600" cy="4644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New shape"/>
          <p:cNvSpPr/>
          <p:nvPr/>
        </p:nvSpPr>
        <p:spPr>
          <a:xfrm>
            <a:off x="6152400" y="1735740"/>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New shape"/>
          <p:cNvSpPr/>
          <p:nvPr/>
        </p:nvSpPr>
        <p:spPr>
          <a:xfrm>
            <a:off x="5806800" y="1555200"/>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1</a:t>
            </a:r>
            <a:endParaRPr lang="en-US">
              <a:solidFill>
                <a:srgbClr val="FFFFFF"/>
              </a:solidFill>
            </a:endParaRPr>
          </a:p>
        </p:txBody>
      </p:sp>
      <p:sp>
        <p:nvSpPr>
          <p:cNvPr id="10" name="New shape"/>
          <p:cNvSpPr/>
          <p:nvPr/>
        </p:nvSpPr>
        <p:spPr>
          <a:xfrm>
            <a:off x="5965200" y="2761200"/>
            <a:ext cx="39600" cy="244201"/>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New shape"/>
          <p:cNvSpPr/>
          <p:nvPr/>
        </p:nvSpPr>
        <p:spPr>
          <a:xfrm>
            <a:off x="5515200" y="2570940"/>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New shape"/>
          <p:cNvSpPr/>
          <p:nvPr/>
        </p:nvSpPr>
        <p:spPr>
          <a:xfrm>
            <a:off x="5806800" y="2390400"/>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endParaRPr lang="en-US">
              <a:solidFill>
                <a:srgbClr val="FFFFFF"/>
              </a:solidFill>
            </a:endParaRPr>
          </a:p>
        </p:txBody>
      </p:sp>
      <p:sp>
        <p:nvSpPr>
          <p:cNvPr id="13" name="New shape"/>
          <p:cNvSpPr/>
          <p:nvPr/>
        </p:nvSpPr>
        <p:spPr>
          <a:xfrm>
            <a:off x="5965200" y="3376202"/>
            <a:ext cx="39600" cy="4572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New shape"/>
          <p:cNvSpPr/>
          <p:nvPr/>
        </p:nvSpPr>
        <p:spPr>
          <a:xfrm>
            <a:off x="6152400" y="3185942"/>
            <a:ext cx="309600" cy="39600"/>
          </a:xfrm>
          <a:prstGeom prst="rect">
            <a:avLst/>
          </a:prstGeom>
          <a:solidFill>
            <a:srgbClr val="18AF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New shape"/>
          <p:cNvSpPr/>
          <p:nvPr/>
        </p:nvSpPr>
        <p:spPr>
          <a:xfrm>
            <a:off x="5806800" y="3005402"/>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3</a:t>
            </a:r>
            <a:endParaRPr lang="en-US">
              <a:solidFill>
                <a:srgbClr val="FFFFFF"/>
              </a:solidFill>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EFD"/>
        </a:solidFill>
        <a:effectLst/>
      </p:bgPr>
    </p:bg>
    <p:spTree>
      <p:nvGrpSpPr>
        <p:cNvPr id="1" name=""/>
        <p:cNvGrpSpPr/>
        <p:nvPr/>
      </p:nvGrpSpPr>
      <p:grpSpPr>
        <a:xfrm>
          <a:off x="0" y="0"/>
          <a:ext cx="0" cy="0"/>
          <a:chOff x="0" y="0"/>
          <a:chExt cx="0" cy="0"/>
        </a:xfrm>
      </p:grpSpPr>
      <p:pic>
        <p:nvPicPr>
          <p:cNvPr id="2" name="New picture"/>
          <p:cNvPicPr/>
          <p:nvPr/>
        </p:nvPicPr>
        <p:blipFill>
          <a:blip r:embed="rId1"/>
          <a:srcRect/>
          <a:stretch>
            <a:fillRect/>
          </a:stretch>
        </p:blipFill>
        <p:spPr>
          <a:xfrm>
            <a:off x="7802880" y="0"/>
            <a:ext cx="4389120" cy="6858000"/>
          </a:xfrm>
          <a:prstGeom prst="rect">
            <a:avLst/>
          </a:prstGeom>
          <a:ln>
            <a:noFill/>
          </a:ln>
        </p:spPr>
      </p:pic>
      <p:pic>
        <p:nvPicPr>
          <p:cNvPr id="3" name="New picture"/>
          <p:cNvPicPr/>
          <p:nvPr/>
        </p:nvPicPr>
        <p:blipFill>
          <a:blip r:embed="rId2"/>
          <a:srcRect/>
          <a:stretch>
            <a:fillRect/>
          </a:stretch>
        </p:blipFill>
        <p:spPr>
          <a:xfrm>
            <a:off x="766800" y="835200"/>
            <a:ext cx="925200" cy="925200"/>
          </a:xfrm>
          <a:prstGeom prst="rect">
            <a:avLst/>
          </a:prstGeom>
          <a:ln>
            <a:noFill/>
          </a:ln>
        </p:spPr>
      </p:pic>
      <p:sp>
        <p:nvSpPr>
          <p:cNvPr id="4" name="New shape"/>
          <p:cNvSpPr/>
          <p:nvPr/>
        </p:nvSpPr>
        <p:spPr>
          <a:xfrm>
            <a:off x="986400" y="931446"/>
            <a:ext cx="5776571"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18AFAB"/>
                </a:solidFill>
                <a:highlight>
                  <a:srgbClr val="FFFFFF">
                    <a:alpha val="0"/>
                  </a:srgbClr>
                </a:highlight>
                <a:latin typeface="微软雅黑" panose="020B0503020204020204" charset="-122"/>
              </a:rPr>
              <a:t>06</a:t>
            </a:r>
            <a:endParaRPr sz="4800" b="1" i="0">
              <a:solidFill>
                <a:srgbClr val="18AFAB"/>
              </a:solidFill>
              <a:highlight>
                <a:srgbClr val="FFFFFF">
                  <a:alpha val="0"/>
                </a:srgbClr>
              </a:highlight>
              <a:latin typeface="微软雅黑" panose="020B0503020204020204" charset="-122"/>
            </a:endParaRPr>
          </a:p>
        </p:txBody>
      </p:sp>
      <p:sp>
        <p:nvSpPr>
          <p:cNvPr id="5" name="New shape"/>
          <p:cNvSpPr/>
          <p:nvPr/>
        </p:nvSpPr>
        <p:spPr>
          <a:xfrm>
            <a:off x="2207505" y="2709163"/>
            <a:ext cx="5771526" cy="1198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4800" b="1" i="0">
                <a:solidFill>
                  <a:srgbClr val="00479D"/>
                </a:solidFill>
                <a:highlight>
                  <a:srgbClr val="FFFFFF">
                    <a:alpha val="0"/>
                  </a:srgbClr>
                </a:highlight>
                <a:latin typeface="微软雅黑" panose="020B0503020204020204" charset="-122"/>
              </a:rPr>
              <a:t>结论</a:t>
            </a:r>
            <a:endParaRPr sz="4800" b="1" i="0">
              <a:solidFill>
                <a:srgbClr val="00479D"/>
              </a:solidFill>
              <a:highlight>
                <a:srgbClr val="FFFFFF">
                  <a:alpha val="0"/>
                </a:srgbClr>
              </a:highlight>
              <a:latin typeface="微软雅黑" panose="020B0503020204020204" charset="-122"/>
            </a:endParaRPr>
          </a:p>
        </p:txBody>
      </p:sp>
      <p:pic>
        <p:nvPicPr>
          <p:cNvPr id="6" name="网络安全">
            <a:hlinkClick r:id="" action="ppaction://media"/>
          </p:cNvPr>
          <p:cNvPicPr/>
          <p:nvPr>
            <a:audioFile r:link="rId3"/>
            <p:extLst>
              <p:ext uri="{DAA4B4D4-6D71-4841-9C94-3DE7FCFB9230}">
                <p14:media xmlns:p14="http://schemas.microsoft.com/office/powerpoint/2010/main" r:embed="rId4"/>
              </p:ext>
            </p:extLst>
          </p:nvPr>
        </p:nvPicPr>
        <p:blipFill>
          <a:blip r:embed="rId5"/>
          <a:stretch>
            <a:fillRect/>
          </a:stretch>
        </p:blipFill>
        <p:spPr>
          <a:xfrm>
            <a:off x="5663565" y="4714875"/>
            <a:ext cx="899795" cy="84518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183813"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1">
                  <p:stCondLst>
                    <p:cond delay="indefinite"/>
                  </p:stCondLst>
                  <p:endCondLst>
                    <p:cond evt="onStopAudio">
                      <p:tgtEl>
                        <p:sldTgt/>
                      </p:tgtEl>
                    </p:cond>
                  </p:endCondLst>
                </p:cTn>
                <p:tgtEl>
                  <p:spTgt spid="6"/>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学习网络安全知识的重要性</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3011879"/>
            <a:ext cx="2744215"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知识是防线</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学习网络安全知识，可以增强个人对网络风险的识别和防范能力。</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430015" y="3011879"/>
            <a:ext cx="2744215"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信息保护关键</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掌握网络安全知识，能有效保护个人信息不被非法获取和利用。</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301229" y="3011880"/>
            <a:ext cx="2744216"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安全意识提升</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通过学习网络安全知识，可以提高个人的网络安全意识，避免陷入网络陷阱。</a:t>
            </a:r>
            <a:endParaRPr sz="1575" b="0" i="0">
              <a:solidFill>
                <a:srgbClr val="000000"/>
              </a:solidFill>
              <a:highlight>
                <a:srgbClr val="FFFFFF">
                  <a:alpha val="0"/>
                </a:srgbClr>
              </a:highlight>
              <a:latin typeface="微软雅黑" panose="020B0503020204020204" charset="-122"/>
            </a:endParaRPr>
          </a:p>
        </p:txBody>
      </p:sp>
      <p:pic>
        <p:nvPicPr>
          <p:cNvPr id="10" name="图片 11" descr="IMG_256"/>
          <p:cNvPicPr>
            <a:picLocks noChangeAspect="1"/>
          </p:cNvPicPr>
          <p:nvPr/>
        </p:nvPicPr>
        <p:blipFill>
          <a:blip r:embed="rId3"/>
          <a:stretch>
            <a:fillRect/>
          </a:stretch>
        </p:blipFill>
        <p:spPr>
          <a:xfrm>
            <a:off x="1609725" y="921385"/>
            <a:ext cx="7693660" cy="1867535"/>
          </a:xfrm>
          <a:prstGeom prst="rect">
            <a:avLst/>
          </a:prstGeom>
          <a:noFill/>
          <a:ln w="9525">
            <a:noFill/>
          </a:ln>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培养良好的上网习惯</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774800" y="1555200"/>
            <a:ext cx="8016003" cy="1046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使用复杂密码</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为个人账户设置复杂且不易猜测的密码，提高账户安全性。</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1774800" y="2729091"/>
            <a:ext cx="8016003" cy="1046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定期更新软件</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及时更新操作系统和应用程序，修复已知的安全漏洞。</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1774800" y="3902982"/>
            <a:ext cx="8016003" cy="10468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谨慎点击链接</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避免点击来自不明来源的链接，防止恶意软件感染。</a:t>
            </a:r>
            <a:endParaRPr sz="1575" b="0" i="0">
              <a:solidFill>
                <a:srgbClr val="000000"/>
              </a:solidFill>
              <a:highlight>
                <a:srgbClr val="FFFFFF">
                  <a:alpha val="0"/>
                </a:srgbClr>
              </a:highlight>
              <a:latin typeface="微软雅黑" panose="020B0503020204020204" charset="-122"/>
            </a:endParaRPr>
          </a:p>
        </p:txBody>
      </p:sp>
      <p:sp>
        <p:nvSpPr>
          <p:cNvPr id="7" name="New shape"/>
          <p:cNvSpPr/>
          <p:nvPr/>
        </p:nvSpPr>
        <p:spPr>
          <a:xfrm>
            <a:off x="1270800" y="1555200"/>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1</a:t>
            </a:r>
            <a:endParaRPr lang="en-US">
              <a:solidFill>
                <a:srgbClr val="FFFFFF"/>
              </a:solidFill>
            </a:endParaRPr>
          </a:p>
        </p:txBody>
      </p:sp>
      <p:sp>
        <p:nvSpPr>
          <p:cNvPr id="8" name="New shape"/>
          <p:cNvSpPr/>
          <p:nvPr/>
        </p:nvSpPr>
        <p:spPr>
          <a:xfrm>
            <a:off x="1270800" y="2729091"/>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2</a:t>
            </a:r>
            <a:endParaRPr lang="en-US">
              <a:solidFill>
                <a:srgbClr val="FFFFFF"/>
              </a:solidFill>
            </a:endParaRPr>
          </a:p>
        </p:txBody>
      </p:sp>
      <p:sp>
        <p:nvSpPr>
          <p:cNvPr id="9" name="New shape"/>
          <p:cNvSpPr/>
          <p:nvPr/>
        </p:nvSpPr>
        <p:spPr>
          <a:xfrm>
            <a:off x="1270800" y="3902982"/>
            <a:ext cx="360000" cy="370800"/>
          </a:xfrm>
          <a:prstGeom prst="roundRect">
            <a:avLst>
              <a:gd name="adj" fmla="val 8819"/>
            </a:avLst>
          </a:prstGeom>
          <a:solidFill>
            <a:srgbClr val="0047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rgbClr val="FFFFFF"/>
                </a:solidFill>
              </a:rPr>
              <a:t>3</a:t>
            </a:r>
            <a:endParaRPr lang="en-US">
              <a:solidFill>
                <a:srgbClr val="FFFFFF"/>
              </a:solidFill>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pic>
        <p:nvPicPr>
          <p:cNvPr id="2" name="New picture"/>
          <p:cNvPicPr/>
          <p:nvPr/>
        </p:nvPicPr>
        <p:blipFill>
          <a:blip r:embed="rId2"/>
          <a:srcRect/>
          <a:stretch>
            <a:fillRect/>
          </a:stretch>
        </p:blipFill>
        <p:spPr>
          <a:xfrm>
            <a:off x="424800" y="338400"/>
            <a:ext cx="619200" cy="313200"/>
          </a:xfrm>
          <a:prstGeom prst="rect">
            <a:avLst/>
          </a:prstGeom>
          <a:ln>
            <a:noFill/>
          </a:ln>
        </p:spPr>
      </p:pic>
      <p:sp>
        <p:nvSpPr>
          <p:cNvPr id="3" name="New shape"/>
          <p:cNvSpPr/>
          <p:nvPr/>
        </p:nvSpPr>
        <p:spPr>
          <a:xfrm>
            <a:off x="982800" y="105991"/>
            <a:ext cx="9369360" cy="7780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nSpc>
                <a:spcPct val="150000"/>
              </a:lnSpc>
            </a:pPr>
            <a:r>
              <a:rPr sz="3000" b="1" i="0">
                <a:solidFill>
                  <a:srgbClr val="000000"/>
                </a:solidFill>
                <a:highlight>
                  <a:srgbClr val="FFFFFF">
                    <a:alpha val="0"/>
                  </a:srgbClr>
                </a:highlight>
                <a:latin typeface="微软雅黑" panose="020B0503020204020204" charset="-122"/>
              </a:rPr>
              <a:t>加强个人信息保护意识</a:t>
            </a:r>
            <a:endParaRPr sz="3000" b="1" i="0">
              <a:solidFill>
                <a:srgbClr val="000000"/>
              </a:solidFill>
              <a:highlight>
                <a:srgbClr val="FFFFFF">
                  <a:alpha val="0"/>
                </a:srgbClr>
              </a:highlight>
              <a:latin typeface="微软雅黑" panose="020B0503020204020204" charset="-122"/>
            </a:endParaRPr>
          </a:p>
        </p:txBody>
      </p:sp>
      <p:sp>
        <p:nvSpPr>
          <p:cNvPr id="4" name="New shape"/>
          <p:cNvSpPr/>
          <p:nvPr/>
        </p:nvSpPr>
        <p:spPr>
          <a:xfrm>
            <a:off x="1558800" y="2422800"/>
            <a:ext cx="2744215"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密码安全设置</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使用复杂且独特的密码，定期更换，避免使用相同的密码。</a:t>
            </a:r>
            <a:endParaRPr sz="1575" b="0" i="0">
              <a:solidFill>
                <a:srgbClr val="000000"/>
              </a:solidFill>
              <a:highlight>
                <a:srgbClr val="FFFFFF">
                  <a:alpha val="0"/>
                </a:srgbClr>
              </a:highlight>
              <a:latin typeface="微软雅黑" panose="020B0503020204020204" charset="-122"/>
            </a:endParaRPr>
          </a:p>
        </p:txBody>
      </p:sp>
      <p:sp>
        <p:nvSpPr>
          <p:cNvPr id="5" name="New shape"/>
          <p:cNvSpPr/>
          <p:nvPr/>
        </p:nvSpPr>
        <p:spPr>
          <a:xfrm>
            <a:off x="4430015" y="2422800"/>
            <a:ext cx="2744215" cy="140729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防范钓鱼网站</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谨慎点击不明链接，确保访问的网站是正规和安全的。</a:t>
            </a:r>
            <a:endParaRPr sz="1575" b="0" i="0">
              <a:solidFill>
                <a:srgbClr val="000000"/>
              </a:solidFill>
              <a:highlight>
                <a:srgbClr val="FFFFFF">
                  <a:alpha val="0"/>
                </a:srgbClr>
              </a:highlight>
              <a:latin typeface="微软雅黑" panose="020B0503020204020204" charset="-122"/>
            </a:endParaRPr>
          </a:p>
        </p:txBody>
      </p:sp>
      <p:sp>
        <p:nvSpPr>
          <p:cNvPr id="6" name="New shape"/>
          <p:cNvSpPr/>
          <p:nvPr/>
        </p:nvSpPr>
        <p:spPr>
          <a:xfrm>
            <a:off x="7301229" y="2422800"/>
            <a:ext cx="2744216" cy="176770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l"/>
            <a:r>
              <a:rPr sz="2100" b="1" i="0">
                <a:solidFill>
                  <a:srgbClr val="18AFAB"/>
                </a:solidFill>
                <a:highlight>
                  <a:srgbClr val="FFFFFF">
                    <a:alpha val="0"/>
                  </a:srgbClr>
                </a:highlight>
                <a:latin typeface="微软雅黑" panose="020B0503020204020204" charset="-122"/>
              </a:rPr>
              <a:t>保护个人信息</a:t>
            </a:r>
            <a:br>
              <a:rPr sz="1800">
                <a:latin typeface="微软雅黑" panose="020B0503020204020204" charset="-122"/>
              </a:rPr>
            </a:br>
            <a:endParaRPr sz="1800">
              <a:latin typeface="微软雅黑" panose="020B0503020204020204" charset="-122"/>
            </a:endParaRPr>
          </a:p>
          <a:p>
            <a:pPr algn="l">
              <a:lnSpc>
                <a:spcPct val="150000"/>
              </a:lnSpc>
            </a:pPr>
            <a:r>
              <a:rPr sz="1575" b="0" i="0">
                <a:solidFill>
                  <a:srgbClr val="000000"/>
                </a:solidFill>
                <a:highlight>
                  <a:srgbClr val="FFFFFF">
                    <a:alpha val="0"/>
                  </a:srgbClr>
                </a:highlight>
                <a:latin typeface="微软雅黑" panose="020B0503020204020204" charset="-122"/>
              </a:rPr>
              <a:t>不随意透露个人敏感信息，如身份证号、银行卡号等，防止信息被盗用。</a:t>
            </a:r>
            <a:endParaRPr sz="1575"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a:blip r:embed="rId1"/>
          <a:srcRect/>
          <a:stretch>
            <a:fillRect/>
          </a:stretch>
        </a:blipFill>
        <a:effectLst/>
      </p:bgPr>
    </p:bg>
    <p:spTree>
      <p:nvGrpSpPr>
        <p:cNvPr id="1" name=""/>
        <p:cNvGrpSpPr/>
        <p:nvPr/>
      </p:nvGrpSpPr>
      <p:grpSpPr>
        <a:xfrm>
          <a:off x="0" y="0"/>
          <a:ext cx="0" cy="0"/>
          <a:chOff x="0" y="0"/>
          <a:chExt cx="0" cy="0"/>
        </a:xfrm>
      </p:grpSpPr>
      <p:sp>
        <p:nvSpPr>
          <p:cNvPr id="2" name="New shape"/>
          <p:cNvSpPr/>
          <p:nvPr/>
        </p:nvSpPr>
        <p:spPr>
          <a:xfrm>
            <a:off x="611778" y="2635727"/>
            <a:ext cx="11038043" cy="11899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lnSpc>
                <a:spcPct val="150000"/>
              </a:lnSpc>
            </a:pPr>
            <a:r>
              <a:rPr sz="4800" b="0" i="0">
                <a:solidFill>
                  <a:srgbClr val="000000"/>
                </a:solidFill>
                <a:highlight>
                  <a:srgbClr val="FFFFFF">
                    <a:alpha val="0"/>
                  </a:srgbClr>
                </a:highlight>
                <a:latin typeface="微软雅黑" panose="020B0503020204020204" charset="-122"/>
              </a:rPr>
              <a:t>谢 谢 大 家</a:t>
            </a:r>
            <a:endParaRPr sz="4800" b="0" i="0">
              <a:solidFill>
                <a:srgbClr val="000000"/>
              </a:solidFill>
              <a:highlight>
                <a:srgbClr val="FFFFFF">
                  <a:alpha val="0"/>
                </a:srgbClr>
              </a:highlight>
              <a:latin typeface="微软雅黑" panose="020B0503020204020204" charset="-122"/>
            </a:endParaRPr>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KSO_WM_MEDIACOVER_FLAG" val="1"/>
  <p:tag name="KSO_WM_UNIT_MEDIACOVER_BTN_STATE" val="1"/>
  <p:tag name="KSO_WM_UNIT_MEDIACOVER_BTNRECT" val="9077*4877*1045*1045"/>
  <p:tag name="KSO_WM_UNIT_MEDIACOVER_STYLEID" val="1"/>
  <p:tag name="KSO_WM_UNIT_MEDIACOVER_TEXTSTATE" val="0"/>
  <p:tag name="KSO_WM_UNIT_MEDIACOVER_BTN_POS" val="c"/>
  <p:tag name="KSO_WM_UNIT_MEDIACOVER_BTN_STYLE" val="ee0bc779c1f3d7f3e90c96344320e69a"/>
  <p:tag name="KSO_WM_UNIT_MEDIACOVER_RGB" val="000000"/>
  <p:tag name="KSO_WM_UNIT_MEDIACOVER_TRANSPARENCY" val="0.5"/>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AS_NET" val="Unix 5.4 unknown"/>
  <p:tag name="AS_OS" val="Unix 5.4 unknown"/>
  <p:tag name="AS_RELEASE_DATE" val="2013.12.17"/>
  <p:tag name="AS_TITLE" val="Spire.Presentation for .NET "/>
  <p:tag name="AS_VERSION" val="2.1.0.0"/>
  <p:tag name="commondata" val="eyJoZGlkIjoiNWY0ZTA5YzFmOTU5MWNhOTM2YTFmZWVkOTUzMzgxMj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tileRect/>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tileRect/>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tileRect/>
        </a:gradFill>
        <a:gradFill rotWithShape="1">
          <a:gsLst>
            <a:gs pos="0">
              <a:schemeClr val="phClr">
                <a:tint val="80000"/>
                <a:satMod val="300000"/>
              </a:schemeClr>
            </a:gs>
            <a:gs pos="100000">
              <a:schemeClr val="phClr">
                <a:shade val="30000"/>
                <a:satMod val="20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2698</Words>
  <Application>WPS 演示</Application>
  <PresentationFormat>全屏显示(4:3)</PresentationFormat>
  <Paragraphs>282</Paragraphs>
  <Slides>30</Slides>
  <Notes>0</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30</vt:i4>
      </vt:variant>
    </vt:vector>
  </HeadingPairs>
  <TitlesOfParts>
    <vt:vector size="38" baseType="lpstr">
      <vt:lpstr>Arial</vt:lpstr>
      <vt:lpstr>宋体</vt:lpstr>
      <vt:lpstr>Wingdings</vt:lpstr>
      <vt:lpstr>微软雅黑</vt:lpstr>
      <vt:lpstr>Calibri</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秋萤野马</cp:lastModifiedBy>
  <cp:revision>2</cp:revision>
  <dcterms:created xsi:type="dcterms:W3CDTF">2024-01-01T14:57:00Z</dcterms:created>
  <dcterms:modified xsi:type="dcterms:W3CDTF">2024-01-07T10:11:14Z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3DB79B6D7FD84432A283820D7D76DCD8_12</vt:lpwstr>
  </property>
  <property fmtid="{D5CDD505-2E9C-101B-9397-08002B2CF9AE}" pid="3" name="KSOProductBuildVer">
    <vt:lpwstr>2052-12.1.0.16120</vt:lpwstr>
  </property>
</Properties>
</file>