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130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81AF52-A435-4BF6-8F02-9D8D7960437B}" type="datetimeFigureOut">
              <a:rPr lang="zh-CN" altLang="en-US" smtClean="0"/>
              <a:t>2014/11/7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1EC3FD-547B-44DF-9819-AF20AD085641}" type="slidenum">
              <a:rPr lang="zh-CN" altLang="en-US" smtClean="0"/>
              <a:t>‹#›</a:t>
            </a:fld>
            <a:endParaRPr lang="zh-CN" altLang="en-US"/>
          </a:p>
        </p:txBody>
      </p:sp>
    </p:spTree>
    <p:extLst>
      <p:ext uri="{BB962C8B-B14F-4D97-AF65-F5344CB8AC3E}">
        <p14:creationId xmlns:p14="http://schemas.microsoft.com/office/powerpoint/2010/main" val="3315894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RIP</a:t>
            </a:r>
            <a:r>
              <a:rPr lang="zh-CN" altLang="zh-CN" dirty="0" smtClean="0"/>
              <a:t>协议实验包括静态路由配置、</a:t>
            </a:r>
            <a:r>
              <a:rPr lang="en-US" altLang="zh-CN" dirty="0" smtClean="0"/>
              <a:t>RIP</a:t>
            </a:r>
            <a:r>
              <a:rPr lang="zh-CN" altLang="zh-CN" dirty="0" smtClean="0"/>
              <a:t>协议基本分析、</a:t>
            </a:r>
            <a:r>
              <a:rPr lang="en-US" altLang="zh-CN" dirty="0" smtClean="0"/>
              <a:t>DV</a:t>
            </a:r>
            <a:r>
              <a:rPr lang="zh-CN" altLang="zh-CN" dirty="0" smtClean="0"/>
              <a:t>算法分析、触发更新与水平分割算法分析、</a:t>
            </a:r>
            <a:r>
              <a:rPr lang="en-US" altLang="zh-CN" dirty="0" smtClean="0"/>
              <a:t>RIPv2</a:t>
            </a:r>
            <a:r>
              <a:rPr lang="zh-CN" altLang="zh-CN" dirty="0" smtClean="0"/>
              <a:t>协议分析，以及应用静态路由和</a:t>
            </a:r>
            <a:r>
              <a:rPr lang="en-US" altLang="zh-CN" dirty="0" smtClean="0"/>
              <a:t>RIP</a:t>
            </a:r>
            <a:r>
              <a:rPr lang="zh-CN" altLang="zh-CN" dirty="0" smtClean="0"/>
              <a:t>协议进行网络组建等几部分内容。</a:t>
            </a:r>
            <a:endParaRPr lang="zh-CN" altLang="en-US" dirty="0" smtClean="0"/>
          </a:p>
          <a:p>
            <a:endParaRPr lang="zh-CN" altLang="en-US" dirty="0" smtClean="0"/>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D1A8678-B491-468B-96CF-1570C623538E}" type="slidenum">
              <a:rPr lang="en-US" altLang="zh-CN" smtClean="0"/>
              <a:pPr/>
              <a:t>2</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D1A8678-B491-468B-96CF-1570C623538E}" type="slidenum">
              <a:rPr lang="en-US" altLang="zh-CN" smtClean="0"/>
              <a:pPr/>
              <a:t>3</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Arial" charset="0"/>
                <a:ea typeface="宋体" pitchFamily="2" charset="-122"/>
                <a:cs typeface="+mn-cs"/>
              </a:rPr>
              <a:t>在这个组网图中，我们可以看到</a:t>
            </a:r>
            <a:r>
              <a:rPr lang="en-US" altLang="zh-CN" sz="1200" kern="1200" dirty="0" smtClean="0">
                <a:solidFill>
                  <a:schemeClr val="tx1"/>
                </a:solidFill>
                <a:effectLst/>
                <a:latin typeface="Arial" charset="0"/>
                <a:ea typeface="宋体" pitchFamily="2" charset="-122"/>
                <a:cs typeface="+mn-cs"/>
              </a:rPr>
              <a:t>PCA</a:t>
            </a:r>
            <a:r>
              <a:rPr lang="zh-CN" altLang="zh-CN" sz="1200" kern="1200" dirty="0" smtClean="0">
                <a:solidFill>
                  <a:schemeClr val="tx1"/>
                </a:solidFill>
                <a:effectLst/>
                <a:latin typeface="Arial" charset="0"/>
                <a:ea typeface="宋体" pitchFamily="2" charset="-122"/>
                <a:cs typeface="+mn-cs"/>
              </a:rPr>
              <a:t>无法直接与</a:t>
            </a:r>
            <a:r>
              <a:rPr lang="en-US" altLang="zh-CN" sz="1200" kern="1200" dirty="0" smtClean="0">
                <a:solidFill>
                  <a:schemeClr val="tx1"/>
                </a:solidFill>
                <a:effectLst/>
                <a:latin typeface="Arial" charset="0"/>
                <a:ea typeface="宋体" pitchFamily="2" charset="-122"/>
                <a:cs typeface="+mn-cs"/>
              </a:rPr>
              <a:t>PCB</a:t>
            </a:r>
            <a:r>
              <a:rPr lang="zh-CN" altLang="zh-CN" sz="1200" kern="1200" dirty="0" smtClean="0">
                <a:solidFill>
                  <a:schemeClr val="tx1"/>
                </a:solidFill>
                <a:effectLst/>
                <a:latin typeface="Arial" charset="0"/>
                <a:ea typeface="宋体" pitchFamily="2" charset="-122"/>
                <a:cs typeface="+mn-cs"/>
              </a:rPr>
              <a:t>通信，数据包需要通过中间的路由器一步一步转发才能到达目标主机。在网络中数据包所经过的路径就称为路由，路由器的作用就是根据某种策略选出最佳的路由并按照指定的路由将数据包从源主机传递到目标主机。</a:t>
            </a:r>
          </a:p>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4</a:t>
            </a:fld>
            <a:endParaRPr lang="en-US" altLang="zh-CN"/>
          </a:p>
        </p:txBody>
      </p:sp>
    </p:spTree>
    <p:extLst>
      <p:ext uri="{BB962C8B-B14F-4D97-AF65-F5344CB8AC3E}">
        <p14:creationId xmlns:p14="http://schemas.microsoft.com/office/powerpoint/2010/main" val="3013453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latin typeface="Arial" charset="0"/>
                <a:ea typeface="宋体" pitchFamily="2" charset="-122"/>
                <a:cs typeface="+mn-cs"/>
              </a:rPr>
              <a:t>路由器中运行着路由器管理程序，</a:t>
            </a:r>
            <a:r>
              <a:rPr lang="zh-CN" altLang="en-US" sz="1200" kern="1200" dirty="0" smtClean="0">
                <a:solidFill>
                  <a:schemeClr val="tx1"/>
                </a:solidFill>
                <a:latin typeface="Arial" charset="0"/>
                <a:ea typeface="宋体" pitchFamily="2" charset="-122"/>
                <a:cs typeface="+mn-cs"/>
              </a:rPr>
              <a:t>负责选路和数据包转发。</a:t>
            </a:r>
            <a:endParaRPr lang="en-US" altLang="zh-CN" sz="1200" kern="1200" dirty="0" smtClean="0">
              <a:solidFill>
                <a:schemeClr val="tx1"/>
              </a:solidFill>
              <a:latin typeface="Arial"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latin typeface="Arial" charset="0"/>
                <a:ea typeface="宋体" pitchFamily="2" charset="-122"/>
                <a:cs typeface="+mn-cs"/>
              </a:rPr>
              <a:t>路由器从网络中的其他路由器接收路由信息，并</a:t>
            </a:r>
            <a:r>
              <a:rPr lang="zh-CN" altLang="zh-CN" sz="1200" kern="1200" dirty="0" smtClean="0">
                <a:solidFill>
                  <a:schemeClr val="tx1"/>
                </a:solidFill>
                <a:latin typeface="Arial" charset="0"/>
                <a:ea typeface="宋体" pitchFamily="2" charset="-122"/>
                <a:cs typeface="+mn-cs"/>
              </a:rPr>
              <a:t>根据某种策略选出最佳的路由</a:t>
            </a:r>
            <a:r>
              <a:rPr lang="zh-CN" altLang="en-US" sz="1200" kern="1200" dirty="0" smtClean="0">
                <a:solidFill>
                  <a:schemeClr val="tx1"/>
                </a:solidFill>
                <a:latin typeface="Arial" charset="0"/>
                <a:ea typeface="宋体" pitchFamily="2" charset="-122"/>
                <a:cs typeface="+mn-cs"/>
              </a:rPr>
              <a:t>，从而对本地</a:t>
            </a:r>
            <a:r>
              <a:rPr lang="en-US" altLang="zh-CN" sz="1200" kern="1200" dirty="0" smtClean="0">
                <a:solidFill>
                  <a:schemeClr val="tx1"/>
                </a:solidFill>
                <a:latin typeface="Arial" charset="0"/>
                <a:ea typeface="宋体" pitchFamily="2" charset="-122"/>
                <a:cs typeface="+mn-cs"/>
              </a:rPr>
              <a:t>IP</a:t>
            </a:r>
            <a:r>
              <a:rPr lang="zh-CN" altLang="zh-CN" sz="1200" kern="1200" dirty="0" smtClean="0">
                <a:solidFill>
                  <a:schemeClr val="tx1"/>
                </a:solidFill>
                <a:latin typeface="Arial" charset="0"/>
                <a:ea typeface="宋体" pitchFamily="2" charset="-122"/>
                <a:cs typeface="+mn-cs"/>
              </a:rPr>
              <a:t>路由表</a:t>
            </a:r>
            <a:r>
              <a:rPr lang="zh-CN" altLang="en-US" sz="1200" kern="1200" dirty="0" smtClean="0">
                <a:solidFill>
                  <a:schemeClr val="tx1"/>
                </a:solidFill>
                <a:latin typeface="Arial" charset="0"/>
                <a:ea typeface="宋体" pitchFamily="2" charset="-122"/>
                <a:cs typeface="+mn-cs"/>
              </a:rPr>
              <a:t>做动态的维护，保证</a:t>
            </a:r>
            <a:r>
              <a:rPr lang="en-US" altLang="zh-CN" sz="1200" kern="1200" dirty="0" smtClean="0">
                <a:solidFill>
                  <a:schemeClr val="tx1"/>
                </a:solidFill>
                <a:latin typeface="Arial" charset="0"/>
                <a:ea typeface="宋体" pitchFamily="2" charset="-122"/>
                <a:cs typeface="+mn-cs"/>
              </a:rPr>
              <a:t>IP</a:t>
            </a:r>
            <a:r>
              <a:rPr lang="zh-CN" altLang="en-US" sz="1200" kern="1200" dirty="0" smtClean="0">
                <a:solidFill>
                  <a:schemeClr val="tx1"/>
                </a:solidFill>
                <a:latin typeface="Arial" charset="0"/>
                <a:ea typeface="宋体" pitchFamily="2" charset="-122"/>
                <a:cs typeface="+mn-cs"/>
              </a:rPr>
              <a:t>层发送数据包时选择正确的路由，同时通知其他相邻路由器更新路由信息。</a:t>
            </a:r>
            <a:r>
              <a:rPr lang="zh-CN" altLang="zh-CN" sz="1200" kern="1200" dirty="0" smtClean="0">
                <a:solidFill>
                  <a:schemeClr val="tx1"/>
                </a:solidFill>
                <a:latin typeface="Arial" charset="0"/>
                <a:ea typeface="宋体" pitchFamily="2" charset="-122"/>
                <a:cs typeface="+mn-cs"/>
              </a:rPr>
              <a:t>并按照指定的路由将数据包从源主机传递到目标主机。。</a:t>
            </a:r>
          </a:p>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5</a:t>
            </a:fld>
            <a:endParaRPr lang="en-US" altLang="zh-CN"/>
          </a:p>
        </p:txBody>
      </p:sp>
    </p:spTree>
    <p:extLst>
      <p:ext uri="{BB962C8B-B14F-4D97-AF65-F5344CB8AC3E}">
        <p14:creationId xmlns:p14="http://schemas.microsoft.com/office/powerpoint/2010/main" val="3416269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smtClean="0">
                <a:solidFill>
                  <a:schemeClr val="tx1"/>
                </a:solidFill>
                <a:effectLst/>
                <a:latin typeface="Arial" charset="0"/>
                <a:ea typeface="宋体" pitchFamily="2" charset="-122"/>
                <a:cs typeface="+mn-cs"/>
              </a:rPr>
              <a:t>      </a:t>
            </a:r>
            <a:r>
              <a:rPr lang="zh-CN" altLang="zh-CN" sz="1200" kern="1200" dirty="0" smtClean="0">
                <a:solidFill>
                  <a:schemeClr val="tx1"/>
                </a:solidFill>
                <a:effectLst/>
                <a:latin typeface="Arial" charset="0"/>
                <a:ea typeface="宋体" pitchFamily="2" charset="-122"/>
                <a:cs typeface="+mn-cs"/>
              </a:rPr>
              <a:t>在每个路由器中都会有一张</a:t>
            </a:r>
            <a:r>
              <a:rPr lang="en-US" altLang="zh-CN" sz="1200" kern="1200" dirty="0" smtClean="0">
                <a:solidFill>
                  <a:schemeClr val="tx1"/>
                </a:solidFill>
                <a:effectLst/>
                <a:latin typeface="Arial" charset="0"/>
                <a:ea typeface="宋体" pitchFamily="2" charset="-122"/>
                <a:cs typeface="+mn-cs"/>
              </a:rPr>
              <a:t>IP</a:t>
            </a:r>
            <a:r>
              <a:rPr lang="zh-CN" altLang="zh-CN" sz="1200" kern="1200" dirty="0" smtClean="0">
                <a:solidFill>
                  <a:schemeClr val="tx1"/>
                </a:solidFill>
                <a:effectLst/>
                <a:latin typeface="Arial" charset="0"/>
                <a:ea typeface="宋体" pitchFamily="2" charset="-122"/>
                <a:cs typeface="+mn-cs"/>
              </a:rPr>
              <a:t>路由表，路由器根据路由表转发数据包。路由表的第</a:t>
            </a:r>
            <a:r>
              <a:rPr lang="en-US" altLang="zh-CN" sz="1200" kern="1200" dirty="0" smtClean="0">
                <a:solidFill>
                  <a:schemeClr val="tx1"/>
                </a:solidFill>
                <a:effectLst/>
                <a:latin typeface="Arial" charset="0"/>
                <a:ea typeface="宋体" pitchFamily="2" charset="-122"/>
                <a:cs typeface="+mn-cs"/>
              </a:rPr>
              <a:t>1</a:t>
            </a:r>
            <a:r>
              <a:rPr lang="zh-CN" altLang="zh-CN" sz="1200" kern="1200" dirty="0" smtClean="0">
                <a:solidFill>
                  <a:schemeClr val="tx1"/>
                </a:solidFill>
                <a:effectLst/>
                <a:latin typeface="Arial" charset="0"/>
                <a:ea typeface="宋体" pitchFamily="2" charset="-122"/>
                <a:cs typeface="+mn-cs"/>
              </a:rPr>
              <a:t>列是目标网络地址，第</a:t>
            </a:r>
            <a:r>
              <a:rPr lang="en-US" altLang="zh-CN" sz="1200" kern="1200" dirty="0" smtClean="0">
                <a:solidFill>
                  <a:schemeClr val="tx1"/>
                </a:solidFill>
                <a:effectLst/>
                <a:latin typeface="Arial" charset="0"/>
                <a:ea typeface="宋体" pitchFamily="2" charset="-122"/>
                <a:cs typeface="+mn-cs"/>
              </a:rPr>
              <a:t>2</a:t>
            </a:r>
            <a:r>
              <a:rPr lang="zh-CN" altLang="zh-CN" sz="1200" kern="1200" dirty="0" smtClean="0">
                <a:solidFill>
                  <a:schemeClr val="tx1"/>
                </a:solidFill>
                <a:effectLst/>
                <a:latin typeface="Arial" charset="0"/>
                <a:ea typeface="宋体" pitchFamily="2" charset="-122"/>
                <a:cs typeface="+mn-cs"/>
              </a:rPr>
              <a:t>列是产生此条路由的协议，第</a:t>
            </a:r>
            <a:r>
              <a:rPr lang="en-US" altLang="zh-CN" sz="1200" kern="1200" dirty="0" smtClean="0">
                <a:solidFill>
                  <a:schemeClr val="tx1"/>
                </a:solidFill>
                <a:effectLst/>
                <a:latin typeface="Arial" charset="0"/>
                <a:ea typeface="宋体" pitchFamily="2" charset="-122"/>
                <a:cs typeface="+mn-cs"/>
              </a:rPr>
              <a:t>3</a:t>
            </a:r>
            <a:r>
              <a:rPr lang="zh-CN" altLang="zh-CN" sz="1200" kern="1200" dirty="0" smtClean="0">
                <a:solidFill>
                  <a:schemeClr val="tx1"/>
                </a:solidFill>
                <a:effectLst/>
                <a:latin typeface="Arial" charset="0"/>
                <a:ea typeface="宋体" pitchFamily="2" charset="-122"/>
                <a:cs typeface="+mn-cs"/>
              </a:rPr>
              <a:t>列为路由的优先级，第</a:t>
            </a:r>
            <a:r>
              <a:rPr lang="en-US" altLang="zh-CN" sz="1200" kern="1200" dirty="0" smtClean="0">
                <a:solidFill>
                  <a:schemeClr val="tx1"/>
                </a:solidFill>
                <a:effectLst/>
                <a:latin typeface="Arial" charset="0"/>
                <a:ea typeface="宋体" pitchFamily="2" charset="-122"/>
                <a:cs typeface="+mn-cs"/>
              </a:rPr>
              <a:t>4</a:t>
            </a:r>
            <a:r>
              <a:rPr lang="zh-CN" altLang="zh-CN" sz="1200" kern="1200" dirty="0" smtClean="0">
                <a:solidFill>
                  <a:schemeClr val="tx1"/>
                </a:solidFill>
                <a:effectLst/>
                <a:latin typeface="Arial" charset="0"/>
                <a:ea typeface="宋体" pitchFamily="2" charset="-122"/>
                <a:cs typeface="+mn-cs"/>
              </a:rPr>
              <a:t>列是链路花费，第</a:t>
            </a:r>
            <a:r>
              <a:rPr lang="en-US" altLang="zh-CN" sz="1200" kern="1200" dirty="0" smtClean="0">
                <a:solidFill>
                  <a:schemeClr val="tx1"/>
                </a:solidFill>
                <a:effectLst/>
                <a:latin typeface="Arial" charset="0"/>
                <a:ea typeface="宋体" pitchFamily="2" charset="-122"/>
                <a:cs typeface="+mn-cs"/>
              </a:rPr>
              <a:t>5</a:t>
            </a:r>
            <a:r>
              <a:rPr lang="zh-CN" altLang="zh-CN" sz="1200" kern="1200" dirty="0" smtClean="0">
                <a:solidFill>
                  <a:schemeClr val="tx1"/>
                </a:solidFill>
                <a:effectLst/>
                <a:latin typeface="Arial" charset="0"/>
                <a:ea typeface="宋体" pitchFamily="2" charset="-122"/>
                <a:cs typeface="+mn-cs"/>
              </a:rPr>
              <a:t>列是下一跳</a:t>
            </a:r>
            <a:r>
              <a:rPr lang="en-US" altLang="zh-CN" sz="1200" kern="1200" dirty="0" smtClean="0">
                <a:solidFill>
                  <a:schemeClr val="tx1"/>
                </a:solidFill>
                <a:effectLst/>
                <a:latin typeface="Arial" charset="0"/>
                <a:ea typeface="宋体" pitchFamily="2" charset="-122"/>
                <a:cs typeface="+mn-cs"/>
              </a:rPr>
              <a:t>IP</a:t>
            </a:r>
            <a:r>
              <a:rPr lang="zh-CN" altLang="zh-CN" sz="1200" kern="1200" dirty="0" smtClean="0">
                <a:solidFill>
                  <a:schemeClr val="tx1"/>
                </a:solidFill>
                <a:effectLst/>
                <a:latin typeface="Arial" charset="0"/>
                <a:ea typeface="宋体" pitchFamily="2" charset="-122"/>
                <a:cs typeface="+mn-cs"/>
              </a:rPr>
              <a:t>地址，第</a:t>
            </a:r>
            <a:r>
              <a:rPr lang="en-US" altLang="zh-CN" sz="1200" kern="1200" dirty="0" smtClean="0">
                <a:solidFill>
                  <a:schemeClr val="tx1"/>
                </a:solidFill>
                <a:effectLst/>
                <a:latin typeface="Arial" charset="0"/>
                <a:ea typeface="宋体" pitchFamily="2" charset="-122"/>
                <a:cs typeface="+mn-cs"/>
              </a:rPr>
              <a:t>6</a:t>
            </a:r>
            <a:r>
              <a:rPr lang="zh-CN" altLang="zh-CN" sz="1200" kern="1200" dirty="0" smtClean="0">
                <a:solidFill>
                  <a:schemeClr val="tx1"/>
                </a:solidFill>
                <a:effectLst/>
                <a:latin typeface="Arial" charset="0"/>
                <a:ea typeface="宋体" pitchFamily="2" charset="-122"/>
                <a:cs typeface="+mn-cs"/>
              </a:rPr>
              <a:t>列是出接口。如果去往相同目的地址有多条路由可达，路由器会根据协议的优先级选择最优的路由显示在路由表中。</a:t>
            </a:r>
            <a:endParaRPr lang="en-US" altLang="zh-CN" sz="1200" kern="1200" dirty="0" smtClean="0">
              <a:solidFill>
                <a:schemeClr val="tx1"/>
              </a:solidFill>
              <a:effectLst/>
              <a:latin typeface="Arial"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smtClean="0">
                <a:solidFill>
                  <a:schemeClr val="tx1"/>
                </a:solidFill>
                <a:latin typeface="Arial" charset="0"/>
                <a:ea typeface="宋体" pitchFamily="2" charset="-122"/>
                <a:cs typeface="+mn-cs"/>
              </a:rPr>
              <a:t>    </a:t>
            </a:r>
            <a:r>
              <a:rPr lang="zh-CN" altLang="zh-CN" sz="1200" kern="1200" dirty="0" smtClean="0">
                <a:solidFill>
                  <a:schemeClr val="tx1"/>
                </a:solidFill>
                <a:latin typeface="Arial" charset="0"/>
                <a:ea typeface="宋体" pitchFamily="2" charset="-122"/>
                <a:cs typeface="+mn-cs"/>
              </a:rPr>
              <a:t>当一个</a:t>
            </a:r>
            <a:r>
              <a:rPr lang="en-US" altLang="zh-CN" sz="1200" kern="1200" dirty="0" smtClean="0">
                <a:solidFill>
                  <a:schemeClr val="tx1"/>
                </a:solidFill>
                <a:latin typeface="Arial" charset="0"/>
                <a:ea typeface="宋体" pitchFamily="2" charset="-122"/>
                <a:cs typeface="+mn-cs"/>
              </a:rPr>
              <a:t>IP</a:t>
            </a:r>
            <a:r>
              <a:rPr lang="zh-CN" altLang="zh-CN" sz="1200" kern="1200" dirty="0" smtClean="0">
                <a:solidFill>
                  <a:schemeClr val="tx1"/>
                </a:solidFill>
                <a:latin typeface="Arial" charset="0"/>
                <a:ea typeface="宋体" pitchFamily="2" charset="-122"/>
                <a:cs typeface="+mn-cs"/>
              </a:rPr>
              <a:t>数据包到达路由器时，路由器将数据包中的目标</a:t>
            </a:r>
            <a:r>
              <a:rPr lang="en-US" altLang="zh-CN" sz="1200" kern="1200" dirty="0" smtClean="0">
                <a:solidFill>
                  <a:schemeClr val="tx1"/>
                </a:solidFill>
                <a:latin typeface="Arial" charset="0"/>
                <a:ea typeface="宋体" pitchFamily="2" charset="-122"/>
                <a:cs typeface="+mn-cs"/>
              </a:rPr>
              <a:t>IP</a:t>
            </a:r>
            <a:r>
              <a:rPr lang="zh-CN" altLang="zh-CN" sz="1200" kern="1200" dirty="0" smtClean="0">
                <a:solidFill>
                  <a:schemeClr val="tx1"/>
                </a:solidFill>
                <a:latin typeface="Arial" charset="0"/>
                <a:ea typeface="宋体" pitchFamily="2" charset="-122"/>
                <a:cs typeface="+mn-cs"/>
              </a:rPr>
              <a:t>地址与子网掩码进行“与”操作，得出目标主机所在的网络地址。根据最长匹配原则，在</a:t>
            </a:r>
            <a:r>
              <a:rPr lang="en-US" altLang="zh-CN" sz="1200" kern="1200" dirty="0" smtClean="0">
                <a:solidFill>
                  <a:schemeClr val="tx1"/>
                </a:solidFill>
                <a:latin typeface="Arial" charset="0"/>
                <a:ea typeface="宋体" pitchFamily="2" charset="-122"/>
                <a:cs typeface="+mn-cs"/>
              </a:rPr>
              <a:t>IP</a:t>
            </a:r>
            <a:r>
              <a:rPr lang="zh-CN" altLang="zh-CN" sz="1200" kern="1200" dirty="0" smtClean="0">
                <a:solidFill>
                  <a:schemeClr val="tx1"/>
                </a:solidFill>
                <a:latin typeface="Arial" charset="0"/>
                <a:ea typeface="宋体" pitchFamily="2" charset="-122"/>
                <a:cs typeface="+mn-cs"/>
              </a:rPr>
              <a:t>路由表中查找相关的路由表项，并根据下一跳的指引将数据包从出接口转发。</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smtClean="0">
              <a:solidFill>
                <a:schemeClr val="tx1"/>
              </a:solidFill>
              <a:effectLst/>
              <a:latin typeface="Arial"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6</a:t>
            </a:fld>
            <a:endParaRPr lang="en-US" altLang="zh-CN"/>
          </a:p>
        </p:txBody>
      </p:sp>
    </p:spTree>
    <p:extLst>
      <p:ext uri="{BB962C8B-B14F-4D97-AF65-F5344CB8AC3E}">
        <p14:creationId xmlns:p14="http://schemas.microsoft.com/office/powerpoint/2010/main" val="1099484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smtClean="0">
                <a:solidFill>
                  <a:schemeClr val="tx1"/>
                </a:solidFill>
                <a:latin typeface="Arial" charset="0"/>
                <a:ea typeface="宋体" pitchFamily="2" charset="-122"/>
                <a:cs typeface="+mn-cs"/>
              </a:rPr>
              <a:t>IP</a:t>
            </a:r>
            <a:r>
              <a:rPr lang="zh-CN" altLang="zh-CN" sz="1200" kern="1200" dirty="0" smtClean="0">
                <a:solidFill>
                  <a:schemeClr val="tx1"/>
                </a:solidFill>
                <a:latin typeface="Arial" charset="0"/>
                <a:ea typeface="宋体" pitchFamily="2" charset="-122"/>
                <a:cs typeface="+mn-cs"/>
              </a:rPr>
              <a:t>路由表的形成可以是手工设置的，称为静态路由，也可以是路由协议自动产生的。静态路由需要手工指定目的网络</a:t>
            </a:r>
            <a:r>
              <a:rPr lang="en-US" altLang="zh-CN" sz="1200" kern="1200" dirty="0" smtClean="0">
                <a:solidFill>
                  <a:schemeClr val="tx1"/>
                </a:solidFill>
                <a:latin typeface="Arial" charset="0"/>
                <a:ea typeface="宋体" pitchFamily="2" charset="-122"/>
                <a:cs typeface="+mn-cs"/>
              </a:rPr>
              <a:t>/</a:t>
            </a:r>
            <a:r>
              <a:rPr lang="zh-CN" altLang="zh-CN" sz="1200" kern="1200" dirty="0" smtClean="0">
                <a:solidFill>
                  <a:schemeClr val="tx1"/>
                </a:solidFill>
                <a:latin typeface="Arial" charset="0"/>
                <a:ea typeface="宋体" pitchFamily="2" charset="-122"/>
                <a:cs typeface="+mn-cs"/>
              </a:rPr>
              <a:t>掩码和下一跳地址，在网络发生变化时也需要手工修改路由。而动态路由可以根据网络结构或流量的变化，通过路由协议自动调整路由信息以实现路由。</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latin typeface="Arial" charset="0"/>
                <a:ea typeface="宋体" pitchFamily="2" charset="-122"/>
                <a:cs typeface="+mn-cs"/>
              </a:rPr>
              <a:t>现有的动态路由协议有</a:t>
            </a:r>
            <a:r>
              <a:rPr lang="en-US" altLang="zh-CN" sz="1200" kern="1200" dirty="0" smtClean="0">
                <a:solidFill>
                  <a:schemeClr val="tx1"/>
                </a:solidFill>
                <a:latin typeface="Arial" charset="0"/>
                <a:ea typeface="宋体" pitchFamily="2" charset="-122"/>
                <a:cs typeface="+mn-cs"/>
              </a:rPr>
              <a:t>RIP</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OSPF</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IS-IS</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EGP</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BGP</a:t>
            </a:r>
            <a:r>
              <a:rPr lang="zh-CN" altLang="zh-CN" sz="1200" kern="1200" dirty="0" smtClean="0">
                <a:solidFill>
                  <a:schemeClr val="tx1"/>
                </a:solidFill>
                <a:latin typeface="Arial" charset="0"/>
                <a:ea typeface="宋体" pitchFamily="2" charset="-122"/>
                <a:cs typeface="+mn-cs"/>
              </a:rPr>
              <a:t>等，其中</a:t>
            </a:r>
            <a:r>
              <a:rPr lang="en-US" altLang="zh-CN" sz="1200" kern="1200" dirty="0" smtClean="0">
                <a:solidFill>
                  <a:schemeClr val="tx1"/>
                </a:solidFill>
                <a:latin typeface="Arial" charset="0"/>
                <a:ea typeface="宋体" pitchFamily="2" charset="-122"/>
                <a:cs typeface="+mn-cs"/>
              </a:rPr>
              <a:t>RIP</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OSPF</a:t>
            </a:r>
            <a:r>
              <a:rPr lang="zh-CN" altLang="zh-CN" sz="1200" kern="1200" dirty="0" smtClean="0">
                <a:solidFill>
                  <a:schemeClr val="tx1"/>
                </a:solidFill>
                <a:latin typeface="Arial" charset="0"/>
                <a:ea typeface="宋体" pitchFamily="2" charset="-122"/>
                <a:cs typeface="+mn-cs"/>
              </a:rPr>
              <a:t>、</a:t>
            </a:r>
            <a:r>
              <a:rPr lang="en-US" altLang="zh-CN" sz="1200" kern="1200" dirty="0" smtClean="0">
                <a:solidFill>
                  <a:schemeClr val="tx1"/>
                </a:solidFill>
                <a:latin typeface="Arial" charset="0"/>
                <a:ea typeface="宋体" pitchFamily="2" charset="-122"/>
                <a:cs typeface="+mn-cs"/>
              </a:rPr>
              <a:t>IS-IS</a:t>
            </a:r>
            <a:r>
              <a:rPr lang="zh-CN" altLang="zh-CN" sz="1200" kern="1200" dirty="0" smtClean="0">
                <a:solidFill>
                  <a:schemeClr val="tx1"/>
                </a:solidFill>
                <a:latin typeface="Arial" charset="0"/>
                <a:ea typeface="宋体" pitchFamily="2" charset="-122"/>
                <a:cs typeface="+mn-cs"/>
              </a:rPr>
              <a:t>属于内部网关协议，实现内部网络的路由动态生成，</a:t>
            </a:r>
            <a:r>
              <a:rPr lang="en-US" altLang="zh-CN" sz="1200" kern="1200" dirty="0" smtClean="0">
                <a:solidFill>
                  <a:schemeClr val="tx1"/>
                </a:solidFill>
                <a:latin typeface="Arial" charset="0"/>
                <a:ea typeface="宋体" pitchFamily="2" charset="-122"/>
                <a:cs typeface="+mn-cs"/>
              </a:rPr>
              <a:t>EGP</a:t>
            </a:r>
            <a:r>
              <a:rPr lang="zh-CN" altLang="zh-CN" sz="1200" kern="1200" dirty="0" smtClean="0">
                <a:solidFill>
                  <a:schemeClr val="tx1"/>
                </a:solidFill>
                <a:latin typeface="Arial" charset="0"/>
                <a:ea typeface="宋体" pitchFamily="2" charset="-122"/>
                <a:cs typeface="+mn-cs"/>
              </a:rPr>
              <a:t>和</a:t>
            </a:r>
            <a:r>
              <a:rPr lang="en-US" altLang="zh-CN" sz="1200" kern="1200" dirty="0" smtClean="0">
                <a:solidFill>
                  <a:schemeClr val="tx1"/>
                </a:solidFill>
                <a:latin typeface="Arial" charset="0"/>
                <a:ea typeface="宋体" pitchFamily="2" charset="-122"/>
                <a:cs typeface="+mn-cs"/>
              </a:rPr>
              <a:t>BGP</a:t>
            </a:r>
            <a:r>
              <a:rPr lang="zh-CN" altLang="zh-CN" sz="1200" kern="1200" dirty="0" smtClean="0">
                <a:solidFill>
                  <a:schemeClr val="tx1"/>
                </a:solidFill>
                <a:latin typeface="Arial" charset="0"/>
                <a:ea typeface="宋体" pitchFamily="2" charset="-122"/>
                <a:cs typeface="+mn-cs"/>
              </a:rPr>
              <a:t>是外部网关协议，实现网络之间的路由自动交换。</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 name="Line 2"/>
          <p:cNvSpPr>
            <a:spLocks noChangeShapeType="1"/>
          </p:cNvSpPr>
          <p:nvPr/>
        </p:nvSpPr>
        <p:spPr bwMode="auto">
          <a:xfrm flipH="1">
            <a:off x="1143000" y="2422525"/>
            <a:ext cx="80010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Line 3"/>
          <p:cNvSpPr>
            <a:spLocks noChangeShapeType="1"/>
          </p:cNvSpPr>
          <p:nvPr/>
        </p:nvSpPr>
        <p:spPr bwMode="auto">
          <a:xfrm>
            <a:off x="2009775" y="2425700"/>
            <a:ext cx="0" cy="27463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5"/>
          <p:cNvSpPr>
            <a:spLocks noChangeArrowheads="1"/>
          </p:cNvSpPr>
          <p:nvPr/>
        </p:nvSpPr>
        <p:spPr bwMode="auto">
          <a:xfrm>
            <a:off x="-7938" y="0"/>
            <a:ext cx="9151938" cy="6858000"/>
          </a:xfrm>
          <a:prstGeom prst="rect">
            <a:avLst/>
          </a:prstGeom>
          <a:solidFill>
            <a:schemeClr val="tx2"/>
          </a:solidFill>
          <a:ln w="9525">
            <a:solidFill>
              <a:schemeClr val="tx1"/>
            </a:solidFill>
            <a:miter lim="800000"/>
            <a:headEnd/>
            <a:tailEnd/>
          </a:ln>
        </p:spPr>
        <p:txBody>
          <a:bodyPr wrap="none" anchor="ctr"/>
          <a:lstStyle/>
          <a:p>
            <a:endParaRPr lang="zh-CN" altLang="en-US"/>
          </a:p>
        </p:txBody>
      </p:sp>
      <p:sp>
        <p:nvSpPr>
          <p:cNvPr id="6" name="Rectangle 6"/>
          <p:cNvSpPr>
            <a:spLocks noChangeArrowheads="1"/>
          </p:cNvSpPr>
          <p:nvPr/>
        </p:nvSpPr>
        <p:spPr bwMode="auto">
          <a:xfrm>
            <a:off x="0" y="0"/>
            <a:ext cx="7451725" cy="549275"/>
          </a:xfrm>
          <a:prstGeom prst="rect">
            <a:avLst/>
          </a:prstGeom>
          <a:solidFill>
            <a:srgbClr val="C3022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a:solidFill>
                  <a:schemeClr val="tx2"/>
                </a:solidFill>
                <a:latin typeface="楷体_GB2312" pitchFamily="49" charset="-122"/>
                <a:ea typeface="楷体_GB2312" pitchFamily="49" charset="-122"/>
              </a:rPr>
              <a:t>北航计算机网络实验</a:t>
            </a:r>
          </a:p>
        </p:txBody>
      </p:sp>
      <p:sp>
        <p:nvSpPr>
          <p:cNvPr id="7" name="Rectangle 7"/>
          <p:cNvSpPr>
            <a:spLocks noChangeArrowheads="1"/>
          </p:cNvSpPr>
          <p:nvPr/>
        </p:nvSpPr>
        <p:spPr bwMode="auto">
          <a:xfrm>
            <a:off x="4763" y="6742113"/>
            <a:ext cx="8599487" cy="71437"/>
          </a:xfrm>
          <a:prstGeom prst="rect">
            <a:avLst/>
          </a:prstGeom>
          <a:solidFill>
            <a:srgbClr val="E8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 name="Rectangle 8"/>
          <p:cNvSpPr>
            <a:spLocks noChangeArrowheads="1"/>
          </p:cNvSpPr>
          <p:nvPr/>
        </p:nvSpPr>
        <p:spPr bwMode="auto">
          <a:xfrm>
            <a:off x="11113" y="6811963"/>
            <a:ext cx="9140825" cy="73025"/>
          </a:xfrm>
          <a:prstGeom prst="rect">
            <a:avLst/>
          </a:prstGeom>
          <a:solidFill>
            <a:srgbClr val="C9561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 name="Rectangle 9"/>
          <p:cNvSpPr>
            <a:spLocks noChangeArrowheads="1"/>
          </p:cNvSpPr>
          <p:nvPr/>
        </p:nvSpPr>
        <p:spPr bwMode="auto">
          <a:xfrm>
            <a:off x="1588" y="6577013"/>
            <a:ext cx="8597900" cy="165100"/>
          </a:xfrm>
          <a:prstGeom prst="rect">
            <a:avLst/>
          </a:prstGeom>
          <a:solidFill>
            <a:srgbClr val="FCC24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 name="Line 10"/>
          <p:cNvSpPr>
            <a:spLocks noChangeShapeType="1"/>
          </p:cNvSpPr>
          <p:nvPr/>
        </p:nvSpPr>
        <p:spPr bwMode="auto">
          <a:xfrm flipV="1">
            <a:off x="468313" y="2852738"/>
            <a:ext cx="80645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Text Box 11"/>
          <p:cNvSpPr txBox="1">
            <a:spLocks noChangeArrowheads="1"/>
          </p:cNvSpPr>
          <p:nvPr/>
        </p:nvSpPr>
        <p:spPr bwMode="auto">
          <a:xfrm>
            <a:off x="0" y="4149725"/>
            <a:ext cx="755650" cy="366713"/>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eaLnBrk="1" hangingPunct="1">
              <a:spcBef>
                <a:spcPct val="50000"/>
              </a:spcBef>
              <a:defRPr/>
            </a:pPr>
            <a:endParaRPr lang="zh-CN" altLang="zh-CN" sz="1800" smtClean="0">
              <a:latin typeface="Arial" charset="0"/>
              <a:ea typeface="宋体" pitchFamily="2" charset="-122"/>
            </a:endParaRPr>
          </a:p>
        </p:txBody>
      </p:sp>
      <p:grpSp>
        <p:nvGrpSpPr>
          <p:cNvPr id="12" name="Group 12"/>
          <p:cNvGrpSpPr>
            <a:grpSpLocks/>
          </p:cNvGrpSpPr>
          <p:nvPr/>
        </p:nvGrpSpPr>
        <p:grpSpPr bwMode="auto">
          <a:xfrm>
            <a:off x="7596188" y="188913"/>
            <a:ext cx="1338262" cy="2189162"/>
            <a:chOff x="4704" y="1885"/>
            <a:chExt cx="843" cy="1379"/>
          </a:xfrm>
        </p:grpSpPr>
        <p:sp>
          <p:nvSpPr>
            <p:cNvPr id="13" name="Oval 13"/>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4" name="Oval 14"/>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 name="Oval 15"/>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6" name="Oval 16"/>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Oval 17"/>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8" name="Oval 18"/>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9" name="Oval 19"/>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0" name="Oval 20"/>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1" name="Oval 21"/>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2" name="Oval 22"/>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3" name="Oval 23"/>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4" name="Oval 24"/>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5" name="Oval 25"/>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 name="Oval 26"/>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7" name="Oval 27"/>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8" name="Oval 28"/>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9" name="Oval 29"/>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0" name="Oval 30"/>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1" name="Oval 31"/>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2" name="Oval 32"/>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3" name="Oval 33"/>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4" name="Oval 34"/>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5" name="Oval 35"/>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6" name="Oval 36"/>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7" name="Oval 37"/>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8" name="Oval 38"/>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9" name="Oval 39"/>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0" name="Oval 40"/>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1" name="Oval 41"/>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2" name="Oval 42"/>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3" name="Oval 43"/>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44" name="Line 44"/>
          <p:cNvSpPr>
            <a:spLocks noChangeShapeType="1"/>
          </p:cNvSpPr>
          <p:nvPr/>
        </p:nvSpPr>
        <p:spPr bwMode="auto">
          <a:xfrm>
            <a:off x="7451725" y="0"/>
            <a:ext cx="0" cy="5445125"/>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72" name="Rectangle 4"/>
          <p:cNvSpPr>
            <a:spLocks noGrp="1" noChangeArrowheads="1"/>
          </p:cNvSpPr>
          <p:nvPr>
            <p:ph type="ctrTitle"/>
          </p:nvPr>
        </p:nvSpPr>
        <p:spPr>
          <a:xfrm>
            <a:off x="1066800" y="692150"/>
            <a:ext cx="7696200" cy="1524000"/>
          </a:xfrm>
        </p:spPr>
        <p:txBody>
          <a:bodyPr lIns="91440" tIns="0" bIns="0" anchor="b"/>
          <a:lstStyle>
            <a:lvl1pPr>
              <a:lnSpc>
                <a:spcPct val="85000"/>
              </a:lnSpc>
              <a:defRPr sz="5400">
                <a:solidFill>
                  <a:schemeClr val="tx2"/>
                </a:solidFill>
              </a:defRPr>
            </a:lvl1pPr>
          </a:lstStyle>
          <a:p>
            <a:pPr lvl="0"/>
            <a:r>
              <a:rPr lang="zh-CN" altLang="en-US" noProof="0" smtClean="0"/>
              <a:t>单击此处编辑母版标题样式</a:t>
            </a:r>
            <a:endParaRPr lang="en-US" altLang="en-US" noProof="0" smtClean="0"/>
          </a:p>
        </p:txBody>
      </p:sp>
    </p:spTree>
    <p:extLst>
      <p:ext uri="{BB962C8B-B14F-4D97-AF65-F5344CB8AC3E}">
        <p14:creationId xmlns:p14="http://schemas.microsoft.com/office/powerpoint/2010/main" val="12128467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628413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14810823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1188" y="1484313"/>
            <a:ext cx="3956050" cy="4897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19638" y="1484313"/>
            <a:ext cx="3956050" cy="4897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902882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67758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42664985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820008"/>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599539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1808623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2518352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9563" y="417513"/>
            <a:ext cx="2016125" cy="59642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11188" y="417513"/>
            <a:ext cx="5895975" cy="59642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8599752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188" y="417513"/>
            <a:ext cx="8064500" cy="92392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11188" y="1484313"/>
            <a:ext cx="8064500" cy="4897437"/>
          </a:xfrm>
        </p:spPr>
        <p:txBody>
          <a:bodyPr/>
          <a:lstStyle/>
          <a:p>
            <a:pPr lvl="0"/>
            <a:r>
              <a:rPr lang="zh-CN" altLang="en-US" noProof="0" smtClean="0"/>
              <a:t>单击图标添加表格</a:t>
            </a:r>
            <a:endParaRPr lang="zh-CN" altLang="en-US" noProof="0" smtClean="0"/>
          </a:p>
        </p:txBody>
      </p:sp>
    </p:spTree>
    <p:extLst>
      <p:ext uri="{BB962C8B-B14F-4D97-AF65-F5344CB8AC3E}">
        <p14:creationId xmlns:p14="http://schemas.microsoft.com/office/powerpoint/2010/main" val="315509483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417513"/>
            <a:ext cx="8064500" cy="9239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11188" y="1484313"/>
            <a:ext cx="3956050" cy="48974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19638" y="1484313"/>
            <a:ext cx="3956050" cy="48974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2933820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51938" cy="6858000"/>
          </a:xfrm>
          <a:prstGeom prst="rect">
            <a:avLst/>
          </a:prstGeom>
          <a:solidFill>
            <a:schemeClr val="tx2"/>
          </a:solidFill>
          <a:ln w="9525">
            <a:solidFill>
              <a:schemeClr val="tx1"/>
            </a:solidFill>
            <a:miter lim="800000"/>
            <a:headEnd/>
            <a:tailEnd/>
          </a:ln>
        </p:spPr>
        <p:txBody>
          <a:bodyPr wrap="none" anchor="ctr"/>
          <a:lstStyle/>
          <a:p>
            <a:endParaRPr lang="zh-CN" altLang="en-US"/>
          </a:p>
        </p:txBody>
      </p:sp>
      <p:sp>
        <p:nvSpPr>
          <p:cNvPr id="1027" name="Rectangle 3"/>
          <p:cNvSpPr>
            <a:spLocks noGrp="1" noChangeArrowheads="1"/>
          </p:cNvSpPr>
          <p:nvPr>
            <p:ph type="title"/>
          </p:nvPr>
        </p:nvSpPr>
        <p:spPr bwMode="auto">
          <a:xfrm>
            <a:off x="611188" y="417513"/>
            <a:ext cx="80645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ctr" anchorCtr="0" compatLnSpc="1">
            <a:prstTxWarp prst="textNoShape">
              <a:avLst/>
            </a:prstTxWarp>
          </a:bodyPr>
          <a:lstStyle/>
          <a:p>
            <a:pPr lvl="0"/>
            <a:r>
              <a:rPr lang="zh-CN" altLang="en-US" smtClean="0"/>
              <a:t>主标题</a:t>
            </a:r>
          </a:p>
        </p:txBody>
      </p:sp>
      <p:sp>
        <p:nvSpPr>
          <p:cNvPr id="1028" name="Rectangle 4"/>
          <p:cNvSpPr>
            <a:spLocks noGrp="1" noChangeArrowheads="1"/>
          </p:cNvSpPr>
          <p:nvPr>
            <p:ph type="body" idx="1"/>
          </p:nvPr>
        </p:nvSpPr>
        <p:spPr bwMode="auto">
          <a:xfrm>
            <a:off x="611188" y="1484313"/>
            <a:ext cx="8064500"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 </a:t>
            </a:r>
            <a:r>
              <a:rPr lang="zh-CN" altLang="en-US" smtClean="0"/>
              <a:t>主文本标题</a:t>
            </a:r>
          </a:p>
          <a:p>
            <a:pPr lvl="1"/>
            <a:r>
              <a:rPr lang="zh-CN" altLang="en-US" smtClean="0"/>
              <a:t>二级标题</a:t>
            </a:r>
            <a:endParaRPr lang="en-US" altLang="en-US" smtClean="0"/>
          </a:p>
          <a:p>
            <a:pPr lvl="2"/>
            <a:r>
              <a:rPr lang="zh-CN" altLang="en-US" smtClean="0"/>
              <a:t>三级标题</a:t>
            </a:r>
            <a:endParaRPr lang="en-US" altLang="en-US" smtClean="0"/>
          </a:p>
          <a:p>
            <a:pPr lvl="3"/>
            <a:r>
              <a:rPr lang="zh-CN" altLang="en-US" smtClean="0"/>
              <a:t>四级标题</a:t>
            </a:r>
            <a:endParaRPr lang="en-US" altLang="en-US" smtClean="0"/>
          </a:p>
          <a:p>
            <a:pPr lvl="4"/>
            <a:r>
              <a:rPr lang="zh-CN" altLang="en-US" smtClean="0"/>
              <a:t>五级标题</a:t>
            </a:r>
          </a:p>
        </p:txBody>
      </p:sp>
      <p:sp>
        <p:nvSpPr>
          <p:cNvPr id="1029" name="Rectangle 5"/>
          <p:cNvSpPr>
            <a:spLocks noChangeArrowheads="1"/>
          </p:cNvSpPr>
          <p:nvPr/>
        </p:nvSpPr>
        <p:spPr bwMode="auto">
          <a:xfrm>
            <a:off x="0" y="0"/>
            <a:ext cx="7380288" cy="333375"/>
          </a:xfrm>
          <a:prstGeom prst="rect">
            <a:avLst/>
          </a:prstGeom>
          <a:solidFill>
            <a:srgbClr val="C3022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sz="2000">
                <a:solidFill>
                  <a:schemeClr val="tx2"/>
                </a:solidFill>
                <a:latin typeface="楷体_GB2312" pitchFamily="49" charset="-122"/>
                <a:ea typeface="楷体_GB2312" pitchFamily="49" charset="-122"/>
              </a:rPr>
              <a:t>北航计算机网络实验</a:t>
            </a:r>
          </a:p>
        </p:txBody>
      </p:sp>
      <p:sp>
        <p:nvSpPr>
          <p:cNvPr id="1030" name="Rectangle 6"/>
          <p:cNvSpPr>
            <a:spLocks noChangeArrowheads="1"/>
          </p:cNvSpPr>
          <p:nvPr/>
        </p:nvSpPr>
        <p:spPr bwMode="auto">
          <a:xfrm>
            <a:off x="4763" y="6742113"/>
            <a:ext cx="8599487" cy="71437"/>
          </a:xfrm>
          <a:prstGeom prst="rect">
            <a:avLst/>
          </a:prstGeom>
          <a:solidFill>
            <a:srgbClr val="E8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1" name="Rectangle 7"/>
          <p:cNvSpPr>
            <a:spLocks noChangeArrowheads="1"/>
          </p:cNvSpPr>
          <p:nvPr/>
        </p:nvSpPr>
        <p:spPr bwMode="auto">
          <a:xfrm>
            <a:off x="11113" y="6811963"/>
            <a:ext cx="9140825" cy="73025"/>
          </a:xfrm>
          <a:prstGeom prst="rect">
            <a:avLst/>
          </a:prstGeom>
          <a:solidFill>
            <a:srgbClr val="C9561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2" name="Rectangle 8"/>
          <p:cNvSpPr>
            <a:spLocks noChangeArrowheads="1"/>
          </p:cNvSpPr>
          <p:nvPr userDrawn="1"/>
        </p:nvSpPr>
        <p:spPr bwMode="auto">
          <a:xfrm>
            <a:off x="6548" y="6725249"/>
            <a:ext cx="8597900" cy="165100"/>
          </a:xfrm>
          <a:prstGeom prst="rect">
            <a:avLst/>
          </a:prstGeom>
          <a:solidFill>
            <a:srgbClr val="FCC24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3" name="Text Box 9"/>
          <p:cNvSpPr txBox="1">
            <a:spLocks noChangeArrowheads="1"/>
          </p:cNvSpPr>
          <p:nvPr/>
        </p:nvSpPr>
        <p:spPr bwMode="auto">
          <a:xfrm>
            <a:off x="8532813" y="6524625"/>
            <a:ext cx="576262" cy="304800"/>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a:spcBef>
                <a:spcPct val="50000"/>
              </a:spcBef>
              <a:defRPr/>
            </a:pPr>
            <a:fld id="{8FECF948-4B9C-4C1F-AD3C-BBA043649D44}" type="slidenum">
              <a:rPr lang="en-US" altLang="zh-CN" sz="1400" b="0" smtClean="0">
                <a:solidFill>
                  <a:srgbClr val="000099"/>
                </a:solidFill>
                <a:latin typeface="Arial" charset="0"/>
                <a:ea typeface="宋体" pitchFamily="2" charset="-122"/>
              </a:rPr>
              <a:pPr>
                <a:spcBef>
                  <a:spcPct val="50000"/>
                </a:spcBef>
                <a:defRPr/>
              </a:pPr>
              <a:t>‹#›</a:t>
            </a:fld>
            <a:endParaRPr lang="en-US" altLang="zh-CN" sz="1400" b="0" smtClean="0">
              <a:solidFill>
                <a:srgbClr val="000099"/>
              </a:solidFill>
              <a:latin typeface="Arial" charset="0"/>
              <a:ea typeface="宋体" pitchFamily="2" charset="-122"/>
            </a:endParaRPr>
          </a:p>
        </p:txBody>
      </p:sp>
      <p:sp>
        <p:nvSpPr>
          <p:cNvPr id="1034" name="Line 10"/>
          <p:cNvSpPr>
            <a:spLocks noChangeShapeType="1"/>
          </p:cNvSpPr>
          <p:nvPr/>
        </p:nvSpPr>
        <p:spPr bwMode="auto">
          <a:xfrm flipV="1">
            <a:off x="611188" y="1125538"/>
            <a:ext cx="80645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35" name="Text Box 11"/>
          <p:cNvSpPr txBox="1">
            <a:spLocks noChangeArrowheads="1"/>
          </p:cNvSpPr>
          <p:nvPr/>
        </p:nvSpPr>
        <p:spPr bwMode="auto">
          <a:xfrm>
            <a:off x="2484438" y="0"/>
            <a:ext cx="217487" cy="366713"/>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eaLnBrk="1" hangingPunct="1">
              <a:spcBef>
                <a:spcPct val="50000"/>
              </a:spcBef>
              <a:defRPr/>
            </a:pPr>
            <a:endParaRPr lang="zh-CN" altLang="zh-CN" sz="1800" smtClean="0">
              <a:latin typeface="Arial"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300" b="1">
          <a:solidFill>
            <a:schemeClr val="tx1"/>
          </a:solidFill>
          <a:latin typeface="+mj-lt"/>
          <a:ea typeface="+mj-ea"/>
          <a:cs typeface="+mj-cs"/>
        </a:defRPr>
      </a:lvl1pPr>
      <a:lvl2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2pPr>
      <a:lvl3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3pPr>
      <a:lvl4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4pPr>
      <a:lvl5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5pPr>
      <a:lvl6pPr marL="4572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6pPr>
      <a:lvl7pPr marL="9144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7pPr>
      <a:lvl8pPr marL="13716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8pPr>
      <a:lvl9pPr marL="18288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9pPr>
    </p:titleStyle>
    <p:bodyStyle>
      <a:lvl1pPr marL="342900" indent="-342900" algn="l" rtl="0" eaLnBrk="1" fontAlgn="base" hangingPunct="1">
        <a:spcBef>
          <a:spcPct val="20000"/>
        </a:spcBef>
        <a:spcAft>
          <a:spcPct val="0"/>
        </a:spcAft>
        <a:buClr>
          <a:schemeClr val="bg2"/>
        </a:buClr>
        <a:buSzPct val="90000"/>
        <a:buFont typeface="Wingdings" pitchFamily="2" charset="2"/>
        <a:buChar char="n"/>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bg2"/>
        </a:buClr>
        <a:buSzPct val="80000"/>
        <a:buFont typeface="Wingdings" pitchFamily="2" charset="2"/>
        <a:buChar char="p"/>
        <a:defRPr sz="3200" b="1">
          <a:solidFill>
            <a:schemeClr val="tx1"/>
          </a:solidFill>
          <a:latin typeface="+mn-lt"/>
          <a:ea typeface="+mn-ea"/>
        </a:defRPr>
      </a:lvl2pPr>
      <a:lvl3pPr marL="1143000" indent="-228600" algn="l" rtl="0" eaLnBrk="1" fontAlgn="base" hangingPunct="1">
        <a:spcBef>
          <a:spcPct val="20000"/>
        </a:spcBef>
        <a:spcAft>
          <a:spcPct val="0"/>
        </a:spcAft>
        <a:buClr>
          <a:schemeClr val="bg2"/>
        </a:buClr>
        <a:buSzPct val="80000"/>
        <a:buFont typeface="Wingdings" pitchFamily="2" charset="2"/>
        <a:buChar char="n"/>
        <a:defRPr sz="2800" b="1">
          <a:solidFill>
            <a:schemeClr val="tx1"/>
          </a:solidFill>
          <a:latin typeface="+mn-lt"/>
          <a:ea typeface="+mn-ea"/>
        </a:defRPr>
      </a:lvl3pPr>
      <a:lvl4pPr marL="1600200" indent="-228600" algn="l" rtl="0" eaLnBrk="1" fontAlgn="base" hangingPunct="1">
        <a:spcBef>
          <a:spcPct val="20000"/>
        </a:spcBef>
        <a:spcAft>
          <a:spcPct val="0"/>
        </a:spcAft>
        <a:buSzPct val="80000"/>
        <a:buChar char="–"/>
        <a:defRPr sz="2400" b="1">
          <a:solidFill>
            <a:schemeClr val="tx1"/>
          </a:solidFill>
          <a:latin typeface="+mn-lt"/>
          <a:ea typeface="+mn-ea"/>
        </a:defRPr>
      </a:lvl4pPr>
      <a:lvl5pPr marL="2057400" indent="-228600" algn="l" rtl="0" eaLnBrk="1" fontAlgn="base" hangingPunct="1">
        <a:spcBef>
          <a:spcPct val="20000"/>
        </a:spcBef>
        <a:spcAft>
          <a:spcPct val="0"/>
        </a:spcAft>
        <a:buSzPct val="80000"/>
        <a:buChar char="»"/>
        <a:defRPr sz="2000" b="1">
          <a:solidFill>
            <a:schemeClr val="tx1"/>
          </a:solidFill>
          <a:latin typeface="+mn-lt"/>
          <a:ea typeface="+mn-ea"/>
        </a:defRPr>
      </a:lvl5pPr>
      <a:lvl6pPr marL="2514600" indent="-228600" algn="l" rtl="0" eaLnBrk="1" fontAlgn="base" hangingPunct="1">
        <a:spcBef>
          <a:spcPct val="20000"/>
        </a:spcBef>
        <a:spcAft>
          <a:spcPct val="0"/>
        </a:spcAft>
        <a:buSzPct val="80000"/>
        <a:buChar char="»"/>
        <a:defRPr sz="2000" b="1">
          <a:solidFill>
            <a:schemeClr val="tx1"/>
          </a:solidFill>
          <a:latin typeface="+mn-lt"/>
          <a:ea typeface="+mn-ea"/>
        </a:defRPr>
      </a:lvl6pPr>
      <a:lvl7pPr marL="2971800" indent="-228600" algn="l" rtl="0" eaLnBrk="1" fontAlgn="base" hangingPunct="1">
        <a:spcBef>
          <a:spcPct val="20000"/>
        </a:spcBef>
        <a:spcAft>
          <a:spcPct val="0"/>
        </a:spcAft>
        <a:buSzPct val="80000"/>
        <a:buChar char="»"/>
        <a:defRPr sz="2000" b="1">
          <a:solidFill>
            <a:schemeClr val="tx1"/>
          </a:solidFill>
          <a:latin typeface="+mn-lt"/>
          <a:ea typeface="+mn-ea"/>
        </a:defRPr>
      </a:lvl7pPr>
      <a:lvl8pPr marL="3429000" indent="-228600" algn="l" rtl="0" eaLnBrk="1" fontAlgn="base" hangingPunct="1">
        <a:spcBef>
          <a:spcPct val="20000"/>
        </a:spcBef>
        <a:spcAft>
          <a:spcPct val="0"/>
        </a:spcAft>
        <a:buSzPct val="80000"/>
        <a:buChar char="»"/>
        <a:defRPr sz="2000" b="1">
          <a:solidFill>
            <a:schemeClr val="tx1"/>
          </a:solidFill>
          <a:latin typeface="+mn-lt"/>
          <a:ea typeface="+mn-ea"/>
        </a:defRPr>
      </a:lvl8pPr>
      <a:lvl9pPr marL="3886200" indent="-228600" algn="l" rtl="0" eaLnBrk="1" fontAlgn="base" hangingPunct="1">
        <a:spcBef>
          <a:spcPct val="20000"/>
        </a:spcBef>
        <a:spcAft>
          <a:spcPct val="0"/>
        </a:spcAft>
        <a:buSzPct val="8000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2564904"/>
            <a:ext cx="8064500" cy="923925"/>
          </a:xfrm>
        </p:spPr>
        <p:style>
          <a:lnRef idx="1">
            <a:schemeClr val="accent3"/>
          </a:lnRef>
          <a:fillRef idx="2">
            <a:schemeClr val="accent3"/>
          </a:fillRef>
          <a:effectRef idx="1">
            <a:schemeClr val="accent3"/>
          </a:effectRef>
          <a:fontRef idx="minor">
            <a:schemeClr val="dk1"/>
          </a:fontRef>
        </p:style>
        <p:txBody>
          <a:bodyPr>
            <a:normAutofit/>
          </a:bodyPr>
          <a:lstStyle/>
          <a:p>
            <a:r>
              <a:rPr lang="en-US" altLang="zh-CN" sz="6000" dirty="0" smtClean="0">
                <a:solidFill>
                  <a:srgbClr val="C00000"/>
                </a:solidFill>
              </a:rPr>
              <a:t>RIP</a:t>
            </a:r>
            <a:r>
              <a:rPr lang="zh-CN" altLang="en-US" sz="6000" dirty="0" smtClean="0">
                <a:solidFill>
                  <a:srgbClr val="C00000"/>
                </a:solidFill>
              </a:rPr>
              <a:t>协议实验总体介绍</a:t>
            </a:r>
            <a:endParaRPr lang="zh-CN" altLang="en-US" sz="6000" dirty="0">
              <a:solidFill>
                <a:srgbClr val="C00000"/>
              </a:solidFill>
            </a:endParaRPr>
          </a:p>
        </p:txBody>
      </p:sp>
    </p:spTree>
    <p:extLst>
      <p:ext uri="{BB962C8B-B14F-4D97-AF65-F5344CB8AC3E}">
        <p14:creationId xmlns:p14="http://schemas.microsoft.com/office/powerpoint/2010/main" val="322513476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11560" y="620688"/>
            <a:ext cx="8064500" cy="923925"/>
          </a:xfrm>
        </p:spPr>
        <p:txBody>
          <a:bodyPr>
            <a:normAutofit fontScale="90000"/>
          </a:bodyPr>
          <a:lstStyle/>
          <a:p>
            <a:pPr marL="914400" indent="-914400" eaLnBrk="1" hangingPunct="1"/>
            <a:r>
              <a:rPr lang="zh-CN" altLang="en-US" sz="3600" dirty="0" smtClean="0"/>
              <a:t>实验内容</a:t>
            </a:r>
            <a:br>
              <a:rPr lang="zh-CN" altLang="en-US" sz="3600" dirty="0" smtClean="0"/>
            </a:br>
            <a:endParaRPr lang="zh-CN" altLang="en-US" sz="3600" dirty="0" smtClean="0">
              <a:ea typeface="宋体" pitchFamily="2" charset="-122"/>
            </a:endParaRPr>
          </a:p>
        </p:txBody>
      </p:sp>
      <p:sp>
        <p:nvSpPr>
          <p:cNvPr id="14339" name="Rectangle 3"/>
          <p:cNvSpPr>
            <a:spLocks noGrp="1" noChangeArrowheads="1"/>
          </p:cNvSpPr>
          <p:nvPr>
            <p:ph idx="1"/>
          </p:nvPr>
        </p:nvSpPr>
        <p:spPr>
          <a:xfrm>
            <a:off x="2123728" y="1484784"/>
            <a:ext cx="5616624" cy="4897437"/>
          </a:xfrm>
        </p:spPr>
        <p:txBody>
          <a:bodyPr/>
          <a:lstStyle/>
          <a:p>
            <a:pPr marL="0" indent="0" eaLnBrk="1" hangingPunct="1">
              <a:buClr>
                <a:schemeClr val="accent1"/>
              </a:buClr>
              <a:buFont typeface="Wingdings" pitchFamily="2" charset="2"/>
              <a:buChar char="u"/>
            </a:pPr>
            <a:r>
              <a:rPr lang="zh-CN" altLang="en-US" dirty="0" smtClean="0"/>
              <a:t>静态路由的配置</a:t>
            </a:r>
            <a:endParaRPr lang="en-US" altLang="zh-CN" dirty="0" smtClean="0"/>
          </a:p>
          <a:p>
            <a:pPr marL="0" indent="0" eaLnBrk="1" hangingPunct="1">
              <a:buClr>
                <a:schemeClr val="accent1"/>
              </a:buClr>
              <a:buFont typeface="Wingdings" pitchFamily="2" charset="2"/>
              <a:buChar char="u"/>
            </a:pPr>
            <a:r>
              <a:rPr lang="en-US" altLang="zh-CN" dirty="0" smtClean="0"/>
              <a:t>RIP</a:t>
            </a:r>
            <a:r>
              <a:rPr lang="zh-CN" altLang="en-US" dirty="0" smtClean="0"/>
              <a:t>协议的基本配置</a:t>
            </a:r>
            <a:endParaRPr lang="en-US" altLang="zh-CN" dirty="0" smtClean="0"/>
          </a:p>
          <a:p>
            <a:pPr marL="0" indent="0" eaLnBrk="1" hangingPunct="1">
              <a:buClr>
                <a:schemeClr val="accent1"/>
              </a:buClr>
              <a:buFont typeface="Wingdings" pitchFamily="2" charset="2"/>
              <a:buChar char="u"/>
            </a:pPr>
            <a:r>
              <a:rPr lang="en-US" altLang="zh-CN" dirty="0" smtClean="0"/>
              <a:t>RIP</a:t>
            </a:r>
            <a:r>
              <a:rPr lang="zh-CN" altLang="en-US" dirty="0" smtClean="0"/>
              <a:t>报文格式分析</a:t>
            </a:r>
            <a:endParaRPr lang="en-US" altLang="zh-CN" dirty="0" smtClean="0"/>
          </a:p>
          <a:p>
            <a:pPr marL="0" indent="0" eaLnBrk="1" hangingPunct="1">
              <a:buClr>
                <a:schemeClr val="accent1"/>
              </a:buClr>
              <a:buFont typeface="Wingdings" pitchFamily="2" charset="2"/>
              <a:buChar char="u"/>
            </a:pPr>
            <a:r>
              <a:rPr lang="zh-CN" altLang="en-US" sz="3600" dirty="0" smtClean="0"/>
              <a:t>距离矢量 </a:t>
            </a:r>
            <a:r>
              <a:rPr lang="en-US" altLang="zh-CN" sz="3600" dirty="0" smtClean="0"/>
              <a:t>(</a:t>
            </a:r>
            <a:r>
              <a:rPr lang="en-US" altLang="zh-CN" dirty="0" smtClean="0"/>
              <a:t>DV)</a:t>
            </a:r>
            <a:r>
              <a:rPr lang="zh-CN" altLang="en-US" dirty="0" smtClean="0"/>
              <a:t>算法分析</a:t>
            </a:r>
            <a:endParaRPr lang="en-US" altLang="zh-CN" dirty="0" smtClean="0"/>
          </a:p>
          <a:p>
            <a:pPr marL="0" indent="0" eaLnBrk="1" hangingPunct="1">
              <a:buClr>
                <a:schemeClr val="accent1"/>
              </a:buClr>
              <a:buFont typeface="Wingdings" pitchFamily="2" charset="2"/>
              <a:buChar char="u"/>
            </a:pPr>
            <a:r>
              <a:rPr lang="zh-CN" altLang="en-US" dirty="0" smtClean="0"/>
              <a:t>触发更新和水平分割</a:t>
            </a:r>
            <a:endParaRPr lang="en-US" altLang="zh-CN" dirty="0" smtClean="0"/>
          </a:p>
          <a:p>
            <a:pPr marL="0" indent="0" eaLnBrk="1" hangingPunct="1">
              <a:buClr>
                <a:schemeClr val="accent1"/>
              </a:buClr>
              <a:buFont typeface="Wingdings" pitchFamily="2" charset="2"/>
              <a:buChar char="u"/>
            </a:pPr>
            <a:r>
              <a:rPr lang="en-US" altLang="zh-CN" dirty="0" smtClean="0"/>
              <a:t>RIPv2</a:t>
            </a:r>
            <a:r>
              <a:rPr lang="zh-CN" altLang="en-US" dirty="0" smtClean="0"/>
              <a:t>协议分析</a:t>
            </a:r>
            <a:endParaRPr lang="en-US" altLang="zh-CN" dirty="0" smtClean="0"/>
          </a:p>
          <a:p>
            <a:pPr marL="0" indent="0" eaLnBrk="1" hangingPunct="1">
              <a:buClr>
                <a:schemeClr val="accent1"/>
              </a:buClr>
              <a:buFont typeface="Wingdings" pitchFamily="2" charset="2"/>
              <a:buChar char="u"/>
            </a:pPr>
            <a:r>
              <a:rPr lang="en-US" altLang="zh-CN" dirty="0" smtClean="0"/>
              <a:t>RIP</a:t>
            </a:r>
            <a:r>
              <a:rPr lang="zh-CN" altLang="en-US" dirty="0" smtClean="0"/>
              <a:t>协议组网设计</a:t>
            </a:r>
          </a:p>
        </p:txBody>
      </p:sp>
    </p:spTree>
    <p:extLst>
      <p:ext uri="{BB962C8B-B14F-4D97-AF65-F5344CB8AC3E}">
        <p14:creationId xmlns:p14="http://schemas.microsoft.com/office/powerpoint/2010/main" val="429026492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marL="914400" indent="-914400" eaLnBrk="1" hangingPunct="1"/>
            <a:r>
              <a:rPr lang="zh-CN" altLang="en-US" sz="3600" dirty="0" smtClean="0"/>
              <a:t>实验</a:t>
            </a:r>
            <a:r>
              <a:rPr lang="zh-CN" altLang="en-US" sz="3600" dirty="0"/>
              <a:t>目标</a:t>
            </a:r>
          </a:p>
        </p:txBody>
      </p:sp>
      <p:sp>
        <p:nvSpPr>
          <p:cNvPr id="3" name="内容占位符 2"/>
          <p:cNvSpPr>
            <a:spLocks noGrp="1"/>
          </p:cNvSpPr>
          <p:nvPr>
            <p:ph idx="1"/>
          </p:nvPr>
        </p:nvSpPr>
        <p:spPr>
          <a:xfrm>
            <a:off x="1115616" y="1772816"/>
            <a:ext cx="7849244" cy="4897437"/>
          </a:xfrm>
        </p:spPr>
        <p:txBody>
          <a:bodyPr/>
          <a:lstStyle/>
          <a:p>
            <a:pPr>
              <a:lnSpc>
                <a:spcPct val="150000"/>
              </a:lnSpc>
              <a:buClr>
                <a:srgbClr val="C00000"/>
              </a:buClr>
            </a:pPr>
            <a:r>
              <a:rPr lang="zh-CN" altLang="zh-CN" sz="2800" dirty="0" smtClean="0"/>
              <a:t>掌握</a:t>
            </a:r>
            <a:r>
              <a:rPr lang="zh-CN" altLang="zh-CN" sz="2800" dirty="0"/>
              <a:t>静态路由和</a:t>
            </a:r>
            <a:r>
              <a:rPr lang="en-US" altLang="zh-CN" sz="2800" dirty="0"/>
              <a:t>RIP</a:t>
            </a:r>
            <a:r>
              <a:rPr lang="zh-CN" altLang="zh-CN" sz="2800" dirty="0"/>
              <a:t>协议的基本</a:t>
            </a:r>
            <a:r>
              <a:rPr lang="zh-CN" altLang="zh-CN" sz="2800" dirty="0" smtClean="0"/>
              <a:t>配置</a:t>
            </a:r>
            <a:endParaRPr lang="en-US" altLang="zh-CN" sz="2800" dirty="0" smtClean="0"/>
          </a:p>
          <a:p>
            <a:pPr>
              <a:lnSpc>
                <a:spcPct val="150000"/>
              </a:lnSpc>
              <a:buClr>
                <a:srgbClr val="C00000"/>
              </a:buClr>
            </a:pPr>
            <a:r>
              <a:rPr lang="zh-CN" altLang="zh-CN" sz="2800" dirty="0" smtClean="0"/>
              <a:t>掌握</a:t>
            </a:r>
            <a:r>
              <a:rPr lang="en-US" altLang="zh-CN" sz="2800" dirty="0"/>
              <a:t>RIP</a:t>
            </a:r>
            <a:r>
              <a:rPr lang="zh-CN" altLang="zh-CN" sz="2800" dirty="0"/>
              <a:t>协议的基本原理和</a:t>
            </a:r>
            <a:r>
              <a:rPr lang="en-US" altLang="zh-CN" sz="2800" dirty="0"/>
              <a:t>DV</a:t>
            </a:r>
            <a:r>
              <a:rPr lang="zh-CN" altLang="zh-CN" sz="2800" dirty="0" smtClean="0"/>
              <a:t>算法</a:t>
            </a:r>
            <a:endParaRPr lang="en-US" altLang="zh-CN" sz="2800" dirty="0" smtClean="0"/>
          </a:p>
          <a:p>
            <a:pPr>
              <a:lnSpc>
                <a:spcPct val="150000"/>
              </a:lnSpc>
              <a:buClr>
                <a:srgbClr val="C00000"/>
              </a:buClr>
            </a:pPr>
            <a:r>
              <a:rPr lang="zh-CN" altLang="zh-CN" sz="2800" dirty="0" smtClean="0"/>
              <a:t>理解</a:t>
            </a:r>
            <a:r>
              <a:rPr lang="en-US" altLang="zh-CN" sz="2800" dirty="0"/>
              <a:t>RIP</a:t>
            </a:r>
            <a:r>
              <a:rPr lang="zh-CN" altLang="zh-CN" sz="2800" dirty="0"/>
              <a:t>协议的触发更新、水平分割等</a:t>
            </a:r>
            <a:r>
              <a:rPr lang="zh-CN" altLang="zh-CN" sz="2800" dirty="0" smtClean="0"/>
              <a:t>算法</a:t>
            </a:r>
            <a:endParaRPr lang="en-US" altLang="zh-CN" sz="2800" dirty="0" smtClean="0"/>
          </a:p>
          <a:p>
            <a:pPr>
              <a:lnSpc>
                <a:spcPct val="150000"/>
              </a:lnSpc>
              <a:buClr>
                <a:srgbClr val="C00000"/>
              </a:buClr>
            </a:pPr>
            <a:r>
              <a:rPr lang="zh-CN" altLang="zh-CN" sz="2800" dirty="0" smtClean="0"/>
              <a:t>掌握</a:t>
            </a:r>
            <a:r>
              <a:rPr lang="en-US" altLang="zh-CN" sz="2800" dirty="0"/>
              <a:t>RIP2</a:t>
            </a:r>
            <a:r>
              <a:rPr lang="zh-CN" altLang="zh-CN" sz="2800" dirty="0"/>
              <a:t>协议的配置和</a:t>
            </a:r>
            <a:r>
              <a:rPr lang="zh-CN" altLang="zh-CN" sz="2800" dirty="0" smtClean="0"/>
              <a:t>分析</a:t>
            </a:r>
            <a:endParaRPr lang="en-US" altLang="zh-CN" sz="2800" dirty="0" smtClean="0"/>
          </a:p>
          <a:p>
            <a:pPr>
              <a:lnSpc>
                <a:spcPct val="150000"/>
              </a:lnSpc>
              <a:buClr>
                <a:srgbClr val="C00000"/>
              </a:buClr>
            </a:pPr>
            <a:r>
              <a:rPr lang="zh-CN" altLang="zh-CN" sz="2800" dirty="0" smtClean="0"/>
              <a:t>掌握</a:t>
            </a:r>
            <a:r>
              <a:rPr lang="zh-CN" altLang="zh-CN" sz="2800" dirty="0"/>
              <a:t>应用静态路由和</a:t>
            </a:r>
            <a:r>
              <a:rPr lang="en-US" altLang="zh-CN" sz="2800" dirty="0"/>
              <a:t>RIP</a:t>
            </a:r>
            <a:r>
              <a:rPr lang="zh-CN" altLang="zh-CN" sz="2800" dirty="0"/>
              <a:t>协议进行网络组建。</a:t>
            </a:r>
          </a:p>
          <a:p>
            <a:pPr>
              <a:lnSpc>
                <a:spcPct val="150000"/>
              </a:lnSpc>
              <a:buClr>
                <a:srgbClr val="C00000"/>
              </a:buClr>
            </a:pPr>
            <a:endParaRPr lang="zh-CN" altLang="en-US" sz="2800" dirty="0"/>
          </a:p>
        </p:txBody>
      </p:sp>
    </p:spTree>
    <p:extLst>
      <p:ext uri="{BB962C8B-B14F-4D97-AF65-F5344CB8AC3E}">
        <p14:creationId xmlns:p14="http://schemas.microsoft.com/office/powerpoint/2010/main" val="110997451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11188" y="417513"/>
            <a:ext cx="8064500" cy="779462"/>
          </a:xfrm>
        </p:spPr>
        <p:txBody>
          <a:bodyPr/>
          <a:lstStyle/>
          <a:p>
            <a:pPr eaLnBrk="1" hangingPunct="1"/>
            <a:r>
              <a:rPr lang="zh-CN" altLang="en-US" sz="4000" smtClean="0">
                <a:ea typeface="宋体" pitchFamily="2" charset="-122"/>
              </a:rPr>
              <a:t>路由的概念</a:t>
            </a:r>
          </a:p>
        </p:txBody>
      </p:sp>
      <p:sp>
        <p:nvSpPr>
          <p:cNvPr id="9219" name="Rectangle 3"/>
          <p:cNvSpPr>
            <a:spLocks noGrp="1" noChangeArrowheads="1"/>
          </p:cNvSpPr>
          <p:nvPr>
            <p:ph idx="1"/>
          </p:nvPr>
        </p:nvSpPr>
        <p:spPr>
          <a:xfrm>
            <a:off x="3132138" y="5157192"/>
            <a:ext cx="3746501" cy="1297013"/>
          </a:xfrm>
        </p:spPr>
        <p:txBody>
          <a:bodyPr>
            <a:normAutofit lnSpcReduction="10000"/>
          </a:bodyPr>
          <a:lstStyle/>
          <a:p>
            <a:pPr marL="0" indent="0" eaLnBrk="1" hangingPunct="1">
              <a:buClr>
                <a:schemeClr val="accent1"/>
              </a:buClr>
              <a:buFont typeface="Wingdings" pitchFamily="2" charset="2"/>
              <a:buChar char="u"/>
            </a:pPr>
            <a:r>
              <a:rPr lang="zh-CN" altLang="en-US" sz="3600" dirty="0" smtClean="0"/>
              <a:t>选路</a:t>
            </a:r>
          </a:p>
          <a:p>
            <a:pPr marL="0" indent="0" eaLnBrk="1" hangingPunct="1">
              <a:buClr>
                <a:schemeClr val="accent1"/>
              </a:buClr>
              <a:buFont typeface="Wingdings" pitchFamily="2" charset="2"/>
              <a:buChar char="u"/>
            </a:pPr>
            <a:r>
              <a:rPr lang="zh-CN" altLang="en-US" sz="3600" dirty="0" smtClean="0"/>
              <a:t>转发包</a:t>
            </a:r>
          </a:p>
        </p:txBody>
      </p:sp>
      <p:pic>
        <p:nvPicPr>
          <p:cNvPr id="6172" name="Picture 25"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832" y="3010693"/>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3" name="Picture 26" descr="显示屏-2"/>
          <p:cNvPicPr preferRelativeResize="0">
            <a:picLocks noChangeAspect="1" noChangeArrowheads="1"/>
          </p:cNvPicPr>
          <p:nvPr/>
        </p:nvPicPr>
        <p:blipFill>
          <a:blip r:embed="rId4"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216694" y="4428331"/>
            <a:ext cx="5476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4" name="Picture 27"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519" y="1858168"/>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5" name="Picture 28"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1957" y="3390106"/>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6" name="Picture 29"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5569" y="3369468"/>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7" name="Picture 30"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2544" y="1858168"/>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8" name="Picture 31"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694" y="2650331"/>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9" name="Picture 32" descr="显示屏-2"/>
          <p:cNvPicPr preferRelativeResize="0">
            <a:picLocks noChangeAspect="1" noChangeArrowheads="1"/>
          </p:cNvPicPr>
          <p:nvPr/>
        </p:nvPicPr>
        <p:blipFill>
          <a:blip r:embed="rId4"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8281194" y="4234656"/>
            <a:ext cx="5476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80" name="Rectangle 33"/>
          <p:cNvSpPr>
            <a:spLocks noChangeArrowheads="1"/>
          </p:cNvSpPr>
          <p:nvPr/>
        </p:nvSpPr>
        <p:spPr bwMode="auto">
          <a:xfrm>
            <a:off x="143669" y="4953793"/>
            <a:ext cx="865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en-US" altLang="zh-CN" sz="1800">
                <a:latin typeface="Arial" charset="0"/>
                <a:ea typeface="宋体" pitchFamily="2" charset="-122"/>
              </a:rPr>
              <a:t>PC A</a:t>
            </a:r>
          </a:p>
        </p:txBody>
      </p:sp>
      <p:sp>
        <p:nvSpPr>
          <p:cNvPr id="6181" name="Rectangle 34"/>
          <p:cNvSpPr>
            <a:spLocks noChangeArrowheads="1"/>
          </p:cNvSpPr>
          <p:nvPr/>
        </p:nvSpPr>
        <p:spPr bwMode="auto">
          <a:xfrm>
            <a:off x="8065294" y="4882356"/>
            <a:ext cx="865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en-US" altLang="zh-CN" sz="1800">
                <a:latin typeface="Arial" charset="0"/>
                <a:ea typeface="宋体" pitchFamily="2" charset="-122"/>
              </a:rPr>
              <a:t>PC B</a:t>
            </a:r>
          </a:p>
        </p:txBody>
      </p:sp>
      <p:sp>
        <p:nvSpPr>
          <p:cNvPr id="6182" name="Line 35"/>
          <p:cNvSpPr>
            <a:spLocks noChangeShapeType="1"/>
          </p:cNvSpPr>
          <p:nvPr/>
        </p:nvSpPr>
        <p:spPr bwMode="auto">
          <a:xfrm flipV="1">
            <a:off x="491332" y="3548856"/>
            <a:ext cx="719138" cy="936625"/>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3" name="Line 36"/>
          <p:cNvSpPr>
            <a:spLocks noChangeShapeType="1"/>
          </p:cNvSpPr>
          <p:nvPr/>
        </p:nvSpPr>
        <p:spPr bwMode="auto">
          <a:xfrm flipH="1">
            <a:off x="1943894" y="2289968"/>
            <a:ext cx="1008063" cy="792163"/>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4" name="Line 37"/>
          <p:cNvSpPr>
            <a:spLocks noChangeShapeType="1"/>
          </p:cNvSpPr>
          <p:nvPr/>
        </p:nvSpPr>
        <p:spPr bwMode="auto">
          <a:xfrm>
            <a:off x="2158207" y="3479006"/>
            <a:ext cx="863600" cy="21590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5" name="Line 38"/>
          <p:cNvSpPr>
            <a:spLocks noChangeShapeType="1"/>
          </p:cNvSpPr>
          <p:nvPr/>
        </p:nvSpPr>
        <p:spPr bwMode="auto">
          <a:xfrm flipH="1">
            <a:off x="4104482" y="2145506"/>
            <a:ext cx="1079500"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6" name="Line 39"/>
          <p:cNvSpPr>
            <a:spLocks noChangeShapeType="1"/>
          </p:cNvSpPr>
          <p:nvPr/>
        </p:nvSpPr>
        <p:spPr bwMode="auto">
          <a:xfrm flipH="1">
            <a:off x="4177507" y="3729831"/>
            <a:ext cx="1079500"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7" name="Line 40"/>
          <p:cNvSpPr>
            <a:spLocks noChangeShapeType="1"/>
          </p:cNvSpPr>
          <p:nvPr/>
        </p:nvSpPr>
        <p:spPr bwMode="auto">
          <a:xfrm>
            <a:off x="6282532" y="2235993"/>
            <a:ext cx="1079500" cy="50323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8" name="Line 41"/>
          <p:cNvSpPr>
            <a:spLocks noChangeShapeType="1"/>
          </p:cNvSpPr>
          <p:nvPr/>
        </p:nvSpPr>
        <p:spPr bwMode="auto">
          <a:xfrm flipH="1">
            <a:off x="6406357" y="3082131"/>
            <a:ext cx="865188" cy="50323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9" name="Line 42"/>
          <p:cNvSpPr>
            <a:spLocks noChangeShapeType="1"/>
          </p:cNvSpPr>
          <p:nvPr/>
        </p:nvSpPr>
        <p:spPr bwMode="auto">
          <a:xfrm flipH="1" flipV="1">
            <a:off x="3852069" y="2378868"/>
            <a:ext cx="1582738" cy="108108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190" name="Picture 43"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0019" y="2650331"/>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91" name="Line 44"/>
          <p:cNvSpPr>
            <a:spLocks noChangeShapeType="1"/>
          </p:cNvSpPr>
          <p:nvPr/>
        </p:nvSpPr>
        <p:spPr bwMode="auto">
          <a:xfrm flipH="1" flipV="1">
            <a:off x="7849394" y="3226593"/>
            <a:ext cx="647700" cy="1008063"/>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263" name="Picture 4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2744" y="4167981"/>
            <a:ext cx="287338"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9" name="Line 53"/>
          <p:cNvSpPr>
            <a:spLocks noChangeShapeType="1"/>
          </p:cNvSpPr>
          <p:nvPr/>
        </p:nvSpPr>
        <p:spPr bwMode="auto">
          <a:xfrm flipV="1">
            <a:off x="1801019" y="2224881"/>
            <a:ext cx="936625" cy="719137"/>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270" name="Line 54"/>
          <p:cNvSpPr>
            <a:spLocks noChangeShapeType="1"/>
          </p:cNvSpPr>
          <p:nvPr/>
        </p:nvSpPr>
        <p:spPr bwMode="auto">
          <a:xfrm>
            <a:off x="2016919" y="3621881"/>
            <a:ext cx="936625" cy="258762"/>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pic>
        <p:nvPicPr>
          <p:cNvPr id="9272" name="Picture 5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42244" y="2801143"/>
            <a:ext cx="287338"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74" name="Picture 5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85344" y="1648618"/>
            <a:ext cx="287338"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75" name="Picture 5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90394" y="1648618"/>
            <a:ext cx="287338"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76" name="Picture 6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62057" y="2439193"/>
            <a:ext cx="2873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77" name="Line 61"/>
          <p:cNvSpPr>
            <a:spLocks noChangeShapeType="1"/>
          </p:cNvSpPr>
          <p:nvPr/>
        </p:nvSpPr>
        <p:spPr bwMode="auto">
          <a:xfrm>
            <a:off x="4106069" y="2008981"/>
            <a:ext cx="936625" cy="1587"/>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78" name="Line 62"/>
          <p:cNvSpPr>
            <a:spLocks noChangeShapeType="1"/>
          </p:cNvSpPr>
          <p:nvPr/>
        </p:nvSpPr>
        <p:spPr bwMode="auto">
          <a:xfrm>
            <a:off x="3745707" y="2440781"/>
            <a:ext cx="360362" cy="215900"/>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79" name="Line 63"/>
          <p:cNvSpPr>
            <a:spLocks noChangeShapeType="1"/>
          </p:cNvSpPr>
          <p:nvPr/>
        </p:nvSpPr>
        <p:spPr bwMode="auto">
          <a:xfrm>
            <a:off x="6409532" y="2151856"/>
            <a:ext cx="1081087" cy="504825"/>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0" name="Line 64"/>
          <p:cNvSpPr>
            <a:spLocks noChangeShapeType="1"/>
          </p:cNvSpPr>
          <p:nvPr/>
        </p:nvSpPr>
        <p:spPr bwMode="auto">
          <a:xfrm>
            <a:off x="7993857" y="3232943"/>
            <a:ext cx="576262" cy="863600"/>
          </a:xfrm>
          <a:prstGeom prst="line">
            <a:avLst/>
          </a:prstGeom>
          <a:noFill/>
          <a:ln w="2540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1" name="Line 65"/>
          <p:cNvSpPr>
            <a:spLocks noChangeShapeType="1"/>
          </p:cNvSpPr>
          <p:nvPr/>
        </p:nvSpPr>
        <p:spPr bwMode="auto">
          <a:xfrm flipV="1">
            <a:off x="404019" y="3086893"/>
            <a:ext cx="936625" cy="1223963"/>
          </a:xfrm>
          <a:prstGeom prst="line">
            <a:avLst/>
          </a:prstGeom>
          <a:noFill/>
          <a:ln w="31750">
            <a:solidFill>
              <a:srgbClr val="00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2" name="Line 66"/>
          <p:cNvSpPr>
            <a:spLocks noChangeShapeType="1"/>
          </p:cNvSpPr>
          <p:nvPr/>
        </p:nvSpPr>
        <p:spPr bwMode="auto">
          <a:xfrm flipV="1">
            <a:off x="1369219" y="1720056"/>
            <a:ext cx="1728788" cy="1296987"/>
          </a:xfrm>
          <a:prstGeom prst="line">
            <a:avLst/>
          </a:prstGeom>
          <a:noFill/>
          <a:ln w="31750">
            <a:solidFill>
              <a:srgbClr val="00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3" name="Line 67"/>
          <p:cNvSpPr>
            <a:spLocks noChangeShapeType="1"/>
          </p:cNvSpPr>
          <p:nvPr/>
        </p:nvSpPr>
        <p:spPr bwMode="auto">
          <a:xfrm rot="-60000">
            <a:off x="3169444" y="1748631"/>
            <a:ext cx="2447925" cy="44450"/>
          </a:xfrm>
          <a:prstGeom prst="line">
            <a:avLst/>
          </a:prstGeom>
          <a:noFill/>
          <a:ln w="31750">
            <a:solidFill>
              <a:srgbClr val="00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4" name="Line 68"/>
          <p:cNvSpPr>
            <a:spLocks noChangeShapeType="1"/>
          </p:cNvSpPr>
          <p:nvPr/>
        </p:nvSpPr>
        <p:spPr bwMode="auto">
          <a:xfrm>
            <a:off x="5690394" y="1748631"/>
            <a:ext cx="2087563" cy="908050"/>
          </a:xfrm>
          <a:prstGeom prst="line">
            <a:avLst/>
          </a:prstGeom>
          <a:noFill/>
          <a:ln w="31750">
            <a:solidFill>
              <a:srgbClr val="00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285" name="Line 69"/>
          <p:cNvSpPr>
            <a:spLocks noChangeShapeType="1"/>
          </p:cNvSpPr>
          <p:nvPr/>
        </p:nvSpPr>
        <p:spPr bwMode="auto">
          <a:xfrm>
            <a:off x="7706519" y="2728118"/>
            <a:ext cx="863600" cy="1296988"/>
          </a:xfrm>
          <a:prstGeom prst="line">
            <a:avLst/>
          </a:prstGeom>
          <a:noFill/>
          <a:ln w="31750">
            <a:solidFill>
              <a:srgbClr val="00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165" name="Text Box 50" descr="蓝色砂纸"/>
          <p:cNvSpPr txBox="1">
            <a:spLocks noChangeArrowheads="1"/>
          </p:cNvSpPr>
          <p:nvPr/>
        </p:nvSpPr>
        <p:spPr bwMode="auto">
          <a:xfrm>
            <a:off x="1226344" y="3520281"/>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R1</a:t>
            </a:r>
          </a:p>
        </p:txBody>
      </p:sp>
      <p:sp>
        <p:nvSpPr>
          <p:cNvPr id="6166" name="Text Box 51" descr="蓝色砂纸"/>
          <p:cNvSpPr txBox="1">
            <a:spLocks noChangeArrowheads="1"/>
          </p:cNvSpPr>
          <p:nvPr/>
        </p:nvSpPr>
        <p:spPr bwMode="auto">
          <a:xfrm>
            <a:off x="3169444" y="229631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R2</a:t>
            </a:r>
          </a:p>
        </p:txBody>
      </p:sp>
      <p:sp>
        <p:nvSpPr>
          <p:cNvPr id="6167" name="Text Box 52" descr="蓝色砂纸"/>
          <p:cNvSpPr txBox="1">
            <a:spLocks noChangeArrowheads="1"/>
          </p:cNvSpPr>
          <p:nvPr/>
        </p:nvSpPr>
        <p:spPr bwMode="auto">
          <a:xfrm>
            <a:off x="3242469" y="3855243"/>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R3</a:t>
            </a:r>
          </a:p>
        </p:txBody>
      </p:sp>
      <p:sp>
        <p:nvSpPr>
          <p:cNvPr id="6168" name="Text Box 53" descr="蓝色砂纸"/>
          <p:cNvSpPr txBox="1">
            <a:spLocks noChangeArrowheads="1"/>
          </p:cNvSpPr>
          <p:nvPr/>
        </p:nvSpPr>
        <p:spPr bwMode="auto">
          <a:xfrm>
            <a:off x="4250532" y="3136106"/>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R4</a:t>
            </a:r>
          </a:p>
        </p:txBody>
      </p:sp>
      <p:sp>
        <p:nvSpPr>
          <p:cNvPr id="6169" name="Text Box 54" descr="蓝色砂纸"/>
          <p:cNvSpPr txBox="1">
            <a:spLocks noChangeArrowheads="1"/>
          </p:cNvSpPr>
          <p:nvPr/>
        </p:nvSpPr>
        <p:spPr bwMode="auto">
          <a:xfrm>
            <a:off x="5474494" y="2343943"/>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R5</a:t>
            </a:r>
          </a:p>
        </p:txBody>
      </p:sp>
      <p:sp>
        <p:nvSpPr>
          <p:cNvPr id="6170" name="Text Box 55" descr="蓝色砂纸"/>
          <p:cNvSpPr txBox="1">
            <a:spLocks noChangeArrowheads="1"/>
          </p:cNvSpPr>
          <p:nvPr/>
        </p:nvSpPr>
        <p:spPr bwMode="auto">
          <a:xfrm>
            <a:off x="5474494" y="3855243"/>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R6</a:t>
            </a:r>
          </a:p>
        </p:txBody>
      </p:sp>
      <p:sp>
        <p:nvSpPr>
          <p:cNvPr id="6171" name="Text Box 56" descr="蓝色砂纸"/>
          <p:cNvSpPr txBox="1">
            <a:spLocks noChangeArrowheads="1"/>
          </p:cNvSpPr>
          <p:nvPr/>
        </p:nvSpPr>
        <p:spPr bwMode="auto">
          <a:xfrm>
            <a:off x="7562057" y="3136106"/>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a:latin typeface="仿宋_GB2312" pitchFamily="49" charset="-122"/>
                <a:ea typeface="仿宋_GB2312" pitchFamily="49" charset="-122"/>
              </a:rPr>
              <a:t>R7</a:t>
            </a:r>
          </a:p>
        </p:txBody>
      </p:sp>
    </p:spTree>
    <p:extLst>
      <p:ext uri="{BB962C8B-B14F-4D97-AF65-F5344CB8AC3E}">
        <p14:creationId xmlns:p14="http://schemas.microsoft.com/office/powerpoint/2010/main" val="16487180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3.61111E-6 5.20231E-6 L 0.11823 -0.1993 " pathEditMode="relative" ptsTypes="AA">
                                      <p:cBhvr>
                                        <p:cTn id="6" dur="2000" fill="hold"/>
                                        <p:tgtEl>
                                          <p:spTgt spid="9263"/>
                                        </p:tgtEl>
                                        <p:attrNameLst>
                                          <p:attrName>ppt_x</p:attrName>
                                          <p:attrName>ppt_y</p:attrName>
                                        </p:attrNameLst>
                                      </p:cBhvr>
                                    </p:animMotion>
                                  </p:childTnLst>
                                </p:cTn>
                              </p:par>
                            </p:childTnLst>
                          </p:cTn>
                        </p:par>
                        <p:par>
                          <p:cTn id="7" fill="hold" nodeType="afterGroup">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9281"/>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27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26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9263"/>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nodeType="afterEffect">
                                  <p:stCondLst>
                                    <p:cond delay="0"/>
                                  </p:stCondLst>
                                  <p:childTnLst>
                                    <p:set>
                                      <p:cBhvr>
                                        <p:cTn id="22" dur="1" fill="hold">
                                          <p:stCondLst>
                                            <p:cond delay="0"/>
                                          </p:stCondLst>
                                        </p:cTn>
                                        <p:tgtEl>
                                          <p:spTgt spid="9272"/>
                                        </p:tgtEl>
                                        <p:attrNameLst>
                                          <p:attrName>style.visibility</p:attrName>
                                        </p:attrNameLst>
                                      </p:cBhvr>
                                      <p:to>
                                        <p:strVal val="visible"/>
                                      </p:to>
                                    </p:set>
                                  </p:childTnLst>
                                </p:cTn>
                              </p:par>
                            </p:childTnLst>
                          </p:cTn>
                        </p:par>
                        <p:par>
                          <p:cTn id="23" fill="hold" nodeType="afterGroup">
                            <p:stCondLst>
                              <p:cond delay="0"/>
                            </p:stCondLst>
                            <p:childTnLst>
                              <p:par>
                                <p:cTn id="24" presetID="0" presetClass="path" presetSubtype="0" accel="50000" decel="50000" fill="hold" nodeType="afterEffect">
                                  <p:stCondLst>
                                    <p:cond delay="0"/>
                                  </p:stCondLst>
                                  <p:childTnLst>
                                    <p:animMotion origin="layout" path="M 0.00018 -0.00023 L 0.21268 -0.16416 " pathEditMode="relative" rAng="0" ptsTypes="AA">
                                      <p:cBhvr>
                                        <p:cTn id="25" dur="2000" fill="hold"/>
                                        <p:tgtEl>
                                          <p:spTgt spid="9272"/>
                                        </p:tgtEl>
                                        <p:attrNameLst>
                                          <p:attrName>ppt_x</p:attrName>
                                          <p:attrName>ppt_y</p:attrName>
                                        </p:attrNameLst>
                                      </p:cBhvr>
                                      <p:rCtr x="10625" y="-8208"/>
                                    </p:animMotion>
                                  </p:childTnLst>
                                </p:cTn>
                              </p:par>
                            </p:childTnLst>
                          </p:cTn>
                        </p:par>
                        <p:par>
                          <p:cTn id="26" fill="hold" nodeType="afterGroup">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928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277"/>
                                        </p:tgtEl>
                                        <p:attrNameLst>
                                          <p:attrName>style.visibility</p:attrName>
                                        </p:attrNameLst>
                                      </p:cBhvr>
                                      <p:to>
                                        <p:strVal val="visible"/>
                                      </p:to>
                                    </p:set>
                                  </p:childTnLst>
                                </p:cTn>
                              </p:par>
                            </p:childTnLst>
                          </p:cTn>
                        </p:par>
                        <p:par>
                          <p:cTn id="33" fill="hold" nodeType="afterGroup">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9278"/>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xit" presetSubtype="0" fill="hold" nodeType="clickEffect">
                                  <p:stCondLst>
                                    <p:cond delay="0"/>
                                  </p:stCondLst>
                                  <p:childTnLst>
                                    <p:set>
                                      <p:cBhvr>
                                        <p:cTn id="39" dur="1" fill="hold">
                                          <p:stCondLst>
                                            <p:cond delay="0"/>
                                          </p:stCondLst>
                                        </p:cTn>
                                        <p:tgtEl>
                                          <p:spTgt spid="9272"/>
                                        </p:tgtEl>
                                        <p:attrNameLst>
                                          <p:attrName>style.visibility</p:attrName>
                                        </p:attrNameLst>
                                      </p:cBhvr>
                                      <p:to>
                                        <p:strVal val="hidden"/>
                                      </p:to>
                                    </p:set>
                                  </p:childTnLst>
                                </p:cTn>
                              </p:par>
                            </p:childTnLst>
                          </p:cTn>
                        </p:par>
                        <p:par>
                          <p:cTn id="40" fill="hold" nodeType="afterGroup">
                            <p:stCondLst>
                              <p:cond delay="0"/>
                            </p:stCondLst>
                            <p:childTnLst>
                              <p:par>
                                <p:cTn id="41" presetID="1" presetClass="entr" presetSubtype="0" fill="hold" nodeType="afterEffect">
                                  <p:stCondLst>
                                    <p:cond delay="0"/>
                                  </p:stCondLst>
                                  <p:childTnLst>
                                    <p:set>
                                      <p:cBhvr>
                                        <p:cTn id="42" dur="1" fill="hold">
                                          <p:stCondLst>
                                            <p:cond delay="0"/>
                                          </p:stCondLst>
                                        </p:cTn>
                                        <p:tgtEl>
                                          <p:spTgt spid="9274"/>
                                        </p:tgtEl>
                                        <p:attrNameLst>
                                          <p:attrName>style.visibility</p:attrName>
                                        </p:attrNameLst>
                                      </p:cBhvr>
                                      <p:to>
                                        <p:strVal val="visible"/>
                                      </p:to>
                                    </p:set>
                                  </p:childTnLst>
                                </p:cTn>
                              </p:par>
                            </p:childTnLst>
                          </p:cTn>
                        </p:par>
                        <p:par>
                          <p:cTn id="43" fill="hold" nodeType="afterGroup">
                            <p:stCondLst>
                              <p:cond delay="0"/>
                            </p:stCondLst>
                            <p:childTnLst>
                              <p:par>
                                <p:cTn id="44" presetID="0" presetClass="path" presetSubtype="0" accel="50000" decel="50000" fill="hold" nodeType="afterEffect">
                                  <p:stCondLst>
                                    <p:cond delay="0"/>
                                  </p:stCondLst>
                                  <p:childTnLst>
                                    <p:animMotion origin="layout" path="M 0.00018 0.00346 L 0.2441 0.0037 " pathEditMode="relative" rAng="0" ptsTypes="AA">
                                      <p:cBhvr>
                                        <p:cTn id="45" dur="2000" fill="hold"/>
                                        <p:tgtEl>
                                          <p:spTgt spid="9274"/>
                                        </p:tgtEl>
                                        <p:attrNameLst>
                                          <p:attrName>ppt_x</p:attrName>
                                          <p:attrName>ppt_y</p:attrName>
                                        </p:attrNameLst>
                                      </p:cBhvr>
                                      <p:rCtr x="12188" y="0"/>
                                    </p:animMotion>
                                  </p:childTnLst>
                                </p:cTn>
                              </p:par>
                            </p:childTnLst>
                          </p:cTn>
                        </p:par>
                        <p:par>
                          <p:cTn id="46" fill="hold" nodeType="afterGroup">
                            <p:stCondLst>
                              <p:cond delay="2000"/>
                            </p:stCondLst>
                            <p:childTnLst>
                              <p:par>
                                <p:cTn id="47" presetID="1" presetClass="entr" presetSubtype="0" fill="hold" grpId="0" nodeType="afterEffect">
                                  <p:stCondLst>
                                    <p:cond delay="0"/>
                                  </p:stCondLst>
                                  <p:childTnLst>
                                    <p:set>
                                      <p:cBhvr>
                                        <p:cTn id="48" dur="1" fill="hold">
                                          <p:stCondLst>
                                            <p:cond delay="0"/>
                                          </p:stCondLst>
                                        </p:cTn>
                                        <p:tgtEl>
                                          <p:spTgt spid="9283"/>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27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9274"/>
                                        </p:tgtEl>
                                        <p:attrNameLst>
                                          <p:attrName>style.visibility</p:attrName>
                                        </p:attrNameLst>
                                      </p:cBhvr>
                                      <p:to>
                                        <p:strVal val="hidden"/>
                                      </p:to>
                                    </p:set>
                                  </p:childTnLst>
                                </p:cTn>
                              </p:par>
                            </p:childTnLst>
                          </p:cTn>
                        </p:par>
                        <p:par>
                          <p:cTn id="57" fill="hold" nodeType="afterGroup">
                            <p:stCondLst>
                              <p:cond delay="0"/>
                            </p:stCondLst>
                            <p:childTnLst>
                              <p:par>
                                <p:cTn id="58" presetID="1" presetClass="entr" presetSubtype="0" fill="hold" nodeType="afterEffect">
                                  <p:stCondLst>
                                    <p:cond delay="0"/>
                                  </p:stCondLst>
                                  <p:childTnLst>
                                    <p:set>
                                      <p:cBhvr>
                                        <p:cTn id="59" dur="1" fill="hold">
                                          <p:stCondLst>
                                            <p:cond delay="0"/>
                                          </p:stCondLst>
                                        </p:cTn>
                                        <p:tgtEl>
                                          <p:spTgt spid="9275"/>
                                        </p:tgtEl>
                                        <p:attrNameLst>
                                          <p:attrName>style.visibility</p:attrName>
                                        </p:attrNameLst>
                                      </p:cBhvr>
                                      <p:to>
                                        <p:strVal val="visible"/>
                                      </p:to>
                                    </p:set>
                                  </p:childTnLst>
                                </p:cTn>
                              </p:par>
                            </p:childTnLst>
                          </p:cTn>
                        </p:par>
                        <p:par>
                          <p:cTn id="60" fill="hold" nodeType="afterGroup">
                            <p:stCondLst>
                              <p:cond delay="0"/>
                            </p:stCondLst>
                            <p:childTnLst>
                              <p:par>
                                <p:cTn id="61" presetID="0" presetClass="path" presetSubtype="0" accel="50000" decel="50000" fill="hold" nodeType="afterEffect">
                                  <p:stCondLst>
                                    <p:cond delay="0"/>
                                  </p:stCondLst>
                                  <p:childTnLst>
                                    <p:animMotion origin="layout" path="M -0.00816 3.69942E-6 L 0.20451 0.11907 " pathEditMode="relative" rAng="0" ptsTypes="AA">
                                      <p:cBhvr>
                                        <p:cTn id="62" dur="2000" fill="hold"/>
                                        <p:tgtEl>
                                          <p:spTgt spid="9275"/>
                                        </p:tgtEl>
                                        <p:attrNameLst>
                                          <p:attrName>ppt_x</p:attrName>
                                          <p:attrName>ppt_y</p:attrName>
                                        </p:attrNameLst>
                                      </p:cBhvr>
                                      <p:rCtr x="10625" y="5942"/>
                                    </p:animMotion>
                                  </p:childTnLst>
                                </p:cTn>
                              </p:par>
                            </p:childTnLst>
                          </p:cTn>
                        </p:par>
                        <p:par>
                          <p:cTn id="63" fill="hold" nodeType="afterGroup">
                            <p:stCondLst>
                              <p:cond delay="2000"/>
                            </p:stCondLst>
                            <p:childTnLst>
                              <p:par>
                                <p:cTn id="64" presetID="1" presetClass="entr" presetSubtype="0" fill="hold" grpId="0" nodeType="afterEffect">
                                  <p:stCondLst>
                                    <p:cond delay="0"/>
                                  </p:stCondLst>
                                  <p:childTnLst>
                                    <p:set>
                                      <p:cBhvr>
                                        <p:cTn id="65" dur="1" fill="hold">
                                          <p:stCondLst>
                                            <p:cond delay="0"/>
                                          </p:stCondLst>
                                        </p:cTn>
                                        <p:tgtEl>
                                          <p:spTgt spid="9284"/>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9280"/>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xit" presetSubtype="0" fill="hold" nodeType="clickEffect">
                                  <p:stCondLst>
                                    <p:cond delay="0"/>
                                  </p:stCondLst>
                                  <p:childTnLst>
                                    <p:set>
                                      <p:cBhvr>
                                        <p:cTn id="73" dur="1" fill="hold">
                                          <p:stCondLst>
                                            <p:cond delay="0"/>
                                          </p:stCondLst>
                                        </p:cTn>
                                        <p:tgtEl>
                                          <p:spTgt spid="9275"/>
                                        </p:tgtEl>
                                        <p:attrNameLst>
                                          <p:attrName>style.visibility</p:attrName>
                                        </p:attrNameLst>
                                      </p:cBhvr>
                                      <p:to>
                                        <p:strVal val="hidden"/>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9276"/>
                                        </p:tgtEl>
                                        <p:attrNameLst>
                                          <p:attrName>style.visibility</p:attrName>
                                        </p:attrNameLst>
                                      </p:cBhvr>
                                      <p:to>
                                        <p:strVal val="visible"/>
                                      </p:to>
                                    </p:set>
                                  </p:childTnLst>
                                </p:cTn>
                              </p:par>
                            </p:childTnLst>
                          </p:cTn>
                        </p:par>
                        <p:par>
                          <p:cTn id="77" fill="hold" nodeType="afterGroup">
                            <p:stCondLst>
                              <p:cond delay="0"/>
                            </p:stCondLst>
                            <p:childTnLst>
                              <p:par>
                                <p:cTn id="78" presetID="0" presetClass="path" presetSubtype="0" accel="50000" decel="50000" fill="hold" nodeType="afterEffect">
                                  <p:stCondLst>
                                    <p:cond delay="0"/>
                                  </p:stCondLst>
                                  <p:childTnLst>
                                    <p:animMotion origin="layout" path="M -4.16667E-6 4.04624E-6 L 0.08681 0.24601 " pathEditMode="relative" rAng="0" ptsTypes="AA">
                                      <p:cBhvr>
                                        <p:cTn id="79" dur="2000" fill="hold"/>
                                        <p:tgtEl>
                                          <p:spTgt spid="9276"/>
                                        </p:tgtEl>
                                        <p:attrNameLst>
                                          <p:attrName>ppt_x</p:attrName>
                                          <p:attrName>ppt_y</p:attrName>
                                        </p:attrNameLst>
                                      </p:cBhvr>
                                      <p:rCtr x="4340" y="12301"/>
                                    </p:animMotion>
                                  </p:childTnLst>
                                </p:cTn>
                              </p:par>
                            </p:childTnLst>
                          </p:cTn>
                        </p:par>
                        <p:par>
                          <p:cTn id="80" fill="hold" nodeType="afterGroup">
                            <p:stCondLst>
                              <p:cond delay="2000"/>
                            </p:stCondLst>
                            <p:childTnLst>
                              <p:par>
                                <p:cTn id="81" presetID="1" presetClass="entr" presetSubtype="0" fill="hold" grpId="0" nodeType="afterEffect">
                                  <p:stCondLst>
                                    <p:cond delay="0"/>
                                  </p:stCondLst>
                                  <p:childTnLst>
                                    <p:set>
                                      <p:cBhvr>
                                        <p:cTn id="82" dur="1" fill="hold">
                                          <p:stCondLst>
                                            <p:cond delay="0"/>
                                          </p:stCondLst>
                                        </p:cTn>
                                        <p:tgtEl>
                                          <p:spTgt spid="928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9269" grpId="0" animBg="1"/>
      <p:bldP spid="9270" grpId="0" animBg="1"/>
      <p:bldP spid="9277" grpId="0" animBg="1"/>
      <p:bldP spid="9278" grpId="0" animBg="1"/>
      <p:bldP spid="9279" grpId="0" animBg="1"/>
      <p:bldP spid="9280" grpId="0" animBg="1"/>
      <p:bldP spid="9281" grpId="0" animBg="1"/>
      <p:bldP spid="9282" grpId="0" animBg="1"/>
      <p:bldP spid="9283" grpId="0" animBg="1"/>
      <p:bldP spid="9284" grpId="0" animBg="1"/>
      <p:bldP spid="928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11188" y="417513"/>
            <a:ext cx="8064500" cy="779462"/>
          </a:xfrm>
        </p:spPr>
        <p:txBody>
          <a:bodyPr/>
          <a:lstStyle/>
          <a:p>
            <a:pPr eaLnBrk="1" hangingPunct="1"/>
            <a:r>
              <a:rPr lang="en-US" altLang="zh-CN" sz="4000" smtClean="0">
                <a:ea typeface="宋体" pitchFamily="2" charset="-122"/>
              </a:rPr>
              <a:t>IP</a:t>
            </a:r>
            <a:r>
              <a:rPr lang="zh-CN" altLang="en-US" sz="4000" smtClean="0">
                <a:ea typeface="宋体" pitchFamily="2" charset="-122"/>
              </a:rPr>
              <a:t>路由器</a:t>
            </a:r>
          </a:p>
        </p:txBody>
      </p:sp>
      <p:sp>
        <p:nvSpPr>
          <p:cNvPr id="7171" name="AutoShape 107"/>
          <p:cNvSpPr>
            <a:spLocks noChangeAspect="1" noChangeArrowheads="1" noTextEdit="1"/>
          </p:cNvSpPr>
          <p:nvPr/>
        </p:nvSpPr>
        <p:spPr bwMode="auto">
          <a:xfrm>
            <a:off x="0" y="1412875"/>
            <a:ext cx="8785225"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172" name="Group 97"/>
          <p:cNvGrpSpPr>
            <a:grpSpLocks/>
          </p:cNvGrpSpPr>
          <p:nvPr/>
        </p:nvGrpSpPr>
        <p:grpSpPr bwMode="auto">
          <a:xfrm>
            <a:off x="395288" y="1628775"/>
            <a:ext cx="8264525" cy="4554538"/>
            <a:chOff x="249" y="1026"/>
            <a:chExt cx="5206" cy="2869"/>
          </a:xfrm>
        </p:grpSpPr>
        <p:sp>
          <p:nvSpPr>
            <p:cNvPr id="7173" name="Oval 4"/>
            <p:cNvSpPr>
              <a:spLocks noChangeArrowheads="1"/>
            </p:cNvSpPr>
            <p:nvPr/>
          </p:nvSpPr>
          <p:spPr bwMode="auto">
            <a:xfrm>
              <a:off x="2734" y="2767"/>
              <a:ext cx="134" cy="401"/>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174" name="Rectangle 109"/>
            <p:cNvSpPr>
              <a:spLocks noChangeArrowheads="1"/>
            </p:cNvSpPr>
            <p:nvPr/>
          </p:nvSpPr>
          <p:spPr bwMode="auto">
            <a:xfrm>
              <a:off x="889" y="1367"/>
              <a:ext cx="3774" cy="2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5" name="Rectangle 110"/>
            <p:cNvSpPr>
              <a:spLocks noChangeArrowheads="1"/>
            </p:cNvSpPr>
            <p:nvPr/>
          </p:nvSpPr>
          <p:spPr bwMode="auto">
            <a:xfrm>
              <a:off x="889" y="1367"/>
              <a:ext cx="3774" cy="2525"/>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6" name="Rectangle 111"/>
            <p:cNvSpPr>
              <a:spLocks noChangeArrowheads="1"/>
            </p:cNvSpPr>
            <p:nvPr/>
          </p:nvSpPr>
          <p:spPr bwMode="auto">
            <a:xfrm>
              <a:off x="975" y="1434"/>
              <a:ext cx="67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900" b="0">
                  <a:solidFill>
                    <a:srgbClr val="000000"/>
                  </a:solidFill>
                  <a:latin typeface="宋体" pitchFamily="2" charset="-122"/>
                  <a:ea typeface="宋体" pitchFamily="2" charset="-122"/>
                </a:rPr>
                <a:t>路由器</a:t>
              </a:r>
              <a:endParaRPr lang="zh-CN" altLang="en-US" b="0"/>
            </a:p>
          </p:txBody>
        </p:sp>
        <p:sp>
          <p:nvSpPr>
            <p:cNvPr id="7177" name="Rectangle 112"/>
            <p:cNvSpPr>
              <a:spLocks noChangeArrowheads="1"/>
            </p:cNvSpPr>
            <p:nvPr/>
          </p:nvSpPr>
          <p:spPr bwMode="auto">
            <a:xfrm>
              <a:off x="2321" y="2734"/>
              <a:ext cx="910" cy="4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8" name="Rectangle 113"/>
            <p:cNvSpPr>
              <a:spLocks noChangeArrowheads="1"/>
            </p:cNvSpPr>
            <p:nvPr/>
          </p:nvSpPr>
          <p:spPr bwMode="auto">
            <a:xfrm>
              <a:off x="2321" y="2734"/>
              <a:ext cx="910" cy="484"/>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9" name="Rectangle 114"/>
            <p:cNvSpPr>
              <a:spLocks noChangeArrowheads="1"/>
            </p:cNvSpPr>
            <p:nvPr/>
          </p:nvSpPr>
          <p:spPr bwMode="auto">
            <a:xfrm>
              <a:off x="2579" y="2766"/>
              <a:ext cx="3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路由表</a:t>
              </a:r>
              <a:endParaRPr lang="zh-CN" altLang="en-US" b="0"/>
            </a:p>
          </p:txBody>
        </p:sp>
        <p:sp>
          <p:nvSpPr>
            <p:cNvPr id="7180" name="Rectangle 115"/>
            <p:cNvSpPr>
              <a:spLocks noChangeArrowheads="1"/>
            </p:cNvSpPr>
            <p:nvPr/>
          </p:nvSpPr>
          <p:spPr bwMode="auto">
            <a:xfrm>
              <a:off x="2529"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1" name="Rectangle 116"/>
            <p:cNvSpPr>
              <a:spLocks noChangeArrowheads="1"/>
            </p:cNvSpPr>
            <p:nvPr/>
          </p:nvSpPr>
          <p:spPr bwMode="auto">
            <a:xfrm>
              <a:off x="2592"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2" name="Rectangle 117"/>
            <p:cNvSpPr>
              <a:spLocks noChangeArrowheads="1"/>
            </p:cNvSpPr>
            <p:nvPr/>
          </p:nvSpPr>
          <p:spPr bwMode="auto">
            <a:xfrm>
              <a:off x="2654"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3" name="Rectangle 118"/>
            <p:cNvSpPr>
              <a:spLocks noChangeArrowheads="1"/>
            </p:cNvSpPr>
            <p:nvPr/>
          </p:nvSpPr>
          <p:spPr bwMode="auto">
            <a:xfrm>
              <a:off x="2717"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4" name="Rectangle 119"/>
            <p:cNvSpPr>
              <a:spLocks noChangeArrowheads="1"/>
            </p:cNvSpPr>
            <p:nvPr/>
          </p:nvSpPr>
          <p:spPr bwMode="auto">
            <a:xfrm>
              <a:off x="2779"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5" name="Rectangle 120"/>
            <p:cNvSpPr>
              <a:spLocks noChangeArrowheads="1"/>
            </p:cNvSpPr>
            <p:nvPr/>
          </p:nvSpPr>
          <p:spPr bwMode="auto">
            <a:xfrm>
              <a:off x="2841"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6" name="Rectangle 121"/>
            <p:cNvSpPr>
              <a:spLocks noChangeArrowheads="1"/>
            </p:cNvSpPr>
            <p:nvPr/>
          </p:nvSpPr>
          <p:spPr bwMode="auto">
            <a:xfrm>
              <a:off x="2904"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7" name="Rectangle 122"/>
            <p:cNvSpPr>
              <a:spLocks noChangeArrowheads="1"/>
            </p:cNvSpPr>
            <p:nvPr/>
          </p:nvSpPr>
          <p:spPr bwMode="auto">
            <a:xfrm>
              <a:off x="2966"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8" name="Rectangle 123"/>
            <p:cNvSpPr>
              <a:spLocks noChangeArrowheads="1"/>
            </p:cNvSpPr>
            <p:nvPr/>
          </p:nvSpPr>
          <p:spPr bwMode="auto">
            <a:xfrm>
              <a:off x="3029" y="290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89" name="Rectangle 124"/>
            <p:cNvSpPr>
              <a:spLocks noChangeArrowheads="1"/>
            </p:cNvSpPr>
            <p:nvPr/>
          </p:nvSpPr>
          <p:spPr bwMode="auto">
            <a:xfrm>
              <a:off x="2529"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0" name="Rectangle 125"/>
            <p:cNvSpPr>
              <a:spLocks noChangeArrowheads="1"/>
            </p:cNvSpPr>
            <p:nvPr/>
          </p:nvSpPr>
          <p:spPr bwMode="auto">
            <a:xfrm>
              <a:off x="2592"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1" name="Rectangle 126"/>
            <p:cNvSpPr>
              <a:spLocks noChangeArrowheads="1"/>
            </p:cNvSpPr>
            <p:nvPr/>
          </p:nvSpPr>
          <p:spPr bwMode="auto">
            <a:xfrm>
              <a:off x="2654"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2" name="Rectangle 127"/>
            <p:cNvSpPr>
              <a:spLocks noChangeArrowheads="1"/>
            </p:cNvSpPr>
            <p:nvPr/>
          </p:nvSpPr>
          <p:spPr bwMode="auto">
            <a:xfrm>
              <a:off x="2717"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3" name="Rectangle 128"/>
            <p:cNvSpPr>
              <a:spLocks noChangeArrowheads="1"/>
            </p:cNvSpPr>
            <p:nvPr/>
          </p:nvSpPr>
          <p:spPr bwMode="auto">
            <a:xfrm>
              <a:off x="2779"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4" name="Rectangle 129"/>
            <p:cNvSpPr>
              <a:spLocks noChangeArrowheads="1"/>
            </p:cNvSpPr>
            <p:nvPr/>
          </p:nvSpPr>
          <p:spPr bwMode="auto">
            <a:xfrm>
              <a:off x="2841"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5" name="Rectangle 130"/>
            <p:cNvSpPr>
              <a:spLocks noChangeArrowheads="1"/>
            </p:cNvSpPr>
            <p:nvPr/>
          </p:nvSpPr>
          <p:spPr bwMode="auto">
            <a:xfrm>
              <a:off x="2904"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6" name="Rectangle 131"/>
            <p:cNvSpPr>
              <a:spLocks noChangeArrowheads="1"/>
            </p:cNvSpPr>
            <p:nvPr/>
          </p:nvSpPr>
          <p:spPr bwMode="auto">
            <a:xfrm>
              <a:off x="2966"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7" name="Rectangle 132"/>
            <p:cNvSpPr>
              <a:spLocks noChangeArrowheads="1"/>
            </p:cNvSpPr>
            <p:nvPr/>
          </p:nvSpPr>
          <p:spPr bwMode="auto">
            <a:xfrm>
              <a:off x="3029" y="3058"/>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a:solidFill>
                    <a:srgbClr val="000000"/>
                  </a:solidFill>
                  <a:latin typeface="Times New Roman" pitchFamily="18" charset="0"/>
                </a:rPr>
                <a:t>-</a:t>
              </a:r>
              <a:endParaRPr lang="en-US" altLang="zh-CN"/>
            </a:p>
          </p:txBody>
        </p:sp>
        <p:sp>
          <p:nvSpPr>
            <p:cNvPr id="7198" name="Rectangle 133"/>
            <p:cNvSpPr>
              <a:spLocks noChangeArrowheads="1"/>
            </p:cNvSpPr>
            <p:nvPr/>
          </p:nvSpPr>
          <p:spPr bwMode="auto">
            <a:xfrm>
              <a:off x="1327" y="3555"/>
              <a:ext cx="11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99" name="Rectangle 134"/>
            <p:cNvSpPr>
              <a:spLocks noChangeArrowheads="1"/>
            </p:cNvSpPr>
            <p:nvPr/>
          </p:nvSpPr>
          <p:spPr bwMode="auto">
            <a:xfrm>
              <a:off x="1327" y="3555"/>
              <a:ext cx="118"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0" name="Rectangle 135"/>
            <p:cNvSpPr>
              <a:spLocks noChangeArrowheads="1"/>
            </p:cNvSpPr>
            <p:nvPr/>
          </p:nvSpPr>
          <p:spPr bwMode="auto">
            <a:xfrm>
              <a:off x="1445" y="3555"/>
              <a:ext cx="11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01" name="Rectangle 136"/>
            <p:cNvSpPr>
              <a:spLocks noChangeArrowheads="1"/>
            </p:cNvSpPr>
            <p:nvPr/>
          </p:nvSpPr>
          <p:spPr bwMode="auto">
            <a:xfrm>
              <a:off x="1445" y="3555"/>
              <a:ext cx="118"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2" name="Rectangle 137"/>
            <p:cNvSpPr>
              <a:spLocks noChangeArrowheads="1"/>
            </p:cNvSpPr>
            <p:nvPr/>
          </p:nvSpPr>
          <p:spPr bwMode="auto">
            <a:xfrm>
              <a:off x="1563" y="3555"/>
              <a:ext cx="11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03" name="Rectangle 138"/>
            <p:cNvSpPr>
              <a:spLocks noChangeArrowheads="1"/>
            </p:cNvSpPr>
            <p:nvPr/>
          </p:nvSpPr>
          <p:spPr bwMode="auto">
            <a:xfrm>
              <a:off x="1563" y="3555"/>
              <a:ext cx="118"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4" name="Rectangle 139"/>
            <p:cNvSpPr>
              <a:spLocks noChangeArrowheads="1"/>
            </p:cNvSpPr>
            <p:nvPr/>
          </p:nvSpPr>
          <p:spPr bwMode="auto">
            <a:xfrm>
              <a:off x="1681" y="3555"/>
              <a:ext cx="11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05" name="Rectangle 140"/>
            <p:cNvSpPr>
              <a:spLocks noChangeArrowheads="1"/>
            </p:cNvSpPr>
            <p:nvPr/>
          </p:nvSpPr>
          <p:spPr bwMode="auto">
            <a:xfrm>
              <a:off x="1681" y="3555"/>
              <a:ext cx="118"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6" name="Rectangle 141"/>
            <p:cNvSpPr>
              <a:spLocks noChangeArrowheads="1"/>
            </p:cNvSpPr>
            <p:nvPr/>
          </p:nvSpPr>
          <p:spPr bwMode="auto">
            <a:xfrm>
              <a:off x="3754" y="3555"/>
              <a:ext cx="117"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07" name="Rectangle 142"/>
            <p:cNvSpPr>
              <a:spLocks noChangeArrowheads="1"/>
            </p:cNvSpPr>
            <p:nvPr/>
          </p:nvSpPr>
          <p:spPr bwMode="auto">
            <a:xfrm>
              <a:off x="3754" y="3555"/>
              <a:ext cx="117"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8" name="Rectangle 143"/>
            <p:cNvSpPr>
              <a:spLocks noChangeArrowheads="1"/>
            </p:cNvSpPr>
            <p:nvPr/>
          </p:nvSpPr>
          <p:spPr bwMode="auto">
            <a:xfrm>
              <a:off x="3871" y="3555"/>
              <a:ext cx="11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09" name="Rectangle 144"/>
            <p:cNvSpPr>
              <a:spLocks noChangeArrowheads="1"/>
            </p:cNvSpPr>
            <p:nvPr/>
          </p:nvSpPr>
          <p:spPr bwMode="auto">
            <a:xfrm>
              <a:off x="3871" y="3555"/>
              <a:ext cx="118"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0" name="Rectangle 145"/>
            <p:cNvSpPr>
              <a:spLocks noChangeArrowheads="1"/>
            </p:cNvSpPr>
            <p:nvPr/>
          </p:nvSpPr>
          <p:spPr bwMode="auto">
            <a:xfrm>
              <a:off x="3989" y="3555"/>
              <a:ext cx="119"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11" name="Rectangle 146"/>
            <p:cNvSpPr>
              <a:spLocks noChangeArrowheads="1"/>
            </p:cNvSpPr>
            <p:nvPr/>
          </p:nvSpPr>
          <p:spPr bwMode="auto">
            <a:xfrm>
              <a:off x="3989" y="3555"/>
              <a:ext cx="119"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2" name="Rectangle 147"/>
            <p:cNvSpPr>
              <a:spLocks noChangeArrowheads="1"/>
            </p:cNvSpPr>
            <p:nvPr/>
          </p:nvSpPr>
          <p:spPr bwMode="auto">
            <a:xfrm>
              <a:off x="4108" y="3555"/>
              <a:ext cx="117"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13" name="Rectangle 148"/>
            <p:cNvSpPr>
              <a:spLocks noChangeArrowheads="1"/>
            </p:cNvSpPr>
            <p:nvPr/>
          </p:nvSpPr>
          <p:spPr bwMode="auto">
            <a:xfrm>
              <a:off x="4108" y="3555"/>
              <a:ext cx="117" cy="181"/>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4" name="Freeform 149"/>
            <p:cNvSpPr>
              <a:spLocks/>
            </p:cNvSpPr>
            <p:nvPr/>
          </p:nvSpPr>
          <p:spPr bwMode="auto">
            <a:xfrm>
              <a:off x="282" y="3645"/>
              <a:ext cx="557" cy="1"/>
            </a:xfrm>
            <a:custGeom>
              <a:avLst/>
              <a:gdLst>
                <a:gd name="T0" fmla="*/ 0 w 557"/>
                <a:gd name="T1" fmla="*/ 0 h 1"/>
                <a:gd name="T2" fmla="*/ 0 w 557"/>
                <a:gd name="T3" fmla="*/ 0 h 1"/>
                <a:gd name="T4" fmla="*/ 557 w 557"/>
                <a:gd name="T5" fmla="*/ 0 h 1"/>
                <a:gd name="T6" fmla="*/ 0 60000 65536"/>
                <a:gd name="T7" fmla="*/ 0 60000 65536"/>
                <a:gd name="T8" fmla="*/ 0 60000 65536"/>
                <a:gd name="T9" fmla="*/ 0 w 557"/>
                <a:gd name="T10" fmla="*/ 0 h 1"/>
                <a:gd name="T11" fmla="*/ 557 w 557"/>
                <a:gd name="T12" fmla="*/ 1 h 1"/>
              </a:gdLst>
              <a:ahLst/>
              <a:cxnLst>
                <a:cxn ang="T6">
                  <a:pos x="T0" y="T1"/>
                </a:cxn>
                <a:cxn ang="T7">
                  <a:pos x="T2" y="T3"/>
                </a:cxn>
                <a:cxn ang="T8">
                  <a:pos x="T4" y="T5"/>
                </a:cxn>
              </a:cxnLst>
              <a:rect l="T9" t="T10" r="T11" b="T12"/>
              <a:pathLst>
                <a:path w="557" h="1">
                  <a:moveTo>
                    <a:pt x="0" y="0"/>
                  </a:moveTo>
                  <a:lnTo>
                    <a:pt x="0" y="0"/>
                  </a:lnTo>
                  <a:lnTo>
                    <a:pt x="557" y="0"/>
                  </a:lnTo>
                </a:path>
              </a:pathLst>
            </a:custGeom>
            <a:noFill/>
            <a:ln w="4826"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5" name="Freeform 150"/>
            <p:cNvSpPr>
              <a:spLocks/>
            </p:cNvSpPr>
            <p:nvPr/>
          </p:nvSpPr>
          <p:spPr bwMode="auto">
            <a:xfrm>
              <a:off x="823" y="3608"/>
              <a:ext cx="66" cy="74"/>
            </a:xfrm>
            <a:custGeom>
              <a:avLst/>
              <a:gdLst>
                <a:gd name="T0" fmla="*/ 2 w 118"/>
                <a:gd name="T1" fmla="*/ 3 h 118"/>
                <a:gd name="T2" fmla="*/ 0 w 118"/>
                <a:gd name="T3" fmla="*/ 4 h 118"/>
                <a:gd name="T4" fmla="*/ 0 w 118"/>
                <a:gd name="T5" fmla="*/ 0 h 118"/>
                <a:gd name="T6" fmla="*/ 0 w 118"/>
                <a:gd name="T7" fmla="*/ 0 h 118"/>
                <a:gd name="T8" fmla="*/ 2 w 118"/>
                <a:gd name="T9" fmla="*/ 3 h 118"/>
                <a:gd name="T10" fmla="*/ 0 60000 65536"/>
                <a:gd name="T11" fmla="*/ 0 60000 65536"/>
                <a:gd name="T12" fmla="*/ 0 60000 65536"/>
                <a:gd name="T13" fmla="*/ 0 60000 65536"/>
                <a:gd name="T14" fmla="*/ 0 60000 65536"/>
                <a:gd name="T15" fmla="*/ 0 w 118"/>
                <a:gd name="T16" fmla="*/ 0 h 118"/>
                <a:gd name="T17" fmla="*/ 118 w 118"/>
                <a:gd name="T18" fmla="*/ 118 h 118"/>
              </a:gdLst>
              <a:ahLst/>
              <a:cxnLst>
                <a:cxn ang="T10">
                  <a:pos x="T0" y="T1"/>
                </a:cxn>
                <a:cxn ang="T11">
                  <a:pos x="T2" y="T3"/>
                </a:cxn>
                <a:cxn ang="T12">
                  <a:pos x="T4" y="T5"/>
                </a:cxn>
                <a:cxn ang="T13">
                  <a:pos x="T6" y="T7"/>
                </a:cxn>
                <a:cxn ang="T14">
                  <a:pos x="T8" y="T9"/>
                </a:cxn>
              </a:cxnLst>
              <a:rect l="T15" t="T16" r="T17" b="T18"/>
              <a:pathLst>
                <a:path w="118" h="118">
                  <a:moveTo>
                    <a:pt x="118" y="59"/>
                  </a:moveTo>
                  <a:lnTo>
                    <a:pt x="0" y="118"/>
                  </a:lnTo>
                  <a:cubicBezTo>
                    <a:pt x="18" y="81"/>
                    <a:pt x="18" y="37"/>
                    <a:pt x="0" y="0"/>
                  </a:cubicBezTo>
                  <a:lnTo>
                    <a:pt x="118" y="59"/>
                  </a:lnTo>
                  <a:close/>
                </a:path>
              </a:pathLst>
            </a:custGeom>
            <a:solidFill>
              <a:schemeClr val="accent1"/>
            </a:solidFill>
            <a:ln w="0">
              <a:solidFill>
                <a:schemeClr val="accent1"/>
              </a:solidFill>
              <a:round/>
              <a:headEnd/>
              <a:tailEnd/>
            </a:ln>
          </p:spPr>
          <p:txBody>
            <a:bodyPr/>
            <a:lstStyle/>
            <a:p>
              <a:endParaRPr lang="zh-CN" altLang="en-US"/>
            </a:p>
          </p:txBody>
        </p:sp>
        <p:sp>
          <p:nvSpPr>
            <p:cNvPr id="7216" name="Rectangle 151"/>
            <p:cNvSpPr>
              <a:spLocks noChangeArrowheads="1"/>
            </p:cNvSpPr>
            <p:nvPr/>
          </p:nvSpPr>
          <p:spPr bwMode="auto">
            <a:xfrm>
              <a:off x="2321" y="3505"/>
              <a:ext cx="910" cy="2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17" name="Rectangle 152"/>
            <p:cNvSpPr>
              <a:spLocks noChangeArrowheads="1"/>
            </p:cNvSpPr>
            <p:nvPr/>
          </p:nvSpPr>
          <p:spPr bwMode="auto">
            <a:xfrm>
              <a:off x="2321" y="3505"/>
              <a:ext cx="910" cy="280"/>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8" name="Rectangle 153"/>
            <p:cNvSpPr>
              <a:spLocks noChangeArrowheads="1"/>
            </p:cNvSpPr>
            <p:nvPr/>
          </p:nvSpPr>
          <p:spPr bwMode="auto">
            <a:xfrm>
              <a:off x="2558" y="3582"/>
              <a:ext cx="5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0">
                  <a:solidFill>
                    <a:srgbClr val="000000"/>
                  </a:solidFill>
                  <a:latin typeface="Times New Roman" pitchFamily="18" charset="0"/>
                </a:rPr>
                <a:t>IP</a:t>
              </a:r>
              <a:r>
                <a:rPr lang="zh-CN" altLang="en-US" sz="1500" b="0">
                  <a:solidFill>
                    <a:srgbClr val="000000"/>
                  </a:solidFill>
                  <a:latin typeface="Times New Roman" pitchFamily="18" charset="0"/>
                </a:rPr>
                <a:t>路由</a:t>
              </a:r>
              <a:endParaRPr lang="zh-CN" altLang="en-US" b="0"/>
            </a:p>
          </p:txBody>
        </p:sp>
        <p:sp>
          <p:nvSpPr>
            <p:cNvPr id="7219" name="Rectangle 155"/>
            <p:cNvSpPr>
              <a:spLocks noChangeArrowheads="1"/>
            </p:cNvSpPr>
            <p:nvPr/>
          </p:nvSpPr>
          <p:spPr bwMode="auto">
            <a:xfrm>
              <a:off x="2321" y="2127"/>
              <a:ext cx="910" cy="3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20" name="Rectangle 156"/>
            <p:cNvSpPr>
              <a:spLocks noChangeArrowheads="1"/>
            </p:cNvSpPr>
            <p:nvPr/>
          </p:nvSpPr>
          <p:spPr bwMode="auto">
            <a:xfrm>
              <a:off x="2321" y="2127"/>
              <a:ext cx="910" cy="304"/>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21" name="Rectangle 157"/>
            <p:cNvSpPr>
              <a:spLocks noChangeArrowheads="1"/>
            </p:cNvSpPr>
            <p:nvPr/>
          </p:nvSpPr>
          <p:spPr bwMode="auto">
            <a:xfrm>
              <a:off x="2414" y="2201"/>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路由协议处理</a:t>
              </a:r>
              <a:endParaRPr lang="zh-CN" altLang="en-US" b="0"/>
            </a:p>
          </p:txBody>
        </p:sp>
        <p:sp>
          <p:nvSpPr>
            <p:cNvPr id="7222" name="Freeform 158"/>
            <p:cNvSpPr>
              <a:spLocks/>
            </p:cNvSpPr>
            <p:nvPr/>
          </p:nvSpPr>
          <p:spPr bwMode="auto">
            <a:xfrm>
              <a:off x="1799" y="3645"/>
              <a:ext cx="473" cy="1"/>
            </a:xfrm>
            <a:custGeom>
              <a:avLst/>
              <a:gdLst>
                <a:gd name="T0" fmla="*/ 0 w 473"/>
                <a:gd name="T1" fmla="*/ 0 h 1"/>
                <a:gd name="T2" fmla="*/ 126 w 473"/>
                <a:gd name="T3" fmla="*/ 0 h 1"/>
                <a:gd name="T4" fmla="*/ 126 w 473"/>
                <a:gd name="T5" fmla="*/ 0 h 1"/>
                <a:gd name="T6" fmla="*/ 473 w 473"/>
                <a:gd name="T7" fmla="*/ 0 h 1"/>
                <a:gd name="T8" fmla="*/ 0 60000 65536"/>
                <a:gd name="T9" fmla="*/ 0 60000 65536"/>
                <a:gd name="T10" fmla="*/ 0 60000 65536"/>
                <a:gd name="T11" fmla="*/ 0 60000 65536"/>
                <a:gd name="T12" fmla="*/ 0 w 473"/>
                <a:gd name="T13" fmla="*/ 0 h 1"/>
                <a:gd name="T14" fmla="*/ 473 w 473"/>
                <a:gd name="T15" fmla="*/ 1 h 1"/>
              </a:gdLst>
              <a:ahLst/>
              <a:cxnLst>
                <a:cxn ang="T8">
                  <a:pos x="T0" y="T1"/>
                </a:cxn>
                <a:cxn ang="T9">
                  <a:pos x="T2" y="T3"/>
                </a:cxn>
                <a:cxn ang="T10">
                  <a:pos x="T4" y="T5"/>
                </a:cxn>
                <a:cxn ang="T11">
                  <a:pos x="T6" y="T7"/>
                </a:cxn>
              </a:cxnLst>
              <a:rect l="T12" t="T13" r="T14" b="T15"/>
              <a:pathLst>
                <a:path w="473" h="1">
                  <a:moveTo>
                    <a:pt x="0" y="0"/>
                  </a:moveTo>
                  <a:lnTo>
                    <a:pt x="126" y="0"/>
                  </a:lnTo>
                  <a:lnTo>
                    <a:pt x="473" y="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23" name="Freeform 159"/>
            <p:cNvSpPr>
              <a:spLocks/>
            </p:cNvSpPr>
            <p:nvPr/>
          </p:nvSpPr>
          <p:spPr bwMode="auto">
            <a:xfrm>
              <a:off x="2256" y="3608"/>
              <a:ext cx="65" cy="74"/>
            </a:xfrm>
            <a:custGeom>
              <a:avLst/>
              <a:gdLst>
                <a:gd name="T0" fmla="*/ 2 w 118"/>
                <a:gd name="T1" fmla="*/ 3 h 118"/>
                <a:gd name="T2" fmla="*/ 0 w 118"/>
                <a:gd name="T3" fmla="*/ 4 h 118"/>
                <a:gd name="T4" fmla="*/ 0 w 118"/>
                <a:gd name="T5" fmla="*/ 0 h 118"/>
                <a:gd name="T6" fmla="*/ 0 w 118"/>
                <a:gd name="T7" fmla="*/ 0 h 118"/>
                <a:gd name="T8" fmla="*/ 2 w 118"/>
                <a:gd name="T9" fmla="*/ 3 h 118"/>
                <a:gd name="T10" fmla="*/ 0 60000 65536"/>
                <a:gd name="T11" fmla="*/ 0 60000 65536"/>
                <a:gd name="T12" fmla="*/ 0 60000 65536"/>
                <a:gd name="T13" fmla="*/ 0 60000 65536"/>
                <a:gd name="T14" fmla="*/ 0 60000 65536"/>
                <a:gd name="T15" fmla="*/ 0 w 118"/>
                <a:gd name="T16" fmla="*/ 0 h 118"/>
                <a:gd name="T17" fmla="*/ 118 w 118"/>
                <a:gd name="T18" fmla="*/ 118 h 118"/>
              </a:gdLst>
              <a:ahLst/>
              <a:cxnLst>
                <a:cxn ang="T10">
                  <a:pos x="T0" y="T1"/>
                </a:cxn>
                <a:cxn ang="T11">
                  <a:pos x="T2" y="T3"/>
                </a:cxn>
                <a:cxn ang="T12">
                  <a:pos x="T4" y="T5"/>
                </a:cxn>
                <a:cxn ang="T13">
                  <a:pos x="T6" y="T7"/>
                </a:cxn>
                <a:cxn ang="T14">
                  <a:pos x="T8" y="T9"/>
                </a:cxn>
              </a:cxnLst>
              <a:rect l="T15" t="T16" r="T17" b="T18"/>
              <a:pathLst>
                <a:path w="118" h="118">
                  <a:moveTo>
                    <a:pt x="118" y="59"/>
                  </a:moveTo>
                  <a:lnTo>
                    <a:pt x="0" y="118"/>
                  </a:lnTo>
                  <a:cubicBezTo>
                    <a:pt x="18" y="81"/>
                    <a:pt x="18" y="37"/>
                    <a:pt x="0" y="0"/>
                  </a:cubicBezTo>
                  <a:lnTo>
                    <a:pt x="118" y="59"/>
                  </a:lnTo>
                  <a:close/>
                </a:path>
              </a:pathLst>
            </a:custGeom>
            <a:solidFill>
              <a:srgbClr val="000000"/>
            </a:solidFill>
            <a:ln w="0">
              <a:solidFill>
                <a:srgbClr val="000000"/>
              </a:solidFill>
              <a:round/>
              <a:headEnd/>
              <a:tailEnd/>
            </a:ln>
          </p:spPr>
          <p:txBody>
            <a:bodyPr/>
            <a:lstStyle/>
            <a:p>
              <a:endParaRPr lang="zh-CN" altLang="en-US"/>
            </a:p>
          </p:txBody>
        </p:sp>
        <p:sp>
          <p:nvSpPr>
            <p:cNvPr id="7224" name="Freeform 160"/>
            <p:cNvSpPr>
              <a:spLocks/>
            </p:cNvSpPr>
            <p:nvPr/>
          </p:nvSpPr>
          <p:spPr bwMode="auto">
            <a:xfrm>
              <a:off x="1900" y="2279"/>
              <a:ext cx="372" cy="1366"/>
            </a:xfrm>
            <a:custGeom>
              <a:avLst/>
              <a:gdLst>
                <a:gd name="T0" fmla="*/ 0 w 372"/>
                <a:gd name="T1" fmla="*/ 1366 h 1366"/>
                <a:gd name="T2" fmla="*/ 0 w 372"/>
                <a:gd name="T3" fmla="*/ 0 h 1366"/>
                <a:gd name="T4" fmla="*/ 372 w 372"/>
                <a:gd name="T5" fmla="*/ 0 h 1366"/>
                <a:gd name="T6" fmla="*/ 0 60000 65536"/>
                <a:gd name="T7" fmla="*/ 0 60000 65536"/>
                <a:gd name="T8" fmla="*/ 0 60000 65536"/>
                <a:gd name="T9" fmla="*/ 0 w 372"/>
                <a:gd name="T10" fmla="*/ 0 h 1366"/>
                <a:gd name="T11" fmla="*/ 372 w 372"/>
                <a:gd name="T12" fmla="*/ 1366 h 1366"/>
              </a:gdLst>
              <a:ahLst/>
              <a:cxnLst>
                <a:cxn ang="T6">
                  <a:pos x="T0" y="T1"/>
                </a:cxn>
                <a:cxn ang="T7">
                  <a:pos x="T2" y="T3"/>
                </a:cxn>
                <a:cxn ang="T8">
                  <a:pos x="T4" y="T5"/>
                </a:cxn>
              </a:cxnLst>
              <a:rect l="T9" t="T10" r="T11" b="T12"/>
              <a:pathLst>
                <a:path w="372" h="1366">
                  <a:moveTo>
                    <a:pt x="0" y="1366"/>
                  </a:moveTo>
                  <a:lnTo>
                    <a:pt x="0" y="0"/>
                  </a:lnTo>
                  <a:lnTo>
                    <a:pt x="372" y="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25" name="Freeform 161"/>
            <p:cNvSpPr>
              <a:spLocks/>
            </p:cNvSpPr>
            <p:nvPr/>
          </p:nvSpPr>
          <p:spPr bwMode="auto">
            <a:xfrm>
              <a:off x="2256" y="2242"/>
              <a:ext cx="65" cy="74"/>
            </a:xfrm>
            <a:custGeom>
              <a:avLst/>
              <a:gdLst>
                <a:gd name="T0" fmla="*/ 2 w 118"/>
                <a:gd name="T1" fmla="*/ 3 h 118"/>
                <a:gd name="T2" fmla="*/ 0 w 118"/>
                <a:gd name="T3" fmla="*/ 4 h 118"/>
                <a:gd name="T4" fmla="*/ 0 w 118"/>
                <a:gd name="T5" fmla="*/ 0 h 118"/>
                <a:gd name="T6" fmla="*/ 2 w 118"/>
                <a:gd name="T7" fmla="*/ 3 h 118"/>
                <a:gd name="T8" fmla="*/ 0 60000 65536"/>
                <a:gd name="T9" fmla="*/ 0 60000 65536"/>
                <a:gd name="T10" fmla="*/ 0 60000 65536"/>
                <a:gd name="T11" fmla="*/ 0 60000 65536"/>
                <a:gd name="T12" fmla="*/ 0 w 118"/>
                <a:gd name="T13" fmla="*/ 0 h 118"/>
                <a:gd name="T14" fmla="*/ 118 w 118"/>
                <a:gd name="T15" fmla="*/ 118 h 118"/>
              </a:gdLst>
              <a:ahLst/>
              <a:cxnLst>
                <a:cxn ang="T8">
                  <a:pos x="T0" y="T1"/>
                </a:cxn>
                <a:cxn ang="T9">
                  <a:pos x="T2" y="T3"/>
                </a:cxn>
                <a:cxn ang="T10">
                  <a:pos x="T4" y="T5"/>
                </a:cxn>
                <a:cxn ang="T11">
                  <a:pos x="T6" y="T7"/>
                </a:cxn>
              </a:cxnLst>
              <a:rect l="T12" t="T13" r="T14" b="T15"/>
              <a:pathLst>
                <a:path w="118" h="118">
                  <a:moveTo>
                    <a:pt x="118" y="59"/>
                  </a:moveTo>
                  <a:lnTo>
                    <a:pt x="0" y="118"/>
                  </a:lnTo>
                  <a:cubicBezTo>
                    <a:pt x="18" y="81"/>
                    <a:pt x="18" y="37"/>
                    <a:pt x="0" y="0"/>
                  </a:cubicBezTo>
                  <a:lnTo>
                    <a:pt x="118" y="59"/>
                  </a:lnTo>
                  <a:close/>
                </a:path>
              </a:pathLst>
            </a:custGeom>
            <a:solidFill>
              <a:srgbClr val="000000"/>
            </a:solidFill>
            <a:ln w="0">
              <a:solidFill>
                <a:srgbClr val="000000"/>
              </a:solidFill>
              <a:round/>
              <a:headEnd/>
              <a:tailEnd/>
            </a:ln>
          </p:spPr>
          <p:txBody>
            <a:bodyPr/>
            <a:lstStyle/>
            <a:p>
              <a:endParaRPr lang="zh-CN" altLang="en-US"/>
            </a:p>
          </p:txBody>
        </p:sp>
        <p:sp>
          <p:nvSpPr>
            <p:cNvPr id="7226" name="Freeform 162"/>
            <p:cNvSpPr>
              <a:spLocks/>
            </p:cNvSpPr>
            <p:nvPr/>
          </p:nvSpPr>
          <p:spPr bwMode="auto">
            <a:xfrm>
              <a:off x="3231" y="3645"/>
              <a:ext cx="473" cy="1"/>
            </a:xfrm>
            <a:custGeom>
              <a:avLst/>
              <a:gdLst>
                <a:gd name="T0" fmla="*/ 473 w 473"/>
                <a:gd name="T1" fmla="*/ 0 h 1"/>
                <a:gd name="T2" fmla="*/ 396 w 473"/>
                <a:gd name="T3" fmla="*/ 0 h 1"/>
                <a:gd name="T4" fmla="*/ 396 w 473"/>
                <a:gd name="T5" fmla="*/ 0 h 1"/>
                <a:gd name="T6" fmla="*/ 0 w 473"/>
                <a:gd name="T7" fmla="*/ 0 h 1"/>
                <a:gd name="T8" fmla="*/ 0 60000 65536"/>
                <a:gd name="T9" fmla="*/ 0 60000 65536"/>
                <a:gd name="T10" fmla="*/ 0 60000 65536"/>
                <a:gd name="T11" fmla="*/ 0 60000 65536"/>
                <a:gd name="T12" fmla="*/ 0 w 473"/>
                <a:gd name="T13" fmla="*/ 0 h 1"/>
                <a:gd name="T14" fmla="*/ 473 w 473"/>
                <a:gd name="T15" fmla="*/ 1 h 1"/>
              </a:gdLst>
              <a:ahLst/>
              <a:cxnLst>
                <a:cxn ang="T8">
                  <a:pos x="T0" y="T1"/>
                </a:cxn>
                <a:cxn ang="T9">
                  <a:pos x="T2" y="T3"/>
                </a:cxn>
                <a:cxn ang="T10">
                  <a:pos x="T4" y="T5"/>
                </a:cxn>
                <a:cxn ang="T11">
                  <a:pos x="T6" y="T7"/>
                </a:cxn>
              </a:cxnLst>
              <a:rect l="T12" t="T13" r="T14" b="T15"/>
              <a:pathLst>
                <a:path w="473" h="1">
                  <a:moveTo>
                    <a:pt x="473" y="0"/>
                  </a:moveTo>
                  <a:lnTo>
                    <a:pt x="396" y="0"/>
                  </a:lnTo>
                  <a:lnTo>
                    <a:pt x="0" y="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27" name="Freeform 163"/>
            <p:cNvSpPr>
              <a:spLocks/>
            </p:cNvSpPr>
            <p:nvPr/>
          </p:nvSpPr>
          <p:spPr bwMode="auto">
            <a:xfrm>
              <a:off x="3688" y="3608"/>
              <a:ext cx="66" cy="74"/>
            </a:xfrm>
            <a:custGeom>
              <a:avLst/>
              <a:gdLst>
                <a:gd name="T0" fmla="*/ 2 w 118"/>
                <a:gd name="T1" fmla="*/ 3 h 118"/>
                <a:gd name="T2" fmla="*/ 0 w 118"/>
                <a:gd name="T3" fmla="*/ 4 h 118"/>
                <a:gd name="T4" fmla="*/ 0 w 118"/>
                <a:gd name="T5" fmla="*/ 0 h 118"/>
                <a:gd name="T6" fmla="*/ 2 w 118"/>
                <a:gd name="T7" fmla="*/ 3 h 118"/>
                <a:gd name="T8" fmla="*/ 0 60000 65536"/>
                <a:gd name="T9" fmla="*/ 0 60000 65536"/>
                <a:gd name="T10" fmla="*/ 0 60000 65536"/>
                <a:gd name="T11" fmla="*/ 0 60000 65536"/>
                <a:gd name="T12" fmla="*/ 0 w 118"/>
                <a:gd name="T13" fmla="*/ 0 h 118"/>
                <a:gd name="T14" fmla="*/ 118 w 118"/>
                <a:gd name="T15" fmla="*/ 118 h 118"/>
              </a:gdLst>
              <a:ahLst/>
              <a:cxnLst>
                <a:cxn ang="T8">
                  <a:pos x="T0" y="T1"/>
                </a:cxn>
                <a:cxn ang="T9">
                  <a:pos x="T2" y="T3"/>
                </a:cxn>
                <a:cxn ang="T10">
                  <a:pos x="T4" y="T5"/>
                </a:cxn>
                <a:cxn ang="T11">
                  <a:pos x="T6" y="T7"/>
                </a:cxn>
              </a:cxnLst>
              <a:rect l="T12" t="T13" r="T14" b="T15"/>
              <a:pathLst>
                <a:path w="118" h="118">
                  <a:moveTo>
                    <a:pt x="118" y="59"/>
                  </a:moveTo>
                  <a:lnTo>
                    <a:pt x="0" y="118"/>
                  </a:lnTo>
                  <a:cubicBezTo>
                    <a:pt x="19" y="81"/>
                    <a:pt x="19" y="37"/>
                    <a:pt x="0" y="0"/>
                  </a:cubicBezTo>
                  <a:lnTo>
                    <a:pt x="118" y="59"/>
                  </a:lnTo>
                  <a:close/>
                </a:path>
              </a:pathLst>
            </a:custGeom>
            <a:solidFill>
              <a:srgbClr val="000000"/>
            </a:solidFill>
            <a:ln w="0">
              <a:solidFill>
                <a:srgbClr val="000000"/>
              </a:solidFill>
              <a:round/>
              <a:headEnd/>
              <a:tailEnd/>
            </a:ln>
          </p:spPr>
          <p:txBody>
            <a:bodyPr/>
            <a:lstStyle/>
            <a:p>
              <a:endParaRPr lang="zh-CN" altLang="en-US"/>
            </a:p>
          </p:txBody>
        </p:sp>
        <p:sp>
          <p:nvSpPr>
            <p:cNvPr id="7228" name="Freeform 164"/>
            <p:cNvSpPr>
              <a:spLocks/>
            </p:cNvSpPr>
            <p:nvPr/>
          </p:nvSpPr>
          <p:spPr bwMode="auto">
            <a:xfrm>
              <a:off x="3231" y="2279"/>
              <a:ext cx="421" cy="1310"/>
            </a:xfrm>
            <a:custGeom>
              <a:avLst/>
              <a:gdLst>
                <a:gd name="T0" fmla="*/ 0 w 421"/>
                <a:gd name="T1" fmla="*/ 0 h 1310"/>
                <a:gd name="T2" fmla="*/ 421 w 421"/>
                <a:gd name="T3" fmla="*/ 0 h 1310"/>
                <a:gd name="T4" fmla="*/ 421 w 421"/>
                <a:gd name="T5" fmla="*/ 1310 h 1310"/>
                <a:gd name="T6" fmla="*/ 0 60000 65536"/>
                <a:gd name="T7" fmla="*/ 0 60000 65536"/>
                <a:gd name="T8" fmla="*/ 0 60000 65536"/>
                <a:gd name="T9" fmla="*/ 0 w 421"/>
                <a:gd name="T10" fmla="*/ 0 h 1310"/>
                <a:gd name="T11" fmla="*/ 421 w 421"/>
                <a:gd name="T12" fmla="*/ 1310 h 1310"/>
              </a:gdLst>
              <a:ahLst/>
              <a:cxnLst>
                <a:cxn ang="T6">
                  <a:pos x="T0" y="T1"/>
                </a:cxn>
                <a:cxn ang="T7">
                  <a:pos x="T2" y="T3"/>
                </a:cxn>
                <a:cxn ang="T8">
                  <a:pos x="T4" y="T5"/>
                </a:cxn>
              </a:cxnLst>
              <a:rect l="T9" t="T10" r="T11" b="T12"/>
              <a:pathLst>
                <a:path w="421" h="1310">
                  <a:moveTo>
                    <a:pt x="0" y="0"/>
                  </a:moveTo>
                  <a:lnTo>
                    <a:pt x="421" y="0"/>
                  </a:lnTo>
                  <a:lnTo>
                    <a:pt x="421" y="131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29" name="Freeform 165"/>
            <p:cNvSpPr>
              <a:spLocks/>
            </p:cNvSpPr>
            <p:nvPr/>
          </p:nvSpPr>
          <p:spPr bwMode="auto">
            <a:xfrm>
              <a:off x="3619" y="3571"/>
              <a:ext cx="66" cy="74"/>
            </a:xfrm>
            <a:custGeom>
              <a:avLst/>
              <a:gdLst>
                <a:gd name="T0" fmla="*/ 1 w 118"/>
                <a:gd name="T1" fmla="*/ 4 h 118"/>
                <a:gd name="T2" fmla="*/ 0 w 118"/>
                <a:gd name="T3" fmla="*/ 0 h 118"/>
                <a:gd name="T4" fmla="*/ 2 w 118"/>
                <a:gd name="T5" fmla="*/ 0 h 118"/>
                <a:gd name="T6" fmla="*/ 2 w 118"/>
                <a:gd name="T7" fmla="*/ 0 h 118"/>
                <a:gd name="T8" fmla="*/ 1 w 118"/>
                <a:gd name="T9" fmla="*/ 4 h 118"/>
                <a:gd name="T10" fmla="*/ 0 60000 65536"/>
                <a:gd name="T11" fmla="*/ 0 60000 65536"/>
                <a:gd name="T12" fmla="*/ 0 60000 65536"/>
                <a:gd name="T13" fmla="*/ 0 60000 65536"/>
                <a:gd name="T14" fmla="*/ 0 60000 65536"/>
                <a:gd name="T15" fmla="*/ 0 w 118"/>
                <a:gd name="T16" fmla="*/ 0 h 118"/>
                <a:gd name="T17" fmla="*/ 118 w 118"/>
                <a:gd name="T18" fmla="*/ 118 h 118"/>
              </a:gdLst>
              <a:ahLst/>
              <a:cxnLst>
                <a:cxn ang="T10">
                  <a:pos x="T0" y="T1"/>
                </a:cxn>
                <a:cxn ang="T11">
                  <a:pos x="T2" y="T3"/>
                </a:cxn>
                <a:cxn ang="T12">
                  <a:pos x="T4" y="T5"/>
                </a:cxn>
                <a:cxn ang="T13">
                  <a:pos x="T6" y="T7"/>
                </a:cxn>
                <a:cxn ang="T14">
                  <a:pos x="T8" y="T9"/>
                </a:cxn>
              </a:cxnLst>
              <a:rect l="T15" t="T16" r="T17" b="T18"/>
              <a:pathLst>
                <a:path w="118" h="118">
                  <a:moveTo>
                    <a:pt x="59" y="118"/>
                  </a:moveTo>
                  <a:lnTo>
                    <a:pt x="0" y="0"/>
                  </a:lnTo>
                  <a:cubicBezTo>
                    <a:pt x="37" y="19"/>
                    <a:pt x="81" y="19"/>
                    <a:pt x="118" y="0"/>
                  </a:cubicBezTo>
                  <a:lnTo>
                    <a:pt x="59" y="118"/>
                  </a:lnTo>
                  <a:close/>
                </a:path>
              </a:pathLst>
            </a:custGeom>
            <a:solidFill>
              <a:srgbClr val="000000"/>
            </a:solidFill>
            <a:ln w="0">
              <a:solidFill>
                <a:srgbClr val="000000"/>
              </a:solidFill>
              <a:round/>
              <a:headEnd/>
              <a:tailEnd/>
            </a:ln>
          </p:spPr>
          <p:txBody>
            <a:bodyPr/>
            <a:lstStyle/>
            <a:p>
              <a:endParaRPr lang="zh-CN" altLang="en-US"/>
            </a:p>
          </p:txBody>
        </p:sp>
        <p:sp>
          <p:nvSpPr>
            <p:cNvPr id="7230" name="Freeform 166"/>
            <p:cNvSpPr>
              <a:spLocks/>
            </p:cNvSpPr>
            <p:nvPr/>
          </p:nvSpPr>
          <p:spPr bwMode="auto">
            <a:xfrm>
              <a:off x="2675" y="3218"/>
              <a:ext cx="202" cy="287"/>
            </a:xfrm>
            <a:custGeom>
              <a:avLst/>
              <a:gdLst>
                <a:gd name="T0" fmla="*/ 101 w 202"/>
                <a:gd name="T1" fmla="*/ 0 h 287"/>
                <a:gd name="T2" fmla="*/ 0 w 202"/>
                <a:gd name="T3" fmla="*/ 66 h 287"/>
                <a:gd name="T4" fmla="*/ 67 w 202"/>
                <a:gd name="T5" fmla="*/ 66 h 287"/>
                <a:gd name="T6" fmla="*/ 67 w 202"/>
                <a:gd name="T7" fmla="*/ 287 h 287"/>
                <a:gd name="T8" fmla="*/ 136 w 202"/>
                <a:gd name="T9" fmla="*/ 287 h 287"/>
                <a:gd name="T10" fmla="*/ 136 w 202"/>
                <a:gd name="T11" fmla="*/ 66 h 287"/>
                <a:gd name="T12" fmla="*/ 202 w 202"/>
                <a:gd name="T13" fmla="*/ 66 h 287"/>
                <a:gd name="T14" fmla="*/ 101 w 202"/>
                <a:gd name="T15" fmla="*/ 0 h 287"/>
                <a:gd name="T16" fmla="*/ 0 60000 65536"/>
                <a:gd name="T17" fmla="*/ 0 60000 65536"/>
                <a:gd name="T18" fmla="*/ 0 60000 65536"/>
                <a:gd name="T19" fmla="*/ 0 60000 65536"/>
                <a:gd name="T20" fmla="*/ 0 60000 65536"/>
                <a:gd name="T21" fmla="*/ 0 60000 65536"/>
                <a:gd name="T22" fmla="*/ 0 60000 65536"/>
                <a:gd name="T23" fmla="*/ 0 60000 65536"/>
                <a:gd name="T24" fmla="*/ 0 w 202"/>
                <a:gd name="T25" fmla="*/ 0 h 287"/>
                <a:gd name="T26" fmla="*/ 202 w 202"/>
                <a:gd name="T27" fmla="*/ 287 h 2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 h="287">
                  <a:moveTo>
                    <a:pt x="101" y="0"/>
                  </a:moveTo>
                  <a:lnTo>
                    <a:pt x="0" y="66"/>
                  </a:lnTo>
                  <a:lnTo>
                    <a:pt x="67" y="66"/>
                  </a:lnTo>
                  <a:lnTo>
                    <a:pt x="67" y="287"/>
                  </a:lnTo>
                  <a:lnTo>
                    <a:pt x="136" y="287"/>
                  </a:lnTo>
                  <a:lnTo>
                    <a:pt x="136" y="66"/>
                  </a:lnTo>
                  <a:lnTo>
                    <a:pt x="202" y="66"/>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1" name="Freeform 168"/>
            <p:cNvSpPr>
              <a:spLocks/>
            </p:cNvSpPr>
            <p:nvPr/>
          </p:nvSpPr>
          <p:spPr bwMode="auto">
            <a:xfrm>
              <a:off x="2675" y="2431"/>
              <a:ext cx="202" cy="303"/>
            </a:xfrm>
            <a:custGeom>
              <a:avLst/>
              <a:gdLst>
                <a:gd name="T0" fmla="*/ 101 w 202"/>
                <a:gd name="T1" fmla="*/ 303 h 303"/>
                <a:gd name="T2" fmla="*/ 0 w 202"/>
                <a:gd name="T3" fmla="*/ 238 h 303"/>
                <a:gd name="T4" fmla="*/ 67 w 202"/>
                <a:gd name="T5" fmla="*/ 238 h 303"/>
                <a:gd name="T6" fmla="*/ 67 w 202"/>
                <a:gd name="T7" fmla="*/ 0 h 303"/>
                <a:gd name="T8" fmla="*/ 136 w 202"/>
                <a:gd name="T9" fmla="*/ 0 h 303"/>
                <a:gd name="T10" fmla="*/ 136 w 202"/>
                <a:gd name="T11" fmla="*/ 238 h 303"/>
                <a:gd name="T12" fmla="*/ 202 w 202"/>
                <a:gd name="T13" fmla="*/ 238 h 303"/>
                <a:gd name="T14" fmla="*/ 101 w 202"/>
                <a:gd name="T15" fmla="*/ 303 h 303"/>
                <a:gd name="T16" fmla="*/ 0 60000 65536"/>
                <a:gd name="T17" fmla="*/ 0 60000 65536"/>
                <a:gd name="T18" fmla="*/ 0 60000 65536"/>
                <a:gd name="T19" fmla="*/ 0 60000 65536"/>
                <a:gd name="T20" fmla="*/ 0 60000 65536"/>
                <a:gd name="T21" fmla="*/ 0 60000 65536"/>
                <a:gd name="T22" fmla="*/ 0 60000 65536"/>
                <a:gd name="T23" fmla="*/ 0 60000 65536"/>
                <a:gd name="T24" fmla="*/ 0 w 202"/>
                <a:gd name="T25" fmla="*/ 0 h 303"/>
                <a:gd name="T26" fmla="*/ 202 w 202"/>
                <a:gd name="T27" fmla="*/ 303 h 3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 h="303">
                  <a:moveTo>
                    <a:pt x="101" y="303"/>
                  </a:moveTo>
                  <a:lnTo>
                    <a:pt x="0" y="238"/>
                  </a:lnTo>
                  <a:lnTo>
                    <a:pt x="67" y="238"/>
                  </a:lnTo>
                  <a:lnTo>
                    <a:pt x="67" y="0"/>
                  </a:lnTo>
                  <a:lnTo>
                    <a:pt x="136" y="0"/>
                  </a:lnTo>
                  <a:lnTo>
                    <a:pt x="136" y="238"/>
                  </a:lnTo>
                  <a:lnTo>
                    <a:pt x="202" y="238"/>
                  </a:lnTo>
                  <a:lnTo>
                    <a:pt x="101" y="30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2" name="Freeform 169"/>
            <p:cNvSpPr>
              <a:spLocks/>
            </p:cNvSpPr>
            <p:nvPr/>
          </p:nvSpPr>
          <p:spPr bwMode="auto">
            <a:xfrm>
              <a:off x="2675" y="2431"/>
              <a:ext cx="202" cy="303"/>
            </a:xfrm>
            <a:custGeom>
              <a:avLst/>
              <a:gdLst>
                <a:gd name="T0" fmla="*/ 101 w 202"/>
                <a:gd name="T1" fmla="*/ 303 h 303"/>
                <a:gd name="T2" fmla="*/ 0 w 202"/>
                <a:gd name="T3" fmla="*/ 238 h 303"/>
                <a:gd name="T4" fmla="*/ 67 w 202"/>
                <a:gd name="T5" fmla="*/ 238 h 303"/>
                <a:gd name="T6" fmla="*/ 67 w 202"/>
                <a:gd name="T7" fmla="*/ 0 h 303"/>
                <a:gd name="T8" fmla="*/ 136 w 202"/>
                <a:gd name="T9" fmla="*/ 0 h 303"/>
                <a:gd name="T10" fmla="*/ 136 w 202"/>
                <a:gd name="T11" fmla="*/ 238 h 303"/>
                <a:gd name="T12" fmla="*/ 202 w 202"/>
                <a:gd name="T13" fmla="*/ 238 h 303"/>
                <a:gd name="T14" fmla="*/ 101 w 202"/>
                <a:gd name="T15" fmla="*/ 303 h 303"/>
                <a:gd name="T16" fmla="*/ 0 60000 65536"/>
                <a:gd name="T17" fmla="*/ 0 60000 65536"/>
                <a:gd name="T18" fmla="*/ 0 60000 65536"/>
                <a:gd name="T19" fmla="*/ 0 60000 65536"/>
                <a:gd name="T20" fmla="*/ 0 60000 65536"/>
                <a:gd name="T21" fmla="*/ 0 60000 65536"/>
                <a:gd name="T22" fmla="*/ 0 60000 65536"/>
                <a:gd name="T23" fmla="*/ 0 60000 65536"/>
                <a:gd name="T24" fmla="*/ 0 w 202"/>
                <a:gd name="T25" fmla="*/ 0 h 303"/>
                <a:gd name="T26" fmla="*/ 202 w 202"/>
                <a:gd name="T27" fmla="*/ 303 h 3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 h="303">
                  <a:moveTo>
                    <a:pt x="101" y="303"/>
                  </a:moveTo>
                  <a:lnTo>
                    <a:pt x="0" y="238"/>
                  </a:lnTo>
                  <a:lnTo>
                    <a:pt x="67" y="238"/>
                  </a:lnTo>
                  <a:lnTo>
                    <a:pt x="67" y="0"/>
                  </a:lnTo>
                  <a:lnTo>
                    <a:pt x="136" y="0"/>
                  </a:lnTo>
                  <a:lnTo>
                    <a:pt x="136" y="238"/>
                  </a:lnTo>
                  <a:lnTo>
                    <a:pt x="202" y="238"/>
                  </a:lnTo>
                  <a:lnTo>
                    <a:pt x="101" y="303"/>
                  </a:lnTo>
                  <a:close/>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33" name="Line 170"/>
            <p:cNvSpPr>
              <a:spLocks noChangeShapeType="1"/>
            </p:cNvSpPr>
            <p:nvPr/>
          </p:nvSpPr>
          <p:spPr bwMode="auto">
            <a:xfrm>
              <a:off x="4642" y="3641"/>
              <a:ext cx="591" cy="1"/>
            </a:xfrm>
            <a:prstGeom prst="line">
              <a:avLst/>
            </a:prstGeom>
            <a:noFill/>
            <a:ln w="4826" cap="rnd">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4" name="Freeform 171"/>
            <p:cNvSpPr>
              <a:spLocks/>
            </p:cNvSpPr>
            <p:nvPr/>
          </p:nvSpPr>
          <p:spPr bwMode="auto">
            <a:xfrm>
              <a:off x="5238" y="3608"/>
              <a:ext cx="65" cy="74"/>
            </a:xfrm>
            <a:custGeom>
              <a:avLst/>
              <a:gdLst>
                <a:gd name="T0" fmla="*/ 2 w 117"/>
                <a:gd name="T1" fmla="*/ 3 h 118"/>
                <a:gd name="T2" fmla="*/ 0 w 117"/>
                <a:gd name="T3" fmla="*/ 4 h 118"/>
                <a:gd name="T4" fmla="*/ 0 w 117"/>
                <a:gd name="T5" fmla="*/ 0 h 118"/>
                <a:gd name="T6" fmla="*/ 2 w 117"/>
                <a:gd name="T7" fmla="*/ 3 h 118"/>
                <a:gd name="T8" fmla="*/ 0 60000 65536"/>
                <a:gd name="T9" fmla="*/ 0 60000 65536"/>
                <a:gd name="T10" fmla="*/ 0 60000 65536"/>
                <a:gd name="T11" fmla="*/ 0 60000 65536"/>
                <a:gd name="T12" fmla="*/ 0 w 117"/>
                <a:gd name="T13" fmla="*/ 0 h 118"/>
                <a:gd name="T14" fmla="*/ 117 w 117"/>
                <a:gd name="T15" fmla="*/ 118 h 118"/>
              </a:gdLst>
              <a:ahLst/>
              <a:cxnLst>
                <a:cxn ang="T8">
                  <a:pos x="T0" y="T1"/>
                </a:cxn>
                <a:cxn ang="T9">
                  <a:pos x="T2" y="T3"/>
                </a:cxn>
                <a:cxn ang="T10">
                  <a:pos x="T4" y="T5"/>
                </a:cxn>
                <a:cxn ang="T11">
                  <a:pos x="T6" y="T7"/>
                </a:cxn>
              </a:cxnLst>
              <a:rect l="T12" t="T13" r="T14" b="T15"/>
              <a:pathLst>
                <a:path w="117" h="118">
                  <a:moveTo>
                    <a:pt x="117" y="59"/>
                  </a:moveTo>
                  <a:lnTo>
                    <a:pt x="0" y="118"/>
                  </a:lnTo>
                  <a:cubicBezTo>
                    <a:pt x="18" y="81"/>
                    <a:pt x="18" y="37"/>
                    <a:pt x="0" y="0"/>
                  </a:cubicBezTo>
                  <a:lnTo>
                    <a:pt x="117" y="59"/>
                  </a:lnTo>
                  <a:close/>
                </a:path>
              </a:pathLst>
            </a:custGeom>
            <a:solidFill>
              <a:schemeClr val="accent1"/>
            </a:solidFill>
            <a:ln w="0">
              <a:solidFill>
                <a:schemeClr val="accent1"/>
              </a:solidFill>
              <a:round/>
              <a:headEnd/>
              <a:tailEnd/>
            </a:ln>
          </p:spPr>
          <p:txBody>
            <a:bodyPr/>
            <a:lstStyle/>
            <a:p>
              <a:endParaRPr lang="zh-CN" altLang="en-US"/>
            </a:p>
          </p:txBody>
        </p:sp>
        <p:sp>
          <p:nvSpPr>
            <p:cNvPr id="7235" name="Rectangle 172"/>
            <p:cNvSpPr>
              <a:spLocks noChangeArrowheads="1"/>
            </p:cNvSpPr>
            <p:nvPr/>
          </p:nvSpPr>
          <p:spPr bwMode="auto">
            <a:xfrm>
              <a:off x="249" y="3718"/>
              <a:ext cx="3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chemeClr val="accent2"/>
                  </a:solidFill>
                  <a:latin typeface="宋体" pitchFamily="2" charset="-122"/>
                  <a:ea typeface="宋体" pitchFamily="2" charset="-122"/>
                </a:rPr>
                <a:t>入境包</a:t>
              </a:r>
            </a:p>
          </p:txBody>
        </p:sp>
        <p:sp>
          <p:nvSpPr>
            <p:cNvPr id="7236" name="Rectangle 173"/>
            <p:cNvSpPr>
              <a:spLocks noChangeArrowheads="1"/>
            </p:cNvSpPr>
            <p:nvPr/>
          </p:nvSpPr>
          <p:spPr bwMode="auto">
            <a:xfrm>
              <a:off x="5095" y="3751"/>
              <a:ext cx="3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a:solidFill>
                    <a:schemeClr val="accent2"/>
                  </a:solidFill>
                  <a:latin typeface="宋体" pitchFamily="2" charset="-122"/>
                  <a:ea typeface="宋体" pitchFamily="2" charset="-122"/>
                </a:rPr>
                <a:t>出境包</a:t>
              </a:r>
            </a:p>
          </p:txBody>
        </p:sp>
        <p:sp>
          <p:nvSpPr>
            <p:cNvPr id="7237" name="Rectangle 174"/>
            <p:cNvSpPr>
              <a:spLocks noChangeArrowheads="1"/>
            </p:cNvSpPr>
            <p:nvPr/>
          </p:nvSpPr>
          <p:spPr bwMode="auto">
            <a:xfrm>
              <a:off x="1348" y="3396"/>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接收缓存</a:t>
              </a:r>
              <a:endParaRPr lang="zh-CN" altLang="en-US" b="0"/>
            </a:p>
          </p:txBody>
        </p:sp>
        <p:sp>
          <p:nvSpPr>
            <p:cNvPr id="7238" name="Rectangle 175"/>
            <p:cNvSpPr>
              <a:spLocks noChangeArrowheads="1"/>
            </p:cNvSpPr>
            <p:nvPr/>
          </p:nvSpPr>
          <p:spPr bwMode="auto">
            <a:xfrm>
              <a:off x="3774" y="3396"/>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转发缓存</a:t>
              </a:r>
              <a:endParaRPr lang="zh-CN" altLang="en-US" b="0"/>
            </a:p>
          </p:txBody>
        </p:sp>
        <p:sp>
          <p:nvSpPr>
            <p:cNvPr id="7239" name="Rectangle 176"/>
            <p:cNvSpPr>
              <a:spLocks noChangeArrowheads="1"/>
            </p:cNvSpPr>
            <p:nvPr/>
          </p:nvSpPr>
          <p:spPr bwMode="auto">
            <a:xfrm>
              <a:off x="1894" y="3494"/>
              <a:ext cx="3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500" b="0">
                  <a:solidFill>
                    <a:srgbClr val="000000"/>
                  </a:solidFill>
                  <a:latin typeface="宋体" pitchFamily="2" charset="-122"/>
                  <a:ea typeface="宋体" pitchFamily="2" charset="-122"/>
                </a:rPr>
                <a:t>转发的</a:t>
              </a:r>
            </a:p>
            <a:p>
              <a:r>
                <a:rPr lang="zh-CN" altLang="en-US" sz="1500" b="0">
                  <a:solidFill>
                    <a:srgbClr val="000000"/>
                  </a:solidFill>
                  <a:latin typeface="宋体" pitchFamily="2" charset="-122"/>
                  <a:ea typeface="宋体" pitchFamily="2" charset="-122"/>
                </a:rPr>
                <a:t>数据包</a:t>
              </a:r>
              <a:endParaRPr lang="zh-CN" altLang="en-US" b="0"/>
            </a:p>
          </p:txBody>
        </p:sp>
        <p:sp>
          <p:nvSpPr>
            <p:cNvPr id="7240" name="Rectangle 182"/>
            <p:cNvSpPr>
              <a:spLocks noChangeArrowheads="1"/>
            </p:cNvSpPr>
            <p:nvPr/>
          </p:nvSpPr>
          <p:spPr bwMode="auto">
            <a:xfrm>
              <a:off x="2826" y="3319"/>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查询</a:t>
              </a:r>
              <a:endParaRPr lang="zh-CN" altLang="en-US" b="0"/>
            </a:p>
          </p:txBody>
        </p:sp>
        <p:sp>
          <p:nvSpPr>
            <p:cNvPr id="7241" name="Rectangle 183"/>
            <p:cNvSpPr>
              <a:spLocks noChangeArrowheads="1"/>
            </p:cNvSpPr>
            <p:nvPr/>
          </p:nvSpPr>
          <p:spPr bwMode="auto">
            <a:xfrm>
              <a:off x="2839" y="2505"/>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更新</a:t>
              </a:r>
              <a:endParaRPr lang="zh-CN" altLang="en-US" b="0"/>
            </a:p>
          </p:txBody>
        </p:sp>
        <p:sp>
          <p:nvSpPr>
            <p:cNvPr id="7242" name="Rectangle 184"/>
            <p:cNvSpPr>
              <a:spLocks noChangeArrowheads="1"/>
            </p:cNvSpPr>
            <p:nvPr/>
          </p:nvSpPr>
          <p:spPr bwMode="auto">
            <a:xfrm>
              <a:off x="3285" y="3485"/>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500" b="0">
                  <a:solidFill>
                    <a:srgbClr val="000000"/>
                  </a:solidFill>
                  <a:latin typeface="宋体" pitchFamily="2" charset="-122"/>
                  <a:ea typeface="宋体" pitchFamily="2" charset="-122"/>
                </a:rPr>
                <a:t>转发的数据包</a:t>
              </a:r>
              <a:endParaRPr lang="zh-CN" altLang="en-US" b="0"/>
            </a:p>
          </p:txBody>
        </p:sp>
        <p:sp>
          <p:nvSpPr>
            <p:cNvPr id="7243" name="Rectangle 190"/>
            <p:cNvSpPr>
              <a:spLocks noChangeArrowheads="1"/>
            </p:cNvSpPr>
            <p:nvPr/>
          </p:nvSpPr>
          <p:spPr bwMode="auto">
            <a:xfrm>
              <a:off x="2321" y="1519"/>
              <a:ext cx="910" cy="3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44" name="Rectangle 191"/>
            <p:cNvSpPr>
              <a:spLocks noChangeArrowheads="1"/>
            </p:cNvSpPr>
            <p:nvPr/>
          </p:nvSpPr>
          <p:spPr bwMode="auto">
            <a:xfrm>
              <a:off x="2321" y="1519"/>
              <a:ext cx="910" cy="304"/>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5" name="Rectangle 192"/>
            <p:cNvSpPr>
              <a:spLocks noChangeArrowheads="1"/>
            </p:cNvSpPr>
            <p:nvPr/>
          </p:nvSpPr>
          <p:spPr bwMode="auto">
            <a:xfrm>
              <a:off x="2462" y="1611"/>
              <a:ext cx="6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路由器管理</a:t>
              </a:r>
              <a:endParaRPr lang="zh-CN" altLang="en-US" sz="1500" b="0">
                <a:ea typeface="宋体" pitchFamily="2" charset="-122"/>
              </a:endParaRPr>
            </a:p>
          </p:txBody>
        </p:sp>
        <p:sp>
          <p:nvSpPr>
            <p:cNvPr id="7246" name="Freeform 193"/>
            <p:cNvSpPr>
              <a:spLocks/>
            </p:cNvSpPr>
            <p:nvPr/>
          </p:nvSpPr>
          <p:spPr bwMode="auto">
            <a:xfrm>
              <a:off x="2675" y="1823"/>
              <a:ext cx="202" cy="304"/>
            </a:xfrm>
            <a:custGeom>
              <a:avLst/>
              <a:gdLst>
                <a:gd name="T0" fmla="*/ 101 w 202"/>
                <a:gd name="T1" fmla="*/ 304 h 304"/>
                <a:gd name="T2" fmla="*/ 0 w 202"/>
                <a:gd name="T3" fmla="*/ 238 h 304"/>
                <a:gd name="T4" fmla="*/ 67 w 202"/>
                <a:gd name="T5" fmla="*/ 238 h 304"/>
                <a:gd name="T6" fmla="*/ 67 w 202"/>
                <a:gd name="T7" fmla="*/ 0 h 304"/>
                <a:gd name="T8" fmla="*/ 136 w 202"/>
                <a:gd name="T9" fmla="*/ 0 h 304"/>
                <a:gd name="T10" fmla="*/ 136 w 202"/>
                <a:gd name="T11" fmla="*/ 238 h 304"/>
                <a:gd name="T12" fmla="*/ 202 w 202"/>
                <a:gd name="T13" fmla="*/ 238 h 304"/>
                <a:gd name="T14" fmla="*/ 101 w 202"/>
                <a:gd name="T15" fmla="*/ 304 h 304"/>
                <a:gd name="T16" fmla="*/ 0 60000 65536"/>
                <a:gd name="T17" fmla="*/ 0 60000 65536"/>
                <a:gd name="T18" fmla="*/ 0 60000 65536"/>
                <a:gd name="T19" fmla="*/ 0 60000 65536"/>
                <a:gd name="T20" fmla="*/ 0 60000 65536"/>
                <a:gd name="T21" fmla="*/ 0 60000 65536"/>
                <a:gd name="T22" fmla="*/ 0 60000 65536"/>
                <a:gd name="T23" fmla="*/ 0 60000 65536"/>
                <a:gd name="T24" fmla="*/ 0 w 202"/>
                <a:gd name="T25" fmla="*/ 0 h 304"/>
                <a:gd name="T26" fmla="*/ 202 w 202"/>
                <a:gd name="T27" fmla="*/ 304 h 3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 h="304">
                  <a:moveTo>
                    <a:pt x="101" y="304"/>
                  </a:moveTo>
                  <a:lnTo>
                    <a:pt x="0" y="238"/>
                  </a:lnTo>
                  <a:lnTo>
                    <a:pt x="67" y="238"/>
                  </a:lnTo>
                  <a:lnTo>
                    <a:pt x="67" y="0"/>
                  </a:lnTo>
                  <a:lnTo>
                    <a:pt x="136" y="0"/>
                  </a:lnTo>
                  <a:lnTo>
                    <a:pt x="136" y="238"/>
                  </a:lnTo>
                  <a:lnTo>
                    <a:pt x="202" y="238"/>
                  </a:lnTo>
                  <a:lnTo>
                    <a:pt x="101" y="3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7" name="Freeform 194"/>
            <p:cNvSpPr>
              <a:spLocks/>
            </p:cNvSpPr>
            <p:nvPr/>
          </p:nvSpPr>
          <p:spPr bwMode="auto">
            <a:xfrm>
              <a:off x="2675" y="1823"/>
              <a:ext cx="202" cy="304"/>
            </a:xfrm>
            <a:custGeom>
              <a:avLst/>
              <a:gdLst>
                <a:gd name="T0" fmla="*/ 101 w 202"/>
                <a:gd name="T1" fmla="*/ 304 h 304"/>
                <a:gd name="T2" fmla="*/ 0 w 202"/>
                <a:gd name="T3" fmla="*/ 238 h 304"/>
                <a:gd name="T4" fmla="*/ 67 w 202"/>
                <a:gd name="T5" fmla="*/ 238 h 304"/>
                <a:gd name="T6" fmla="*/ 67 w 202"/>
                <a:gd name="T7" fmla="*/ 0 h 304"/>
                <a:gd name="T8" fmla="*/ 136 w 202"/>
                <a:gd name="T9" fmla="*/ 0 h 304"/>
                <a:gd name="T10" fmla="*/ 136 w 202"/>
                <a:gd name="T11" fmla="*/ 238 h 304"/>
                <a:gd name="T12" fmla="*/ 202 w 202"/>
                <a:gd name="T13" fmla="*/ 238 h 304"/>
                <a:gd name="T14" fmla="*/ 101 w 202"/>
                <a:gd name="T15" fmla="*/ 304 h 304"/>
                <a:gd name="T16" fmla="*/ 0 60000 65536"/>
                <a:gd name="T17" fmla="*/ 0 60000 65536"/>
                <a:gd name="T18" fmla="*/ 0 60000 65536"/>
                <a:gd name="T19" fmla="*/ 0 60000 65536"/>
                <a:gd name="T20" fmla="*/ 0 60000 65536"/>
                <a:gd name="T21" fmla="*/ 0 60000 65536"/>
                <a:gd name="T22" fmla="*/ 0 60000 65536"/>
                <a:gd name="T23" fmla="*/ 0 60000 65536"/>
                <a:gd name="T24" fmla="*/ 0 w 202"/>
                <a:gd name="T25" fmla="*/ 0 h 304"/>
                <a:gd name="T26" fmla="*/ 202 w 202"/>
                <a:gd name="T27" fmla="*/ 304 h 3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 h="304">
                  <a:moveTo>
                    <a:pt x="101" y="304"/>
                  </a:moveTo>
                  <a:lnTo>
                    <a:pt x="0" y="238"/>
                  </a:lnTo>
                  <a:lnTo>
                    <a:pt x="67" y="238"/>
                  </a:lnTo>
                  <a:lnTo>
                    <a:pt x="67" y="0"/>
                  </a:lnTo>
                  <a:lnTo>
                    <a:pt x="136" y="0"/>
                  </a:lnTo>
                  <a:lnTo>
                    <a:pt x="136" y="238"/>
                  </a:lnTo>
                  <a:lnTo>
                    <a:pt x="202" y="238"/>
                  </a:lnTo>
                  <a:lnTo>
                    <a:pt x="101" y="304"/>
                  </a:lnTo>
                  <a:close/>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8" name="Rectangle 195"/>
            <p:cNvSpPr>
              <a:spLocks noChangeArrowheads="1"/>
            </p:cNvSpPr>
            <p:nvPr/>
          </p:nvSpPr>
          <p:spPr bwMode="auto">
            <a:xfrm>
              <a:off x="2839" y="1903"/>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管理</a:t>
              </a:r>
              <a:endParaRPr lang="zh-CN" altLang="en-US" b="0"/>
            </a:p>
          </p:txBody>
        </p:sp>
        <p:sp>
          <p:nvSpPr>
            <p:cNvPr id="7249" name="Line 196"/>
            <p:cNvSpPr>
              <a:spLocks noChangeShapeType="1"/>
            </p:cNvSpPr>
            <p:nvPr/>
          </p:nvSpPr>
          <p:spPr bwMode="auto">
            <a:xfrm>
              <a:off x="2776" y="1026"/>
              <a:ext cx="1" cy="437"/>
            </a:xfrm>
            <a:prstGeom prst="line">
              <a:avLst/>
            </a:prstGeom>
            <a:noFill/>
            <a:ln w="4826" cap="rnd">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50" name="Freeform 197"/>
            <p:cNvSpPr>
              <a:spLocks/>
            </p:cNvSpPr>
            <p:nvPr/>
          </p:nvSpPr>
          <p:spPr bwMode="auto">
            <a:xfrm>
              <a:off x="2737" y="1450"/>
              <a:ext cx="66" cy="73"/>
            </a:xfrm>
            <a:custGeom>
              <a:avLst/>
              <a:gdLst>
                <a:gd name="T0" fmla="*/ 1 w 118"/>
                <a:gd name="T1" fmla="*/ 4 h 117"/>
                <a:gd name="T2" fmla="*/ 0 w 118"/>
                <a:gd name="T3" fmla="*/ 0 h 117"/>
                <a:gd name="T4" fmla="*/ 2 w 118"/>
                <a:gd name="T5" fmla="*/ 0 h 117"/>
                <a:gd name="T6" fmla="*/ 2 w 118"/>
                <a:gd name="T7" fmla="*/ 0 h 117"/>
                <a:gd name="T8" fmla="*/ 1 w 118"/>
                <a:gd name="T9" fmla="*/ 4 h 117"/>
                <a:gd name="T10" fmla="*/ 0 60000 65536"/>
                <a:gd name="T11" fmla="*/ 0 60000 65536"/>
                <a:gd name="T12" fmla="*/ 0 60000 65536"/>
                <a:gd name="T13" fmla="*/ 0 60000 65536"/>
                <a:gd name="T14" fmla="*/ 0 60000 65536"/>
                <a:gd name="T15" fmla="*/ 0 w 118"/>
                <a:gd name="T16" fmla="*/ 0 h 117"/>
                <a:gd name="T17" fmla="*/ 118 w 118"/>
                <a:gd name="T18" fmla="*/ 117 h 117"/>
              </a:gdLst>
              <a:ahLst/>
              <a:cxnLst>
                <a:cxn ang="T10">
                  <a:pos x="T0" y="T1"/>
                </a:cxn>
                <a:cxn ang="T11">
                  <a:pos x="T2" y="T3"/>
                </a:cxn>
                <a:cxn ang="T12">
                  <a:pos x="T4" y="T5"/>
                </a:cxn>
                <a:cxn ang="T13">
                  <a:pos x="T6" y="T7"/>
                </a:cxn>
                <a:cxn ang="T14">
                  <a:pos x="T8" y="T9"/>
                </a:cxn>
              </a:cxnLst>
              <a:rect l="T15" t="T16" r="T17" b="T18"/>
              <a:pathLst>
                <a:path w="118" h="117">
                  <a:moveTo>
                    <a:pt x="59" y="117"/>
                  </a:moveTo>
                  <a:lnTo>
                    <a:pt x="0" y="0"/>
                  </a:lnTo>
                  <a:cubicBezTo>
                    <a:pt x="37" y="18"/>
                    <a:pt x="81" y="18"/>
                    <a:pt x="118" y="0"/>
                  </a:cubicBezTo>
                  <a:lnTo>
                    <a:pt x="59" y="117"/>
                  </a:lnTo>
                  <a:close/>
                </a:path>
              </a:pathLst>
            </a:custGeom>
            <a:solidFill>
              <a:schemeClr val="accent1"/>
            </a:solidFill>
            <a:ln w="0">
              <a:solidFill>
                <a:schemeClr val="accent1"/>
              </a:solidFill>
              <a:round/>
              <a:headEnd/>
              <a:tailEnd/>
            </a:ln>
          </p:spPr>
          <p:txBody>
            <a:bodyPr/>
            <a:lstStyle/>
            <a:p>
              <a:endParaRPr lang="zh-CN" altLang="en-US"/>
            </a:p>
          </p:txBody>
        </p:sp>
        <p:sp>
          <p:nvSpPr>
            <p:cNvPr id="7251" name="Rectangle 198"/>
            <p:cNvSpPr>
              <a:spLocks noChangeArrowheads="1"/>
            </p:cNvSpPr>
            <p:nvPr/>
          </p:nvSpPr>
          <p:spPr bwMode="auto">
            <a:xfrm>
              <a:off x="2501" y="1029"/>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chemeClr val="accent2"/>
                  </a:solidFill>
                  <a:latin typeface="宋体" pitchFamily="2" charset="-122"/>
                  <a:ea typeface="宋体" pitchFamily="2" charset="-122"/>
                </a:rPr>
                <a:t>管理</a:t>
              </a:r>
            </a:p>
          </p:txBody>
        </p:sp>
        <p:sp>
          <p:nvSpPr>
            <p:cNvPr id="7252" name="Rectangle 199"/>
            <p:cNvSpPr>
              <a:spLocks noChangeArrowheads="1"/>
            </p:cNvSpPr>
            <p:nvPr/>
          </p:nvSpPr>
          <p:spPr bwMode="auto">
            <a:xfrm>
              <a:off x="889" y="3555"/>
              <a:ext cx="337" cy="18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53" name="Rectangle 200"/>
            <p:cNvSpPr>
              <a:spLocks noChangeArrowheads="1"/>
            </p:cNvSpPr>
            <p:nvPr/>
          </p:nvSpPr>
          <p:spPr bwMode="auto">
            <a:xfrm>
              <a:off x="889" y="3555"/>
              <a:ext cx="337" cy="180"/>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4" name="Rectangle 201"/>
            <p:cNvSpPr>
              <a:spLocks noChangeArrowheads="1"/>
            </p:cNvSpPr>
            <p:nvPr/>
          </p:nvSpPr>
          <p:spPr bwMode="auto">
            <a:xfrm>
              <a:off x="949" y="3567"/>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端口</a:t>
              </a:r>
              <a:endParaRPr lang="zh-CN" altLang="en-US" b="0"/>
            </a:p>
          </p:txBody>
        </p:sp>
        <p:sp>
          <p:nvSpPr>
            <p:cNvPr id="7255" name="Rectangle 202"/>
            <p:cNvSpPr>
              <a:spLocks noChangeArrowheads="1"/>
            </p:cNvSpPr>
            <p:nvPr/>
          </p:nvSpPr>
          <p:spPr bwMode="auto">
            <a:xfrm>
              <a:off x="4327" y="3555"/>
              <a:ext cx="336" cy="18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56" name="Rectangle 203"/>
            <p:cNvSpPr>
              <a:spLocks noChangeArrowheads="1"/>
            </p:cNvSpPr>
            <p:nvPr/>
          </p:nvSpPr>
          <p:spPr bwMode="auto">
            <a:xfrm>
              <a:off x="4327" y="3555"/>
              <a:ext cx="336" cy="180"/>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7" name="Rectangle 204"/>
            <p:cNvSpPr>
              <a:spLocks noChangeArrowheads="1"/>
            </p:cNvSpPr>
            <p:nvPr/>
          </p:nvSpPr>
          <p:spPr bwMode="auto">
            <a:xfrm>
              <a:off x="4369" y="3567"/>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500" b="0">
                  <a:solidFill>
                    <a:srgbClr val="000000"/>
                  </a:solidFill>
                  <a:latin typeface="宋体" pitchFamily="2" charset="-122"/>
                  <a:ea typeface="宋体" pitchFamily="2" charset="-122"/>
                </a:rPr>
                <a:t>端口</a:t>
              </a:r>
              <a:endParaRPr lang="zh-CN" altLang="en-US" b="0"/>
            </a:p>
          </p:txBody>
        </p:sp>
        <p:sp>
          <p:nvSpPr>
            <p:cNvPr id="7258" name="Freeform 205"/>
            <p:cNvSpPr>
              <a:spLocks/>
            </p:cNvSpPr>
            <p:nvPr/>
          </p:nvSpPr>
          <p:spPr bwMode="auto">
            <a:xfrm>
              <a:off x="1226" y="3645"/>
              <a:ext cx="101" cy="1"/>
            </a:xfrm>
            <a:custGeom>
              <a:avLst/>
              <a:gdLst>
                <a:gd name="T0" fmla="*/ 0 w 101"/>
                <a:gd name="T1" fmla="*/ 0 h 1"/>
                <a:gd name="T2" fmla="*/ 32 w 101"/>
                <a:gd name="T3" fmla="*/ 0 h 1"/>
                <a:gd name="T4" fmla="*/ 32 w 101"/>
                <a:gd name="T5" fmla="*/ 0 h 1"/>
                <a:gd name="T6" fmla="*/ 101 w 101"/>
                <a:gd name="T7" fmla="*/ 0 h 1"/>
                <a:gd name="T8" fmla="*/ 0 60000 65536"/>
                <a:gd name="T9" fmla="*/ 0 60000 65536"/>
                <a:gd name="T10" fmla="*/ 0 60000 65536"/>
                <a:gd name="T11" fmla="*/ 0 60000 65536"/>
                <a:gd name="T12" fmla="*/ 0 w 101"/>
                <a:gd name="T13" fmla="*/ 0 h 1"/>
                <a:gd name="T14" fmla="*/ 101 w 101"/>
                <a:gd name="T15" fmla="*/ 1 h 1"/>
              </a:gdLst>
              <a:ahLst/>
              <a:cxnLst>
                <a:cxn ang="T8">
                  <a:pos x="T0" y="T1"/>
                </a:cxn>
                <a:cxn ang="T9">
                  <a:pos x="T2" y="T3"/>
                </a:cxn>
                <a:cxn ang="T10">
                  <a:pos x="T4" y="T5"/>
                </a:cxn>
                <a:cxn ang="T11">
                  <a:pos x="T6" y="T7"/>
                </a:cxn>
              </a:cxnLst>
              <a:rect l="T12" t="T13" r="T14" b="T15"/>
              <a:pathLst>
                <a:path w="101" h="1">
                  <a:moveTo>
                    <a:pt x="0" y="0"/>
                  </a:moveTo>
                  <a:lnTo>
                    <a:pt x="32" y="0"/>
                  </a:lnTo>
                  <a:lnTo>
                    <a:pt x="101" y="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9" name="Freeform 206"/>
            <p:cNvSpPr>
              <a:spLocks/>
            </p:cNvSpPr>
            <p:nvPr/>
          </p:nvSpPr>
          <p:spPr bwMode="auto">
            <a:xfrm>
              <a:off x="4225" y="3645"/>
              <a:ext cx="102" cy="1"/>
            </a:xfrm>
            <a:custGeom>
              <a:avLst/>
              <a:gdLst>
                <a:gd name="T0" fmla="*/ 102 w 102"/>
                <a:gd name="T1" fmla="*/ 0 h 1"/>
                <a:gd name="T2" fmla="*/ 70 w 102"/>
                <a:gd name="T3" fmla="*/ 0 h 1"/>
                <a:gd name="T4" fmla="*/ 70 w 102"/>
                <a:gd name="T5" fmla="*/ 0 h 1"/>
                <a:gd name="T6" fmla="*/ 0 w 102"/>
                <a:gd name="T7" fmla="*/ 0 h 1"/>
                <a:gd name="T8" fmla="*/ 0 60000 65536"/>
                <a:gd name="T9" fmla="*/ 0 60000 65536"/>
                <a:gd name="T10" fmla="*/ 0 60000 65536"/>
                <a:gd name="T11" fmla="*/ 0 60000 65536"/>
                <a:gd name="T12" fmla="*/ 0 w 102"/>
                <a:gd name="T13" fmla="*/ 0 h 1"/>
                <a:gd name="T14" fmla="*/ 102 w 102"/>
                <a:gd name="T15" fmla="*/ 1 h 1"/>
              </a:gdLst>
              <a:ahLst/>
              <a:cxnLst>
                <a:cxn ang="T8">
                  <a:pos x="T0" y="T1"/>
                </a:cxn>
                <a:cxn ang="T9">
                  <a:pos x="T2" y="T3"/>
                </a:cxn>
                <a:cxn ang="T10">
                  <a:pos x="T4" y="T5"/>
                </a:cxn>
                <a:cxn ang="T11">
                  <a:pos x="T6" y="T7"/>
                </a:cxn>
              </a:cxnLst>
              <a:rect l="T12" t="T13" r="T14" b="T15"/>
              <a:pathLst>
                <a:path w="102" h="1">
                  <a:moveTo>
                    <a:pt x="102" y="0"/>
                  </a:moveTo>
                  <a:lnTo>
                    <a:pt x="70" y="0"/>
                  </a:lnTo>
                  <a:lnTo>
                    <a:pt x="0" y="0"/>
                  </a:ln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0" name="Text Box 208" descr="蓝色砂纸"/>
            <p:cNvSpPr txBox="1">
              <a:spLocks noChangeArrowheads="1"/>
            </p:cNvSpPr>
            <p:nvPr/>
          </p:nvSpPr>
          <p:spPr bwMode="auto">
            <a:xfrm>
              <a:off x="1684" y="2403"/>
              <a:ext cx="26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vert="eaVert">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zh-CN" altLang="en-US" sz="1500" b="0">
                  <a:solidFill>
                    <a:srgbClr val="0C0018"/>
                  </a:solidFill>
                  <a:latin typeface="宋体" pitchFamily="2" charset="-122"/>
                </a:rPr>
                <a:t>路由协议包</a:t>
              </a:r>
            </a:p>
          </p:txBody>
        </p:sp>
        <p:sp>
          <p:nvSpPr>
            <p:cNvPr id="7261" name="Text Box 209" descr="蓝色砂纸"/>
            <p:cNvSpPr txBox="1">
              <a:spLocks noChangeArrowheads="1"/>
            </p:cNvSpPr>
            <p:nvPr/>
          </p:nvSpPr>
          <p:spPr bwMode="auto">
            <a:xfrm>
              <a:off x="3436" y="2403"/>
              <a:ext cx="26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vert="eaVert">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zh-CN" altLang="en-US" sz="1500" b="0">
                  <a:solidFill>
                    <a:srgbClr val="0C0018"/>
                  </a:solidFill>
                  <a:latin typeface="宋体" pitchFamily="2" charset="-122"/>
                </a:rPr>
                <a:t>路由协议包</a:t>
              </a:r>
            </a:p>
          </p:txBody>
        </p:sp>
        <p:sp>
          <p:nvSpPr>
            <p:cNvPr id="7262" name="AutoShape 96"/>
            <p:cNvSpPr>
              <a:spLocks noChangeArrowheads="1"/>
            </p:cNvSpPr>
            <p:nvPr/>
          </p:nvSpPr>
          <p:spPr bwMode="auto">
            <a:xfrm>
              <a:off x="2699" y="3203"/>
              <a:ext cx="136" cy="318"/>
            </a:xfrm>
            <a:prstGeom prst="upDownArrow">
              <a:avLst>
                <a:gd name="adj1" fmla="val 50000"/>
                <a:gd name="adj2" fmla="val 4676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Tree>
    <p:extLst>
      <p:ext uri="{BB962C8B-B14F-4D97-AF65-F5344CB8AC3E}">
        <p14:creationId xmlns:p14="http://schemas.microsoft.com/office/powerpoint/2010/main" val="21873744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501650" y="476250"/>
            <a:ext cx="8135938" cy="576263"/>
          </a:xfrm>
          <a:prstGeom prst="rect">
            <a:avLst/>
          </a:prstGeom>
          <a:noFill/>
          <a:ln>
            <a:noFill/>
          </a:ln>
          <a:effectLst>
            <a:outerShdw dist="17961" dir="2700000" algn="ctr" rotWithShape="0">
              <a:srgbClr val="DDDDDD"/>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l">
              <a:lnSpc>
                <a:spcPct val="90000"/>
              </a:lnSpc>
            </a:pPr>
            <a:r>
              <a:rPr lang="zh-CN" altLang="en-US" sz="4000">
                <a:latin typeface="黑体" pitchFamily="2" charset="-122"/>
                <a:ea typeface="宋体" pitchFamily="2" charset="-122"/>
              </a:rPr>
              <a:t>路由表</a:t>
            </a:r>
          </a:p>
        </p:txBody>
      </p:sp>
      <p:sp>
        <p:nvSpPr>
          <p:cNvPr id="8195" name="Rectangle 3"/>
          <p:cNvSpPr>
            <a:spLocks noChangeArrowheads="1"/>
          </p:cNvSpPr>
          <p:nvPr/>
        </p:nvSpPr>
        <p:spPr bwMode="auto">
          <a:xfrm>
            <a:off x="468313" y="1844675"/>
            <a:ext cx="849617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342900" indent="-342900" algn="l">
              <a:spcBef>
                <a:spcPct val="20000"/>
              </a:spcBef>
              <a:buClr>
                <a:schemeClr val="bg2"/>
              </a:buClr>
              <a:buSzPct val="90000"/>
              <a:buFont typeface="Wingdings" pitchFamily="2" charset="2"/>
              <a:buNone/>
            </a:pPr>
            <a:r>
              <a:rPr lang="en-US" altLang="zh-CN" dirty="0">
                <a:latin typeface="Arial" charset="0"/>
                <a:ea typeface="宋体" pitchFamily="2" charset="-122"/>
              </a:rPr>
              <a:t>[Router]display </a:t>
            </a:r>
            <a:r>
              <a:rPr lang="en-US" altLang="zh-CN" dirty="0" err="1">
                <a:latin typeface="Arial" charset="0"/>
                <a:ea typeface="宋体" pitchFamily="2" charset="-122"/>
              </a:rPr>
              <a:t>ip</a:t>
            </a:r>
            <a:r>
              <a:rPr lang="en-US" altLang="zh-CN" dirty="0">
                <a:latin typeface="Arial" charset="0"/>
                <a:ea typeface="宋体" pitchFamily="2" charset="-122"/>
              </a:rPr>
              <a:t> routing-table</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Destination/Mask  proto    </a:t>
            </a:r>
            <a:r>
              <a:rPr lang="en-US" altLang="zh-CN" sz="2000" b="0" i="1" dirty="0" err="1">
                <a:latin typeface="Arial" charset="0"/>
                <a:ea typeface="宋体" pitchFamily="2" charset="-122"/>
              </a:rPr>
              <a:t>pref</a:t>
            </a:r>
            <a:r>
              <a:rPr lang="en-US" altLang="zh-CN" sz="2000" b="0" i="1" dirty="0">
                <a:latin typeface="Arial" charset="0"/>
                <a:ea typeface="宋体" pitchFamily="2" charset="-122"/>
              </a:rPr>
              <a:t>    Metric  </a:t>
            </a:r>
            <a:r>
              <a:rPr lang="en-US" altLang="zh-CN" sz="2000" b="0" i="1" dirty="0" err="1">
                <a:latin typeface="Arial" charset="0"/>
                <a:ea typeface="宋体" pitchFamily="2" charset="-122"/>
              </a:rPr>
              <a:t>Nexthop</a:t>
            </a:r>
            <a:r>
              <a:rPr lang="en-US" altLang="zh-CN" sz="2000" b="0" i="1" dirty="0">
                <a:latin typeface="Arial" charset="0"/>
                <a:ea typeface="宋体" pitchFamily="2" charset="-122"/>
              </a:rPr>
              <a:t>       Interface</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0.0.0.0/0             </a:t>
            </a:r>
            <a:r>
              <a:rPr lang="en-US" altLang="zh-CN" sz="2000" b="0" i="1" dirty="0">
                <a:solidFill>
                  <a:srgbClr val="FF0000"/>
                </a:solidFill>
                <a:latin typeface="Arial" charset="0"/>
                <a:ea typeface="宋体" pitchFamily="2" charset="-122"/>
              </a:rPr>
              <a:t>Static</a:t>
            </a:r>
            <a:r>
              <a:rPr lang="en-US" altLang="zh-CN" sz="2000" b="0" i="1" dirty="0">
                <a:latin typeface="Arial" charset="0"/>
                <a:ea typeface="宋体" pitchFamily="2" charset="-122"/>
              </a:rPr>
              <a:t>   60         0      120.0.0.2       Serial0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8.0.0.0/8             </a:t>
            </a:r>
            <a:r>
              <a:rPr lang="en-US" altLang="zh-CN" sz="2000" b="0" i="1" dirty="0">
                <a:solidFill>
                  <a:srgbClr val="FF00FF"/>
                </a:solidFill>
                <a:latin typeface="Arial" charset="0"/>
                <a:ea typeface="宋体" pitchFamily="2" charset="-122"/>
              </a:rPr>
              <a:t>RIP</a:t>
            </a:r>
            <a:r>
              <a:rPr lang="en-US" altLang="zh-CN" sz="2000" b="0" i="1" dirty="0">
                <a:latin typeface="Arial" charset="0"/>
                <a:ea typeface="宋体" pitchFamily="2" charset="-122"/>
              </a:rPr>
              <a:t>      100       3      120.0.0.2       Serial0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9.0.0.0/8             </a:t>
            </a:r>
            <a:r>
              <a:rPr lang="en-US" altLang="zh-CN" sz="2000" b="0" i="1" dirty="0">
                <a:solidFill>
                  <a:srgbClr val="0066FF"/>
                </a:solidFill>
                <a:latin typeface="Arial" charset="0"/>
                <a:ea typeface="宋体" pitchFamily="2" charset="-122"/>
              </a:rPr>
              <a:t>OSPF</a:t>
            </a:r>
            <a:r>
              <a:rPr lang="en-US" altLang="zh-CN" sz="2000" b="0" i="1" dirty="0">
                <a:latin typeface="Arial" charset="0"/>
                <a:ea typeface="宋体" pitchFamily="2" charset="-122"/>
              </a:rPr>
              <a:t>  10        50      20.0.0.2        Ethernet0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9.1.0.0/16            RIP      100       4      120.0.0.2       Serial0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11.0.0.0/8            Static    60        0      120.0.0.2       Serial0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20.0.0.0/8            </a:t>
            </a:r>
            <a:r>
              <a:rPr lang="en-US" altLang="zh-CN" sz="2000" b="0" i="1" dirty="0">
                <a:solidFill>
                  <a:srgbClr val="33CC33"/>
                </a:solidFill>
                <a:latin typeface="Arial" charset="0"/>
                <a:ea typeface="宋体" pitchFamily="2" charset="-122"/>
              </a:rPr>
              <a:t>Direct </a:t>
            </a:r>
            <a:r>
              <a:rPr lang="en-US" altLang="zh-CN" sz="2000" b="0" i="1" dirty="0">
                <a:latin typeface="Arial" charset="0"/>
                <a:ea typeface="宋体" pitchFamily="2" charset="-122"/>
              </a:rPr>
              <a:t>   0         0       20.0.0.1         Ethernet0</a:t>
            </a:r>
          </a:p>
          <a:p>
            <a:pPr marL="342900" indent="-342900" algn="l">
              <a:spcBef>
                <a:spcPct val="20000"/>
              </a:spcBef>
              <a:buClr>
                <a:schemeClr val="bg2"/>
              </a:buClr>
              <a:buSzPct val="90000"/>
              <a:buFont typeface="Wingdings" pitchFamily="2" charset="2"/>
              <a:buNone/>
            </a:pPr>
            <a:r>
              <a:rPr lang="en-US" altLang="zh-CN" sz="2000" b="0" i="1" dirty="0">
                <a:latin typeface="Arial" charset="0"/>
                <a:ea typeface="宋体" pitchFamily="2" charset="-122"/>
              </a:rPr>
              <a:t>       20.0.0.1/32          Direct    0         0      127.0.0.1       LoopBack0</a:t>
            </a:r>
          </a:p>
        </p:txBody>
      </p:sp>
      <p:sp>
        <p:nvSpPr>
          <p:cNvPr id="8196" name="Rectangle 4"/>
          <p:cNvSpPr>
            <a:spLocks noGrp="1" noChangeArrowheads="1"/>
          </p:cNvSpPr>
          <p:nvPr>
            <p:ph idx="1"/>
          </p:nvPr>
        </p:nvSpPr>
        <p:spPr>
          <a:xfrm>
            <a:off x="468313" y="1196975"/>
            <a:ext cx="8064500" cy="585418"/>
          </a:xfrm>
          <a:noFill/>
        </p:spPr>
        <p:txBody>
          <a:bodyPr lIns="92075" tIns="46038" rIns="92075" bIns="46038">
            <a:spAutoFit/>
          </a:bodyPr>
          <a:lstStyle/>
          <a:p>
            <a:pPr marL="0" indent="0" eaLnBrk="1" hangingPunct="1">
              <a:buClr>
                <a:schemeClr val="accent1"/>
              </a:buClr>
              <a:buFont typeface="Wingdings" pitchFamily="2" charset="2"/>
              <a:buChar char="u"/>
            </a:pPr>
            <a:r>
              <a:rPr lang="zh-CN" altLang="en-US" dirty="0" smtClean="0">
                <a:latin typeface="+mj-ea"/>
                <a:ea typeface="+mj-ea"/>
              </a:rPr>
              <a:t>路由表示例</a:t>
            </a:r>
          </a:p>
        </p:txBody>
      </p:sp>
      <p:sp>
        <p:nvSpPr>
          <p:cNvPr id="11269" name="Rectangle 5"/>
          <p:cNvSpPr>
            <a:spLocks noChangeArrowheads="1"/>
          </p:cNvSpPr>
          <p:nvPr/>
        </p:nvSpPr>
        <p:spPr bwMode="auto">
          <a:xfrm>
            <a:off x="468313" y="5229225"/>
            <a:ext cx="8345487" cy="1176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spcBef>
                <a:spcPct val="20000"/>
              </a:spcBef>
              <a:buClr>
                <a:schemeClr val="accent1"/>
              </a:buClr>
              <a:buSzPct val="90000"/>
              <a:buFont typeface="Wingdings" pitchFamily="2" charset="2"/>
              <a:buChar char="u"/>
            </a:pPr>
            <a:r>
              <a:rPr lang="zh-CN" altLang="en-US" sz="3200" dirty="0">
                <a:latin typeface="+mj-ea"/>
                <a:ea typeface="+mj-ea"/>
              </a:rPr>
              <a:t>路由表查询</a:t>
            </a:r>
            <a:r>
              <a:rPr lang="en-US" altLang="zh-CN" sz="3200" dirty="0">
                <a:latin typeface="+mj-ea"/>
                <a:ea typeface="+mj-ea"/>
              </a:rPr>
              <a:t>:    </a:t>
            </a:r>
            <a:r>
              <a:rPr lang="zh-CN" altLang="en-US" sz="3200" dirty="0">
                <a:latin typeface="+mj-ea"/>
                <a:ea typeface="+mj-ea"/>
              </a:rPr>
              <a:t>最长匹配原则</a:t>
            </a:r>
          </a:p>
          <a:p>
            <a:pPr algn="l">
              <a:spcBef>
                <a:spcPct val="20000"/>
              </a:spcBef>
              <a:buClr>
                <a:schemeClr val="bg2"/>
              </a:buClr>
              <a:buSzPct val="90000"/>
              <a:buFont typeface="Wingdings" pitchFamily="2" charset="2"/>
              <a:buNone/>
            </a:pPr>
            <a:r>
              <a:rPr lang="zh-CN" altLang="en-US" sz="3200" dirty="0">
                <a:latin typeface="Arial" charset="0"/>
                <a:ea typeface="宋体" pitchFamily="2" charset="-122"/>
              </a:rPr>
              <a:t>	</a:t>
            </a:r>
            <a:r>
              <a:rPr lang="en-US" altLang="zh-CN" sz="2800" dirty="0">
                <a:latin typeface="楷体_GB2312" pitchFamily="49" charset="-122"/>
                <a:ea typeface="楷体_GB2312" pitchFamily="49" charset="-122"/>
              </a:rPr>
              <a:t>IP</a:t>
            </a:r>
            <a:r>
              <a:rPr lang="zh-CN" altLang="en-US" sz="2800" dirty="0">
                <a:latin typeface="楷体_GB2312" pitchFamily="49" charset="-122"/>
                <a:ea typeface="楷体_GB2312" pitchFamily="49" charset="-122"/>
              </a:rPr>
              <a:t>和子网掩码作</a:t>
            </a:r>
            <a:r>
              <a:rPr lang="zh-CN" altLang="en-US" sz="2800" dirty="0">
                <a:latin typeface="宋体" pitchFamily="2" charset="-122"/>
                <a:ea typeface="楷体_GB2312" pitchFamily="49" charset="-122"/>
              </a:rPr>
              <a:t>“</a:t>
            </a:r>
            <a:r>
              <a:rPr lang="zh-CN" altLang="en-US" sz="2800" dirty="0">
                <a:latin typeface="楷体_GB2312" pitchFamily="49" charset="-122"/>
                <a:ea typeface="楷体_GB2312" pitchFamily="49" charset="-122"/>
              </a:rPr>
              <a:t>与</a:t>
            </a:r>
            <a:r>
              <a:rPr lang="zh-CN" altLang="en-US" sz="2800" dirty="0">
                <a:latin typeface="宋体" pitchFamily="2" charset="-122"/>
                <a:ea typeface="楷体_GB2312" pitchFamily="49" charset="-122"/>
              </a:rPr>
              <a:t>”</a:t>
            </a:r>
            <a:r>
              <a:rPr lang="zh-CN" altLang="en-US" sz="2800" dirty="0">
                <a:latin typeface="楷体_GB2312" pitchFamily="49" charset="-122"/>
                <a:ea typeface="楷体_GB2312" pitchFamily="49" charset="-122"/>
              </a:rPr>
              <a:t>运算获得网络地址</a:t>
            </a:r>
          </a:p>
        </p:txBody>
      </p:sp>
    </p:spTree>
    <p:extLst>
      <p:ext uri="{BB962C8B-B14F-4D97-AF65-F5344CB8AC3E}">
        <p14:creationId xmlns:p14="http://schemas.microsoft.com/office/powerpoint/2010/main" val="2988162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blinds(horizontal)">
                                      <p:cBhvr>
                                        <p:cTn id="7"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11188" y="417513"/>
            <a:ext cx="8064500" cy="708025"/>
          </a:xfrm>
        </p:spPr>
        <p:txBody>
          <a:bodyPr>
            <a:normAutofit/>
          </a:bodyPr>
          <a:lstStyle/>
          <a:p>
            <a:pPr eaLnBrk="1" hangingPunct="1"/>
            <a:r>
              <a:rPr lang="zh-CN" altLang="en-US" sz="4000" smtClean="0">
                <a:ea typeface="宋体" pitchFamily="2" charset="-122"/>
              </a:rPr>
              <a:t>路由协议</a:t>
            </a:r>
          </a:p>
        </p:txBody>
      </p:sp>
      <p:sp>
        <p:nvSpPr>
          <p:cNvPr id="9219" name="Rectangle 3"/>
          <p:cNvSpPr>
            <a:spLocks noGrp="1" noChangeArrowheads="1"/>
          </p:cNvSpPr>
          <p:nvPr>
            <p:ph idx="1"/>
          </p:nvPr>
        </p:nvSpPr>
        <p:spPr>
          <a:xfrm>
            <a:off x="251520" y="1484784"/>
            <a:ext cx="8892480" cy="4623446"/>
          </a:xfrm>
          <a:noFill/>
        </p:spPr>
        <p:txBody>
          <a:bodyPr wrap="square" lIns="92075" tIns="46038" rIns="92075" bIns="46038">
            <a:spAutoFit/>
          </a:bodyPr>
          <a:lstStyle/>
          <a:p>
            <a:pPr marL="0" indent="0" eaLnBrk="1" hangingPunct="1">
              <a:buClr>
                <a:schemeClr val="accent1"/>
              </a:buClr>
              <a:buFont typeface="Wingdings" pitchFamily="2" charset="2"/>
              <a:buChar char="u"/>
            </a:pPr>
            <a:r>
              <a:rPr lang="zh-CN" altLang="en-US" dirty="0" smtClean="0"/>
              <a:t>静态路由协议（</a:t>
            </a:r>
            <a:r>
              <a:rPr lang="en-US" altLang="zh-CN" dirty="0" smtClean="0"/>
              <a:t>static routing protocol</a:t>
            </a:r>
            <a:r>
              <a:rPr lang="zh-CN" altLang="en-US" dirty="0" smtClean="0"/>
              <a:t>）</a:t>
            </a:r>
          </a:p>
          <a:p>
            <a:pPr lvl="2" eaLnBrk="1" hangingPunct="1">
              <a:buClr>
                <a:schemeClr val="accent1"/>
              </a:buClr>
              <a:buFont typeface="Wingdings" pitchFamily="2" charset="2"/>
              <a:buChar char="Ø"/>
            </a:pPr>
            <a:r>
              <a:rPr lang="zh-CN" altLang="en-US" b="0" dirty="0" smtClean="0">
                <a:ea typeface="楷体_GB2312" pitchFamily="49" charset="-122"/>
              </a:rPr>
              <a:t>路由表项是通过人工手动配置生成</a:t>
            </a:r>
          </a:p>
          <a:p>
            <a:pPr lvl="2" eaLnBrk="1" hangingPunct="1">
              <a:buClr>
                <a:schemeClr val="accent1"/>
              </a:buClr>
              <a:buFont typeface="Wingdings" pitchFamily="2" charset="2"/>
              <a:buChar char="Ø"/>
            </a:pPr>
            <a:r>
              <a:rPr lang="zh-CN" altLang="en-US" b="0" dirty="0" smtClean="0">
                <a:ea typeface="楷体_GB2312" pitchFamily="49" charset="-122"/>
              </a:rPr>
              <a:t>需指定目的网络和下一跳地址</a:t>
            </a:r>
          </a:p>
          <a:p>
            <a:pPr lvl="2" eaLnBrk="1" hangingPunct="1">
              <a:buClr>
                <a:schemeClr val="accent1"/>
              </a:buClr>
              <a:buFont typeface="Wingdings" pitchFamily="2" charset="2"/>
              <a:buChar char="Ø"/>
            </a:pPr>
            <a:r>
              <a:rPr lang="zh-CN" altLang="en-US" b="0" dirty="0" smtClean="0">
                <a:ea typeface="楷体_GB2312" pitchFamily="49" charset="-122"/>
              </a:rPr>
              <a:t>网络变化，路由器间不会动态交换数据来更新路由表，需人工修改。</a:t>
            </a:r>
          </a:p>
          <a:p>
            <a:pPr marL="0" indent="0" eaLnBrk="1" hangingPunct="1">
              <a:buClr>
                <a:schemeClr val="accent1"/>
              </a:buClr>
              <a:buFont typeface="Wingdings" pitchFamily="2" charset="2"/>
              <a:buChar char="u"/>
            </a:pPr>
            <a:r>
              <a:rPr lang="zh-CN" altLang="en-US" dirty="0" smtClean="0"/>
              <a:t>动态路由协议（</a:t>
            </a:r>
            <a:r>
              <a:rPr lang="en-US" altLang="zh-CN" dirty="0" smtClean="0"/>
              <a:t>dynamic routing protocol</a:t>
            </a:r>
            <a:r>
              <a:rPr lang="zh-CN" altLang="en-US" dirty="0" smtClean="0"/>
              <a:t>）</a:t>
            </a:r>
          </a:p>
          <a:p>
            <a:pPr lvl="2" eaLnBrk="1" hangingPunct="1">
              <a:buClr>
                <a:schemeClr val="accent1"/>
              </a:buClr>
              <a:buFont typeface="Wingdings" pitchFamily="2" charset="2"/>
              <a:buChar char="Ø"/>
            </a:pPr>
            <a:r>
              <a:rPr lang="zh-CN" altLang="en-US" b="0" dirty="0" smtClean="0">
                <a:ea typeface="楷体_GB2312" pitchFamily="49" charset="-122"/>
              </a:rPr>
              <a:t>路由表项是协议动态生成</a:t>
            </a:r>
          </a:p>
          <a:p>
            <a:pPr lvl="2" eaLnBrk="1" hangingPunct="1">
              <a:buClr>
                <a:schemeClr val="accent1"/>
              </a:buClr>
              <a:buFont typeface="Wingdings" pitchFamily="2" charset="2"/>
              <a:buChar char="Ø"/>
            </a:pPr>
            <a:r>
              <a:rPr lang="zh-CN" altLang="en-US" b="0" dirty="0" smtClean="0">
                <a:ea typeface="楷体_GB2312" pitchFamily="49" charset="-122"/>
              </a:rPr>
              <a:t>根据网络结构或流量的变化，路由协议会自动调整路由信息以实现路由。</a:t>
            </a:r>
          </a:p>
        </p:txBody>
      </p:sp>
    </p:spTree>
    <p:extLst>
      <p:ext uri="{BB962C8B-B14F-4D97-AF65-F5344CB8AC3E}">
        <p14:creationId xmlns:p14="http://schemas.microsoft.com/office/powerpoint/2010/main" val="409112810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1188" y="417513"/>
            <a:ext cx="8064500" cy="708025"/>
          </a:xfrm>
        </p:spPr>
        <p:txBody>
          <a:bodyPr>
            <a:normAutofit/>
          </a:bodyPr>
          <a:lstStyle/>
          <a:p>
            <a:pPr eaLnBrk="1" hangingPunct="1"/>
            <a:r>
              <a:rPr lang="zh-CN" altLang="en-US" sz="4000" smtClean="0">
                <a:ea typeface="宋体" pitchFamily="2" charset="-122"/>
              </a:rPr>
              <a:t>动态路由协议</a:t>
            </a:r>
          </a:p>
        </p:txBody>
      </p:sp>
      <p:sp>
        <p:nvSpPr>
          <p:cNvPr id="12291" name="Rectangle 3"/>
          <p:cNvSpPr>
            <a:spLocks noGrp="1" noChangeArrowheads="1"/>
          </p:cNvSpPr>
          <p:nvPr>
            <p:ph idx="1"/>
          </p:nvPr>
        </p:nvSpPr>
        <p:spPr>
          <a:xfrm>
            <a:off x="1043608" y="1341438"/>
            <a:ext cx="7814642" cy="5256212"/>
          </a:xfrm>
        </p:spPr>
        <p:txBody>
          <a:bodyPr/>
          <a:lstStyle/>
          <a:p>
            <a:pPr marL="0" indent="0" eaLnBrk="1" hangingPunct="1">
              <a:lnSpc>
                <a:spcPct val="80000"/>
              </a:lnSpc>
              <a:buClr>
                <a:schemeClr val="accent1"/>
              </a:buClr>
              <a:buFont typeface="Wingdings" pitchFamily="2" charset="2"/>
              <a:buChar char="u"/>
            </a:pPr>
            <a:r>
              <a:rPr lang="zh-CN" altLang="en-US" sz="2800" dirty="0" smtClean="0">
                <a:latin typeface="楷体_GB2312" pitchFamily="49" charset="-122"/>
                <a:ea typeface="楷体_GB2312" pitchFamily="49" charset="-122"/>
              </a:rPr>
              <a:t>现有动态路由协议</a:t>
            </a:r>
          </a:p>
          <a:p>
            <a:pPr lvl="1" eaLnBrk="1" hangingPunct="1">
              <a:lnSpc>
                <a:spcPct val="80000"/>
              </a:lnSpc>
              <a:buClr>
                <a:schemeClr val="accent1"/>
              </a:buClr>
              <a:buFont typeface="Wingdings" pitchFamily="2" charset="2"/>
              <a:buChar char="Ø"/>
            </a:pPr>
            <a:r>
              <a:rPr lang="en-US" altLang="zh-CN" sz="2000" b="0" dirty="0" smtClean="0">
                <a:latin typeface="+mn-ea"/>
              </a:rPr>
              <a:t>RIP</a:t>
            </a:r>
            <a:r>
              <a:rPr lang="zh-CN" altLang="en-US" sz="2000" b="0" dirty="0" smtClean="0">
                <a:latin typeface="+mn-ea"/>
              </a:rPr>
              <a:t>（</a:t>
            </a:r>
            <a:r>
              <a:rPr lang="en-US" altLang="zh-CN" sz="2400" b="0" dirty="0" smtClean="0">
                <a:latin typeface="+mn-ea"/>
              </a:rPr>
              <a:t>Routing Information Protocol</a:t>
            </a:r>
            <a:r>
              <a:rPr lang="zh-CN" altLang="en-US" sz="2000" b="0" dirty="0" smtClean="0">
                <a:latin typeface="+mn-ea"/>
              </a:rPr>
              <a:t>）</a:t>
            </a:r>
          </a:p>
          <a:p>
            <a:pPr lvl="1" eaLnBrk="1" hangingPunct="1">
              <a:lnSpc>
                <a:spcPct val="80000"/>
              </a:lnSpc>
              <a:buClr>
                <a:schemeClr val="accent1"/>
              </a:buClr>
              <a:buFont typeface="Wingdings" pitchFamily="2" charset="2"/>
              <a:buChar char="Ø"/>
            </a:pPr>
            <a:r>
              <a:rPr lang="en-US" altLang="zh-CN" sz="2000" b="0" dirty="0" smtClean="0">
                <a:latin typeface="+mn-ea"/>
              </a:rPr>
              <a:t>BGP</a:t>
            </a:r>
          </a:p>
          <a:p>
            <a:pPr lvl="1" eaLnBrk="1" hangingPunct="1">
              <a:lnSpc>
                <a:spcPct val="80000"/>
              </a:lnSpc>
              <a:buClr>
                <a:schemeClr val="accent1"/>
              </a:buClr>
              <a:buFont typeface="Wingdings" pitchFamily="2" charset="2"/>
              <a:buChar char="Ø"/>
            </a:pPr>
            <a:r>
              <a:rPr lang="en-US" altLang="zh-CN" sz="2000" b="0" dirty="0" smtClean="0">
                <a:latin typeface="+mn-ea"/>
              </a:rPr>
              <a:t>OSPF</a:t>
            </a:r>
          </a:p>
          <a:p>
            <a:pPr lvl="1" eaLnBrk="1" hangingPunct="1">
              <a:lnSpc>
                <a:spcPct val="80000"/>
              </a:lnSpc>
              <a:buClr>
                <a:schemeClr val="accent1"/>
              </a:buClr>
              <a:buFont typeface="Wingdings" pitchFamily="2" charset="2"/>
              <a:buChar char="Ø"/>
            </a:pPr>
            <a:r>
              <a:rPr lang="en-US" altLang="zh-CN" sz="2000" b="0" dirty="0" smtClean="0">
                <a:latin typeface="+mn-ea"/>
              </a:rPr>
              <a:t>IS-IS</a:t>
            </a:r>
          </a:p>
          <a:p>
            <a:pPr lvl="1" eaLnBrk="1" hangingPunct="1">
              <a:lnSpc>
                <a:spcPct val="80000"/>
              </a:lnSpc>
              <a:buClr>
                <a:schemeClr val="accent1"/>
              </a:buClr>
              <a:buFont typeface="Wingdings" pitchFamily="2" charset="2"/>
              <a:buChar char="Ø"/>
            </a:pPr>
            <a:r>
              <a:rPr lang="en-US" altLang="zh-CN" sz="2000" b="0" dirty="0" smtClean="0">
                <a:latin typeface="+mn-ea"/>
              </a:rPr>
              <a:t>EGP</a:t>
            </a:r>
          </a:p>
          <a:p>
            <a:pPr lvl="1" eaLnBrk="1" hangingPunct="1">
              <a:lnSpc>
                <a:spcPct val="80000"/>
              </a:lnSpc>
              <a:buClr>
                <a:schemeClr val="accent1"/>
              </a:buClr>
              <a:buFont typeface="Wingdings" pitchFamily="2" charset="2"/>
              <a:buChar char="Ø"/>
            </a:pPr>
            <a:endParaRPr lang="en-US" altLang="zh-CN" sz="2000" dirty="0" smtClean="0">
              <a:latin typeface="楷体_GB2312" pitchFamily="49" charset="-122"/>
              <a:ea typeface="楷体_GB2312" pitchFamily="49" charset="-122"/>
            </a:endParaRPr>
          </a:p>
          <a:p>
            <a:pPr marL="0" indent="0" eaLnBrk="1" hangingPunct="1">
              <a:lnSpc>
                <a:spcPct val="80000"/>
              </a:lnSpc>
              <a:buClr>
                <a:schemeClr val="accent1"/>
              </a:buClr>
              <a:buFont typeface="Wingdings" pitchFamily="2" charset="2"/>
              <a:buChar char="u"/>
            </a:pPr>
            <a:r>
              <a:rPr lang="zh-CN" altLang="en-US" sz="2800" dirty="0" smtClean="0"/>
              <a:t>按寻径算法划分</a:t>
            </a:r>
          </a:p>
          <a:p>
            <a:pPr lvl="1" eaLnBrk="1" hangingPunct="1">
              <a:lnSpc>
                <a:spcPct val="80000"/>
              </a:lnSpc>
              <a:buClr>
                <a:schemeClr val="accent1"/>
              </a:buClr>
              <a:buFont typeface="Wingdings" pitchFamily="2" charset="2"/>
              <a:buChar char="Ø"/>
            </a:pPr>
            <a:r>
              <a:rPr lang="zh-CN" altLang="en-US" sz="2400" b="0" dirty="0" smtClean="0">
                <a:latin typeface="楷体_GB2312" pitchFamily="49" charset="-122"/>
                <a:ea typeface="楷体_GB2312" pitchFamily="49" charset="-122"/>
              </a:rPr>
              <a:t>距离矢量路由协议</a:t>
            </a:r>
            <a:r>
              <a:rPr lang="en-US" altLang="zh-CN" sz="2400" b="0" dirty="0" smtClean="0">
                <a:ea typeface="楷体_GB2312" pitchFamily="49" charset="-122"/>
              </a:rPr>
              <a:t>——</a:t>
            </a:r>
            <a:r>
              <a:rPr lang="en-US" altLang="zh-CN" sz="2400" b="0" dirty="0" smtClean="0">
                <a:latin typeface="楷体_GB2312" pitchFamily="49" charset="-122"/>
                <a:ea typeface="楷体_GB2312" pitchFamily="49" charset="-122"/>
              </a:rPr>
              <a:t>RIP,BGP</a:t>
            </a:r>
          </a:p>
          <a:p>
            <a:pPr lvl="1" eaLnBrk="1" hangingPunct="1">
              <a:lnSpc>
                <a:spcPct val="80000"/>
              </a:lnSpc>
              <a:buClr>
                <a:schemeClr val="accent1"/>
              </a:buClr>
              <a:buFont typeface="Wingdings" pitchFamily="2" charset="2"/>
              <a:buChar char="Ø"/>
            </a:pPr>
            <a:r>
              <a:rPr lang="zh-CN" altLang="en-US" sz="2400" b="0" dirty="0" smtClean="0">
                <a:latin typeface="楷体_GB2312" pitchFamily="49" charset="-122"/>
                <a:ea typeface="楷体_GB2312" pitchFamily="49" charset="-122"/>
              </a:rPr>
              <a:t>链路状态路由协议</a:t>
            </a:r>
            <a:r>
              <a:rPr lang="en-US" altLang="zh-CN" sz="2400" b="0" dirty="0" smtClean="0">
                <a:ea typeface="楷体_GB2312" pitchFamily="49" charset="-122"/>
              </a:rPr>
              <a:t>——</a:t>
            </a:r>
            <a:r>
              <a:rPr lang="en-US" altLang="zh-CN" sz="2400" b="0" dirty="0" smtClean="0">
                <a:latin typeface="楷体_GB2312" pitchFamily="49" charset="-122"/>
                <a:ea typeface="楷体_GB2312" pitchFamily="49" charset="-122"/>
              </a:rPr>
              <a:t>OSPF,IS-IS</a:t>
            </a:r>
          </a:p>
          <a:p>
            <a:pPr lvl="1" eaLnBrk="1" hangingPunct="1">
              <a:lnSpc>
                <a:spcPct val="80000"/>
              </a:lnSpc>
              <a:buClr>
                <a:schemeClr val="accent1"/>
              </a:buClr>
              <a:buFont typeface="Wingdings" pitchFamily="2" charset="2"/>
              <a:buChar char="Ø"/>
            </a:pPr>
            <a:endParaRPr lang="en-US" altLang="zh-CN" sz="2400" dirty="0" smtClean="0">
              <a:latin typeface="楷体_GB2312" pitchFamily="49" charset="-122"/>
              <a:ea typeface="楷体_GB2312" pitchFamily="49" charset="-122"/>
            </a:endParaRPr>
          </a:p>
          <a:p>
            <a:pPr marL="0" indent="0" eaLnBrk="1" hangingPunct="1">
              <a:lnSpc>
                <a:spcPct val="80000"/>
              </a:lnSpc>
              <a:buClr>
                <a:schemeClr val="accent1"/>
              </a:buClr>
              <a:buFont typeface="Wingdings" pitchFamily="2" charset="2"/>
              <a:buChar char="u"/>
            </a:pPr>
            <a:r>
              <a:rPr lang="zh-CN" altLang="en-US" sz="2800" dirty="0" smtClean="0"/>
              <a:t>按网络范围划分</a:t>
            </a:r>
          </a:p>
          <a:p>
            <a:pPr lvl="1" eaLnBrk="1" hangingPunct="1">
              <a:lnSpc>
                <a:spcPct val="80000"/>
              </a:lnSpc>
              <a:buClr>
                <a:schemeClr val="accent1"/>
              </a:buClr>
              <a:buFont typeface="Wingdings" pitchFamily="2" charset="2"/>
              <a:buChar char="Ø"/>
            </a:pPr>
            <a:r>
              <a:rPr lang="zh-CN" altLang="en-US" sz="2400" b="0" dirty="0" smtClean="0">
                <a:latin typeface="楷体_GB2312" pitchFamily="49" charset="-122"/>
                <a:ea typeface="楷体_GB2312" pitchFamily="49" charset="-122"/>
              </a:rPr>
              <a:t>内部网关协议－</a:t>
            </a:r>
            <a:r>
              <a:rPr lang="en-US" altLang="zh-CN" sz="2400" b="0" dirty="0" smtClean="0">
                <a:latin typeface="楷体_GB2312" pitchFamily="49" charset="-122"/>
                <a:ea typeface="楷体_GB2312" pitchFamily="49" charset="-122"/>
              </a:rPr>
              <a:t>RIP</a:t>
            </a:r>
            <a:r>
              <a:rPr lang="zh-CN" altLang="en-US" sz="2400" b="0" dirty="0" smtClean="0">
                <a:latin typeface="楷体_GB2312" pitchFamily="49" charset="-122"/>
                <a:ea typeface="楷体_GB2312" pitchFamily="49" charset="-122"/>
              </a:rPr>
              <a:t>，</a:t>
            </a:r>
            <a:r>
              <a:rPr lang="en-US" altLang="zh-CN" sz="2400" b="0" dirty="0" smtClean="0">
                <a:latin typeface="楷体_GB2312" pitchFamily="49" charset="-122"/>
                <a:ea typeface="楷体_GB2312" pitchFamily="49" charset="-122"/>
              </a:rPr>
              <a:t>OSPF</a:t>
            </a:r>
            <a:r>
              <a:rPr lang="zh-CN" altLang="en-US" sz="2400" b="0" dirty="0" smtClean="0">
                <a:latin typeface="楷体_GB2312" pitchFamily="49" charset="-122"/>
                <a:ea typeface="楷体_GB2312" pitchFamily="49" charset="-122"/>
              </a:rPr>
              <a:t>，</a:t>
            </a:r>
            <a:r>
              <a:rPr lang="en-US" altLang="zh-CN" sz="2400" b="0" dirty="0" smtClean="0">
                <a:latin typeface="楷体_GB2312" pitchFamily="49" charset="-122"/>
                <a:ea typeface="楷体_GB2312" pitchFamily="49" charset="-122"/>
              </a:rPr>
              <a:t>IS-IS</a:t>
            </a:r>
          </a:p>
          <a:p>
            <a:pPr lvl="1" eaLnBrk="1" hangingPunct="1">
              <a:lnSpc>
                <a:spcPct val="80000"/>
              </a:lnSpc>
              <a:buClr>
                <a:schemeClr val="accent1"/>
              </a:buClr>
              <a:buFont typeface="Wingdings" pitchFamily="2" charset="2"/>
              <a:buChar char="Ø"/>
            </a:pPr>
            <a:r>
              <a:rPr lang="zh-CN" altLang="en-US" sz="2400" b="0" dirty="0" smtClean="0">
                <a:latin typeface="楷体_GB2312" pitchFamily="49" charset="-122"/>
                <a:ea typeface="楷体_GB2312" pitchFamily="49" charset="-122"/>
              </a:rPr>
              <a:t>外部网关协议－</a:t>
            </a:r>
            <a:r>
              <a:rPr lang="en-US" altLang="zh-CN" sz="2400" b="0" dirty="0" smtClean="0">
                <a:latin typeface="楷体_GB2312" pitchFamily="49" charset="-122"/>
                <a:ea typeface="楷体_GB2312" pitchFamily="49" charset="-122"/>
              </a:rPr>
              <a:t>EGP</a:t>
            </a:r>
            <a:r>
              <a:rPr lang="zh-CN" altLang="en-US" sz="2400" b="0" dirty="0" smtClean="0">
                <a:latin typeface="楷体_GB2312" pitchFamily="49" charset="-122"/>
                <a:ea typeface="楷体_GB2312" pitchFamily="49" charset="-122"/>
              </a:rPr>
              <a:t>，</a:t>
            </a:r>
            <a:r>
              <a:rPr lang="en-US" altLang="zh-CN" sz="2400" b="0" dirty="0" smtClean="0">
                <a:latin typeface="楷体_GB2312" pitchFamily="49" charset="-122"/>
                <a:ea typeface="楷体_GB2312" pitchFamily="49" charset="-122"/>
              </a:rPr>
              <a:t>BGP</a:t>
            </a:r>
          </a:p>
        </p:txBody>
      </p:sp>
    </p:spTree>
    <p:extLst>
      <p:ext uri="{BB962C8B-B14F-4D97-AF65-F5344CB8AC3E}">
        <p14:creationId xmlns:p14="http://schemas.microsoft.com/office/powerpoint/2010/main" val="1766819804"/>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毕业答辩尹瑞模板">
  <a:themeElements>
    <a:clrScheme name="毕业答辩尹瑞模板 9">
      <a:dk1>
        <a:srgbClr val="330066"/>
      </a:dk1>
      <a:lt1>
        <a:srgbClr val="D8DADA"/>
      </a:lt1>
      <a:dk2>
        <a:srgbClr val="FFFFFF"/>
      </a:dk2>
      <a:lt2>
        <a:srgbClr val="6B6B6B"/>
      </a:lt2>
      <a:accent1>
        <a:srgbClr val="DF0029"/>
      </a:accent1>
      <a:accent2>
        <a:srgbClr val="DF0029"/>
      </a:accent2>
      <a:accent3>
        <a:srgbClr val="E9EAEA"/>
      </a:accent3>
      <a:accent4>
        <a:srgbClr val="2A0056"/>
      </a:accent4>
      <a:accent5>
        <a:srgbClr val="ECAAAC"/>
      </a:accent5>
      <a:accent6>
        <a:srgbClr val="CA0024"/>
      </a:accent6>
      <a:hlink>
        <a:srgbClr val="135A9A"/>
      </a:hlink>
      <a:folHlink>
        <a:srgbClr val="711C81"/>
      </a:folHlink>
    </a:clrScheme>
    <a:fontScheme name="毕业答辩尹瑞模板">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scene3d>
          <a:camera prst="legacyObliqueTopRight"/>
          <a:lightRig rig="legacyFlat3" dir="b"/>
        </a:scene3d>
        <a:sp3d extrusionH="430200" prstMaterial="legacyMatte">
          <a:bevelT w="13500" h="13500" prst="angle"/>
          <a:bevelB w="13500" h="13500" prst="angle"/>
          <a:extrusionClr>
            <a:srgbClr val="CCECFF"/>
          </a:extrusionClr>
        </a:sp3d>
        <a:extLst>
          <a:ext uri="{91240B29-F687-4F45-9708-019B960494DF}">
            <a14:hiddenLine xmlns:a14="http://schemas.microsoft.com/office/drawing/2010/main" w="9525" cap="flat" cmpd="sng" algn="ctr">
              <a:noFill/>
              <a:prstDash val="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scene3d>
          <a:camera prst="legacyObliqueTopRight"/>
          <a:lightRig rig="legacyFlat3" dir="b"/>
        </a:scene3d>
        <a:sp3d extrusionH="430200" prstMaterial="legacyMatte">
          <a:bevelT w="13500" h="13500" prst="angle"/>
          <a:bevelB w="13500" h="13500" prst="angle"/>
          <a:extrusionClr>
            <a:srgbClr val="CCECFF"/>
          </a:extrusionClr>
        </a:sp3d>
        <a:extLst>
          <a:ext uri="{91240B29-F687-4F45-9708-019B960494DF}">
            <a14:hiddenLine xmlns:a14="http://schemas.microsoft.com/office/drawing/2010/main" w="9525" cap="flat" cmpd="sng" algn="ctr">
              <a:noFill/>
              <a:prstDash val="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仿宋_GB2312" pitchFamily="49" charset="-122"/>
            <a:ea typeface="仿宋_GB2312" pitchFamily="49" charset="-122"/>
          </a:defRPr>
        </a:defPPr>
      </a:lstStyle>
    </a:lnDef>
  </a:objectDefaults>
  <a:extraClrSchemeLst>
    <a:extraClrScheme>
      <a:clrScheme name="毕业答辩尹瑞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毕业答辩尹瑞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毕业答辩尹瑞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毕业答辩尹瑞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毕业答辩尹瑞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毕业答辩尹瑞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毕业答辩尹瑞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毕业答辩尹瑞模板 8">
        <a:dk1>
          <a:srgbClr val="330066"/>
        </a:dk1>
        <a:lt1>
          <a:srgbClr val="D8DADA"/>
        </a:lt1>
        <a:dk2>
          <a:srgbClr val="FFFFFF"/>
        </a:dk2>
        <a:lt2>
          <a:srgbClr val="6B6B6B"/>
        </a:lt2>
        <a:accent1>
          <a:srgbClr val="DF0029"/>
        </a:accent1>
        <a:accent2>
          <a:srgbClr val="8FECE5"/>
        </a:accent2>
        <a:accent3>
          <a:srgbClr val="E9EAEA"/>
        </a:accent3>
        <a:accent4>
          <a:srgbClr val="2A0056"/>
        </a:accent4>
        <a:accent5>
          <a:srgbClr val="ECAAAC"/>
        </a:accent5>
        <a:accent6>
          <a:srgbClr val="81D6CF"/>
        </a:accent6>
        <a:hlink>
          <a:srgbClr val="135A9A"/>
        </a:hlink>
        <a:folHlink>
          <a:srgbClr val="711C81"/>
        </a:folHlink>
      </a:clrScheme>
      <a:clrMap bg1="lt1" tx1="dk1" bg2="lt2" tx2="dk2" accent1="accent1" accent2="accent2" accent3="accent3" accent4="accent4" accent5="accent5" accent6="accent6" hlink="hlink" folHlink="folHlink"/>
    </a:extraClrScheme>
    <a:extraClrScheme>
      <a:clrScheme name="毕业答辩尹瑞模板 9">
        <a:dk1>
          <a:srgbClr val="330066"/>
        </a:dk1>
        <a:lt1>
          <a:srgbClr val="D8DADA"/>
        </a:lt1>
        <a:dk2>
          <a:srgbClr val="FFFFFF"/>
        </a:dk2>
        <a:lt2>
          <a:srgbClr val="6B6B6B"/>
        </a:lt2>
        <a:accent1>
          <a:srgbClr val="DF0029"/>
        </a:accent1>
        <a:accent2>
          <a:srgbClr val="DF0029"/>
        </a:accent2>
        <a:accent3>
          <a:srgbClr val="E9EAEA"/>
        </a:accent3>
        <a:accent4>
          <a:srgbClr val="2A0056"/>
        </a:accent4>
        <a:accent5>
          <a:srgbClr val="ECAAAC"/>
        </a:accent5>
        <a:accent6>
          <a:srgbClr val="CA0024"/>
        </a:accent6>
        <a:hlink>
          <a:srgbClr val="135A9A"/>
        </a:hlink>
        <a:folHlink>
          <a:srgbClr val="711C8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RIP协议实验(本科生mooc)</Template>
  <TotalTime>4</TotalTime>
  <Words>857</Words>
  <Application>Microsoft Office PowerPoint</Application>
  <PresentationFormat>全屏显示(4:3)</PresentationFormat>
  <Paragraphs>117</Paragraphs>
  <Slides>8</Slides>
  <Notes>7</Notes>
  <HiddenSlides>0</HiddenSlides>
  <MMClips>0</MMClips>
  <ScaleCrop>false</ScaleCrop>
  <HeadingPairs>
    <vt:vector size="4" baseType="variant">
      <vt:variant>
        <vt:lpstr>主题</vt:lpstr>
      </vt:variant>
      <vt:variant>
        <vt:i4>1</vt:i4>
      </vt:variant>
      <vt:variant>
        <vt:lpstr>幻灯片标题</vt:lpstr>
      </vt:variant>
      <vt:variant>
        <vt:i4>8</vt:i4>
      </vt:variant>
    </vt:vector>
  </HeadingPairs>
  <TitlesOfParts>
    <vt:vector size="9" baseType="lpstr">
      <vt:lpstr>毕业答辩尹瑞模板</vt:lpstr>
      <vt:lpstr>RIP协议实验总体介绍</vt:lpstr>
      <vt:lpstr>实验内容 </vt:lpstr>
      <vt:lpstr>实验目标</vt:lpstr>
      <vt:lpstr>路由的概念</vt:lpstr>
      <vt:lpstr>IP路由器</vt:lpstr>
      <vt:lpstr>PowerPoint 演示文稿</vt:lpstr>
      <vt:lpstr>路由协议</vt:lpstr>
      <vt:lpstr>动态路由协议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RIP协议实验总体介绍</dc:title>
  <dc:creator>jiaofuju</dc:creator>
  <cp:lastModifiedBy>jiaofuju</cp:lastModifiedBy>
  <cp:revision>2</cp:revision>
  <dcterms:created xsi:type="dcterms:W3CDTF">2014-11-06T22:24:46Z</dcterms:created>
  <dcterms:modified xsi:type="dcterms:W3CDTF">2014-11-06T22:30:33Z</dcterms:modified>
</cp:coreProperties>
</file>