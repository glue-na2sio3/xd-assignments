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0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12380-2F57-46DE-9E98-6DD894265FD5}" type="datetimeFigureOut">
              <a:rPr lang="zh-CN" altLang="en-US" smtClean="0"/>
              <a:t>2014/11/7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5CC3E-8948-48E2-BA25-A88DBA4F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29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  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静态路由需要手工指定目的网络、子网掩码和下一跳地址。在图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3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中我们看到，子网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202.112.138.0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这个网段的主机如果需要与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202.112.130.0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这个网段的主机进行通信，则每个路由器中都需要配置到达这两个网段的路由。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   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例如，要到达目标网络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202.112.130.0/24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，则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R1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上需要配置一条如图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4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的路由，下一跳为路由器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R2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s1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接口地址。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R2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上需要配置一条路由如图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5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的路由，下一跳为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R3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s1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接口地址。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而到达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202.112.138.0/24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网段，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R3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上需要配置一条如图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6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的路由，下一跳为路由器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R2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s0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接口地址。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R2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上需要配置一条路由如图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7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的路由，下一跳为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R1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s0</a:t>
            </a:r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接口地址。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IP</a:t>
            </a:r>
            <a:r>
              <a:rPr lang="zh-CN" altLang="en-US" dirty="0" smtClean="0"/>
              <a:t>地址、子网掩码、下一跳地址三个要素</a:t>
            </a:r>
            <a:endParaRPr lang="en-US" altLang="zh-CN" dirty="0" smtClean="0"/>
          </a:p>
          <a:p>
            <a:r>
              <a:rPr lang="zh-CN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例如，输入命令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[R1]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ip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 route-static 202.112.130.0 255.255.255.0  202.112.130.2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    目的地址为任意网络的静态路由用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0.0.0.0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作为目标网络号，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0.0.0.0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作为子网掩码，任何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Ip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地址与掩码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0.0.0.0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进行二进制“与”操作后的结果都与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0.0.0.0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为目标网络的路由项匹配。即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0.0.0.0/0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作为目标网络的路由表项符合所有网络，这种路由称为默认路由。默认路由可以降低路由器配置的复杂度，放宽对路由器的性能要求。默认路由可以通过静态路由的方法手工配置。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    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默认路由的配置命令为：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[R1]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ip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route-static 0.0.0.0 0 0.0.0.0 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nexthop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-address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例如：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[R1]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ip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route-static 0.0.0.0  0.0.0.0  202.112.130.3  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表明目标地址为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0.0.0.0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的数据包下一跳地址为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202.112.130.3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985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7392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配置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，需要进入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试图并指定某些端口属于此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配置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地址，可以为三层交换机的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接口配置</a:t>
            </a:r>
            <a:r>
              <a:rPr lang="en-US" altLang="zh-CN" dirty="0" err="1" smtClean="0"/>
              <a:t>Ip</a:t>
            </a:r>
            <a:r>
              <a:rPr lang="zh-CN" altLang="en-US" dirty="0" smtClean="0"/>
              <a:t>地址，此时三层交换机具有路由器的功能。配置命令单独显示</a:t>
            </a:r>
            <a:endParaRPr lang="en-US" altLang="zh-CN" dirty="0" smtClean="0"/>
          </a:p>
          <a:p>
            <a:r>
              <a:rPr lang="zh-CN" altLang="en-US" dirty="0" smtClean="0"/>
              <a:t>配置静态路由的命令单独显示</a:t>
            </a:r>
            <a:endParaRPr lang="en-US" altLang="zh-CN" dirty="0" smtClean="0"/>
          </a:p>
          <a:p>
            <a:r>
              <a:rPr lang="zh-CN" altLang="en-US" dirty="0" smtClean="0"/>
              <a:t>查看路由表的命令单独显示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3961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配置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，需要进入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试图并指定某些端口属于此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配置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地址，可以为三层交换机的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接口配置</a:t>
            </a:r>
            <a:r>
              <a:rPr lang="en-US" altLang="zh-CN" dirty="0" err="1" smtClean="0"/>
              <a:t>Ip</a:t>
            </a:r>
            <a:r>
              <a:rPr lang="zh-CN" altLang="en-US" dirty="0" smtClean="0"/>
              <a:t>地址，此时三层交换机具有路由器的功能。配置命令单独显示</a:t>
            </a:r>
            <a:endParaRPr lang="en-US" altLang="zh-CN" dirty="0" smtClean="0"/>
          </a:p>
          <a:p>
            <a:r>
              <a:rPr lang="zh-CN" altLang="en-US" dirty="0" smtClean="0"/>
              <a:t>配置静态路由的命令单独显示</a:t>
            </a:r>
            <a:endParaRPr lang="en-US" altLang="zh-CN" dirty="0" smtClean="0"/>
          </a:p>
          <a:p>
            <a:r>
              <a:rPr lang="zh-CN" altLang="en-US" dirty="0" smtClean="0"/>
              <a:t>查看路由表的命令单独显示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3961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删除路由命令单独显示</a:t>
            </a:r>
            <a:endParaRPr lang="en-US" altLang="zh-CN" dirty="0" smtClean="0"/>
          </a:p>
          <a:p>
            <a:r>
              <a:rPr lang="zh-CN" altLang="en-US" dirty="0" smtClean="0"/>
              <a:t>配置缺省路由单独显示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481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 flipH="1">
            <a:off x="1143000" y="2422525"/>
            <a:ext cx="800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2009775" y="2425700"/>
            <a:ext cx="0" cy="27463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7938" y="0"/>
            <a:ext cx="9151938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7451725" cy="549275"/>
          </a:xfrm>
          <a:prstGeom prst="rect">
            <a:avLst/>
          </a:prstGeom>
          <a:solidFill>
            <a:srgbClr val="C30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zh-CN" altLang="en-US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北航计算机网络实验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763" y="6742113"/>
            <a:ext cx="8599487" cy="71437"/>
          </a:xfrm>
          <a:prstGeom prst="rect">
            <a:avLst/>
          </a:prstGeom>
          <a:solidFill>
            <a:srgbClr val="E8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1113" y="6811963"/>
            <a:ext cx="9140825" cy="73025"/>
          </a:xfrm>
          <a:prstGeom prst="rect">
            <a:avLst/>
          </a:prstGeom>
          <a:solidFill>
            <a:srgbClr val="C956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588" y="6577013"/>
            <a:ext cx="8597900" cy="165100"/>
          </a:xfrm>
          <a:prstGeom prst="rect">
            <a:avLst/>
          </a:prstGeom>
          <a:solidFill>
            <a:srgbClr val="FCC2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468313" y="2852738"/>
            <a:ext cx="80645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0" y="4149725"/>
            <a:ext cx="755650" cy="3667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800" smtClean="0">
              <a:latin typeface="Arial" charset="0"/>
              <a:ea typeface="宋体" pitchFamily="2" charset="-122"/>
            </a:endParaRPr>
          </a:p>
        </p:txBody>
      </p:sp>
      <p:grpSp>
        <p:nvGrpSpPr>
          <p:cNvPr id="12" name="Group 12"/>
          <p:cNvGrpSpPr>
            <a:grpSpLocks/>
          </p:cNvGrpSpPr>
          <p:nvPr/>
        </p:nvGrpSpPr>
        <p:grpSpPr bwMode="auto">
          <a:xfrm>
            <a:off x="7596188" y="188913"/>
            <a:ext cx="1338262" cy="2189162"/>
            <a:chOff x="4704" y="1885"/>
            <a:chExt cx="843" cy="1379"/>
          </a:xfrm>
        </p:grpSpPr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27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28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1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2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5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36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37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38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Oval 39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Oval 40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41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Oval 42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Oval 43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7451725" y="0"/>
            <a:ext cx="0" cy="54451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692150"/>
            <a:ext cx="7696200" cy="1524000"/>
          </a:xfrm>
        </p:spPr>
        <p:txBody>
          <a:bodyPr lIns="91440" tIns="0" bIns="0" anchor="b"/>
          <a:lstStyle>
            <a:lvl1pPr>
              <a:lnSpc>
                <a:spcPct val="85000"/>
              </a:lnSpc>
              <a:defRPr sz="54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21284676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28413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810823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484313"/>
            <a:ext cx="395605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9638" y="1484313"/>
            <a:ext cx="395605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2882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7758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64985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820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5995394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8086239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18352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9563" y="417513"/>
            <a:ext cx="2016125" cy="596423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417513"/>
            <a:ext cx="5895975" cy="59642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9975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417513"/>
            <a:ext cx="8064500" cy="9239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11188" y="1484313"/>
            <a:ext cx="8064500" cy="4897437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315509483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417513"/>
            <a:ext cx="8064500" cy="9239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484313"/>
            <a:ext cx="3956050" cy="48974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9638" y="1484313"/>
            <a:ext cx="3956050" cy="48974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38206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51938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417513"/>
            <a:ext cx="80645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主标题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484313"/>
            <a:ext cx="8064500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 </a:t>
            </a:r>
            <a:r>
              <a:rPr lang="zh-CN" altLang="en-US" smtClean="0"/>
              <a:t>主文本标题</a:t>
            </a:r>
          </a:p>
          <a:p>
            <a:pPr lvl="1"/>
            <a:r>
              <a:rPr lang="zh-CN" altLang="en-US" smtClean="0"/>
              <a:t>二级标题</a:t>
            </a:r>
            <a:endParaRPr lang="en-US" altLang="en-US" smtClean="0"/>
          </a:p>
          <a:p>
            <a:pPr lvl="2"/>
            <a:r>
              <a:rPr lang="zh-CN" altLang="en-US" smtClean="0"/>
              <a:t>三级标题</a:t>
            </a:r>
            <a:endParaRPr lang="en-US" altLang="en-US" smtClean="0"/>
          </a:p>
          <a:p>
            <a:pPr lvl="3"/>
            <a:r>
              <a:rPr lang="zh-CN" altLang="en-US" smtClean="0"/>
              <a:t>四级标题</a:t>
            </a:r>
            <a:endParaRPr lang="en-US" altLang="en-US" smtClean="0"/>
          </a:p>
          <a:p>
            <a:pPr lvl="4"/>
            <a:r>
              <a:rPr lang="zh-CN" altLang="en-US" smtClean="0"/>
              <a:t>五级标题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7380288" cy="333375"/>
          </a:xfrm>
          <a:prstGeom prst="rect">
            <a:avLst/>
          </a:prstGeom>
          <a:solidFill>
            <a:srgbClr val="C30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zh-CN" altLang="en-US" sz="2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北航计算机网络实验</a:t>
            </a: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763" y="6742113"/>
            <a:ext cx="8599487" cy="71437"/>
          </a:xfrm>
          <a:prstGeom prst="rect">
            <a:avLst/>
          </a:prstGeom>
          <a:solidFill>
            <a:srgbClr val="E8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1113" y="6811963"/>
            <a:ext cx="9140825" cy="73025"/>
          </a:xfrm>
          <a:prstGeom prst="rect">
            <a:avLst/>
          </a:prstGeom>
          <a:solidFill>
            <a:srgbClr val="C956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588" y="6577013"/>
            <a:ext cx="8597900" cy="165100"/>
          </a:xfrm>
          <a:prstGeom prst="rect">
            <a:avLst/>
          </a:prstGeom>
          <a:solidFill>
            <a:srgbClr val="FCC2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8532813" y="6524625"/>
            <a:ext cx="576262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fld id="{8FECF948-4B9C-4C1F-AD3C-BBA043649D44}" type="slidenum">
              <a:rPr lang="en-US" altLang="zh-CN" sz="1400" b="0" smtClean="0">
                <a:solidFill>
                  <a:srgbClr val="000099"/>
                </a:solidFill>
                <a:latin typeface="Arial" charset="0"/>
                <a:ea typeface="宋体" pitchFamily="2" charset="-122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en-US" altLang="zh-CN" sz="1400" b="0" smtClean="0">
              <a:solidFill>
                <a:srgbClr val="000099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 flipV="1">
            <a:off x="611188" y="1125538"/>
            <a:ext cx="80645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484438" y="0"/>
            <a:ext cx="217487" cy="3667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800" smtClean="0">
              <a:latin typeface="Arial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9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80000"/>
        <a:buFont typeface="Wingdings" pitchFamily="2" charset="2"/>
        <a:buChar char="p"/>
        <a:defRPr sz="32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8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–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544" y="1196752"/>
            <a:ext cx="7696200" cy="1524000"/>
          </a:xfrm>
        </p:spPr>
        <p:txBody>
          <a:bodyPr/>
          <a:lstStyle/>
          <a:p>
            <a:r>
              <a:rPr lang="zh-CN" altLang="zh-CN" dirty="0">
                <a:solidFill>
                  <a:srgbClr val="C00000"/>
                </a:solidFill>
              </a:rPr>
              <a:t>静态路由的配置实验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2471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17513"/>
            <a:ext cx="8064500" cy="708025"/>
          </a:xfrm>
        </p:spPr>
        <p:txBody>
          <a:bodyPr/>
          <a:lstStyle/>
          <a:p>
            <a:pPr eaLnBrk="1" hangingPunct="1"/>
            <a:r>
              <a:rPr lang="zh-CN" altLang="en-US" sz="4000" dirty="0" smtClean="0">
                <a:ea typeface="宋体" pitchFamily="2" charset="-122"/>
              </a:rPr>
              <a:t>静态路由的三要素</a:t>
            </a:r>
          </a:p>
        </p:txBody>
      </p:sp>
      <p:graphicFrame>
        <p:nvGraphicFramePr>
          <p:cNvPr id="10345" name="Group 105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189378687"/>
              </p:ext>
            </p:extLst>
          </p:nvPr>
        </p:nvGraphicFramePr>
        <p:xfrm>
          <a:off x="1081088" y="3789040"/>
          <a:ext cx="7770986" cy="1350962"/>
        </p:xfrm>
        <a:graphic>
          <a:graphicData uri="http://schemas.openxmlformats.org/drawingml/2006/table">
            <a:tbl>
              <a:tblPr/>
              <a:tblGrid>
                <a:gridCol w="2164867"/>
                <a:gridCol w="994712"/>
                <a:gridCol w="1113820"/>
                <a:gridCol w="1113820"/>
                <a:gridCol w="1578984"/>
                <a:gridCol w="804783"/>
              </a:tblGrid>
              <a:tr h="822551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目的地址</a:t>
                      </a:r>
                    </a:p>
                  </a:txBody>
                  <a:tcPr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协议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优先级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度量值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下一跳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接口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411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202.112.130.0</a:t>
                      </a:r>
                    </a:p>
                  </a:txBody>
                  <a:tcPr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static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S1</a:t>
                      </a:r>
                      <a:r>
                        <a:rPr kumimoji="0" lang="zh-CN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（</a:t>
                      </a:r>
                      <a:r>
                        <a:rPr kumimoji="0" lang="en-US" altLang="zh-CN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R2</a:t>
                      </a:r>
                      <a:r>
                        <a:rPr kumimoji="0" lang="zh-CN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）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S0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Group 10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26209894"/>
              </p:ext>
            </p:extLst>
          </p:nvPr>
        </p:nvGraphicFramePr>
        <p:xfrm>
          <a:off x="1081088" y="5300663"/>
          <a:ext cx="7773987" cy="1350962"/>
        </p:xfrm>
        <a:graphic>
          <a:graphicData uri="http://schemas.openxmlformats.org/drawingml/2006/table">
            <a:tbl>
              <a:tblPr/>
              <a:tblGrid>
                <a:gridCol w="2165703"/>
                <a:gridCol w="995096"/>
                <a:gridCol w="1114250"/>
                <a:gridCol w="1114250"/>
                <a:gridCol w="1579594"/>
                <a:gridCol w="805094"/>
              </a:tblGrid>
              <a:tr h="822551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目的地址</a:t>
                      </a:r>
                    </a:p>
                  </a:txBody>
                  <a:tcPr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协议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优先级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度量值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下一跳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接口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411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202.112.130.0</a:t>
                      </a:r>
                    </a:p>
                  </a:txBody>
                  <a:tcPr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static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1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S1</a:t>
                      </a:r>
                      <a:r>
                        <a:rPr kumimoji="0" lang="zh-CN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（</a:t>
                      </a:r>
                      <a:r>
                        <a:rPr kumimoji="0" lang="en-US" altLang="zh-CN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R3</a:t>
                      </a:r>
                      <a:r>
                        <a:rPr kumimoji="0" lang="zh-CN" alt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）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S0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368" name="Rectangle 56"/>
          <p:cNvSpPr>
            <a:spLocks noChangeArrowheads="1"/>
          </p:cNvSpPr>
          <p:nvPr/>
        </p:nvSpPr>
        <p:spPr bwMode="auto">
          <a:xfrm>
            <a:off x="0" y="3933056"/>
            <a:ext cx="111561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zh-CN" altLang="en-US" sz="2000" b="1" dirty="0">
                <a:latin typeface="Arial" charset="0"/>
                <a:ea typeface="宋体" pitchFamily="2" charset="-122"/>
              </a:rPr>
              <a:t>路由器</a:t>
            </a:r>
            <a:r>
              <a:rPr lang="en-US" altLang="zh-CN" b="1" dirty="0" smtClean="0">
                <a:solidFill>
                  <a:srgbClr val="C00000"/>
                </a:solidFill>
                <a:latin typeface="Arial" charset="0"/>
                <a:ea typeface="宋体" pitchFamily="2" charset="-122"/>
              </a:rPr>
              <a:t>R1</a:t>
            </a:r>
            <a:r>
              <a:rPr lang="zh-CN" altLang="en-US" sz="2000" b="1" dirty="0" smtClean="0">
                <a:latin typeface="Arial" charset="0"/>
                <a:ea typeface="宋体" pitchFamily="2" charset="-122"/>
              </a:rPr>
              <a:t>的</a:t>
            </a:r>
            <a:r>
              <a:rPr lang="zh-CN" altLang="en-US" sz="2000" b="1" dirty="0">
                <a:latin typeface="Arial" charset="0"/>
                <a:ea typeface="宋体" pitchFamily="2" charset="-122"/>
              </a:rPr>
              <a:t>路由信息</a:t>
            </a:r>
          </a:p>
        </p:txBody>
      </p:sp>
      <p:grpSp>
        <p:nvGrpSpPr>
          <p:cNvPr id="10267" name="Group 106"/>
          <p:cNvGrpSpPr>
            <a:grpSpLocks/>
          </p:cNvGrpSpPr>
          <p:nvPr/>
        </p:nvGrpSpPr>
        <p:grpSpPr bwMode="auto">
          <a:xfrm>
            <a:off x="74612" y="1370012"/>
            <a:ext cx="8855075" cy="2273300"/>
            <a:chOff x="0" y="1570"/>
            <a:chExt cx="5578" cy="1432"/>
          </a:xfrm>
        </p:grpSpPr>
        <p:pic>
          <p:nvPicPr>
            <p:cNvPr id="10269" name="Picture 3" descr="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1710"/>
              <a:ext cx="635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0" name="Line 4"/>
            <p:cNvSpPr>
              <a:spLocks noChangeShapeType="1"/>
            </p:cNvSpPr>
            <p:nvPr/>
          </p:nvSpPr>
          <p:spPr bwMode="auto">
            <a:xfrm flipV="1">
              <a:off x="295" y="1975"/>
              <a:ext cx="772" cy="658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271" name="Picture 5" descr="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7" y="1726"/>
              <a:ext cx="63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2" name="Line 6"/>
            <p:cNvSpPr>
              <a:spLocks noChangeShapeType="1"/>
            </p:cNvSpPr>
            <p:nvPr/>
          </p:nvSpPr>
          <p:spPr bwMode="auto">
            <a:xfrm flipH="1" flipV="1">
              <a:off x="4558" y="2024"/>
              <a:ext cx="716" cy="677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3" name="Line 7"/>
            <p:cNvSpPr>
              <a:spLocks noChangeShapeType="1"/>
            </p:cNvSpPr>
            <p:nvPr/>
          </p:nvSpPr>
          <p:spPr bwMode="auto">
            <a:xfrm flipH="1" flipV="1">
              <a:off x="1634" y="1862"/>
              <a:ext cx="907" cy="0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4" name="Rectangle 8"/>
            <p:cNvSpPr>
              <a:spLocks noChangeArrowheads="1"/>
            </p:cNvSpPr>
            <p:nvPr/>
          </p:nvSpPr>
          <p:spPr bwMode="auto">
            <a:xfrm>
              <a:off x="0" y="2432"/>
              <a:ext cx="167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zh-CN" altLang="en-US" sz="2000" dirty="0">
                  <a:latin typeface="Arial" charset="0"/>
                  <a:ea typeface="宋体" pitchFamily="2" charset="-122"/>
                </a:rPr>
                <a:t>子网：</a:t>
              </a:r>
            </a:p>
            <a:p>
              <a:pPr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 sz="2000" dirty="0">
                  <a:latin typeface="Arial" charset="0"/>
                  <a:ea typeface="宋体" pitchFamily="2" charset="-122"/>
                </a:rPr>
                <a:t>202.112.138.0/24</a:t>
              </a:r>
            </a:p>
          </p:txBody>
        </p:sp>
        <p:sp>
          <p:nvSpPr>
            <p:cNvPr id="10275" name="Rectangle 9"/>
            <p:cNvSpPr>
              <a:spLocks noChangeArrowheads="1"/>
            </p:cNvSpPr>
            <p:nvPr/>
          </p:nvSpPr>
          <p:spPr bwMode="auto">
            <a:xfrm>
              <a:off x="4150" y="2522"/>
              <a:ext cx="14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zh-CN" altLang="en-US" sz="2000" dirty="0">
                  <a:latin typeface="Arial" charset="0"/>
                  <a:ea typeface="宋体" pitchFamily="2" charset="-122"/>
                </a:rPr>
                <a:t>子网：</a:t>
              </a:r>
            </a:p>
            <a:p>
              <a:pPr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 sz="2000" dirty="0">
                  <a:latin typeface="Arial" charset="0"/>
                  <a:ea typeface="宋体" pitchFamily="2" charset="-122"/>
                </a:rPr>
                <a:t>202.112.130.0/24</a:t>
              </a:r>
            </a:p>
          </p:txBody>
        </p:sp>
        <p:sp>
          <p:nvSpPr>
            <p:cNvPr id="10276" name="Rectangle 10"/>
            <p:cNvSpPr>
              <a:spLocks noChangeArrowheads="1"/>
            </p:cNvSpPr>
            <p:nvPr/>
          </p:nvSpPr>
          <p:spPr bwMode="auto">
            <a:xfrm>
              <a:off x="1156" y="2090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42925" indent="-542925"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>
                  <a:latin typeface="Arial" charset="0"/>
                  <a:ea typeface="宋体" pitchFamily="2" charset="-122"/>
                </a:rPr>
                <a:t>R1</a:t>
              </a:r>
            </a:p>
          </p:txBody>
        </p:sp>
        <p:sp>
          <p:nvSpPr>
            <p:cNvPr id="10277" name="Rectangle 11"/>
            <p:cNvSpPr>
              <a:spLocks noChangeArrowheads="1"/>
            </p:cNvSpPr>
            <p:nvPr/>
          </p:nvSpPr>
          <p:spPr bwMode="auto">
            <a:xfrm>
              <a:off x="2699" y="2135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42925" indent="-542925"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>
                  <a:latin typeface="Arial" charset="0"/>
                  <a:ea typeface="宋体" pitchFamily="2" charset="-122"/>
                </a:rPr>
                <a:t>R2</a:t>
              </a:r>
            </a:p>
          </p:txBody>
        </p:sp>
        <p:sp>
          <p:nvSpPr>
            <p:cNvPr id="10278" name="Text Box 57" descr="蓝色砂纸"/>
            <p:cNvSpPr txBox="1">
              <a:spLocks noChangeArrowheads="1"/>
            </p:cNvSpPr>
            <p:nvPr/>
          </p:nvSpPr>
          <p:spPr bwMode="auto">
            <a:xfrm>
              <a:off x="1519" y="1570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仿宋_GB2312" pitchFamily="49" charset="-122"/>
                  <a:ea typeface="仿宋_GB2312" pitchFamily="49" charset="-122"/>
                </a:rPr>
                <a:t>S0</a:t>
              </a:r>
            </a:p>
          </p:txBody>
        </p:sp>
        <p:sp>
          <p:nvSpPr>
            <p:cNvPr id="10279" name="Text Box 58" descr="蓝色砂纸"/>
            <p:cNvSpPr txBox="1">
              <a:spLocks noChangeArrowheads="1"/>
            </p:cNvSpPr>
            <p:nvPr/>
          </p:nvSpPr>
          <p:spPr bwMode="auto">
            <a:xfrm>
              <a:off x="2245" y="1570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S1</a:t>
              </a:r>
            </a:p>
          </p:txBody>
        </p:sp>
        <p:pic>
          <p:nvPicPr>
            <p:cNvPr id="10280" name="Picture 5" descr="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9" y="1751"/>
              <a:ext cx="63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Line 7"/>
            <p:cNvSpPr>
              <a:spLocks noChangeShapeType="1"/>
            </p:cNvSpPr>
            <p:nvPr/>
          </p:nvSpPr>
          <p:spPr bwMode="auto">
            <a:xfrm flipH="1" flipV="1">
              <a:off x="3130" y="1862"/>
              <a:ext cx="907" cy="0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2" name="Text Box 57" descr="蓝色砂纸"/>
            <p:cNvSpPr txBox="1">
              <a:spLocks noChangeArrowheads="1"/>
            </p:cNvSpPr>
            <p:nvPr/>
          </p:nvSpPr>
          <p:spPr bwMode="auto">
            <a:xfrm>
              <a:off x="3015" y="1570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S0</a:t>
              </a:r>
            </a:p>
          </p:txBody>
        </p:sp>
        <p:sp>
          <p:nvSpPr>
            <p:cNvPr id="10283" name="Text Box 58" descr="蓝色砂纸"/>
            <p:cNvSpPr txBox="1">
              <a:spLocks noChangeArrowheads="1"/>
            </p:cNvSpPr>
            <p:nvPr/>
          </p:nvSpPr>
          <p:spPr bwMode="auto">
            <a:xfrm>
              <a:off x="3741" y="1570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S1</a:t>
              </a:r>
            </a:p>
          </p:txBody>
        </p:sp>
        <p:sp>
          <p:nvSpPr>
            <p:cNvPr id="10284" name="Text Box 57" descr="蓝色砂纸"/>
            <p:cNvSpPr txBox="1">
              <a:spLocks noChangeArrowheads="1"/>
            </p:cNvSpPr>
            <p:nvPr/>
          </p:nvSpPr>
          <p:spPr bwMode="auto">
            <a:xfrm>
              <a:off x="703" y="1781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E0</a:t>
              </a:r>
            </a:p>
          </p:txBody>
        </p:sp>
        <p:sp>
          <p:nvSpPr>
            <p:cNvPr id="10285" name="Text Box 57" descr="蓝色砂纸"/>
            <p:cNvSpPr txBox="1">
              <a:spLocks noChangeArrowheads="1"/>
            </p:cNvSpPr>
            <p:nvPr/>
          </p:nvSpPr>
          <p:spPr bwMode="auto">
            <a:xfrm>
              <a:off x="4512" y="1827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E1</a:t>
              </a:r>
            </a:p>
          </p:txBody>
        </p:sp>
        <p:sp>
          <p:nvSpPr>
            <p:cNvPr id="10286" name="Rectangle 11"/>
            <p:cNvSpPr>
              <a:spLocks noChangeArrowheads="1"/>
            </p:cNvSpPr>
            <p:nvPr/>
          </p:nvSpPr>
          <p:spPr bwMode="auto">
            <a:xfrm>
              <a:off x="4150" y="2115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42925" indent="-542925"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>
                  <a:latin typeface="Arial" charset="0"/>
                  <a:ea typeface="宋体" pitchFamily="2" charset="-122"/>
                </a:rPr>
                <a:t>R3</a:t>
              </a:r>
            </a:p>
          </p:txBody>
        </p:sp>
      </p:grpSp>
      <p:sp>
        <p:nvSpPr>
          <p:cNvPr id="24" name="Rectangle 56"/>
          <p:cNvSpPr>
            <a:spLocks noChangeArrowheads="1"/>
          </p:cNvSpPr>
          <p:nvPr/>
        </p:nvSpPr>
        <p:spPr bwMode="auto">
          <a:xfrm>
            <a:off x="0" y="5517232"/>
            <a:ext cx="111561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zh-CN" altLang="en-US" sz="2000" b="1" dirty="0">
                <a:latin typeface="Arial" charset="0"/>
                <a:ea typeface="宋体" pitchFamily="2" charset="-122"/>
              </a:rPr>
              <a:t>路由器</a:t>
            </a:r>
            <a:r>
              <a:rPr lang="en-US" altLang="zh-CN" b="1" dirty="0" smtClean="0">
                <a:solidFill>
                  <a:srgbClr val="C00000"/>
                </a:solidFill>
                <a:latin typeface="Arial" charset="0"/>
                <a:ea typeface="宋体" pitchFamily="2" charset="-122"/>
              </a:rPr>
              <a:t>R2</a:t>
            </a:r>
            <a:r>
              <a:rPr lang="zh-CN" altLang="en-US" sz="2000" b="1" dirty="0" smtClean="0">
                <a:latin typeface="Arial" charset="0"/>
                <a:ea typeface="宋体" pitchFamily="2" charset="-122"/>
              </a:rPr>
              <a:t>的</a:t>
            </a:r>
            <a:r>
              <a:rPr lang="zh-CN" altLang="en-US" sz="2000" b="1" dirty="0">
                <a:latin typeface="Arial" charset="0"/>
                <a:ea typeface="宋体" pitchFamily="2" charset="-122"/>
              </a:rPr>
              <a:t>路由信息</a:t>
            </a:r>
          </a:p>
        </p:txBody>
      </p:sp>
    </p:spTree>
    <p:extLst>
      <p:ext uri="{BB962C8B-B14F-4D97-AF65-F5344CB8AC3E}">
        <p14:creationId xmlns:p14="http://schemas.microsoft.com/office/powerpoint/2010/main" val="42447263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8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17513"/>
            <a:ext cx="8064500" cy="708025"/>
          </a:xfrm>
        </p:spPr>
        <p:txBody>
          <a:bodyPr/>
          <a:lstStyle/>
          <a:p>
            <a:pPr eaLnBrk="1" hangingPunct="1"/>
            <a:r>
              <a:rPr lang="zh-CN" altLang="en-US" sz="4000" dirty="0" smtClean="0">
                <a:ea typeface="宋体" pitchFamily="2" charset="-122"/>
              </a:rPr>
              <a:t>静态路由的三要素</a:t>
            </a:r>
          </a:p>
        </p:txBody>
      </p:sp>
      <p:graphicFrame>
        <p:nvGraphicFramePr>
          <p:cNvPr id="10345" name="Group 105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515416150"/>
              </p:ext>
            </p:extLst>
          </p:nvPr>
        </p:nvGraphicFramePr>
        <p:xfrm>
          <a:off x="1187624" y="3789040"/>
          <a:ext cx="7664450" cy="1351275"/>
        </p:xfrm>
        <a:graphic>
          <a:graphicData uri="http://schemas.openxmlformats.org/drawingml/2006/table">
            <a:tbl>
              <a:tblPr/>
              <a:tblGrid>
                <a:gridCol w="2135188"/>
                <a:gridCol w="981075"/>
                <a:gridCol w="1098550"/>
                <a:gridCol w="1098550"/>
                <a:gridCol w="1557337"/>
                <a:gridCol w="793750"/>
              </a:tblGrid>
              <a:tr h="822551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目的地址</a:t>
                      </a:r>
                    </a:p>
                  </a:txBody>
                  <a:tcPr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协议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优先级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度量值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下一跳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接口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411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202.112.138.0</a:t>
                      </a:r>
                    </a:p>
                  </a:txBody>
                  <a:tcPr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static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S0</a:t>
                      </a: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R2</a:t>
                      </a: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S1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Group 10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78260791"/>
              </p:ext>
            </p:extLst>
          </p:nvPr>
        </p:nvGraphicFramePr>
        <p:xfrm>
          <a:off x="1187623" y="5300663"/>
          <a:ext cx="7667451" cy="1351275"/>
        </p:xfrm>
        <a:graphic>
          <a:graphicData uri="http://schemas.openxmlformats.org/drawingml/2006/table">
            <a:tbl>
              <a:tblPr/>
              <a:tblGrid>
                <a:gridCol w="2160241"/>
                <a:gridCol w="1008112"/>
                <a:gridCol w="1015880"/>
                <a:gridCol w="1109244"/>
                <a:gridCol w="1572497"/>
                <a:gridCol w="801477"/>
              </a:tblGrid>
              <a:tr h="822551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目的地址</a:t>
                      </a:r>
                    </a:p>
                  </a:txBody>
                  <a:tcPr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协议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优先级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度量值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下一跳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接口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411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202.112.138.0</a:t>
                      </a:r>
                    </a:p>
                  </a:txBody>
                  <a:tcPr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static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S0</a:t>
                      </a: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R1</a:t>
                      </a: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8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8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S1</a:t>
                      </a: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368" name="Rectangle 56"/>
          <p:cNvSpPr>
            <a:spLocks noChangeArrowheads="1"/>
          </p:cNvSpPr>
          <p:nvPr/>
        </p:nvSpPr>
        <p:spPr bwMode="auto">
          <a:xfrm>
            <a:off x="0" y="3933056"/>
            <a:ext cx="1115616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zh-CN" altLang="en-US" sz="2000" b="1" dirty="0">
                <a:latin typeface="Arial" charset="0"/>
                <a:ea typeface="宋体" pitchFamily="2" charset="-122"/>
              </a:rPr>
              <a:t>路由器</a:t>
            </a:r>
            <a:r>
              <a:rPr lang="en-US" altLang="zh-CN" sz="2000" b="1" dirty="0" smtClean="0">
                <a:solidFill>
                  <a:srgbClr val="C00000"/>
                </a:solidFill>
                <a:latin typeface="Arial" charset="0"/>
                <a:ea typeface="宋体" pitchFamily="2" charset="-122"/>
              </a:rPr>
              <a:t>R3</a:t>
            </a:r>
            <a:r>
              <a:rPr lang="zh-CN" altLang="en-US" sz="2000" b="1" dirty="0" smtClean="0">
                <a:latin typeface="Arial" charset="0"/>
                <a:ea typeface="宋体" pitchFamily="2" charset="-122"/>
              </a:rPr>
              <a:t>的</a:t>
            </a:r>
            <a:r>
              <a:rPr lang="zh-CN" altLang="en-US" sz="2000" b="1" dirty="0">
                <a:latin typeface="Arial" charset="0"/>
                <a:ea typeface="宋体" pitchFamily="2" charset="-122"/>
              </a:rPr>
              <a:t>路由信息</a:t>
            </a:r>
          </a:p>
        </p:txBody>
      </p:sp>
      <p:grpSp>
        <p:nvGrpSpPr>
          <p:cNvPr id="2" name="Group 106"/>
          <p:cNvGrpSpPr>
            <a:grpSpLocks/>
          </p:cNvGrpSpPr>
          <p:nvPr/>
        </p:nvGrpSpPr>
        <p:grpSpPr bwMode="auto">
          <a:xfrm>
            <a:off x="0" y="1412874"/>
            <a:ext cx="8855075" cy="2273300"/>
            <a:chOff x="0" y="1570"/>
            <a:chExt cx="5578" cy="1432"/>
          </a:xfrm>
        </p:grpSpPr>
        <p:pic>
          <p:nvPicPr>
            <p:cNvPr id="10269" name="Picture 3" descr="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1710"/>
              <a:ext cx="635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0" name="Line 4"/>
            <p:cNvSpPr>
              <a:spLocks noChangeShapeType="1"/>
            </p:cNvSpPr>
            <p:nvPr/>
          </p:nvSpPr>
          <p:spPr bwMode="auto">
            <a:xfrm flipV="1">
              <a:off x="295" y="1975"/>
              <a:ext cx="772" cy="658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271" name="Picture 5" descr="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7" y="1726"/>
              <a:ext cx="63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2" name="Line 6"/>
            <p:cNvSpPr>
              <a:spLocks noChangeShapeType="1"/>
            </p:cNvSpPr>
            <p:nvPr/>
          </p:nvSpPr>
          <p:spPr bwMode="auto">
            <a:xfrm flipH="1" flipV="1">
              <a:off x="4558" y="2024"/>
              <a:ext cx="716" cy="677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3" name="Line 7"/>
            <p:cNvSpPr>
              <a:spLocks noChangeShapeType="1"/>
            </p:cNvSpPr>
            <p:nvPr/>
          </p:nvSpPr>
          <p:spPr bwMode="auto">
            <a:xfrm flipH="1" flipV="1">
              <a:off x="1634" y="1862"/>
              <a:ext cx="907" cy="0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4" name="Rectangle 8"/>
            <p:cNvSpPr>
              <a:spLocks noChangeArrowheads="1"/>
            </p:cNvSpPr>
            <p:nvPr/>
          </p:nvSpPr>
          <p:spPr bwMode="auto">
            <a:xfrm>
              <a:off x="0" y="2432"/>
              <a:ext cx="167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zh-CN" altLang="en-US" sz="2000" dirty="0">
                  <a:latin typeface="Arial" charset="0"/>
                  <a:ea typeface="宋体" pitchFamily="2" charset="-122"/>
                </a:rPr>
                <a:t>子网：</a:t>
              </a:r>
            </a:p>
            <a:p>
              <a:pPr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 sz="2000" dirty="0">
                  <a:latin typeface="Arial" charset="0"/>
                  <a:ea typeface="宋体" pitchFamily="2" charset="-122"/>
                </a:rPr>
                <a:t>202.112.138.0/24</a:t>
              </a:r>
            </a:p>
          </p:txBody>
        </p:sp>
        <p:sp>
          <p:nvSpPr>
            <p:cNvPr id="10275" name="Rectangle 9"/>
            <p:cNvSpPr>
              <a:spLocks noChangeArrowheads="1"/>
            </p:cNvSpPr>
            <p:nvPr/>
          </p:nvSpPr>
          <p:spPr bwMode="auto">
            <a:xfrm>
              <a:off x="4150" y="2522"/>
              <a:ext cx="14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zh-CN" altLang="en-US" sz="2000" dirty="0">
                  <a:latin typeface="Arial" charset="0"/>
                  <a:ea typeface="宋体" pitchFamily="2" charset="-122"/>
                </a:rPr>
                <a:t>子网：</a:t>
              </a:r>
            </a:p>
            <a:p>
              <a:pPr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 sz="2000" dirty="0">
                  <a:latin typeface="Arial" charset="0"/>
                  <a:ea typeface="宋体" pitchFamily="2" charset="-122"/>
                </a:rPr>
                <a:t>202.112.130.0/24</a:t>
              </a:r>
            </a:p>
          </p:txBody>
        </p:sp>
        <p:sp>
          <p:nvSpPr>
            <p:cNvPr id="10276" name="Rectangle 10"/>
            <p:cNvSpPr>
              <a:spLocks noChangeArrowheads="1"/>
            </p:cNvSpPr>
            <p:nvPr/>
          </p:nvSpPr>
          <p:spPr bwMode="auto">
            <a:xfrm>
              <a:off x="1156" y="2090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42925" indent="-542925"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>
                  <a:latin typeface="Arial" charset="0"/>
                  <a:ea typeface="宋体" pitchFamily="2" charset="-122"/>
                </a:rPr>
                <a:t>R1</a:t>
              </a:r>
            </a:p>
          </p:txBody>
        </p:sp>
        <p:sp>
          <p:nvSpPr>
            <p:cNvPr id="10277" name="Rectangle 11"/>
            <p:cNvSpPr>
              <a:spLocks noChangeArrowheads="1"/>
            </p:cNvSpPr>
            <p:nvPr/>
          </p:nvSpPr>
          <p:spPr bwMode="auto">
            <a:xfrm>
              <a:off x="2699" y="2135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42925" indent="-542925"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>
                  <a:latin typeface="Arial" charset="0"/>
                  <a:ea typeface="宋体" pitchFamily="2" charset="-122"/>
                </a:rPr>
                <a:t>R2</a:t>
              </a:r>
            </a:p>
          </p:txBody>
        </p:sp>
        <p:sp>
          <p:nvSpPr>
            <p:cNvPr id="10278" name="Text Box 57" descr="蓝色砂纸"/>
            <p:cNvSpPr txBox="1">
              <a:spLocks noChangeArrowheads="1"/>
            </p:cNvSpPr>
            <p:nvPr/>
          </p:nvSpPr>
          <p:spPr bwMode="auto">
            <a:xfrm>
              <a:off x="1519" y="1570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S0</a:t>
              </a:r>
            </a:p>
          </p:txBody>
        </p:sp>
        <p:sp>
          <p:nvSpPr>
            <p:cNvPr id="10279" name="Text Box 58" descr="蓝色砂纸"/>
            <p:cNvSpPr txBox="1">
              <a:spLocks noChangeArrowheads="1"/>
            </p:cNvSpPr>
            <p:nvPr/>
          </p:nvSpPr>
          <p:spPr bwMode="auto">
            <a:xfrm>
              <a:off x="2245" y="1570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S1</a:t>
              </a:r>
            </a:p>
          </p:txBody>
        </p:sp>
        <p:pic>
          <p:nvPicPr>
            <p:cNvPr id="10280" name="Picture 5" descr="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9" y="1751"/>
              <a:ext cx="63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Line 7"/>
            <p:cNvSpPr>
              <a:spLocks noChangeShapeType="1"/>
            </p:cNvSpPr>
            <p:nvPr/>
          </p:nvSpPr>
          <p:spPr bwMode="auto">
            <a:xfrm flipH="1" flipV="1">
              <a:off x="3130" y="1862"/>
              <a:ext cx="907" cy="0"/>
            </a:xfrm>
            <a:prstGeom prst="line">
              <a:avLst/>
            </a:prstGeom>
            <a:noFill/>
            <a:ln w="38100">
              <a:solidFill>
                <a:srgbClr val="E7B70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2" name="Text Box 57" descr="蓝色砂纸"/>
            <p:cNvSpPr txBox="1">
              <a:spLocks noChangeArrowheads="1"/>
            </p:cNvSpPr>
            <p:nvPr/>
          </p:nvSpPr>
          <p:spPr bwMode="auto">
            <a:xfrm>
              <a:off x="3015" y="1570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S0</a:t>
              </a:r>
            </a:p>
          </p:txBody>
        </p:sp>
        <p:sp>
          <p:nvSpPr>
            <p:cNvPr id="10283" name="Text Box 58" descr="蓝色砂纸"/>
            <p:cNvSpPr txBox="1">
              <a:spLocks noChangeArrowheads="1"/>
            </p:cNvSpPr>
            <p:nvPr/>
          </p:nvSpPr>
          <p:spPr bwMode="auto">
            <a:xfrm>
              <a:off x="3741" y="1570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S1</a:t>
              </a:r>
            </a:p>
          </p:txBody>
        </p:sp>
        <p:sp>
          <p:nvSpPr>
            <p:cNvPr id="10284" name="Text Box 57" descr="蓝色砂纸"/>
            <p:cNvSpPr txBox="1">
              <a:spLocks noChangeArrowheads="1"/>
            </p:cNvSpPr>
            <p:nvPr/>
          </p:nvSpPr>
          <p:spPr bwMode="auto">
            <a:xfrm>
              <a:off x="703" y="1781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E0</a:t>
              </a:r>
            </a:p>
          </p:txBody>
        </p:sp>
        <p:sp>
          <p:nvSpPr>
            <p:cNvPr id="10285" name="Text Box 57" descr="蓝色砂纸"/>
            <p:cNvSpPr txBox="1">
              <a:spLocks noChangeArrowheads="1"/>
            </p:cNvSpPr>
            <p:nvPr/>
          </p:nvSpPr>
          <p:spPr bwMode="auto">
            <a:xfrm>
              <a:off x="4512" y="1827"/>
              <a:ext cx="4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仿宋_GB2312" pitchFamily="49" charset="-122"/>
                  <a:ea typeface="仿宋_GB2312" pitchFamily="49" charset="-122"/>
                </a:rPr>
                <a:t>E1</a:t>
              </a:r>
            </a:p>
          </p:txBody>
        </p:sp>
        <p:sp>
          <p:nvSpPr>
            <p:cNvPr id="10286" name="Rectangle 11"/>
            <p:cNvSpPr>
              <a:spLocks noChangeArrowheads="1"/>
            </p:cNvSpPr>
            <p:nvPr/>
          </p:nvSpPr>
          <p:spPr bwMode="auto">
            <a:xfrm>
              <a:off x="4150" y="2115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42925" indent="-542925" algn="l">
                <a:spcBef>
                  <a:spcPct val="20000"/>
                </a:spcBef>
                <a:buClr>
                  <a:schemeClr val="bg2"/>
                </a:buClr>
                <a:buSzPct val="90000"/>
                <a:buFont typeface="Wingdings" pitchFamily="2" charset="2"/>
                <a:buNone/>
              </a:pPr>
              <a:r>
                <a:rPr lang="en-US" altLang="zh-CN">
                  <a:latin typeface="Arial" charset="0"/>
                  <a:ea typeface="宋体" pitchFamily="2" charset="-122"/>
                </a:rPr>
                <a:t>R3</a:t>
              </a:r>
            </a:p>
          </p:txBody>
        </p:sp>
      </p:grpSp>
      <p:sp>
        <p:nvSpPr>
          <p:cNvPr id="24" name="Rectangle 56"/>
          <p:cNvSpPr>
            <a:spLocks noChangeArrowheads="1"/>
          </p:cNvSpPr>
          <p:nvPr/>
        </p:nvSpPr>
        <p:spPr bwMode="auto">
          <a:xfrm>
            <a:off x="0" y="5517232"/>
            <a:ext cx="1115616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90000"/>
              <a:buFont typeface="Wingdings" pitchFamily="2" charset="2"/>
              <a:buNone/>
            </a:pPr>
            <a:r>
              <a:rPr lang="zh-CN" altLang="en-US" sz="2000" b="1" dirty="0">
                <a:latin typeface="Arial" charset="0"/>
                <a:ea typeface="宋体" pitchFamily="2" charset="-122"/>
              </a:rPr>
              <a:t>路由器</a:t>
            </a:r>
            <a:r>
              <a:rPr lang="en-US" altLang="zh-CN" sz="2000" b="1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R2</a:t>
            </a:r>
            <a:r>
              <a:rPr lang="zh-CN" altLang="en-US" sz="2000" b="1" dirty="0">
                <a:latin typeface="Arial" charset="0"/>
                <a:ea typeface="宋体" pitchFamily="2" charset="-122"/>
              </a:rPr>
              <a:t>的</a:t>
            </a:r>
            <a:r>
              <a:rPr lang="zh-CN" altLang="en-US" sz="2000" b="1" dirty="0">
                <a:latin typeface="Arial" charset="0"/>
                <a:ea typeface="宋体" pitchFamily="2" charset="-122"/>
              </a:rPr>
              <a:t>路由信息</a:t>
            </a:r>
          </a:p>
        </p:txBody>
      </p:sp>
    </p:spTree>
    <p:extLst>
      <p:ext uri="{BB962C8B-B14F-4D97-AF65-F5344CB8AC3E}">
        <p14:creationId xmlns:p14="http://schemas.microsoft.com/office/powerpoint/2010/main" val="8003244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8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dirty="0">
                <a:ea typeface="宋体" pitchFamily="2" charset="-122"/>
              </a:rPr>
              <a:t>静态路由的配置方法</a:t>
            </a:r>
          </a:p>
        </p:txBody>
      </p:sp>
      <p:sp>
        <p:nvSpPr>
          <p:cNvPr id="4" name="Text Box 107" descr="蓝色砂纸"/>
          <p:cNvSpPr txBox="1">
            <a:spLocks noGrp="1" noChangeArrowheads="1"/>
          </p:cNvSpPr>
          <p:nvPr>
            <p:ph idx="1"/>
          </p:nvPr>
        </p:nvSpPr>
        <p:spPr bwMode="auto">
          <a:xfrm>
            <a:off x="287524" y="1916832"/>
            <a:ext cx="8676456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32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eaLnBrk="0" hangingPunct="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3600" dirty="0">
                <a:latin typeface="+mj-ea"/>
                <a:ea typeface="+mj-ea"/>
              </a:rPr>
              <a:t>静态路由配置命令</a:t>
            </a:r>
            <a:r>
              <a:rPr lang="zh-CN" altLang="en-US" sz="3600" dirty="0" smtClean="0">
                <a:latin typeface="+mj-ea"/>
                <a:ea typeface="+mj-ea"/>
              </a:rPr>
              <a:t>：</a:t>
            </a:r>
            <a:endParaRPr lang="zh-CN" altLang="en-US" sz="3600" dirty="0">
              <a:latin typeface="+mj-ea"/>
              <a:ea typeface="+mj-ea"/>
            </a:endParaRPr>
          </a:p>
          <a:p>
            <a:pPr algn="l">
              <a:buNone/>
            </a:pPr>
            <a:r>
              <a:rPr lang="en-US" altLang="zh-CN" sz="2400" dirty="0">
                <a:latin typeface="仿宋_GB2312" pitchFamily="49" charset="-122"/>
                <a:ea typeface="仿宋_GB2312" pitchFamily="49" charset="-122"/>
              </a:rPr>
              <a:t>[R1]</a:t>
            </a:r>
            <a:r>
              <a:rPr lang="en-US" altLang="zh-CN" sz="2400" dirty="0" err="1">
                <a:latin typeface="仿宋_GB2312" pitchFamily="49" charset="-122"/>
                <a:ea typeface="仿宋_GB2312" pitchFamily="49" charset="-122"/>
              </a:rPr>
              <a:t>ip</a:t>
            </a:r>
            <a:r>
              <a:rPr lang="en-US" altLang="zh-CN" sz="2400" dirty="0">
                <a:latin typeface="仿宋_GB2312" pitchFamily="49" charset="-122"/>
                <a:ea typeface="仿宋_GB2312" pitchFamily="49" charset="-122"/>
              </a:rPr>
              <a:t> route-static </a:t>
            </a:r>
            <a:r>
              <a:rPr lang="en-US" altLang="zh-CN" sz="2400" i="1" dirty="0">
                <a:solidFill>
                  <a:srgbClr val="33CC33"/>
                </a:solidFill>
                <a:latin typeface="仿宋_GB2312" pitchFamily="49" charset="-122"/>
                <a:ea typeface="仿宋_GB2312" pitchFamily="49" charset="-122"/>
              </a:rPr>
              <a:t>IP-address</a:t>
            </a:r>
            <a:r>
              <a:rPr lang="en-US" altLang="zh-CN" sz="2400" i="1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en-US" altLang="zh-CN" sz="2400" i="1" dirty="0">
                <a:solidFill>
                  <a:srgbClr val="FF33CC"/>
                </a:solidFill>
                <a:latin typeface="仿宋_GB2312" pitchFamily="49" charset="-122"/>
                <a:ea typeface="仿宋_GB2312" pitchFamily="49" charset="-122"/>
              </a:rPr>
              <a:t>mask</a:t>
            </a:r>
            <a:r>
              <a:rPr lang="en-US" altLang="zh-CN" sz="2400" i="1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lang="en-US" altLang="zh-CN" sz="2400" i="1" dirty="0" err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nexthop</a:t>
            </a:r>
            <a:r>
              <a:rPr lang="en-US" altLang="zh-CN" sz="2400" i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-address</a:t>
            </a:r>
            <a:endParaRPr lang="zh-CN" altLang="en-US" sz="2400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2555776" y="3573016"/>
            <a:ext cx="1445550" cy="510778"/>
          </a:xfrm>
          <a:prstGeom prst="wedgeRoundRectCallout">
            <a:avLst>
              <a:gd name="adj1" fmla="val 55830"/>
              <a:gd name="adj2" fmla="val -146665"/>
              <a:gd name="adj3" fmla="val 16667"/>
            </a:avLst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仿宋_GB2312" pitchFamily="49" charset="-122"/>
                <a:ea typeface="仿宋_GB2312" pitchFamily="49" charset="-122"/>
              </a:rPr>
              <a:t>IP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仿宋_GB2312" pitchFamily="49" charset="-122"/>
                <a:ea typeface="仿宋_GB2312" pitchFamily="49" charset="-122"/>
              </a:rPr>
              <a:t>地址</a:t>
            </a:r>
          </a:p>
        </p:txBody>
      </p:sp>
      <p:sp>
        <p:nvSpPr>
          <p:cNvPr id="6" name="圆角矩形标注 5"/>
          <p:cNvSpPr/>
          <p:nvPr/>
        </p:nvSpPr>
        <p:spPr bwMode="auto">
          <a:xfrm>
            <a:off x="4395029" y="3573016"/>
            <a:ext cx="1463447" cy="510778"/>
          </a:xfrm>
          <a:prstGeom prst="wedgeRoundRectCallout">
            <a:avLst>
              <a:gd name="adj1" fmla="val 27998"/>
              <a:gd name="adj2" fmla="val -136345"/>
              <a:gd name="adj3" fmla="val 16667"/>
            </a:avLst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子网掩码</a:t>
            </a:r>
          </a:p>
        </p:txBody>
      </p:sp>
      <p:sp>
        <p:nvSpPr>
          <p:cNvPr id="7" name="圆角矩形标注 6"/>
          <p:cNvSpPr/>
          <p:nvPr/>
        </p:nvSpPr>
        <p:spPr bwMode="auto">
          <a:xfrm>
            <a:off x="6456693" y="3564505"/>
            <a:ext cx="1765057" cy="510778"/>
          </a:xfrm>
          <a:prstGeom prst="wedgeRoundRectCallout">
            <a:avLst>
              <a:gd name="adj1" fmla="val 16646"/>
              <a:gd name="adj2" fmla="val -142733"/>
              <a:gd name="adj3" fmla="val 16667"/>
            </a:avLst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下一跳地址</a:t>
            </a:r>
          </a:p>
        </p:txBody>
      </p:sp>
      <p:sp>
        <p:nvSpPr>
          <p:cNvPr id="3" name="矩形 2"/>
          <p:cNvSpPr/>
          <p:nvPr/>
        </p:nvSpPr>
        <p:spPr>
          <a:xfrm>
            <a:off x="287524" y="5414122"/>
            <a:ext cx="88564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[R1]</a:t>
            </a:r>
            <a:r>
              <a:rPr lang="en-US" altLang="zh-CN" sz="24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ip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route-static 202.112.130.0 255.255.255.0  202.112.138.2</a:t>
            </a: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7524" y="4549534"/>
            <a:ext cx="1368152" cy="64633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举例：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503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17513"/>
            <a:ext cx="8064500" cy="708025"/>
          </a:xfrm>
        </p:spPr>
        <p:txBody>
          <a:bodyPr/>
          <a:lstStyle/>
          <a:p>
            <a:pPr eaLnBrk="1" hangingPunct="1"/>
            <a:r>
              <a:rPr lang="zh-CN" altLang="en-US" sz="4000" dirty="0" smtClean="0">
                <a:ea typeface="宋体" pitchFamily="2" charset="-122"/>
              </a:rPr>
              <a:t>默认路由（</a:t>
            </a:r>
            <a:r>
              <a:rPr lang="en-US" altLang="zh-CN" sz="4000" dirty="0" smtClean="0">
                <a:ea typeface="宋体" pitchFamily="2" charset="-122"/>
              </a:rPr>
              <a:t>default route</a:t>
            </a:r>
            <a:r>
              <a:rPr lang="zh-CN" altLang="en-US" sz="4000" dirty="0" smtClean="0">
                <a:ea typeface="宋体" pitchFamily="2" charset="-122"/>
              </a:rPr>
              <a:t>）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78954" y="1844824"/>
            <a:ext cx="8665046" cy="2664296"/>
          </a:xfrm>
        </p:spPr>
        <p:txBody>
          <a:bodyPr/>
          <a:lstStyle/>
          <a:p>
            <a:pPr marL="0" indent="0" eaLnBrk="1" hangingPunct="1">
              <a:buClr>
                <a:schemeClr val="accent1"/>
              </a:buClr>
              <a:buFont typeface="Wingdings" pitchFamily="2" charset="2"/>
              <a:buChar char="u"/>
            </a:pPr>
            <a:r>
              <a:rPr lang="zh-CN" altLang="en-US" dirty="0" smtClean="0"/>
              <a:t>目的地址是任意网络的静态路由</a:t>
            </a:r>
          </a:p>
          <a:p>
            <a:pPr marL="0" indent="0" eaLnBrk="1" hangingPunct="1">
              <a:buClr>
                <a:schemeClr val="accent1"/>
              </a:buClr>
              <a:buFont typeface="Wingdings" pitchFamily="2" charset="2"/>
              <a:buChar char="u"/>
            </a:pPr>
            <a:r>
              <a:rPr lang="en-US" altLang="zh-CN" dirty="0" smtClean="0"/>
              <a:t>0.0.0.0/0</a:t>
            </a:r>
          </a:p>
          <a:p>
            <a:pPr marL="0" indent="0" eaLnBrk="1" hangingPunct="1">
              <a:buClr>
                <a:schemeClr val="accent1"/>
              </a:buClr>
              <a:buFont typeface="Wingdings" pitchFamily="2" charset="2"/>
              <a:buChar char="u"/>
            </a:pPr>
            <a:r>
              <a:rPr lang="zh-CN" altLang="en-US" dirty="0" smtClean="0"/>
              <a:t>静态路由配置命令：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smtClean="0"/>
              <a:t>[</a:t>
            </a:r>
            <a:r>
              <a:rPr lang="en-US" altLang="zh-CN" sz="2400" dirty="0" smtClean="0"/>
              <a:t>R1]</a:t>
            </a:r>
            <a:r>
              <a:rPr lang="en-US" altLang="zh-CN" sz="2400" dirty="0" err="1" smtClean="0"/>
              <a:t>ip</a:t>
            </a:r>
            <a:r>
              <a:rPr lang="en-US" altLang="zh-CN" sz="2400" dirty="0" smtClean="0"/>
              <a:t> route-static </a:t>
            </a:r>
            <a:r>
              <a:rPr lang="en-US" altLang="zh-CN" sz="2400" i="1" dirty="0" smtClean="0">
                <a:solidFill>
                  <a:srgbClr val="FF0000"/>
                </a:solidFill>
              </a:rPr>
              <a:t>0.0.0.0</a:t>
            </a:r>
            <a:r>
              <a:rPr lang="zh-CN" altLang="en-US" sz="2400" i="1" dirty="0" smtClean="0">
                <a:solidFill>
                  <a:srgbClr val="FF0000"/>
                </a:solidFill>
              </a:rPr>
              <a:t>  </a:t>
            </a:r>
            <a:r>
              <a:rPr lang="en-US" altLang="zh-CN" sz="2400" i="1" dirty="0" smtClean="0">
                <a:solidFill>
                  <a:srgbClr val="FF0000"/>
                </a:solidFill>
              </a:rPr>
              <a:t>0.0.0.0</a:t>
            </a:r>
            <a:r>
              <a:rPr lang="en-US" altLang="zh-CN" sz="2400" i="1" dirty="0" smtClean="0"/>
              <a:t>  </a:t>
            </a:r>
            <a:r>
              <a:rPr lang="en-US" altLang="zh-CN" sz="2400" i="1" dirty="0" err="1" smtClean="0"/>
              <a:t>nexthop</a:t>
            </a:r>
            <a:r>
              <a:rPr lang="en-US" altLang="zh-CN" sz="2400" i="1" dirty="0" smtClean="0"/>
              <a:t>-address</a:t>
            </a:r>
            <a:endParaRPr lang="zh-CN" altLang="en-US" sz="2400" dirty="0" smtClean="0"/>
          </a:p>
          <a:p>
            <a:pPr marL="0" indent="0" eaLnBrk="1" hangingPunct="1">
              <a:buClr>
                <a:schemeClr val="accent1"/>
              </a:buClr>
              <a:buFont typeface="Wingdings" pitchFamily="2" charset="2"/>
              <a:buChar char="u"/>
            </a:pPr>
            <a:endParaRPr lang="en-US" altLang="zh-CN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681401" y="4756410"/>
            <a:ext cx="1152128" cy="64633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举例：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043608" y="5588079"/>
            <a:ext cx="712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[R1]</a:t>
            </a:r>
            <a:r>
              <a:rPr lang="en-US" altLang="zh-CN" sz="24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ip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route-static 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0.0.0.0</a:t>
            </a:r>
            <a:r>
              <a:rPr lang="zh-CN" altLang="en-US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0.0.0.0  202.112.130.3</a:t>
            </a:r>
            <a:r>
              <a:rPr lang="en-US" altLang="zh-CN" sz="24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</a:t>
            </a: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65459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8"/>
          <p:cNvSpPr>
            <a:spLocks noChangeArrowheads="1"/>
          </p:cNvSpPr>
          <p:nvPr/>
        </p:nvSpPr>
        <p:spPr bwMode="auto">
          <a:xfrm>
            <a:off x="611188" y="488950"/>
            <a:ext cx="8064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ctr"/>
          <a:lstStyle/>
          <a:p>
            <a:pPr algn="l">
              <a:lnSpc>
                <a:spcPct val="90000"/>
              </a:lnSpc>
            </a:pPr>
            <a:endParaRPr lang="en-US" altLang="zh-CN" sz="4000" dirty="0">
              <a:latin typeface="黑体" pitchFamily="2" charset="-122"/>
              <a:ea typeface="宋体" pitchFamily="2" charset="-122"/>
            </a:endParaRPr>
          </a:p>
        </p:txBody>
      </p:sp>
      <p:grpSp>
        <p:nvGrpSpPr>
          <p:cNvPr id="16388" name="组合 47"/>
          <p:cNvGrpSpPr>
            <a:grpSpLocks/>
          </p:cNvGrpSpPr>
          <p:nvPr/>
        </p:nvGrpSpPr>
        <p:grpSpPr bwMode="auto">
          <a:xfrm>
            <a:off x="636588" y="1647032"/>
            <a:ext cx="8039100" cy="4518272"/>
            <a:chOff x="755650" y="2420938"/>
            <a:chExt cx="7315200" cy="3986212"/>
          </a:xfrm>
        </p:grpSpPr>
        <p:sp>
          <p:nvSpPr>
            <p:cNvPr id="16389" name="Text Box 7"/>
            <p:cNvSpPr txBox="1">
              <a:spLocks noChangeArrowheads="1"/>
            </p:cNvSpPr>
            <p:nvPr/>
          </p:nvSpPr>
          <p:spPr bwMode="auto">
            <a:xfrm>
              <a:off x="2595563" y="4402138"/>
              <a:ext cx="669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 dirty="0" smtClean="0">
                  <a:latin typeface="Times New Roman" pitchFamily="18" charset="0"/>
                </a:rPr>
                <a:t>PCB</a:t>
              </a:r>
              <a:endParaRPr lang="en-US" altLang="zh-CN" sz="1800" dirty="0">
                <a:latin typeface="Times New Roman" pitchFamily="18" charset="0"/>
              </a:endParaRPr>
            </a:p>
          </p:txBody>
        </p:sp>
        <p:sp>
          <p:nvSpPr>
            <p:cNvPr id="16390" name="Text Box 8"/>
            <p:cNvSpPr txBox="1">
              <a:spLocks noChangeArrowheads="1"/>
            </p:cNvSpPr>
            <p:nvPr/>
          </p:nvSpPr>
          <p:spPr bwMode="auto">
            <a:xfrm>
              <a:off x="922338" y="4554538"/>
              <a:ext cx="669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 dirty="0" smtClean="0">
                  <a:latin typeface="Times New Roman" pitchFamily="18" charset="0"/>
                </a:rPr>
                <a:t>PCA</a:t>
              </a:r>
              <a:endParaRPr lang="en-US" altLang="zh-CN" sz="1800" dirty="0">
                <a:latin typeface="Times New Roman" pitchFamily="18" charset="0"/>
              </a:endParaRPr>
            </a:p>
          </p:txBody>
        </p:sp>
        <p:sp>
          <p:nvSpPr>
            <p:cNvPr id="16391" name="Text Box 11"/>
            <p:cNvSpPr txBox="1">
              <a:spLocks noChangeArrowheads="1"/>
            </p:cNvSpPr>
            <p:nvPr/>
          </p:nvSpPr>
          <p:spPr bwMode="auto">
            <a:xfrm>
              <a:off x="2930525" y="3640138"/>
              <a:ext cx="669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E0/2</a:t>
              </a:r>
            </a:p>
          </p:txBody>
        </p:sp>
        <p:sp>
          <p:nvSpPr>
            <p:cNvPr id="16392" name="Text Box 12"/>
            <p:cNvSpPr txBox="1">
              <a:spLocks noChangeArrowheads="1"/>
            </p:cNvSpPr>
            <p:nvPr/>
          </p:nvSpPr>
          <p:spPr bwMode="auto">
            <a:xfrm>
              <a:off x="2595563" y="3335338"/>
              <a:ext cx="669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E0/1</a:t>
              </a:r>
            </a:p>
          </p:txBody>
        </p:sp>
        <p:sp>
          <p:nvSpPr>
            <p:cNvPr id="16393" name="Text Box 13"/>
            <p:cNvSpPr txBox="1">
              <a:spLocks noChangeArrowheads="1"/>
            </p:cNvSpPr>
            <p:nvPr/>
          </p:nvSpPr>
          <p:spPr bwMode="auto">
            <a:xfrm>
              <a:off x="4102100" y="2878138"/>
              <a:ext cx="836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E0/24</a:t>
              </a:r>
            </a:p>
          </p:txBody>
        </p:sp>
        <p:grpSp>
          <p:nvGrpSpPr>
            <p:cNvPr id="16394" name="Group 14"/>
            <p:cNvGrpSpPr>
              <a:grpSpLocks/>
            </p:cNvGrpSpPr>
            <p:nvPr/>
          </p:nvGrpSpPr>
          <p:grpSpPr bwMode="auto">
            <a:xfrm>
              <a:off x="6778625" y="2878138"/>
              <a:ext cx="942975" cy="557212"/>
              <a:chOff x="940" y="956"/>
              <a:chExt cx="464" cy="364"/>
            </a:xfrm>
          </p:grpSpPr>
          <p:sp>
            <p:nvSpPr>
              <p:cNvPr id="16416" name="Freeform 15"/>
              <p:cNvSpPr>
                <a:spLocks noEditPoints="1"/>
              </p:cNvSpPr>
              <p:nvPr/>
            </p:nvSpPr>
            <p:spPr bwMode="auto">
              <a:xfrm>
                <a:off x="940" y="956"/>
                <a:ext cx="464" cy="364"/>
              </a:xfrm>
              <a:custGeom>
                <a:avLst/>
                <a:gdLst>
                  <a:gd name="T0" fmla="*/ 464 w 464"/>
                  <a:gd name="T1" fmla="*/ 77 h 364"/>
                  <a:gd name="T2" fmla="*/ 455 w 464"/>
                  <a:gd name="T3" fmla="*/ 98 h 364"/>
                  <a:gd name="T4" fmla="*/ 430 w 464"/>
                  <a:gd name="T5" fmla="*/ 117 h 364"/>
                  <a:gd name="T6" fmla="*/ 391 w 464"/>
                  <a:gd name="T7" fmla="*/ 133 h 364"/>
                  <a:gd name="T8" fmla="*/ 338 w 464"/>
                  <a:gd name="T9" fmla="*/ 145 h 364"/>
                  <a:gd name="T10" fmla="*/ 280 w 464"/>
                  <a:gd name="T11" fmla="*/ 152 h 364"/>
                  <a:gd name="T12" fmla="*/ 216 w 464"/>
                  <a:gd name="T13" fmla="*/ 153 h 364"/>
                  <a:gd name="T14" fmla="*/ 155 w 464"/>
                  <a:gd name="T15" fmla="*/ 149 h 364"/>
                  <a:gd name="T16" fmla="*/ 98 w 464"/>
                  <a:gd name="T17" fmla="*/ 140 h 364"/>
                  <a:gd name="T18" fmla="*/ 98 w 464"/>
                  <a:gd name="T19" fmla="*/ 140 h 364"/>
                  <a:gd name="T20" fmla="*/ 155 w 464"/>
                  <a:gd name="T21" fmla="*/ 149 h 364"/>
                  <a:gd name="T22" fmla="*/ 216 w 464"/>
                  <a:gd name="T23" fmla="*/ 153 h 364"/>
                  <a:gd name="T24" fmla="*/ 280 w 464"/>
                  <a:gd name="T25" fmla="*/ 152 h 364"/>
                  <a:gd name="T26" fmla="*/ 338 w 464"/>
                  <a:gd name="T27" fmla="*/ 145 h 364"/>
                  <a:gd name="T28" fmla="*/ 391 w 464"/>
                  <a:gd name="T29" fmla="*/ 133 h 364"/>
                  <a:gd name="T30" fmla="*/ 430 w 464"/>
                  <a:gd name="T31" fmla="*/ 117 h 364"/>
                  <a:gd name="T32" fmla="*/ 455 w 464"/>
                  <a:gd name="T33" fmla="*/ 98 h 364"/>
                  <a:gd name="T34" fmla="*/ 464 w 464"/>
                  <a:gd name="T35" fmla="*/ 77 h 364"/>
                  <a:gd name="T36" fmla="*/ 0 w 464"/>
                  <a:gd name="T37" fmla="*/ 77 h 364"/>
                  <a:gd name="T38" fmla="*/ 9 w 464"/>
                  <a:gd name="T39" fmla="*/ 98 h 364"/>
                  <a:gd name="T40" fmla="*/ 34 w 464"/>
                  <a:gd name="T41" fmla="*/ 117 h 364"/>
                  <a:gd name="T42" fmla="*/ 73 w 464"/>
                  <a:gd name="T43" fmla="*/ 134 h 364"/>
                  <a:gd name="T44" fmla="*/ 34 w 464"/>
                  <a:gd name="T45" fmla="*/ 117 h 364"/>
                  <a:gd name="T46" fmla="*/ 9 w 464"/>
                  <a:gd name="T47" fmla="*/ 98 h 364"/>
                  <a:gd name="T48" fmla="*/ 0 w 464"/>
                  <a:gd name="T49" fmla="*/ 77 h 364"/>
                  <a:gd name="T50" fmla="*/ 0 w 464"/>
                  <a:gd name="T51" fmla="*/ 77 h 364"/>
                  <a:gd name="T52" fmla="*/ 2 w 464"/>
                  <a:gd name="T53" fmla="*/ 298 h 364"/>
                  <a:gd name="T54" fmla="*/ 19 w 464"/>
                  <a:gd name="T55" fmla="*/ 318 h 364"/>
                  <a:gd name="T56" fmla="*/ 52 w 464"/>
                  <a:gd name="T57" fmla="*/ 336 h 364"/>
                  <a:gd name="T58" fmla="*/ 98 w 464"/>
                  <a:gd name="T59" fmla="*/ 351 h 364"/>
                  <a:gd name="T60" fmla="*/ 154 w 464"/>
                  <a:gd name="T61" fmla="*/ 360 h 364"/>
                  <a:gd name="T62" fmla="*/ 216 w 464"/>
                  <a:gd name="T63" fmla="*/ 364 h 364"/>
                  <a:gd name="T64" fmla="*/ 280 w 464"/>
                  <a:gd name="T65" fmla="*/ 363 h 364"/>
                  <a:gd name="T66" fmla="*/ 338 w 464"/>
                  <a:gd name="T67" fmla="*/ 356 h 364"/>
                  <a:gd name="T68" fmla="*/ 391 w 464"/>
                  <a:gd name="T69" fmla="*/ 344 h 364"/>
                  <a:gd name="T70" fmla="*/ 430 w 464"/>
                  <a:gd name="T71" fmla="*/ 327 h 364"/>
                  <a:gd name="T72" fmla="*/ 455 w 464"/>
                  <a:gd name="T73" fmla="*/ 309 h 364"/>
                  <a:gd name="T74" fmla="*/ 464 w 464"/>
                  <a:gd name="T75" fmla="*/ 287 h 364"/>
                  <a:gd name="T76" fmla="*/ 462 w 464"/>
                  <a:gd name="T77" fmla="*/ 66 h 364"/>
                  <a:gd name="T78" fmla="*/ 445 w 464"/>
                  <a:gd name="T79" fmla="*/ 46 h 364"/>
                  <a:gd name="T80" fmla="*/ 412 w 464"/>
                  <a:gd name="T81" fmla="*/ 27 h 364"/>
                  <a:gd name="T82" fmla="*/ 366 w 464"/>
                  <a:gd name="T83" fmla="*/ 13 h 364"/>
                  <a:gd name="T84" fmla="*/ 310 w 464"/>
                  <a:gd name="T85" fmla="*/ 4 h 364"/>
                  <a:gd name="T86" fmla="*/ 248 w 464"/>
                  <a:gd name="T87" fmla="*/ 0 h 364"/>
                  <a:gd name="T88" fmla="*/ 184 w 464"/>
                  <a:gd name="T89" fmla="*/ 1 h 364"/>
                  <a:gd name="T90" fmla="*/ 126 w 464"/>
                  <a:gd name="T91" fmla="*/ 8 h 364"/>
                  <a:gd name="T92" fmla="*/ 73 w 464"/>
                  <a:gd name="T93" fmla="*/ 20 h 364"/>
                  <a:gd name="T94" fmla="*/ 34 w 464"/>
                  <a:gd name="T95" fmla="*/ 37 h 364"/>
                  <a:gd name="T96" fmla="*/ 9 w 464"/>
                  <a:gd name="T97" fmla="*/ 55 h 364"/>
                  <a:gd name="T98" fmla="*/ 0 w 464"/>
                  <a:gd name="T99" fmla="*/ 77 h 36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64"/>
                  <a:gd name="T151" fmla="*/ 0 h 364"/>
                  <a:gd name="T152" fmla="*/ 464 w 464"/>
                  <a:gd name="T153" fmla="*/ 364 h 36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64" h="364">
                    <a:moveTo>
                      <a:pt x="464" y="77"/>
                    </a:moveTo>
                    <a:lnTo>
                      <a:pt x="464" y="77"/>
                    </a:lnTo>
                    <a:lnTo>
                      <a:pt x="462" y="87"/>
                    </a:lnTo>
                    <a:lnTo>
                      <a:pt x="455" y="98"/>
                    </a:lnTo>
                    <a:lnTo>
                      <a:pt x="445" y="107"/>
                    </a:lnTo>
                    <a:lnTo>
                      <a:pt x="430" y="117"/>
                    </a:lnTo>
                    <a:lnTo>
                      <a:pt x="412" y="125"/>
                    </a:lnTo>
                    <a:lnTo>
                      <a:pt x="391" y="133"/>
                    </a:lnTo>
                    <a:lnTo>
                      <a:pt x="366" y="140"/>
                    </a:lnTo>
                    <a:lnTo>
                      <a:pt x="338" y="145"/>
                    </a:lnTo>
                    <a:lnTo>
                      <a:pt x="310" y="149"/>
                    </a:lnTo>
                    <a:lnTo>
                      <a:pt x="280" y="152"/>
                    </a:lnTo>
                    <a:lnTo>
                      <a:pt x="248" y="153"/>
                    </a:lnTo>
                    <a:lnTo>
                      <a:pt x="216" y="153"/>
                    </a:lnTo>
                    <a:lnTo>
                      <a:pt x="186" y="152"/>
                    </a:lnTo>
                    <a:lnTo>
                      <a:pt x="155" y="149"/>
                    </a:lnTo>
                    <a:lnTo>
                      <a:pt x="126" y="145"/>
                    </a:lnTo>
                    <a:lnTo>
                      <a:pt x="98" y="140"/>
                    </a:lnTo>
                    <a:lnTo>
                      <a:pt x="73" y="134"/>
                    </a:lnTo>
                    <a:lnTo>
                      <a:pt x="98" y="140"/>
                    </a:lnTo>
                    <a:lnTo>
                      <a:pt x="126" y="145"/>
                    </a:lnTo>
                    <a:lnTo>
                      <a:pt x="155" y="149"/>
                    </a:lnTo>
                    <a:lnTo>
                      <a:pt x="186" y="152"/>
                    </a:lnTo>
                    <a:lnTo>
                      <a:pt x="216" y="153"/>
                    </a:lnTo>
                    <a:lnTo>
                      <a:pt x="248" y="153"/>
                    </a:lnTo>
                    <a:lnTo>
                      <a:pt x="280" y="152"/>
                    </a:lnTo>
                    <a:lnTo>
                      <a:pt x="310" y="149"/>
                    </a:lnTo>
                    <a:lnTo>
                      <a:pt x="338" y="145"/>
                    </a:lnTo>
                    <a:lnTo>
                      <a:pt x="366" y="140"/>
                    </a:lnTo>
                    <a:lnTo>
                      <a:pt x="391" y="133"/>
                    </a:lnTo>
                    <a:lnTo>
                      <a:pt x="412" y="125"/>
                    </a:lnTo>
                    <a:lnTo>
                      <a:pt x="430" y="117"/>
                    </a:lnTo>
                    <a:lnTo>
                      <a:pt x="445" y="107"/>
                    </a:lnTo>
                    <a:lnTo>
                      <a:pt x="455" y="98"/>
                    </a:lnTo>
                    <a:lnTo>
                      <a:pt x="462" y="87"/>
                    </a:lnTo>
                    <a:lnTo>
                      <a:pt x="464" y="77"/>
                    </a:lnTo>
                    <a:close/>
                    <a:moveTo>
                      <a:pt x="0" y="77"/>
                    </a:moveTo>
                    <a:lnTo>
                      <a:pt x="2" y="87"/>
                    </a:lnTo>
                    <a:lnTo>
                      <a:pt x="9" y="98"/>
                    </a:lnTo>
                    <a:lnTo>
                      <a:pt x="19" y="108"/>
                    </a:lnTo>
                    <a:lnTo>
                      <a:pt x="34" y="117"/>
                    </a:lnTo>
                    <a:lnTo>
                      <a:pt x="52" y="125"/>
                    </a:lnTo>
                    <a:lnTo>
                      <a:pt x="73" y="134"/>
                    </a:lnTo>
                    <a:lnTo>
                      <a:pt x="52" y="125"/>
                    </a:lnTo>
                    <a:lnTo>
                      <a:pt x="34" y="117"/>
                    </a:lnTo>
                    <a:lnTo>
                      <a:pt x="19" y="108"/>
                    </a:lnTo>
                    <a:lnTo>
                      <a:pt x="9" y="98"/>
                    </a:lnTo>
                    <a:lnTo>
                      <a:pt x="2" y="87"/>
                    </a:lnTo>
                    <a:lnTo>
                      <a:pt x="0" y="77"/>
                    </a:lnTo>
                    <a:close/>
                    <a:moveTo>
                      <a:pt x="0" y="77"/>
                    </a:moveTo>
                    <a:lnTo>
                      <a:pt x="0" y="287"/>
                    </a:lnTo>
                    <a:lnTo>
                      <a:pt x="2" y="298"/>
                    </a:lnTo>
                    <a:lnTo>
                      <a:pt x="9" y="309"/>
                    </a:lnTo>
                    <a:lnTo>
                      <a:pt x="19" y="318"/>
                    </a:lnTo>
                    <a:lnTo>
                      <a:pt x="34" y="327"/>
                    </a:lnTo>
                    <a:lnTo>
                      <a:pt x="52" y="336"/>
                    </a:lnTo>
                    <a:lnTo>
                      <a:pt x="73" y="344"/>
                    </a:lnTo>
                    <a:lnTo>
                      <a:pt x="98" y="351"/>
                    </a:lnTo>
                    <a:lnTo>
                      <a:pt x="126" y="356"/>
                    </a:lnTo>
                    <a:lnTo>
                      <a:pt x="154" y="360"/>
                    </a:lnTo>
                    <a:lnTo>
                      <a:pt x="184" y="363"/>
                    </a:lnTo>
                    <a:lnTo>
                      <a:pt x="216" y="364"/>
                    </a:lnTo>
                    <a:lnTo>
                      <a:pt x="248" y="364"/>
                    </a:lnTo>
                    <a:lnTo>
                      <a:pt x="280" y="363"/>
                    </a:lnTo>
                    <a:lnTo>
                      <a:pt x="310" y="360"/>
                    </a:lnTo>
                    <a:lnTo>
                      <a:pt x="338" y="356"/>
                    </a:lnTo>
                    <a:lnTo>
                      <a:pt x="366" y="351"/>
                    </a:lnTo>
                    <a:lnTo>
                      <a:pt x="391" y="344"/>
                    </a:lnTo>
                    <a:lnTo>
                      <a:pt x="412" y="336"/>
                    </a:lnTo>
                    <a:lnTo>
                      <a:pt x="430" y="327"/>
                    </a:lnTo>
                    <a:lnTo>
                      <a:pt x="445" y="318"/>
                    </a:lnTo>
                    <a:lnTo>
                      <a:pt x="455" y="309"/>
                    </a:lnTo>
                    <a:lnTo>
                      <a:pt x="462" y="298"/>
                    </a:lnTo>
                    <a:lnTo>
                      <a:pt x="464" y="287"/>
                    </a:lnTo>
                    <a:lnTo>
                      <a:pt x="464" y="77"/>
                    </a:lnTo>
                    <a:lnTo>
                      <a:pt x="462" y="66"/>
                    </a:lnTo>
                    <a:lnTo>
                      <a:pt x="455" y="55"/>
                    </a:lnTo>
                    <a:lnTo>
                      <a:pt x="445" y="46"/>
                    </a:lnTo>
                    <a:lnTo>
                      <a:pt x="430" y="37"/>
                    </a:lnTo>
                    <a:lnTo>
                      <a:pt x="412" y="27"/>
                    </a:lnTo>
                    <a:lnTo>
                      <a:pt x="391" y="20"/>
                    </a:lnTo>
                    <a:lnTo>
                      <a:pt x="366" y="13"/>
                    </a:lnTo>
                    <a:lnTo>
                      <a:pt x="338" y="8"/>
                    </a:lnTo>
                    <a:lnTo>
                      <a:pt x="310" y="4"/>
                    </a:lnTo>
                    <a:lnTo>
                      <a:pt x="280" y="1"/>
                    </a:lnTo>
                    <a:lnTo>
                      <a:pt x="248" y="0"/>
                    </a:lnTo>
                    <a:lnTo>
                      <a:pt x="216" y="0"/>
                    </a:lnTo>
                    <a:lnTo>
                      <a:pt x="184" y="1"/>
                    </a:lnTo>
                    <a:lnTo>
                      <a:pt x="154" y="4"/>
                    </a:lnTo>
                    <a:lnTo>
                      <a:pt x="126" y="8"/>
                    </a:lnTo>
                    <a:lnTo>
                      <a:pt x="98" y="13"/>
                    </a:lnTo>
                    <a:lnTo>
                      <a:pt x="73" y="20"/>
                    </a:lnTo>
                    <a:lnTo>
                      <a:pt x="52" y="27"/>
                    </a:lnTo>
                    <a:lnTo>
                      <a:pt x="34" y="37"/>
                    </a:lnTo>
                    <a:lnTo>
                      <a:pt x="19" y="46"/>
                    </a:lnTo>
                    <a:lnTo>
                      <a:pt x="9" y="55"/>
                    </a:lnTo>
                    <a:lnTo>
                      <a:pt x="2" y="66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8E85B7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7" name="Freeform 16"/>
              <p:cNvSpPr>
                <a:spLocks/>
              </p:cNvSpPr>
              <p:nvPr/>
            </p:nvSpPr>
            <p:spPr bwMode="auto">
              <a:xfrm>
                <a:off x="941" y="956"/>
                <a:ext cx="463" cy="154"/>
              </a:xfrm>
              <a:custGeom>
                <a:avLst/>
                <a:gdLst>
                  <a:gd name="T0" fmla="*/ 463 w 463"/>
                  <a:gd name="T1" fmla="*/ 77 h 154"/>
                  <a:gd name="T2" fmla="*/ 461 w 463"/>
                  <a:gd name="T3" fmla="*/ 87 h 154"/>
                  <a:gd name="T4" fmla="*/ 454 w 463"/>
                  <a:gd name="T5" fmla="*/ 98 h 154"/>
                  <a:gd name="T6" fmla="*/ 443 w 463"/>
                  <a:gd name="T7" fmla="*/ 108 h 154"/>
                  <a:gd name="T8" fmla="*/ 428 w 463"/>
                  <a:gd name="T9" fmla="*/ 117 h 154"/>
                  <a:gd name="T10" fmla="*/ 409 w 463"/>
                  <a:gd name="T11" fmla="*/ 126 h 154"/>
                  <a:gd name="T12" fmla="*/ 386 w 463"/>
                  <a:gd name="T13" fmla="*/ 134 h 154"/>
                  <a:gd name="T14" fmla="*/ 361 w 463"/>
                  <a:gd name="T15" fmla="*/ 141 h 154"/>
                  <a:gd name="T16" fmla="*/ 333 w 463"/>
                  <a:gd name="T17" fmla="*/ 146 h 154"/>
                  <a:gd name="T18" fmla="*/ 302 w 463"/>
                  <a:gd name="T19" fmla="*/ 150 h 154"/>
                  <a:gd name="T20" fmla="*/ 272 w 463"/>
                  <a:gd name="T21" fmla="*/ 152 h 154"/>
                  <a:gd name="T22" fmla="*/ 239 w 463"/>
                  <a:gd name="T23" fmla="*/ 154 h 154"/>
                  <a:gd name="T24" fmla="*/ 207 w 463"/>
                  <a:gd name="T25" fmla="*/ 153 h 154"/>
                  <a:gd name="T26" fmla="*/ 174 w 463"/>
                  <a:gd name="T27" fmla="*/ 151 h 154"/>
                  <a:gd name="T28" fmla="*/ 144 w 463"/>
                  <a:gd name="T29" fmla="*/ 148 h 154"/>
                  <a:gd name="T30" fmla="*/ 116 w 463"/>
                  <a:gd name="T31" fmla="*/ 144 h 154"/>
                  <a:gd name="T32" fmla="*/ 88 w 463"/>
                  <a:gd name="T33" fmla="*/ 138 h 154"/>
                  <a:gd name="T34" fmla="*/ 65 w 463"/>
                  <a:gd name="T35" fmla="*/ 130 h 154"/>
                  <a:gd name="T36" fmla="*/ 43 w 463"/>
                  <a:gd name="T37" fmla="*/ 122 h 154"/>
                  <a:gd name="T38" fmla="*/ 26 w 463"/>
                  <a:gd name="T39" fmla="*/ 113 h 154"/>
                  <a:gd name="T40" fmla="*/ 14 w 463"/>
                  <a:gd name="T41" fmla="*/ 103 h 154"/>
                  <a:gd name="T42" fmla="*/ 5 w 463"/>
                  <a:gd name="T43" fmla="*/ 92 h 154"/>
                  <a:gd name="T44" fmla="*/ 0 w 463"/>
                  <a:gd name="T45" fmla="*/ 82 h 154"/>
                  <a:gd name="T46" fmla="*/ 0 w 463"/>
                  <a:gd name="T47" fmla="*/ 71 h 154"/>
                  <a:gd name="T48" fmla="*/ 5 w 463"/>
                  <a:gd name="T49" fmla="*/ 60 h 154"/>
                  <a:gd name="T50" fmla="*/ 14 w 463"/>
                  <a:gd name="T51" fmla="*/ 50 h 154"/>
                  <a:gd name="T52" fmla="*/ 26 w 463"/>
                  <a:gd name="T53" fmla="*/ 40 h 154"/>
                  <a:gd name="T54" fmla="*/ 43 w 463"/>
                  <a:gd name="T55" fmla="*/ 31 h 154"/>
                  <a:gd name="T56" fmla="*/ 65 w 463"/>
                  <a:gd name="T57" fmla="*/ 22 h 154"/>
                  <a:gd name="T58" fmla="*/ 88 w 463"/>
                  <a:gd name="T59" fmla="*/ 15 h 154"/>
                  <a:gd name="T60" fmla="*/ 116 w 463"/>
                  <a:gd name="T61" fmla="*/ 10 h 154"/>
                  <a:gd name="T62" fmla="*/ 144 w 463"/>
                  <a:gd name="T63" fmla="*/ 5 h 154"/>
                  <a:gd name="T64" fmla="*/ 174 w 463"/>
                  <a:gd name="T65" fmla="*/ 2 h 154"/>
                  <a:gd name="T66" fmla="*/ 207 w 463"/>
                  <a:gd name="T67" fmla="*/ 0 h 154"/>
                  <a:gd name="T68" fmla="*/ 239 w 463"/>
                  <a:gd name="T69" fmla="*/ 0 h 154"/>
                  <a:gd name="T70" fmla="*/ 272 w 463"/>
                  <a:gd name="T71" fmla="*/ 1 h 154"/>
                  <a:gd name="T72" fmla="*/ 302 w 463"/>
                  <a:gd name="T73" fmla="*/ 3 h 154"/>
                  <a:gd name="T74" fmla="*/ 333 w 463"/>
                  <a:gd name="T75" fmla="*/ 7 h 154"/>
                  <a:gd name="T76" fmla="*/ 361 w 463"/>
                  <a:gd name="T77" fmla="*/ 12 h 154"/>
                  <a:gd name="T78" fmla="*/ 386 w 463"/>
                  <a:gd name="T79" fmla="*/ 19 h 154"/>
                  <a:gd name="T80" fmla="*/ 409 w 463"/>
                  <a:gd name="T81" fmla="*/ 26 h 154"/>
                  <a:gd name="T82" fmla="*/ 428 w 463"/>
                  <a:gd name="T83" fmla="*/ 36 h 154"/>
                  <a:gd name="T84" fmla="*/ 443 w 463"/>
                  <a:gd name="T85" fmla="*/ 45 h 154"/>
                  <a:gd name="T86" fmla="*/ 454 w 463"/>
                  <a:gd name="T87" fmla="*/ 55 h 154"/>
                  <a:gd name="T88" fmla="*/ 461 w 463"/>
                  <a:gd name="T89" fmla="*/ 66 h 154"/>
                  <a:gd name="T90" fmla="*/ 463 w 463"/>
                  <a:gd name="T91" fmla="*/ 77 h 15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63"/>
                  <a:gd name="T139" fmla="*/ 0 h 154"/>
                  <a:gd name="T140" fmla="*/ 463 w 463"/>
                  <a:gd name="T141" fmla="*/ 154 h 154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63" h="154">
                    <a:moveTo>
                      <a:pt x="463" y="77"/>
                    </a:moveTo>
                    <a:lnTo>
                      <a:pt x="461" y="87"/>
                    </a:lnTo>
                    <a:lnTo>
                      <a:pt x="454" y="98"/>
                    </a:lnTo>
                    <a:lnTo>
                      <a:pt x="443" y="108"/>
                    </a:lnTo>
                    <a:lnTo>
                      <a:pt x="428" y="117"/>
                    </a:lnTo>
                    <a:lnTo>
                      <a:pt x="409" y="126"/>
                    </a:lnTo>
                    <a:lnTo>
                      <a:pt x="386" y="134"/>
                    </a:lnTo>
                    <a:lnTo>
                      <a:pt x="361" y="141"/>
                    </a:lnTo>
                    <a:lnTo>
                      <a:pt x="333" y="146"/>
                    </a:lnTo>
                    <a:lnTo>
                      <a:pt x="302" y="150"/>
                    </a:lnTo>
                    <a:lnTo>
                      <a:pt x="272" y="152"/>
                    </a:lnTo>
                    <a:lnTo>
                      <a:pt x="239" y="154"/>
                    </a:lnTo>
                    <a:lnTo>
                      <a:pt x="207" y="153"/>
                    </a:lnTo>
                    <a:lnTo>
                      <a:pt x="174" y="151"/>
                    </a:lnTo>
                    <a:lnTo>
                      <a:pt x="144" y="148"/>
                    </a:lnTo>
                    <a:lnTo>
                      <a:pt x="116" y="144"/>
                    </a:lnTo>
                    <a:lnTo>
                      <a:pt x="88" y="138"/>
                    </a:lnTo>
                    <a:lnTo>
                      <a:pt x="65" y="130"/>
                    </a:lnTo>
                    <a:lnTo>
                      <a:pt x="43" y="122"/>
                    </a:lnTo>
                    <a:lnTo>
                      <a:pt x="26" y="113"/>
                    </a:lnTo>
                    <a:lnTo>
                      <a:pt x="14" y="103"/>
                    </a:lnTo>
                    <a:lnTo>
                      <a:pt x="5" y="92"/>
                    </a:lnTo>
                    <a:lnTo>
                      <a:pt x="0" y="82"/>
                    </a:lnTo>
                    <a:lnTo>
                      <a:pt x="0" y="71"/>
                    </a:lnTo>
                    <a:lnTo>
                      <a:pt x="5" y="60"/>
                    </a:lnTo>
                    <a:lnTo>
                      <a:pt x="14" y="50"/>
                    </a:lnTo>
                    <a:lnTo>
                      <a:pt x="26" y="40"/>
                    </a:lnTo>
                    <a:lnTo>
                      <a:pt x="43" y="31"/>
                    </a:lnTo>
                    <a:lnTo>
                      <a:pt x="65" y="22"/>
                    </a:lnTo>
                    <a:lnTo>
                      <a:pt x="88" y="15"/>
                    </a:lnTo>
                    <a:lnTo>
                      <a:pt x="116" y="10"/>
                    </a:lnTo>
                    <a:lnTo>
                      <a:pt x="144" y="5"/>
                    </a:lnTo>
                    <a:lnTo>
                      <a:pt x="174" y="2"/>
                    </a:lnTo>
                    <a:lnTo>
                      <a:pt x="207" y="0"/>
                    </a:lnTo>
                    <a:lnTo>
                      <a:pt x="239" y="0"/>
                    </a:lnTo>
                    <a:lnTo>
                      <a:pt x="272" y="1"/>
                    </a:lnTo>
                    <a:lnTo>
                      <a:pt x="302" y="3"/>
                    </a:lnTo>
                    <a:lnTo>
                      <a:pt x="333" y="7"/>
                    </a:lnTo>
                    <a:lnTo>
                      <a:pt x="361" y="12"/>
                    </a:lnTo>
                    <a:lnTo>
                      <a:pt x="386" y="19"/>
                    </a:lnTo>
                    <a:lnTo>
                      <a:pt x="409" y="26"/>
                    </a:lnTo>
                    <a:lnTo>
                      <a:pt x="428" y="36"/>
                    </a:lnTo>
                    <a:lnTo>
                      <a:pt x="443" y="45"/>
                    </a:lnTo>
                    <a:lnTo>
                      <a:pt x="454" y="55"/>
                    </a:lnTo>
                    <a:lnTo>
                      <a:pt x="461" y="66"/>
                    </a:lnTo>
                    <a:lnTo>
                      <a:pt x="463" y="77"/>
                    </a:lnTo>
                    <a:close/>
                  </a:path>
                </a:pathLst>
              </a:custGeom>
              <a:solidFill>
                <a:srgbClr val="BBB4D6"/>
              </a:solidFill>
              <a:ln w="6350">
                <a:solidFill>
                  <a:srgbClr val="04D6E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8" name="Freeform 17"/>
              <p:cNvSpPr>
                <a:spLocks noEditPoints="1"/>
              </p:cNvSpPr>
              <p:nvPr/>
            </p:nvSpPr>
            <p:spPr bwMode="auto">
              <a:xfrm>
                <a:off x="1047" y="970"/>
                <a:ext cx="244" cy="121"/>
              </a:xfrm>
              <a:custGeom>
                <a:avLst/>
                <a:gdLst>
                  <a:gd name="T0" fmla="*/ 45 w 244"/>
                  <a:gd name="T1" fmla="*/ 68 h 121"/>
                  <a:gd name="T2" fmla="*/ 187 w 244"/>
                  <a:gd name="T3" fmla="*/ 68 h 121"/>
                  <a:gd name="T4" fmla="*/ 97 w 244"/>
                  <a:gd name="T5" fmla="*/ 103 h 121"/>
                  <a:gd name="T6" fmla="*/ 45 w 244"/>
                  <a:gd name="T7" fmla="*/ 68 h 121"/>
                  <a:gd name="T8" fmla="*/ 200 w 244"/>
                  <a:gd name="T9" fmla="*/ 53 h 121"/>
                  <a:gd name="T10" fmla="*/ 57 w 244"/>
                  <a:gd name="T11" fmla="*/ 53 h 121"/>
                  <a:gd name="T12" fmla="*/ 148 w 244"/>
                  <a:gd name="T13" fmla="*/ 18 h 121"/>
                  <a:gd name="T14" fmla="*/ 200 w 244"/>
                  <a:gd name="T15" fmla="*/ 53 h 121"/>
                  <a:gd name="T16" fmla="*/ 93 w 244"/>
                  <a:gd name="T17" fmla="*/ 121 h 121"/>
                  <a:gd name="T18" fmla="*/ 244 w 244"/>
                  <a:gd name="T19" fmla="*/ 62 h 121"/>
                  <a:gd name="T20" fmla="*/ 151 w 244"/>
                  <a:gd name="T21" fmla="*/ 0 h 121"/>
                  <a:gd name="T22" fmla="*/ 0 w 244"/>
                  <a:gd name="T23" fmla="*/ 59 h 121"/>
                  <a:gd name="T24" fmla="*/ 93 w 244"/>
                  <a:gd name="T25" fmla="*/ 121 h 1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4"/>
                  <a:gd name="T40" fmla="*/ 0 h 121"/>
                  <a:gd name="T41" fmla="*/ 244 w 244"/>
                  <a:gd name="T42" fmla="*/ 121 h 1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4" h="121">
                    <a:moveTo>
                      <a:pt x="45" y="68"/>
                    </a:moveTo>
                    <a:lnTo>
                      <a:pt x="187" y="68"/>
                    </a:lnTo>
                    <a:lnTo>
                      <a:pt x="97" y="103"/>
                    </a:lnTo>
                    <a:lnTo>
                      <a:pt x="45" y="68"/>
                    </a:lnTo>
                    <a:close/>
                    <a:moveTo>
                      <a:pt x="200" y="53"/>
                    </a:moveTo>
                    <a:lnTo>
                      <a:pt x="57" y="53"/>
                    </a:lnTo>
                    <a:lnTo>
                      <a:pt x="148" y="18"/>
                    </a:lnTo>
                    <a:lnTo>
                      <a:pt x="200" y="53"/>
                    </a:lnTo>
                    <a:close/>
                    <a:moveTo>
                      <a:pt x="93" y="121"/>
                    </a:moveTo>
                    <a:lnTo>
                      <a:pt x="244" y="62"/>
                    </a:lnTo>
                    <a:lnTo>
                      <a:pt x="151" y="0"/>
                    </a:lnTo>
                    <a:lnTo>
                      <a:pt x="0" y="59"/>
                    </a:lnTo>
                    <a:lnTo>
                      <a:pt x="93" y="1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9" name="Freeform 18"/>
              <p:cNvSpPr>
                <a:spLocks noEditPoints="1"/>
              </p:cNvSpPr>
              <p:nvPr/>
            </p:nvSpPr>
            <p:spPr bwMode="auto">
              <a:xfrm>
                <a:off x="1053" y="974"/>
                <a:ext cx="244" cy="121"/>
              </a:xfrm>
              <a:custGeom>
                <a:avLst/>
                <a:gdLst>
                  <a:gd name="T0" fmla="*/ 44 w 244"/>
                  <a:gd name="T1" fmla="*/ 68 h 121"/>
                  <a:gd name="T2" fmla="*/ 187 w 244"/>
                  <a:gd name="T3" fmla="*/ 68 h 121"/>
                  <a:gd name="T4" fmla="*/ 96 w 244"/>
                  <a:gd name="T5" fmla="*/ 103 h 121"/>
                  <a:gd name="T6" fmla="*/ 44 w 244"/>
                  <a:gd name="T7" fmla="*/ 68 h 121"/>
                  <a:gd name="T8" fmla="*/ 199 w 244"/>
                  <a:gd name="T9" fmla="*/ 54 h 121"/>
                  <a:gd name="T10" fmla="*/ 57 w 244"/>
                  <a:gd name="T11" fmla="*/ 54 h 121"/>
                  <a:gd name="T12" fmla="*/ 147 w 244"/>
                  <a:gd name="T13" fmla="*/ 19 h 121"/>
                  <a:gd name="T14" fmla="*/ 199 w 244"/>
                  <a:gd name="T15" fmla="*/ 54 h 121"/>
                  <a:gd name="T16" fmla="*/ 93 w 244"/>
                  <a:gd name="T17" fmla="*/ 121 h 121"/>
                  <a:gd name="T18" fmla="*/ 244 w 244"/>
                  <a:gd name="T19" fmla="*/ 63 h 121"/>
                  <a:gd name="T20" fmla="*/ 151 w 244"/>
                  <a:gd name="T21" fmla="*/ 0 h 121"/>
                  <a:gd name="T22" fmla="*/ 0 w 244"/>
                  <a:gd name="T23" fmla="*/ 59 h 121"/>
                  <a:gd name="T24" fmla="*/ 93 w 244"/>
                  <a:gd name="T25" fmla="*/ 121 h 1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4"/>
                  <a:gd name="T40" fmla="*/ 0 h 121"/>
                  <a:gd name="T41" fmla="*/ 244 w 244"/>
                  <a:gd name="T42" fmla="*/ 121 h 1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4" h="121">
                    <a:moveTo>
                      <a:pt x="44" y="68"/>
                    </a:moveTo>
                    <a:lnTo>
                      <a:pt x="187" y="68"/>
                    </a:lnTo>
                    <a:lnTo>
                      <a:pt x="96" y="103"/>
                    </a:lnTo>
                    <a:lnTo>
                      <a:pt x="44" y="68"/>
                    </a:lnTo>
                    <a:close/>
                    <a:moveTo>
                      <a:pt x="199" y="54"/>
                    </a:moveTo>
                    <a:lnTo>
                      <a:pt x="57" y="54"/>
                    </a:lnTo>
                    <a:lnTo>
                      <a:pt x="147" y="19"/>
                    </a:lnTo>
                    <a:lnTo>
                      <a:pt x="199" y="54"/>
                    </a:lnTo>
                    <a:close/>
                    <a:moveTo>
                      <a:pt x="93" y="121"/>
                    </a:moveTo>
                    <a:lnTo>
                      <a:pt x="244" y="63"/>
                    </a:lnTo>
                    <a:lnTo>
                      <a:pt x="151" y="0"/>
                    </a:lnTo>
                    <a:lnTo>
                      <a:pt x="0" y="59"/>
                    </a:lnTo>
                    <a:lnTo>
                      <a:pt x="93" y="1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0" name="Freeform 19"/>
              <p:cNvSpPr>
                <a:spLocks noEditPoints="1"/>
              </p:cNvSpPr>
              <p:nvPr/>
            </p:nvSpPr>
            <p:spPr bwMode="auto">
              <a:xfrm>
                <a:off x="1097" y="1170"/>
                <a:ext cx="161" cy="97"/>
              </a:xfrm>
              <a:custGeom>
                <a:avLst/>
                <a:gdLst>
                  <a:gd name="T0" fmla="*/ 61 w 161"/>
                  <a:gd name="T1" fmla="*/ 55 h 97"/>
                  <a:gd name="T2" fmla="*/ 78 w 161"/>
                  <a:gd name="T3" fmla="*/ 55 h 97"/>
                  <a:gd name="T4" fmla="*/ 113 w 161"/>
                  <a:gd name="T5" fmla="*/ 97 h 97"/>
                  <a:gd name="T6" fmla="*/ 161 w 161"/>
                  <a:gd name="T7" fmla="*/ 97 h 97"/>
                  <a:gd name="T8" fmla="*/ 161 w 161"/>
                  <a:gd name="T9" fmla="*/ 80 h 97"/>
                  <a:gd name="T10" fmla="*/ 141 w 161"/>
                  <a:gd name="T11" fmla="*/ 80 h 97"/>
                  <a:gd name="T12" fmla="*/ 116 w 161"/>
                  <a:gd name="T13" fmla="*/ 51 h 97"/>
                  <a:gd name="T14" fmla="*/ 120 w 161"/>
                  <a:gd name="T15" fmla="*/ 49 h 97"/>
                  <a:gd name="T16" fmla="*/ 128 w 161"/>
                  <a:gd name="T17" fmla="*/ 46 h 97"/>
                  <a:gd name="T18" fmla="*/ 135 w 161"/>
                  <a:gd name="T19" fmla="*/ 42 h 97"/>
                  <a:gd name="T20" fmla="*/ 138 w 161"/>
                  <a:gd name="T21" fmla="*/ 38 h 97"/>
                  <a:gd name="T22" fmla="*/ 142 w 161"/>
                  <a:gd name="T23" fmla="*/ 33 h 97"/>
                  <a:gd name="T24" fmla="*/ 143 w 161"/>
                  <a:gd name="T25" fmla="*/ 27 h 97"/>
                  <a:gd name="T26" fmla="*/ 142 w 161"/>
                  <a:gd name="T27" fmla="*/ 24 h 97"/>
                  <a:gd name="T28" fmla="*/ 141 w 161"/>
                  <a:gd name="T29" fmla="*/ 18 h 97"/>
                  <a:gd name="T30" fmla="*/ 136 w 161"/>
                  <a:gd name="T31" fmla="*/ 13 h 97"/>
                  <a:gd name="T32" fmla="*/ 130 w 161"/>
                  <a:gd name="T33" fmla="*/ 8 h 97"/>
                  <a:gd name="T34" fmla="*/ 128 w 161"/>
                  <a:gd name="T35" fmla="*/ 6 h 97"/>
                  <a:gd name="T36" fmla="*/ 121 w 161"/>
                  <a:gd name="T37" fmla="*/ 3 h 97"/>
                  <a:gd name="T38" fmla="*/ 113 w 161"/>
                  <a:gd name="T39" fmla="*/ 1 h 97"/>
                  <a:gd name="T40" fmla="*/ 104 w 161"/>
                  <a:gd name="T41" fmla="*/ 0 h 97"/>
                  <a:gd name="T42" fmla="*/ 93 w 161"/>
                  <a:gd name="T43" fmla="*/ 0 h 97"/>
                  <a:gd name="T44" fmla="*/ 0 w 161"/>
                  <a:gd name="T45" fmla="*/ 0 h 97"/>
                  <a:gd name="T46" fmla="*/ 0 w 161"/>
                  <a:gd name="T47" fmla="*/ 16 h 97"/>
                  <a:gd name="T48" fmla="*/ 21 w 161"/>
                  <a:gd name="T49" fmla="*/ 16 h 97"/>
                  <a:gd name="T50" fmla="*/ 21 w 161"/>
                  <a:gd name="T51" fmla="*/ 80 h 97"/>
                  <a:gd name="T52" fmla="*/ 0 w 161"/>
                  <a:gd name="T53" fmla="*/ 80 h 97"/>
                  <a:gd name="T54" fmla="*/ 0 w 161"/>
                  <a:gd name="T55" fmla="*/ 97 h 97"/>
                  <a:gd name="T56" fmla="*/ 81 w 161"/>
                  <a:gd name="T57" fmla="*/ 97 h 97"/>
                  <a:gd name="T58" fmla="*/ 81 w 161"/>
                  <a:gd name="T59" fmla="*/ 80 h 97"/>
                  <a:gd name="T60" fmla="*/ 61 w 161"/>
                  <a:gd name="T61" fmla="*/ 80 h 97"/>
                  <a:gd name="T62" fmla="*/ 61 w 161"/>
                  <a:gd name="T63" fmla="*/ 55 h 97"/>
                  <a:gd name="T64" fmla="*/ 61 w 161"/>
                  <a:gd name="T65" fmla="*/ 16 h 97"/>
                  <a:gd name="T66" fmla="*/ 78 w 161"/>
                  <a:gd name="T67" fmla="*/ 16 h 97"/>
                  <a:gd name="T68" fmla="*/ 87 w 161"/>
                  <a:gd name="T69" fmla="*/ 16 h 97"/>
                  <a:gd name="T70" fmla="*/ 94 w 161"/>
                  <a:gd name="T71" fmla="*/ 18 h 97"/>
                  <a:gd name="T72" fmla="*/ 99 w 161"/>
                  <a:gd name="T73" fmla="*/ 22 h 97"/>
                  <a:gd name="T74" fmla="*/ 101 w 161"/>
                  <a:gd name="T75" fmla="*/ 28 h 97"/>
                  <a:gd name="T76" fmla="*/ 101 w 161"/>
                  <a:gd name="T77" fmla="*/ 29 h 97"/>
                  <a:gd name="T78" fmla="*/ 99 w 161"/>
                  <a:gd name="T79" fmla="*/ 33 h 97"/>
                  <a:gd name="T80" fmla="*/ 93 w 161"/>
                  <a:gd name="T81" fmla="*/ 36 h 97"/>
                  <a:gd name="T82" fmla="*/ 86 w 161"/>
                  <a:gd name="T83" fmla="*/ 38 h 97"/>
                  <a:gd name="T84" fmla="*/ 75 w 161"/>
                  <a:gd name="T85" fmla="*/ 39 h 97"/>
                  <a:gd name="T86" fmla="*/ 61 w 161"/>
                  <a:gd name="T87" fmla="*/ 39 h 97"/>
                  <a:gd name="T88" fmla="*/ 61 w 161"/>
                  <a:gd name="T89" fmla="*/ 16 h 9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61"/>
                  <a:gd name="T136" fmla="*/ 0 h 97"/>
                  <a:gd name="T137" fmla="*/ 161 w 161"/>
                  <a:gd name="T138" fmla="*/ 97 h 9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61" h="97">
                    <a:moveTo>
                      <a:pt x="61" y="55"/>
                    </a:moveTo>
                    <a:lnTo>
                      <a:pt x="78" y="55"/>
                    </a:lnTo>
                    <a:lnTo>
                      <a:pt x="113" y="97"/>
                    </a:lnTo>
                    <a:lnTo>
                      <a:pt x="161" y="97"/>
                    </a:lnTo>
                    <a:lnTo>
                      <a:pt x="161" y="80"/>
                    </a:lnTo>
                    <a:lnTo>
                      <a:pt x="141" y="80"/>
                    </a:lnTo>
                    <a:lnTo>
                      <a:pt x="116" y="51"/>
                    </a:lnTo>
                    <a:lnTo>
                      <a:pt x="120" y="49"/>
                    </a:lnTo>
                    <a:lnTo>
                      <a:pt x="128" y="46"/>
                    </a:lnTo>
                    <a:lnTo>
                      <a:pt x="135" y="42"/>
                    </a:lnTo>
                    <a:lnTo>
                      <a:pt x="138" y="38"/>
                    </a:lnTo>
                    <a:lnTo>
                      <a:pt x="142" y="33"/>
                    </a:lnTo>
                    <a:lnTo>
                      <a:pt x="143" y="27"/>
                    </a:lnTo>
                    <a:lnTo>
                      <a:pt x="142" y="24"/>
                    </a:lnTo>
                    <a:lnTo>
                      <a:pt x="141" y="18"/>
                    </a:lnTo>
                    <a:lnTo>
                      <a:pt x="136" y="13"/>
                    </a:lnTo>
                    <a:lnTo>
                      <a:pt x="130" y="8"/>
                    </a:lnTo>
                    <a:lnTo>
                      <a:pt x="128" y="6"/>
                    </a:lnTo>
                    <a:lnTo>
                      <a:pt x="121" y="3"/>
                    </a:lnTo>
                    <a:lnTo>
                      <a:pt x="113" y="1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21" y="16"/>
                    </a:lnTo>
                    <a:lnTo>
                      <a:pt x="21" y="80"/>
                    </a:lnTo>
                    <a:lnTo>
                      <a:pt x="0" y="80"/>
                    </a:lnTo>
                    <a:lnTo>
                      <a:pt x="0" y="97"/>
                    </a:lnTo>
                    <a:lnTo>
                      <a:pt x="81" y="97"/>
                    </a:lnTo>
                    <a:lnTo>
                      <a:pt x="81" y="80"/>
                    </a:lnTo>
                    <a:lnTo>
                      <a:pt x="61" y="80"/>
                    </a:lnTo>
                    <a:lnTo>
                      <a:pt x="61" y="55"/>
                    </a:lnTo>
                    <a:close/>
                    <a:moveTo>
                      <a:pt x="61" y="16"/>
                    </a:moveTo>
                    <a:lnTo>
                      <a:pt x="78" y="16"/>
                    </a:lnTo>
                    <a:lnTo>
                      <a:pt x="87" y="16"/>
                    </a:lnTo>
                    <a:lnTo>
                      <a:pt x="94" y="18"/>
                    </a:lnTo>
                    <a:lnTo>
                      <a:pt x="99" y="22"/>
                    </a:lnTo>
                    <a:lnTo>
                      <a:pt x="101" y="28"/>
                    </a:lnTo>
                    <a:lnTo>
                      <a:pt x="101" y="29"/>
                    </a:lnTo>
                    <a:lnTo>
                      <a:pt x="99" y="33"/>
                    </a:lnTo>
                    <a:lnTo>
                      <a:pt x="93" y="36"/>
                    </a:lnTo>
                    <a:lnTo>
                      <a:pt x="86" y="38"/>
                    </a:lnTo>
                    <a:lnTo>
                      <a:pt x="75" y="39"/>
                    </a:lnTo>
                    <a:lnTo>
                      <a:pt x="61" y="39"/>
                    </a:lnTo>
                    <a:lnTo>
                      <a:pt x="61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1" name="Freeform 20"/>
              <p:cNvSpPr>
                <a:spLocks noEditPoints="1"/>
              </p:cNvSpPr>
              <p:nvPr/>
            </p:nvSpPr>
            <p:spPr bwMode="auto">
              <a:xfrm>
                <a:off x="1086" y="1160"/>
                <a:ext cx="161" cy="97"/>
              </a:xfrm>
              <a:custGeom>
                <a:avLst/>
                <a:gdLst>
                  <a:gd name="T0" fmla="*/ 61 w 161"/>
                  <a:gd name="T1" fmla="*/ 54 h 97"/>
                  <a:gd name="T2" fmla="*/ 79 w 161"/>
                  <a:gd name="T3" fmla="*/ 54 h 97"/>
                  <a:gd name="T4" fmla="*/ 114 w 161"/>
                  <a:gd name="T5" fmla="*/ 97 h 97"/>
                  <a:gd name="T6" fmla="*/ 161 w 161"/>
                  <a:gd name="T7" fmla="*/ 97 h 97"/>
                  <a:gd name="T8" fmla="*/ 161 w 161"/>
                  <a:gd name="T9" fmla="*/ 81 h 97"/>
                  <a:gd name="T10" fmla="*/ 141 w 161"/>
                  <a:gd name="T11" fmla="*/ 81 h 97"/>
                  <a:gd name="T12" fmla="*/ 115 w 161"/>
                  <a:gd name="T13" fmla="*/ 51 h 97"/>
                  <a:gd name="T14" fmla="*/ 121 w 161"/>
                  <a:gd name="T15" fmla="*/ 50 h 97"/>
                  <a:gd name="T16" fmla="*/ 129 w 161"/>
                  <a:gd name="T17" fmla="*/ 46 h 97"/>
                  <a:gd name="T18" fmla="*/ 135 w 161"/>
                  <a:gd name="T19" fmla="*/ 43 h 97"/>
                  <a:gd name="T20" fmla="*/ 139 w 161"/>
                  <a:gd name="T21" fmla="*/ 38 h 97"/>
                  <a:gd name="T22" fmla="*/ 141 w 161"/>
                  <a:gd name="T23" fmla="*/ 33 h 97"/>
                  <a:gd name="T24" fmla="*/ 143 w 161"/>
                  <a:gd name="T25" fmla="*/ 27 h 97"/>
                  <a:gd name="T26" fmla="*/ 143 w 161"/>
                  <a:gd name="T27" fmla="*/ 24 h 97"/>
                  <a:gd name="T28" fmla="*/ 140 w 161"/>
                  <a:gd name="T29" fmla="*/ 18 h 97"/>
                  <a:gd name="T30" fmla="*/ 137 w 161"/>
                  <a:gd name="T31" fmla="*/ 13 h 97"/>
                  <a:gd name="T32" fmla="*/ 131 w 161"/>
                  <a:gd name="T33" fmla="*/ 8 h 97"/>
                  <a:gd name="T34" fmla="*/ 128 w 161"/>
                  <a:gd name="T35" fmla="*/ 7 h 97"/>
                  <a:gd name="T36" fmla="*/ 122 w 161"/>
                  <a:gd name="T37" fmla="*/ 4 h 97"/>
                  <a:gd name="T38" fmla="*/ 113 w 161"/>
                  <a:gd name="T39" fmla="*/ 2 h 97"/>
                  <a:gd name="T40" fmla="*/ 104 w 161"/>
                  <a:gd name="T41" fmla="*/ 1 h 97"/>
                  <a:gd name="T42" fmla="*/ 93 w 161"/>
                  <a:gd name="T43" fmla="*/ 0 h 97"/>
                  <a:gd name="T44" fmla="*/ 0 w 161"/>
                  <a:gd name="T45" fmla="*/ 0 h 97"/>
                  <a:gd name="T46" fmla="*/ 0 w 161"/>
                  <a:gd name="T47" fmla="*/ 16 h 97"/>
                  <a:gd name="T48" fmla="*/ 21 w 161"/>
                  <a:gd name="T49" fmla="*/ 16 h 97"/>
                  <a:gd name="T50" fmla="*/ 21 w 161"/>
                  <a:gd name="T51" fmla="*/ 81 h 97"/>
                  <a:gd name="T52" fmla="*/ 0 w 161"/>
                  <a:gd name="T53" fmla="*/ 81 h 97"/>
                  <a:gd name="T54" fmla="*/ 0 w 161"/>
                  <a:gd name="T55" fmla="*/ 97 h 97"/>
                  <a:gd name="T56" fmla="*/ 80 w 161"/>
                  <a:gd name="T57" fmla="*/ 97 h 97"/>
                  <a:gd name="T58" fmla="*/ 80 w 161"/>
                  <a:gd name="T59" fmla="*/ 81 h 97"/>
                  <a:gd name="T60" fmla="*/ 61 w 161"/>
                  <a:gd name="T61" fmla="*/ 81 h 97"/>
                  <a:gd name="T62" fmla="*/ 61 w 161"/>
                  <a:gd name="T63" fmla="*/ 54 h 97"/>
                  <a:gd name="T64" fmla="*/ 61 w 161"/>
                  <a:gd name="T65" fmla="*/ 16 h 97"/>
                  <a:gd name="T66" fmla="*/ 79 w 161"/>
                  <a:gd name="T67" fmla="*/ 16 h 97"/>
                  <a:gd name="T68" fmla="*/ 87 w 161"/>
                  <a:gd name="T69" fmla="*/ 17 h 97"/>
                  <a:gd name="T70" fmla="*/ 95 w 161"/>
                  <a:gd name="T71" fmla="*/ 19 h 97"/>
                  <a:gd name="T72" fmla="*/ 98 w 161"/>
                  <a:gd name="T73" fmla="*/ 22 h 97"/>
                  <a:gd name="T74" fmla="*/ 101 w 161"/>
                  <a:gd name="T75" fmla="*/ 27 h 97"/>
                  <a:gd name="T76" fmla="*/ 101 w 161"/>
                  <a:gd name="T77" fmla="*/ 28 h 97"/>
                  <a:gd name="T78" fmla="*/ 98 w 161"/>
                  <a:gd name="T79" fmla="*/ 34 h 97"/>
                  <a:gd name="T80" fmla="*/ 94 w 161"/>
                  <a:gd name="T81" fmla="*/ 37 h 97"/>
                  <a:gd name="T82" fmla="*/ 86 w 161"/>
                  <a:gd name="T83" fmla="*/ 39 h 97"/>
                  <a:gd name="T84" fmla="*/ 76 w 161"/>
                  <a:gd name="T85" fmla="*/ 39 h 97"/>
                  <a:gd name="T86" fmla="*/ 61 w 161"/>
                  <a:gd name="T87" fmla="*/ 39 h 97"/>
                  <a:gd name="T88" fmla="*/ 61 w 161"/>
                  <a:gd name="T89" fmla="*/ 16 h 9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61"/>
                  <a:gd name="T136" fmla="*/ 0 h 97"/>
                  <a:gd name="T137" fmla="*/ 161 w 161"/>
                  <a:gd name="T138" fmla="*/ 97 h 9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61" h="97">
                    <a:moveTo>
                      <a:pt x="61" y="54"/>
                    </a:moveTo>
                    <a:lnTo>
                      <a:pt x="79" y="54"/>
                    </a:lnTo>
                    <a:lnTo>
                      <a:pt x="114" y="97"/>
                    </a:lnTo>
                    <a:lnTo>
                      <a:pt x="161" y="97"/>
                    </a:lnTo>
                    <a:lnTo>
                      <a:pt x="161" y="81"/>
                    </a:lnTo>
                    <a:lnTo>
                      <a:pt x="141" y="81"/>
                    </a:lnTo>
                    <a:lnTo>
                      <a:pt x="115" y="51"/>
                    </a:lnTo>
                    <a:lnTo>
                      <a:pt x="121" y="50"/>
                    </a:lnTo>
                    <a:lnTo>
                      <a:pt x="129" y="46"/>
                    </a:lnTo>
                    <a:lnTo>
                      <a:pt x="135" y="43"/>
                    </a:lnTo>
                    <a:lnTo>
                      <a:pt x="139" y="38"/>
                    </a:lnTo>
                    <a:lnTo>
                      <a:pt x="141" y="33"/>
                    </a:lnTo>
                    <a:lnTo>
                      <a:pt x="143" y="27"/>
                    </a:lnTo>
                    <a:lnTo>
                      <a:pt x="143" y="24"/>
                    </a:lnTo>
                    <a:lnTo>
                      <a:pt x="140" y="18"/>
                    </a:lnTo>
                    <a:lnTo>
                      <a:pt x="137" y="13"/>
                    </a:lnTo>
                    <a:lnTo>
                      <a:pt x="131" y="8"/>
                    </a:lnTo>
                    <a:lnTo>
                      <a:pt x="128" y="7"/>
                    </a:lnTo>
                    <a:lnTo>
                      <a:pt x="122" y="4"/>
                    </a:lnTo>
                    <a:lnTo>
                      <a:pt x="113" y="2"/>
                    </a:lnTo>
                    <a:lnTo>
                      <a:pt x="104" y="1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21" y="16"/>
                    </a:lnTo>
                    <a:lnTo>
                      <a:pt x="21" y="81"/>
                    </a:lnTo>
                    <a:lnTo>
                      <a:pt x="0" y="81"/>
                    </a:lnTo>
                    <a:lnTo>
                      <a:pt x="0" y="97"/>
                    </a:lnTo>
                    <a:lnTo>
                      <a:pt x="80" y="97"/>
                    </a:lnTo>
                    <a:lnTo>
                      <a:pt x="80" y="81"/>
                    </a:lnTo>
                    <a:lnTo>
                      <a:pt x="61" y="81"/>
                    </a:lnTo>
                    <a:lnTo>
                      <a:pt x="61" y="54"/>
                    </a:lnTo>
                    <a:close/>
                    <a:moveTo>
                      <a:pt x="61" y="16"/>
                    </a:moveTo>
                    <a:lnTo>
                      <a:pt x="79" y="16"/>
                    </a:lnTo>
                    <a:lnTo>
                      <a:pt x="87" y="17"/>
                    </a:lnTo>
                    <a:lnTo>
                      <a:pt x="95" y="19"/>
                    </a:lnTo>
                    <a:lnTo>
                      <a:pt x="98" y="22"/>
                    </a:lnTo>
                    <a:lnTo>
                      <a:pt x="101" y="27"/>
                    </a:lnTo>
                    <a:lnTo>
                      <a:pt x="101" y="28"/>
                    </a:lnTo>
                    <a:lnTo>
                      <a:pt x="98" y="34"/>
                    </a:lnTo>
                    <a:lnTo>
                      <a:pt x="94" y="37"/>
                    </a:lnTo>
                    <a:lnTo>
                      <a:pt x="86" y="39"/>
                    </a:lnTo>
                    <a:lnTo>
                      <a:pt x="76" y="39"/>
                    </a:lnTo>
                    <a:lnTo>
                      <a:pt x="61" y="39"/>
                    </a:lnTo>
                    <a:lnTo>
                      <a:pt x="61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16395" name="Picture 21" descr="显示屏-2"/>
            <p:cNvPicPr preferRelativeResize="0"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DFFFF"/>
                </a:clrFrom>
                <a:clrTo>
                  <a:srgbClr val="FD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3988" y="4402138"/>
              <a:ext cx="657225" cy="690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6" name="Picture 22" descr="显示屏-2"/>
            <p:cNvPicPr preferRelativeResize="0"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DFFFF"/>
                </a:clrFrom>
                <a:clrTo>
                  <a:srgbClr val="FD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7213" y="4402138"/>
              <a:ext cx="657225" cy="690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7" name="Line 23"/>
            <p:cNvSpPr>
              <a:spLocks noChangeShapeType="1"/>
            </p:cNvSpPr>
            <p:nvPr/>
          </p:nvSpPr>
          <p:spPr bwMode="auto">
            <a:xfrm>
              <a:off x="4102100" y="3182938"/>
              <a:ext cx="267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8" name="Line 24"/>
            <p:cNvSpPr>
              <a:spLocks noChangeShapeType="1"/>
            </p:cNvSpPr>
            <p:nvPr/>
          </p:nvSpPr>
          <p:spPr bwMode="auto">
            <a:xfrm flipH="1">
              <a:off x="1925638" y="3335338"/>
              <a:ext cx="133985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Line 25"/>
            <p:cNvSpPr>
              <a:spLocks noChangeShapeType="1"/>
            </p:cNvSpPr>
            <p:nvPr/>
          </p:nvSpPr>
          <p:spPr bwMode="auto">
            <a:xfrm>
              <a:off x="3265488" y="3335338"/>
              <a:ext cx="166687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400" name="Group 28"/>
            <p:cNvGrpSpPr>
              <a:grpSpLocks/>
            </p:cNvGrpSpPr>
            <p:nvPr/>
          </p:nvGrpSpPr>
          <p:grpSpPr bwMode="auto">
            <a:xfrm>
              <a:off x="3097213" y="2878138"/>
              <a:ext cx="1087437" cy="554037"/>
              <a:chOff x="820" y="1552"/>
              <a:chExt cx="671" cy="422"/>
            </a:xfrm>
          </p:grpSpPr>
          <p:sp>
            <p:nvSpPr>
              <p:cNvPr id="16409" name="Freeform 29"/>
              <p:cNvSpPr>
                <a:spLocks/>
              </p:cNvSpPr>
              <p:nvPr/>
            </p:nvSpPr>
            <p:spPr bwMode="auto">
              <a:xfrm>
                <a:off x="820" y="1552"/>
                <a:ext cx="671" cy="422"/>
              </a:xfrm>
              <a:custGeom>
                <a:avLst/>
                <a:gdLst>
                  <a:gd name="T0" fmla="*/ 495 w 671"/>
                  <a:gd name="T1" fmla="*/ 422 h 422"/>
                  <a:gd name="T2" fmla="*/ 671 w 671"/>
                  <a:gd name="T3" fmla="*/ 247 h 422"/>
                  <a:gd name="T4" fmla="*/ 671 w 671"/>
                  <a:gd name="T5" fmla="*/ 0 h 422"/>
                  <a:gd name="T6" fmla="*/ 175 w 671"/>
                  <a:gd name="T7" fmla="*/ 0 h 422"/>
                  <a:gd name="T8" fmla="*/ 0 w 671"/>
                  <a:gd name="T9" fmla="*/ 175 h 422"/>
                  <a:gd name="T10" fmla="*/ 0 w 671"/>
                  <a:gd name="T11" fmla="*/ 422 h 422"/>
                  <a:gd name="T12" fmla="*/ 495 w 671"/>
                  <a:gd name="T13" fmla="*/ 422 h 4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71"/>
                  <a:gd name="T22" fmla="*/ 0 h 422"/>
                  <a:gd name="T23" fmla="*/ 671 w 671"/>
                  <a:gd name="T24" fmla="*/ 422 h 4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71" h="422">
                    <a:moveTo>
                      <a:pt x="495" y="422"/>
                    </a:moveTo>
                    <a:lnTo>
                      <a:pt x="671" y="247"/>
                    </a:lnTo>
                    <a:lnTo>
                      <a:pt x="671" y="0"/>
                    </a:lnTo>
                    <a:lnTo>
                      <a:pt x="175" y="0"/>
                    </a:lnTo>
                    <a:lnTo>
                      <a:pt x="0" y="175"/>
                    </a:lnTo>
                    <a:lnTo>
                      <a:pt x="0" y="422"/>
                    </a:lnTo>
                    <a:lnTo>
                      <a:pt x="495" y="422"/>
                    </a:lnTo>
                    <a:close/>
                  </a:path>
                </a:pathLst>
              </a:custGeom>
              <a:solidFill>
                <a:srgbClr val="6D619E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0" name="Rectangle 30"/>
              <p:cNvSpPr>
                <a:spLocks noChangeArrowheads="1"/>
              </p:cNvSpPr>
              <p:nvPr/>
            </p:nvSpPr>
            <p:spPr bwMode="auto">
              <a:xfrm>
                <a:off x="820" y="1727"/>
                <a:ext cx="495" cy="247"/>
              </a:xfrm>
              <a:prstGeom prst="rect">
                <a:avLst/>
              </a:prstGeom>
              <a:solidFill>
                <a:srgbClr val="8E85B7"/>
              </a:solidFill>
              <a:ln w="9525">
                <a:solidFill>
                  <a:srgbClr val="23CB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1" name="Freeform 31"/>
              <p:cNvSpPr>
                <a:spLocks/>
              </p:cNvSpPr>
              <p:nvPr/>
            </p:nvSpPr>
            <p:spPr bwMode="auto">
              <a:xfrm>
                <a:off x="820" y="1552"/>
                <a:ext cx="671" cy="175"/>
              </a:xfrm>
              <a:custGeom>
                <a:avLst/>
                <a:gdLst>
                  <a:gd name="T0" fmla="*/ 0 w 671"/>
                  <a:gd name="T1" fmla="*/ 175 h 175"/>
                  <a:gd name="T2" fmla="*/ 495 w 671"/>
                  <a:gd name="T3" fmla="*/ 175 h 175"/>
                  <a:gd name="T4" fmla="*/ 671 w 671"/>
                  <a:gd name="T5" fmla="*/ 0 h 175"/>
                  <a:gd name="T6" fmla="*/ 175 w 671"/>
                  <a:gd name="T7" fmla="*/ 0 h 175"/>
                  <a:gd name="T8" fmla="*/ 0 w 671"/>
                  <a:gd name="T9" fmla="*/ 175 h 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175"/>
                  <a:gd name="T17" fmla="*/ 671 w 671"/>
                  <a:gd name="T18" fmla="*/ 175 h 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175">
                    <a:moveTo>
                      <a:pt x="0" y="175"/>
                    </a:moveTo>
                    <a:lnTo>
                      <a:pt x="495" y="175"/>
                    </a:lnTo>
                    <a:lnTo>
                      <a:pt x="671" y="0"/>
                    </a:lnTo>
                    <a:lnTo>
                      <a:pt x="175" y="0"/>
                    </a:lnTo>
                    <a:lnTo>
                      <a:pt x="0" y="175"/>
                    </a:lnTo>
                    <a:close/>
                  </a:path>
                </a:pathLst>
              </a:custGeom>
              <a:solidFill>
                <a:srgbClr val="BBB4D6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2" name="Freeform 32"/>
              <p:cNvSpPr>
                <a:spLocks noEditPoints="1"/>
              </p:cNvSpPr>
              <p:nvPr/>
            </p:nvSpPr>
            <p:spPr bwMode="auto">
              <a:xfrm>
                <a:off x="1003" y="1584"/>
                <a:ext cx="291" cy="102"/>
              </a:xfrm>
              <a:custGeom>
                <a:avLst/>
                <a:gdLst>
                  <a:gd name="T0" fmla="*/ 146 w 291"/>
                  <a:gd name="T1" fmla="*/ 41 h 102"/>
                  <a:gd name="T2" fmla="*/ 115 w 291"/>
                  <a:gd name="T3" fmla="*/ 18 h 102"/>
                  <a:gd name="T4" fmla="*/ 203 w 291"/>
                  <a:gd name="T5" fmla="*/ 18 h 102"/>
                  <a:gd name="T6" fmla="*/ 146 w 291"/>
                  <a:gd name="T7" fmla="*/ 41 h 102"/>
                  <a:gd name="T8" fmla="*/ 144 w 291"/>
                  <a:gd name="T9" fmla="*/ 62 h 102"/>
                  <a:gd name="T10" fmla="*/ 174 w 291"/>
                  <a:gd name="T11" fmla="*/ 85 h 102"/>
                  <a:gd name="T12" fmla="*/ 86 w 291"/>
                  <a:gd name="T13" fmla="*/ 85 h 102"/>
                  <a:gd name="T14" fmla="*/ 144 w 291"/>
                  <a:gd name="T15" fmla="*/ 62 h 102"/>
                  <a:gd name="T16" fmla="*/ 0 w 291"/>
                  <a:gd name="T17" fmla="*/ 102 h 102"/>
                  <a:gd name="T18" fmla="*/ 225 w 291"/>
                  <a:gd name="T19" fmla="*/ 102 h 102"/>
                  <a:gd name="T20" fmla="*/ 162 w 291"/>
                  <a:gd name="T21" fmla="*/ 53 h 102"/>
                  <a:gd name="T22" fmla="*/ 291 w 291"/>
                  <a:gd name="T23" fmla="*/ 0 h 102"/>
                  <a:gd name="T24" fmla="*/ 64 w 291"/>
                  <a:gd name="T25" fmla="*/ 0 h 102"/>
                  <a:gd name="T26" fmla="*/ 128 w 291"/>
                  <a:gd name="T27" fmla="*/ 50 h 102"/>
                  <a:gd name="T28" fmla="*/ 0 w 291"/>
                  <a:gd name="T29" fmla="*/ 102 h 1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1"/>
                  <a:gd name="T46" fmla="*/ 0 h 102"/>
                  <a:gd name="T47" fmla="*/ 291 w 291"/>
                  <a:gd name="T48" fmla="*/ 102 h 10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1" h="102">
                    <a:moveTo>
                      <a:pt x="146" y="41"/>
                    </a:moveTo>
                    <a:lnTo>
                      <a:pt x="115" y="18"/>
                    </a:lnTo>
                    <a:lnTo>
                      <a:pt x="203" y="18"/>
                    </a:lnTo>
                    <a:lnTo>
                      <a:pt x="146" y="41"/>
                    </a:lnTo>
                    <a:close/>
                    <a:moveTo>
                      <a:pt x="144" y="62"/>
                    </a:moveTo>
                    <a:lnTo>
                      <a:pt x="174" y="85"/>
                    </a:lnTo>
                    <a:lnTo>
                      <a:pt x="86" y="85"/>
                    </a:lnTo>
                    <a:lnTo>
                      <a:pt x="144" y="62"/>
                    </a:lnTo>
                    <a:close/>
                    <a:moveTo>
                      <a:pt x="0" y="102"/>
                    </a:moveTo>
                    <a:lnTo>
                      <a:pt x="225" y="102"/>
                    </a:lnTo>
                    <a:lnTo>
                      <a:pt x="162" y="53"/>
                    </a:lnTo>
                    <a:lnTo>
                      <a:pt x="291" y="0"/>
                    </a:lnTo>
                    <a:lnTo>
                      <a:pt x="64" y="0"/>
                    </a:lnTo>
                    <a:lnTo>
                      <a:pt x="128" y="5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3" name="Freeform 33"/>
              <p:cNvSpPr>
                <a:spLocks noEditPoints="1"/>
              </p:cNvSpPr>
              <p:nvPr/>
            </p:nvSpPr>
            <p:spPr bwMode="auto">
              <a:xfrm>
                <a:off x="1017" y="1593"/>
                <a:ext cx="291" cy="101"/>
              </a:xfrm>
              <a:custGeom>
                <a:avLst/>
                <a:gdLst>
                  <a:gd name="T0" fmla="*/ 147 w 291"/>
                  <a:gd name="T1" fmla="*/ 41 h 101"/>
                  <a:gd name="T2" fmla="*/ 117 w 291"/>
                  <a:gd name="T3" fmla="*/ 17 h 101"/>
                  <a:gd name="T4" fmla="*/ 205 w 291"/>
                  <a:gd name="T5" fmla="*/ 17 h 101"/>
                  <a:gd name="T6" fmla="*/ 147 w 291"/>
                  <a:gd name="T7" fmla="*/ 41 h 101"/>
                  <a:gd name="T8" fmla="*/ 144 w 291"/>
                  <a:gd name="T9" fmla="*/ 60 h 101"/>
                  <a:gd name="T10" fmla="*/ 176 w 291"/>
                  <a:gd name="T11" fmla="*/ 84 h 101"/>
                  <a:gd name="T12" fmla="*/ 87 w 291"/>
                  <a:gd name="T13" fmla="*/ 84 h 101"/>
                  <a:gd name="T14" fmla="*/ 144 w 291"/>
                  <a:gd name="T15" fmla="*/ 60 h 101"/>
                  <a:gd name="T16" fmla="*/ 0 w 291"/>
                  <a:gd name="T17" fmla="*/ 101 h 101"/>
                  <a:gd name="T18" fmla="*/ 227 w 291"/>
                  <a:gd name="T19" fmla="*/ 101 h 101"/>
                  <a:gd name="T20" fmla="*/ 163 w 291"/>
                  <a:gd name="T21" fmla="*/ 53 h 101"/>
                  <a:gd name="T22" fmla="*/ 291 w 291"/>
                  <a:gd name="T23" fmla="*/ 0 h 101"/>
                  <a:gd name="T24" fmla="*/ 66 w 291"/>
                  <a:gd name="T25" fmla="*/ 0 h 101"/>
                  <a:gd name="T26" fmla="*/ 129 w 291"/>
                  <a:gd name="T27" fmla="*/ 48 h 101"/>
                  <a:gd name="T28" fmla="*/ 0 w 291"/>
                  <a:gd name="T29" fmla="*/ 101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1"/>
                  <a:gd name="T46" fmla="*/ 0 h 101"/>
                  <a:gd name="T47" fmla="*/ 291 w 291"/>
                  <a:gd name="T48" fmla="*/ 101 h 10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1" h="101">
                    <a:moveTo>
                      <a:pt x="147" y="41"/>
                    </a:moveTo>
                    <a:lnTo>
                      <a:pt x="117" y="17"/>
                    </a:lnTo>
                    <a:lnTo>
                      <a:pt x="205" y="17"/>
                    </a:lnTo>
                    <a:lnTo>
                      <a:pt x="147" y="41"/>
                    </a:lnTo>
                    <a:close/>
                    <a:moveTo>
                      <a:pt x="144" y="60"/>
                    </a:moveTo>
                    <a:lnTo>
                      <a:pt x="176" y="84"/>
                    </a:lnTo>
                    <a:lnTo>
                      <a:pt x="87" y="84"/>
                    </a:lnTo>
                    <a:lnTo>
                      <a:pt x="144" y="60"/>
                    </a:lnTo>
                    <a:close/>
                    <a:moveTo>
                      <a:pt x="0" y="101"/>
                    </a:moveTo>
                    <a:lnTo>
                      <a:pt x="227" y="101"/>
                    </a:lnTo>
                    <a:lnTo>
                      <a:pt x="163" y="53"/>
                    </a:lnTo>
                    <a:lnTo>
                      <a:pt x="291" y="0"/>
                    </a:lnTo>
                    <a:lnTo>
                      <a:pt x="66" y="0"/>
                    </a:lnTo>
                    <a:lnTo>
                      <a:pt x="129" y="48"/>
                    </a:lnTo>
                    <a:lnTo>
                      <a:pt x="0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4" name="Freeform 34"/>
              <p:cNvSpPr>
                <a:spLocks/>
              </p:cNvSpPr>
              <p:nvPr/>
            </p:nvSpPr>
            <p:spPr bwMode="auto">
              <a:xfrm>
                <a:off x="1015" y="1803"/>
                <a:ext cx="149" cy="115"/>
              </a:xfrm>
              <a:custGeom>
                <a:avLst/>
                <a:gdLst>
                  <a:gd name="T0" fmla="*/ 106 w 149"/>
                  <a:gd name="T1" fmla="*/ 112 h 115"/>
                  <a:gd name="T2" fmla="*/ 83 w 149"/>
                  <a:gd name="T3" fmla="*/ 115 h 115"/>
                  <a:gd name="T4" fmla="*/ 58 w 149"/>
                  <a:gd name="T5" fmla="*/ 112 h 115"/>
                  <a:gd name="T6" fmla="*/ 39 w 149"/>
                  <a:gd name="T7" fmla="*/ 104 h 115"/>
                  <a:gd name="T8" fmla="*/ 1 w 149"/>
                  <a:gd name="T9" fmla="*/ 113 h 115"/>
                  <a:gd name="T10" fmla="*/ 39 w 149"/>
                  <a:gd name="T11" fmla="*/ 75 h 115"/>
                  <a:gd name="T12" fmla="*/ 46 w 149"/>
                  <a:gd name="T13" fmla="*/ 88 h 115"/>
                  <a:gd name="T14" fmla="*/ 60 w 149"/>
                  <a:gd name="T15" fmla="*/ 94 h 115"/>
                  <a:gd name="T16" fmla="*/ 86 w 149"/>
                  <a:gd name="T17" fmla="*/ 94 h 115"/>
                  <a:gd name="T18" fmla="*/ 97 w 149"/>
                  <a:gd name="T19" fmla="*/ 86 h 115"/>
                  <a:gd name="T20" fmla="*/ 94 w 149"/>
                  <a:gd name="T21" fmla="*/ 77 h 115"/>
                  <a:gd name="T22" fmla="*/ 82 w 149"/>
                  <a:gd name="T23" fmla="*/ 71 h 115"/>
                  <a:gd name="T24" fmla="*/ 65 w 149"/>
                  <a:gd name="T25" fmla="*/ 66 h 115"/>
                  <a:gd name="T26" fmla="*/ 36 w 149"/>
                  <a:gd name="T27" fmla="*/ 59 h 115"/>
                  <a:gd name="T28" fmla="*/ 17 w 149"/>
                  <a:gd name="T29" fmla="*/ 52 h 115"/>
                  <a:gd name="T30" fmla="*/ 6 w 149"/>
                  <a:gd name="T31" fmla="*/ 46 h 115"/>
                  <a:gd name="T32" fmla="*/ 0 w 149"/>
                  <a:gd name="T33" fmla="*/ 32 h 115"/>
                  <a:gd name="T34" fmla="*/ 1 w 149"/>
                  <a:gd name="T35" fmla="*/ 24 h 115"/>
                  <a:gd name="T36" fmla="*/ 11 w 149"/>
                  <a:gd name="T37" fmla="*/ 12 h 115"/>
                  <a:gd name="T38" fmla="*/ 29 w 149"/>
                  <a:gd name="T39" fmla="*/ 5 h 115"/>
                  <a:gd name="T40" fmla="*/ 53 w 149"/>
                  <a:gd name="T41" fmla="*/ 0 h 115"/>
                  <a:gd name="T42" fmla="*/ 73 w 149"/>
                  <a:gd name="T43" fmla="*/ 1 h 115"/>
                  <a:gd name="T44" fmla="*/ 94 w 149"/>
                  <a:gd name="T45" fmla="*/ 7 h 115"/>
                  <a:gd name="T46" fmla="*/ 100 w 149"/>
                  <a:gd name="T47" fmla="*/ 1 h 115"/>
                  <a:gd name="T48" fmla="*/ 137 w 149"/>
                  <a:gd name="T49" fmla="*/ 35 h 115"/>
                  <a:gd name="T50" fmla="*/ 97 w 149"/>
                  <a:gd name="T51" fmla="*/ 29 h 115"/>
                  <a:gd name="T52" fmla="*/ 89 w 149"/>
                  <a:gd name="T53" fmla="*/ 23 h 115"/>
                  <a:gd name="T54" fmla="*/ 68 w 149"/>
                  <a:gd name="T55" fmla="*/ 19 h 115"/>
                  <a:gd name="T56" fmla="*/ 52 w 149"/>
                  <a:gd name="T57" fmla="*/ 22 h 115"/>
                  <a:gd name="T58" fmla="*/ 46 w 149"/>
                  <a:gd name="T59" fmla="*/ 28 h 115"/>
                  <a:gd name="T60" fmla="*/ 51 w 149"/>
                  <a:gd name="T61" fmla="*/ 35 h 115"/>
                  <a:gd name="T62" fmla="*/ 71 w 149"/>
                  <a:gd name="T63" fmla="*/ 41 h 115"/>
                  <a:gd name="T64" fmla="*/ 97 w 149"/>
                  <a:gd name="T65" fmla="*/ 47 h 115"/>
                  <a:gd name="T66" fmla="*/ 119 w 149"/>
                  <a:gd name="T67" fmla="*/ 53 h 115"/>
                  <a:gd name="T68" fmla="*/ 131 w 149"/>
                  <a:gd name="T69" fmla="*/ 58 h 115"/>
                  <a:gd name="T70" fmla="*/ 140 w 149"/>
                  <a:gd name="T71" fmla="*/ 65 h 115"/>
                  <a:gd name="T72" fmla="*/ 148 w 149"/>
                  <a:gd name="T73" fmla="*/ 77 h 115"/>
                  <a:gd name="T74" fmla="*/ 148 w 149"/>
                  <a:gd name="T75" fmla="*/ 89 h 115"/>
                  <a:gd name="T76" fmla="*/ 138 w 149"/>
                  <a:gd name="T77" fmla="*/ 101 h 115"/>
                  <a:gd name="T78" fmla="*/ 129 w 149"/>
                  <a:gd name="T79" fmla="*/ 106 h 11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9"/>
                  <a:gd name="T121" fmla="*/ 0 h 115"/>
                  <a:gd name="T122" fmla="*/ 149 w 149"/>
                  <a:gd name="T123" fmla="*/ 115 h 11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9" h="115">
                    <a:moveTo>
                      <a:pt x="119" y="110"/>
                    </a:moveTo>
                    <a:lnTo>
                      <a:pt x="106" y="112"/>
                    </a:lnTo>
                    <a:lnTo>
                      <a:pt x="93" y="115"/>
                    </a:lnTo>
                    <a:lnTo>
                      <a:pt x="83" y="115"/>
                    </a:lnTo>
                    <a:lnTo>
                      <a:pt x="70" y="113"/>
                    </a:lnTo>
                    <a:lnTo>
                      <a:pt x="58" y="112"/>
                    </a:lnTo>
                    <a:lnTo>
                      <a:pt x="47" y="109"/>
                    </a:lnTo>
                    <a:lnTo>
                      <a:pt x="39" y="104"/>
                    </a:lnTo>
                    <a:lnTo>
                      <a:pt x="39" y="113"/>
                    </a:lnTo>
                    <a:lnTo>
                      <a:pt x="1" y="113"/>
                    </a:lnTo>
                    <a:lnTo>
                      <a:pt x="1" y="75"/>
                    </a:lnTo>
                    <a:lnTo>
                      <a:pt x="39" y="75"/>
                    </a:lnTo>
                    <a:lnTo>
                      <a:pt x="41" y="82"/>
                    </a:lnTo>
                    <a:lnTo>
                      <a:pt x="46" y="88"/>
                    </a:lnTo>
                    <a:lnTo>
                      <a:pt x="49" y="90"/>
                    </a:lnTo>
                    <a:lnTo>
                      <a:pt x="60" y="94"/>
                    </a:lnTo>
                    <a:lnTo>
                      <a:pt x="73" y="95"/>
                    </a:lnTo>
                    <a:lnTo>
                      <a:pt x="86" y="94"/>
                    </a:lnTo>
                    <a:lnTo>
                      <a:pt x="91" y="92"/>
                    </a:lnTo>
                    <a:lnTo>
                      <a:pt x="97" y="86"/>
                    </a:lnTo>
                    <a:lnTo>
                      <a:pt x="97" y="83"/>
                    </a:lnTo>
                    <a:lnTo>
                      <a:pt x="94" y="77"/>
                    </a:lnTo>
                    <a:lnTo>
                      <a:pt x="91" y="75"/>
                    </a:lnTo>
                    <a:lnTo>
                      <a:pt x="82" y="71"/>
                    </a:lnTo>
                    <a:lnTo>
                      <a:pt x="69" y="68"/>
                    </a:lnTo>
                    <a:lnTo>
                      <a:pt x="65" y="66"/>
                    </a:lnTo>
                    <a:lnTo>
                      <a:pt x="49" y="63"/>
                    </a:lnTo>
                    <a:lnTo>
                      <a:pt x="36" y="59"/>
                    </a:lnTo>
                    <a:lnTo>
                      <a:pt x="25" y="55"/>
                    </a:lnTo>
                    <a:lnTo>
                      <a:pt x="17" y="52"/>
                    </a:lnTo>
                    <a:lnTo>
                      <a:pt x="13" y="51"/>
                    </a:lnTo>
                    <a:lnTo>
                      <a:pt x="6" y="46"/>
                    </a:lnTo>
                    <a:lnTo>
                      <a:pt x="1" y="40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1" y="24"/>
                    </a:lnTo>
                    <a:lnTo>
                      <a:pt x="5" y="17"/>
                    </a:lnTo>
                    <a:lnTo>
                      <a:pt x="11" y="12"/>
                    </a:lnTo>
                    <a:lnTo>
                      <a:pt x="18" y="8"/>
                    </a:lnTo>
                    <a:lnTo>
                      <a:pt x="29" y="5"/>
                    </a:lnTo>
                    <a:lnTo>
                      <a:pt x="41" y="1"/>
                    </a:lnTo>
                    <a:lnTo>
                      <a:pt x="53" y="0"/>
                    </a:lnTo>
                    <a:lnTo>
                      <a:pt x="59" y="0"/>
                    </a:lnTo>
                    <a:lnTo>
                      <a:pt x="73" y="1"/>
                    </a:lnTo>
                    <a:lnTo>
                      <a:pt x="85" y="3"/>
                    </a:lnTo>
                    <a:lnTo>
                      <a:pt x="94" y="7"/>
                    </a:lnTo>
                    <a:lnTo>
                      <a:pt x="100" y="11"/>
                    </a:lnTo>
                    <a:lnTo>
                      <a:pt x="100" y="1"/>
                    </a:lnTo>
                    <a:lnTo>
                      <a:pt x="137" y="1"/>
                    </a:lnTo>
                    <a:lnTo>
                      <a:pt x="137" y="35"/>
                    </a:lnTo>
                    <a:lnTo>
                      <a:pt x="100" y="35"/>
                    </a:lnTo>
                    <a:lnTo>
                      <a:pt x="97" y="29"/>
                    </a:lnTo>
                    <a:lnTo>
                      <a:pt x="89" y="23"/>
                    </a:lnTo>
                    <a:lnTo>
                      <a:pt x="77" y="19"/>
                    </a:lnTo>
                    <a:lnTo>
                      <a:pt x="68" y="19"/>
                    </a:lnTo>
                    <a:lnTo>
                      <a:pt x="56" y="20"/>
                    </a:lnTo>
                    <a:lnTo>
                      <a:pt x="52" y="22"/>
                    </a:lnTo>
                    <a:lnTo>
                      <a:pt x="46" y="26"/>
                    </a:lnTo>
                    <a:lnTo>
                      <a:pt x="46" y="28"/>
                    </a:lnTo>
                    <a:lnTo>
                      <a:pt x="51" y="34"/>
                    </a:lnTo>
                    <a:lnTo>
                      <a:pt x="51" y="35"/>
                    </a:lnTo>
                    <a:lnTo>
                      <a:pt x="58" y="37"/>
                    </a:lnTo>
                    <a:lnTo>
                      <a:pt x="71" y="41"/>
                    </a:lnTo>
                    <a:lnTo>
                      <a:pt x="82" y="43"/>
                    </a:lnTo>
                    <a:lnTo>
                      <a:pt x="97" y="47"/>
                    </a:lnTo>
                    <a:lnTo>
                      <a:pt x="109" y="49"/>
                    </a:lnTo>
                    <a:lnTo>
                      <a:pt x="119" y="53"/>
                    </a:lnTo>
                    <a:lnTo>
                      <a:pt x="120" y="53"/>
                    </a:lnTo>
                    <a:lnTo>
                      <a:pt x="131" y="58"/>
                    </a:lnTo>
                    <a:lnTo>
                      <a:pt x="138" y="63"/>
                    </a:lnTo>
                    <a:lnTo>
                      <a:pt x="140" y="65"/>
                    </a:lnTo>
                    <a:lnTo>
                      <a:pt x="145" y="71"/>
                    </a:lnTo>
                    <a:lnTo>
                      <a:pt x="148" y="77"/>
                    </a:lnTo>
                    <a:lnTo>
                      <a:pt x="149" y="81"/>
                    </a:lnTo>
                    <a:lnTo>
                      <a:pt x="148" y="89"/>
                    </a:lnTo>
                    <a:lnTo>
                      <a:pt x="144" y="95"/>
                    </a:lnTo>
                    <a:lnTo>
                      <a:pt x="138" y="101"/>
                    </a:lnTo>
                    <a:lnTo>
                      <a:pt x="131" y="106"/>
                    </a:lnTo>
                    <a:lnTo>
                      <a:pt x="129" y="106"/>
                    </a:lnTo>
                    <a:lnTo>
                      <a:pt x="119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5" name="Freeform 35"/>
              <p:cNvSpPr>
                <a:spLocks/>
              </p:cNvSpPr>
              <p:nvPr/>
            </p:nvSpPr>
            <p:spPr bwMode="auto">
              <a:xfrm>
                <a:off x="1003" y="1796"/>
                <a:ext cx="149" cy="114"/>
              </a:xfrm>
              <a:custGeom>
                <a:avLst/>
                <a:gdLst>
                  <a:gd name="T0" fmla="*/ 108 w 149"/>
                  <a:gd name="T1" fmla="*/ 112 h 114"/>
                  <a:gd name="T2" fmla="*/ 85 w 149"/>
                  <a:gd name="T3" fmla="*/ 114 h 114"/>
                  <a:gd name="T4" fmla="*/ 58 w 149"/>
                  <a:gd name="T5" fmla="*/ 111 h 114"/>
                  <a:gd name="T6" fmla="*/ 40 w 149"/>
                  <a:gd name="T7" fmla="*/ 104 h 114"/>
                  <a:gd name="T8" fmla="*/ 2 w 149"/>
                  <a:gd name="T9" fmla="*/ 113 h 114"/>
                  <a:gd name="T10" fmla="*/ 40 w 149"/>
                  <a:gd name="T11" fmla="*/ 75 h 114"/>
                  <a:gd name="T12" fmla="*/ 47 w 149"/>
                  <a:gd name="T13" fmla="*/ 88 h 114"/>
                  <a:gd name="T14" fmla="*/ 61 w 149"/>
                  <a:gd name="T15" fmla="*/ 94 h 114"/>
                  <a:gd name="T16" fmla="*/ 86 w 149"/>
                  <a:gd name="T17" fmla="*/ 93 h 114"/>
                  <a:gd name="T18" fmla="*/ 97 w 149"/>
                  <a:gd name="T19" fmla="*/ 85 h 114"/>
                  <a:gd name="T20" fmla="*/ 94 w 149"/>
                  <a:gd name="T21" fmla="*/ 77 h 114"/>
                  <a:gd name="T22" fmla="*/ 82 w 149"/>
                  <a:gd name="T23" fmla="*/ 71 h 114"/>
                  <a:gd name="T24" fmla="*/ 66 w 149"/>
                  <a:gd name="T25" fmla="*/ 66 h 114"/>
                  <a:gd name="T26" fmla="*/ 37 w 149"/>
                  <a:gd name="T27" fmla="*/ 59 h 114"/>
                  <a:gd name="T28" fmla="*/ 18 w 149"/>
                  <a:gd name="T29" fmla="*/ 52 h 114"/>
                  <a:gd name="T30" fmla="*/ 6 w 149"/>
                  <a:gd name="T31" fmla="*/ 44 h 114"/>
                  <a:gd name="T32" fmla="*/ 0 w 149"/>
                  <a:gd name="T33" fmla="*/ 31 h 114"/>
                  <a:gd name="T34" fmla="*/ 1 w 149"/>
                  <a:gd name="T35" fmla="*/ 23 h 114"/>
                  <a:gd name="T36" fmla="*/ 11 w 149"/>
                  <a:gd name="T37" fmla="*/ 12 h 114"/>
                  <a:gd name="T38" fmla="*/ 29 w 149"/>
                  <a:gd name="T39" fmla="*/ 3 h 114"/>
                  <a:gd name="T40" fmla="*/ 54 w 149"/>
                  <a:gd name="T41" fmla="*/ 0 h 114"/>
                  <a:gd name="T42" fmla="*/ 72 w 149"/>
                  <a:gd name="T43" fmla="*/ 1 h 114"/>
                  <a:gd name="T44" fmla="*/ 94 w 149"/>
                  <a:gd name="T45" fmla="*/ 7 h 114"/>
                  <a:gd name="T46" fmla="*/ 100 w 149"/>
                  <a:gd name="T47" fmla="*/ 1 h 114"/>
                  <a:gd name="T48" fmla="*/ 138 w 149"/>
                  <a:gd name="T49" fmla="*/ 35 h 114"/>
                  <a:gd name="T50" fmla="*/ 97 w 149"/>
                  <a:gd name="T51" fmla="*/ 27 h 114"/>
                  <a:gd name="T52" fmla="*/ 89 w 149"/>
                  <a:gd name="T53" fmla="*/ 23 h 114"/>
                  <a:gd name="T54" fmla="*/ 69 w 149"/>
                  <a:gd name="T55" fmla="*/ 18 h 114"/>
                  <a:gd name="T56" fmla="*/ 53 w 149"/>
                  <a:gd name="T57" fmla="*/ 20 h 114"/>
                  <a:gd name="T58" fmla="*/ 47 w 149"/>
                  <a:gd name="T59" fmla="*/ 27 h 114"/>
                  <a:gd name="T60" fmla="*/ 52 w 149"/>
                  <a:gd name="T61" fmla="*/ 33 h 114"/>
                  <a:gd name="T62" fmla="*/ 71 w 149"/>
                  <a:gd name="T63" fmla="*/ 39 h 114"/>
                  <a:gd name="T64" fmla="*/ 97 w 149"/>
                  <a:gd name="T65" fmla="*/ 46 h 114"/>
                  <a:gd name="T66" fmla="*/ 120 w 149"/>
                  <a:gd name="T67" fmla="*/ 53 h 114"/>
                  <a:gd name="T68" fmla="*/ 131 w 149"/>
                  <a:gd name="T69" fmla="*/ 56 h 114"/>
                  <a:gd name="T70" fmla="*/ 141 w 149"/>
                  <a:gd name="T71" fmla="*/ 64 h 114"/>
                  <a:gd name="T72" fmla="*/ 149 w 149"/>
                  <a:gd name="T73" fmla="*/ 77 h 114"/>
                  <a:gd name="T74" fmla="*/ 148 w 149"/>
                  <a:gd name="T75" fmla="*/ 88 h 114"/>
                  <a:gd name="T76" fmla="*/ 139 w 149"/>
                  <a:gd name="T77" fmla="*/ 100 h 114"/>
                  <a:gd name="T78" fmla="*/ 129 w 149"/>
                  <a:gd name="T79" fmla="*/ 106 h 11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9"/>
                  <a:gd name="T121" fmla="*/ 0 h 114"/>
                  <a:gd name="T122" fmla="*/ 149 w 149"/>
                  <a:gd name="T123" fmla="*/ 114 h 11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9" h="114">
                    <a:moveTo>
                      <a:pt x="118" y="110"/>
                    </a:moveTo>
                    <a:lnTo>
                      <a:pt x="108" y="112"/>
                    </a:lnTo>
                    <a:lnTo>
                      <a:pt x="94" y="113"/>
                    </a:lnTo>
                    <a:lnTo>
                      <a:pt x="85" y="114"/>
                    </a:lnTo>
                    <a:lnTo>
                      <a:pt x="70" y="113"/>
                    </a:lnTo>
                    <a:lnTo>
                      <a:pt x="58" y="111"/>
                    </a:lnTo>
                    <a:lnTo>
                      <a:pt x="48" y="107"/>
                    </a:lnTo>
                    <a:lnTo>
                      <a:pt x="40" y="104"/>
                    </a:lnTo>
                    <a:lnTo>
                      <a:pt x="40" y="113"/>
                    </a:lnTo>
                    <a:lnTo>
                      <a:pt x="2" y="113"/>
                    </a:lnTo>
                    <a:lnTo>
                      <a:pt x="2" y="75"/>
                    </a:lnTo>
                    <a:lnTo>
                      <a:pt x="40" y="75"/>
                    </a:lnTo>
                    <a:lnTo>
                      <a:pt x="41" y="82"/>
                    </a:lnTo>
                    <a:lnTo>
                      <a:pt x="47" y="88"/>
                    </a:lnTo>
                    <a:lnTo>
                      <a:pt x="51" y="90"/>
                    </a:lnTo>
                    <a:lnTo>
                      <a:pt x="61" y="94"/>
                    </a:lnTo>
                    <a:lnTo>
                      <a:pt x="74" y="95"/>
                    </a:lnTo>
                    <a:lnTo>
                      <a:pt x="86" y="93"/>
                    </a:lnTo>
                    <a:lnTo>
                      <a:pt x="91" y="91"/>
                    </a:lnTo>
                    <a:lnTo>
                      <a:pt x="97" y="85"/>
                    </a:lnTo>
                    <a:lnTo>
                      <a:pt x="98" y="83"/>
                    </a:lnTo>
                    <a:lnTo>
                      <a:pt x="94" y="77"/>
                    </a:lnTo>
                    <a:lnTo>
                      <a:pt x="91" y="75"/>
                    </a:lnTo>
                    <a:lnTo>
                      <a:pt x="82" y="71"/>
                    </a:lnTo>
                    <a:lnTo>
                      <a:pt x="69" y="67"/>
                    </a:lnTo>
                    <a:lnTo>
                      <a:pt x="66" y="66"/>
                    </a:lnTo>
                    <a:lnTo>
                      <a:pt x="51" y="62"/>
                    </a:lnTo>
                    <a:lnTo>
                      <a:pt x="37" y="59"/>
                    </a:lnTo>
                    <a:lnTo>
                      <a:pt x="26" y="55"/>
                    </a:lnTo>
                    <a:lnTo>
                      <a:pt x="18" y="52"/>
                    </a:lnTo>
                    <a:lnTo>
                      <a:pt x="14" y="49"/>
                    </a:lnTo>
                    <a:lnTo>
                      <a:pt x="6" y="44"/>
                    </a:lnTo>
                    <a:lnTo>
                      <a:pt x="2" y="38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1" y="23"/>
                    </a:lnTo>
                    <a:lnTo>
                      <a:pt x="5" y="17"/>
                    </a:lnTo>
                    <a:lnTo>
                      <a:pt x="11" y="12"/>
                    </a:lnTo>
                    <a:lnTo>
                      <a:pt x="18" y="8"/>
                    </a:lnTo>
                    <a:lnTo>
                      <a:pt x="29" y="3"/>
                    </a:lnTo>
                    <a:lnTo>
                      <a:pt x="41" y="1"/>
                    </a:lnTo>
                    <a:lnTo>
                      <a:pt x="54" y="0"/>
                    </a:lnTo>
                    <a:lnTo>
                      <a:pt x="59" y="0"/>
                    </a:lnTo>
                    <a:lnTo>
                      <a:pt x="72" y="1"/>
                    </a:lnTo>
                    <a:lnTo>
                      <a:pt x="85" y="3"/>
                    </a:lnTo>
                    <a:lnTo>
                      <a:pt x="94" y="7"/>
                    </a:lnTo>
                    <a:lnTo>
                      <a:pt x="100" y="10"/>
                    </a:lnTo>
                    <a:lnTo>
                      <a:pt x="100" y="1"/>
                    </a:lnTo>
                    <a:lnTo>
                      <a:pt x="138" y="1"/>
                    </a:lnTo>
                    <a:lnTo>
                      <a:pt x="138" y="35"/>
                    </a:lnTo>
                    <a:lnTo>
                      <a:pt x="100" y="35"/>
                    </a:lnTo>
                    <a:lnTo>
                      <a:pt x="97" y="27"/>
                    </a:lnTo>
                    <a:lnTo>
                      <a:pt x="89" y="23"/>
                    </a:lnTo>
                    <a:lnTo>
                      <a:pt x="78" y="19"/>
                    </a:lnTo>
                    <a:lnTo>
                      <a:pt x="69" y="18"/>
                    </a:lnTo>
                    <a:lnTo>
                      <a:pt x="55" y="20"/>
                    </a:lnTo>
                    <a:lnTo>
                      <a:pt x="53" y="20"/>
                    </a:lnTo>
                    <a:lnTo>
                      <a:pt x="47" y="26"/>
                    </a:lnTo>
                    <a:lnTo>
                      <a:pt x="47" y="27"/>
                    </a:lnTo>
                    <a:lnTo>
                      <a:pt x="51" y="33"/>
                    </a:lnTo>
                    <a:lnTo>
                      <a:pt x="52" y="33"/>
                    </a:lnTo>
                    <a:lnTo>
                      <a:pt x="59" y="37"/>
                    </a:lnTo>
                    <a:lnTo>
                      <a:pt x="71" y="39"/>
                    </a:lnTo>
                    <a:lnTo>
                      <a:pt x="82" y="43"/>
                    </a:lnTo>
                    <a:lnTo>
                      <a:pt x="97" y="46"/>
                    </a:lnTo>
                    <a:lnTo>
                      <a:pt x="110" y="49"/>
                    </a:lnTo>
                    <a:lnTo>
                      <a:pt x="120" y="53"/>
                    </a:lnTo>
                    <a:lnTo>
                      <a:pt x="121" y="53"/>
                    </a:lnTo>
                    <a:lnTo>
                      <a:pt x="131" y="56"/>
                    </a:lnTo>
                    <a:lnTo>
                      <a:pt x="139" y="62"/>
                    </a:lnTo>
                    <a:lnTo>
                      <a:pt x="141" y="64"/>
                    </a:lnTo>
                    <a:lnTo>
                      <a:pt x="146" y="70"/>
                    </a:lnTo>
                    <a:lnTo>
                      <a:pt x="149" y="77"/>
                    </a:lnTo>
                    <a:lnTo>
                      <a:pt x="149" y="81"/>
                    </a:lnTo>
                    <a:lnTo>
                      <a:pt x="148" y="88"/>
                    </a:lnTo>
                    <a:lnTo>
                      <a:pt x="144" y="95"/>
                    </a:lnTo>
                    <a:lnTo>
                      <a:pt x="139" y="100"/>
                    </a:lnTo>
                    <a:lnTo>
                      <a:pt x="131" y="105"/>
                    </a:lnTo>
                    <a:lnTo>
                      <a:pt x="129" y="106"/>
                    </a:lnTo>
                    <a:lnTo>
                      <a:pt x="118" y="1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401" name="Text Box 38"/>
            <p:cNvSpPr txBox="1">
              <a:spLocks noChangeArrowheads="1"/>
            </p:cNvSpPr>
            <p:nvPr/>
          </p:nvSpPr>
          <p:spPr bwMode="auto">
            <a:xfrm>
              <a:off x="3575050" y="2420938"/>
              <a:ext cx="2286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Vlan2:192.168.1.1/24</a:t>
              </a:r>
            </a:p>
          </p:txBody>
        </p:sp>
        <p:sp>
          <p:nvSpPr>
            <p:cNvPr id="16402" name="Text Box 39"/>
            <p:cNvSpPr txBox="1">
              <a:spLocks noChangeArrowheads="1"/>
            </p:cNvSpPr>
            <p:nvPr/>
          </p:nvSpPr>
          <p:spPr bwMode="auto">
            <a:xfrm>
              <a:off x="6110288" y="2420938"/>
              <a:ext cx="19605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E0:192.168.1.2/24</a:t>
              </a:r>
            </a:p>
            <a:p>
              <a:pPr algn="just" eaLnBrk="0" hangingPunct="0"/>
              <a:endParaRPr lang="en-US" altLang="zh-CN" sz="1800">
                <a:latin typeface="Times New Roman" pitchFamily="18" charset="0"/>
              </a:endParaRPr>
            </a:p>
          </p:txBody>
        </p:sp>
        <p:sp>
          <p:nvSpPr>
            <p:cNvPr id="16403" name="Text Box 40"/>
            <p:cNvSpPr txBox="1">
              <a:spLocks noChangeArrowheads="1"/>
            </p:cNvSpPr>
            <p:nvPr/>
          </p:nvSpPr>
          <p:spPr bwMode="auto">
            <a:xfrm>
              <a:off x="922338" y="3030538"/>
              <a:ext cx="22717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Vlan1:192.168.2.1/24</a:t>
              </a:r>
            </a:p>
          </p:txBody>
        </p:sp>
        <p:sp>
          <p:nvSpPr>
            <p:cNvPr id="16404" name="Text Box 41"/>
            <p:cNvSpPr txBox="1">
              <a:spLocks noChangeArrowheads="1"/>
            </p:cNvSpPr>
            <p:nvPr/>
          </p:nvSpPr>
          <p:spPr bwMode="auto">
            <a:xfrm>
              <a:off x="755650" y="5011738"/>
              <a:ext cx="2008188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Ip:192.168.2.2/24</a:t>
              </a:r>
            </a:p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Gw:192.168.2.1</a:t>
              </a:r>
            </a:p>
          </p:txBody>
        </p:sp>
        <p:sp>
          <p:nvSpPr>
            <p:cNvPr id="16405" name="Text Box 42"/>
            <p:cNvSpPr txBox="1">
              <a:spLocks noChangeArrowheads="1"/>
            </p:cNvSpPr>
            <p:nvPr/>
          </p:nvSpPr>
          <p:spPr bwMode="auto">
            <a:xfrm>
              <a:off x="2595563" y="5011738"/>
              <a:ext cx="2046287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 dirty="0">
                  <a:latin typeface="Times New Roman" pitchFamily="18" charset="0"/>
                </a:rPr>
                <a:t>Ip:192.168.2.3/24</a:t>
              </a:r>
            </a:p>
            <a:p>
              <a:pPr algn="just" eaLnBrk="0" hangingPunct="0"/>
              <a:r>
                <a:rPr lang="en-US" altLang="zh-CN" sz="1800" dirty="0">
                  <a:latin typeface="Times New Roman" pitchFamily="18" charset="0"/>
                </a:rPr>
                <a:t>Gw:192.168.2.1</a:t>
              </a:r>
            </a:p>
          </p:txBody>
        </p:sp>
        <p:sp>
          <p:nvSpPr>
            <p:cNvPr id="16406" name="Text Box 45"/>
            <p:cNvSpPr txBox="1">
              <a:spLocks noChangeArrowheads="1"/>
            </p:cNvSpPr>
            <p:nvPr/>
          </p:nvSpPr>
          <p:spPr bwMode="auto">
            <a:xfrm>
              <a:off x="1258888" y="5949950"/>
              <a:ext cx="6692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zh-CN" altLang="en-US" sz="1800" dirty="0">
                  <a:latin typeface="Times New Roman" pitchFamily="18" charset="0"/>
                </a:rPr>
                <a:t>注：</a:t>
              </a:r>
              <a:r>
                <a:rPr lang="en-US" altLang="zh-CN" sz="1800" dirty="0">
                  <a:latin typeface="Times New Roman" pitchFamily="18" charset="0"/>
                </a:rPr>
                <a:t>vlan1</a:t>
              </a:r>
              <a:r>
                <a:rPr lang="zh-CN" altLang="en-US" sz="1800" dirty="0">
                  <a:latin typeface="Times New Roman" pitchFamily="18" charset="0"/>
                </a:rPr>
                <a:t>包括端口</a:t>
              </a:r>
              <a:r>
                <a:rPr lang="en-US" altLang="zh-CN" sz="1800" dirty="0">
                  <a:latin typeface="Times New Roman" pitchFamily="18" charset="0"/>
                </a:rPr>
                <a:t>E0/1</a:t>
              </a:r>
              <a:r>
                <a:rPr lang="zh-CN" altLang="en-US" sz="1800" dirty="0">
                  <a:latin typeface="Times New Roman" pitchFamily="18" charset="0"/>
                </a:rPr>
                <a:t>到</a:t>
              </a:r>
              <a:r>
                <a:rPr lang="en-US" altLang="zh-CN" sz="1800" dirty="0">
                  <a:latin typeface="Times New Roman" pitchFamily="18" charset="0"/>
                </a:rPr>
                <a:t>E0/22</a:t>
              </a:r>
              <a:r>
                <a:rPr lang="zh-CN" altLang="en-US" sz="1800" dirty="0">
                  <a:latin typeface="Times New Roman" pitchFamily="18" charset="0"/>
                </a:rPr>
                <a:t>，</a:t>
              </a:r>
              <a:r>
                <a:rPr lang="en-US" altLang="zh-CN" sz="1800" dirty="0">
                  <a:latin typeface="Times New Roman" pitchFamily="18" charset="0"/>
                </a:rPr>
                <a:t>vlan2</a:t>
              </a:r>
              <a:r>
                <a:rPr lang="zh-CN" altLang="en-US" sz="1800" dirty="0">
                  <a:latin typeface="Times New Roman" pitchFamily="18" charset="0"/>
                </a:rPr>
                <a:t>包括端口</a:t>
              </a:r>
              <a:r>
                <a:rPr lang="en-US" altLang="zh-CN" sz="1800" dirty="0">
                  <a:latin typeface="Times New Roman" pitchFamily="18" charset="0"/>
                </a:rPr>
                <a:t>E0/23</a:t>
              </a:r>
              <a:r>
                <a:rPr lang="zh-CN" altLang="en-US" sz="1800" dirty="0">
                  <a:latin typeface="Times New Roman" pitchFamily="18" charset="0"/>
                </a:rPr>
                <a:t>到</a:t>
              </a:r>
              <a:r>
                <a:rPr lang="en-US" altLang="zh-CN" sz="1800" dirty="0">
                  <a:latin typeface="Times New Roman" pitchFamily="18" charset="0"/>
                </a:rPr>
                <a:t>E0/24</a:t>
              </a:r>
            </a:p>
          </p:txBody>
        </p:sp>
        <p:sp>
          <p:nvSpPr>
            <p:cNvPr id="16407" name="Text Box 46"/>
            <p:cNvSpPr txBox="1">
              <a:spLocks noChangeArrowheads="1"/>
            </p:cNvSpPr>
            <p:nvPr/>
          </p:nvSpPr>
          <p:spPr bwMode="auto">
            <a:xfrm>
              <a:off x="2930525" y="2573338"/>
              <a:ext cx="501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S1</a:t>
              </a:r>
            </a:p>
          </p:txBody>
        </p:sp>
        <p:sp>
          <p:nvSpPr>
            <p:cNvPr id="16408" name="Text Box 47"/>
            <p:cNvSpPr txBox="1">
              <a:spLocks noChangeArrowheads="1"/>
            </p:cNvSpPr>
            <p:nvPr/>
          </p:nvSpPr>
          <p:spPr bwMode="auto">
            <a:xfrm>
              <a:off x="6945313" y="3335338"/>
              <a:ext cx="5032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R1</a:t>
              </a: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88156" y="620688"/>
            <a:ext cx="8064500" cy="923925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>
                <a:latin typeface="黑体" pitchFamily="2" charset="-122"/>
                <a:ea typeface="宋体" pitchFamily="2" charset="-122"/>
              </a:rPr>
              <a:t>静态路由配置实验组网图</a:t>
            </a:r>
            <a:r>
              <a:rPr lang="en-US" altLang="zh-CN" dirty="0" smtClean="0">
                <a:latin typeface="黑体" pitchFamily="2" charset="-122"/>
                <a:ea typeface="宋体" pitchFamily="2" charset="-122"/>
              </a:rPr>
              <a:t/>
            </a:r>
            <a:br>
              <a:rPr lang="en-US" altLang="zh-CN" dirty="0" smtClean="0">
                <a:latin typeface="黑体" pitchFamily="2" charset="-122"/>
                <a:ea typeface="宋体" pitchFamily="2" charset="-122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85811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76672"/>
            <a:ext cx="8064500" cy="923925"/>
          </a:xfrm>
        </p:spPr>
        <p:txBody>
          <a:bodyPr>
            <a:normAutofit fontScale="90000"/>
          </a:bodyPr>
          <a:lstStyle/>
          <a:p>
            <a:pPr lvl="1" eaLnBrk="1" hangingPunct="1"/>
            <a:r>
              <a:rPr lang="zh-CN" altLang="en-US" sz="3200" dirty="0" smtClean="0">
                <a:latin typeface="宋体" pitchFamily="2" charset="-122"/>
                <a:ea typeface="宋体" pitchFamily="2" charset="-122"/>
              </a:rPr>
              <a:t>静态路由配置实验</a:t>
            </a:r>
            <a:r>
              <a:rPr lang="zh-CN" altLang="en-US" sz="3200" dirty="0">
                <a:latin typeface="宋体" pitchFamily="2" charset="-122"/>
                <a:ea typeface="宋体" pitchFamily="2" charset="-122"/>
              </a:rPr>
              <a:t>关键实验步骤说明</a:t>
            </a:r>
            <a:br>
              <a:rPr lang="zh-CN" altLang="en-US" sz="3200" dirty="0">
                <a:latin typeface="宋体" pitchFamily="2" charset="-122"/>
                <a:ea typeface="宋体" pitchFamily="2" charset="-122"/>
              </a:rPr>
            </a:br>
            <a:endParaRPr lang="en-US" altLang="zh-CN" sz="32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772816"/>
            <a:ext cx="8748464" cy="4365104"/>
          </a:xfrm>
        </p:spPr>
        <p:txBody>
          <a:bodyPr/>
          <a:lstStyle/>
          <a:p>
            <a:pPr marL="514350" lvl="1" indent="-514350">
              <a:buClr>
                <a:schemeClr val="accent1"/>
              </a:buClr>
              <a:buFont typeface="+mj-lt"/>
              <a:buAutoNum type="arabicPeriod"/>
            </a:pPr>
            <a:r>
              <a:rPr lang="zh-CN" altLang="en-US" sz="2800" dirty="0"/>
              <a:t>按组网图连接好设备，配置各路由器的各接口的</a:t>
            </a:r>
            <a:r>
              <a:rPr lang="en-US" altLang="zh-CN" sz="2800" dirty="0"/>
              <a:t>IP</a:t>
            </a:r>
            <a:r>
              <a:rPr lang="zh-CN" altLang="en-US" sz="2800" dirty="0"/>
              <a:t>地址等；配置各台计算机的</a:t>
            </a:r>
            <a:r>
              <a:rPr lang="en-US" altLang="zh-CN" sz="2800" dirty="0"/>
              <a:t>IP</a:t>
            </a:r>
            <a:r>
              <a:rPr lang="zh-CN" altLang="en-US" sz="2800" dirty="0"/>
              <a:t>地址、子网掩码和默认网关。</a:t>
            </a:r>
            <a:endParaRPr lang="en-US" altLang="zh-CN" sz="2800" dirty="0"/>
          </a:p>
          <a:p>
            <a:pPr marL="400050" lvl="2" indent="493713" eaLnBrk="1" hangingPunct="1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altLang="zh-CN" sz="2400" b="0" dirty="0"/>
              <a:t>   </a:t>
            </a:r>
            <a:r>
              <a:rPr lang="en-US" altLang="zh-CN" sz="2000" b="0" dirty="0"/>
              <a:t>[S1]</a:t>
            </a:r>
            <a:r>
              <a:rPr lang="en-US" altLang="zh-CN" sz="2000" b="0" dirty="0" err="1"/>
              <a:t>vlan</a:t>
            </a:r>
            <a:r>
              <a:rPr lang="en-US" altLang="zh-CN" sz="2000" b="0" dirty="0"/>
              <a:t> 2 </a:t>
            </a:r>
            <a:r>
              <a:rPr lang="zh-CN" altLang="en-US" sz="2000" b="0" dirty="0"/>
              <a:t>    </a:t>
            </a:r>
            <a:r>
              <a:rPr lang="en-US" altLang="zh-CN" sz="2000" b="0" dirty="0"/>
              <a:t>//</a:t>
            </a:r>
            <a:r>
              <a:rPr lang="zh-CN" altLang="zh-CN" sz="2000" b="0" dirty="0"/>
              <a:t>进入</a:t>
            </a:r>
            <a:r>
              <a:rPr lang="en-US" altLang="zh-CN" sz="2000" b="0" dirty="0" err="1"/>
              <a:t>Vlan</a:t>
            </a:r>
            <a:r>
              <a:rPr lang="zh-CN" altLang="zh-CN" sz="2000" b="0" dirty="0"/>
              <a:t>视图</a:t>
            </a:r>
            <a:endParaRPr lang="en-US" altLang="zh-CN" sz="2000" b="0" dirty="0"/>
          </a:p>
          <a:p>
            <a:pPr marL="400050" lvl="2" indent="493713" eaLnBrk="1" hangingPunct="1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altLang="zh-CN" sz="2000" b="0" dirty="0"/>
              <a:t>   [S1-vlan2]port e 0/20 to e 0/24     //</a:t>
            </a:r>
            <a:r>
              <a:rPr lang="zh-CN" altLang="zh-CN" sz="2000" b="0" dirty="0"/>
              <a:t>指定属于此</a:t>
            </a:r>
            <a:r>
              <a:rPr lang="en-US" altLang="zh-CN" sz="2000" b="0" dirty="0" err="1"/>
              <a:t>Vlan</a:t>
            </a:r>
            <a:r>
              <a:rPr lang="zh-CN" altLang="zh-CN" sz="2000" b="0" dirty="0"/>
              <a:t>的端口</a:t>
            </a:r>
            <a:endParaRPr lang="en-US" altLang="zh-CN" sz="2000" b="0" dirty="0"/>
          </a:p>
          <a:p>
            <a:pPr marL="400050" lvl="2" indent="493713" eaLnBrk="1" hangingPunct="1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altLang="zh-CN" sz="2000" b="0" dirty="0"/>
              <a:t>   [S1-Vlan-interface2]</a:t>
            </a:r>
            <a:r>
              <a:rPr lang="en-US" altLang="zh-CN" sz="2000" b="0" dirty="0" err="1"/>
              <a:t>ip</a:t>
            </a:r>
            <a:r>
              <a:rPr lang="en-US" altLang="zh-CN" sz="2000" b="0" dirty="0"/>
              <a:t> </a:t>
            </a:r>
            <a:r>
              <a:rPr lang="en-US" altLang="zh-CN" sz="2000" b="0" dirty="0" err="1"/>
              <a:t>addr</a:t>
            </a:r>
            <a:r>
              <a:rPr lang="en-US" altLang="zh-CN" sz="2000" b="0" dirty="0"/>
              <a:t> 192.168.1.1 255.255.255.0    //</a:t>
            </a:r>
            <a:r>
              <a:rPr lang="zh-CN" altLang="zh-CN" sz="2000" b="0" dirty="0"/>
              <a:t>为</a:t>
            </a:r>
            <a:r>
              <a:rPr lang="en-US" altLang="zh-CN" sz="2000" b="0" dirty="0" err="1"/>
              <a:t>vlan</a:t>
            </a:r>
            <a:r>
              <a:rPr lang="zh-CN" altLang="zh-CN" sz="2000" b="0" dirty="0"/>
              <a:t>接口配</a:t>
            </a:r>
            <a:r>
              <a:rPr lang="en-US" altLang="zh-CN" sz="2000" b="0" dirty="0"/>
              <a:t>IP</a:t>
            </a:r>
            <a:r>
              <a:rPr lang="zh-CN" altLang="zh-CN" sz="2000" b="0" dirty="0"/>
              <a:t>地址</a:t>
            </a:r>
            <a:endParaRPr lang="en-US" altLang="zh-CN" sz="2000" b="0" dirty="0"/>
          </a:p>
          <a:p>
            <a:pPr marL="730250" lvl="3" indent="-11113" eaLnBrk="1" hangingPunct="1">
              <a:buClr>
                <a:schemeClr val="accent1"/>
              </a:buClr>
              <a:buNone/>
            </a:pP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0532620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76672"/>
            <a:ext cx="8064500" cy="923925"/>
          </a:xfrm>
        </p:spPr>
        <p:txBody>
          <a:bodyPr>
            <a:normAutofit fontScale="90000"/>
          </a:bodyPr>
          <a:lstStyle/>
          <a:p>
            <a:pPr lvl="1" eaLnBrk="1" hangingPunct="1"/>
            <a:r>
              <a:rPr lang="zh-CN" altLang="en-US" sz="3200" dirty="0" smtClean="0">
                <a:latin typeface="宋体" pitchFamily="2" charset="-122"/>
                <a:ea typeface="宋体" pitchFamily="2" charset="-122"/>
              </a:rPr>
              <a:t>静态路由配置实验</a:t>
            </a:r>
            <a:r>
              <a:rPr lang="zh-CN" altLang="en-US" sz="3200" dirty="0">
                <a:latin typeface="宋体" pitchFamily="2" charset="-122"/>
                <a:ea typeface="宋体" pitchFamily="2" charset="-122"/>
              </a:rPr>
              <a:t>关键实验步骤说明</a:t>
            </a:r>
            <a:br>
              <a:rPr lang="zh-CN" altLang="en-US" sz="3200" dirty="0">
                <a:latin typeface="宋体" pitchFamily="2" charset="-122"/>
                <a:ea typeface="宋体" pitchFamily="2" charset="-122"/>
              </a:rPr>
            </a:br>
            <a:endParaRPr lang="en-US" altLang="zh-CN" sz="32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628800"/>
            <a:ext cx="8748464" cy="5445224"/>
          </a:xfrm>
        </p:spPr>
        <p:txBody>
          <a:bodyPr/>
          <a:lstStyle/>
          <a:p>
            <a:pPr marL="730250" lvl="3" indent="-11113" eaLnBrk="1" hangingPunct="1">
              <a:buClr>
                <a:schemeClr val="accent1"/>
              </a:buClr>
              <a:buNone/>
            </a:pPr>
            <a:endParaRPr lang="zh-CN" altLang="zh-CN" sz="1800" dirty="0"/>
          </a:p>
          <a:p>
            <a:pPr marL="457200" lvl="1" indent="-457200" eaLnBrk="1" hangingPunct="1">
              <a:buClr>
                <a:schemeClr val="accent1"/>
              </a:buClr>
              <a:buFont typeface="+mj-lt"/>
              <a:buAutoNum type="arabicPeriod" startAt="2"/>
            </a:pPr>
            <a:r>
              <a:rPr lang="zh-CN" altLang="en-US" sz="2800" dirty="0" smtClean="0"/>
              <a:t>对</a:t>
            </a:r>
            <a:r>
              <a:rPr lang="en-US" altLang="zh-CN" sz="2800" dirty="0"/>
              <a:t>R1</a:t>
            </a:r>
            <a:r>
              <a:rPr lang="zh-CN" altLang="en-US" sz="2800" dirty="0"/>
              <a:t>进行静态路由配置，添加一条到</a:t>
            </a:r>
            <a:r>
              <a:rPr lang="en-US" altLang="zh-CN" sz="2800" dirty="0"/>
              <a:t>192.168.2.0/24</a:t>
            </a:r>
            <a:r>
              <a:rPr lang="zh-CN" altLang="en-US" sz="2800" dirty="0"/>
              <a:t>的静态路由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400050" lvl="2" indent="0" eaLnBrk="1" hangingPunct="1">
              <a:buClr>
                <a:schemeClr val="accent1"/>
              </a:buClr>
              <a:buNone/>
            </a:pPr>
            <a:r>
              <a:rPr lang="en-US" altLang="zh-CN" sz="2400" b="0" dirty="0" smtClean="0"/>
              <a:t>       </a:t>
            </a:r>
            <a:r>
              <a:rPr lang="en-US" altLang="zh-CN" sz="2400" b="0" dirty="0" smtClean="0"/>
              <a:t>[R1]</a:t>
            </a:r>
            <a:r>
              <a:rPr lang="en-US" altLang="zh-CN" sz="2400" b="0" dirty="0" err="1" smtClean="0"/>
              <a:t>ip</a:t>
            </a:r>
            <a:r>
              <a:rPr lang="en-US" altLang="zh-CN" sz="2400" b="0" dirty="0" smtClean="0"/>
              <a:t> route-static 192.168.2.0 24 192.168.1.1</a:t>
            </a:r>
          </a:p>
          <a:p>
            <a:pPr marL="400050" lvl="2" indent="0" eaLnBrk="1" hangingPunct="1">
              <a:buClr>
                <a:schemeClr val="accent1"/>
              </a:buClr>
              <a:buNone/>
            </a:pPr>
            <a:endParaRPr lang="zh-CN" altLang="en-US" sz="2000" b="0" dirty="0"/>
          </a:p>
          <a:p>
            <a:pPr marL="457200" lvl="1" indent="-457200">
              <a:buClr>
                <a:schemeClr val="accent1"/>
              </a:buClr>
              <a:buFont typeface="+mj-lt"/>
              <a:buAutoNum type="arabicPeriod" startAt="2"/>
            </a:pPr>
            <a:r>
              <a:rPr lang="zh-CN" altLang="en-US" sz="2800" dirty="0"/>
              <a:t>查看路由表</a:t>
            </a:r>
            <a:r>
              <a:rPr lang="en-US" altLang="zh-CN" sz="2800" dirty="0"/>
              <a:t>display </a:t>
            </a:r>
            <a:r>
              <a:rPr lang="en-US" altLang="zh-CN" sz="2800" dirty="0" err="1"/>
              <a:t>ip</a:t>
            </a:r>
            <a:r>
              <a:rPr lang="en-US" altLang="zh-CN" sz="2800" dirty="0"/>
              <a:t> </a:t>
            </a:r>
            <a:r>
              <a:rPr lang="en-US" altLang="zh-CN" sz="2800" dirty="0"/>
              <a:t>routing-table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350838" lvl="1" indent="-350838" eaLnBrk="1" hangingPunct="1">
              <a:buClr>
                <a:schemeClr val="accent1"/>
              </a:buClr>
              <a:buFont typeface="+mj-lt"/>
              <a:buAutoNum type="arabicPeriod" startAt="2"/>
            </a:pPr>
            <a:endParaRPr lang="en-US" altLang="zh-CN" sz="2400" b="0" dirty="0"/>
          </a:p>
          <a:p>
            <a:pPr marL="457200" lvl="1" indent="-457200">
              <a:buClr>
                <a:schemeClr val="accent1"/>
              </a:buClr>
              <a:buFont typeface="+mj-lt"/>
              <a:buAutoNum type="arabicPeriod" startAt="2"/>
            </a:pPr>
            <a:r>
              <a:rPr lang="zh-CN" altLang="en-US" sz="2800" dirty="0"/>
              <a:t>从</a:t>
            </a:r>
            <a:r>
              <a:rPr lang="en-US" altLang="zh-CN" sz="2800" dirty="0"/>
              <a:t>R1</a:t>
            </a:r>
            <a:r>
              <a:rPr lang="zh-CN" altLang="en-US" sz="2800" dirty="0"/>
              <a:t>路由器</a:t>
            </a:r>
            <a:r>
              <a:rPr lang="en-US" altLang="zh-CN" sz="2800" dirty="0"/>
              <a:t>ping</a:t>
            </a:r>
            <a:r>
              <a:rPr lang="zh-CN" altLang="en-US" sz="2800" dirty="0"/>
              <a:t>各台</a:t>
            </a:r>
            <a:r>
              <a:rPr lang="zh-CN" altLang="en-US" sz="2800" dirty="0"/>
              <a:t>计算机的地址，测试是否</a:t>
            </a:r>
            <a:r>
              <a:rPr lang="zh-CN" altLang="en-US" sz="2800" dirty="0"/>
              <a:t>能</a:t>
            </a:r>
            <a:r>
              <a:rPr lang="en-US" altLang="zh-CN" sz="2800" dirty="0"/>
              <a:t>ping</a:t>
            </a:r>
            <a:r>
              <a:rPr lang="zh-CN" altLang="en-US" sz="2800" dirty="0"/>
              <a:t>通？</a:t>
            </a:r>
          </a:p>
        </p:txBody>
      </p:sp>
    </p:spTree>
    <p:extLst>
      <p:ext uri="{BB962C8B-B14F-4D97-AF65-F5344CB8AC3E}">
        <p14:creationId xmlns:p14="http://schemas.microsoft.com/office/powerpoint/2010/main" val="15227566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 smtClean="0">
                <a:latin typeface="宋体" pitchFamily="2" charset="-122"/>
                <a:ea typeface="宋体" pitchFamily="2" charset="-122"/>
              </a:rPr>
              <a:t>静态路由配置实验关键实验步骤说明（续）</a:t>
            </a:r>
            <a:endParaRPr lang="en-US" altLang="zh-CN" sz="3200" dirty="0" smtClean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772816"/>
            <a:ext cx="8928992" cy="4393381"/>
          </a:xfrm>
        </p:spPr>
        <p:txBody>
          <a:bodyPr/>
          <a:lstStyle/>
          <a:p>
            <a:pPr marL="350838" lvl="1" indent="-350838" eaLnBrk="1" hangingPunct="1">
              <a:lnSpc>
                <a:spcPct val="90000"/>
              </a:lnSpc>
              <a:buClr>
                <a:schemeClr val="accent1"/>
              </a:buClr>
              <a:buFont typeface="+mj-lt"/>
              <a:buAutoNum type="arabicPeriod" startAt="5"/>
            </a:pPr>
            <a:r>
              <a:rPr lang="zh-CN" altLang="en-US" dirty="0" smtClean="0"/>
              <a:t>删除刚才配置的静态路由：</a:t>
            </a:r>
            <a:endParaRPr lang="en-US" altLang="zh-CN" dirty="0" smtClean="0"/>
          </a:p>
          <a:p>
            <a:pPr marL="720000" lvl="3" indent="-546100" eaLnBrk="1" hangingPunct="1">
              <a:spcBef>
                <a:spcPts val="0"/>
              </a:spcBef>
              <a:buClr>
                <a:schemeClr val="accent1"/>
              </a:buClr>
              <a:buNone/>
            </a:pPr>
            <a:r>
              <a:rPr lang="en-US" altLang="zh-CN" b="0" dirty="0" smtClean="0">
                <a:solidFill>
                  <a:srgbClr val="FF0000"/>
                </a:solidFill>
              </a:rPr>
              <a:t>undo</a:t>
            </a:r>
            <a:r>
              <a:rPr lang="en-US" altLang="zh-CN" b="0" dirty="0" smtClean="0"/>
              <a:t> </a:t>
            </a:r>
            <a:r>
              <a:rPr lang="en-US" altLang="zh-CN" b="0" dirty="0" err="1" smtClean="0"/>
              <a:t>ip</a:t>
            </a:r>
            <a:r>
              <a:rPr lang="en-US" altLang="zh-CN" b="0" dirty="0" smtClean="0"/>
              <a:t> route-static 192.168.2.0</a:t>
            </a:r>
            <a:r>
              <a:rPr lang="zh-CN" altLang="en-US" b="0" dirty="0" smtClean="0"/>
              <a:t> </a:t>
            </a:r>
            <a:r>
              <a:rPr lang="en-US" altLang="zh-CN" b="0" dirty="0" smtClean="0"/>
              <a:t>255.255.255.0</a:t>
            </a:r>
            <a:r>
              <a:rPr lang="zh-CN" altLang="en-US" b="0" dirty="0" smtClean="0"/>
              <a:t> </a:t>
            </a:r>
            <a:r>
              <a:rPr lang="en-US" altLang="zh-CN" b="0" dirty="0" smtClean="0"/>
              <a:t>192.168.1.1</a:t>
            </a:r>
          </a:p>
          <a:p>
            <a:pPr marL="350838" lvl="2" indent="-350838" eaLnBrk="1" hangingPunct="1">
              <a:lnSpc>
                <a:spcPct val="90000"/>
              </a:lnSpc>
              <a:buClr>
                <a:schemeClr val="accent1"/>
              </a:buClr>
              <a:buNone/>
            </a:pPr>
            <a:endParaRPr lang="en-US" altLang="zh-CN" sz="2400" b="0" dirty="0" smtClean="0"/>
          </a:p>
          <a:p>
            <a:pPr marL="350838" lvl="1" indent="-350838" eaLnBrk="1" hangingPunct="1">
              <a:lnSpc>
                <a:spcPct val="90000"/>
              </a:lnSpc>
              <a:buClr>
                <a:schemeClr val="accent1"/>
              </a:buClr>
              <a:buFont typeface="+mj-lt"/>
              <a:buAutoNum type="arabicPeriod" startAt="5"/>
            </a:pPr>
            <a:r>
              <a:rPr lang="zh-CN" altLang="en-US" dirty="0"/>
              <a:t>对</a:t>
            </a:r>
            <a:r>
              <a:rPr lang="en-US" altLang="zh-CN" dirty="0"/>
              <a:t>R1</a:t>
            </a:r>
            <a:r>
              <a:rPr lang="zh-CN" altLang="en-US" dirty="0"/>
              <a:t>配置缺省路由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marL="808038" lvl="3" indent="-350838" eaLnBrk="1" hangingPunct="1">
              <a:lnSpc>
                <a:spcPct val="9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CN" b="0" dirty="0" smtClean="0"/>
              <a:t>[</a:t>
            </a:r>
            <a:r>
              <a:rPr lang="en-US" altLang="zh-CN" b="0" dirty="0" smtClean="0"/>
              <a:t>R1] IP route-static 0.0.0.0  0.0.0.0 192.168.1.1</a:t>
            </a:r>
          </a:p>
          <a:p>
            <a:pPr marL="808038" lvl="3" indent="-350838" eaLnBrk="1" hangingPunct="1">
              <a:lnSpc>
                <a:spcPct val="90000"/>
              </a:lnSpc>
              <a:buClr>
                <a:schemeClr val="accent1"/>
              </a:buClr>
              <a:buFont typeface="Wingdings" pitchFamily="2" charset="2"/>
              <a:buNone/>
            </a:pPr>
            <a:endParaRPr lang="en-US" altLang="zh-CN" b="0" dirty="0" smtClean="0"/>
          </a:p>
          <a:p>
            <a:pPr marL="350838" lvl="1" indent="-350838" eaLnBrk="1" hangingPunct="1">
              <a:lnSpc>
                <a:spcPct val="90000"/>
              </a:lnSpc>
              <a:buClr>
                <a:schemeClr val="accent1"/>
              </a:buClr>
              <a:buFont typeface="+mj-lt"/>
              <a:buAutoNum type="arabicPeriod" startAt="5"/>
            </a:pPr>
            <a:r>
              <a:rPr lang="zh-CN" altLang="en-US" dirty="0"/>
              <a:t>观察</a:t>
            </a:r>
            <a:r>
              <a:rPr lang="en-US" altLang="zh-CN" dirty="0"/>
              <a:t>R1</a:t>
            </a:r>
            <a:r>
              <a:rPr lang="zh-CN" altLang="en-US" dirty="0"/>
              <a:t>路由表</a:t>
            </a:r>
            <a:r>
              <a:rPr lang="zh-CN" altLang="en-US" b="0" dirty="0"/>
              <a:t>。</a:t>
            </a:r>
          </a:p>
          <a:p>
            <a:pPr marL="350838" lvl="1" indent="-350838" eaLnBrk="1" hangingPunct="1">
              <a:lnSpc>
                <a:spcPct val="90000"/>
              </a:lnSpc>
              <a:buClr>
                <a:schemeClr val="accent1"/>
              </a:buClr>
              <a:buFont typeface="+mj-lt"/>
              <a:buAutoNum type="arabicPeriod" startAt="8"/>
            </a:pPr>
            <a:r>
              <a:rPr lang="zh-CN" altLang="en-US" dirty="0" smtClean="0"/>
              <a:t>在</a:t>
            </a:r>
            <a:r>
              <a:rPr lang="en-US" altLang="zh-CN" dirty="0"/>
              <a:t>R1</a:t>
            </a:r>
            <a:r>
              <a:rPr lang="zh-CN" altLang="en-US" dirty="0"/>
              <a:t>上</a:t>
            </a:r>
            <a:r>
              <a:rPr lang="en-US" altLang="zh-CN" dirty="0"/>
              <a:t>ping</a:t>
            </a:r>
            <a:r>
              <a:rPr lang="zh-CN" altLang="en-US" dirty="0"/>
              <a:t>各台计算机，看能否</a:t>
            </a:r>
            <a:r>
              <a:rPr lang="en-US" altLang="zh-CN" dirty="0"/>
              <a:t>ping</a:t>
            </a:r>
            <a:r>
              <a:rPr lang="zh-CN" altLang="en-US" dirty="0"/>
              <a:t>通？</a:t>
            </a:r>
          </a:p>
        </p:txBody>
      </p:sp>
    </p:spTree>
    <p:extLst>
      <p:ext uri="{BB962C8B-B14F-4D97-AF65-F5344CB8AC3E}">
        <p14:creationId xmlns:p14="http://schemas.microsoft.com/office/powerpoint/2010/main" val="10517234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毕业答辩尹瑞模板">
  <a:themeElements>
    <a:clrScheme name="毕业答辩尹瑞模板 9">
      <a:dk1>
        <a:srgbClr val="330066"/>
      </a:dk1>
      <a:lt1>
        <a:srgbClr val="D8DADA"/>
      </a:lt1>
      <a:dk2>
        <a:srgbClr val="FFFFFF"/>
      </a:dk2>
      <a:lt2>
        <a:srgbClr val="6B6B6B"/>
      </a:lt2>
      <a:accent1>
        <a:srgbClr val="DF0029"/>
      </a:accent1>
      <a:accent2>
        <a:srgbClr val="DF0029"/>
      </a:accent2>
      <a:accent3>
        <a:srgbClr val="E9EAEA"/>
      </a:accent3>
      <a:accent4>
        <a:srgbClr val="2A0056"/>
      </a:accent4>
      <a:accent5>
        <a:srgbClr val="ECAAAC"/>
      </a:accent5>
      <a:accent6>
        <a:srgbClr val="CA0024"/>
      </a:accent6>
      <a:hlink>
        <a:srgbClr val="135A9A"/>
      </a:hlink>
      <a:folHlink>
        <a:srgbClr val="711C81"/>
      </a:folHlink>
    </a:clrScheme>
    <a:fontScheme name="毕业答辩尹瑞模板">
      <a:majorFont>
        <a:latin typeface="黑体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rgbClr val="CCECFF"/>
          </a:extrusionClr>
        </a:sp3d>
        <a:extLst>
          <a:ext uri="{91240B29-F687-4F45-9708-019B960494DF}">
            <a14:hiddenLine xmlns:a14="http://schemas.microsoft.com/office/drawing/2010/main" w="9525" cap="flat" cmpd="sng" algn="ctr">
              <a:noFill/>
              <a:prstDash val="dash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仿宋_GB2312" pitchFamily="49" charset="-122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rgbClr val="CCECFF"/>
          </a:extrusionClr>
        </a:sp3d>
        <a:extLst>
          <a:ext uri="{91240B29-F687-4F45-9708-019B960494DF}">
            <a14:hiddenLine xmlns:a14="http://schemas.microsoft.com/office/drawing/2010/main" w="9525" cap="flat" cmpd="sng" algn="ctr">
              <a:noFill/>
              <a:prstDash val="dash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仿宋_GB2312" pitchFamily="49" charset="-122"/>
            <a:ea typeface="仿宋_GB2312" pitchFamily="49" charset="-122"/>
          </a:defRPr>
        </a:defPPr>
      </a:lstStyle>
    </a:lnDef>
  </a:objectDefaults>
  <a:extraClrSchemeLst>
    <a:extraClrScheme>
      <a:clrScheme name="毕业答辩尹瑞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毕业答辩尹瑞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8">
        <a:dk1>
          <a:srgbClr val="330066"/>
        </a:dk1>
        <a:lt1>
          <a:srgbClr val="D8DADA"/>
        </a:lt1>
        <a:dk2>
          <a:srgbClr val="FFFFFF"/>
        </a:dk2>
        <a:lt2>
          <a:srgbClr val="6B6B6B"/>
        </a:lt2>
        <a:accent1>
          <a:srgbClr val="DF0029"/>
        </a:accent1>
        <a:accent2>
          <a:srgbClr val="8FECE5"/>
        </a:accent2>
        <a:accent3>
          <a:srgbClr val="E9EAEA"/>
        </a:accent3>
        <a:accent4>
          <a:srgbClr val="2A0056"/>
        </a:accent4>
        <a:accent5>
          <a:srgbClr val="ECAAAC"/>
        </a:accent5>
        <a:accent6>
          <a:srgbClr val="81D6CF"/>
        </a:accent6>
        <a:hlink>
          <a:srgbClr val="135A9A"/>
        </a:hlink>
        <a:folHlink>
          <a:srgbClr val="711C8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9">
        <a:dk1>
          <a:srgbClr val="330066"/>
        </a:dk1>
        <a:lt1>
          <a:srgbClr val="D8DADA"/>
        </a:lt1>
        <a:dk2>
          <a:srgbClr val="FFFFFF"/>
        </a:dk2>
        <a:lt2>
          <a:srgbClr val="6B6B6B"/>
        </a:lt2>
        <a:accent1>
          <a:srgbClr val="DF0029"/>
        </a:accent1>
        <a:accent2>
          <a:srgbClr val="DF0029"/>
        </a:accent2>
        <a:accent3>
          <a:srgbClr val="E9EAEA"/>
        </a:accent3>
        <a:accent4>
          <a:srgbClr val="2A0056"/>
        </a:accent4>
        <a:accent5>
          <a:srgbClr val="ECAAAC"/>
        </a:accent5>
        <a:accent6>
          <a:srgbClr val="CA0024"/>
        </a:accent6>
        <a:hlink>
          <a:srgbClr val="135A9A"/>
        </a:hlink>
        <a:folHlink>
          <a:srgbClr val="711C8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RIP协议实验(本科生mooc)</Template>
  <TotalTime>11</TotalTime>
  <Words>878</Words>
  <Application>Microsoft Office PowerPoint</Application>
  <PresentationFormat>全屏显示(4:3)</PresentationFormat>
  <Paragraphs>160</Paragraphs>
  <Slides>9</Slides>
  <Notes>8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毕业答辩尹瑞模板</vt:lpstr>
      <vt:lpstr>静态路由的配置实验</vt:lpstr>
      <vt:lpstr>静态路由的三要素</vt:lpstr>
      <vt:lpstr>静态路由的三要素</vt:lpstr>
      <vt:lpstr>静态路由的配置方法</vt:lpstr>
      <vt:lpstr>默认路由（default route）</vt:lpstr>
      <vt:lpstr>静态路由配置实验组网图 </vt:lpstr>
      <vt:lpstr>静态路由配置实验关键实验步骤说明 </vt:lpstr>
      <vt:lpstr>静态路由配置实验关键实验步骤说明 </vt:lpstr>
      <vt:lpstr>静态路由配置实验关键实验步骤说明（续）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静态路由的配置实验</dc:title>
  <dc:creator>jiaofuju</dc:creator>
  <cp:lastModifiedBy>jiaofuju</cp:lastModifiedBy>
  <cp:revision>2</cp:revision>
  <dcterms:created xsi:type="dcterms:W3CDTF">2014-11-06T22:30:49Z</dcterms:created>
  <dcterms:modified xsi:type="dcterms:W3CDTF">2014-11-06T22:42:21Z</dcterms:modified>
</cp:coreProperties>
</file>