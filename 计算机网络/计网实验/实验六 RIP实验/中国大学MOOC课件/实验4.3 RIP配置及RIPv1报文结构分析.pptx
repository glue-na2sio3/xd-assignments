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70" r:id="rId7"/>
    <p:sldId id="271" r:id="rId8"/>
    <p:sldId id="265" r:id="rId9"/>
    <p:sldId id="267" r:id="rId10"/>
    <p:sldId id="272" r:id="rId11"/>
    <p:sldId id="273" r:id="rId12"/>
    <p:sldId id="262" r:id="rId13"/>
    <p:sldId id="263" r:id="rId14"/>
    <p:sldId id="266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30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8F8CF-1817-451D-A9A5-7308168A23D1}" type="datetimeFigureOut">
              <a:rPr lang="zh-CN" altLang="en-US" smtClean="0"/>
              <a:t>2014/11/7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6ABB81-BD22-4B6A-B621-613D5F78D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70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    动态路由中，管理员不再需要手工维护路由表，而是由路由器中运行的路由表管理程序自动维护路由表。这个路由管理程序就是动态路由协议。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动态路由协议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RIP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是一种内部网关协议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，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它采用距离矢量算法。运行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RIP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协议的相邻路由器之间交换整个路由表，并进行矢量叠加，最后达到每个路由器知道整个网络的路由。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8088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RIP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通过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UDP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报文交换路由信息，每隔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30s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向外发送一次更新报文。如果路由器经过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180s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没有收到来自对端的路由更新报文，则将所有来自此路由器的路由标记为不可达，若其后的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120s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仍未收到更新报文，则将这些路由删除。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3099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8088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RIP</a:t>
            </a:r>
            <a:r>
              <a:rPr lang="zh-CN" altLang="en-US" dirty="0" smtClean="0"/>
              <a:t>使用跳数（</a:t>
            </a:r>
            <a:r>
              <a:rPr lang="en-US" altLang="zh-CN" dirty="0" smtClean="0"/>
              <a:t>hop count</a:t>
            </a:r>
            <a:r>
              <a:rPr lang="zh-CN" altLang="en-US" dirty="0" smtClean="0"/>
              <a:t>）来衡量到达目的地的距离。路由器到与它直接相连的网络跳数为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，通过一个路由器可达的网络的跳数为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，其余依此类推。为限制网络收敛时间，</a:t>
            </a:r>
            <a:r>
              <a:rPr lang="en-US" altLang="zh-CN" dirty="0" smtClean="0"/>
              <a:t>RIP</a:t>
            </a:r>
            <a:r>
              <a:rPr lang="zh-CN" altLang="en-US" dirty="0" smtClean="0"/>
              <a:t>规定</a:t>
            </a:r>
            <a:r>
              <a:rPr lang="en-US" altLang="zh-CN" dirty="0" smtClean="0"/>
              <a:t>Metric</a:t>
            </a:r>
            <a:r>
              <a:rPr lang="zh-CN" altLang="en-US" dirty="0" smtClean="0"/>
              <a:t>值大于或等于</a:t>
            </a:r>
            <a:r>
              <a:rPr lang="en-US" altLang="zh-CN" dirty="0" smtClean="0"/>
              <a:t>16</a:t>
            </a:r>
            <a:r>
              <a:rPr lang="zh-CN" altLang="en-US" dirty="0" smtClean="0"/>
              <a:t>即为无穷大，即目标网络或主机不可达。每个运行</a:t>
            </a:r>
            <a:r>
              <a:rPr lang="en-US" altLang="zh-CN" dirty="0" smtClean="0"/>
              <a:t>RIP</a:t>
            </a:r>
            <a:r>
              <a:rPr lang="zh-CN" altLang="en-US" dirty="0" smtClean="0"/>
              <a:t>的路由器管理一个路由数据库，该数据库包含了到网络所有可达目的地的路由表项。路由表项包含的信息为：</a:t>
            </a:r>
            <a:endParaRPr lang="en-US" altLang="zh-CN" dirty="0" smtClean="0"/>
          </a:p>
          <a:p>
            <a:r>
              <a:rPr lang="zh-CN" altLang="en-US" dirty="0" smtClean="0"/>
              <a:t>目的地址</a:t>
            </a:r>
            <a:endParaRPr lang="en-US" altLang="zh-CN" dirty="0" smtClean="0"/>
          </a:p>
          <a:p>
            <a:r>
              <a:rPr lang="zh-CN" altLang="en-US" dirty="0" smtClean="0"/>
              <a:t>下一跳地址</a:t>
            </a:r>
            <a:endParaRPr lang="en-US" altLang="zh-CN" dirty="0" smtClean="0"/>
          </a:p>
          <a:p>
            <a:r>
              <a:rPr lang="zh-CN" altLang="en-US" dirty="0" smtClean="0"/>
              <a:t>接口</a:t>
            </a:r>
            <a:endParaRPr lang="en-US" altLang="zh-CN" dirty="0" smtClean="0"/>
          </a:p>
          <a:p>
            <a:r>
              <a:rPr lang="en-US" altLang="zh-CN" dirty="0" smtClean="0"/>
              <a:t>Metric</a:t>
            </a:r>
            <a:r>
              <a:rPr lang="zh-CN" altLang="en-US" dirty="0" smtClean="0"/>
              <a:t>值</a:t>
            </a:r>
            <a:endParaRPr lang="en-US" altLang="zh-CN" dirty="0" smtClean="0"/>
          </a:p>
          <a:p>
            <a:r>
              <a:rPr lang="zh-CN" altLang="en-US" dirty="0" smtClean="0"/>
              <a:t>定时器</a:t>
            </a:r>
            <a:endParaRPr lang="en-US" altLang="zh-CN" dirty="0" smtClean="0"/>
          </a:p>
          <a:p>
            <a:r>
              <a:rPr lang="zh-CN" altLang="en-US" dirty="0" smtClean="0"/>
              <a:t>路由标记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8088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RIP</a:t>
            </a:r>
            <a:r>
              <a:rPr lang="zh-CN" altLang="en-US" dirty="0" smtClean="0"/>
              <a:t>使用跳数（</a:t>
            </a:r>
            <a:r>
              <a:rPr lang="en-US" altLang="zh-CN" dirty="0" smtClean="0"/>
              <a:t>hop count</a:t>
            </a:r>
            <a:r>
              <a:rPr lang="zh-CN" altLang="en-US" dirty="0" smtClean="0"/>
              <a:t>）来衡量到达目的地的距离。路由器到与它直接相连的网络跳数为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，通过一个路由器可达的网络的跳数为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，其余依此类推。为限制网络收敛时间，</a:t>
            </a:r>
            <a:r>
              <a:rPr lang="en-US" altLang="zh-CN" dirty="0" smtClean="0"/>
              <a:t>RIP</a:t>
            </a:r>
            <a:r>
              <a:rPr lang="zh-CN" altLang="en-US" dirty="0" smtClean="0"/>
              <a:t>规定</a:t>
            </a:r>
            <a:r>
              <a:rPr lang="en-US" altLang="zh-CN" dirty="0" smtClean="0"/>
              <a:t>Metric</a:t>
            </a:r>
            <a:r>
              <a:rPr lang="zh-CN" altLang="en-US" dirty="0" smtClean="0"/>
              <a:t>值大于或等于</a:t>
            </a:r>
            <a:r>
              <a:rPr lang="en-US" altLang="zh-CN" dirty="0" smtClean="0"/>
              <a:t>16</a:t>
            </a:r>
            <a:r>
              <a:rPr lang="zh-CN" altLang="en-US" dirty="0" smtClean="0"/>
              <a:t>即为无穷大，即目标网络或主机不可达。每个运行</a:t>
            </a:r>
            <a:r>
              <a:rPr lang="en-US" altLang="zh-CN" dirty="0" smtClean="0"/>
              <a:t>RIP</a:t>
            </a:r>
            <a:r>
              <a:rPr lang="zh-CN" altLang="en-US" dirty="0" smtClean="0"/>
              <a:t>的路由器管理一个路由数据库，该数据库包含了到网络所有可达目的地的路由表项。路由表项包含的信息为：</a:t>
            </a:r>
            <a:endParaRPr lang="en-US" altLang="zh-CN" dirty="0" smtClean="0"/>
          </a:p>
          <a:p>
            <a:r>
              <a:rPr lang="zh-CN" altLang="en-US" dirty="0" smtClean="0"/>
              <a:t>目的地址</a:t>
            </a:r>
            <a:endParaRPr lang="en-US" altLang="zh-CN" dirty="0" smtClean="0"/>
          </a:p>
          <a:p>
            <a:r>
              <a:rPr lang="zh-CN" altLang="en-US" dirty="0" smtClean="0"/>
              <a:t>下一跳地址</a:t>
            </a:r>
            <a:endParaRPr lang="en-US" altLang="zh-CN" dirty="0" smtClean="0"/>
          </a:p>
          <a:p>
            <a:r>
              <a:rPr lang="zh-CN" altLang="en-US" dirty="0" smtClean="0"/>
              <a:t>接口</a:t>
            </a:r>
            <a:endParaRPr lang="en-US" altLang="zh-CN" dirty="0" smtClean="0"/>
          </a:p>
          <a:p>
            <a:r>
              <a:rPr lang="en-US" altLang="zh-CN" dirty="0" smtClean="0"/>
              <a:t>Metric</a:t>
            </a:r>
            <a:r>
              <a:rPr lang="zh-CN" altLang="en-US" dirty="0" smtClean="0"/>
              <a:t>值</a:t>
            </a:r>
            <a:endParaRPr lang="en-US" altLang="zh-CN" dirty="0" smtClean="0"/>
          </a:p>
          <a:p>
            <a:r>
              <a:rPr lang="zh-CN" altLang="en-US" dirty="0" smtClean="0"/>
              <a:t>定时器</a:t>
            </a:r>
            <a:endParaRPr lang="en-US" altLang="zh-CN" dirty="0" smtClean="0"/>
          </a:p>
          <a:p>
            <a:r>
              <a:rPr lang="zh-CN" altLang="en-US" dirty="0" smtClean="0"/>
              <a:t>路由标记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8088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    RIP</a:t>
            </a:r>
            <a:r>
              <a:rPr lang="zh-CN" altLang="en-US" dirty="0" smtClean="0"/>
              <a:t>报文大致分请求信息报文和选路信息应答报文两类，它们使用同样的格式，由固定的首部和后面可选的网络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地址和到该网络的跳数</a:t>
            </a:r>
            <a:r>
              <a:rPr lang="en-US" altLang="zh-CN" dirty="0" smtClean="0"/>
              <a:t>(</a:t>
            </a:r>
            <a:r>
              <a:rPr lang="zh-CN" altLang="en-US" dirty="0" smtClean="0"/>
              <a:t>距离</a:t>
            </a:r>
            <a:r>
              <a:rPr lang="en-US" altLang="zh-CN" dirty="0" smtClean="0"/>
              <a:t>)</a:t>
            </a:r>
            <a:r>
              <a:rPr lang="zh-CN" altLang="en-US" dirty="0" smtClean="0"/>
              <a:t>组成。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5067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命令字段</a:t>
            </a:r>
            <a:r>
              <a:rPr lang="en-US" altLang="zh-CN" dirty="0" smtClean="0"/>
              <a:t>1</a:t>
            </a:r>
            <a:r>
              <a:rPr lang="zh-CN" altLang="en-US" dirty="0" smtClean="0"/>
              <a:t>字节，</a:t>
            </a:r>
            <a:r>
              <a:rPr lang="en-US" altLang="zh-CN" dirty="0" smtClean="0"/>
              <a:t>1</a:t>
            </a:r>
            <a:r>
              <a:rPr lang="zh-CN" altLang="en-US" dirty="0" smtClean="0"/>
              <a:t>表示</a:t>
            </a:r>
            <a:r>
              <a:rPr lang="en-US" altLang="zh-CN" dirty="0" smtClean="0"/>
              <a:t>request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</a:t>
            </a:r>
            <a:r>
              <a:rPr lang="zh-CN" altLang="en-US" dirty="0" smtClean="0"/>
              <a:t>表示</a:t>
            </a:r>
            <a:r>
              <a:rPr lang="en-US" altLang="zh-CN" dirty="0" smtClean="0"/>
              <a:t>response</a:t>
            </a:r>
            <a:r>
              <a:rPr lang="zh-CN" altLang="en-US" dirty="0" smtClean="0"/>
              <a:t>。版本字段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个字节，接下来的</a:t>
            </a:r>
            <a:r>
              <a:rPr lang="en-US" altLang="zh-CN" dirty="0" smtClean="0"/>
              <a:t>2</a:t>
            </a:r>
            <a:r>
              <a:rPr lang="zh-CN" altLang="en-US" dirty="0" smtClean="0"/>
              <a:t>字节必须是</a:t>
            </a:r>
            <a:r>
              <a:rPr lang="en-US" altLang="zh-CN" dirty="0" smtClean="0"/>
              <a:t>0.</a:t>
            </a:r>
          </a:p>
          <a:p>
            <a:r>
              <a:rPr lang="zh-CN" altLang="en-US" dirty="0" smtClean="0"/>
              <a:t>后面接着的阴影部分是网络的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地址和到该网络的跳数（距离），可以有多个。开始的</a:t>
            </a:r>
            <a:r>
              <a:rPr lang="en-US" altLang="zh-CN" dirty="0" smtClean="0"/>
              <a:t>2</a:t>
            </a:r>
            <a:r>
              <a:rPr lang="zh-CN" altLang="en-US" dirty="0" smtClean="0"/>
              <a:t>字节是协议簇字段，表示</a:t>
            </a:r>
            <a:r>
              <a:rPr lang="en-US" altLang="zh-CN" dirty="0" smtClean="0"/>
              <a:t>RIP</a:t>
            </a:r>
            <a:r>
              <a:rPr lang="zh-CN" altLang="en-US" dirty="0" smtClean="0"/>
              <a:t>协议可以用于多种不同的协议簇，</a:t>
            </a:r>
            <a:r>
              <a:rPr lang="en-US" altLang="zh-CN" dirty="0" smtClean="0"/>
              <a:t>2</a:t>
            </a:r>
            <a:r>
              <a:rPr lang="zh-CN" altLang="en-US" dirty="0" smtClean="0"/>
              <a:t>表示</a:t>
            </a:r>
            <a:r>
              <a:rPr lang="en-US" altLang="zh-CN" dirty="0" smtClean="0"/>
              <a:t>IP</a:t>
            </a:r>
            <a:r>
              <a:rPr lang="zh-CN" altLang="en-US" dirty="0" smtClean="0"/>
              <a:t>协议。</a:t>
            </a:r>
            <a:endParaRPr lang="en-US" altLang="zh-CN" dirty="0" smtClean="0"/>
          </a:p>
          <a:p>
            <a:r>
              <a:rPr lang="en-US" altLang="zh-CN" dirty="0" smtClean="0"/>
              <a:t>RIP</a:t>
            </a:r>
            <a:r>
              <a:rPr lang="zh-CN" altLang="en-US" dirty="0" smtClean="0"/>
              <a:t>各用</a:t>
            </a:r>
            <a:r>
              <a:rPr lang="en-US" altLang="zh-CN" dirty="0" smtClean="0"/>
              <a:t>4</a:t>
            </a:r>
            <a:r>
              <a:rPr lang="zh-CN" altLang="en-US" dirty="0" smtClean="0"/>
              <a:t>个字节表示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地址和跳数，跳数是值是</a:t>
            </a:r>
            <a:r>
              <a:rPr lang="en-US" altLang="zh-CN" dirty="0" smtClean="0"/>
              <a:t>1-16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16</a:t>
            </a:r>
            <a:r>
              <a:rPr lang="zh-CN" altLang="en-US" dirty="0" smtClean="0"/>
              <a:t>表示不可达。其余字段必须是</a:t>
            </a:r>
            <a:r>
              <a:rPr lang="en-US" altLang="zh-CN" dirty="0" smtClean="0"/>
              <a:t>0.</a:t>
            </a:r>
          </a:p>
          <a:p>
            <a:r>
              <a:rPr lang="zh-CN" altLang="en-US" dirty="0" smtClean="0"/>
              <a:t>路由器每经过</a:t>
            </a:r>
            <a:r>
              <a:rPr lang="en-US" altLang="zh-CN" dirty="0" smtClean="0"/>
              <a:t>30s</a:t>
            </a:r>
            <a:r>
              <a:rPr lang="zh-CN" altLang="en-US" dirty="0" smtClean="0"/>
              <a:t>发送一次</a:t>
            </a:r>
            <a:r>
              <a:rPr lang="en-US" altLang="zh-CN" dirty="0" smtClean="0"/>
              <a:t>response</a:t>
            </a:r>
            <a:r>
              <a:rPr lang="zh-CN" altLang="en-US" dirty="0" smtClean="0"/>
              <a:t>报文，以广播方式传播更新的路由信息。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8210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观察报文可知，</a:t>
            </a:r>
            <a:r>
              <a:rPr lang="en-US" altLang="zh-CN" dirty="0" smtClean="0"/>
              <a:t>RIP</a:t>
            </a:r>
            <a:r>
              <a:rPr lang="zh-CN" altLang="en-US" dirty="0" smtClean="0"/>
              <a:t>报文的版本号为</a:t>
            </a:r>
            <a:r>
              <a:rPr lang="en-US" altLang="zh-CN" dirty="0" smtClean="0"/>
              <a:t>1.</a:t>
            </a:r>
            <a:r>
              <a:rPr lang="zh-CN" altLang="en-US" dirty="0" smtClean="0"/>
              <a:t>交换机</a:t>
            </a:r>
            <a:r>
              <a:rPr lang="en-US" altLang="zh-CN" dirty="0" smtClean="0"/>
              <a:t>S1</a:t>
            </a:r>
            <a:r>
              <a:rPr lang="zh-CN" altLang="en-US" dirty="0" smtClean="0"/>
              <a:t>刚启动</a:t>
            </a:r>
            <a:r>
              <a:rPr lang="en-US" altLang="zh-CN" dirty="0" smtClean="0"/>
              <a:t>RIP</a:t>
            </a:r>
            <a:r>
              <a:rPr lang="zh-CN" altLang="en-US" dirty="0" smtClean="0"/>
              <a:t>时以广播（目标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地址为</a:t>
            </a:r>
            <a:r>
              <a:rPr lang="en-US" altLang="zh-CN" dirty="0" smtClean="0"/>
              <a:t>255.255.255.255</a:t>
            </a:r>
            <a:r>
              <a:rPr lang="zh-CN" altLang="en-US" dirty="0" smtClean="0"/>
              <a:t>）的方式发送</a:t>
            </a:r>
            <a:r>
              <a:rPr lang="en-US" altLang="zh-CN" dirty="0" smtClean="0"/>
              <a:t>request</a:t>
            </a:r>
            <a:r>
              <a:rPr lang="zh-CN" altLang="en-US" dirty="0" smtClean="0"/>
              <a:t>报文，此后只发送</a:t>
            </a:r>
            <a:r>
              <a:rPr lang="en-US" altLang="zh-CN" dirty="0" smtClean="0"/>
              <a:t>response</a:t>
            </a:r>
            <a:r>
              <a:rPr lang="zh-CN" altLang="en-US" dirty="0" smtClean="0"/>
              <a:t>报文。观察应答报文的时间间隔，可知路由器每隔</a:t>
            </a:r>
            <a:r>
              <a:rPr lang="en-US" altLang="zh-CN" dirty="0" smtClean="0"/>
              <a:t>30s</a:t>
            </a:r>
            <a:r>
              <a:rPr lang="zh-CN" altLang="en-US" dirty="0" smtClean="0"/>
              <a:t>广播一次</a:t>
            </a:r>
            <a:r>
              <a:rPr lang="en-US" altLang="zh-CN" dirty="0" smtClean="0"/>
              <a:t>Response</a:t>
            </a:r>
            <a:r>
              <a:rPr lang="zh-CN" altLang="en-US" dirty="0" smtClean="0"/>
              <a:t>报文。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9788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报文长度是</a:t>
            </a:r>
            <a:r>
              <a:rPr lang="en-US" altLang="zh-CN" dirty="0" smtClean="0"/>
              <a:t>66</a:t>
            </a:r>
            <a:r>
              <a:rPr lang="zh-CN" altLang="en-US" dirty="0" smtClean="0"/>
              <a:t>字节，目标地址</a:t>
            </a:r>
            <a:r>
              <a:rPr lang="en-US" altLang="zh-CN" dirty="0" smtClean="0"/>
              <a:t>255.255.255.255</a:t>
            </a:r>
            <a:r>
              <a:rPr lang="zh-CN" altLang="en-US" dirty="0" smtClean="0"/>
              <a:t>，是广播报文。</a:t>
            </a:r>
            <a:r>
              <a:rPr lang="en-US" altLang="zh-CN" dirty="0" smtClean="0"/>
              <a:t>RIP</a:t>
            </a:r>
            <a:r>
              <a:rPr lang="zh-CN" altLang="en-US" dirty="0" smtClean="0"/>
              <a:t>协议用</a:t>
            </a:r>
            <a:r>
              <a:rPr lang="en-US" altLang="zh-CN" dirty="0" smtClean="0"/>
              <a:t>UDP</a:t>
            </a:r>
            <a:r>
              <a:rPr lang="zh-CN" altLang="en-US" dirty="0" smtClean="0"/>
              <a:t>协议传输，端口号是</a:t>
            </a:r>
            <a:r>
              <a:rPr lang="en-US" altLang="zh-CN" dirty="0" smtClean="0"/>
              <a:t>520.</a:t>
            </a:r>
          </a:p>
          <a:p>
            <a:r>
              <a:rPr lang="zh-CN" altLang="en-US" dirty="0" smtClean="0"/>
              <a:t>命令字段是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，表明是</a:t>
            </a:r>
            <a:r>
              <a:rPr lang="en-US" altLang="zh-CN" dirty="0" smtClean="0"/>
              <a:t>request</a:t>
            </a:r>
            <a:r>
              <a:rPr lang="zh-CN" altLang="en-US" dirty="0" smtClean="0"/>
              <a:t>报文，请求选路信息。版本号是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，没有指定协议簇，附加了度量值</a:t>
            </a:r>
            <a:r>
              <a:rPr lang="en-US" altLang="zh-CN" dirty="0" smtClean="0"/>
              <a:t>16</a:t>
            </a:r>
            <a:r>
              <a:rPr lang="zh-CN" altLang="en-US" dirty="0" smtClean="0"/>
              <a:t>，其余字段均为</a:t>
            </a:r>
            <a:r>
              <a:rPr lang="en-US" altLang="zh-CN" dirty="0" smtClean="0"/>
              <a:t>0.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0360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命令字段是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，表明是</a:t>
            </a:r>
            <a:r>
              <a:rPr lang="en-US" altLang="zh-CN" dirty="0" smtClean="0"/>
              <a:t>response</a:t>
            </a:r>
            <a:r>
              <a:rPr lang="zh-CN" altLang="en-US" dirty="0" smtClean="0"/>
              <a:t>报文，选路信息应答。版本号是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，指定协议簇为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</a:t>
            </a:r>
            <a:r>
              <a:rPr lang="en-US" altLang="zh-CN" dirty="0" smtClean="0"/>
              <a:t>IP</a:t>
            </a:r>
            <a:r>
              <a:rPr lang="zh-CN" altLang="en-US" dirty="0" smtClean="0"/>
              <a:t>协议，附加了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地址和度量值，其余字段均为</a:t>
            </a:r>
            <a:r>
              <a:rPr lang="en-US" altLang="zh-CN" dirty="0" smtClean="0"/>
              <a:t>0.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E6DAC7-9D72-4818-BCFF-8FD7B82AC5B7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1746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2"/>
          <p:cNvSpPr>
            <a:spLocks noChangeShapeType="1"/>
          </p:cNvSpPr>
          <p:nvPr/>
        </p:nvSpPr>
        <p:spPr bwMode="auto">
          <a:xfrm flipH="1">
            <a:off x="1143000" y="2422525"/>
            <a:ext cx="80010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Line 3"/>
          <p:cNvSpPr>
            <a:spLocks noChangeShapeType="1"/>
          </p:cNvSpPr>
          <p:nvPr/>
        </p:nvSpPr>
        <p:spPr bwMode="auto">
          <a:xfrm>
            <a:off x="2009775" y="2425700"/>
            <a:ext cx="0" cy="27463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-7938" y="0"/>
            <a:ext cx="9151938" cy="6858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7451725" cy="549275"/>
          </a:xfrm>
          <a:prstGeom prst="rect">
            <a:avLst/>
          </a:prstGeom>
          <a:solidFill>
            <a:srgbClr val="C302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zh-CN" altLang="en-US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北航计算机网络实验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4763" y="6742113"/>
            <a:ext cx="8599487" cy="71437"/>
          </a:xfrm>
          <a:prstGeom prst="rect">
            <a:avLst/>
          </a:prstGeom>
          <a:solidFill>
            <a:srgbClr val="E88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1113" y="6811963"/>
            <a:ext cx="9140825" cy="73025"/>
          </a:xfrm>
          <a:prstGeom prst="rect">
            <a:avLst/>
          </a:prstGeom>
          <a:solidFill>
            <a:srgbClr val="C956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588" y="6577013"/>
            <a:ext cx="8597900" cy="165100"/>
          </a:xfrm>
          <a:prstGeom prst="rect">
            <a:avLst/>
          </a:prstGeom>
          <a:solidFill>
            <a:srgbClr val="FCC2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 flipV="1">
            <a:off x="468313" y="2852738"/>
            <a:ext cx="80645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0" y="4149725"/>
            <a:ext cx="755650" cy="3667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800" smtClean="0">
              <a:latin typeface="Arial" charset="0"/>
              <a:ea typeface="宋体" pitchFamily="2" charset="-122"/>
            </a:endParaRPr>
          </a:p>
        </p:txBody>
      </p:sp>
      <p:grpSp>
        <p:nvGrpSpPr>
          <p:cNvPr id="12" name="Group 12"/>
          <p:cNvGrpSpPr>
            <a:grpSpLocks/>
          </p:cNvGrpSpPr>
          <p:nvPr/>
        </p:nvGrpSpPr>
        <p:grpSpPr bwMode="auto">
          <a:xfrm>
            <a:off x="7596188" y="188913"/>
            <a:ext cx="1338262" cy="2189162"/>
            <a:chOff x="4704" y="1885"/>
            <a:chExt cx="843" cy="1379"/>
          </a:xfrm>
        </p:grpSpPr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18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19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Oval 20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Oval 26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Oval 27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28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Oval 29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30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31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Oval 32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Oval 33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34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Oval 35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Oval 36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Oval 37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Oval 38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Oval 39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Oval 40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Oval 41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Oval 42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Oval 43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" name="Line 44"/>
          <p:cNvSpPr>
            <a:spLocks noChangeShapeType="1"/>
          </p:cNvSpPr>
          <p:nvPr/>
        </p:nvSpPr>
        <p:spPr bwMode="auto">
          <a:xfrm>
            <a:off x="7451725" y="0"/>
            <a:ext cx="0" cy="5445125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066800" y="692150"/>
            <a:ext cx="7696200" cy="1524000"/>
          </a:xfrm>
        </p:spPr>
        <p:txBody>
          <a:bodyPr lIns="91440" tIns="0" bIns="0" anchor="b"/>
          <a:lstStyle>
            <a:lvl1pPr>
              <a:lnSpc>
                <a:spcPct val="85000"/>
              </a:lnSpc>
              <a:defRPr sz="54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en-US" altLang="en-US" noProof="0" smtClean="0"/>
          </a:p>
        </p:txBody>
      </p:sp>
    </p:spTree>
    <p:extLst>
      <p:ext uri="{BB962C8B-B14F-4D97-AF65-F5344CB8AC3E}">
        <p14:creationId xmlns:p14="http://schemas.microsoft.com/office/powerpoint/2010/main" val="121284676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28413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4810823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1188" y="1484313"/>
            <a:ext cx="3956050" cy="4897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9638" y="1484313"/>
            <a:ext cx="3956050" cy="4897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28827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77582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64985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820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5995394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8086239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18352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59563" y="417513"/>
            <a:ext cx="2016125" cy="596423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1188" y="417513"/>
            <a:ext cx="5895975" cy="596423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9975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188" y="417513"/>
            <a:ext cx="8064500" cy="9239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11188" y="1484313"/>
            <a:ext cx="8064500" cy="4897437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  <a:endParaRPr lang="zh-CN" altLang="en-US" noProof="0" smtClean="0"/>
          </a:p>
        </p:txBody>
      </p:sp>
    </p:spTree>
    <p:extLst>
      <p:ext uri="{BB962C8B-B14F-4D97-AF65-F5344CB8AC3E}">
        <p14:creationId xmlns:p14="http://schemas.microsoft.com/office/powerpoint/2010/main" val="315509483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188" y="417513"/>
            <a:ext cx="8064500" cy="9239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11188" y="1484313"/>
            <a:ext cx="3956050" cy="48974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9638" y="1484313"/>
            <a:ext cx="3956050" cy="48974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38206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51938" cy="6858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417513"/>
            <a:ext cx="80645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主标题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484313"/>
            <a:ext cx="8064500" cy="489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 </a:t>
            </a:r>
            <a:r>
              <a:rPr lang="zh-CN" altLang="en-US" smtClean="0"/>
              <a:t>主文本标题</a:t>
            </a:r>
          </a:p>
          <a:p>
            <a:pPr lvl="1"/>
            <a:r>
              <a:rPr lang="zh-CN" altLang="en-US" smtClean="0"/>
              <a:t>二级标题</a:t>
            </a:r>
            <a:endParaRPr lang="en-US" altLang="en-US" smtClean="0"/>
          </a:p>
          <a:p>
            <a:pPr lvl="2"/>
            <a:r>
              <a:rPr lang="zh-CN" altLang="en-US" smtClean="0"/>
              <a:t>三级标题</a:t>
            </a:r>
            <a:endParaRPr lang="en-US" altLang="en-US" smtClean="0"/>
          </a:p>
          <a:p>
            <a:pPr lvl="3"/>
            <a:r>
              <a:rPr lang="zh-CN" altLang="en-US" smtClean="0"/>
              <a:t>四级标题</a:t>
            </a:r>
            <a:endParaRPr lang="en-US" altLang="en-US" smtClean="0"/>
          </a:p>
          <a:p>
            <a:pPr lvl="4"/>
            <a:r>
              <a:rPr lang="zh-CN" altLang="en-US" smtClean="0"/>
              <a:t>五级标题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7380288" cy="333375"/>
          </a:xfrm>
          <a:prstGeom prst="rect">
            <a:avLst/>
          </a:prstGeom>
          <a:solidFill>
            <a:srgbClr val="C302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l"/>
            <a:r>
              <a:rPr lang="zh-CN" altLang="en-US" sz="20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北航计算机网络实验</a:t>
            </a: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4763" y="6742113"/>
            <a:ext cx="8599487" cy="71437"/>
          </a:xfrm>
          <a:prstGeom prst="rect">
            <a:avLst/>
          </a:prstGeom>
          <a:solidFill>
            <a:srgbClr val="E88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11113" y="6811963"/>
            <a:ext cx="9140825" cy="73025"/>
          </a:xfrm>
          <a:prstGeom prst="rect">
            <a:avLst/>
          </a:prstGeom>
          <a:solidFill>
            <a:srgbClr val="C956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1588" y="6577013"/>
            <a:ext cx="8597900" cy="165100"/>
          </a:xfrm>
          <a:prstGeom prst="rect">
            <a:avLst/>
          </a:prstGeom>
          <a:solidFill>
            <a:srgbClr val="FCC2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8532813" y="6524625"/>
            <a:ext cx="576262" cy="30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fld id="{8FECF948-4B9C-4C1F-AD3C-BBA043649D44}" type="slidenum">
              <a:rPr lang="en-US" altLang="zh-CN" sz="1400" b="0" smtClean="0">
                <a:solidFill>
                  <a:srgbClr val="000099"/>
                </a:solidFill>
                <a:latin typeface="Arial" charset="0"/>
                <a:ea typeface="宋体" pitchFamily="2" charset="-122"/>
              </a:rPr>
              <a:pPr>
                <a:spcBef>
                  <a:spcPct val="50000"/>
                </a:spcBef>
                <a:defRPr/>
              </a:pPr>
              <a:t>‹#›</a:t>
            </a:fld>
            <a:endParaRPr lang="en-US" altLang="zh-CN" sz="1400" b="0" smtClean="0">
              <a:solidFill>
                <a:srgbClr val="000099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034" name="Line 10"/>
          <p:cNvSpPr>
            <a:spLocks noChangeShapeType="1"/>
          </p:cNvSpPr>
          <p:nvPr/>
        </p:nvSpPr>
        <p:spPr bwMode="auto">
          <a:xfrm flipV="1">
            <a:off x="611188" y="1125538"/>
            <a:ext cx="80645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2484438" y="0"/>
            <a:ext cx="217487" cy="3667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800" smtClean="0">
              <a:latin typeface="Arial" charset="0"/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b="1">
          <a:solidFill>
            <a:schemeClr val="tx1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90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80000"/>
        <a:buFont typeface="Wingdings" pitchFamily="2" charset="2"/>
        <a:buChar char="p"/>
        <a:defRPr sz="32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8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SzPct val="80000"/>
        <a:buChar char="–"/>
        <a:defRPr sz="2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SzPct val="8000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SzPct val="80000"/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SzPct val="80000"/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SzPct val="80000"/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SzPct val="80000"/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39552" y="1412776"/>
            <a:ext cx="7696200" cy="1451992"/>
          </a:xfrm>
        </p:spPr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RIP</a:t>
            </a:r>
            <a:r>
              <a:rPr lang="zh-CN" altLang="en-US" dirty="0" smtClean="0">
                <a:solidFill>
                  <a:srgbClr val="C00000"/>
                </a:solidFill>
                <a:latin typeface="宋体" pitchFamily="2" charset="-122"/>
                <a:ea typeface="宋体" pitchFamily="2" charset="-122"/>
              </a:rPr>
              <a:t>协议基础实验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93531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关于</a:t>
            </a:r>
            <a:r>
              <a:rPr lang="en-US" altLang="zh-CN" dirty="0" smtClean="0"/>
              <a:t>RIP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27682" y="1484784"/>
            <a:ext cx="5688632" cy="3024336"/>
          </a:xfrm>
        </p:spPr>
        <p:txBody>
          <a:bodyPr/>
          <a:lstStyle/>
          <a:p>
            <a:r>
              <a:rPr lang="zh-CN" altLang="en-US" dirty="0" smtClean="0"/>
              <a:t>内部网关协议</a:t>
            </a:r>
            <a:endParaRPr lang="en-US" altLang="zh-CN" dirty="0" smtClean="0"/>
          </a:p>
          <a:p>
            <a:r>
              <a:rPr lang="zh-CN" altLang="en-US" dirty="0" smtClean="0"/>
              <a:t>距离矢量算法</a:t>
            </a:r>
            <a:endParaRPr lang="en-US" altLang="zh-CN" dirty="0" smtClean="0"/>
          </a:p>
          <a:p>
            <a:r>
              <a:rPr lang="zh-CN" altLang="en-US" dirty="0" smtClean="0"/>
              <a:t>交换整个路由表</a:t>
            </a:r>
            <a:endParaRPr lang="en-US" altLang="zh-CN" dirty="0" smtClean="0"/>
          </a:p>
          <a:p>
            <a:r>
              <a:rPr lang="zh-CN" altLang="en-US" dirty="0"/>
              <a:t>定期更新</a:t>
            </a:r>
            <a:r>
              <a:rPr lang="en-US" altLang="zh-CN" dirty="0"/>
              <a:t>(30s)</a:t>
            </a:r>
            <a:r>
              <a:rPr lang="zh-CN" altLang="en-US" dirty="0"/>
              <a:t>路由</a:t>
            </a:r>
            <a:r>
              <a:rPr lang="zh-CN" altLang="en-US" dirty="0" smtClean="0"/>
              <a:t>表</a:t>
            </a:r>
            <a:endParaRPr lang="en-US" altLang="zh-CN" dirty="0" smtClean="0"/>
          </a:p>
          <a:p>
            <a:r>
              <a:rPr lang="zh-CN" altLang="en-US" dirty="0" smtClean="0"/>
              <a:t>最大跳数</a:t>
            </a:r>
            <a:r>
              <a:rPr lang="en-US" altLang="zh-CN" dirty="0" smtClean="0"/>
              <a:t>15</a:t>
            </a: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443852" y="5085184"/>
            <a:ext cx="4256293" cy="58477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0" fontAlgn="base">
              <a:spcBef>
                <a:spcPct val="20000"/>
              </a:spcBef>
              <a:spcAft>
                <a:spcPct val="0"/>
              </a:spcAft>
              <a:buClr>
                <a:srgbClr val="DF0029"/>
              </a:buClr>
              <a:buSzPct val="90000"/>
              <a:buFont typeface="Wingdings" pitchFamily="2" charset="2"/>
              <a:buChar char="u"/>
            </a:pPr>
            <a:r>
              <a:rPr lang="zh-CN" altLang="en-US" sz="3200" b="1" kern="0" dirty="0">
                <a:solidFill>
                  <a:srgbClr val="330066"/>
                </a:solidFill>
              </a:rPr>
              <a:t>适用范围：小型网络</a:t>
            </a:r>
            <a:endParaRPr lang="zh-CN" altLang="en-US" sz="3200" b="1" kern="0" dirty="0">
              <a:solidFill>
                <a:srgbClr val="33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9659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smtClean="0">
                <a:ea typeface="宋体" pitchFamily="2" charset="-122"/>
              </a:rPr>
              <a:t>RIP</a:t>
            </a:r>
            <a:r>
              <a:rPr lang="zh-CN" altLang="en-US" sz="3600" dirty="0" smtClean="0">
                <a:ea typeface="宋体" pitchFamily="2" charset="-122"/>
              </a:rPr>
              <a:t>如何交换路由信息？</a:t>
            </a:r>
            <a:endParaRPr lang="en-US" altLang="zh-CN" sz="3600" dirty="0" smtClean="0">
              <a:ea typeface="宋体" pitchFamily="2" charset="-122"/>
            </a:endParaRPr>
          </a:p>
        </p:txBody>
      </p:sp>
      <p:sp>
        <p:nvSpPr>
          <p:cNvPr id="29700" name="Rectangle 84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 lIns="92075" tIns="46038" rIns="92075" bIns="46038">
            <a:spAutoFit/>
          </a:bodyPr>
          <a:lstStyle/>
          <a:p>
            <a:pPr marL="0" indent="0" eaLnBrk="1" hangingPunct="1">
              <a:buClr>
                <a:schemeClr val="accent1"/>
              </a:buClr>
              <a:buFont typeface="Wingdings" pitchFamily="2" charset="2"/>
              <a:buChar char="u"/>
            </a:pPr>
            <a:r>
              <a:rPr lang="zh-CN" altLang="en-US" smtClean="0"/>
              <a:t>定期发送路由表获得距离信息</a:t>
            </a:r>
            <a:r>
              <a:rPr lang="en-US" altLang="zh-CN" smtClean="0"/>
              <a:t>:30S</a:t>
            </a:r>
          </a:p>
        </p:txBody>
      </p:sp>
      <p:grpSp>
        <p:nvGrpSpPr>
          <p:cNvPr id="29699" name="Group 3"/>
          <p:cNvGrpSpPr>
            <a:grpSpLocks/>
          </p:cNvGrpSpPr>
          <p:nvPr/>
        </p:nvGrpSpPr>
        <p:grpSpPr bwMode="auto">
          <a:xfrm>
            <a:off x="1517650" y="2514600"/>
            <a:ext cx="5502275" cy="2947988"/>
            <a:chOff x="956" y="1584"/>
            <a:chExt cx="3466" cy="1857"/>
          </a:xfrm>
        </p:grpSpPr>
        <p:sp>
          <p:nvSpPr>
            <p:cNvPr id="29701" name="Rectangle 4"/>
            <p:cNvSpPr>
              <a:spLocks noChangeArrowheads="1"/>
            </p:cNvSpPr>
            <p:nvPr/>
          </p:nvSpPr>
          <p:spPr bwMode="auto">
            <a:xfrm>
              <a:off x="3288" y="2398"/>
              <a:ext cx="1134" cy="1043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2" name="Rectangle 5"/>
            <p:cNvSpPr>
              <a:spLocks noChangeArrowheads="1"/>
            </p:cNvSpPr>
            <p:nvPr/>
          </p:nvSpPr>
          <p:spPr bwMode="auto">
            <a:xfrm>
              <a:off x="1093" y="2398"/>
              <a:ext cx="1134" cy="1043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9703" name="Group 6"/>
            <p:cNvGrpSpPr>
              <a:grpSpLocks/>
            </p:cNvGrpSpPr>
            <p:nvPr/>
          </p:nvGrpSpPr>
          <p:grpSpPr bwMode="auto">
            <a:xfrm>
              <a:off x="1534" y="1830"/>
              <a:ext cx="525" cy="334"/>
              <a:chOff x="1534" y="1830"/>
              <a:chExt cx="525" cy="334"/>
            </a:xfrm>
          </p:grpSpPr>
          <p:grpSp>
            <p:nvGrpSpPr>
              <p:cNvPr id="29757" name="Group 7"/>
              <p:cNvGrpSpPr>
                <a:grpSpLocks/>
              </p:cNvGrpSpPr>
              <p:nvPr/>
            </p:nvGrpSpPr>
            <p:grpSpPr bwMode="auto">
              <a:xfrm>
                <a:off x="1534" y="1830"/>
                <a:ext cx="525" cy="334"/>
                <a:chOff x="1534" y="1830"/>
                <a:chExt cx="525" cy="334"/>
              </a:xfrm>
            </p:grpSpPr>
            <p:sp>
              <p:nvSpPr>
                <p:cNvPr id="29777" name="Freeform 8"/>
                <p:cNvSpPr>
                  <a:spLocks noEditPoints="1"/>
                </p:cNvSpPr>
                <p:nvPr/>
              </p:nvSpPr>
              <p:spPr bwMode="auto">
                <a:xfrm>
                  <a:off x="1534" y="1830"/>
                  <a:ext cx="525" cy="334"/>
                </a:xfrm>
                <a:custGeom>
                  <a:avLst/>
                  <a:gdLst>
                    <a:gd name="T0" fmla="*/ 525 w 525"/>
                    <a:gd name="T1" fmla="*/ 71 h 334"/>
                    <a:gd name="T2" fmla="*/ 515 w 525"/>
                    <a:gd name="T3" fmla="*/ 90 h 334"/>
                    <a:gd name="T4" fmla="*/ 487 w 525"/>
                    <a:gd name="T5" fmla="*/ 107 h 334"/>
                    <a:gd name="T6" fmla="*/ 443 w 525"/>
                    <a:gd name="T7" fmla="*/ 122 h 334"/>
                    <a:gd name="T8" fmla="*/ 383 w 525"/>
                    <a:gd name="T9" fmla="*/ 133 h 334"/>
                    <a:gd name="T10" fmla="*/ 317 w 525"/>
                    <a:gd name="T11" fmla="*/ 140 h 334"/>
                    <a:gd name="T12" fmla="*/ 245 w 525"/>
                    <a:gd name="T13" fmla="*/ 140 h 334"/>
                    <a:gd name="T14" fmla="*/ 176 w 525"/>
                    <a:gd name="T15" fmla="*/ 137 h 334"/>
                    <a:gd name="T16" fmla="*/ 111 w 525"/>
                    <a:gd name="T17" fmla="*/ 129 h 334"/>
                    <a:gd name="T18" fmla="*/ 111 w 525"/>
                    <a:gd name="T19" fmla="*/ 129 h 334"/>
                    <a:gd name="T20" fmla="*/ 176 w 525"/>
                    <a:gd name="T21" fmla="*/ 137 h 334"/>
                    <a:gd name="T22" fmla="*/ 245 w 525"/>
                    <a:gd name="T23" fmla="*/ 140 h 334"/>
                    <a:gd name="T24" fmla="*/ 317 w 525"/>
                    <a:gd name="T25" fmla="*/ 140 h 334"/>
                    <a:gd name="T26" fmla="*/ 383 w 525"/>
                    <a:gd name="T27" fmla="*/ 133 h 334"/>
                    <a:gd name="T28" fmla="*/ 443 w 525"/>
                    <a:gd name="T29" fmla="*/ 122 h 334"/>
                    <a:gd name="T30" fmla="*/ 487 w 525"/>
                    <a:gd name="T31" fmla="*/ 107 h 334"/>
                    <a:gd name="T32" fmla="*/ 515 w 525"/>
                    <a:gd name="T33" fmla="*/ 90 h 334"/>
                    <a:gd name="T34" fmla="*/ 525 w 525"/>
                    <a:gd name="T35" fmla="*/ 71 h 334"/>
                    <a:gd name="T36" fmla="*/ 2 w 525"/>
                    <a:gd name="T37" fmla="*/ 80 h 334"/>
                    <a:gd name="T38" fmla="*/ 22 w 525"/>
                    <a:gd name="T39" fmla="*/ 99 h 334"/>
                    <a:gd name="T40" fmla="*/ 59 w 525"/>
                    <a:gd name="T41" fmla="*/ 115 h 334"/>
                    <a:gd name="T42" fmla="*/ 59 w 525"/>
                    <a:gd name="T43" fmla="*/ 115 h 334"/>
                    <a:gd name="T44" fmla="*/ 22 w 525"/>
                    <a:gd name="T45" fmla="*/ 99 h 334"/>
                    <a:gd name="T46" fmla="*/ 2 w 525"/>
                    <a:gd name="T47" fmla="*/ 80 h 334"/>
                    <a:gd name="T48" fmla="*/ 0 w 525"/>
                    <a:gd name="T49" fmla="*/ 71 h 334"/>
                    <a:gd name="T50" fmla="*/ 2 w 525"/>
                    <a:gd name="T51" fmla="*/ 273 h 334"/>
                    <a:gd name="T52" fmla="*/ 22 w 525"/>
                    <a:gd name="T53" fmla="*/ 292 h 334"/>
                    <a:gd name="T54" fmla="*/ 59 w 525"/>
                    <a:gd name="T55" fmla="*/ 308 h 334"/>
                    <a:gd name="T56" fmla="*/ 111 w 525"/>
                    <a:gd name="T57" fmla="*/ 322 h 334"/>
                    <a:gd name="T58" fmla="*/ 174 w 525"/>
                    <a:gd name="T59" fmla="*/ 330 h 334"/>
                    <a:gd name="T60" fmla="*/ 245 w 525"/>
                    <a:gd name="T61" fmla="*/ 334 h 334"/>
                    <a:gd name="T62" fmla="*/ 317 w 525"/>
                    <a:gd name="T63" fmla="*/ 333 h 334"/>
                    <a:gd name="T64" fmla="*/ 383 w 525"/>
                    <a:gd name="T65" fmla="*/ 326 h 334"/>
                    <a:gd name="T66" fmla="*/ 443 w 525"/>
                    <a:gd name="T67" fmla="*/ 315 h 334"/>
                    <a:gd name="T68" fmla="*/ 487 w 525"/>
                    <a:gd name="T69" fmla="*/ 300 h 334"/>
                    <a:gd name="T70" fmla="*/ 515 w 525"/>
                    <a:gd name="T71" fmla="*/ 283 h 334"/>
                    <a:gd name="T72" fmla="*/ 525 w 525"/>
                    <a:gd name="T73" fmla="*/ 263 h 334"/>
                    <a:gd name="T74" fmla="*/ 523 w 525"/>
                    <a:gd name="T75" fmla="*/ 61 h 334"/>
                    <a:gd name="T76" fmla="*/ 504 w 525"/>
                    <a:gd name="T77" fmla="*/ 42 h 334"/>
                    <a:gd name="T78" fmla="*/ 467 w 525"/>
                    <a:gd name="T79" fmla="*/ 25 h 334"/>
                    <a:gd name="T80" fmla="*/ 414 w 525"/>
                    <a:gd name="T81" fmla="*/ 12 h 334"/>
                    <a:gd name="T82" fmla="*/ 351 w 525"/>
                    <a:gd name="T83" fmla="*/ 4 h 334"/>
                    <a:gd name="T84" fmla="*/ 281 w 525"/>
                    <a:gd name="T85" fmla="*/ 0 h 334"/>
                    <a:gd name="T86" fmla="*/ 208 w 525"/>
                    <a:gd name="T87" fmla="*/ 1 h 334"/>
                    <a:gd name="T88" fmla="*/ 143 w 525"/>
                    <a:gd name="T89" fmla="*/ 8 h 334"/>
                    <a:gd name="T90" fmla="*/ 83 w 525"/>
                    <a:gd name="T91" fmla="*/ 19 h 334"/>
                    <a:gd name="T92" fmla="*/ 39 w 525"/>
                    <a:gd name="T93" fmla="*/ 34 h 334"/>
                    <a:gd name="T94" fmla="*/ 10 w 525"/>
                    <a:gd name="T95" fmla="*/ 51 h 334"/>
                    <a:gd name="T96" fmla="*/ 0 w 525"/>
                    <a:gd name="T97" fmla="*/ 71 h 334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525"/>
                    <a:gd name="T148" fmla="*/ 0 h 334"/>
                    <a:gd name="T149" fmla="*/ 525 w 525"/>
                    <a:gd name="T150" fmla="*/ 334 h 334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525" h="334">
                      <a:moveTo>
                        <a:pt x="525" y="71"/>
                      </a:moveTo>
                      <a:lnTo>
                        <a:pt x="525" y="71"/>
                      </a:lnTo>
                      <a:lnTo>
                        <a:pt x="523" y="80"/>
                      </a:lnTo>
                      <a:lnTo>
                        <a:pt x="515" y="90"/>
                      </a:lnTo>
                      <a:lnTo>
                        <a:pt x="504" y="98"/>
                      </a:lnTo>
                      <a:lnTo>
                        <a:pt x="487" y="107"/>
                      </a:lnTo>
                      <a:lnTo>
                        <a:pt x="467" y="115"/>
                      </a:lnTo>
                      <a:lnTo>
                        <a:pt x="443" y="122"/>
                      </a:lnTo>
                      <a:lnTo>
                        <a:pt x="414" y="129"/>
                      </a:lnTo>
                      <a:lnTo>
                        <a:pt x="383" y="133"/>
                      </a:lnTo>
                      <a:lnTo>
                        <a:pt x="351" y="137"/>
                      </a:lnTo>
                      <a:lnTo>
                        <a:pt x="317" y="140"/>
                      </a:lnTo>
                      <a:lnTo>
                        <a:pt x="281" y="140"/>
                      </a:lnTo>
                      <a:lnTo>
                        <a:pt x="245" y="140"/>
                      </a:lnTo>
                      <a:lnTo>
                        <a:pt x="211" y="140"/>
                      </a:lnTo>
                      <a:lnTo>
                        <a:pt x="176" y="137"/>
                      </a:lnTo>
                      <a:lnTo>
                        <a:pt x="143" y="133"/>
                      </a:lnTo>
                      <a:lnTo>
                        <a:pt x="111" y="129"/>
                      </a:lnTo>
                      <a:lnTo>
                        <a:pt x="83" y="123"/>
                      </a:lnTo>
                      <a:lnTo>
                        <a:pt x="111" y="129"/>
                      </a:lnTo>
                      <a:lnTo>
                        <a:pt x="143" y="133"/>
                      </a:lnTo>
                      <a:lnTo>
                        <a:pt x="176" y="137"/>
                      </a:lnTo>
                      <a:lnTo>
                        <a:pt x="211" y="140"/>
                      </a:lnTo>
                      <a:lnTo>
                        <a:pt x="245" y="140"/>
                      </a:lnTo>
                      <a:lnTo>
                        <a:pt x="281" y="140"/>
                      </a:lnTo>
                      <a:lnTo>
                        <a:pt x="317" y="140"/>
                      </a:lnTo>
                      <a:lnTo>
                        <a:pt x="351" y="137"/>
                      </a:lnTo>
                      <a:lnTo>
                        <a:pt x="383" y="133"/>
                      </a:lnTo>
                      <a:lnTo>
                        <a:pt x="414" y="129"/>
                      </a:lnTo>
                      <a:lnTo>
                        <a:pt x="443" y="122"/>
                      </a:lnTo>
                      <a:lnTo>
                        <a:pt x="467" y="115"/>
                      </a:lnTo>
                      <a:lnTo>
                        <a:pt x="487" y="107"/>
                      </a:lnTo>
                      <a:lnTo>
                        <a:pt x="504" y="98"/>
                      </a:lnTo>
                      <a:lnTo>
                        <a:pt x="515" y="90"/>
                      </a:lnTo>
                      <a:lnTo>
                        <a:pt x="523" y="80"/>
                      </a:lnTo>
                      <a:lnTo>
                        <a:pt x="525" y="71"/>
                      </a:lnTo>
                      <a:close/>
                      <a:moveTo>
                        <a:pt x="0" y="71"/>
                      </a:moveTo>
                      <a:lnTo>
                        <a:pt x="2" y="80"/>
                      </a:lnTo>
                      <a:lnTo>
                        <a:pt x="10" y="90"/>
                      </a:lnTo>
                      <a:lnTo>
                        <a:pt x="22" y="99"/>
                      </a:lnTo>
                      <a:lnTo>
                        <a:pt x="39" y="107"/>
                      </a:lnTo>
                      <a:lnTo>
                        <a:pt x="59" y="115"/>
                      </a:lnTo>
                      <a:lnTo>
                        <a:pt x="83" y="123"/>
                      </a:lnTo>
                      <a:lnTo>
                        <a:pt x="59" y="115"/>
                      </a:lnTo>
                      <a:lnTo>
                        <a:pt x="39" y="107"/>
                      </a:lnTo>
                      <a:lnTo>
                        <a:pt x="22" y="99"/>
                      </a:lnTo>
                      <a:lnTo>
                        <a:pt x="10" y="90"/>
                      </a:lnTo>
                      <a:lnTo>
                        <a:pt x="2" y="80"/>
                      </a:lnTo>
                      <a:lnTo>
                        <a:pt x="0" y="71"/>
                      </a:lnTo>
                      <a:close/>
                      <a:moveTo>
                        <a:pt x="0" y="71"/>
                      </a:moveTo>
                      <a:lnTo>
                        <a:pt x="0" y="263"/>
                      </a:lnTo>
                      <a:lnTo>
                        <a:pt x="2" y="273"/>
                      </a:lnTo>
                      <a:lnTo>
                        <a:pt x="10" y="283"/>
                      </a:lnTo>
                      <a:lnTo>
                        <a:pt x="22" y="292"/>
                      </a:lnTo>
                      <a:lnTo>
                        <a:pt x="39" y="300"/>
                      </a:lnTo>
                      <a:lnTo>
                        <a:pt x="59" y="308"/>
                      </a:lnTo>
                      <a:lnTo>
                        <a:pt x="83" y="315"/>
                      </a:lnTo>
                      <a:lnTo>
                        <a:pt x="111" y="322"/>
                      </a:lnTo>
                      <a:lnTo>
                        <a:pt x="143" y="326"/>
                      </a:lnTo>
                      <a:lnTo>
                        <a:pt x="174" y="330"/>
                      </a:lnTo>
                      <a:lnTo>
                        <a:pt x="208" y="333"/>
                      </a:lnTo>
                      <a:lnTo>
                        <a:pt x="245" y="334"/>
                      </a:lnTo>
                      <a:lnTo>
                        <a:pt x="281" y="334"/>
                      </a:lnTo>
                      <a:lnTo>
                        <a:pt x="317" y="333"/>
                      </a:lnTo>
                      <a:lnTo>
                        <a:pt x="351" y="330"/>
                      </a:lnTo>
                      <a:lnTo>
                        <a:pt x="383" y="326"/>
                      </a:lnTo>
                      <a:lnTo>
                        <a:pt x="414" y="322"/>
                      </a:lnTo>
                      <a:lnTo>
                        <a:pt x="443" y="315"/>
                      </a:lnTo>
                      <a:lnTo>
                        <a:pt x="467" y="308"/>
                      </a:lnTo>
                      <a:lnTo>
                        <a:pt x="487" y="300"/>
                      </a:lnTo>
                      <a:lnTo>
                        <a:pt x="504" y="292"/>
                      </a:lnTo>
                      <a:lnTo>
                        <a:pt x="515" y="283"/>
                      </a:lnTo>
                      <a:lnTo>
                        <a:pt x="523" y="273"/>
                      </a:lnTo>
                      <a:lnTo>
                        <a:pt x="525" y="263"/>
                      </a:lnTo>
                      <a:lnTo>
                        <a:pt x="525" y="71"/>
                      </a:lnTo>
                      <a:lnTo>
                        <a:pt x="523" y="61"/>
                      </a:lnTo>
                      <a:lnTo>
                        <a:pt x="515" y="51"/>
                      </a:lnTo>
                      <a:lnTo>
                        <a:pt x="504" y="42"/>
                      </a:lnTo>
                      <a:lnTo>
                        <a:pt x="487" y="34"/>
                      </a:lnTo>
                      <a:lnTo>
                        <a:pt x="467" y="25"/>
                      </a:lnTo>
                      <a:lnTo>
                        <a:pt x="443" y="19"/>
                      </a:lnTo>
                      <a:lnTo>
                        <a:pt x="414" y="12"/>
                      </a:lnTo>
                      <a:lnTo>
                        <a:pt x="383" y="8"/>
                      </a:lnTo>
                      <a:lnTo>
                        <a:pt x="351" y="4"/>
                      </a:lnTo>
                      <a:lnTo>
                        <a:pt x="317" y="1"/>
                      </a:lnTo>
                      <a:lnTo>
                        <a:pt x="281" y="0"/>
                      </a:lnTo>
                      <a:lnTo>
                        <a:pt x="245" y="0"/>
                      </a:lnTo>
                      <a:lnTo>
                        <a:pt x="208" y="1"/>
                      </a:lnTo>
                      <a:lnTo>
                        <a:pt x="174" y="4"/>
                      </a:lnTo>
                      <a:lnTo>
                        <a:pt x="143" y="8"/>
                      </a:lnTo>
                      <a:lnTo>
                        <a:pt x="111" y="12"/>
                      </a:lnTo>
                      <a:lnTo>
                        <a:pt x="83" y="19"/>
                      </a:lnTo>
                      <a:lnTo>
                        <a:pt x="59" y="25"/>
                      </a:lnTo>
                      <a:lnTo>
                        <a:pt x="39" y="34"/>
                      </a:lnTo>
                      <a:lnTo>
                        <a:pt x="22" y="42"/>
                      </a:lnTo>
                      <a:lnTo>
                        <a:pt x="10" y="51"/>
                      </a:lnTo>
                      <a:lnTo>
                        <a:pt x="2" y="61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rgbClr val="8E85B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78" name="Freeform 9"/>
                <p:cNvSpPr>
                  <a:spLocks/>
                </p:cNvSpPr>
                <p:nvPr/>
              </p:nvSpPr>
              <p:spPr bwMode="auto">
                <a:xfrm>
                  <a:off x="1617" y="1901"/>
                  <a:ext cx="442" cy="69"/>
                </a:xfrm>
                <a:custGeom>
                  <a:avLst/>
                  <a:gdLst>
                    <a:gd name="T0" fmla="*/ 442 w 442"/>
                    <a:gd name="T1" fmla="*/ 0 h 69"/>
                    <a:gd name="T2" fmla="*/ 442 w 442"/>
                    <a:gd name="T3" fmla="*/ 0 h 69"/>
                    <a:gd name="T4" fmla="*/ 440 w 442"/>
                    <a:gd name="T5" fmla="*/ 9 h 69"/>
                    <a:gd name="T6" fmla="*/ 432 w 442"/>
                    <a:gd name="T7" fmla="*/ 19 h 69"/>
                    <a:gd name="T8" fmla="*/ 421 w 442"/>
                    <a:gd name="T9" fmla="*/ 27 h 69"/>
                    <a:gd name="T10" fmla="*/ 404 w 442"/>
                    <a:gd name="T11" fmla="*/ 36 h 69"/>
                    <a:gd name="T12" fmla="*/ 384 w 442"/>
                    <a:gd name="T13" fmla="*/ 44 h 69"/>
                    <a:gd name="T14" fmla="*/ 360 w 442"/>
                    <a:gd name="T15" fmla="*/ 51 h 69"/>
                    <a:gd name="T16" fmla="*/ 331 w 442"/>
                    <a:gd name="T17" fmla="*/ 58 h 69"/>
                    <a:gd name="T18" fmla="*/ 300 w 442"/>
                    <a:gd name="T19" fmla="*/ 62 h 69"/>
                    <a:gd name="T20" fmla="*/ 268 w 442"/>
                    <a:gd name="T21" fmla="*/ 66 h 69"/>
                    <a:gd name="T22" fmla="*/ 234 w 442"/>
                    <a:gd name="T23" fmla="*/ 69 h 69"/>
                    <a:gd name="T24" fmla="*/ 198 w 442"/>
                    <a:gd name="T25" fmla="*/ 69 h 69"/>
                    <a:gd name="T26" fmla="*/ 162 w 442"/>
                    <a:gd name="T27" fmla="*/ 69 h 69"/>
                    <a:gd name="T28" fmla="*/ 128 w 442"/>
                    <a:gd name="T29" fmla="*/ 69 h 69"/>
                    <a:gd name="T30" fmla="*/ 93 w 442"/>
                    <a:gd name="T31" fmla="*/ 66 h 69"/>
                    <a:gd name="T32" fmla="*/ 60 w 442"/>
                    <a:gd name="T33" fmla="*/ 62 h 69"/>
                    <a:gd name="T34" fmla="*/ 28 w 442"/>
                    <a:gd name="T35" fmla="*/ 58 h 69"/>
                    <a:gd name="T36" fmla="*/ 0 w 442"/>
                    <a:gd name="T37" fmla="*/ 52 h 69"/>
                    <a:gd name="T38" fmla="*/ 28 w 442"/>
                    <a:gd name="T39" fmla="*/ 58 h 69"/>
                    <a:gd name="T40" fmla="*/ 60 w 442"/>
                    <a:gd name="T41" fmla="*/ 62 h 69"/>
                    <a:gd name="T42" fmla="*/ 93 w 442"/>
                    <a:gd name="T43" fmla="*/ 66 h 69"/>
                    <a:gd name="T44" fmla="*/ 128 w 442"/>
                    <a:gd name="T45" fmla="*/ 69 h 69"/>
                    <a:gd name="T46" fmla="*/ 162 w 442"/>
                    <a:gd name="T47" fmla="*/ 69 h 69"/>
                    <a:gd name="T48" fmla="*/ 198 w 442"/>
                    <a:gd name="T49" fmla="*/ 69 h 69"/>
                    <a:gd name="T50" fmla="*/ 234 w 442"/>
                    <a:gd name="T51" fmla="*/ 69 h 69"/>
                    <a:gd name="T52" fmla="*/ 268 w 442"/>
                    <a:gd name="T53" fmla="*/ 66 h 69"/>
                    <a:gd name="T54" fmla="*/ 300 w 442"/>
                    <a:gd name="T55" fmla="*/ 62 h 69"/>
                    <a:gd name="T56" fmla="*/ 331 w 442"/>
                    <a:gd name="T57" fmla="*/ 58 h 69"/>
                    <a:gd name="T58" fmla="*/ 360 w 442"/>
                    <a:gd name="T59" fmla="*/ 51 h 69"/>
                    <a:gd name="T60" fmla="*/ 384 w 442"/>
                    <a:gd name="T61" fmla="*/ 44 h 69"/>
                    <a:gd name="T62" fmla="*/ 404 w 442"/>
                    <a:gd name="T63" fmla="*/ 36 h 69"/>
                    <a:gd name="T64" fmla="*/ 421 w 442"/>
                    <a:gd name="T65" fmla="*/ 27 h 69"/>
                    <a:gd name="T66" fmla="*/ 432 w 442"/>
                    <a:gd name="T67" fmla="*/ 19 h 69"/>
                    <a:gd name="T68" fmla="*/ 440 w 442"/>
                    <a:gd name="T69" fmla="*/ 9 h 69"/>
                    <a:gd name="T70" fmla="*/ 442 w 442"/>
                    <a:gd name="T71" fmla="*/ 0 h 69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442"/>
                    <a:gd name="T109" fmla="*/ 0 h 69"/>
                    <a:gd name="T110" fmla="*/ 442 w 442"/>
                    <a:gd name="T111" fmla="*/ 69 h 69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442" h="69">
                      <a:moveTo>
                        <a:pt x="442" y="0"/>
                      </a:moveTo>
                      <a:lnTo>
                        <a:pt x="442" y="0"/>
                      </a:lnTo>
                      <a:lnTo>
                        <a:pt x="440" y="9"/>
                      </a:lnTo>
                      <a:lnTo>
                        <a:pt x="432" y="19"/>
                      </a:lnTo>
                      <a:lnTo>
                        <a:pt x="421" y="27"/>
                      </a:lnTo>
                      <a:lnTo>
                        <a:pt x="404" y="36"/>
                      </a:lnTo>
                      <a:lnTo>
                        <a:pt x="384" y="44"/>
                      </a:lnTo>
                      <a:lnTo>
                        <a:pt x="360" y="51"/>
                      </a:lnTo>
                      <a:lnTo>
                        <a:pt x="331" y="58"/>
                      </a:lnTo>
                      <a:lnTo>
                        <a:pt x="300" y="62"/>
                      </a:lnTo>
                      <a:lnTo>
                        <a:pt x="268" y="66"/>
                      </a:lnTo>
                      <a:lnTo>
                        <a:pt x="234" y="69"/>
                      </a:lnTo>
                      <a:lnTo>
                        <a:pt x="198" y="69"/>
                      </a:lnTo>
                      <a:lnTo>
                        <a:pt x="162" y="69"/>
                      </a:lnTo>
                      <a:lnTo>
                        <a:pt x="128" y="69"/>
                      </a:lnTo>
                      <a:lnTo>
                        <a:pt x="93" y="66"/>
                      </a:lnTo>
                      <a:lnTo>
                        <a:pt x="60" y="62"/>
                      </a:lnTo>
                      <a:lnTo>
                        <a:pt x="28" y="58"/>
                      </a:lnTo>
                      <a:lnTo>
                        <a:pt x="0" y="52"/>
                      </a:lnTo>
                      <a:lnTo>
                        <a:pt x="28" y="58"/>
                      </a:lnTo>
                      <a:lnTo>
                        <a:pt x="60" y="62"/>
                      </a:lnTo>
                      <a:lnTo>
                        <a:pt x="93" y="66"/>
                      </a:lnTo>
                      <a:lnTo>
                        <a:pt x="128" y="69"/>
                      </a:lnTo>
                      <a:lnTo>
                        <a:pt x="162" y="69"/>
                      </a:lnTo>
                      <a:lnTo>
                        <a:pt x="198" y="69"/>
                      </a:lnTo>
                      <a:lnTo>
                        <a:pt x="234" y="69"/>
                      </a:lnTo>
                      <a:lnTo>
                        <a:pt x="268" y="66"/>
                      </a:lnTo>
                      <a:lnTo>
                        <a:pt x="300" y="62"/>
                      </a:lnTo>
                      <a:lnTo>
                        <a:pt x="331" y="58"/>
                      </a:lnTo>
                      <a:lnTo>
                        <a:pt x="360" y="51"/>
                      </a:lnTo>
                      <a:lnTo>
                        <a:pt x="384" y="44"/>
                      </a:lnTo>
                      <a:lnTo>
                        <a:pt x="404" y="36"/>
                      </a:lnTo>
                      <a:lnTo>
                        <a:pt x="421" y="27"/>
                      </a:lnTo>
                      <a:lnTo>
                        <a:pt x="432" y="19"/>
                      </a:lnTo>
                      <a:lnTo>
                        <a:pt x="440" y="9"/>
                      </a:lnTo>
                      <a:lnTo>
                        <a:pt x="442" y="0"/>
                      </a:lnTo>
                      <a:close/>
                    </a:path>
                  </a:pathLst>
                </a:custGeom>
                <a:noFill/>
                <a:ln w="7938" cap="rnd">
                  <a:solidFill>
                    <a:srgbClr val="23CB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79" name="Freeform 10"/>
                <p:cNvSpPr>
                  <a:spLocks/>
                </p:cNvSpPr>
                <p:nvPr/>
              </p:nvSpPr>
              <p:spPr bwMode="auto">
                <a:xfrm>
                  <a:off x="1534" y="1901"/>
                  <a:ext cx="83" cy="52"/>
                </a:xfrm>
                <a:custGeom>
                  <a:avLst/>
                  <a:gdLst>
                    <a:gd name="T0" fmla="*/ 0 w 83"/>
                    <a:gd name="T1" fmla="*/ 0 h 52"/>
                    <a:gd name="T2" fmla="*/ 2 w 83"/>
                    <a:gd name="T3" fmla="*/ 9 h 52"/>
                    <a:gd name="T4" fmla="*/ 10 w 83"/>
                    <a:gd name="T5" fmla="*/ 19 h 52"/>
                    <a:gd name="T6" fmla="*/ 22 w 83"/>
                    <a:gd name="T7" fmla="*/ 28 h 52"/>
                    <a:gd name="T8" fmla="*/ 39 w 83"/>
                    <a:gd name="T9" fmla="*/ 36 h 52"/>
                    <a:gd name="T10" fmla="*/ 59 w 83"/>
                    <a:gd name="T11" fmla="*/ 44 h 52"/>
                    <a:gd name="T12" fmla="*/ 83 w 83"/>
                    <a:gd name="T13" fmla="*/ 52 h 52"/>
                    <a:gd name="T14" fmla="*/ 59 w 83"/>
                    <a:gd name="T15" fmla="*/ 44 h 52"/>
                    <a:gd name="T16" fmla="*/ 39 w 83"/>
                    <a:gd name="T17" fmla="*/ 36 h 52"/>
                    <a:gd name="T18" fmla="*/ 22 w 83"/>
                    <a:gd name="T19" fmla="*/ 28 h 52"/>
                    <a:gd name="T20" fmla="*/ 10 w 83"/>
                    <a:gd name="T21" fmla="*/ 19 h 52"/>
                    <a:gd name="T22" fmla="*/ 2 w 83"/>
                    <a:gd name="T23" fmla="*/ 9 h 52"/>
                    <a:gd name="T24" fmla="*/ 0 w 83"/>
                    <a:gd name="T25" fmla="*/ 0 h 5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83"/>
                    <a:gd name="T40" fmla="*/ 0 h 52"/>
                    <a:gd name="T41" fmla="*/ 83 w 83"/>
                    <a:gd name="T42" fmla="*/ 52 h 52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83" h="52">
                      <a:moveTo>
                        <a:pt x="0" y="0"/>
                      </a:moveTo>
                      <a:lnTo>
                        <a:pt x="2" y="9"/>
                      </a:lnTo>
                      <a:lnTo>
                        <a:pt x="10" y="19"/>
                      </a:lnTo>
                      <a:lnTo>
                        <a:pt x="22" y="28"/>
                      </a:lnTo>
                      <a:lnTo>
                        <a:pt x="39" y="36"/>
                      </a:lnTo>
                      <a:lnTo>
                        <a:pt x="59" y="44"/>
                      </a:lnTo>
                      <a:lnTo>
                        <a:pt x="83" y="52"/>
                      </a:lnTo>
                      <a:lnTo>
                        <a:pt x="59" y="44"/>
                      </a:lnTo>
                      <a:lnTo>
                        <a:pt x="39" y="36"/>
                      </a:lnTo>
                      <a:lnTo>
                        <a:pt x="22" y="28"/>
                      </a:lnTo>
                      <a:lnTo>
                        <a:pt x="10" y="19"/>
                      </a:lnTo>
                      <a:lnTo>
                        <a:pt x="2" y="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7938" cap="rnd">
                  <a:solidFill>
                    <a:srgbClr val="23CB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80" name="Freeform 11"/>
                <p:cNvSpPr>
                  <a:spLocks/>
                </p:cNvSpPr>
                <p:nvPr/>
              </p:nvSpPr>
              <p:spPr bwMode="auto">
                <a:xfrm>
                  <a:off x="1534" y="1830"/>
                  <a:ext cx="525" cy="334"/>
                </a:xfrm>
                <a:custGeom>
                  <a:avLst/>
                  <a:gdLst>
                    <a:gd name="T0" fmla="*/ 0 w 525"/>
                    <a:gd name="T1" fmla="*/ 71 h 334"/>
                    <a:gd name="T2" fmla="*/ 0 w 525"/>
                    <a:gd name="T3" fmla="*/ 263 h 334"/>
                    <a:gd name="T4" fmla="*/ 2 w 525"/>
                    <a:gd name="T5" fmla="*/ 273 h 334"/>
                    <a:gd name="T6" fmla="*/ 10 w 525"/>
                    <a:gd name="T7" fmla="*/ 283 h 334"/>
                    <a:gd name="T8" fmla="*/ 22 w 525"/>
                    <a:gd name="T9" fmla="*/ 292 h 334"/>
                    <a:gd name="T10" fmla="*/ 39 w 525"/>
                    <a:gd name="T11" fmla="*/ 300 h 334"/>
                    <a:gd name="T12" fmla="*/ 59 w 525"/>
                    <a:gd name="T13" fmla="*/ 308 h 334"/>
                    <a:gd name="T14" fmla="*/ 83 w 525"/>
                    <a:gd name="T15" fmla="*/ 315 h 334"/>
                    <a:gd name="T16" fmla="*/ 111 w 525"/>
                    <a:gd name="T17" fmla="*/ 322 h 334"/>
                    <a:gd name="T18" fmla="*/ 143 w 525"/>
                    <a:gd name="T19" fmla="*/ 326 h 334"/>
                    <a:gd name="T20" fmla="*/ 174 w 525"/>
                    <a:gd name="T21" fmla="*/ 330 h 334"/>
                    <a:gd name="T22" fmla="*/ 208 w 525"/>
                    <a:gd name="T23" fmla="*/ 333 h 334"/>
                    <a:gd name="T24" fmla="*/ 245 w 525"/>
                    <a:gd name="T25" fmla="*/ 334 h 334"/>
                    <a:gd name="T26" fmla="*/ 281 w 525"/>
                    <a:gd name="T27" fmla="*/ 334 h 334"/>
                    <a:gd name="T28" fmla="*/ 317 w 525"/>
                    <a:gd name="T29" fmla="*/ 333 h 334"/>
                    <a:gd name="T30" fmla="*/ 351 w 525"/>
                    <a:gd name="T31" fmla="*/ 330 h 334"/>
                    <a:gd name="T32" fmla="*/ 383 w 525"/>
                    <a:gd name="T33" fmla="*/ 326 h 334"/>
                    <a:gd name="T34" fmla="*/ 414 w 525"/>
                    <a:gd name="T35" fmla="*/ 322 h 334"/>
                    <a:gd name="T36" fmla="*/ 443 w 525"/>
                    <a:gd name="T37" fmla="*/ 315 h 334"/>
                    <a:gd name="T38" fmla="*/ 467 w 525"/>
                    <a:gd name="T39" fmla="*/ 308 h 334"/>
                    <a:gd name="T40" fmla="*/ 487 w 525"/>
                    <a:gd name="T41" fmla="*/ 300 h 334"/>
                    <a:gd name="T42" fmla="*/ 504 w 525"/>
                    <a:gd name="T43" fmla="*/ 292 h 334"/>
                    <a:gd name="T44" fmla="*/ 515 w 525"/>
                    <a:gd name="T45" fmla="*/ 283 h 334"/>
                    <a:gd name="T46" fmla="*/ 523 w 525"/>
                    <a:gd name="T47" fmla="*/ 273 h 334"/>
                    <a:gd name="T48" fmla="*/ 525 w 525"/>
                    <a:gd name="T49" fmla="*/ 263 h 334"/>
                    <a:gd name="T50" fmla="*/ 525 w 525"/>
                    <a:gd name="T51" fmla="*/ 71 h 334"/>
                    <a:gd name="T52" fmla="*/ 523 w 525"/>
                    <a:gd name="T53" fmla="*/ 61 h 334"/>
                    <a:gd name="T54" fmla="*/ 515 w 525"/>
                    <a:gd name="T55" fmla="*/ 51 h 334"/>
                    <a:gd name="T56" fmla="*/ 504 w 525"/>
                    <a:gd name="T57" fmla="*/ 42 h 334"/>
                    <a:gd name="T58" fmla="*/ 487 w 525"/>
                    <a:gd name="T59" fmla="*/ 34 h 334"/>
                    <a:gd name="T60" fmla="*/ 467 w 525"/>
                    <a:gd name="T61" fmla="*/ 25 h 334"/>
                    <a:gd name="T62" fmla="*/ 443 w 525"/>
                    <a:gd name="T63" fmla="*/ 19 h 334"/>
                    <a:gd name="T64" fmla="*/ 414 w 525"/>
                    <a:gd name="T65" fmla="*/ 12 h 334"/>
                    <a:gd name="T66" fmla="*/ 383 w 525"/>
                    <a:gd name="T67" fmla="*/ 8 h 334"/>
                    <a:gd name="T68" fmla="*/ 351 w 525"/>
                    <a:gd name="T69" fmla="*/ 4 h 334"/>
                    <a:gd name="T70" fmla="*/ 317 w 525"/>
                    <a:gd name="T71" fmla="*/ 1 h 334"/>
                    <a:gd name="T72" fmla="*/ 281 w 525"/>
                    <a:gd name="T73" fmla="*/ 0 h 334"/>
                    <a:gd name="T74" fmla="*/ 245 w 525"/>
                    <a:gd name="T75" fmla="*/ 0 h 334"/>
                    <a:gd name="T76" fmla="*/ 208 w 525"/>
                    <a:gd name="T77" fmla="*/ 1 h 334"/>
                    <a:gd name="T78" fmla="*/ 174 w 525"/>
                    <a:gd name="T79" fmla="*/ 4 h 334"/>
                    <a:gd name="T80" fmla="*/ 143 w 525"/>
                    <a:gd name="T81" fmla="*/ 8 h 334"/>
                    <a:gd name="T82" fmla="*/ 111 w 525"/>
                    <a:gd name="T83" fmla="*/ 12 h 334"/>
                    <a:gd name="T84" fmla="*/ 83 w 525"/>
                    <a:gd name="T85" fmla="*/ 19 h 334"/>
                    <a:gd name="T86" fmla="*/ 59 w 525"/>
                    <a:gd name="T87" fmla="*/ 25 h 334"/>
                    <a:gd name="T88" fmla="*/ 39 w 525"/>
                    <a:gd name="T89" fmla="*/ 34 h 334"/>
                    <a:gd name="T90" fmla="*/ 22 w 525"/>
                    <a:gd name="T91" fmla="*/ 42 h 334"/>
                    <a:gd name="T92" fmla="*/ 10 w 525"/>
                    <a:gd name="T93" fmla="*/ 51 h 334"/>
                    <a:gd name="T94" fmla="*/ 2 w 525"/>
                    <a:gd name="T95" fmla="*/ 61 h 334"/>
                    <a:gd name="T96" fmla="*/ 0 w 525"/>
                    <a:gd name="T97" fmla="*/ 71 h 334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525"/>
                    <a:gd name="T148" fmla="*/ 0 h 334"/>
                    <a:gd name="T149" fmla="*/ 525 w 525"/>
                    <a:gd name="T150" fmla="*/ 334 h 334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525" h="334">
                      <a:moveTo>
                        <a:pt x="0" y="71"/>
                      </a:moveTo>
                      <a:lnTo>
                        <a:pt x="0" y="263"/>
                      </a:lnTo>
                      <a:lnTo>
                        <a:pt x="2" y="273"/>
                      </a:lnTo>
                      <a:lnTo>
                        <a:pt x="10" y="283"/>
                      </a:lnTo>
                      <a:lnTo>
                        <a:pt x="22" y="292"/>
                      </a:lnTo>
                      <a:lnTo>
                        <a:pt x="39" y="300"/>
                      </a:lnTo>
                      <a:lnTo>
                        <a:pt x="59" y="308"/>
                      </a:lnTo>
                      <a:lnTo>
                        <a:pt x="83" y="315"/>
                      </a:lnTo>
                      <a:lnTo>
                        <a:pt x="111" y="322"/>
                      </a:lnTo>
                      <a:lnTo>
                        <a:pt x="143" y="326"/>
                      </a:lnTo>
                      <a:lnTo>
                        <a:pt x="174" y="330"/>
                      </a:lnTo>
                      <a:lnTo>
                        <a:pt x="208" y="333"/>
                      </a:lnTo>
                      <a:lnTo>
                        <a:pt x="245" y="334"/>
                      </a:lnTo>
                      <a:lnTo>
                        <a:pt x="281" y="334"/>
                      </a:lnTo>
                      <a:lnTo>
                        <a:pt x="317" y="333"/>
                      </a:lnTo>
                      <a:lnTo>
                        <a:pt x="351" y="330"/>
                      </a:lnTo>
                      <a:lnTo>
                        <a:pt x="383" y="326"/>
                      </a:lnTo>
                      <a:lnTo>
                        <a:pt x="414" y="322"/>
                      </a:lnTo>
                      <a:lnTo>
                        <a:pt x="443" y="315"/>
                      </a:lnTo>
                      <a:lnTo>
                        <a:pt x="467" y="308"/>
                      </a:lnTo>
                      <a:lnTo>
                        <a:pt x="487" y="300"/>
                      </a:lnTo>
                      <a:lnTo>
                        <a:pt x="504" y="292"/>
                      </a:lnTo>
                      <a:lnTo>
                        <a:pt x="515" y="283"/>
                      </a:lnTo>
                      <a:lnTo>
                        <a:pt x="523" y="273"/>
                      </a:lnTo>
                      <a:lnTo>
                        <a:pt x="525" y="263"/>
                      </a:lnTo>
                      <a:lnTo>
                        <a:pt x="525" y="71"/>
                      </a:lnTo>
                      <a:lnTo>
                        <a:pt x="523" y="61"/>
                      </a:lnTo>
                      <a:lnTo>
                        <a:pt x="515" y="51"/>
                      </a:lnTo>
                      <a:lnTo>
                        <a:pt x="504" y="42"/>
                      </a:lnTo>
                      <a:lnTo>
                        <a:pt x="487" y="34"/>
                      </a:lnTo>
                      <a:lnTo>
                        <a:pt x="467" y="25"/>
                      </a:lnTo>
                      <a:lnTo>
                        <a:pt x="443" y="19"/>
                      </a:lnTo>
                      <a:lnTo>
                        <a:pt x="414" y="12"/>
                      </a:lnTo>
                      <a:lnTo>
                        <a:pt x="383" y="8"/>
                      </a:lnTo>
                      <a:lnTo>
                        <a:pt x="351" y="4"/>
                      </a:lnTo>
                      <a:lnTo>
                        <a:pt x="317" y="1"/>
                      </a:lnTo>
                      <a:lnTo>
                        <a:pt x="281" y="0"/>
                      </a:lnTo>
                      <a:lnTo>
                        <a:pt x="245" y="0"/>
                      </a:lnTo>
                      <a:lnTo>
                        <a:pt x="208" y="1"/>
                      </a:lnTo>
                      <a:lnTo>
                        <a:pt x="174" y="4"/>
                      </a:lnTo>
                      <a:lnTo>
                        <a:pt x="143" y="8"/>
                      </a:lnTo>
                      <a:lnTo>
                        <a:pt x="111" y="12"/>
                      </a:lnTo>
                      <a:lnTo>
                        <a:pt x="83" y="19"/>
                      </a:lnTo>
                      <a:lnTo>
                        <a:pt x="59" y="25"/>
                      </a:lnTo>
                      <a:lnTo>
                        <a:pt x="39" y="34"/>
                      </a:lnTo>
                      <a:lnTo>
                        <a:pt x="22" y="42"/>
                      </a:lnTo>
                      <a:lnTo>
                        <a:pt x="10" y="51"/>
                      </a:lnTo>
                      <a:lnTo>
                        <a:pt x="2" y="6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7938" cap="rnd">
                  <a:solidFill>
                    <a:srgbClr val="23CB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58" name="Group 12"/>
              <p:cNvGrpSpPr>
                <a:grpSpLocks/>
              </p:cNvGrpSpPr>
              <p:nvPr/>
            </p:nvGrpSpPr>
            <p:grpSpPr bwMode="auto">
              <a:xfrm>
                <a:off x="1535" y="1830"/>
                <a:ext cx="524" cy="141"/>
                <a:chOff x="1535" y="1830"/>
                <a:chExt cx="524" cy="141"/>
              </a:xfrm>
            </p:grpSpPr>
            <p:sp>
              <p:nvSpPr>
                <p:cNvPr id="29775" name="Freeform 13"/>
                <p:cNvSpPr>
                  <a:spLocks/>
                </p:cNvSpPr>
                <p:nvPr/>
              </p:nvSpPr>
              <p:spPr bwMode="auto">
                <a:xfrm>
                  <a:off x="1535" y="1830"/>
                  <a:ext cx="524" cy="141"/>
                </a:xfrm>
                <a:custGeom>
                  <a:avLst/>
                  <a:gdLst>
                    <a:gd name="T0" fmla="*/ 524 w 524"/>
                    <a:gd name="T1" fmla="*/ 71 h 141"/>
                    <a:gd name="T2" fmla="*/ 522 w 524"/>
                    <a:gd name="T3" fmla="*/ 80 h 141"/>
                    <a:gd name="T4" fmla="*/ 514 w 524"/>
                    <a:gd name="T5" fmla="*/ 90 h 141"/>
                    <a:gd name="T6" fmla="*/ 502 w 524"/>
                    <a:gd name="T7" fmla="*/ 99 h 141"/>
                    <a:gd name="T8" fmla="*/ 485 w 524"/>
                    <a:gd name="T9" fmla="*/ 107 h 141"/>
                    <a:gd name="T10" fmla="*/ 463 w 524"/>
                    <a:gd name="T11" fmla="*/ 116 h 141"/>
                    <a:gd name="T12" fmla="*/ 437 w 524"/>
                    <a:gd name="T13" fmla="*/ 123 h 141"/>
                    <a:gd name="T14" fmla="*/ 409 w 524"/>
                    <a:gd name="T15" fmla="*/ 129 h 141"/>
                    <a:gd name="T16" fmla="*/ 377 w 524"/>
                    <a:gd name="T17" fmla="*/ 134 h 141"/>
                    <a:gd name="T18" fmla="*/ 342 w 524"/>
                    <a:gd name="T19" fmla="*/ 138 h 141"/>
                    <a:gd name="T20" fmla="*/ 308 w 524"/>
                    <a:gd name="T21" fmla="*/ 140 h 141"/>
                    <a:gd name="T22" fmla="*/ 271 w 524"/>
                    <a:gd name="T23" fmla="*/ 141 h 141"/>
                    <a:gd name="T24" fmla="*/ 234 w 524"/>
                    <a:gd name="T25" fmla="*/ 140 h 141"/>
                    <a:gd name="T26" fmla="*/ 197 w 524"/>
                    <a:gd name="T27" fmla="*/ 139 h 141"/>
                    <a:gd name="T28" fmla="*/ 163 w 524"/>
                    <a:gd name="T29" fmla="*/ 136 h 141"/>
                    <a:gd name="T30" fmla="*/ 131 w 524"/>
                    <a:gd name="T31" fmla="*/ 132 h 141"/>
                    <a:gd name="T32" fmla="*/ 100 w 524"/>
                    <a:gd name="T33" fmla="*/ 127 h 141"/>
                    <a:gd name="T34" fmla="*/ 74 w 524"/>
                    <a:gd name="T35" fmla="*/ 119 h 141"/>
                    <a:gd name="T36" fmla="*/ 49 w 524"/>
                    <a:gd name="T37" fmla="*/ 112 h 141"/>
                    <a:gd name="T38" fmla="*/ 29 w 524"/>
                    <a:gd name="T39" fmla="*/ 104 h 141"/>
                    <a:gd name="T40" fmla="*/ 16 w 524"/>
                    <a:gd name="T41" fmla="*/ 95 h 141"/>
                    <a:gd name="T42" fmla="*/ 6 w 524"/>
                    <a:gd name="T43" fmla="*/ 85 h 141"/>
                    <a:gd name="T44" fmla="*/ 0 w 524"/>
                    <a:gd name="T45" fmla="*/ 75 h 141"/>
                    <a:gd name="T46" fmla="*/ 0 w 524"/>
                    <a:gd name="T47" fmla="*/ 65 h 141"/>
                    <a:gd name="T48" fmla="*/ 6 w 524"/>
                    <a:gd name="T49" fmla="*/ 55 h 141"/>
                    <a:gd name="T50" fmla="*/ 16 w 524"/>
                    <a:gd name="T51" fmla="*/ 46 h 141"/>
                    <a:gd name="T52" fmla="*/ 29 w 524"/>
                    <a:gd name="T53" fmla="*/ 37 h 141"/>
                    <a:gd name="T54" fmla="*/ 49 w 524"/>
                    <a:gd name="T55" fmla="*/ 29 h 141"/>
                    <a:gd name="T56" fmla="*/ 74 w 524"/>
                    <a:gd name="T57" fmla="*/ 20 h 141"/>
                    <a:gd name="T58" fmla="*/ 100 w 524"/>
                    <a:gd name="T59" fmla="*/ 14 h 141"/>
                    <a:gd name="T60" fmla="*/ 131 w 524"/>
                    <a:gd name="T61" fmla="*/ 9 h 141"/>
                    <a:gd name="T62" fmla="*/ 163 w 524"/>
                    <a:gd name="T63" fmla="*/ 5 h 141"/>
                    <a:gd name="T64" fmla="*/ 197 w 524"/>
                    <a:gd name="T65" fmla="*/ 2 h 141"/>
                    <a:gd name="T66" fmla="*/ 234 w 524"/>
                    <a:gd name="T67" fmla="*/ 0 h 141"/>
                    <a:gd name="T68" fmla="*/ 271 w 524"/>
                    <a:gd name="T69" fmla="*/ 0 h 141"/>
                    <a:gd name="T70" fmla="*/ 308 w 524"/>
                    <a:gd name="T71" fmla="*/ 1 h 141"/>
                    <a:gd name="T72" fmla="*/ 342 w 524"/>
                    <a:gd name="T73" fmla="*/ 3 h 141"/>
                    <a:gd name="T74" fmla="*/ 377 w 524"/>
                    <a:gd name="T75" fmla="*/ 7 h 141"/>
                    <a:gd name="T76" fmla="*/ 409 w 524"/>
                    <a:gd name="T77" fmla="*/ 11 h 141"/>
                    <a:gd name="T78" fmla="*/ 437 w 524"/>
                    <a:gd name="T79" fmla="*/ 18 h 141"/>
                    <a:gd name="T80" fmla="*/ 463 w 524"/>
                    <a:gd name="T81" fmla="*/ 24 h 141"/>
                    <a:gd name="T82" fmla="*/ 485 w 524"/>
                    <a:gd name="T83" fmla="*/ 33 h 141"/>
                    <a:gd name="T84" fmla="*/ 502 w 524"/>
                    <a:gd name="T85" fmla="*/ 41 h 141"/>
                    <a:gd name="T86" fmla="*/ 514 w 524"/>
                    <a:gd name="T87" fmla="*/ 51 h 141"/>
                    <a:gd name="T88" fmla="*/ 522 w 524"/>
                    <a:gd name="T89" fmla="*/ 61 h 141"/>
                    <a:gd name="T90" fmla="*/ 524 w 524"/>
                    <a:gd name="T91" fmla="*/ 71 h 141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524"/>
                    <a:gd name="T139" fmla="*/ 0 h 141"/>
                    <a:gd name="T140" fmla="*/ 524 w 524"/>
                    <a:gd name="T141" fmla="*/ 141 h 141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524" h="141">
                      <a:moveTo>
                        <a:pt x="524" y="71"/>
                      </a:moveTo>
                      <a:lnTo>
                        <a:pt x="522" y="80"/>
                      </a:lnTo>
                      <a:lnTo>
                        <a:pt x="514" y="90"/>
                      </a:lnTo>
                      <a:lnTo>
                        <a:pt x="502" y="99"/>
                      </a:lnTo>
                      <a:lnTo>
                        <a:pt x="485" y="107"/>
                      </a:lnTo>
                      <a:lnTo>
                        <a:pt x="463" y="116"/>
                      </a:lnTo>
                      <a:lnTo>
                        <a:pt x="437" y="123"/>
                      </a:lnTo>
                      <a:lnTo>
                        <a:pt x="409" y="129"/>
                      </a:lnTo>
                      <a:lnTo>
                        <a:pt x="377" y="134"/>
                      </a:lnTo>
                      <a:lnTo>
                        <a:pt x="342" y="138"/>
                      </a:lnTo>
                      <a:lnTo>
                        <a:pt x="308" y="140"/>
                      </a:lnTo>
                      <a:lnTo>
                        <a:pt x="271" y="141"/>
                      </a:lnTo>
                      <a:lnTo>
                        <a:pt x="234" y="140"/>
                      </a:lnTo>
                      <a:lnTo>
                        <a:pt x="197" y="139"/>
                      </a:lnTo>
                      <a:lnTo>
                        <a:pt x="163" y="136"/>
                      </a:lnTo>
                      <a:lnTo>
                        <a:pt x="131" y="132"/>
                      </a:lnTo>
                      <a:lnTo>
                        <a:pt x="100" y="127"/>
                      </a:lnTo>
                      <a:lnTo>
                        <a:pt x="74" y="119"/>
                      </a:lnTo>
                      <a:lnTo>
                        <a:pt x="49" y="112"/>
                      </a:lnTo>
                      <a:lnTo>
                        <a:pt x="29" y="104"/>
                      </a:lnTo>
                      <a:lnTo>
                        <a:pt x="16" y="95"/>
                      </a:lnTo>
                      <a:lnTo>
                        <a:pt x="6" y="85"/>
                      </a:lnTo>
                      <a:lnTo>
                        <a:pt x="0" y="75"/>
                      </a:lnTo>
                      <a:lnTo>
                        <a:pt x="0" y="65"/>
                      </a:lnTo>
                      <a:lnTo>
                        <a:pt x="6" y="55"/>
                      </a:lnTo>
                      <a:lnTo>
                        <a:pt x="16" y="46"/>
                      </a:lnTo>
                      <a:lnTo>
                        <a:pt x="29" y="37"/>
                      </a:lnTo>
                      <a:lnTo>
                        <a:pt x="49" y="29"/>
                      </a:lnTo>
                      <a:lnTo>
                        <a:pt x="74" y="20"/>
                      </a:lnTo>
                      <a:lnTo>
                        <a:pt x="100" y="14"/>
                      </a:lnTo>
                      <a:lnTo>
                        <a:pt x="131" y="9"/>
                      </a:lnTo>
                      <a:lnTo>
                        <a:pt x="163" y="5"/>
                      </a:lnTo>
                      <a:lnTo>
                        <a:pt x="197" y="2"/>
                      </a:lnTo>
                      <a:lnTo>
                        <a:pt x="234" y="0"/>
                      </a:lnTo>
                      <a:lnTo>
                        <a:pt x="271" y="0"/>
                      </a:lnTo>
                      <a:lnTo>
                        <a:pt x="308" y="1"/>
                      </a:lnTo>
                      <a:lnTo>
                        <a:pt x="342" y="3"/>
                      </a:lnTo>
                      <a:lnTo>
                        <a:pt x="377" y="7"/>
                      </a:lnTo>
                      <a:lnTo>
                        <a:pt x="409" y="11"/>
                      </a:lnTo>
                      <a:lnTo>
                        <a:pt x="437" y="18"/>
                      </a:lnTo>
                      <a:lnTo>
                        <a:pt x="463" y="24"/>
                      </a:lnTo>
                      <a:lnTo>
                        <a:pt x="485" y="33"/>
                      </a:lnTo>
                      <a:lnTo>
                        <a:pt x="502" y="41"/>
                      </a:lnTo>
                      <a:lnTo>
                        <a:pt x="514" y="51"/>
                      </a:lnTo>
                      <a:lnTo>
                        <a:pt x="522" y="61"/>
                      </a:lnTo>
                      <a:lnTo>
                        <a:pt x="524" y="71"/>
                      </a:lnTo>
                      <a:close/>
                    </a:path>
                  </a:pathLst>
                </a:custGeom>
                <a:solidFill>
                  <a:srgbClr val="BBB4D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76" name="Freeform 14"/>
                <p:cNvSpPr>
                  <a:spLocks/>
                </p:cNvSpPr>
                <p:nvPr/>
              </p:nvSpPr>
              <p:spPr bwMode="auto">
                <a:xfrm>
                  <a:off x="1535" y="1830"/>
                  <a:ext cx="524" cy="141"/>
                </a:xfrm>
                <a:custGeom>
                  <a:avLst/>
                  <a:gdLst>
                    <a:gd name="T0" fmla="*/ 524 w 524"/>
                    <a:gd name="T1" fmla="*/ 71 h 141"/>
                    <a:gd name="T2" fmla="*/ 522 w 524"/>
                    <a:gd name="T3" fmla="*/ 80 h 141"/>
                    <a:gd name="T4" fmla="*/ 514 w 524"/>
                    <a:gd name="T5" fmla="*/ 90 h 141"/>
                    <a:gd name="T6" fmla="*/ 502 w 524"/>
                    <a:gd name="T7" fmla="*/ 99 h 141"/>
                    <a:gd name="T8" fmla="*/ 485 w 524"/>
                    <a:gd name="T9" fmla="*/ 107 h 141"/>
                    <a:gd name="T10" fmla="*/ 463 w 524"/>
                    <a:gd name="T11" fmla="*/ 116 h 141"/>
                    <a:gd name="T12" fmla="*/ 437 w 524"/>
                    <a:gd name="T13" fmla="*/ 123 h 141"/>
                    <a:gd name="T14" fmla="*/ 409 w 524"/>
                    <a:gd name="T15" fmla="*/ 129 h 141"/>
                    <a:gd name="T16" fmla="*/ 377 w 524"/>
                    <a:gd name="T17" fmla="*/ 134 h 141"/>
                    <a:gd name="T18" fmla="*/ 342 w 524"/>
                    <a:gd name="T19" fmla="*/ 138 h 141"/>
                    <a:gd name="T20" fmla="*/ 308 w 524"/>
                    <a:gd name="T21" fmla="*/ 140 h 141"/>
                    <a:gd name="T22" fmla="*/ 271 w 524"/>
                    <a:gd name="T23" fmla="*/ 141 h 141"/>
                    <a:gd name="T24" fmla="*/ 234 w 524"/>
                    <a:gd name="T25" fmla="*/ 140 h 141"/>
                    <a:gd name="T26" fmla="*/ 197 w 524"/>
                    <a:gd name="T27" fmla="*/ 139 h 141"/>
                    <a:gd name="T28" fmla="*/ 163 w 524"/>
                    <a:gd name="T29" fmla="*/ 136 h 141"/>
                    <a:gd name="T30" fmla="*/ 131 w 524"/>
                    <a:gd name="T31" fmla="*/ 132 h 141"/>
                    <a:gd name="T32" fmla="*/ 100 w 524"/>
                    <a:gd name="T33" fmla="*/ 127 h 141"/>
                    <a:gd name="T34" fmla="*/ 74 w 524"/>
                    <a:gd name="T35" fmla="*/ 119 h 141"/>
                    <a:gd name="T36" fmla="*/ 49 w 524"/>
                    <a:gd name="T37" fmla="*/ 112 h 141"/>
                    <a:gd name="T38" fmla="*/ 29 w 524"/>
                    <a:gd name="T39" fmla="*/ 104 h 141"/>
                    <a:gd name="T40" fmla="*/ 16 w 524"/>
                    <a:gd name="T41" fmla="*/ 95 h 141"/>
                    <a:gd name="T42" fmla="*/ 6 w 524"/>
                    <a:gd name="T43" fmla="*/ 85 h 141"/>
                    <a:gd name="T44" fmla="*/ 0 w 524"/>
                    <a:gd name="T45" fmla="*/ 75 h 141"/>
                    <a:gd name="T46" fmla="*/ 0 w 524"/>
                    <a:gd name="T47" fmla="*/ 65 h 141"/>
                    <a:gd name="T48" fmla="*/ 6 w 524"/>
                    <a:gd name="T49" fmla="*/ 55 h 141"/>
                    <a:gd name="T50" fmla="*/ 16 w 524"/>
                    <a:gd name="T51" fmla="*/ 46 h 141"/>
                    <a:gd name="T52" fmla="*/ 29 w 524"/>
                    <a:gd name="T53" fmla="*/ 37 h 141"/>
                    <a:gd name="T54" fmla="*/ 49 w 524"/>
                    <a:gd name="T55" fmla="*/ 29 h 141"/>
                    <a:gd name="T56" fmla="*/ 74 w 524"/>
                    <a:gd name="T57" fmla="*/ 20 h 141"/>
                    <a:gd name="T58" fmla="*/ 100 w 524"/>
                    <a:gd name="T59" fmla="*/ 14 h 141"/>
                    <a:gd name="T60" fmla="*/ 131 w 524"/>
                    <a:gd name="T61" fmla="*/ 9 h 141"/>
                    <a:gd name="T62" fmla="*/ 163 w 524"/>
                    <a:gd name="T63" fmla="*/ 5 h 141"/>
                    <a:gd name="T64" fmla="*/ 197 w 524"/>
                    <a:gd name="T65" fmla="*/ 2 h 141"/>
                    <a:gd name="T66" fmla="*/ 234 w 524"/>
                    <a:gd name="T67" fmla="*/ 0 h 141"/>
                    <a:gd name="T68" fmla="*/ 271 w 524"/>
                    <a:gd name="T69" fmla="*/ 0 h 141"/>
                    <a:gd name="T70" fmla="*/ 308 w 524"/>
                    <a:gd name="T71" fmla="*/ 1 h 141"/>
                    <a:gd name="T72" fmla="*/ 342 w 524"/>
                    <a:gd name="T73" fmla="*/ 3 h 141"/>
                    <a:gd name="T74" fmla="*/ 377 w 524"/>
                    <a:gd name="T75" fmla="*/ 7 h 141"/>
                    <a:gd name="T76" fmla="*/ 409 w 524"/>
                    <a:gd name="T77" fmla="*/ 11 h 141"/>
                    <a:gd name="T78" fmla="*/ 437 w 524"/>
                    <a:gd name="T79" fmla="*/ 18 h 141"/>
                    <a:gd name="T80" fmla="*/ 463 w 524"/>
                    <a:gd name="T81" fmla="*/ 24 h 141"/>
                    <a:gd name="T82" fmla="*/ 485 w 524"/>
                    <a:gd name="T83" fmla="*/ 33 h 141"/>
                    <a:gd name="T84" fmla="*/ 502 w 524"/>
                    <a:gd name="T85" fmla="*/ 41 h 141"/>
                    <a:gd name="T86" fmla="*/ 514 w 524"/>
                    <a:gd name="T87" fmla="*/ 51 h 141"/>
                    <a:gd name="T88" fmla="*/ 522 w 524"/>
                    <a:gd name="T89" fmla="*/ 61 h 141"/>
                    <a:gd name="T90" fmla="*/ 524 w 524"/>
                    <a:gd name="T91" fmla="*/ 71 h 141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524"/>
                    <a:gd name="T139" fmla="*/ 0 h 141"/>
                    <a:gd name="T140" fmla="*/ 524 w 524"/>
                    <a:gd name="T141" fmla="*/ 141 h 141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524" h="141">
                      <a:moveTo>
                        <a:pt x="524" y="71"/>
                      </a:moveTo>
                      <a:lnTo>
                        <a:pt x="522" y="80"/>
                      </a:lnTo>
                      <a:lnTo>
                        <a:pt x="514" y="90"/>
                      </a:lnTo>
                      <a:lnTo>
                        <a:pt x="502" y="99"/>
                      </a:lnTo>
                      <a:lnTo>
                        <a:pt x="485" y="107"/>
                      </a:lnTo>
                      <a:lnTo>
                        <a:pt x="463" y="116"/>
                      </a:lnTo>
                      <a:lnTo>
                        <a:pt x="437" y="123"/>
                      </a:lnTo>
                      <a:lnTo>
                        <a:pt x="409" y="129"/>
                      </a:lnTo>
                      <a:lnTo>
                        <a:pt x="377" y="134"/>
                      </a:lnTo>
                      <a:lnTo>
                        <a:pt x="342" y="138"/>
                      </a:lnTo>
                      <a:lnTo>
                        <a:pt x="308" y="140"/>
                      </a:lnTo>
                      <a:lnTo>
                        <a:pt x="271" y="141"/>
                      </a:lnTo>
                      <a:lnTo>
                        <a:pt x="234" y="140"/>
                      </a:lnTo>
                      <a:lnTo>
                        <a:pt x="197" y="139"/>
                      </a:lnTo>
                      <a:lnTo>
                        <a:pt x="163" y="136"/>
                      </a:lnTo>
                      <a:lnTo>
                        <a:pt x="131" y="132"/>
                      </a:lnTo>
                      <a:lnTo>
                        <a:pt x="100" y="127"/>
                      </a:lnTo>
                      <a:lnTo>
                        <a:pt x="74" y="119"/>
                      </a:lnTo>
                      <a:lnTo>
                        <a:pt x="49" y="112"/>
                      </a:lnTo>
                      <a:lnTo>
                        <a:pt x="29" y="104"/>
                      </a:lnTo>
                      <a:lnTo>
                        <a:pt x="16" y="95"/>
                      </a:lnTo>
                      <a:lnTo>
                        <a:pt x="6" y="85"/>
                      </a:lnTo>
                      <a:lnTo>
                        <a:pt x="0" y="75"/>
                      </a:lnTo>
                      <a:lnTo>
                        <a:pt x="0" y="65"/>
                      </a:lnTo>
                      <a:lnTo>
                        <a:pt x="6" y="55"/>
                      </a:lnTo>
                      <a:lnTo>
                        <a:pt x="16" y="46"/>
                      </a:lnTo>
                      <a:lnTo>
                        <a:pt x="29" y="37"/>
                      </a:lnTo>
                      <a:lnTo>
                        <a:pt x="49" y="29"/>
                      </a:lnTo>
                      <a:lnTo>
                        <a:pt x="74" y="20"/>
                      </a:lnTo>
                      <a:lnTo>
                        <a:pt x="100" y="14"/>
                      </a:lnTo>
                      <a:lnTo>
                        <a:pt x="131" y="9"/>
                      </a:lnTo>
                      <a:lnTo>
                        <a:pt x="163" y="5"/>
                      </a:lnTo>
                      <a:lnTo>
                        <a:pt x="197" y="2"/>
                      </a:lnTo>
                      <a:lnTo>
                        <a:pt x="234" y="0"/>
                      </a:lnTo>
                      <a:lnTo>
                        <a:pt x="271" y="0"/>
                      </a:lnTo>
                      <a:lnTo>
                        <a:pt x="308" y="1"/>
                      </a:lnTo>
                      <a:lnTo>
                        <a:pt x="342" y="3"/>
                      </a:lnTo>
                      <a:lnTo>
                        <a:pt x="377" y="7"/>
                      </a:lnTo>
                      <a:lnTo>
                        <a:pt x="409" y="11"/>
                      </a:lnTo>
                      <a:lnTo>
                        <a:pt x="437" y="18"/>
                      </a:lnTo>
                      <a:lnTo>
                        <a:pt x="463" y="24"/>
                      </a:lnTo>
                      <a:lnTo>
                        <a:pt x="485" y="33"/>
                      </a:lnTo>
                      <a:lnTo>
                        <a:pt x="502" y="41"/>
                      </a:lnTo>
                      <a:lnTo>
                        <a:pt x="514" y="51"/>
                      </a:lnTo>
                      <a:lnTo>
                        <a:pt x="522" y="61"/>
                      </a:lnTo>
                      <a:lnTo>
                        <a:pt x="524" y="71"/>
                      </a:lnTo>
                      <a:close/>
                    </a:path>
                  </a:pathLst>
                </a:custGeom>
                <a:noFill/>
                <a:ln w="4763" cap="rnd">
                  <a:solidFill>
                    <a:srgbClr val="04D6E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9759" name="Freeform 15"/>
              <p:cNvSpPr>
                <a:spLocks noEditPoints="1"/>
              </p:cNvSpPr>
              <p:nvPr/>
            </p:nvSpPr>
            <p:spPr bwMode="auto">
              <a:xfrm>
                <a:off x="1655" y="1843"/>
                <a:ext cx="276" cy="111"/>
              </a:xfrm>
              <a:custGeom>
                <a:avLst/>
                <a:gdLst>
                  <a:gd name="T0" fmla="*/ 51 w 276"/>
                  <a:gd name="T1" fmla="*/ 62 h 111"/>
                  <a:gd name="T2" fmla="*/ 212 w 276"/>
                  <a:gd name="T3" fmla="*/ 62 h 111"/>
                  <a:gd name="T4" fmla="*/ 110 w 276"/>
                  <a:gd name="T5" fmla="*/ 94 h 111"/>
                  <a:gd name="T6" fmla="*/ 51 w 276"/>
                  <a:gd name="T7" fmla="*/ 62 h 111"/>
                  <a:gd name="T8" fmla="*/ 226 w 276"/>
                  <a:gd name="T9" fmla="*/ 49 h 111"/>
                  <a:gd name="T10" fmla="*/ 65 w 276"/>
                  <a:gd name="T11" fmla="*/ 49 h 111"/>
                  <a:gd name="T12" fmla="*/ 168 w 276"/>
                  <a:gd name="T13" fmla="*/ 17 h 111"/>
                  <a:gd name="T14" fmla="*/ 226 w 276"/>
                  <a:gd name="T15" fmla="*/ 49 h 111"/>
                  <a:gd name="T16" fmla="*/ 105 w 276"/>
                  <a:gd name="T17" fmla="*/ 111 h 111"/>
                  <a:gd name="T18" fmla="*/ 276 w 276"/>
                  <a:gd name="T19" fmla="*/ 57 h 111"/>
                  <a:gd name="T20" fmla="*/ 171 w 276"/>
                  <a:gd name="T21" fmla="*/ 0 h 111"/>
                  <a:gd name="T22" fmla="*/ 0 w 276"/>
                  <a:gd name="T23" fmla="*/ 54 h 111"/>
                  <a:gd name="T24" fmla="*/ 105 w 276"/>
                  <a:gd name="T25" fmla="*/ 111 h 11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76"/>
                  <a:gd name="T40" fmla="*/ 0 h 111"/>
                  <a:gd name="T41" fmla="*/ 276 w 276"/>
                  <a:gd name="T42" fmla="*/ 111 h 11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76" h="111">
                    <a:moveTo>
                      <a:pt x="51" y="62"/>
                    </a:moveTo>
                    <a:lnTo>
                      <a:pt x="212" y="62"/>
                    </a:lnTo>
                    <a:lnTo>
                      <a:pt x="110" y="94"/>
                    </a:lnTo>
                    <a:lnTo>
                      <a:pt x="51" y="62"/>
                    </a:lnTo>
                    <a:close/>
                    <a:moveTo>
                      <a:pt x="226" y="49"/>
                    </a:moveTo>
                    <a:lnTo>
                      <a:pt x="65" y="49"/>
                    </a:lnTo>
                    <a:lnTo>
                      <a:pt x="168" y="17"/>
                    </a:lnTo>
                    <a:lnTo>
                      <a:pt x="226" y="49"/>
                    </a:lnTo>
                    <a:close/>
                    <a:moveTo>
                      <a:pt x="105" y="111"/>
                    </a:moveTo>
                    <a:lnTo>
                      <a:pt x="276" y="57"/>
                    </a:lnTo>
                    <a:lnTo>
                      <a:pt x="171" y="0"/>
                    </a:lnTo>
                    <a:lnTo>
                      <a:pt x="0" y="54"/>
                    </a:lnTo>
                    <a:lnTo>
                      <a:pt x="105" y="1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60" name="Freeform 16"/>
              <p:cNvSpPr>
                <a:spLocks noEditPoints="1"/>
              </p:cNvSpPr>
              <p:nvPr/>
            </p:nvSpPr>
            <p:spPr bwMode="auto">
              <a:xfrm>
                <a:off x="1662" y="1847"/>
                <a:ext cx="276" cy="111"/>
              </a:xfrm>
              <a:custGeom>
                <a:avLst/>
                <a:gdLst>
                  <a:gd name="T0" fmla="*/ 50 w 276"/>
                  <a:gd name="T1" fmla="*/ 62 h 111"/>
                  <a:gd name="T2" fmla="*/ 212 w 276"/>
                  <a:gd name="T3" fmla="*/ 62 h 111"/>
                  <a:gd name="T4" fmla="*/ 109 w 276"/>
                  <a:gd name="T5" fmla="*/ 94 h 111"/>
                  <a:gd name="T6" fmla="*/ 50 w 276"/>
                  <a:gd name="T7" fmla="*/ 62 h 111"/>
                  <a:gd name="T8" fmla="*/ 225 w 276"/>
                  <a:gd name="T9" fmla="*/ 49 h 111"/>
                  <a:gd name="T10" fmla="*/ 65 w 276"/>
                  <a:gd name="T11" fmla="*/ 49 h 111"/>
                  <a:gd name="T12" fmla="*/ 167 w 276"/>
                  <a:gd name="T13" fmla="*/ 17 h 111"/>
                  <a:gd name="T14" fmla="*/ 225 w 276"/>
                  <a:gd name="T15" fmla="*/ 49 h 111"/>
                  <a:gd name="T16" fmla="*/ 106 w 276"/>
                  <a:gd name="T17" fmla="*/ 111 h 111"/>
                  <a:gd name="T18" fmla="*/ 276 w 276"/>
                  <a:gd name="T19" fmla="*/ 57 h 111"/>
                  <a:gd name="T20" fmla="*/ 171 w 276"/>
                  <a:gd name="T21" fmla="*/ 0 h 111"/>
                  <a:gd name="T22" fmla="*/ 0 w 276"/>
                  <a:gd name="T23" fmla="*/ 54 h 111"/>
                  <a:gd name="T24" fmla="*/ 106 w 276"/>
                  <a:gd name="T25" fmla="*/ 111 h 11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76"/>
                  <a:gd name="T40" fmla="*/ 0 h 111"/>
                  <a:gd name="T41" fmla="*/ 276 w 276"/>
                  <a:gd name="T42" fmla="*/ 111 h 11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76" h="111">
                    <a:moveTo>
                      <a:pt x="50" y="62"/>
                    </a:moveTo>
                    <a:lnTo>
                      <a:pt x="212" y="62"/>
                    </a:lnTo>
                    <a:lnTo>
                      <a:pt x="109" y="94"/>
                    </a:lnTo>
                    <a:lnTo>
                      <a:pt x="50" y="62"/>
                    </a:lnTo>
                    <a:close/>
                    <a:moveTo>
                      <a:pt x="225" y="49"/>
                    </a:moveTo>
                    <a:lnTo>
                      <a:pt x="65" y="49"/>
                    </a:lnTo>
                    <a:lnTo>
                      <a:pt x="167" y="17"/>
                    </a:lnTo>
                    <a:lnTo>
                      <a:pt x="225" y="49"/>
                    </a:lnTo>
                    <a:close/>
                    <a:moveTo>
                      <a:pt x="106" y="111"/>
                    </a:moveTo>
                    <a:lnTo>
                      <a:pt x="276" y="57"/>
                    </a:lnTo>
                    <a:lnTo>
                      <a:pt x="171" y="0"/>
                    </a:lnTo>
                    <a:lnTo>
                      <a:pt x="0" y="54"/>
                    </a:lnTo>
                    <a:lnTo>
                      <a:pt x="106" y="1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61" name="Freeform 17"/>
              <p:cNvSpPr>
                <a:spLocks noEditPoints="1"/>
              </p:cNvSpPr>
              <p:nvPr/>
            </p:nvSpPr>
            <p:spPr bwMode="auto">
              <a:xfrm>
                <a:off x="1712" y="2026"/>
                <a:ext cx="182" cy="89"/>
              </a:xfrm>
              <a:custGeom>
                <a:avLst/>
                <a:gdLst>
                  <a:gd name="T0" fmla="*/ 69 w 182"/>
                  <a:gd name="T1" fmla="*/ 51 h 89"/>
                  <a:gd name="T2" fmla="*/ 88 w 182"/>
                  <a:gd name="T3" fmla="*/ 51 h 89"/>
                  <a:gd name="T4" fmla="*/ 128 w 182"/>
                  <a:gd name="T5" fmla="*/ 89 h 89"/>
                  <a:gd name="T6" fmla="*/ 182 w 182"/>
                  <a:gd name="T7" fmla="*/ 89 h 89"/>
                  <a:gd name="T8" fmla="*/ 182 w 182"/>
                  <a:gd name="T9" fmla="*/ 74 h 89"/>
                  <a:gd name="T10" fmla="*/ 159 w 182"/>
                  <a:gd name="T11" fmla="*/ 74 h 89"/>
                  <a:gd name="T12" fmla="*/ 131 w 182"/>
                  <a:gd name="T13" fmla="*/ 47 h 89"/>
                  <a:gd name="T14" fmla="*/ 136 w 182"/>
                  <a:gd name="T15" fmla="*/ 45 h 89"/>
                  <a:gd name="T16" fmla="*/ 145 w 182"/>
                  <a:gd name="T17" fmla="*/ 42 h 89"/>
                  <a:gd name="T18" fmla="*/ 152 w 182"/>
                  <a:gd name="T19" fmla="*/ 39 h 89"/>
                  <a:gd name="T20" fmla="*/ 156 w 182"/>
                  <a:gd name="T21" fmla="*/ 35 h 89"/>
                  <a:gd name="T22" fmla="*/ 160 w 182"/>
                  <a:gd name="T23" fmla="*/ 31 h 89"/>
                  <a:gd name="T24" fmla="*/ 161 w 182"/>
                  <a:gd name="T25" fmla="*/ 25 h 89"/>
                  <a:gd name="T26" fmla="*/ 160 w 182"/>
                  <a:gd name="T27" fmla="*/ 22 h 89"/>
                  <a:gd name="T28" fmla="*/ 159 w 182"/>
                  <a:gd name="T29" fmla="*/ 17 h 89"/>
                  <a:gd name="T30" fmla="*/ 154 w 182"/>
                  <a:gd name="T31" fmla="*/ 12 h 89"/>
                  <a:gd name="T32" fmla="*/ 147 w 182"/>
                  <a:gd name="T33" fmla="*/ 8 h 89"/>
                  <a:gd name="T34" fmla="*/ 145 w 182"/>
                  <a:gd name="T35" fmla="*/ 6 h 89"/>
                  <a:gd name="T36" fmla="*/ 137 w 182"/>
                  <a:gd name="T37" fmla="*/ 3 h 89"/>
                  <a:gd name="T38" fmla="*/ 128 w 182"/>
                  <a:gd name="T39" fmla="*/ 1 h 89"/>
                  <a:gd name="T40" fmla="*/ 117 w 182"/>
                  <a:gd name="T41" fmla="*/ 0 h 89"/>
                  <a:gd name="T42" fmla="*/ 105 w 182"/>
                  <a:gd name="T43" fmla="*/ 0 h 89"/>
                  <a:gd name="T44" fmla="*/ 0 w 182"/>
                  <a:gd name="T45" fmla="*/ 0 h 89"/>
                  <a:gd name="T46" fmla="*/ 0 w 182"/>
                  <a:gd name="T47" fmla="*/ 15 h 89"/>
                  <a:gd name="T48" fmla="*/ 24 w 182"/>
                  <a:gd name="T49" fmla="*/ 15 h 89"/>
                  <a:gd name="T50" fmla="*/ 24 w 182"/>
                  <a:gd name="T51" fmla="*/ 74 h 89"/>
                  <a:gd name="T52" fmla="*/ 0 w 182"/>
                  <a:gd name="T53" fmla="*/ 74 h 89"/>
                  <a:gd name="T54" fmla="*/ 0 w 182"/>
                  <a:gd name="T55" fmla="*/ 89 h 89"/>
                  <a:gd name="T56" fmla="*/ 92 w 182"/>
                  <a:gd name="T57" fmla="*/ 89 h 89"/>
                  <a:gd name="T58" fmla="*/ 92 w 182"/>
                  <a:gd name="T59" fmla="*/ 74 h 89"/>
                  <a:gd name="T60" fmla="*/ 69 w 182"/>
                  <a:gd name="T61" fmla="*/ 74 h 89"/>
                  <a:gd name="T62" fmla="*/ 69 w 182"/>
                  <a:gd name="T63" fmla="*/ 51 h 89"/>
                  <a:gd name="T64" fmla="*/ 69 w 182"/>
                  <a:gd name="T65" fmla="*/ 15 h 89"/>
                  <a:gd name="T66" fmla="*/ 88 w 182"/>
                  <a:gd name="T67" fmla="*/ 15 h 89"/>
                  <a:gd name="T68" fmla="*/ 98 w 182"/>
                  <a:gd name="T69" fmla="*/ 15 h 89"/>
                  <a:gd name="T70" fmla="*/ 106 w 182"/>
                  <a:gd name="T71" fmla="*/ 17 h 89"/>
                  <a:gd name="T72" fmla="*/ 112 w 182"/>
                  <a:gd name="T73" fmla="*/ 20 h 89"/>
                  <a:gd name="T74" fmla="*/ 114 w 182"/>
                  <a:gd name="T75" fmla="*/ 26 h 89"/>
                  <a:gd name="T76" fmla="*/ 114 w 182"/>
                  <a:gd name="T77" fmla="*/ 27 h 89"/>
                  <a:gd name="T78" fmla="*/ 112 w 182"/>
                  <a:gd name="T79" fmla="*/ 31 h 89"/>
                  <a:gd name="T80" fmla="*/ 105 w 182"/>
                  <a:gd name="T81" fmla="*/ 33 h 89"/>
                  <a:gd name="T82" fmla="*/ 97 w 182"/>
                  <a:gd name="T83" fmla="*/ 35 h 89"/>
                  <a:gd name="T84" fmla="*/ 85 w 182"/>
                  <a:gd name="T85" fmla="*/ 36 h 89"/>
                  <a:gd name="T86" fmla="*/ 69 w 182"/>
                  <a:gd name="T87" fmla="*/ 36 h 89"/>
                  <a:gd name="T88" fmla="*/ 69 w 182"/>
                  <a:gd name="T89" fmla="*/ 15 h 8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82"/>
                  <a:gd name="T136" fmla="*/ 0 h 89"/>
                  <a:gd name="T137" fmla="*/ 182 w 182"/>
                  <a:gd name="T138" fmla="*/ 89 h 8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82" h="89">
                    <a:moveTo>
                      <a:pt x="69" y="51"/>
                    </a:moveTo>
                    <a:lnTo>
                      <a:pt x="88" y="51"/>
                    </a:lnTo>
                    <a:lnTo>
                      <a:pt x="128" y="89"/>
                    </a:lnTo>
                    <a:lnTo>
                      <a:pt x="182" y="89"/>
                    </a:lnTo>
                    <a:lnTo>
                      <a:pt x="182" y="74"/>
                    </a:lnTo>
                    <a:lnTo>
                      <a:pt x="159" y="74"/>
                    </a:lnTo>
                    <a:lnTo>
                      <a:pt x="131" y="47"/>
                    </a:lnTo>
                    <a:lnTo>
                      <a:pt x="136" y="45"/>
                    </a:lnTo>
                    <a:lnTo>
                      <a:pt x="145" y="42"/>
                    </a:lnTo>
                    <a:lnTo>
                      <a:pt x="152" y="39"/>
                    </a:lnTo>
                    <a:lnTo>
                      <a:pt x="156" y="35"/>
                    </a:lnTo>
                    <a:lnTo>
                      <a:pt x="160" y="31"/>
                    </a:lnTo>
                    <a:lnTo>
                      <a:pt x="161" y="25"/>
                    </a:lnTo>
                    <a:lnTo>
                      <a:pt x="160" y="22"/>
                    </a:lnTo>
                    <a:lnTo>
                      <a:pt x="159" y="17"/>
                    </a:lnTo>
                    <a:lnTo>
                      <a:pt x="154" y="12"/>
                    </a:lnTo>
                    <a:lnTo>
                      <a:pt x="147" y="8"/>
                    </a:lnTo>
                    <a:lnTo>
                      <a:pt x="145" y="6"/>
                    </a:lnTo>
                    <a:lnTo>
                      <a:pt x="137" y="3"/>
                    </a:lnTo>
                    <a:lnTo>
                      <a:pt x="128" y="1"/>
                    </a:lnTo>
                    <a:lnTo>
                      <a:pt x="117" y="0"/>
                    </a:lnTo>
                    <a:lnTo>
                      <a:pt x="10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24" y="15"/>
                    </a:lnTo>
                    <a:lnTo>
                      <a:pt x="24" y="74"/>
                    </a:lnTo>
                    <a:lnTo>
                      <a:pt x="0" y="74"/>
                    </a:lnTo>
                    <a:lnTo>
                      <a:pt x="0" y="89"/>
                    </a:lnTo>
                    <a:lnTo>
                      <a:pt x="92" y="89"/>
                    </a:lnTo>
                    <a:lnTo>
                      <a:pt x="92" y="74"/>
                    </a:lnTo>
                    <a:lnTo>
                      <a:pt x="69" y="74"/>
                    </a:lnTo>
                    <a:lnTo>
                      <a:pt x="69" y="51"/>
                    </a:lnTo>
                    <a:close/>
                    <a:moveTo>
                      <a:pt x="69" y="15"/>
                    </a:moveTo>
                    <a:lnTo>
                      <a:pt x="88" y="15"/>
                    </a:lnTo>
                    <a:lnTo>
                      <a:pt x="98" y="15"/>
                    </a:lnTo>
                    <a:lnTo>
                      <a:pt x="106" y="17"/>
                    </a:lnTo>
                    <a:lnTo>
                      <a:pt x="112" y="20"/>
                    </a:lnTo>
                    <a:lnTo>
                      <a:pt x="114" y="26"/>
                    </a:lnTo>
                    <a:lnTo>
                      <a:pt x="114" y="27"/>
                    </a:lnTo>
                    <a:lnTo>
                      <a:pt x="112" y="31"/>
                    </a:lnTo>
                    <a:lnTo>
                      <a:pt x="105" y="33"/>
                    </a:lnTo>
                    <a:lnTo>
                      <a:pt x="97" y="35"/>
                    </a:lnTo>
                    <a:lnTo>
                      <a:pt x="85" y="36"/>
                    </a:lnTo>
                    <a:lnTo>
                      <a:pt x="69" y="36"/>
                    </a:lnTo>
                    <a:lnTo>
                      <a:pt x="69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62" name="Freeform 18"/>
              <p:cNvSpPr>
                <a:spLocks noEditPoints="1"/>
              </p:cNvSpPr>
              <p:nvPr/>
            </p:nvSpPr>
            <p:spPr bwMode="auto">
              <a:xfrm>
                <a:off x="1700" y="2017"/>
                <a:ext cx="181" cy="89"/>
              </a:xfrm>
              <a:custGeom>
                <a:avLst/>
                <a:gdLst>
                  <a:gd name="T0" fmla="*/ 68 w 181"/>
                  <a:gd name="T1" fmla="*/ 50 h 89"/>
                  <a:gd name="T2" fmla="*/ 89 w 181"/>
                  <a:gd name="T3" fmla="*/ 50 h 89"/>
                  <a:gd name="T4" fmla="*/ 128 w 181"/>
                  <a:gd name="T5" fmla="*/ 89 h 89"/>
                  <a:gd name="T6" fmla="*/ 181 w 181"/>
                  <a:gd name="T7" fmla="*/ 89 h 89"/>
                  <a:gd name="T8" fmla="*/ 181 w 181"/>
                  <a:gd name="T9" fmla="*/ 74 h 89"/>
                  <a:gd name="T10" fmla="*/ 159 w 181"/>
                  <a:gd name="T11" fmla="*/ 74 h 89"/>
                  <a:gd name="T12" fmla="*/ 129 w 181"/>
                  <a:gd name="T13" fmla="*/ 47 h 89"/>
                  <a:gd name="T14" fmla="*/ 136 w 181"/>
                  <a:gd name="T15" fmla="*/ 46 h 89"/>
                  <a:gd name="T16" fmla="*/ 145 w 181"/>
                  <a:gd name="T17" fmla="*/ 42 h 89"/>
                  <a:gd name="T18" fmla="*/ 152 w 181"/>
                  <a:gd name="T19" fmla="*/ 40 h 89"/>
                  <a:gd name="T20" fmla="*/ 157 w 181"/>
                  <a:gd name="T21" fmla="*/ 35 h 89"/>
                  <a:gd name="T22" fmla="*/ 159 w 181"/>
                  <a:gd name="T23" fmla="*/ 30 h 89"/>
                  <a:gd name="T24" fmla="*/ 161 w 181"/>
                  <a:gd name="T25" fmla="*/ 25 h 89"/>
                  <a:gd name="T26" fmla="*/ 161 w 181"/>
                  <a:gd name="T27" fmla="*/ 22 h 89"/>
                  <a:gd name="T28" fmla="*/ 158 w 181"/>
                  <a:gd name="T29" fmla="*/ 17 h 89"/>
                  <a:gd name="T30" fmla="*/ 154 w 181"/>
                  <a:gd name="T31" fmla="*/ 12 h 89"/>
                  <a:gd name="T32" fmla="*/ 147 w 181"/>
                  <a:gd name="T33" fmla="*/ 8 h 89"/>
                  <a:gd name="T34" fmla="*/ 144 w 181"/>
                  <a:gd name="T35" fmla="*/ 7 h 89"/>
                  <a:gd name="T36" fmla="*/ 137 w 181"/>
                  <a:gd name="T37" fmla="*/ 4 h 89"/>
                  <a:gd name="T38" fmla="*/ 127 w 181"/>
                  <a:gd name="T39" fmla="*/ 2 h 89"/>
                  <a:gd name="T40" fmla="*/ 117 w 181"/>
                  <a:gd name="T41" fmla="*/ 1 h 89"/>
                  <a:gd name="T42" fmla="*/ 105 w 181"/>
                  <a:gd name="T43" fmla="*/ 0 h 89"/>
                  <a:gd name="T44" fmla="*/ 0 w 181"/>
                  <a:gd name="T45" fmla="*/ 0 h 89"/>
                  <a:gd name="T46" fmla="*/ 0 w 181"/>
                  <a:gd name="T47" fmla="*/ 15 h 89"/>
                  <a:gd name="T48" fmla="*/ 23 w 181"/>
                  <a:gd name="T49" fmla="*/ 15 h 89"/>
                  <a:gd name="T50" fmla="*/ 23 w 181"/>
                  <a:gd name="T51" fmla="*/ 74 h 89"/>
                  <a:gd name="T52" fmla="*/ 0 w 181"/>
                  <a:gd name="T53" fmla="*/ 74 h 89"/>
                  <a:gd name="T54" fmla="*/ 0 w 181"/>
                  <a:gd name="T55" fmla="*/ 89 h 89"/>
                  <a:gd name="T56" fmla="*/ 90 w 181"/>
                  <a:gd name="T57" fmla="*/ 89 h 89"/>
                  <a:gd name="T58" fmla="*/ 90 w 181"/>
                  <a:gd name="T59" fmla="*/ 74 h 89"/>
                  <a:gd name="T60" fmla="*/ 68 w 181"/>
                  <a:gd name="T61" fmla="*/ 74 h 89"/>
                  <a:gd name="T62" fmla="*/ 68 w 181"/>
                  <a:gd name="T63" fmla="*/ 50 h 89"/>
                  <a:gd name="T64" fmla="*/ 68 w 181"/>
                  <a:gd name="T65" fmla="*/ 15 h 89"/>
                  <a:gd name="T66" fmla="*/ 89 w 181"/>
                  <a:gd name="T67" fmla="*/ 15 h 89"/>
                  <a:gd name="T68" fmla="*/ 98 w 181"/>
                  <a:gd name="T69" fmla="*/ 16 h 89"/>
                  <a:gd name="T70" fmla="*/ 107 w 181"/>
                  <a:gd name="T71" fmla="*/ 18 h 89"/>
                  <a:gd name="T72" fmla="*/ 110 w 181"/>
                  <a:gd name="T73" fmla="*/ 20 h 89"/>
                  <a:gd name="T74" fmla="*/ 114 w 181"/>
                  <a:gd name="T75" fmla="*/ 25 h 89"/>
                  <a:gd name="T76" fmla="*/ 114 w 181"/>
                  <a:gd name="T77" fmla="*/ 26 h 89"/>
                  <a:gd name="T78" fmla="*/ 110 w 181"/>
                  <a:gd name="T79" fmla="*/ 31 h 89"/>
                  <a:gd name="T80" fmla="*/ 106 w 181"/>
                  <a:gd name="T81" fmla="*/ 34 h 89"/>
                  <a:gd name="T82" fmla="*/ 97 w 181"/>
                  <a:gd name="T83" fmla="*/ 36 h 89"/>
                  <a:gd name="T84" fmla="*/ 85 w 181"/>
                  <a:gd name="T85" fmla="*/ 36 h 89"/>
                  <a:gd name="T86" fmla="*/ 68 w 181"/>
                  <a:gd name="T87" fmla="*/ 36 h 89"/>
                  <a:gd name="T88" fmla="*/ 68 w 181"/>
                  <a:gd name="T89" fmla="*/ 15 h 8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81"/>
                  <a:gd name="T136" fmla="*/ 0 h 89"/>
                  <a:gd name="T137" fmla="*/ 181 w 181"/>
                  <a:gd name="T138" fmla="*/ 89 h 8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81" h="89">
                    <a:moveTo>
                      <a:pt x="68" y="50"/>
                    </a:moveTo>
                    <a:lnTo>
                      <a:pt x="89" y="50"/>
                    </a:lnTo>
                    <a:lnTo>
                      <a:pt x="128" y="89"/>
                    </a:lnTo>
                    <a:lnTo>
                      <a:pt x="181" y="89"/>
                    </a:lnTo>
                    <a:lnTo>
                      <a:pt x="181" y="74"/>
                    </a:lnTo>
                    <a:lnTo>
                      <a:pt x="159" y="74"/>
                    </a:lnTo>
                    <a:lnTo>
                      <a:pt x="129" y="47"/>
                    </a:lnTo>
                    <a:lnTo>
                      <a:pt x="136" y="46"/>
                    </a:lnTo>
                    <a:lnTo>
                      <a:pt x="145" y="42"/>
                    </a:lnTo>
                    <a:lnTo>
                      <a:pt x="152" y="40"/>
                    </a:lnTo>
                    <a:lnTo>
                      <a:pt x="157" y="35"/>
                    </a:lnTo>
                    <a:lnTo>
                      <a:pt x="159" y="30"/>
                    </a:lnTo>
                    <a:lnTo>
                      <a:pt x="161" y="25"/>
                    </a:lnTo>
                    <a:lnTo>
                      <a:pt x="161" y="22"/>
                    </a:lnTo>
                    <a:lnTo>
                      <a:pt x="158" y="17"/>
                    </a:lnTo>
                    <a:lnTo>
                      <a:pt x="154" y="12"/>
                    </a:lnTo>
                    <a:lnTo>
                      <a:pt x="147" y="8"/>
                    </a:lnTo>
                    <a:lnTo>
                      <a:pt x="144" y="7"/>
                    </a:lnTo>
                    <a:lnTo>
                      <a:pt x="137" y="4"/>
                    </a:lnTo>
                    <a:lnTo>
                      <a:pt x="127" y="2"/>
                    </a:lnTo>
                    <a:lnTo>
                      <a:pt x="117" y="1"/>
                    </a:lnTo>
                    <a:lnTo>
                      <a:pt x="10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23" y="15"/>
                    </a:lnTo>
                    <a:lnTo>
                      <a:pt x="23" y="74"/>
                    </a:lnTo>
                    <a:lnTo>
                      <a:pt x="0" y="74"/>
                    </a:lnTo>
                    <a:lnTo>
                      <a:pt x="0" y="89"/>
                    </a:lnTo>
                    <a:lnTo>
                      <a:pt x="90" y="89"/>
                    </a:lnTo>
                    <a:lnTo>
                      <a:pt x="90" y="74"/>
                    </a:lnTo>
                    <a:lnTo>
                      <a:pt x="68" y="74"/>
                    </a:lnTo>
                    <a:lnTo>
                      <a:pt x="68" y="50"/>
                    </a:lnTo>
                    <a:close/>
                    <a:moveTo>
                      <a:pt x="68" y="15"/>
                    </a:moveTo>
                    <a:lnTo>
                      <a:pt x="89" y="15"/>
                    </a:lnTo>
                    <a:lnTo>
                      <a:pt x="98" y="16"/>
                    </a:lnTo>
                    <a:lnTo>
                      <a:pt x="107" y="18"/>
                    </a:lnTo>
                    <a:lnTo>
                      <a:pt x="110" y="20"/>
                    </a:lnTo>
                    <a:lnTo>
                      <a:pt x="114" y="25"/>
                    </a:lnTo>
                    <a:lnTo>
                      <a:pt x="114" y="26"/>
                    </a:lnTo>
                    <a:lnTo>
                      <a:pt x="110" y="31"/>
                    </a:lnTo>
                    <a:lnTo>
                      <a:pt x="106" y="34"/>
                    </a:lnTo>
                    <a:lnTo>
                      <a:pt x="97" y="36"/>
                    </a:lnTo>
                    <a:lnTo>
                      <a:pt x="85" y="36"/>
                    </a:lnTo>
                    <a:lnTo>
                      <a:pt x="68" y="36"/>
                    </a:lnTo>
                    <a:lnTo>
                      <a:pt x="68" y="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9763" name="Group 19"/>
              <p:cNvGrpSpPr>
                <a:grpSpLocks/>
              </p:cNvGrpSpPr>
              <p:nvPr/>
            </p:nvGrpSpPr>
            <p:grpSpPr bwMode="auto">
              <a:xfrm>
                <a:off x="1534" y="1830"/>
                <a:ext cx="525" cy="334"/>
                <a:chOff x="1534" y="1830"/>
                <a:chExt cx="525" cy="334"/>
              </a:xfrm>
            </p:grpSpPr>
            <p:sp>
              <p:nvSpPr>
                <p:cNvPr id="29771" name="Freeform 20"/>
                <p:cNvSpPr>
                  <a:spLocks noEditPoints="1"/>
                </p:cNvSpPr>
                <p:nvPr/>
              </p:nvSpPr>
              <p:spPr bwMode="auto">
                <a:xfrm>
                  <a:off x="1534" y="1830"/>
                  <a:ext cx="525" cy="334"/>
                </a:xfrm>
                <a:custGeom>
                  <a:avLst/>
                  <a:gdLst>
                    <a:gd name="T0" fmla="*/ 525 w 525"/>
                    <a:gd name="T1" fmla="*/ 71 h 334"/>
                    <a:gd name="T2" fmla="*/ 515 w 525"/>
                    <a:gd name="T3" fmla="*/ 90 h 334"/>
                    <a:gd name="T4" fmla="*/ 487 w 525"/>
                    <a:gd name="T5" fmla="*/ 107 h 334"/>
                    <a:gd name="T6" fmla="*/ 443 w 525"/>
                    <a:gd name="T7" fmla="*/ 122 h 334"/>
                    <a:gd name="T8" fmla="*/ 383 w 525"/>
                    <a:gd name="T9" fmla="*/ 133 h 334"/>
                    <a:gd name="T10" fmla="*/ 317 w 525"/>
                    <a:gd name="T11" fmla="*/ 140 h 334"/>
                    <a:gd name="T12" fmla="*/ 245 w 525"/>
                    <a:gd name="T13" fmla="*/ 140 h 334"/>
                    <a:gd name="T14" fmla="*/ 176 w 525"/>
                    <a:gd name="T15" fmla="*/ 137 h 334"/>
                    <a:gd name="T16" fmla="*/ 111 w 525"/>
                    <a:gd name="T17" fmla="*/ 129 h 334"/>
                    <a:gd name="T18" fmla="*/ 111 w 525"/>
                    <a:gd name="T19" fmla="*/ 129 h 334"/>
                    <a:gd name="T20" fmla="*/ 176 w 525"/>
                    <a:gd name="T21" fmla="*/ 137 h 334"/>
                    <a:gd name="T22" fmla="*/ 245 w 525"/>
                    <a:gd name="T23" fmla="*/ 140 h 334"/>
                    <a:gd name="T24" fmla="*/ 317 w 525"/>
                    <a:gd name="T25" fmla="*/ 140 h 334"/>
                    <a:gd name="T26" fmla="*/ 383 w 525"/>
                    <a:gd name="T27" fmla="*/ 133 h 334"/>
                    <a:gd name="T28" fmla="*/ 443 w 525"/>
                    <a:gd name="T29" fmla="*/ 122 h 334"/>
                    <a:gd name="T30" fmla="*/ 487 w 525"/>
                    <a:gd name="T31" fmla="*/ 107 h 334"/>
                    <a:gd name="T32" fmla="*/ 515 w 525"/>
                    <a:gd name="T33" fmla="*/ 90 h 334"/>
                    <a:gd name="T34" fmla="*/ 525 w 525"/>
                    <a:gd name="T35" fmla="*/ 71 h 334"/>
                    <a:gd name="T36" fmla="*/ 2 w 525"/>
                    <a:gd name="T37" fmla="*/ 80 h 334"/>
                    <a:gd name="T38" fmla="*/ 22 w 525"/>
                    <a:gd name="T39" fmla="*/ 99 h 334"/>
                    <a:gd name="T40" fmla="*/ 59 w 525"/>
                    <a:gd name="T41" fmla="*/ 115 h 334"/>
                    <a:gd name="T42" fmla="*/ 59 w 525"/>
                    <a:gd name="T43" fmla="*/ 115 h 334"/>
                    <a:gd name="T44" fmla="*/ 22 w 525"/>
                    <a:gd name="T45" fmla="*/ 99 h 334"/>
                    <a:gd name="T46" fmla="*/ 2 w 525"/>
                    <a:gd name="T47" fmla="*/ 80 h 334"/>
                    <a:gd name="T48" fmla="*/ 0 w 525"/>
                    <a:gd name="T49" fmla="*/ 71 h 334"/>
                    <a:gd name="T50" fmla="*/ 2 w 525"/>
                    <a:gd name="T51" fmla="*/ 273 h 334"/>
                    <a:gd name="T52" fmla="*/ 22 w 525"/>
                    <a:gd name="T53" fmla="*/ 292 h 334"/>
                    <a:gd name="T54" fmla="*/ 59 w 525"/>
                    <a:gd name="T55" fmla="*/ 308 h 334"/>
                    <a:gd name="T56" fmla="*/ 111 w 525"/>
                    <a:gd name="T57" fmla="*/ 322 h 334"/>
                    <a:gd name="T58" fmla="*/ 174 w 525"/>
                    <a:gd name="T59" fmla="*/ 330 h 334"/>
                    <a:gd name="T60" fmla="*/ 245 w 525"/>
                    <a:gd name="T61" fmla="*/ 334 h 334"/>
                    <a:gd name="T62" fmla="*/ 317 w 525"/>
                    <a:gd name="T63" fmla="*/ 333 h 334"/>
                    <a:gd name="T64" fmla="*/ 383 w 525"/>
                    <a:gd name="T65" fmla="*/ 326 h 334"/>
                    <a:gd name="T66" fmla="*/ 443 w 525"/>
                    <a:gd name="T67" fmla="*/ 315 h 334"/>
                    <a:gd name="T68" fmla="*/ 487 w 525"/>
                    <a:gd name="T69" fmla="*/ 300 h 334"/>
                    <a:gd name="T70" fmla="*/ 515 w 525"/>
                    <a:gd name="T71" fmla="*/ 283 h 334"/>
                    <a:gd name="T72" fmla="*/ 525 w 525"/>
                    <a:gd name="T73" fmla="*/ 263 h 334"/>
                    <a:gd name="T74" fmla="*/ 523 w 525"/>
                    <a:gd name="T75" fmla="*/ 61 h 334"/>
                    <a:gd name="T76" fmla="*/ 504 w 525"/>
                    <a:gd name="T77" fmla="*/ 42 h 334"/>
                    <a:gd name="T78" fmla="*/ 467 w 525"/>
                    <a:gd name="T79" fmla="*/ 25 h 334"/>
                    <a:gd name="T80" fmla="*/ 414 w 525"/>
                    <a:gd name="T81" fmla="*/ 12 h 334"/>
                    <a:gd name="T82" fmla="*/ 351 w 525"/>
                    <a:gd name="T83" fmla="*/ 4 h 334"/>
                    <a:gd name="T84" fmla="*/ 281 w 525"/>
                    <a:gd name="T85" fmla="*/ 0 h 334"/>
                    <a:gd name="T86" fmla="*/ 208 w 525"/>
                    <a:gd name="T87" fmla="*/ 1 h 334"/>
                    <a:gd name="T88" fmla="*/ 143 w 525"/>
                    <a:gd name="T89" fmla="*/ 8 h 334"/>
                    <a:gd name="T90" fmla="*/ 83 w 525"/>
                    <a:gd name="T91" fmla="*/ 19 h 334"/>
                    <a:gd name="T92" fmla="*/ 39 w 525"/>
                    <a:gd name="T93" fmla="*/ 34 h 334"/>
                    <a:gd name="T94" fmla="*/ 10 w 525"/>
                    <a:gd name="T95" fmla="*/ 51 h 334"/>
                    <a:gd name="T96" fmla="*/ 0 w 525"/>
                    <a:gd name="T97" fmla="*/ 71 h 334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525"/>
                    <a:gd name="T148" fmla="*/ 0 h 334"/>
                    <a:gd name="T149" fmla="*/ 525 w 525"/>
                    <a:gd name="T150" fmla="*/ 334 h 334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525" h="334">
                      <a:moveTo>
                        <a:pt x="525" y="71"/>
                      </a:moveTo>
                      <a:lnTo>
                        <a:pt x="525" y="71"/>
                      </a:lnTo>
                      <a:lnTo>
                        <a:pt x="523" y="80"/>
                      </a:lnTo>
                      <a:lnTo>
                        <a:pt x="515" y="90"/>
                      </a:lnTo>
                      <a:lnTo>
                        <a:pt x="504" y="98"/>
                      </a:lnTo>
                      <a:lnTo>
                        <a:pt x="487" y="107"/>
                      </a:lnTo>
                      <a:lnTo>
                        <a:pt x="467" y="115"/>
                      </a:lnTo>
                      <a:lnTo>
                        <a:pt x="443" y="122"/>
                      </a:lnTo>
                      <a:lnTo>
                        <a:pt x="414" y="129"/>
                      </a:lnTo>
                      <a:lnTo>
                        <a:pt x="383" y="133"/>
                      </a:lnTo>
                      <a:lnTo>
                        <a:pt x="351" y="137"/>
                      </a:lnTo>
                      <a:lnTo>
                        <a:pt x="317" y="140"/>
                      </a:lnTo>
                      <a:lnTo>
                        <a:pt x="281" y="140"/>
                      </a:lnTo>
                      <a:lnTo>
                        <a:pt x="245" y="140"/>
                      </a:lnTo>
                      <a:lnTo>
                        <a:pt x="211" y="140"/>
                      </a:lnTo>
                      <a:lnTo>
                        <a:pt x="176" y="137"/>
                      </a:lnTo>
                      <a:lnTo>
                        <a:pt x="143" y="133"/>
                      </a:lnTo>
                      <a:lnTo>
                        <a:pt x="111" y="129"/>
                      </a:lnTo>
                      <a:lnTo>
                        <a:pt x="83" y="123"/>
                      </a:lnTo>
                      <a:lnTo>
                        <a:pt x="111" y="129"/>
                      </a:lnTo>
                      <a:lnTo>
                        <a:pt x="143" y="133"/>
                      </a:lnTo>
                      <a:lnTo>
                        <a:pt x="176" y="137"/>
                      </a:lnTo>
                      <a:lnTo>
                        <a:pt x="211" y="140"/>
                      </a:lnTo>
                      <a:lnTo>
                        <a:pt x="245" y="140"/>
                      </a:lnTo>
                      <a:lnTo>
                        <a:pt x="281" y="140"/>
                      </a:lnTo>
                      <a:lnTo>
                        <a:pt x="317" y="140"/>
                      </a:lnTo>
                      <a:lnTo>
                        <a:pt x="351" y="137"/>
                      </a:lnTo>
                      <a:lnTo>
                        <a:pt x="383" y="133"/>
                      </a:lnTo>
                      <a:lnTo>
                        <a:pt x="414" y="129"/>
                      </a:lnTo>
                      <a:lnTo>
                        <a:pt x="443" y="122"/>
                      </a:lnTo>
                      <a:lnTo>
                        <a:pt x="467" y="115"/>
                      </a:lnTo>
                      <a:lnTo>
                        <a:pt x="487" y="107"/>
                      </a:lnTo>
                      <a:lnTo>
                        <a:pt x="504" y="98"/>
                      </a:lnTo>
                      <a:lnTo>
                        <a:pt x="515" y="90"/>
                      </a:lnTo>
                      <a:lnTo>
                        <a:pt x="523" y="80"/>
                      </a:lnTo>
                      <a:lnTo>
                        <a:pt x="525" y="71"/>
                      </a:lnTo>
                      <a:close/>
                      <a:moveTo>
                        <a:pt x="0" y="71"/>
                      </a:moveTo>
                      <a:lnTo>
                        <a:pt x="2" y="80"/>
                      </a:lnTo>
                      <a:lnTo>
                        <a:pt x="10" y="90"/>
                      </a:lnTo>
                      <a:lnTo>
                        <a:pt x="22" y="99"/>
                      </a:lnTo>
                      <a:lnTo>
                        <a:pt x="39" y="107"/>
                      </a:lnTo>
                      <a:lnTo>
                        <a:pt x="59" y="115"/>
                      </a:lnTo>
                      <a:lnTo>
                        <a:pt x="83" y="123"/>
                      </a:lnTo>
                      <a:lnTo>
                        <a:pt x="59" y="115"/>
                      </a:lnTo>
                      <a:lnTo>
                        <a:pt x="39" y="107"/>
                      </a:lnTo>
                      <a:lnTo>
                        <a:pt x="22" y="99"/>
                      </a:lnTo>
                      <a:lnTo>
                        <a:pt x="10" y="90"/>
                      </a:lnTo>
                      <a:lnTo>
                        <a:pt x="2" y="80"/>
                      </a:lnTo>
                      <a:lnTo>
                        <a:pt x="0" y="71"/>
                      </a:lnTo>
                      <a:close/>
                      <a:moveTo>
                        <a:pt x="0" y="71"/>
                      </a:moveTo>
                      <a:lnTo>
                        <a:pt x="0" y="263"/>
                      </a:lnTo>
                      <a:lnTo>
                        <a:pt x="2" y="273"/>
                      </a:lnTo>
                      <a:lnTo>
                        <a:pt x="10" y="283"/>
                      </a:lnTo>
                      <a:lnTo>
                        <a:pt x="22" y="292"/>
                      </a:lnTo>
                      <a:lnTo>
                        <a:pt x="39" y="300"/>
                      </a:lnTo>
                      <a:lnTo>
                        <a:pt x="59" y="308"/>
                      </a:lnTo>
                      <a:lnTo>
                        <a:pt x="83" y="315"/>
                      </a:lnTo>
                      <a:lnTo>
                        <a:pt x="111" y="322"/>
                      </a:lnTo>
                      <a:lnTo>
                        <a:pt x="143" y="326"/>
                      </a:lnTo>
                      <a:lnTo>
                        <a:pt x="174" y="330"/>
                      </a:lnTo>
                      <a:lnTo>
                        <a:pt x="208" y="333"/>
                      </a:lnTo>
                      <a:lnTo>
                        <a:pt x="245" y="334"/>
                      </a:lnTo>
                      <a:lnTo>
                        <a:pt x="281" y="334"/>
                      </a:lnTo>
                      <a:lnTo>
                        <a:pt x="317" y="333"/>
                      </a:lnTo>
                      <a:lnTo>
                        <a:pt x="351" y="330"/>
                      </a:lnTo>
                      <a:lnTo>
                        <a:pt x="383" y="326"/>
                      </a:lnTo>
                      <a:lnTo>
                        <a:pt x="414" y="322"/>
                      </a:lnTo>
                      <a:lnTo>
                        <a:pt x="443" y="315"/>
                      </a:lnTo>
                      <a:lnTo>
                        <a:pt x="467" y="308"/>
                      </a:lnTo>
                      <a:lnTo>
                        <a:pt x="487" y="300"/>
                      </a:lnTo>
                      <a:lnTo>
                        <a:pt x="504" y="292"/>
                      </a:lnTo>
                      <a:lnTo>
                        <a:pt x="515" y="283"/>
                      </a:lnTo>
                      <a:lnTo>
                        <a:pt x="523" y="273"/>
                      </a:lnTo>
                      <a:lnTo>
                        <a:pt x="525" y="263"/>
                      </a:lnTo>
                      <a:lnTo>
                        <a:pt x="525" y="71"/>
                      </a:lnTo>
                      <a:lnTo>
                        <a:pt x="523" y="61"/>
                      </a:lnTo>
                      <a:lnTo>
                        <a:pt x="515" y="51"/>
                      </a:lnTo>
                      <a:lnTo>
                        <a:pt x="504" y="42"/>
                      </a:lnTo>
                      <a:lnTo>
                        <a:pt x="487" y="34"/>
                      </a:lnTo>
                      <a:lnTo>
                        <a:pt x="467" y="25"/>
                      </a:lnTo>
                      <a:lnTo>
                        <a:pt x="443" y="19"/>
                      </a:lnTo>
                      <a:lnTo>
                        <a:pt x="414" y="12"/>
                      </a:lnTo>
                      <a:lnTo>
                        <a:pt x="383" y="8"/>
                      </a:lnTo>
                      <a:lnTo>
                        <a:pt x="351" y="4"/>
                      </a:lnTo>
                      <a:lnTo>
                        <a:pt x="317" y="1"/>
                      </a:lnTo>
                      <a:lnTo>
                        <a:pt x="281" y="0"/>
                      </a:lnTo>
                      <a:lnTo>
                        <a:pt x="245" y="0"/>
                      </a:lnTo>
                      <a:lnTo>
                        <a:pt x="208" y="1"/>
                      </a:lnTo>
                      <a:lnTo>
                        <a:pt x="174" y="4"/>
                      </a:lnTo>
                      <a:lnTo>
                        <a:pt x="143" y="8"/>
                      </a:lnTo>
                      <a:lnTo>
                        <a:pt x="111" y="12"/>
                      </a:lnTo>
                      <a:lnTo>
                        <a:pt x="83" y="19"/>
                      </a:lnTo>
                      <a:lnTo>
                        <a:pt x="59" y="25"/>
                      </a:lnTo>
                      <a:lnTo>
                        <a:pt x="39" y="34"/>
                      </a:lnTo>
                      <a:lnTo>
                        <a:pt x="22" y="42"/>
                      </a:lnTo>
                      <a:lnTo>
                        <a:pt x="10" y="51"/>
                      </a:lnTo>
                      <a:lnTo>
                        <a:pt x="2" y="61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rgbClr val="8E85B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72" name="Freeform 21"/>
                <p:cNvSpPr>
                  <a:spLocks/>
                </p:cNvSpPr>
                <p:nvPr/>
              </p:nvSpPr>
              <p:spPr bwMode="auto">
                <a:xfrm>
                  <a:off x="1617" y="1901"/>
                  <a:ext cx="442" cy="69"/>
                </a:xfrm>
                <a:custGeom>
                  <a:avLst/>
                  <a:gdLst>
                    <a:gd name="T0" fmla="*/ 442 w 442"/>
                    <a:gd name="T1" fmla="*/ 0 h 69"/>
                    <a:gd name="T2" fmla="*/ 442 w 442"/>
                    <a:gd name="T3" fmla="*/ 0 h 69"/>
                    <a:gd name="T4" fmla="*/ 440 w 442"/>
                    <a:gd name="T5" fmla="*/ 9 h 69"/>
                    <a:gd name="T6" fmla="*/ 432 w 442"/>
                    <a:gd name="T7" fmla="*/ 19 h 69"/>
                    <a:gd name="T8" fmla="*/ 421 w 442"/>
                    <a:gd name="T9" fmla="*/ 27 h 69"/>
                    <a:gd name="T10" fmla="*/ 404 w 442"/>
                    <a:gd name="T11" fmla="*/ 36 h 69"/>
                    <a:gd name="T12" fmla="*/ 384 w 442"/>
                    <a:gd name="T13" fmla="*/ 44 h 69"/>
                    <a:gd name="T14" fmla="*/ 360 w 442"/>
                    <a:gd name="T15" fmla="*/ 51 h 69"/>
                    <a:gd name="T16" fmla="*/ 331 w 442"/>
                    <a:gd name="T17" fmla="*/ 58 h 69"/>
                    <a:gd name="T18" fmla="*/ 300 w 442"/>
                    <a:gd name="T19" fmla="*/ 62 h 69"/>
                    <a:gd name="T20" fmla="*/ 268 w 442"/>
                    <a:gd name="T21" fmla="*/ 66 h 69"/>
                    <a:gd name="T22" fmla="*/ 234 w 442"/>
                    <a:gd name="T23" fmla="*/ 69 h 69"/>
                    <a:gd name="T24" fmla="*/ 198 w 442"/>
                    <a:gd name="T25" fmla="*/ 69 h 69"/>
                    <a:gd name="T26" fmla="*/ 162 w 442"/>
                    <a:gd name="T27" fmla="*/ 69 h 69"/>
                    <a:gd name="T28" fmla="*/ 128 w 442"/>
                    <a:gd name="T29" fmla="*/ 69 h 69"/>
                    <a:gd name="T30" fmla="*/ 93 w 442"/>
                    <a:gd name="T31" fmla="*/ 66 h 69"/>
                    <a:gd name="T32" fmla="*/ 60 w 442"/>
                    <a:gd name="T33" fmla="*/ 62 h 69"/>
                    <a:gd name="T34" fmla="*/ 28 w 442"/>
                    <a:gd name="T35" fmla="*/ 58 h 69"/>
                    <a:gd name="T36" fmla="*/ 0 w 442"/>
                    <a:gd name="T37" fmla="*/ 52 h 69"/>
                    <a:gd name="T38" fmla="*/ 28 w 442"/>
                    <a:gd name="T39" fmla="*/ 58 h 69"/>
                    <a:gd name="T40" fmla="*/ 60 w 442"/>
                    <a:gd name="T41" fmla="*/ 62 h 69"/>
                    <a:gd name="T42" fmla="*/ 93 w 442"/>
                    <a:gd name="T43" fmla="*/ 66 h 69"/>
                    <a:gd name="T44" fmla="*/ 128 w 442"/>
                    <a:gd name="T45" fmla="*/ 69 h 69"/>
                    <a:gd name="T46" fmla="*/ 162 w 442"/>
                    <a:gd name="T47" fmla="*/ 69 h 69"/>
                    <a:gd name="T48" fmla="*/ 198 w 442"/>
                    <a:gd name="T49" fmla="*/ 69 h 69"/>
                    <a:gd name="T50" fmla="*/ 234 w 442"/>
                    <a:gd name="T51" fmla="*/ 69 h 69"/>
                    <a:gd name="T52" fmla="*/ 268 w 442"/>
                    <a:gd name="T53" fmla="*/ 66 h 69"/>
                    <a:gd name="T54" fmla="*/ 300 w 442"/>
                    <a:gd name="T55" fmla="*/ 62 h 69"/>
                    <a:gd name="T56" fmla="*/ 331 w 442"/>
                    <a:gd name="T57" fmla="*/ 58 h 69"/>
                    <a:gd name="T58" fmla="*/ 360 w 442"/>
                    <a:gd name="T59" fmla="*/ 51 h 69"/>
                    <a:gd name="T60" fmla="*/ 384 w 442"/>
                    <a:gd name="T61" fmla="*/ 44 h 69"/>
                    <a:gd name="T62" fmla="*/ 404 w 442"/>
                    <a:gd name="T63" fmla="*/ 36 h 69"/>
                    <a:gd name="T64" fmla="*/ 421 w 442"/>
                    <a:gd name="T65" fmla="*/ 27 h 69"/>
                    <a:gd name="T66" fmla="*/ 432 w 442"/>
                    <a:gd name="T67" fmla="*/ 19 h 69"/>
                    <a:gd name="T68" fmla="*/ 440 w 442"/>
                    <a:gd name="T69" fmla="*/ 9 h 69"/>
                    <a:gd name="T70" fmla="*/ 442 w 442"/>
                    <a:gd name="T71" fmla="*/ 0 h 69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442"/>
                    <a:gd name="T109" fmla="*/ 0 h 69"/>
                    <a:gd name="T110" fmla="*/ 442 w 442"/>
                    <a:gd name="T111" fmla="*/ 69 h 69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442" h="69">
                      <a:moveTo>
                        <a:pt x="442" y="0"/>
                      </a:moveTo>
                      <a:lnTo>
                        <a:pt x="442" y="0"/>
                      </a:lnTo>
                      <a:lnTo>
                        <a:pt x="440" y="9"/>
                      </a:lnTo>
                      <a:lnTo>
                        <a:pt x="432" y="19"/>
                      </a:lnTo>
                      <a:lnTo>
                        <a:pt x="421" y="27"/>
                      </a:lnTo>
                      <a:lnTo>
                        <a:pt x="404" y="36"/>
                      </a:lnTo>
                      <a:lnTo>
                        <a:pt x="384" y="44"/>
                      </a:lnTo>
                      <a:lnTo>
                        <a:pt x="360" y="51"/>
                      </a:lnTo>
                      <a:lnTo>
                        <a:pt x="331" y="58"/>
                      </a:lnTo>
                      <a:lnTo>
                        <a:pt x="300" y="62"/>
                      </a:lnTo>
                      <a:lnTo>
                        <a:pt x="268" y="66"/>
                      </a:lnTo>
                      <a:lnTo>
                        <a:pt x="234" y="69"/>
                      </a:lnTo>
                      <a:lnTo>
                        <a:pt x="198" y="69"/>
                      </a:lnTo>
                      <a:lnTo>
                        <a:pt x="162" y="69"/>
                      </a:lnTo>
                      <a:lnTo>
                        <a:pt x="128" y="69"/>
                      </a:lnTo>
                      <a:lnTo>
                        <a:pt x="93" y="66"/>
                      </a:lnTo>
                      <a:lnTo>
                        <a:pt x="60" y="62"/>
                      </a:lnTo>
                      <a:lnTo>
                        <a:pt x="28" y="58"/>
                      </a:lnTo>
                      <a:lnTo>
                        <a:pt x="0" y="52"/>
                      </a:lnTo>
                      <a:lnTo>
                        <a:pt x="28" y="58"/>
                      </a:lnTo>
                      <a:lnTo>
                        <a:pt x="60" y="62"/>
                      </a:lnTo>
                      <a:lnTo>
                        <a:pt x="93" y="66"/>
                      </a:lnTo>
                      <a:lnTo>
                        <a:pt x="128" y="69"/>
                      </a:lnTo>
                      <a:lnTo>
                        <a:pt x="162" y="69"/>
                      </a:lnTo>
                      <a:lnTo>
                        <a:pt x="198" y="69"/>
                      </a:lnTo>
                      <a:lnTo>
                        <a:pt x="234" y="69"/>
                      </a:lnTo>
                      <a:lnTo>
                        <a:pt x="268" y="66"/>
                      </a:lnTo>
                      <a:lnTo>
                        <a:pt x="300" y="62"/>
                      </a:lnTo>
                      <a:lnTo>
                        <a:pt x="331" y="58"/>
                      </a:lnTo>
                      <a:lnTo>
                        <a:pt x="360" y="51"/>
                      </a:lnTo>
                      <a:lnTo>
                        <a:pt x="384" y="44"/>
                      </a:lnTo>
                      <a:lnTo>
                        <a:pt x="404" y="36"/>
                      </a:lnTo>
                      <a:lnTo>
                        <a:pt x="421" y="27"/>
                      </a:lnTo>
                      <a:lnTo>
                        <a:pt x="432" y="19"/>
                      </a:lnTo>
                      <a:lnTo>
                        <a:pt x="440" y="9"/>
                      </a:lnTo>
                      <a:lnTo>
                        <a:pt x="442" y="0"/>
                      </a:lnTo>
                      <a:close/>
                    </a:path>
                  </a:pathLst>
                </a:custGeom>
                <a:noFill/>
                <a:ln w="7938" cap="rnd">
                  <a:solidFill>
                    <a:srgbClr val="23CB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73" name="Freeform 22"/>
                <p:cNvSpPr>
                  <a:spLocks/>
                </p:cNvSpPr>
                <p:nvPr/>
              </p:nvSpPr>
              <p:spPr bwMode="auto">
                <a:xfrm>
                  <a:off x="1534" y="1901"/>
                  <a:ext cx="83" cy="52"/>
                </a:xfrm>
                <a:custGeom>
                  <a:avLst/>
                  <a:gdLst>
                    <a:gd name="T0" fmla="*/ 0 w 83"/>
                    <a:gd name="T1" fmla="*/ 0 h 52"/>
                    <a:gd name="T2" fmla="*/ 2 w 83"/>
                    <a:gd name="T3" fmla="*/ 9 h 52"/>
                    <a:gd name="T4" fmla="*/ 10 w 83"/>
                    <a:gd name="T5" fmla="*/ 19 h 52"/>
                    <a:gd name="T6" fmla="*/ 22 w 83"/>
                    <a:gd name="T7" fmla="*/ 28 h 52"/>
                    <a:gd name="T8" fmla="*/ 39 w 83"/>
                    <a:gd name="T9" fmla="*/ 36 h 52"/>
                    <a:gd name="T10" fmla="*/ 59 w 83"/>
                    <a:gd name="T11" fmla="*/ 44 h 52"/>
                    <a:gd name="T12" fmla="*/ 83 w 83"/>
                    <a:gd name="T13" fmla="*/ 52 h 52"/>
                    <a:gd name="T14" fmla="*/ 59 w 83"/>
                    <a:gd name="T15" fmla="*/ 44 h 52"/>
                    <a:gd name="T16" fmla="*/ 39 w 83"/>
                    <a:gd name="T17" fmla="*/ 36 h 52"/>
                    <a:gd name="T18" fmla="*/ 22 w 83"/>
                    <a:gd name="T19" fmla="*/ 28 h 52"/>
                    <a:gd name="T20" fmla="*/ 10 w 83"/>
                    <a:gd name="T21" fmla="*/ 19 h 52"/>
                    <a:gd name="T22" fmla="*/ 2 w 83"/>
                    <a:gd name="T23" fmla="*/ 9 h 52"/>
                    <a:gd name="T24" fmla="*/ 0 w 83"/>
                    <a:gd name="T25" fmla="*/ 0 h 5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83"/>
                    <a:gd name="T40" fmla="*/ 0 h 52"/>
                    <a:gd name="T41" fmla="*/ 83 w 83"/>
                    <a:gd name="T42" fmla="*/ 52 h 52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83" h="52">
                      <a:moveTo>
                        <a:pt x="0" y="0"/>
                      </a:moveTo>
                      <a:lnTo>
                        <a:pt x="2" y="9"/>
                      </a:lnTo>
                      <a:lnTo>
                        <a:pt x="10" y="19"/>
                      </a:lnTo>
                      <a:lnTo>
                        <a:pt x="22" y="28"/>
                      </a:lnTo>
                      <a:lnTo>
                        <a:pt x="39" y="36"/>
                      </a:lnTo>
                      <a:lnTo>
                        <a:pt x="59" y="44"/>
                      </a:lnTo>
                      <a:lnTo>
                        <a:pt x="83" y="52"/>
                      </a:lnTo>
                      <a:lnTo>
                        <a:pt x="59" y="44"/>
                      </a:lnTo>
                      <a:lnTo>
                        <a:pt x="39" y="36"/>
                      </a:lnTo>
                      <a:lnTo>
                        <a:pt x="22" y="28"/>
                      </a:lnTo>
                      <a:lnTo>
                        <a:pt x="10" y="19"/>
                      </a:lnTo>
                      <a:lnTo>
                        <a:pt x="2" y="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7938" cap="rnd">
                  <a:solidFill>
                    <a:srgbClr val="23CB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74" name="Freeform 23"/>
                <p:cNvSpPr>
                  <a:spLocks/>
                </p:cNvSpPr>
                <p:nvPr/>
              </p:nvSpPr>
              <p:spPr bwMode="auto">
                <a:xfrm>
                  <a:off x="1534" y="1830"/>
                  <a:ext cx="525" cy="334"/>
                </a:xfrm>
                <a:custGeom>
                  <a:avLst/>
                  <a:gdLst>
                    <a:gd name="T0" fmla="*/ 0 w 525"/>
                    <a:gd name="T1" fmla="*/ 71 h 334"/>
                    <a:gd name="T2" fmla="*/ 0 w 525"/>
                    <a:gd name="T3" fmla="*/ 263 h 334"/>
                    <a:gd name="T4" fmla="*/ 2 w 525"/>
                    <a:gd name="T5" fmla="*/ 273 h 334"/>
                    <a:gd name="T6" fmla="*/ 10 w 525"/>
                    <a:gd name="T7" fmla="*/ 283 h 334"/>
                    <a:gd name="T8" fmla="*/ 22 w 525"/>
                    <a:gd name="T9" fmla="*/ 292 h 334"/>
                    <a:gd name="T10" fmla="*/ 39 w 525"/>
                    <a:gd name="T11" fmla="*/ 300 h 334"/>
                    <a:gd name="T12" fmla="*/ 59 w 525"/>
                    <a:gd name="T13" fmla="*/ 308 h 334"/>
                    <a:gd name="T14" fmla="*/ 83 w 525"/>
                    <a:gd name="T15" fmla="*/ 315 h 334"/>
                    <a:gd name="T16" fmla="*/ 111 w 525"/>
                    <a:gd name="T17" fmla="*/ 322 h 334"/>
                    <a:gd name="T18" fmla="*/ 143 w 525"/>
                    <a:gd name="T19" fmla="*/ 326 h 334"/>
                    <a:gd name="T20" fmla="*/ 174 w 525"/>
                    <a:gd name="T21" fmla="*/ 330 h 334"/>
                    <a:gd name="T22" fmla="*/ 208 w 525"/>
                    <a:gd name="T23" fmla="*/ 333 h 334"/>
                    <a:gd name="T24" fmla="*/ 245 w 525"/>
                    <a:gd name="T25" fmla="*/ 334 h 334"/>
                    <a:gd name="T26" fmla="*/ 281 w 525"/>
                    <a:gd name="T27" fmla="*/ 334 h 334"/>
                    <a:gd name="T28" fmla="*/ 317 w 525"/>
                    <a:gd name="T29" fmla="*/ 333 h 334"/>
                    <a:gd name="T30" fmla="*/ 351 w 525"/>
                    <a:gd name="T31" fmla="*/ 330 h 334"/>
                    <a:gd name="T32" fmla="*/ 383 w 525"/>
                    <a:gd name="T33" fmla="*/ 326 h 334"/>
                    <a:gd name="T34" fmla="*/ 414 w 525"/>
                    <a:gd name="T35" fmla="*/ 322 h 334"/>
                    <a:gd name="T36" fmla="*/ 443 w 525"/>
                    <a:gd name="T37" fmla="*/ 315 h 334"/>
                    <a:gd name="T38" fmla="*/ 467 w 525"/>
                    <a:gd name="T39" fmla="*/ 308 h 334"/>
                    <a:gd name="T40" fmla="*/ 487 w 525"/>
                    <a:gd name="T41" fmla="*/ 300 h 334"/>
                    <a:gd name="T42" fmla="*/ 504 w 525"/>
                    <a:gd name="T43" fmla="*/ 292 h 334"/>
                    <a:gd name="T44" fmla="*/ 515 w 525"/>
                    <a:gd name="T45" fmla="*/ 283 h 334"/>
                    <a:gd name="T46" fmla="*/ 523 w 525"/>
                    <a:gd name="T47" fmla="*/ 273 h 334"/>
                    <a:gd name="T48" fmla="*/ 525 w 525"/>
                    <a:gd name="T49" fmla="*/ 263 h 334"/>
                    <a:gd name="T50" fmla="*/ 525 w 525"/>
                    <a:gd name="T51" fmla="*/ 71 h 334"/>
                    <a:gd name="T52" fmla="*/ 523 w 525"/>
                    <a:gd name="T53" fmla="*/ 61 h 334"/>
                    <a:gd name="T54" fmla="*/ 515 w 525"/>
                    <a:gd name="T55" fmla="*/ 51 h 334"/>
                    <a:gd name="T56" fmla="*/ 504 w 525"/>
                    <a:gd name="T57" fmla="*/ 42 h 334"/>
                    <a:gd name="T58" fmla="*/ 487 w 525"/>
                    <a:gd name="T59" fmla="*/ 34 h 334"/>
                    <a:gd name="T60" fmla="*/ 467 w 525"/>
                    <a:gd name="T61" fmla="*/ 25 h 334"/>
                    <a:gd name="T62" fmla="*/ 443 w 525"/>
                    <a:gd name="T63" fmla="*/ 19 h 334"/>
                    <a:gd name="T64" fmla="*/ 414 w 525"/>
                    <a:gd name="T65" fmla="*/ 12 h 334"/>
                    <a:gd name="T66" fmla="*/ 383 w 525"/>
                    <a:gd name="T67" fmla="*/ 8 h 334"/>
                    <a:gd name="T68" fmla="*/ 351 w 525"/>
                    <a:gd name="T69" fmla="*/ 4 h 334"/>
                    <a:gd name="T70" fmla="*/ 317 w 525"/>
                    <a:gd name="T71" fmla="*/ 1 h 334"/>
                    <a:gd name="T72" fmla="*/ 281 w 525"/>
                    <a:gd name="T73" fmla="*/ 0 h 334"/>
                    <a:gd name="T74" fmla="*/ 245 w 525"/>
                    <a:gd name="T75" fmla="*/ 0 h 334"/>
                    <a:gd name="T76" fmla="*/ 208 w 525"/>
                    <a:gd name="T77" fmla="*/ 1 h 334"/>
                    <a:gd name="T78" fmla="*/ 174 w 525"/>
                    <a:gd name="T79" fmla="*/ 4 h 334"/>
                    <a:gd name="T80" fmla="*/ 143 w 525"/>
                    <a:gd name="T81" fmla="*/ 8 h 334"/>
                    <a:gd name="T82" fmla="*/ 111 w 525"/>
                    <a:gd name="T83" fmla="*/ 12 h 334"/>
                    <a:gd name="T84" fmla="*/ 83 w 525"/>
                    <a:gd name="T85" fmla="*/ 19 h 334"/>
                    <a:gd name="T86" fmla="*/ 59 w 525"/>
                    <a:gd name="T87" fmla="*/ 25 h 334"/>
                    <a:gd name="T88" fmla="*/ 39 w 525"/>
                    <a:gd name="T89" fmla="*/ 34 h 334"/>
                    <a:gd name="T90" fmla="*/ 22 w 525"/>
                    <a:gd name="T91" fmla="*/ 42 h 334"/>
                    <a:gd name="T92" fmla="*/ 10 w 525"/>
                    <a:gd name="T93" fmla="*/ 51 h 334"/>
                    <a:gd name="T94" fmla="*/ 2 w 525"/>
                    <a:gd name="T95" fmla="*/ 61 h 334"/>
                    <a:gd name="T96" fmla="*/ 0 w 525"/>
                    <a:gd name="T97" fmla="*/ 71 h 334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525"/>
                    <a:gd name="T148" fmla="*/ 0 h 334"/>
                    <a:gd name="T149" fmla="*/ 525 w 525"/>
                    <a:gd name="T150" fmla="*/ 334 h 334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525" h="334">
                      <a:moveTo>
                        <a:pt x="0" y="71"/>
                      </a:moveTo>
                      <a:lnTo>
                        <a:pt x="0" y="263"/>
                      </a:lnTo>
                      <a:lnTo>
                        <a:pt x="2" y="273"/>
                      </a:lnTo>
                      <a:lnTo>
                        <a:pt x="10" y="283"/>
                      </a:lnTo>
                      <a:lnTo>
                        <a:pt x="22" y="292"/>
                      </a:lnTo>
                      <a:lnTo>
                        <a:pt x="39" y="300"/>
                      </a:lnTo>
                      <a:lnTo>
                        <a:pt x="59" y="308"/>
                      </a:lnTo>
                      <a:lnTo>
                        <a:pt x="83" y="315"/>
                      </a:lnTo>
                      <a:lnTo>
                        <a:pt x="111" y="322"/>
                      </a:lnTo>
                      <a:lnTo>
                        <a:pt x="143" y="326"/>
                      </a:lnTo>
                      <a:lnTo>
                        <a:pt x="174" y="330"/>
                      </a:lnTo>
                      <a:lnTo>
                        <a:pt x="208" y="333"/>
                      </a:lnTo>
                      <a:lnTo>
                        <a:pt x="245" y="334"/>
                      </a:lnTo>
                      <a:lnTo>
                        <a:pt x="281" y="334"/>
                      </a:lnTo>
                      <a:lnTo>
                        <a:pt x="317" y="333"/>
                      </a:lnTo>
                      <a:lnTo>
                        <a:pt x="351" y="330"/>
                      </a:lnTo>
                      <a:lnTo>
                        <a:pt x="383" y="326"/>
                      </a:lnTo>
                      <a:lnTo>
                        <a:pt x="414" y="322"/>
                      </a:lnTo>
                      <a:lnTo>
                        <a:pt x="443" y="315"/>
                      </a:lnTo>
                      <a:lnTo>
                        <a:pt x="467" y="308"/>
                      </a:lnTo>
                      <a:lnTo>
                        <a:pt x="487" y="300"/>
                      </a:lnTo>
                      <a:lnTo>
                        <a:pt x="504" y="292"/>
                      </a:lnTo>
                      <a:lnTo>
                        <a:pt x="515" y="283"/>
                      </a:lnTo>
                      <a:lnTo>
                        <a:pt x="523" y="273"/>
                      </a:lnTo>
                      <a:lnTo>
                        <a:pt x="525" y="263"/>
                      </a:lnTo>
                      <a:lnTo>
                        <a:pt x="525" y="71"/>
                      </a:lnTo>
                      <a:lnTo>
                        <a:pt x="523" y="61"/>
                      </a:lnTo>
                      <a:lnTo>
                        <a:pt x="515" y="51"/>
                      </a:lnTo>
                      <a:lnTo>
                        <a:pt x="504" y="42"/>
                      </a:lnTo>
                      <a:lnTo>
                        <a:pt x="487" y="34"/>
                      </a:lnTo>
                      <a:lnTo>
                        <a:pt x="467" y="25"/>
                      </a:lnTo>
                      <a:lnTo>
                        <a:pt x="443" y="19"/>
                      </a:lnTo>
                      <a:lnTo>
                        <a:pt x="414" y="12"/>
                      </a:lnTo>
                      <a:lnTo>
                        <a:pt x="383" y="8"/>
                      </a:lnTo>
                      <a:lnTo>
                        <a:pt x="351" y="4"/>
                      </a:lnTo>
                      <a:lnTo>
                        <a:pt x="317" y="1"/>
                      </a:lnTo>
                      <a:lnTo>
                        <a:pt x="281" y="0"/>
                      </a:lnTo>
                      <a:lnTo>
                        <a:pt x="245" y="0"/>
                      </a:lnTo>
                      <a:lnTo>
                        <a:pt x="208" y="1"/>
                      </a:lnTo>
                      <a:lnTo>
                        <a:pt x="174" y="4"/>
                      </a:lnTo>
                      <a:lnTo>
                        <a:pt x="143" y="8"/>
                      </a:lnTo>
                      <a:lnTo>
                        <a:pt x="111" y="12"/>
                      </a:lnTo>
                      <a:lnTo>
                        <a:pt x="83" y="19"/>
                      </a:lnTo>
                      <a:lnTo>
                        <a:pt x="59" y="25"/>
                      </a:lnTo>
                      <a:lnTo>
                        <a:pt x="39" y="34"/>
                      </a:lnTo>
                      <a:lnTo>
                        <a:pt x="22" y="42"/>
                      </a:lnTo>
                      <a:lnTo>
                        <a:pt x="10" y="51"/>
                      </a:lnTo>
                      <a:lnTo>
                        <a:pt x="2" y="6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7938" cap="rnd">
                  <a:solidFill>
                    <a:srgbClr val="23CB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64" name="Group 24"/>
              <p:cNvGrpSpPr>
                <a:grpSpLocks/>
              </p:cNvGrpSpPr>
              <p:nvPr/>
            </p:nvGrpSpPr>
            <p:grpSpPr bwMode="auto">
              <a:xfrm>
                <a:off x="1535" y="1830"/>
                <a:ext cx="524" cy="141"/>
                <a:chOff x="1535" y="1830"/>
                <a:chExt cx="524" cy="141"/>
              </a:xfrm>
            </p:grpSpPr>
            <p:sp>
              <p:nvSpPr>
                <p:cNvPr id="29769" name="Freeform 25"/>
                <p:cNvSpPr>
                  <a:spLocks/>
                </p:cNvSpPr>
                <p:nvPr/>
              </p:nvSpPr>
              <p:spPr bwMode="auto">
                <a:xfrm>
                  <a:off x="1535" y="1830"/>
                  <a:ext cx="524" cy="141"/>
                </a:xfrm>
                <a:custGeom>
                  <a:avLst/>
                  <a:gdLst>
                    <a:gd name="T0" fmla="*/ 524 w 524"/>
                    <a:gd name="T1" fmla="*/ 71 h 141"/>
                    <a:gd name="T2" fmla="*/ 522 w 524"/>
                    <a:gd name="T3" fmla="*/ 80 h 141"/>
                    <a:gd name="T4" fmla="*/ 514 w 524"/>
                    <a:gd name="T5" fmla="*/ 90 h 141"/>
                    <a:gd name="T6" fmla="*/ 502 w 524"/>
                    <a:gd name="T7" fmla="*/ 99 h 141"/>
                    <a:gd name="T8" fmla="*/ 485 w 524"/>
                    <a:gd name="T9" fmla="*/ 107 h 141"/>
                    <a:gd name="T10" fmla="*/ 463 w 524"/>
                    <a:gd name="T11" fmla="*/ 116 h 141"/>
                    <a:gd name="T12" fmla="*/ 437 w 524"/>
                    <a:gd name="T13" fmla="*/ 123 h 141"/>
                    <a:gd name="T14" fmla="*/ 409 w 524"/>
                    <a:gd name="T15" fmla="*/ 129 h 141"/>
                    <a:gd name="T16" fmla="*/ 377 w 524"/>
                    <a:gd name="T17" fmla="*/ 134 h 141"/>
                    <a:gd name="T18" fmla="*/ 342 w 524"/>
                    <a:gd name="T19" fmla="*/ 138 h 141"/>
                    <a:gd name="T20" fmla="*/ 308 w 524"/>
                    <a:gd name="T21" fmla="*/ 140 h 141"/>
                    <a:gd name="T22" fmla="*/ 271 w 524"/>
                    <a:gd name="T23" fmla="*/ 141 h 141"/>
                    <a:gd name="T24" fmla="*/ 234 w 524"/>
                    <a:gd name="T25" fmla="*/ 140 h 141"/>
                    <a:gd name="T26" fmla="*/ 197 w 524"/>
                    <a:gd name="T27" fmla="*/ 139 h 141"/>
                    <a:gd name="T28" fmla="*/ 163 w 524"/>
                    <a:gd name="T29" fmla="*/ 136 h 141"/>
                    <a:gd name="T30" fmla="*/ 131 w 524"/>
                    <a:gd name="T31" fmla="*/ 132 h 141"/>
                    <a:gd name="T32" fmla="*/ 100 w 524"/>
                    <a:gd name="T33" fmla="*/ 127 h 141"/>
                    <a:gd name="T34" fmla="*/ 74 w 524"/>
                    <a:gd name="T35" fmla="*/ 119 h 141"/>
                    <a:gd name="T36" fmla="*/ 49 w 524"/>
                    <a:gd name="T37" fmla="*/ 112 h 141"/>
                    <a:gd name="T38" fmla="*/ 29 w 524"/>
                    <a:gd name="T39" fmla="*/ 104 h 141"/>
                    <a:gd name="T40" fmla="*/ 16 w 524"/>
                    <a:gd name="T41" fmla="*/ 95 h 141"/>
                    <a:gd name="T42" fmla="*/ 6 w 524"/>
                    <a:gd name="T43" fmla="*/ 85 h 141"/>
                    <a:gd name="T44" fmla="*/ 0 w 524"/>
                    <a:gd name="T45" fmla="*/ 75 h 141"/>
                    <a:gd name="T46" fmla="*/ 0 w 524"/>
                    <a:gd name="T47" fmla="*/ 65 h 141"/>
                    <a:gd name="T48" fmla="*/ 6 w 524"/>
                    <a:gd name="T49" fmla="*/ 55 h 141"/>
                    <a:gd name="T50" fmla="*/ 16 w 524"/>
                    <a:gd name="T51" fmla="*/ 46 h 141"/>
                    <a:gd name="T52" fmla="*/ 29 w 524"/>
                    <a:gd name="T53" fmla="*/ 37 h 141"/>
                    <a:gd name="T54" fmla="*/ 49 w 524"/>
                    <a:gd name="T55" fmla="*/ 29 h 141"/>
                    <a:gd name="T56" fmla="*/ 74 w 524"/>
                    <a:gd name="T57" fmla="*/ 20 h 141"/>
                    <a:gd name="T58" fmla="*/ 100 w 524"/>
                    <a:gd name="T59" fmla="*/ 14 h 141"/>
                    <a:gd name="T60" fmla="*/ 131 w 524"/>
                    <a:gd name="T61" fmla="*/ 9 h 141"/>
                    <a:gd name="T62" fmla="*/ 163 w 524"/>
                    <a:gd name="T63" fmla="*/ 5 h 141"/>
                    <a:gd name="T64" fmla="*/ 197 w 524"/>
                    <a:gd name="T65" fmla="*/ 2 h 141"/>
                    <a:gd name="T66" fmla="*/ 234 w 524"/>
                    <a:gd name="T67" fmla="*/ 0 h 141"/>
                    <a:gd name="T68" fmla="*/ 271 w 524"/>
                    <a:gd name="T69" fmla="*/ 0 h 141"/>
                    <a:gd name="T70" fmla="*/ 308 w 524"/>
                    <a:gd name="T71" fmla="*/ 1 h 141"/>
                    <a:gd name="T72" fmla="*/ 342 w 524"/>
                    <a:gd name="T73" fmla="*/ 3 h 141"/>
                    <a:gd name="T74" fmla="*/ 377 w 524"/>
                    <a:gd name="T75" fmla="*/ 7 h 141"/>
                    <a:gd name="T76" fmla="*/ 409 w 524"/>
                    <a:gd name="T77" fmla="*/ 11 h 141"/>
                    <a:gd name="T78" fmla="*/ 437 w 524"/>
                    <a:gd name="T79" fmla="*/ 18 h 141"/>
                    <a:gd name="T80" fmla="*/ 463 w 524"/>
                    <a:gd name="T81" fmla="*/ 24 h 141"/>
                    <a:gd name="T82" fmla="*/ 485 w 524"/>
                    <a:gd name="T83" fmla="*/ 33 h 141"/>
                    <a:gd name="T84" fmla="*/ 502 w 524"/>
                    <a:gd name="T85" fmla="*/ 41 h 141"/>
                    <a:gd name="T86" fmla="*/ 514 w 524"/>
                    <a:gd name="T87" fmla="*/ 51 h 141"/>
                    <a:gd name="T88" fmla="*/ 522 w 524"/>
                    <a:gd name="T89" fmla="*/ 61 h 141"/>
                    <a:gd name="T90" fmla="*/ 524 w 524"/>
                    <a:gd name="T91" fmla="*/ 71 h 141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524"/>
                    <a:gd name="T139" fmla="*/ 0 h 141"/>
                    <a:gd name="T140" fmla="*/ 524 w 524"/>
                    <a:gd name="T141" fmla="*/ 141 h 141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524" h="141">
                      <a:moveTo>
                        <a:pt x="524" y="71"/>
                      </a:moveTo>
                      <a:lnTo>
                        <a:pt x="522" y="80"/>
                      </a:lnTo>
                      <a:lnTo>
                        <a:pt x="514" y="90"/>
                      </a:lnTo>
                      <a:lnTo>
                        <a:pt x="502" y="99"/>
                      </a:lnTo>
                      <a:lnTo>
                        <a:pt x="485" y="107"/>
                      </a:lnTo>
                      <a:lnTo>
                        <a:pt x="463" y="116"/>
                      </a:lnTo>
                      <a:lnTo>
                        <a:pt x="437" y="123"/>
                      </a:lnTo>
                      <a:lnTo>
                        <a:pt x="409" y="129"/>
                      </a:lnTo>
                      <a:lnTo>
                        <a:pt x="377" y="134"/>
                      </a:lnTo>
                      <a:lnTo>
                        <a:pt x="342" y="138"/>
                      </a:lnTo>
                      <a:lnTo>
                        <a:pt x="308" y="140"/>
                      </a:lnTo>
                      <a:lnTo>
                        <a:pt x="271" y="141"/>
                      </a:lnTo>
                      <a:lnTo>
                        <a:pt x="234" y="140"/>
                      </a:lnTo>
                      <a:lnTo>
                        <a:pt x="197" y="139"/>
                      </a:lnTo>
                      <a:lnTo>
                        <a:pt x="163" y="136"/>
                      </a:lnTo>
                      <a:lnTo>
                        <a:pt x="131" y="132"/>
                      </a:lnTo>
                      <a:lnTo>
                        <a:pt x="100" y="127"/>
                      </a:lnTo>
                      <a:lnTo>
                        <a:pt x="74" y="119"/>
                      </a:lnTo>
                      <a:lnTo>
                        <a:pt x="49" y="112"/>
                      </a:lnTo>
                      <a:lnTo>
                        <a:pt x="29" y="104"/>
                      </a:lnTo>
                      <a:lnTo>
                        <a:pt x="16" y="95"/>
                      </a:lnTo>
                      <a:lnTo>
                        <a:pt x="6" y="85"/>
                      </a:lnTo>
                      <a:lnTo>
                        <a:pt x="0" y="75"/>
                      </a:lnTo>
                      <a:lnTo>
                        <a:pt x="0" y="65"/>
                      </a:lnTo>
                      <a:lnTo>
                        <a:pt x="6" y="55"/>
                      </a:lnTo>
                      <a:lnTo>
                        <a:pt x="16" y="46"/>
                      </a:lnTo>
                      <a:lnTo>
                        <a:pt x="29" y="37"/>
                      </a:lnTo>
                      <a:lnTo>
                        <a:pt x="49" y="29"/>
                      </a:lnTo>
                      <a:lnTo>
                        <a:pt x="74" y="20"/>
                      </a:lnTo>
                      <a:lnTo>
                        <a:pt x="100" y="14"/>
                      </a:lnTo>
                      <a:lnTo>
                        <a:pt x="131" y="9"/>
                      </a:lnTo>
                      <a:lnTo>
                        <a:pt x="163" y="5"/>
                      </a:lnTo>
                      <a:lnTo>
                        <a:pt x="197" y="2"/>
                      </a:lnTo>
                      <a:lnTo>
                        <a:pt x="234" y="0"/>
                      </a:lnTo>
                      <a:lnTo>
                        <a:pt x="271" y="0"/>
                      </a:lnTo>
                      <a:lnTo>
                        <a:pt x="308" y="1"/>
                      </a:lnTo>
                      <a:lnTo>
                        <a:pt x="342" y="3"/>
                      </a:lnTo>
                      <a:lnTo>
                        <a:pt x="377" y="7"/>
                      </a:lnTo>
                      <a:lnTo>
                        <a:pt x="409" y="11"/>
                      </a:lnTo>
                      <a:lnTo>
                        <a:pt x="437" y="18"/>
                      </a:lnTo>
                      <a:lnTo>
                        <a:pt x="463" y="24"/>
                      </a:lnTo>
                      <a:lnTo>
                        <a:pt x="485" y="33"/>
                      </a:lnTo>
                      <a:lnTo>
                        <a:pt x="502" y="41"/>
                      </a:lnTo>
                      <a:lnTo>
                        <a:pt x="514" y="51"/>
                      </a:lnTo>
                      <a:lnTo>
                        <a:pt x="522" y="61"/>
                      </a:lnTo>
                      <a:lnTo>
                        <a:pt x="524" y="71"/>
                      </a:lnTo>
                      <a:close/>
                    </a:path>
                  </a:pathLst>
                </a:custGeom>
                <a:solidFill>
                  <a:srgbClr val="BBB4D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70" name="Freeform 26"/>
                <p:cNvSpPr>
                  <a:spLocks/>
                </p:cNvSpPr>
                <p:nvPr/>
              </p:nvSpPr>
              <p:spPr bwMode="auto">
                <a:xfrm>
                  <a:off x="1535" y="1830"/>
                  <a:ext cx="524" cy="141"/>
                </a:xfrm>
                <a:custGeom>
                  <a:avLst/>
                  <a:gdLst>
                    <a:gd name="T0" fmla="*/ 524 w 524"/>
                    <a:gd name="T1" fmla="*/ 71 h 141"/>
                    <a:gd name="T2" fmla="*/ 522 w 524"/>
                    <a:gd name="T3" fmla="*/ 80 h 141"/>
                    <a:gd name="T4" fmla="*/ 514 w 524"/>
                    <a:gd name="T5" fmla="*/ 90 h 141"/>
                    <a:gd name="T6" fmla="*/ 502 w 524"/>
                    <a:gd name="T7" fmla="*/ 99 h 141"/>
                    <a:gd name="T8" fmla="*/ 485 w 524"/>
                    <a:gd name="T9" fmla="*/ 107 h 141"/>
                    <a:gd name="T10" fmla="*/ 463 w 524"/>
                    <a:gd name="T11" fmla="*/ 116 h 141"/>
                    <a:gd name="T12" fmla="*/ 437 w 524"/>
                    <a:gd name="T13" fmla="*/ 123 h 141"/>
                    <a:gd name="T14" fmla="*/ 409 w 524"/>
                    <a:gd name="T15" fmla="*/ 129 h 141"/>
                    <a:gd name="T16" fmla="*/ 377 w 524"/>
                    <a:gd name="T17" fmla="*/ 134 h 141"/>
                    <a:gd name="T18" fmla="*/ 342 w 524"/>
                    <a:gd name="T19" fmla="*/ 138 h 141"/>
                    <a:gd name="T20" fmla="*/ 308 w 524"/>
                    <a:gd name="T21" fmla="*/ 140 h 141"/>
                    <a:gd name="T22" fmla="*/ 271 w 524"/>
                    <a:gd name="T23" fmla="*/ 141 h 141"/>
                    <a:gd name="T24" fmla="*/ 234 w 524"/>
                    <a:gd name="T25" fmla="*/ 140 h 141"/>
                    <a:gd name="T26" fmla="*/ 197 w 524"/>
                    <a:gd name="T27" fmla="*/ 139 h 141"/>
                    <a:gd name="T28" fmla="*/ 163 w 524"/>
                    <a:gd name="T29" fmla="*/ 136 h 141"/>
                    <a:gd name="T30" fmla="*/ 131 w 524"/>
                    <a:gd name="T31" fmla="*/ 132 h 141"/>
                    <a:gd name="T32" fmla="*/ 100 w 524"/>
                    <a:gd name="T33" fmla="*/ 127 h 141"/>
                    <a:gd name="T34" fmla="*/ 74 w 524"/>
                    <a:gd name="T35" fmla="*/ 119 h 141"/>
                    <a:gd name="T36" fmla="*/ 49 w 524"/>
                    <a:gd name="T37" fmla="*/ 112 h 141"/>
                    <a:gd name="T38" fmla="*/ 29 w 524"/>
                    <a:gd name="T39" fmla="*/ 104 h 141"/>
                    <a:gd name="T40" fmla="*/ 16 w 524"/>
                    <a:gd name="T41" fmla="*/ 95 h 141"/>
                    <a:gd name="T42" fmla="*/ 6 w 524"/>
                    <a:gd name="T43" fmla="*/ 85 h 141"/>
                    <a:gd name="T44" fmla="*/ 0 w 524"/>
                    <a:gd name="T45" fmla="*/ 75 h 141"/>
                    <a:gd name="T46" fmla="*/ 0 w 524"/>
                    <a:gd name="T47" fmla="*/ 65 h 141"/>
                    <a:gd name="T48" fmla="*/ 6 w 524"/>
                    <a:gd name="T49" fmla="*/ 55 h 141"/>
                    <a:gd name="T50" fmla="*/ 16 w 524"/>
                    <a:gd name="T51" fmla="*/ 46 h 141"/>
                    <a:gd name="T52" fmla="*/ 29 w 524"/>
                    <a:gd name="T53" fmla="*/ 37 h 141"/>
                    <a:gd name="T54" fmla="*/ 49 w 524"/>
                    <a:gd name="T55" fmla="*/ 29 h 141"/>
                    <a:gd name="T56" fmla="*/ 74 w 524"/>
                    <a:gd name="T57" fmla="*/ 20 h 141"/>
                    <a:gd name="T58" fmla="*/ 100 w 524"/>
                    <a:gd name="T59" fmla="*/ 14 h 141"/>
                    <a:gd name="T60" fmla="*/ 131 w 524"/>
                    <a:gd name="T61" fmla="*/ 9 h 141"/>
                    <a:gd name="T62" fmla="*/ 163 w 524"/>
                    <a:gd name="T63" fmla="*/ 5 h 141"/>
                    <a:gd name="T64" fmla="*/ 197 w 524"/>
                    <a:gd name="T65" fmla="*/ 2 h 141"/>
                    <a:gd name="T66" fmla="*/ 234 w 524"/>
                    <a:gd name="T67" fmla="*/ 0 h 141"/>
                    <a:gd name="T68" fmla="*/ 271 w 524"/>
                    <a:gd name="T69" fmla="*/ 0 h 141"/>
                    <a:gd name="T70" fmla="*/ 308 w 524"/>
                    <a:gd name="T71" fmla="*/ 1 h 141"/>
                    <a:gd name="T72" fmla="*/ 342 w 524"/>
                    <a:gd name="T73" fmla="*/ 3 h 141"/>
                    <a:gd name="T74" fmla="*/ 377 w 524"/>
                    <a:gd name="T75" fmla="*/ 7 h 141"/>
                    <a:gd name="T76" fmla="*/ 409 w 524"/>
                    <a:gd name="T77" fmla="*/ 11 h 141"/>
                    <a:gd name="T78" fmla="*/ 437 w 524"/>
                    <a:gd name="T79" fmla="*/ 18 h 141"/>
                    <a:gd name="T80" fmla="*/ 463 w 524"/>
                    <a:gd name="T81" fmla="*/ 24 h 141"/>
                    <a:gd name="T82" fmla="*/ 485 w 524"/>
                    <a:gd name="T83" fmla="*/ 33 h 141"/>
                    <a:gd name="T84" fmla="*/ 502 w 524"/>
                    <a:gd name="T85" fmla="*/ 41 h 141"/>
                    <a:gd name="T86" fmla="*/ 514 w 524"/>
                    <a:gd name="T87" fmla="*/ 51 h 141"/>
                    <a:gd name="T88" fmla="*/ 522 w 524"/>
                    <a:gd name="T89" fmla="*/ 61 h 141"/>
                    <a:gd name="T90" fmla="*/ 524 w 524"/>
                    <a:gd name="T91" fmla="*/ 71 h 141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524"/>
                    <a:gd name="T139" fmla="*/ 0 h 141"/>
                    <a:gd name="T140" fmla="*/ 524 w 524"/>
                    <a:gd name="T141" fmla="*/ 141 h 141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524" h="141">
                      <a:moveTo>
                        <a:pt x="524" y="71"/>
                      </a:moveTo>
                      <a:lnTo>
                        <a:pt x="522" y="80"/>
                      </a:lnTo>
                      <a:lnTo>
                        <a:pt x="514" y="90"/>
                      </a:lnTo>
                      <a:lnTo>
                        <a:pt x="502" y="99"/>
                      </a:lnTo>
                      <a:lnTo>
                        <a:pt x="485" y="107"/>
                      </a:lnTo>
                      <a:lnTo>
                        <a:pt x="463" y="116"/>
                      </a:lnTo>
                      <a:lnTo>
                        <a:pt x="437" y="123"/>
                      </a:lnTo>
                      <a:lnTo>
                        <a:pt x="409" y="129"/>
                      </a:lnTo>
                      <a:lnTo>
                        <a:pt x="377" y="134"/>
                      </a:lnTo>
                      <a:lnTo>
                        <a:pt x="342" y="138"/>
                      </a:lnTo>
                      <a:lnTo>
                        <a:pt x="308" y="140"/>
                      </a:lnTo>
                      <a:lnTo>
                        <a:pt x="271" y="141"/>
                      </a:lnTo>
                      <a:lnTo>
                        <a:pt x="234" y="140"/>
                      </a:lnTo>
                      <a:lnTo>
                        <a:pt x="197" y="139"/>
                      </a:lnTo>
                      <a:lnTo>
                        <a:pt x="163" y="136"/>
                      </a:lnTo>
                      <a:lnTo>
                        <a:pt x="131" y="132"/>
                      </a:lnTo>
                      <a:lnTo>
                        <a:pt x="100" y="127"/>
                      </a:lnTo>
                      <a:lnTo>
                        <a:pt x="74" y="119"/>
                      </a:lnTo>
                      <a:lnTo>
                        <a:pt x="49" y="112"/>
                      </a:lnTo>
                      <a:lnTo>
                        <a:pt x="29" y="104"/>
                      </a:lnTo>
                      <a:lnTo>
                        <a:pt x="16" y="95"/>
                      </a:lnTo>
                      <a:lnTo>
                        <a:pt x="6" y="85"/>
                      </a:lnTo>
                      <a:lnTo>
                        <a:pt x="0" y="75"/>
                      </a:lnTo>
                      <a:lnTo>
                        <a:pt x="0" y="65"/>
                      </a:lnTo>
                      <a:lnTo>
                        <a:pt x="6" y="55"/>
                      </a:lnTo>
                      <a:lnTo>
                        <a:pt x="16" y="46"/>
                      </a:lnTo>
                      <a:lnTo>
                        <a:pt x="29" y="37"/>
                      </a:lnTo>
                      <a:lnTo>
                        <a:pt x="49" y="29"/>
                      </a:lnTo>
                      <a:lnTo>
                        <a:pt x="74" y="20"/>
                      </a:lnTo>
                      <a:lnTo>
                        <a:pt x="100" y="14"/>
                      </a:lnTo>
                      <a:lnTo>
                        <a:pt x="131" y="9"/>
                      </a:lnTo>
                      <a:lnTo>
                        <a:pt x="163" y="5"/>
                      </a:lnTo>
                      <a:lnTo>
                        <a:pt x="197" y="2"/>
                      </a:lnTo>
                      <a:lnTo>
                        <a:pt x="234" y="0"/>
                      </a:lnTo>
                      <a:lnTo>
                        <a:pt x="271" y="0"/>
                      </a:lnTo>
                      <a:lnTo>
                        <a:pt x="308" y="1"/>
                      </a:lnTo>
                      <a:lnTo>
                        <a:pt x="342" y="3"/>
                      </a:lnTo>
                      <a:lnTo>
                        <a:pt x="377" y="7"/>
                      </a:lnTo>
                      <a:lnTo>
                        <a:pt x="409" y="11"/>
                      </a:lnTo>
                      <a:lnTo>
                        <a:pt x="437" y="18"/>
                      </a:lnTo>
                      <a:lnTo>
                        <a:pt x="463" y="24"/>
                      </a:lnTo>
                      <a:lnTo>
                        <a:pt x="485" y="33"/>
                      </a:lnTo>
                      <a:lnTo>
                        <a:pt x="502" y="41"/>
                      </a:lnTo>
                      <a:lnTo>
                        <a:pt x="514" y="51"/>
                      </a:lnTo>
                      <a:lnTo>
                        <a:pt x="522" y="61"/>
                      </a:lnTo>
                      <a:lnTo>
                        <a:pt x="524" y="71"/>
                      </a:lnTo>
                      <a:close/>
                    </a:path>
                  </a:pathLst>
                </a:custGeom>
                <a:noFill/>
                <a:ln w="4763" cap="rnd">
                  <a:solidFill>
                    <a:srgbClr val="04D6E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9765" name="Freeform 27"/>
              <p:cNvSpPr>
                <a:spLocks noEditPoints="1"/>
              </p:cNvSpPr>
              <p:nvPr/>
            </p:nvSpPr>
            <p:spPr bwMode="auto">
              <a:xfrm>
                <a:off x="1655" y="1843"/>
                <a:ext cx="276" cy="111"/>
              </a:xfrm>
              <a:custGeom>
                <a:avLst/>
                <a:gdLst>
                  <a:gd name="T0" fmla="*/ 51 w 276"/>
                  <a:gd name="T1" fmla="*/ 62 h 111"/>
                  <a:gd name="T2" fmla="*/ 212 w 276"/>
                  <a:gd name="T3" fmla="*/ 62 h 111"/>
                  <a:gd name="T4" fmla="*/ 110 w 276"/>
                  <a:gd name="T5" fmla="*/ 94 h 111"/>
                  <a:gd name="T6" fmla="*/ 51 w 276"/>
                  <a:gd name="T7" fmla="*/ 62 h 111"/>
                  <a:gd name="T8" fmla="*/ 226 w 276"/>
                  <a:gd name="T9" fmla="*/ 49 h 111"/>
                  <a:gd name="T10" fmla="*/ 65 w 276"/>
                  <a:gd name="T11" fmla="*/ 49 h 111"/>
                  <a:gd name="T12" fmla="*/ 168 w 276"/>
                  <a:gd name="T13" fmla="*/ 17 h 111"/>
                  <a:gd name="T14" fmla="*/ 226 w 276"/>
                  <a:gd name="T15" fmla="*/ 49 h 111"/>
                  <a:gd name="T16" fmla="*/ 105 w 276"/>
                  <a:gd name="T17" fmla="*/ 111 h 111"/>
                  <a:gd name="T18" fmla="*/ 276 w 276"/>
                  <a:gd name="T19" fmla="*/ 57 h 111"/>
                  <a:gd name="T20" fmla="*/ 171 w 276"/>
                  <a:gd name="T21" fmla="*/ 0 h 111"/>
                  <a:gd name="T22" fmla="*/ 0 w 276"/>
                  <a:gd name="T23" fmla="*/ 54 h 111"/>
                  <a:gd name="T24" fmla="*/ 105 w 276"/>
                  <a:gd name="T25" fmla="*/ 111 h 11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76"/>
                  <a:gd name="T40" fmla="*/ 0 h 111"/>
                  <a:gd name="T41" fmla="*/ 276 w 276"/>
                  <a:gd name="T42" fmla="*/ 111 h 11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76" h="111">
                    <a:moveTo>
                      <a:pt x="51" y="62"/>
                    </a:moveTo>
                    <a:lnTo>
                      <a:pt x="212" y="62"/>
                    </a:lnTo>
                    <a:lnTo>
                      <a:pt x="110" y="94"/>
                    </a:lnTo>
                    <a:lnTo>
                      <a:pt x="51" y="62"/>
                    </a:lnTo>
                    <a:close/>
                    <a:moveTo>
                      <a:pt x="226" y="49"/>
                    </a:moveTo>
                    <a:lnTo>
                      <a:pt x="65" y="49"/>
                    </a:lnTo>
                    <a:lnTo>
                      <a:pt x="168" y="17"/>
                    </a:lnTo>
                    <a:lnTo>
                      <a:pt x="226" y="49"/>
                    </a:lnTo>
                    <a:close/>
                    <a:moveTo>
                      <a:pt x="105" y="111"/>
                    </a:moveTo>
                    <a:lnTo>
                      <a:pt x="276" y="57"/>
                    </a:lnTo>
                    <a:lnTo>
                      <a:pt x="171" y="0"/>
                    </a:lnTo>
                    <a:lnTo>
                      <a:pt x="0" y="54"/>
                    </a:lnTo>
                    <a:lnTo>
                      <a:pt x="105" y="1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66" name="Freeform 28"/>
              <p:cNvSpPr>
                <a:spLocks noEditPoints="1"/>
              </p:cNvSpPr>
              <p:nvPr/>
            </p:nvSpPr>
            <p:spPr bwMode="auto">
              <a:xfrm>
                <a:off x="1662" y="1847"/>
                <a:ext cx="276" cy="111"/>
              </a:xfrm>
              <a:custGeom>
                <a:avLst/>
                <a:gdLst>
                  <a:gd name="T0" fmla="*/ 50 w 276"/>
                  <a:gd name="T1" fmla="*/ 62 h 111"/>
                  <a:gd name="T2" fmla="*/ 212 w 276"/>
                  <a:gd name="T3" fmla="*/ 62 h 111"/>
                  <a:gd name="T4" fmla="*/ 109 w 276"/>
                  <a:gd name="T5" fmla="*/ 94 h 111"/>
                  <a:gd name="T6" fmla="*/ 50 w 276"/>
                  <a:gd name="T7" fmla="*/ 62 h 111"/>
                  <a:gd name="T8" fmla="*/ 225 w 276"/>
                  <a:gd name="T9" fmla="*/ 49 h 111"/>
                  <a:gd name="T10" fmla="*/ 65 w 276"/>
                  <a:gd name="T11" fmla="*/ 49 h 111"/>
                  <a:gd name="T12" fmla="*/ 167 w 276"/>
                  <a:gd name="T13" fmla="*/ 17 h 111"/>
                  <a:gd name="T14" fmla="*/ 225 w 276"/>
                  <a:gd name="T15" fmla="*/ 49 h 111"/>
                  <a:gd name="T16" fmla="*/ 106 w 276"/>
                  <a:gd name="T17" fmla="*/ 111 h 111"/>
                  <a:gd name="T18" fmla="*/ 276 w 276"/>
                  <a:gd name="T19" fmla="*/ 57 h 111"/>
                  <a:gd name="T20" fmla="*/ 171 w 276"/>
                  <a:gd name="T21" fmla="*/ 0 h 111"/>
                  <a:gd name="T22" fmla="*/ 0 w 276"/>
                  <a:gd name="T23" fmla="*/ 54 h 111"/>
                  <a:gd name="T24" fmla="*/ 106 w 276"/>
                  <a:gd name="T25" fmla="*/ 111 h 11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76"/>
                  <a:gd name="T40" fmla="*/ 0 h 111"/>
                  <a:gd name="T41" fmla="*/ 276 w 276"/>
                  <a:gd name="T42" fmla="*/ 111 h 11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76" h="111">
                    <a:moveTo>
                      <a:pt x="50" y="62"/>
                    </a:moveTo>
                    <a:lnTo>
                      <a:pt x="212" y="62"/>
                    </a:lnTo>
                    <a:lnTo>
                      <a:pt x="109" y="94"/>
                    </a:lnTo>
                    <a:lnTo>
                      <a:pt x="50" y="62"/>
                    </a:lnTo>
                    <a:close/>
                    <a:moveTo>
                      <a:pt x="225" y="49"/>
                    </a:moveTo>
                    <a:lnTo>
                      <a:pt x="65" y="49"/>
                    </a:lnTo>
                    <a:lnTo>
                      <a:pt x="167" y="17"/>
                    </a:lnTo>
                    <a:lnTo>
                      <a:pt x="225" y="49"/>
                    </a:lnTo>
                    <a:close/>
                    <a:moveTo>
                      <a:pt x="106" y="111"/>
                    </a:moveTo>
                    <a:lnTo>
                      <a:pt x="276" y="57"/>
                    </a:lnTo>
                    <a:lnTo>
                      <a:pt x="171" y="0"/>
                    </a:lnTo>
                    <a:lnTo>
                      <a:pt x="0" y="54"/>
                    </a:lnTo>
                    <a:lnTo>
                      <a:pt x="106" y="1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67" name="Freeform 29"/>
              <p:cNvSpPr>
                <a:spLocks noEditPoints="1"/>
              </p:cNvSpPr>
              <p:nvPr/>
            </p:nvSpPr>
            <p:spPr bwMode="auto">
              <a:xfrm>
                <a:off x="1712" y="2026"/>
                <a:ext cx="182" cy="89"/>
              </a:xfrm>
              <a:custGeom>
                <a:avLst/>
                <a:gdLst>
                  <a:gd name="T0" fmla="*/ 69 w 182"/>
                  <a:gd name="T1" fmla="*/ 51 h 89"/>
                  <a:gd name="T2" fmla="*/ 88 w 182"/>
                  <a:gd name="T3" fmla="*/ 51 h 89"/>
                  <a:gd name="T4" fmla="*/ 128 w 182"/>
                  <a:gd name="T5" fmla="*/ 89 h 89"/>
                  <a:gd name="T6" fmla="*/ 182 w 182"/>
                  <a:gd name="T7" fmla="*/ 89 h 89"/>
                  <a:gd name="T8" fmla="*/ 182 w 182"/>
                  <a:gd name="T9" fmla="*/ 74 h 89"/>
                  <a:gd name="T10" fmla="*/ 159 w 182"/>
                  <a:gd name="T11" fmla="*/ 74 h 89"/>
                  <a:gd name="T12" fmla="*/ 131 w 182"/>
                  <a:gd name="T13" fmla="*/ 47 h 89"/>
                  <a:gd name="T14" fmla="*/ 136 w 182"/>
                  <a:gd name="T15" fmla="*/ 45 h 89"/>
                  <a:gd name="T16" fmla="*/ 145 w 182"/>
                  <a:gd name="T17" fmla="*/ 42 h 89"/>
                  <a:gd name="T18" fmla="*/ 152 w 182"/>
                  <a:gd name="T19" fmla="*/ 39 h 89"/>
                  <a:gd name="T20" fmla="*/ 156 w 182"/>
                  <a:gd name="T21" fmla="*/ 35 h 89"/>
                  <a:gd name="T22" fmla="*/ 160 w 182"/>
                  <a:gd name="T23" fmla="*/ 31 h 89"/>
                  <a:gd name="T24" fmla="*/ 161 w 182"/>
                  <a:gd name="T25" fmla="*/ 25 h 89"/>
                  <a:gd name="T26" fmla="*/ 160 w 182"/>
                  <a:gd name="T27" fmla="*/ 22 h 89"/>
                  <a:gd name="T28" fmla="*/ 159 w 182"/>
                  <a:gd name="T29" fmla="*/ 17 h 89"/>
                  <a:gd name="T30" fmla="*/ 154 w 182"/>
                  <a:gd name="T31" fmla="*/ 12 h 89"/>
                  <a:gd name="T32" fmla="*/ 147 w 182"/>
                  <a:gd name="T33" fmla="*/ 8 h 89"/>
                  <a:gd name="T34" fmla="*/ 145 w 182"/>
                  <a:gd name="T35" fmla="*/ 6 h 89"/>
                  <a:gd name="T36" fmla="*/ 137 w 182"/>
                  <a:gd name="T37" fmla="*/ 3 h 89"/>
                  <a:gd name="T38" fmla="*/ 128 w 182"/>
                  <a:gd name="T39" fmla="*/ 1 h 89"/>
                  <a:gd name="T40" fmla="*/ 117 w 182"/>
                  <a:gd name="T41" fmla="*/ 0 h 89"/>
                  <a:gd name="T42" fmla="*/ 105 w 182"/>
                  <a:gd name="T43" fmla="*/ 0 h 89"/>
                  <a:gd name="T44" fmla="*/ 0 w 182"/>
                  <a:gd name="T45" fmla="*/ 0 h 89"/>
                  <a:gd name="T46" fmla="*/ 0 w 182"/>
                  <a:gd name="T47" fmla="*/ 15 h 89"/>
                  <a:gd name="T48" fmla="*/ 24 w 182"/>
                  <a:gd name="T49" fmla="*/ 15 h 89"/>
                  <a:gd name="T50" fmla="*/ 24 w 182"/>
                  <a:gd name="T51" fmla="*/ 74 h 89"/>
                  <a:gd name="T52" fmla="*/ 0 w 182"/>
                  <a:gd name="T53" fmla="*/ 74 h 89"/>
                  <a:gd name="T54" fmla="*/ 0 w 182"/>
                  <a:gd name="T55" fmla="*/ 89 h 89"/>
                  <a:gd name="T56" fmla="*/ 92 w 182"/>
                  <a:gd name="T57" fmla="*/ 89 h 89"/>
                  <a:gd name="T58" fmla="*/ 92 w 182"/>
                  <a:gd name="T59" fmla="*/ 74 h 89"/>
                  <a:gd name="T60" fmla="*/ 69 w 182"/>
                  <a:gd name="T61" fmla="*/ 74 h 89"/>
                  <a:gd name="T62" fmla="*/ 69 w 182"/>
                  <a:gd name="T63" fmla="*/ 51 h 89"/>
                  <a:gd name="T64" fmla="*/ 69 w 182"/>
                  <a:gd name="T65" fmla="*/ 15 h 89"/>
                  <a:gd name="T66" fmla="*/ 88 w 182"/>
                  <a:gd name="T67" fmla="*/ 15 h 89"/>
                  <a:gd name="T68" fmla="*/ 98 w 182"/>
                  <a:gd name="T69" fmla="*/ 15 h 89"/>
                  <a:gd name="T70" fmla="*/ 106 w 182"/>
                  <a:gd name="T71" fmla="*/ 17 h 89"/>
                  <a:gd name="T72" fmla="*/ 112 w 182"/>
                  <a:gd name="T73" fmla="*/ 20 h 89"/>
                  <a:gd name="T74" fmla="*/ 114 w 182"/>
                  <a:gd name="T75" fmla="*/ 26 h 89"/>
                  <a:gd name="T76" fmla="*/ 114 w 182"/>
                  <a:gd name="T77" fmla="*/ 27 h 89"/>
                  <a:gd name="T78" fmla="*/ 112 w 182"/>
                  <a:gd name="T79" fmla="*/ 31 h 89"/>
                  <a:gd name="T80" fmla="*/ 105 w 182"/>
                  <a:gd name="T81" fmla="*/ 33 h 89"/>
                  <a:gd name="T82" fmla="*/ 97 w 182"/>
                  <a:gd name="T83" fmla="*/ 35 h 89"/>
                  <a:gd name="T84" fmla="*/ 85 w 182"/>
                  <a:gd name="T85" fmla="*/ 36 h 89"/>
                  <a:gd name="T86" fmla="*/ 69 w 182"/>
                  <a:gd name="T87" fmla="*/ 36 h 89"/>
                  <a:gd name="T88" fmla="*/ 69 w 182"/>
                  <a:gd name="T89" fmla="*/ 15 h 8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82"/>
                  <a:gd name="T136" fmla="*/ 0 h 89"/>
                  <a:gd name="T137" fmla="*/ 182 w 182"/>
                  <a:gd name="T138" fmla="*/ 89 h 8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82" h="89">
                    <a:moveTo>
                      <a:pt x="69" y="51"/>
                    </a:moveTo>
                    <a:lnTo>
                      <a:pt x="88" y="51"/>
                    </a:lnTo>
                    <a:lnTo>
                      <a:pt x="128" y="89"/>
                    </a:lnTo>
                    <a:lnTo>
                      <a:pt x="182" y="89"/>
                    </a:lnTo>
                    <a:lnTo>
                      <a:pt x="182" y="74"/>
                    </a:lnTo>
                    <a:lnTo>
                      <a:pt x="159" y="74"/>
                    </a:lnTo>
                    <a:lnTo>
                      <a:pt x="131" y="47"/>
                    </a:lnTo>
                    <a:lnTo>
                      <a:pt x="136" y="45"/>
                    </a:lnTo>
                    <a:lnTo>
                      <a:pt x="145" y="42"/>
                    </a:lnTo>
                    <a:lnTo>
                      <a:pt x="152" y="39"/>
                    </a:lnTo>
                    <a:lnTo>
                      <a:pt x="156" y="35"/>
                    </a:lnTo>
                    <a:lnTo>
                      <a:pt x="160" y="31"/>
                    </a:lnTo>
                    <a:lnTo>
                      <a:pt x="161" y="25"/>
                    </a:lnTo>
                    <a:lnTo>
                      <a:pt x="160" y="22"/>
                    </a:lnTo>
                    <a:lnTo>
                      <a:pt x="159" y="17"/>
                    </a:lnTo>
                    <a:lnTo>
                      <a:pt x="154" y="12"/>
                    </a:lnTo>
                    <a:lnTo>
                      <a:pt x="147" y="8"/>
                    </a:lnTo>
                    <a:lnTo>
                      <a:pt x="145" y="6"/>
                    </a:lnTo>
                    <a:lnTo>
                      <a:pt x="137" y="3"/>
                    </a:lnTo>
                    <a:lnTo>
                      <a:pt x="128" y="1"/>
                    </a:lnTo>
                    <a:lnTo>
                      <a:pt x="117" y="0"/>
                    </a:lnTo>
                    <a:lnTo>
                      <a:pt x="10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24" y="15"/>
                    </a:lnTo>
                    <a:lnTo>
                      <a:pt x="24" y="74"/>
                    </a:lnTo>
                    <a:lnTo>
                      <a:pt x="0" y="74"/>
                    </a:lnTo>
                    <a:lnTo>
                      <a:pt x="0" y="89"/>
                    </a:lnTo>
                    <a:lnTo>
                      <a:pt x="92" y="89"/>
                    </a:lnTo>
                    <a:lnTo>
                      <a:pt x="92" y="74"/>
                    </a:lnTo>
                    <a:lnTo>
                      <a:pt x="69" y="74"/>
                    </a:lnTo>
                    <a:lnTo>
                      <a:pt x="69" y="51"/>
                    </a:lnTo>
                    <a:close/>
                    <a:moveTo>
                      <a:pt x="69" y="15"/>
                    </a:moveTo>
                    <a:lnTo>
                      <a:pt x="88" y="15"/>
                    </a:lnTo>
                    <a:lnTo>
                      <a:pt x="98" y="15"/>
                    </a:lnTo>
                    <a:lnTo>
                      <a:pt x="106" y="17"/>
                    </a:lnTo>
                    <a:lnTo>
                      <a:pt x="112" y="20"/>
                    </a:lnTo>
                    <a:lnTo>
                      <a:pt x="114" y="26"/>
                    </a:lnTo>
                    <a:lnTo>
                      <a:pt x="114" y="27"/>
                    </a:lnTo>
                    <a:lnTo>
                      <a:pt x="112" y="31"/>
                    </a:lnTo>
                    <a:lnTo>
                      <a:pt x="105" y="33"/>
                    </a:lnTo>
                    <a:lnTo>
                      <a:pt x="97" y="35"/>
                    </a:lnTo>
                    <a:lnTo>
                      <a:pt x="85" y="36"/>
                    </a:lnTo>
                    <a:lnTo>
                      <a:pt x="69" y="36"/>
                    </a:lnTo>
                    <a:lnTo>
                      <a:pt x="69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68" name="Freeform 30"/>
              <p:cNvSpPr>
                <a:spLocks noEditPoints="1"/>
              </p:cNvSpPr>
              <p:nvPr/>
            </p:nvSpPr>
            <p:spPr bwMode="auto">
              <a:xfrm>
                <a:off x="1700" y="2017"/>
                <a:ext cx="181" cy="89"/>
              </a:xfrm>
              <a:custGeom>
                <a:avLst/>
                <a:gdLst>
                  <a:gd name="T0" fmla="*/ 68 w 181"/>
                  <a:gd name="T1" fmla="*/ 50 h 89"/>
                  <a:gd name="T2" fmla="*/ 89 w 181"/>
                  <a:gd name="T3" fmla="*/ 50 h 89"/>
                  <a:gd name="T4" fmla="*/ 128 w 181"/>
                  <a:gd name="T5" fmla="*/ 89 h 89"/>
                  <a:gd name="T6" fmla="*/ 181 w 181"/>
                  <a:gd name="T7" fmla="*/ 89 h 89"/>
                  <a:gd name="T8" fmla="*/ 181 w 181"/>
                  <a:gd name="T9" fmla="*/ 74 h 89"/>
                  <a:gd name="T10" fmla="*/ 159 w 181"/>
                  <a:gd name="T11" fmla="*/ 74 h 89"/>
                  <a:gd name="T12" fmla="*/ 129 w 181"/>
                  <a:gd name="T13" fmla="*/ 47 h 89"/>
                  <a:gd name="T14" fmla="*/ 136 w 181"/>
                  <a:gd name="T15" fmla="*/ 46 h 89"/>
                  <a:gd name="T16" fmla="*/ 145 w 181"/>
                  <a:gd name="T17" fmla="*/ 42 h 89"/>
                  <a:gd name="T18" fmla="*/ 152 w 181"/>
                  <a:gd name="T19" fmla="*/ 40 h 89"/>
                  <a:gd name="T20" fmla="*/ 157 w 181"/>
                  <a:gd name="T21" fmla="*/ 35 h 89"/>
                  <a:gd name="T22" fmla="*/ 159 w 181"/>
                  <a:gd name="T23" fmla="*/ 30 h 89"/>
                  <a:gd name="T24" fmla="*/ 161 w 181"/>
                  <a:gd name="T25" fmla="*/ 25 h 89"/>
                  <a:gd name="T26" fmla="*/ 161 w 181"/>
                  <a:gd name="T27" fmla="*/ 22 h 89"/>
                  <a:gd name="T28" fmla="*/ 158 w 181"/>
                  <a:gd name="T29" fmla="*/ 17 h 89"/>
                  <a:gd name="T30" fmla="*/ 154 w 181"/>
                  <a:gd name="T31" fmla="*/ 12 h 89"/>
                  <a:gd name="T32" fmla="*/ 147 w 181"/>
                  <a:gd name="T33" fmla="*/ 8 h 89"/>
                  <a:gd name="T34" fmla="*/ 144 w 181"/>
                  <a:gd name="T35" fmla="*/ 7 h 89"/>
                  <a:gd name="T36" fmla="*/ 137 w 181"/>
                  <a:gd name="T37" fmla="*/ 4 h 89"/>
                  <a:gd name="T38" fmla="*/ 127 w 181"/>
                  <a:gd name="T39" fmla="*/ 2 h 89"/>
                  <a:gd name="T40" fmla="*/ 117 w 181"/>
                  <a:gd name="T41" fmla="*/ 1 h 89"/>
                  <a:gd name="T42" fmla="*/ 105 w 181"/>
                  <a:gd name="T43" fmla="*/ 0 h 89"/>
                  <a:gd name="T44" fmla="*/ 0 w 181"/>
                  <a:gd name="T45" fmla="*/ 0 h 89"/>
                  <a:gd name="T46" fmla="*/ 0 w 181"/>
                  <a:gd name="T47" fmla="*/ 15 h 89"/>
                  <a:gd name="T48" fmla="*/ 23 w 181"/>
                  <a:gd name="T49" fmla="*/ 15 h 89"/>
                  <a:gd name="T50" fmla="*/ 23 w 181"/>
                  <a:gd name="T51" fmla="*/ 74 h 89"/>
                  <a:gd name="T52" fmla="*/ 0 w 181"/>
                  <a:gd name="T53" fmla="*/ 74 h 89"/>
                  <a:gd name="T54" fmla="*/ 0 w 181"/>
                  <a:gd name="T55" fmla="*/ 89 h 89"/>
                  <a:gd name="T56" fmla="*/ 90 w 181"/>
                  <a:gd name="T57" fmla="*/ 89 h 89"/>
                  <a:gd name="T58" fmla="*/ 90 w 181"/>
                  <a:gd name="T59" fmla="*/ 74 h 89"/>
                  <a:gd name="T60" fmla="*/ 68 w 181"/>
                  <a:gd name="T61" fmla="*/ 74 h 89"/>
                  <a:gd name="T62" fmla="*/ 68 w 181"/>
                  <a:gd name="T63" fmla="*/ 50 h 89"/>
                  <a:gd name="T64" fmla="*/ 68 w 181"/>
                  <a:gd name="T65" fmla="*/ 15 h 89"/>
                  <a:gd name="T66" fmla="*/ 89 w 181"/>
                  <a:gd name="T67" fmla="*/ 15 h 89"/>
                  <a:gd name="T68" fmla="*/ 98 w 181"/>
                  <a:gd name="T69" fmla="*/ 16 h 89"/>
                  <a:gd name="T70" fmla="*/ 107 w 181"/>
                  <a:gd name="T71" fmla="*/ 18 h 89"/>
                  <a:gd name="T72" fmla="*/ 110 w 181"/>
                  <a:gd name="T73" fmla="*/ 20 h 89"/>
                  <a:gd name="T74" fmla="*/ 114 w 181"/>
                  <a:gd name="T75" fmla="*/ 25 h 89"/>
                  <a:gd name="T76" fmla="*/ 114 w 181"/>
                  <a:gd name="T77" fmla="*/ 26 h 89"/>
                  <a:gd name="T78" fmla="*/ 110 w 181"/>
                  <a:gd name="T79" fmla="*/ 31 h 89"/>
                  <a:gd name="T80" fmla="*/ 106 w 181"/>
                  <a:gd name="T81" fmla="*/ 34 h 89"/>
                  <a:gd name="T82" fmla="*/ 97 w 181"/>
                  <a:gd name="T83" fmla="*/ 36 h 89"/>
                  <a:gd name="T84" fmla="*/ 85 w 181"/>
                  <a:gd name="T85" fmla="*/ 36 h 89"/>
                  <a:gd name="T86" fmla="*/ 68 w 181"/>
                  <a:gd name="T87" fmla="*/ 36 h 89"/>
                  <a:gd name="T88" fmla="*/ 68 w 181"/>
                  <a:gd name="T89" fmla="*/ 15 h 8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81"/>
                  <a:gd name="T136" fmla="*/ 0 h 89"/>
                  <a:gd name="T137" fmla="*/ 181 w 181"/>
                  <a:gd name="T138" fmla="*/ 89 h 8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81" h="89">
                    <a:moveTo>
                      <a:pt x="68" y="50"/>
                    </a:moveTo>
                    <a:lnTo>
                      <a:pt x="89" y="50"/>
                    </a:lnTo>
                    <a:lnTo>
                      <a:pt x="128" y="89"/>
                    </a:lnTo>
                    <a:lnTo>
                      <a:pt x="181" y="89"/>
                    </a:lnTo>
                    <a:lnTo>
                      <a:pt x="181" y="74"/>
                    </a:lnTo>
                    <a:lnTo>
                      <a:pt x="159" y="74"/>
                    </a:lnTo>
                    <a:lnTo>
                      <a:pt x="129" y="47"/>
                    </a:lnTo>
                    <a:lnTo>
                      <a:pt x="136" y="46"/>
                    </a:lnTo>
                    <a:lnTo>
                      <a:pt x="145" y="42"/>
                    </a:lnTo>
                    <a:lnTo>
                      <a:pt x="152" y="40"/>
                    </a:lnTo>
                    <a:lnTo>
                      <a:pt x="157" y="35"/>
                    </a:lnTo>
                    <a:lnTo>
                      <a:pt x="159" y="30"/>
                    </a:lnTo>
                    <a:lnTo>
                      <a:pt x="161" y="25"/>
                    </a:lnTo>
                    <a:lnTo>
                      <a:pt x="161" y="22"/>
                    </a:lnTo>
                    <a:lnTo>
                      <a:pt x="158" y="17"/>
                    </a:lnTo>
                    <a:lnTo>
                      <a:pt x="154" y="12"/>
                    </a:lnTo>
                    <a:lnTo>
                      <a:pt x="147" y="8"/>
                    </a:lnTo>
                    <a:lnTo>
                      <a:pt x="144" y="7"/>
                    </a:lnTo>
                    <a:lnTo>
                      <a:pt x="137" y="4"/>
                    </a:lnTo>
                    <a:lnTo>
                      <a:pt x="127" y="2"/>
                    </a:lnTo>
                    <a:lnTo>
                      <a:pt x="117" y="1"/>
                    </a:lnTo>
                    <a:lnTo>
                      <a:pt x="10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23" y="15"/>
                    </a:lnTo>
                    <a:lnTo>
                      <a:pt x="23" y="74"/>
                    </a:lnTo>
                    <a:lnTo>
                      <a:pt x="0" y="74"/>
                    </a:lnTo>
                    <a:lnTo>
                      <a:pt x="0" y="89"/>
                    </a:lnTo>
                    <a:lnTo>
                      <a:pt x="90" y="89"/>
                    </a:lnTo>
                    <a:lnTo>
                      <a:pt x="90" y="74"/>
                    </a:lnTo>
                    <a:lnTo>
                      <a:pt x="68" y="74"/>
                    </a:lnTo>
                    <a:lnTo>
                      <a:pt x="68" y="50"/>
                    </a:lnTo>
                    <a:close/>
                    <a:moveTo>
                      <a:pt x="68" y="15"/>
                    </a:moveTo>
                    <a:lnTo>
                      <a:pt x="89" y="15"/>
                    </a:lnTo>
                    <a:lnTo>
                      <a:pt x="98" y="16"/>
                    </a:lnTo>
                    <a:lnTo>
                      <a:pt x="107" y="18"/>
                    </a:lnTo>
                    <a:lnTo>
                      <a:pt x="110" y="20"/>
                    </a:lnTo>
                    <a:lnTo>
                      <a:pt x="114" y="25"/>
                    </a:lnTo>
                    <a:lnTo>
                      <a:pt x="114" y="26"/>
                    </a:lnTo>
                    <a:lnTo>
                      <a:pt x="110" y="31"/>
                    </a:lnTo>
                    <a:lnTo>
                      <a:pt x="106" y="34"/>
                    </a:lnTo>
                    <a:lnTo>
                      <a:pt x="97" y="36"/>
                    </a:lnTo>
                    <a:lnTo>
                      <a:pt x="85" y="36"/>
                    </a:lnTo>
                    <a:lnTo>
                      <a:pt x="68" y="36"/>
                    </a:lnTo>
                    <a:lnTo>
                      <a:pt x="68" y="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704" name="Group 31"/>
            <p:cNvGrpSpPr>
              <a:grpSpLocks/>
            </p:cNvGrpSpPr>
            <p:nvPr/>
          </p:nvGrpSpPr>
          <p:grpSpPr bwMode="auto">
            <a:xfrm>
              <a:off x="3408" y="1841"/>
              <a:ext cx="525" cy="334"/>
              <a:chOff x="3408" y="1841"/>
              <a:chExt cx="525" cy="334"/>
            </a:xfrm>
          </p:grpSpPr>
          <p:grpSp>
            <p:nvGrpSpPr>
              <p:cNvPr id="29733" name="Group 32"/>
              <p:cNvGrpSpPr>
                <a:grpSpLocks/>
              </p:cNvGrpSpPr>
              <p:nvPr/>
            </p:nvGrpSpPr>
            <p:grpSpPr bwMode="auto">
              <a:xfrm>
                <a:off x="3408" y="1841"/>
                <a:ext cx="525" cy="334"/>
                <a:chOff x="3408" y="1841"/>
                <a:chExt cx="525" cy="334"/>
              </a:xfrm>
            </p:grpSpPr>
            <p:sp>
              <p:nvSpPr>
                <p:cNvPr id="29753" name="Freeform 33"/>
                <p:cNvSpPr>
                  <a:spLocks noEditPoints="1"/>
                </p:cNvSpPr>
                <p:nvPr/>
              </p:nvSpPr>
              <p:spPr bwMode="auto">
                <a:xfrm>
                  <a:off x="3408" y="1841"/>
                  <a:ext cx="525" cy="334"/>
                </a:xfrm>
                <a:custGeom>
                  <a:avLst/>
                  <a:gdLst>
                    <a:gd name="T0" fmla="*/ 525 w 525"/>
                    <a:gd name="T1" fmla="*/ 71 h 334"/>
                    <a:gd name="T2" fmla="*/ 515 w 525"/>
                    <a:gd name="T3" fmla="*/ 90 h 334"/>
                    <a:gd name="T4" fmla="*/ 487 w 525"/>
                    <a:gd name="T5" fmla="*/ 107 h 334"/>
                    <a:gd name="T6" fmla="*/ 443 w 525"/>
                    <a:gd name="T7" fmla="*/ 122 h 334"/>
                    <a:gd name="T8" fmla="*/ 383 w 525"/>
                    <a:gd name="T9" fmla="*/ 133 h 334"/>
                    <a:gd name="T10" fmla="*/ 317 w 525"/>
                    <a:gd name="T11" fmla="*/ 139 h 334"/>
                    <a:gd name="T12" fmla="*/ 244 w 525"/>
                    <a:gd name="T13" fmla="*/ 140 h 334"/>
                    <a:gd name="T14" fmla="*/ 175 w 525"/>
                    <a:gd name="T15" fmla="*/ 137 h 334"/>
                    <a:gd name="T16" fmla="*/ 111 w 525"/>
                    <a:gd name="T17" fmla="*/ 128 h 334"/>
                    <a:gd name="T18" fmla="*/ 111 w 525"/>
                    <a:gd name="T19" fmla="*/ 128 h 334"/>
                    <a:gd name="T20" fmla="*/ 175 w 525"/>
                    <a:gd name="T21" fmla="*/ 137 h 334"/>
                    <a:gd name="T22" fmla="*/ 244 w 525"/>
                    <a:gd name="T23" fmla="*/ 140 h 334"/>
                    <a:gd name="T24" fmla="*/ 317 w 525"/>
                    <a:gd name="T25" fmla="*/ 139 h 334"/>
                    <a:gd name="T26" fmla="*/ 383 w 525"/>
                    <a:gd name="T27" fmla="*/ 133 h 334"/>
                    <a:gd name="T28" fmla="*/ 443 w 525"/>
                    <a:gd name="T29" fmla="*/ 122 h 334"/>
                    <a:gd name="T30" fmla="*/ 487 w 525"/>
                    <a:gd name="T31" fmla="*/ 107 h 334"/>
                    <a:gd name="T32" fmla="*/ 515 w 525"/>
                    <a:gd name="T33" fmla="*/ 90 h 334"/>
                    <a:gd name="T34" fmla="*/ 525 w 525"/>
                    <a:gd name="T35" fmla="*/ 71 h 334"/>
                    <a:gd name="T36" fmla="*/ 2 w 525"/>
                    <a:gd name="T37" fmla="*/ 80 h 334"/>
                    <a:gd name="T38" fmla="*/ 21 w 525"/>
                    <a:gd name="T39" fmla="*/ 99 h 334"/>
                    <a:gd name="T40" fmla="*/ 59 w 525"/>
                    <a:gd name="T41" fmla="*/ 115 h 334"/>
                    <a:gd name="T42" fmla="*/ 59 w 525"/>
                    <a:gd name="T43" fmla="*/ 115 h 334"/>
                    <a:gd name="T44" fmla="*/ 21 w 525"/>
                    <a:gd name="T45" fmla="*/ 99 h 334"/>
                    <a:gd name="T46" fmla="*/ 2 w 525"/>
                    <a:gd name="T47" fmla="*/ 80 h 334"/>
                    <a:gd name="T48" fmla="*/ 0 w 525"/>
                    <a:gd name="T49" fmla="*/ 71 h 334"/>
                    <a:gd name="T50" fmla="*/ 2 w 525"/>
                    <a:gd name="T51" fmla="*/ 273 h 334"/>
                    <a:gd name="T52" fmla="*/ 21 w 525"/>
                    <a:gd name="T53" fmla="*/ 291 h 334"/>
                    <a:gd name="T54" fmla="*/ 59 w 525"/>
                    <a:gd name="T55" fmla="*/ 308 h 334"/>
                    <a:gd name="T56" fmla="*/ 111 w 525"/>
                    <a:gd name="T57" fmla="*/ 322 h 334"/>
                    <a:gd name="T58" fmla="*/ 174 w 525"/>
                    <a:gd name="T59" fmla="*/ 330 h 334"/>
                    <a:gd name="T60" fmla="*/ 244 w 525"/>
                    <a:gd name="T61" fmla="*/ 334 h 334"/>
                    <a:gd name="T62" fmla="*/ 317 w 525"/>
                    <a:gd name="T63" fmla="*/ 333 h 334"/>
                    <a:gd name="T64" fmla="*/ 383 w 525"/>
                    <a:gd name="T65" fmla="*/ 326 h 334"/>
                    <a:gd name="T66" fmla="*/ 443 w 525"/>
                    <a:gd name="T67" fmla="*/ 315 h 334"/>
                    <a:gd name="T68" fmla="*/ 487 w 525"/>
                    <a:gd name="T69" fmla="*/ 300 h 334"/>
                    <a:gd name="T70" fmla="*/ 515 w 525"/>
                    <a:gd name="T71" fmla="*/ 283 h 334"/>
                    <a:gd name="T72" fmla="*/ 525 w 525"/>
                    <a:gd name="T73" fmla="*/ 263 h 334"/>
                    <a:gd name="T74" fmla="*/ 523 w 525"/>
                    <a:gd name="T75" fmla="*/ 61 h 334"/>
                    <a:gd name="T76" fmla="*/ 504 w 525"/>
                    <a:gd name="T77" fmla="*/ 42 h 334"/>
                    <a:gd name="T78" fmla="*/ 466 w 525"/>
                    <a:gd name="T79" fmla="*/ 25 h 334"/>
                    <a:gd name="T80" fmla="*/ 414 w 525"/>
                    <a:gd name="T81" fmla="*/ 12 h 334"/>
                    <a:gd name="T82" fmla="*/ 351 w 525"/>
                    <a:gd name="T83" fmla="*/ 4 h 334"/>
                    <a:gd name="T84" fmla="*/ 281 w 525"/>
                    <a:gd name="T85" fmla="*/ 0 h 334"/>
                    <a:gd name="T86" fmla="*/ 208 w 525"/>
                    <a:gd name="T87" fmla="*/ 1 h 334"/>
                    <a:gd name="T88" fmla="*/ 143 w 525"/>
                    <a:gd name="T89" fmla="*/ 7 h 334"/>
                    <a:gd name="T90" fmla="*/ 83 w 525"/>
                    <a:gd name="T91" fmla="*/ 18 h 334"/>
                    <a:gd name="T92" fmla="*/ 38 w 525"/>
                    <a:gd name="T93" fmla="*/ 34 h 334"/>
                    <a:gd name="T94" fmla="*/ 10 w 525"/>
                    <a:gd name="T95" fmla="*/ 50 h 334"/>
                    <a:gd name="T96" fmla="*/ 0 w 525"/>
                    <a:gd name="T97" fmla="*/ 71 h 334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525"/>
                    <a:gd name="T148" fmla="*/ 0 h 334"/>
                    <a:gd name="T149" fmla="*/ 525 w 525"/>
                    <a:gd name="T150" fmla="*/ 334 h 334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525" h="334">
                      <a:moveTo>
                        <a:pt x="525" y="71"/>
                      </a:moveTo>
                      <a:lnTo>
                        <a:pt x="525" y="71"/>
                      </a:lnTo>
                      <a:lnTo>
                        <a:pt x="523" y="80"/>
                      </a:lnTo>
                      <a:lnTo>
                        <a:pt x="515" y="90"/>
                      </a:lnTo>
                      <a:lnTo>
                        <a:pt x="504" y="98"/>
                      </a:lnTo>
                      <a:lnTo>
                        <a:pt x="487" y="107"/>
                      </a:lnTo>
                      <a:lnTo>
                        <a:pt x="466" y="115"/>
                      </a:lnTo>
                      <a:lnTo>
                        <a:pt x="443" y="122"/>
                      </a:lnTo>
                      <a:lnTo>
                        <a:pt x="414" y="128"/>
                      </a:lnTo>
                      <a:lnTo>
                        <a:pt x="383" y="133"/>
                      </a:lnTo>
                      <a:lnTo>
                        <a:pt x="351" y="137"/>
                      </a:lnTo>
                      <a:lnTo>
                        <a:pt x="317" y="139"/>
                      </a:lnTo>
                      <a:lnTo>
                        <a:pt x="281" y="140"/>
                      </a:lnTo>
                      <a:lnTo>
                        <a:pt x="244" y="140"/>
                      </a:lnTo>
                      <a:lnTo>
                        <a:pt x="211" y="139"/>
                      </a:lnTo>
                      <a:lnTo>
                        <a:pt x="175" y="137"/>
                      </a:lnTo>
                      <a:lnTo>
                        <a:pt x="143" y="133"/>
                      </a:lnTo>
                      <a:lnTo>
                        <a:pt x="111" y="128"/>
                      </a:lnTo>
                      <a:lnTo>
                        <a:pt x="83" y="123"/>
                      </a:lnTo>
                      <a:lnTo>
                        <a:pt x="111" y="128"/>
                      </a:lnTo>
                      <a:lnTo>
                        <a:pt x="143" y="133"/>
                      </a:lnTo>
                      <a:lnTo>
                        <a:pt x="175" y="137"/>
                      </a:lnTo>
                      <a:lnTo>
                        <a:pt x="211" y="139"/>
                      </a:lnTo>
                      <a:lnTo>
                        <a:pt x="244" y="140"/>
                      </a:lnTo>
                      <a:lnTo>
                        <a:pt x="281" y="140"/>
                      </a:lnTo>
                      <a:lnTo>
                        <a:pt x="317" y="139"/>
                      </a:lnTo>
                      <a:lnTo>
                        <a:pt x="351" y="137"/>
                      </a:lnTo>
                      <a:lnTo>
                        <a:pt x="383" y="133"/>
                      </a:lnTo>
                      <a:lnTo>
                        <a:pt x="414" y="128"/>
                      </a:lnTo>
                      <a:lnTo>
                        <a:pt x="443" y="122"/>
                      </a:lnTo>
                      <a:lnTo>
                        <a:pt x="466" y="115"/>
                      </a:lnTo>
                      <a:lnTo>
                        <a:pt x="487" y="107"/>
                      </a:lnTo>
                      <a:lnTo>
                        <a:pt x="504" y="98"/>
                      </a:lnTo>
                      <a:lnTo>
                        <a:pt x="515" y="90"/>
                      </a:lnTo>
                      <a:lnTo>
                        <a:pt x="523" y="80"/>
                      </a:lnTo>
                      <a:lnTo>
                        <a:pt x="525" y="71"/>
                      </a:lnTo>
                      <a:close/>
                      <a:moveTo>
                        <a:pt x="0" y="71"/>
                      </a:moveTo>
                      <a:lnTo>
                        <a:pt x="2" y="80"/>
                      </a:lnTo>
                      <a:lnTo>
                        <a:pt x="10" y="90"/>
                      </a:lnTo>
                      <a:lnTo>
                        <a:pt x="21" y="99"/>
                      </a:lnTo>
                      <a:lnTo>
                        <a:pt x="38" y="107"/>
                      </a:lnTo>
                      <a:lnTo>
                        <a:pt x="59" y="115"/>
                      </a:lnTo>
                      <a:lnTo>
                        <a:pt x="83" y="123"/>
                      </a:lnTo>
                      <a:lnTo>
                        <a:pt x="59" y="115"/>
                      </a:lnTo>
                      <a:lnTo>
                        <a:pt x="38" y="107"/>
                      </a:lnTo>
                      <a:lnTo>
                        <a:pt x="21" y="99"/>
                      </a:lnTo>
                      <a:lnTo>
                        <a:pt x="10" y="90"/>
                      </a:lnTo>
                      <a:lnTo>
                        <a:pt x="2" y="80"/>
                      </a:lnTo>
                      <a:lnTo>
                        <a:pt x="0" y="71"/>
                      </a:lnTo>
                      <a:close/>
                      <a:moveTo>
                        <a:pt x="0" y="71"/>
                      </a:moveTo>
                      <a:lnTo>
                        <a:pt x="0" y="263"/>
                      </a:lnTo>
                      <a:lnTo>
                        <a:pt x="2" y="273"/>
                      </a:lnTo>
                      <a:lnTo>
                        <a:pt x="10" y="283"/>
                      </a:lnTo>
                      <a:lnTo>
                        <a:pt x="21" y="291"/>
                      </a:lnTo>
                      <a:lnTo>
                        <a:pt x="38" y="300"/>
                      </a:lnTo>
                      <a:lnTo>
                        <a:pt x="59" y="308"/>
                      </a:lnTo>
                      <a:lnTo>
                        <a:pt x="83" y="315"/>
                      </a:lnTo>
                      <a:lnTo>
                        <a:pt x="111" y="322"/>
                      </a:lnTo>
                      <a:lnTo>
                        <a:pt x="143" y="326"/>
                      </a:lnTo>
                      <a:lnTo>
                        <a:pt x="174" y="330"/>
                      </a:lnTo>
                      <a:lnTo>
                        <a:pt x="208" y="333"/>
                      </a:lnTo>
                      <a:lnTo>
                        <a:pt x="244" y="334"/>
                      </a:lnTo>
                      <a:lnTo>
                        <a:pt x="281" y="334"/>
                      </a:lnTo>
                      <a:lnTo>
                        <a:pt x="317" y="333"/>
                      </a:lnTo>
                      <a:lnTo>
                        <a:pt x="351" y="330"/>
                      </a:lnTo>
                      <a:lnTo>
                        <a:pt x="383" y="326"/>
                      </a:lnTo>
                      <a:lnTo>
                        <a:pt x="414" y="322"/>
                      </a:lnTo>
                      <a:lnTo>
                        <a:pt x="443" y="315"/>
                      </a:lnTo>
                      <a:lnTo>
                        <a:pt x="466" y="308"/>
                      </a:lnTo>
                      <a:lnTo>
                        <a:pt x="487" y="300"/>
                      </a:lnTo>
                      <a:lnTo>
                        <a:pt x="504" y="291"/>
                      </a:lnTo>
                      <a:lnTo>
                        <a:pt x="515" y="283"/>
                      </a:lnTo>
                      <a:lnTo>
                        <a:pt x="523" y="273"/>
                      </a:lnTo>
                      <a:lnTo>
                        <a:pt x="525" y="263"/>
                      </a:lnTo>
                      <a:lnTo>
                        <a:pt x="525" y="71"/>
                      </a:lnTo>
                      <a:lnTo>
                        <a:pt x="523" y="61"/>
                      </a:lnTo>
                      <a:lnTo>
                        <a:pt x="515" y="50"/>
                      </a:lnTo>
                      <a:lnTo>
                        <a:pt x="504" y="42"/>
                      </a:lnTo>
                      <a:lnTo>
                        <a:pt x="487" y="34"/>
                      </a:lnTo>
                      <a:lnTo>
                        <a:pt x="466" y="25"/>
                      </a:lnTo>
                      <a:lnTo>
                        <a:pt x="443" y="18"/>
                      </a:lnTo>
                      <a:lnTo>
                        <a:pt x="414" y="12"/>
                      </a:lnTo>
                      <a:lnTo>
                        <a:pt x="383" y="7"/>
                      </a:lnTo>
                      <a:lnTo>
                        <a:pt x="351" y="4"/>
                      </a:lnTo>
                      <a:lnTo>
                        <a:pt x="317" y="1"/>
                      </a:lnTo>
                      <a:lnTo>
                        <a:pt x="281" y="0"/>
                      </a:lnTo>
                      <a:lnTo>
                        <a:pt x="244" y="0"/>
                      </a:lnTo>
                      <a:lnTo>
                        <a:pt x="208" y="1"/>
                      </a:lnTo>
                      <a:lnTo>
                        <a:pt x="174" y="4"/>
                      </a:lnTo>
                      <a:lnTo>
                        <a:pt x="143" y="7"/>
                      </a:lnTo>
                      <a:lnTo>
                        <a:pt x="111" y="12"/>
                      </a:lnTo>
                      <a:lnTo>
                        <a:pt x="83" y="18"/>
                      </a:lnTo>
                      <a:lnTo>
                        <a:pt x="59" y="25"/>
                      </a:lnTo>
                      <a:lnTo>
                        <a:pt x="38" y="34"/>
                      </a:lnTo>
                      <a:lnTo>
                        <a:pt x="21" y="42"/>
                      </a:lnTo>
                      <a:lnTo>
                        <a:pt x="10" y="50"/>
                      </a:lnTo>
                      <a:lnTo>
                        <a:pt x="2" y="61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rgbClr val="8E85B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54" name="Freeform 34"/>
                <p:cNvSpPr>
                  <a:spLocks/>
                </p:cNvSpPr>
                <p:nvPr/>
              </p:nvSpPr>
              <p:spPr bwMode="auto">
                <a:xfrm>
                  <a:off x="3491" y="1912"/>
                  <a:ext cx="442" cy="69"/>
                </a:xfrm>
                <a:custGeom>
                  <a:avLst/>
                  <a:gdLst>
                    <a:gd name="T0" fmla="*/ 442 w 442"/>
                    <a:gd name="T1" fmla="*/ 0 h 69"/>
                    <a:gd name="T2" fmla="*/ 442 w 442"/>
                    <a:gd name="T3" fmla="*/ 0 h 69"/>
                    <a:gd name="T4" fmla="*/ 440 w 442"/>
                    <a:gd name="T5" fmla="*/ 9 h 69"/>
                    <a:gd name="T6" fmla="*/ 432 w 442"/>
                    <a:gd name="T7" fmla="*/ 19 h 69"/>
                    <a:gd name="T8" fmla="*/ 421 w 442"/>
                    <a:gd name="T9" fmla="*/ 27 h 69"/>
                    <a:gd name="T10" fmla="*/ 404 w 442"/>
                    <a:gd name="T11" fmla="*/ 36 h 69"/>
                    <a:gd name="T12" fmla="*/ 383 w 442"/>
                    <a:gd name="T13" fmla="*/ 44 h 69"/>
                    <a:gd name="T14" fmla="*/ 360 w 442"/>
                    <a:gd name="T15" fmla="*/ 51 h 69"/>
                    <a:gd name="T16" fmla="*/ 331 w 442"/>
                    <a:gd name="T17" fmla="*/ 57 h 69"/>
                    <a:gd name="T18" fmla="*/ 300 w 442"/>
                    <a:gd name="T19" fmla="*/ 62 h 69"/>
                    <a:gd name="T20" fmla="*/ 268 w 442"/>
                    <a:gd name="T21" fmla="*/ 66 h 69"/>
                    <a:gd name="T22" fmla="*/ 234 w 442"/>
                    <a:gd name="T23" fmla="*/ 68 h 69"/>
                    <a:gd name="T24" fmla="*/ 198 w 442"/>
                    <a:gd name="T25" fmla="*/ 69 h 69"/>
                    <a:gd name="T26" fmla="*/ 161 w 442"/>
                    <a:gd name="T27" fmla="*/ 69 h 69"/>
                    <a:gd name="T28" fmla="*/ 128 w 442"/>
                    <a:gd name="T29" fmla="*/ 68 h 69"/>
                    <a:gd name="T30" fmla="*/ 92 w 442"/>
                    <a:gd name="T31" fmla="*/ 66 h 69"/>
                    <a:gd name="T32" fmla="*/ 60 w 442"/>
                    <a:gd name="T33" fmla="*/ 62 h 69"/>
                    <a:gd name="T34" fmla="*/ 28 w 442"/>
                    <a:gd name="T35" fmla="*/ 57 h 69"/>
                    <a:gd name="T36" fmla="*/ 0 w 442"/>
                    <a:gd name="T37" fmla="*/ 52 h 69"/>
                    <a:gd name="T38" fmla="*/ 28 w 442"/>
                    <a:gd name="T39" fmla="*/ 57 h 69"/>
                    <a:gd name="T40" fmla="*/ 60 w 442"/>
                    <a:gd name="T41" fmla="*/ 62 h 69"/>
                    <a:gd name="T42" fmla="*/ 92 w 442"/>
                    <a:gd name="T43" fmla="*/ 66 h 69"/>
                    <a:gd name="T44" fmla="*/ 128 w 442"/>
                    <a:gd name="T45" fmla="*/ 68 h 69"/>
                    <a:gd name="T46" fmla="*/ 161 w 442"/>
                    <a:gd name="T47" fmla="*/ 69 h 69"/>
                    <a:gd name="T48" fmla="*/ 198 w 442"/>
                    <a:gd name="T49" fmla="*/ 69 h 69"/>
                    <a:gd name="T50" fmla="*/ 234 w 442"/>
                    <a:gd name="T51" fmla="*/ 68 h 69"/>
                    <a:gd name="T52" fmla="*/ 268 w 442"/>
                    <a:gd name="T53" fmla="*/ 66 h 69"/>
                    <a:gd name="T54" fmla="*/ 300 w 442"/>
                    <a:gd name="T55" fmla="*/ 62 h 69"/>
                    <a:gd name="T56" fmla="*/ 331 w 442"/>
                    <a:gd name="T57" fmla="*/ 57 h 69"/>
                    <a:gd name="T58" fmla="*/ 360 w 442"/>
                    <a:gd name="T59" fmla="*/ 51 h 69"/>
                    <a:gd name="T60" fmla="*/ 383 w 442"/>
                    <a:gd name="T61" fmla="*/ 44 h 69"/>
                    <a:gd name="T62" fmla="*/ 404 w 442"/>
                    <a:gd name="T63" fmla="*/ 36 h 69"/>
                    <a:gd name="T64" fmla="*/ 421 w 442"/>
                    <a:gd name="T65" fmla="*/ 27 h 69"/>
                    <a:gd name="T66" fmla="*/ 432 w 442"/>
                    <a:gd name="T67" fmla="*/ 19 h 69"/>
                    <a:gd name="T68" fmla="*/ 440 w 442"/>
                    <a:gd name="T69" fmla="*/ 9 h 69"/>
                    <a:gd name="T70" fmla="*/ 442 w 442"/>
                    <a:gd name="T71" fmla="*/ 0 h 69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442"/>
                    <a:gd name="T109" fmla="*/ 0 h 69"/>
                    <a:gd name="T110" fmla="*/ 442 w 442"/>
                    <a:gd name="T111" fmla="*/ 69 h 69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442" h="69">
                      <a:moveTo>
                        <a:pt x="442" y="0"/>
                      </a:moveTo>
                      <a:lnTo>
                        <a:pt x="442" y="0"/>
                      </a:lnTo>
                      <a:lnTo>
                        <a:pt x="440" y="9"/>
                      </a:lnTo>
                      <a:lnTo>
                        <a:pt x="432" y="19"/>
                      </a:lnTo>
                      <a:lnTo>
                        <a:pt x="421" y="27"/>
                      </a:lnTo>
                      <a:lnTo>
                        <a:pt x="404" y="36"/>
                      </a:lnTo>
                      <a:lnTo>
                        <a:pt x="383" y="44"/>
                      </a:lnTo>
                      <a:lnTo>
                        <a:pt x="360" y="51"/>
                      </a:lnTo>
                      <a:lnTo>
                        <a:pt x="331" y="57"/>
                      </a:lnTo>
                      <a:lnTo>
                        <a:pt x="300" y="62"/>
                      </a:lnTo>
                      <a:lnTo>
                        <a:pt x="268" y="66"/>
                      </a:lnTo>
                      <a:lnTo>
                        <a:pt x="234" y="68"/>
                      </a:lnTo>
                      <a:lnTo>
                        <a:pt x="198" y="69"/>
                      </a:lnTo>
                      <a:lnTo>
                        <a:pt x="161" y="69"/>
                      </a:lnTo>
                      <a:lnTo>
                        <a:pt x="128" y="68"/>
                      </a:lnTo>
                      <a:lnTo>
                        <a:pt x="92" y="66"/>
                      </a:lnTo>
                      <a:lnTo>
                        <a:pt x="60" y="62"/>
                      </a:lnTo>
                      <a:lnTo>
                        <a:pt x="28" y="57"/>
                      </a:lnTo>
                      <a:lnTo>
                        <a:pt x="0" y="52"/>
                      </a:lnTo>
                      <a:lnTo>
                        <a:pt x="28" y="57"/>
                      </a:lnTo>
                      <a:lnTo>
                        <a:pt x="60" y="62"/>
                      </a:lnTo>
                      <a:lnTo>
                        <a:pt x="92" y="66"/>
                      </a:lnTo>
                      <a:lnTo>
                        <a:pt x="128" y="68"/>
                      </a:lnTo>
                      <a:lnTo>
                        <a:pt x="161" y="69"/>
                      </a:lnTo>
                      <a:lnTo>
                        <a:pt x="198" y="69"/>
                      </a:lnTo>
                      <a:lnTo>
                        <a:pt x="234" y="68"/>
                      </a:lnTo>
                      <a:lnTo>
                        <a:pt x="268" y="66"/>
                      </a:lnTo>
                      <a:lnTo>
                        <a:pt x="300" y="62"/>
                      </a:lnTo>
                      <a:lnTo>
                        <a:pt x="331" y="57"/>
                      </a:lnTo>
                      <a:lnTo>
                        <a:pt x="360" y="51"/>
                      </a:lnTo>
                      <a:lnTo>
                        <a:pt x="383" y="44"/>
                      </a:lnTo>
                      <a:lnTo>
                        <a:pt x="404" y="36"/>
                      </a:lnTo>
                      <a:lnTo>
                        <a:pt x="421" y="27"/>
                      </a:lnTo>
                      <a:lnTo>
                        <a:pt x="432" y="19"/>
                      </a:lnTo>
                      <a:lnTo>
                        <a:pt x="440" y="9"/>
                      </a:lnTo>
                      <a:lnTo>
                        <a:pt x="442" y="0"/>
                      </a:lnTo>
                      <a:close/>
                    </a:path>
                  </a:pathLst>
                </a:custGeom>
                <a:noFill/>
                <a:ln w="9525" cap="rnd">
                  <a:solidFill>
                    <a:srgbClr val="23CB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55" name="Freeform 35"/>
                <p:cNvSpPr>
                  <a:spLocks/>
                </p:cNvSpPr>
                <p:nvPr/>
              </p:nvSpPr>
              <p:spPr bwMode="auto">
                <a:xfrm>
                  <a:off x="3408" y="1912"/>
                  <a:ext cx="83" cy="52"/>
                </a:xfrm>
                <a:custGeom>
                  <a:avLst/>
                  <a:gdLst>
                    <a:gd name="T0" fmla="*/ 0 w 83"/>
                    <a:gd name="T1" fmla="*/ 0 h 52"/>
                    <a:gd name="T2" fmla="*/ 2 w 83"/>
                    <a:gd name="T3" fmla="*/ 9 h 52"/>
                    <a:gd name="T4" fmla="*/ 10 w 83"/>
                    <a:gd name="T5" fmla="*/ 19 h 52"/>
                    <a:gd name="T6" fmla="*/ 21 w 83"/>
                    <a:gd name="T7" fmla="*/ 28 h 52"/>
                    <a:gd name="T8" fmla="*/ 38 w 83"/>
                    <a:gd name="T9" fmla="*/ 36 h 52"/>
                    <a:gd name="T10" fmla="*/ 59 w 83"/>
                    <a:gd name="T11" fmla="*/ 44 h 52"/>
                    <a:gd name="T12" fmla="*/ 83 w 83"/>
                    <a:gd name="T13" fmla="*/ 52 h 52"/>
                    <a:gd name="T14" fmla="*/ 59 w 83"/>
                    <a:gd name="T15" fmla="*/ 44 h 52"/>
                    <a:gd name="T16" fmla="*/ 38 w 83"/>
                    <a:gd name="T17" fmla="*/ 36 h 52"/>
                    <a:gd name="T18" fmla="*/ 21 w 83"/>
                    <a:gd name="T19" fmla="*/ 28 h 52"/>
                    <a:gd name="T20" fmla="*/ 10 w 83"/>
                    <a:gd name="T21" fmla="*/ 19 h 52"/>
                    <a:gd name="T22" fmla="*/ 2 w 83"/>
                    <a:gd name="T23" fmla="*/ 9 h 52"/>
                    <a:gd name="T24" fmla="*/ 0 w 83"/>
                    <a:gd name="T25" fmla="*/ 0 h 5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83"/>
                    <a:gd name="T40" fmla="*/ 0 h 52"/>
                    <a:gd name="T41" fmla="*/ 83 w 83"/>
                    <a:gd name="T42" fmla="*/ 52 h 52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83" h="52">
                      <a:moveTo>
                        <a:pt x="0" y="0"/>
                      </a:moveTo>
                      <a:lnTo>
                        <a:pt x="2" y="9"/>
                      </a:lnTo>
                      <a:lnTo>
                        <a:pt x="10" y="19"/>
                      </a:lnTo>
                      <a:lnTo>
                        <a:pt x="21" y="28"/>
                      </a:lnTo>
                      <a:lnTo>
                        <a:pt x="38" y="36"/>
                      </a:lnTo>
                      <a:lnTo>
                        <a:pt x="59" y="44"/>
                      </a:lnTo>
                      <a:lnTo>
                        <a:pt x="83" y="52"/>
                      </a:lnTo>
                      <a:lnTo>
                        <a:pt x="59" y="44"/>
                      </a:lnTo>
                      <a:lnTo>
                        <a:pt x="38" y="36"/>
                      </a:lnTo>
                      <a:lnTo>
                        <a:pt x="21" y="28"/>
                      </a:lnTo>
                      <a:lnTo>
                        <a:pt x="10" y="19"/>
                      </a:lnTo>
                      <a:lnTo>
                        <a:pt x="2" y="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>
                  <a:solidFill>
                    <a:srgbClr val="23CB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56" name="Freeform 36"/>
                <p:cNvSpPr>
                  <a:spLocks/>
                </p:cNvSpPr>
                <p:nvPr/>
              </p:nvSpPr>
              <p:spPr bwMode="auto">
                <a:xfrm>
                  <a:off x="3408" y="1841"/>
                  <a:ext cx="525" cy="334"/>
                </a:xfrm>
                <a:custGeom>
                  <a:avLst/>
                  <a:gdLst>
                    <a:gd name="T0" fmla="*/ 0 w 525"/>
                    <a:gd name="T1" fmla="*/ 71 h 334"/>
                    <a:gd name="T2" fmla="*/ 0 w 525"/>
                    <a:gd name="T3" fmla="*/ 263 h 334"/>
                    <a:gd name="T4" fmla="*/ 2 w 525"/>
                    <a:gd name="T5" fmla="*/ 273 h 334"/>
                    <a:gd name="T6" fmla="*/ 10 w 525"/>
                    <a:gd name="T7" fmla="*/ 283 h 334"/>
                    <a:gd name="T8" fmla="*/ 21 w 525"/>
                    <a:gd name="T9" fmla="*/ 291 h 334"/>
                    <a:gd name="T10" fmla="*/ 38 w 525"/>
                    <a:gd name="T11" fmla="*/ 300 h 334"/>
                    <a:gd name="T12" fmla="*/ 59 w 525"/>
                    <a:gd name="T13" fmla="*/ 308 h 334"/>
                    <a:gd name="T14" fmla="*/ 83 w 525"/>
                    <a:gd name="T15" fmla="*/ 315 h 334"/>
                    <a:gd name="T16" fmla="*/ 111 w 525"/>
                    <a:gd name="T17" fmla="*/ 322 h 334"/>
                    <a:gd name="T18" fmla="*/ 143 w 525"/>
                    <a:gd name="T19" fmla="*/ 326 h 334"/>
                    <a:gd name="T20" fmla="*/ 174 w 525"/>
                    <a:gd name="T21" fmla="*/ 330 h 334"/>
                    <a:gd name="T22" fmla="*/ 208 w 525"/>
                    <a:gd name="T23" fmla="*/ 333 h 334"/>
                    <a:gd name="T24" fmla="*/ 244 w 525"/>
                    <a:gd name="T25" fmla="*/ 334 h 334"/>
                    <a:gd name="T26" fmla="*/ 281 w 525"/>
                    <a:gd name="T27" fmla="*/ 334 h 334"/>
                    <a:gd name="T28" fmla="*/ 317 w 525"/>
                    <a:gd name="T29" fmla="*/ 333 h 334"/>
                    <a:gd name="T30" fmla="*/ 351 w 525"/>
                    <a:gd name="T31" fmla="*/ 330 h 334"/>
                    <a:gd name="T32" fmla="*/ 383 w 525"/>
                    <a:gd name="T33" fmla="*/ 326 h 334"/>
                    <a:gd name="T34" fmla="*/ 414 w 525"/>
                    <a:gd name="T35" fmla="*/ 322 h 334"/>
                    <a:gd name="T36" fmla="*/ 443 w 525"/>
                    <a:gd name="T37" fmla="*/ 315 h 334"/>
                    <a:gd name="T38" fmla="*/ 466 w 525"/>
                    <a:gd name="T39" fmla="*/ 308 h 334"/>
                    <a:gd name="T40" fmla="*/ 487 w 525"/>
                    <a:gd name="T41" fmla="*/ 300 h 334"/>
                    <a:gd name="T42" fmla="*/ 504 w 525"/>
                    <a:gd name="T43" fmla="*/ 291 h 334"/>
                    <a:gd name="T44" fmla="*/ 515 w 525"/>
                    <a:gd name="T45" fmla="*/ 283 h 334"/>
                    <a:gd name="T46" fmla="*/ 523 w 525"/>
                    <a:gd name="T47" fmla="*/ 273 h 334"/>
                    <a:gd name="T48" fmla="*/ 525 w 525"/>
                    <a:gd name="T49" fmla="*/ 263 h 334"/>
                    <a:gd name="T50" fmla="*/ 525 w 525"/>
                    <a:gd name="T51" fmla="*/ 71 h 334"/>
                    <a:gd name="T52" fmla="*/ 523 w 525"/>
                    <a:gd name="T53" fmla="*/ 61 h 334"/>
                    <a:gd name="T54" fmla="*/ 515 w 525"/>
                    <a:gd name="T55" fmla="*/ 50 h 334"/>
                    <a:gd name="T56" fmla="*/ 504 w 525"/>
                    <a:gd name="T57" fmla="*/ 42 h 334"/>
                    <a:gd name="T58" fmla="*/ 487 w 525"/>
                    <a:gd name="T59" fmla="*/ 34 h 334"/>
                    <a:gd name="T60" fmla="*/ 466 w 525"/>
                    <a:gd name="T61" fmla="*/ 25 h 334"/>
                    <a:gd name="T62" fmla="*/ 443 w 525"/>
                    <a:gd name="T63" fmla="*/ 18 h 334"/>
                    <a:gd name="T64" fmla="*/ 414 w 525"/>
                    <a:gd name="T65" fmla="*/ 12 h 334"/>
                    <a:gd name="T66" fmla="*/ 383 w 525"/>
                    <a:gd name="T67" fmla="*/ 7 h 334"/>
                    <a:gd name="T68" fmla="*/ 351 w 525"/>
                    <a:gd name="T69" fmla="*/ 4 h 334"/>
                    <a:gd name="T70" fmla="*/ 317 w 525"/>
                    <a:gd name="T71" fmla="*/ 1 h 334"/>
                    <a:gd name="T72" fmla="*/ 281 w 525"/>
                    <a:gd name="T73" fmla="*/ 0 h 334"/>
                    <a:gd name="T74" fmla="*/ 244 w 525"/>
                    <a:gd name="T75" fmla="*/ 0 h 334"/>
                    <a:gd name="T76" fmla="*/ 208 w 525"/>
                    <a:gd name="T77" fmla="*/ 1 h 334"/>
                    <a:gd name="T78" fmla="*/ 174 w 525"/>
                    <a:gd name="T79" fmla="*/ 4 h 334"/>
                    <a:gd name="T80" fmla="*/ 143 w 525"/>
                    <a:gd name="T81" fmla="*/ 7 h 334"/>
                    <a:gd name="T82" fmla="*/ 111 w 525"/>
                    <a:gd name="T83" fmla="*/ 12 h 334"/>
                    <a:gd name="T84" fmla="*/ 83 w 525"/>
                    <a:gd name="T85" fmla="*/ 18 h 334"/>
                    <a:gd name="T86" fmla="*/ 59 w 525"/>
                    <a:gd name="T87" fmla="*/ 25 h 334"/>
                    <a:gd name="T88" fmla="*/ 38 w 525"/>
                    <a:gd name="T89" fmla="*/ 34 h 334"/>
                    <a:gd name="T90" fmla="*/ 21 w 525"/>
                    <a:gd name="T91" fmla="*/ 42 h 334"/>
                    <a:gd name="T92" fmla="*/ 10 w 525"/>
                    <a:gd name="T93" fmla="*/ 50 h 334"/>
                    <a:gd name="T94" fmla="*/ 2 w 525"/>
                    <a:gd name="T95" fmla="*/ 61 h 334"/>
                    <a:gd name="T96" fmla="*/ 0 w 525"/>
                    <a:gd name="T97" fmla="*/ 71 h 334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525"/>
                    <a:gd name="T148" fmla="*/ 0 h 334"/>
                    <a:gd name="T149" fmla="*/ 525 w 525"/>
                    <a:gd name="T150" fmla="*/ 334 h 334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525" h="334">
                      <a:moveTo>
                        <a:pt x="0" y="71"/>
                      </a:moveTo>
                      <a:lnTo>
                        <a:pt x="0" y="263"/>
                      </a:lnTo>
                      <a:lnTo>
                        <a:pt x="2" y="273"/>
                      </a:lnTo>
                      <a:lnTo>
                        <a:pt x="10" y="283"/>
                      </a:lnTo>
                      <a:lnTo>
                        <a:pt x="21" y="291"/>
                      </a:lnTo>
                      <a:lnTo>
                        <a:pt x="38" y="300"/>
                      </a:lnTo>
                      <a:lnTo>
                        <a:pt x="59" y="308"/>
                      </a:lnTo>
                      <a:lnTo>
                        <a:pt x="83" y="315"/>
                      </a:lnTo>
                      <a:lnTo>
                        <a:pt x="111" y="322"/>
                      </a:lnTo>
                      <a:lnTo>
                        <a:pt x="143" y="326"/>
                      </a:lnTo>
                      <a:lnTo>
                        <a:pt x="174" y="330"/>
                      </a:lnTo>
                      <a:lnTo>
                        <a:pt x="208" y="333"/>
                      </a:lnTo>
                      <a:lnTo>
                        <a:pt x="244" y="334"/>
                      </a:lnTo>
                      <a:lnTo>
                        <a:pt x="281" y="334"/>
                      </a:lnTo>
                      <a:lnTo>
                        <a:pt x="317" y="333"/>
                      </a:lnTo>
                      <a:lnTo>
                        <a:pt x="351" y="330"/>
                      </a:lnTo>
                      <a:lnTo>
                        <a:pt x="383" y="326"/>
                      </a:lnTo>
                      <a:lnTo>
                        <a:pt x="414" y="322"/>
                      </a:lnTo>
                      <a:lnTo>
                        <a:pt x="443" y="315"/>
                      </a:lnTo>
                      <a:lnTo>
                        <a:pt x="466" y="308"/>
                      </a:lnTo>
                      <a:lnTo>
                        <a:pt x="487" y="300"/>
                      </a:lnTo>
                      <a:lnTo>
                        <a:pt x="504" y="291"/>
                      </a:lnTo>
                      <a:lnTo>
                        <a:pt x="515" y="283"/>
                      </a:lnTo>
                      <a:lnTo>
                        <a:pt x="523" y="273"/>
                      </a:lnTo>
                      <a:lnTo>
                        <a:pt x="525" y="263"/>
                      </a:lnTo>
                      <a:lnTo>
                        <a:pt x="525" y="71"/>
                      </a:lnTo>
                      <a:lnTo>
                        <a:pt x="523" y="61"/>
                      </a:lnTo>
                      <a:lnTo>
                        <a:pt x="515" y="50"/>
                      </a:lnTo>
                      <a:lnTo>
                        <a:pt x="504" y="42"/>
                      </a:lnTo>
                      <a:lnTo>
                        <a:pt x="487" y="34"/>
                      </a:lnTo>
                      <a:lnTo>
                        <a:pt x="466" y="25"/>
                      </a:lnTo>
                      <a:lnTo>
                        <a:pt x="443" y="18"/>
                      </a:lnTo>
                      <a:lnTo>
                        <a:pt x="414" y="12"/>
                      </a:lnTo>
                      <a:lnTo>
                        <a:pt x="383" y="7"/>
                      </a:lnTo>
                      <a:lnTo>
                        <a:pt x="351" y="4"/>
                      </a:lnTo>
                      <a:lnTo>
                        <a:pt x="317" y="1"/>
                      </a:lnTo>
                      <a:lnTo>
                        <a:pt x="281" y="0"/>
                      </a:lnTo>
                      <a:lnTo>
                        <a:pt x="244" y="0"/>
                      </a:lnTo>
                      <a:lnTo>
                        <a:pt x="208" y="1"/>
                      </a:lnTo>
                      <a:lnTo>
                        <a:pt x="174" y="4"/>
                      </a:lnTo>
                      <a:lnTo>
                        <a:pt x="143" y="7"/>
                      </a:lnTo>
                      <a:lnTo>
                        <a:pt x="111" y="12"/>
                      </a:lnTo>
                      <a:lnTo>
                        <a:pt x="83" y="18"/>
                      </a:lnTo>
                      <a:lnTo>
                        <a:pt x="59" y="25"/>
                      </a:lnTo>
                      <a:lnTo>
                        <a:pt x="38" y="34"/>
                      </a:lnTo>
                      <a:lnTo>
                        <a:pt x="21" y="42"/>
                      </a:lnTo>
                      <a:lnTo>
                        <a:pt x="10" y="50"/>
                      </a:lnTo>
                      <a:lnTo>
                        <a:pt x="2" y="6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9525" cap="rnd">
                  <a:solidFill>
                    <a:srgbClr val="23CB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34" name="Group 37"/>
              <p:cNvGrpSpPr>
                <a:grpSpLocks/>
              </p:cNvGrpSpPr>
              <p:nvPr/>
            </p:nvGrpSpPr>
            <p:grpSpPr bwMode="auto">
              <a:xfrm>
                <a:off x="3409" y="1841"/>
                <a:ext cx="524" cy="141"/>
                <a:chOff x="3409" y="1841"/>
                <a:chExt cx="524" cy="141"/>
              </a:xfrm>
            </p:grpSpPr>
            <p:sp>
              <p:nvSpPr>
                <p:cNvPr id="29751" name="Freeform 38"/>
                <p:cNvSpPr>
                  <a:spLocks/>
                </p:cNvSpPr>
                <p:nvPr/>
              </p:nvSpPr>
              <p:spPr bwMode="auto">
                <a:xfrm>
                  <a:off x="3409" y="1841"/>
                  <a:ext cx="524" cy="141"/>
                </a:xfrm>
                <a:custGeom>
                  <a:avLst/>
                  <a:gdLst>
                    <a:gd name="T0" fmla="*/ 524 w 524"/>
                    <a:gd name="T1" fmla="*/ 71 h 141"/>
                    <a:gd name="T2" fmla="*/ 522 w 524"/>
                    <a:gd name="T3" fmla="*/ 80 h 141"/>
                    <a:gd name="T4" fmla="*/ 514 w 524"/>
                    <a:gd name="T5" fmla="*/ 90 h 141"/>
                    <a:gd name="T6" fmla="*/ 502 w 524"/>
                    <a:gd name="T7" fmla="*/ 99 h 141"/>
                    <a:gd name="T8" fmla="*/ 485 w 524"/>
                    <a:gd name="T9" fmla="*/ 107 h 141"/>
                    <a:gd name="T10" fmla="*/ 463 w 524"/>
                    <a:gd name="T11" fmla="*/ 116 h 141"/>
                    <a:gd name="T12" fmla="*/ 437 w 524"/>
                    <a:gd name="T13" fmla="*/ 123 h 141"/>
                    <a:gd name="T14" fmla="*/ 409 w 524"/>
                    <a:gd name="T15" fmla="*/ 129 h 141"/>
                    <a:gd name="T16" fmla="*/ 377 w 524"/>
                    <a:gd name="T17" fmla="*/ 134 h 141"/>
                    <a:gd name="T18" fmla="*/ 342 w 524"/>
                    <a:gd name="T19" fmla="*/ 138 h 141"/>
                    <a:gd name="T20" fmla="*/ 308 w 524"/>
                    <a:gd name="T21" fmla="*/ 139 h 141"/>
                    <a:gd name="T22" fmla="*/ 271 w 524"/>
                    <a:gd name="T23" fmla="*/ 141 h 141"/>
                    <a:gd name="T24" fmla="*/ 234 w 524"/>
                    <a:gd name="T25" fmla="*/ 140 h 141"/>
                    <a:gd name="T26" fmla="*/ 197 w 524"/>
                    <a:gd name="T27" fmla="*/ 138 h 141"/>
                    <a:gd name="T28" fmla="*/ 163 w 524"/>
                    <a:gd name="T29" fmla="*/ 136 h 141"/>
                    <a:gd name="T30" fmla="*/ 131 w 524"/>
                    <a:gd name="T31" fmla="*/ 132 h 141"/>
                    <a:gd name="T32" fmla="*/ 99 w 524"/>
                    <a:gd name="T33" fmla="*/ 127 h 141"/>
                    <a:gd name="T34" fmla="*/ 73 w 524"/>
                    <a:gd name="T35" fmla="*/ 119 h 141"/>
                    <a:gd name="T36" fmla="*/ 48 w 524"/>
                    <a:gd name="T37" fmla="*/ 112 h 141"/>
                    <a:gd name="T38" fmla="*/ 29 w 524"/>
                    <a:gd name="T39" fmla="*/ 104 h 141"/>
                    <a:gd name="T40" fmla="*/ 16 w 524"/>
                    <a:gd name="T41" fmla="*/ 94 h 141"/>
                    <a:gd name="T42" fmla="*/ 5 w 524"/>
                    <a:gd name="T43" fmla="*/ 84 h 141"/>
                    <a:gd name="T44" fmla="*/ 0 w 524"/>
                    <a:gd name="T45" fmla="*/ 75 h 141"/>
                    <a:gd name="T46" fmla="*/ 0 w 524"/>
                    <a:gd name="T47" fmla="*/ 65 h 141"/>
                    <a:gd name="T48" fmla="*/ 5 w 524"/>
                    <a:gd name="T49" fmla="*/ 55 h 141"/>
                    <a:gd name="T50" fmla="*/ 16 w 524"/>
                    <a:gd name="T51" fmla="*/ 46 h 141"/>
                    <a:gd name="T52" fmla="*/ 29 w 524"/>
                    <a:gd name="T53" fmla="*/ 37 h 141"/>
                    <a:gd name="T54" fmla="*/ 48 w 524"/>
                    <a:gd name="T55" fmla="*/ 28 h 141"/>
                    <a:gd name="T56" fmla="*/ 73 w 524"/>
                    <a:gd name="T57" fmla="*/ 20 h 141"/>
                    <a:gd name="T58" fmla="*/ 99 w 524"/>
                    <a:gd name="T59" fmla="*/ 14 h 141"/>
                    <a:gd name="T60" fmla="*/ 131 w 524"/>
                    <a:gd name="T61" fmla="*/ 9 h 141"/>
                    <a:gd name="T62" fmla="*/ 163 w 524"/>
                    <a:gd name="T63" fmla="*/ 5 h 141"/>
                    <a:gd name="T64" fmla="*/ 197 w 524"/>
                    <a:gd name="T65" fmla="*/ 2 h 141"/>
                    <a:gd name="T66" fmla="*/ 234 w 524"/>
                    <a:gd name="T67" fmla="*/ 0 h 141"/>
                    <a:gd name="T68" fmla="*/ 271 w 524"/>
                    <a:gd name="T69" fmla="*/ 0 h 141"/>
                    <a:gd name="T70" fmla="*/ 308 w 524"/>
                    <a:gd name="T71" fmla="*/ 1 h 141"/>
                    <a:gd name="T72" fmla="*/ 342 w 524"/>
                    <a:gd name="T73" fmla="*/ 3 h 141"/>
                    <a:gd name="T74" fmla="*/ 377 w 524"/>
                    <a:gd name="T75" fmla="*/ 6 h 141"/>
                    <a:gd name="T76" fmla="*/ 409 w 524"/>
                    <a:gd name="T77" fmla="*/ 11 h 141"/>
                    <a:gd name="T78" fmla="*/ 437 w 524"/>
                    <a:gd name="T79" fmla="*/ 17 h 141"/>
                    <a:gd name="T80" fmla="*/ 463 w 524"/>
                    <a:gd name="T81" fmla="*/ 24 h 141"/>
                    <a:gd name="T82" fmla="*/ 485 w 524"/>
                    <a:gd name="T83" fmla="*/ 33 h 141"/>
                    <a:gd name="T84" fmla="*/ 502 w 524"/>
                    <a:gd name="T85" fmla="*/ 41 h 141"/>
                    <a:gd name="T86" fmla="*/ 514 w 524"/>
                    <a:gd name="T87" fmla="*/ 50 h 141"/>
                    <a:gd name="T88" fmla="*/ 522 w 524"/>
                    <a:gd name="T89" fmla="*/ 61 h 141"/>
                    <a:gd name="T90" fmla="*/ 524 w 524"/>
                    <a:gd name="T91" fmla="*/ 71 h 141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524"/>
                    <a:gd name="T139" fmla="*/ 0 h 141"/>
                    <a:gd name="T140" fmla="*/ 524 w 524"/>
                    <a:gd name="T141" fmla="*/ 141 h 141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524" h="141">
                      <a:moveTo>
                        <a:pt x="524" y="71"/>
                      </a:moveTo>
                      <a:lnTo>
                        <a:pt x="522" y="80"/>
                      </a:lnTo>
                      <a:lnTo>
                        <a:pt x="514" y="90"/>
                      </a:lnTo>
                      <a:lnTo>
                        <a:pt x="502" y="99"/>
                      </a:lnTo>
                      <a:lnTo>
                        <a:pt x="485" y="107"/>
                      </a:lnTo>
                      <a:lnTo>
                        <a:pt x="463" y="116"/>
                      </a:lnTo>
                      <a:lnTo>
                        <a:pt x="437" y="123"/>
                      </a:lnTo>
                      <a:lnTo>
                        <a:pt x="409" y="129"/>
                      </a:lnTo>
                      <a:lnTo>
                        <a:pt x="377" y="134"/>
                      </a:lnTo>
                      <a:lnTo>
                        <a:pt x="342" y="138"/>
                      </a:lnTo>
                      <a:lnTo>
                        <a:pt x="308" y="139"/>
                      </a:lnTo>
                      <a:lnTo>
                        <a:pt x="271" y="141"/>
                      </a:lnTo>
                      <a:lnTo>
                        <a:pt x="234" y="140"/>
                      </a:lnTo>
                      <a:lnTo>
                        <a:pt x="197" y="138"/>
                      </a:lnTo>
                      <a:lnTo>
                        <a:pt x="163" y="136"/>
                      </a:lnTo>
                      <a:lnTo>
                        <a:pt x="131" y="132"/>
                      </a:lnTo>
                      <a:lnTo>
                        <a:pt x="99" y="127"/>
                      </a:lnTo>
                      <a:lnTo>
                        <a:pt x="73" y="119"/>
                      </a:lnTo>
                      <a:lnTo>
                        <a:pt x="48" y="112"/>
                      </a:lnTo>
                      <a:lnTo>
                        <a:pt x="29" y="104"/>
                      </a:lnTo>
                      <a:lnTo>
                        <a:pt x="16" y="94"/>
                      </a:lnTo>
                      <a:lnTo>
                        <a:pt x="5" y="84"/>
                      </a:lnTo>
                      <a:lnTo>
                        <a:pt x="0" y="75"/>
                      </a:lnTo>
                      <a:lnTo>
                        <a:pt x="0" y="65"/>
                      </a:lnTo>
                      <a:lnTo>
                        <a:pt x="5" y="55"/>
                      </a:lnTo>
                      <a:lnTo>
                        <a:pt x="16" y="46"/>
                      </a:lnTo>
                      <a:lnTo>
                        <a:pt x="29" y="37"/>
                      </a:lnTo>
                      <a:lnTo>
                        <a:pt x="48" y="28"/>
                      </a:lnTo>
                      <a:lnTo>
                        <a:pt x="73" y="20"/>
                      </a:lnTo>
                      <a:lnTo>
                        <a:pt x="99" y="14"/>
                      </a:lnTo>
                      <a:lnTo>
                        <a:pt x="131" y="9"/>
                      </a:lnTo>
                      <a:lnTo>
                        <a:pt x="163" y="5"/>
                      </a:lnTo>
                      <a:lnTo>
                        <a:pt x="197" y="2"/>
                      </a:lnTo>
                      <a:lnTo>
                        <a:pt x="234" y="0"/>
                      </a:lnTo>
                      <a:lnTo>
                        <a:pt x="271" y="0"/>
                      </a:lnTo>
                      <a:lnTo>
                        <a:pt x="308" y="1"/>
                      </a:lnTo>
                      <a:lnTo>
                        <a:pt x="342" y="3"/>
                      </a:lnTo>
                      <a:lnTo>
                        <a:pt x="377" y="6"/>
                      </a:lnTo>
                      <a:lnTo>
                        <a:pt x="409" y="11"/>
                      </a:lnTo>
                      <a:lnTo>
                        <a:pt x="437" y="17"/>
                      </a:lnTo>
                      <a:lnTo>
                        <a:pt x="463" y="24"/>
                      </a:lnTo>
                      <a:lnTo>
                        <a:pt x="485" y="33"/>
                      </a:lnTo>
                      <a:lnTo>
                        <a:pt x="502" y="41"/>
                      </a:lnTo>
                      <a:lnTo>
                        <a:pt x="514" y="50"/>
                      </a:lnTo>
                      <a:lnTo>
                        <a:pt x="522" y="61"/>
                      </a:lnTo>
                      <a:lnTo>
                        <a:pt x="524" y="71"/>
                      </a:lnTo>
                      <a:close/>
                    </a:path>
                  </a:pathLst>
                </a:custGeom>
                <a:solidFill>
                  <a:srgbClr val="BBB4D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52" name="Freeform 39"/>
                <p:cNvSpPr>
                  <a:spLocks/>
                </p:cNvSpPr>
                <p:nvPr/>
              </p:nvSpPr>
              <p:spPr bwMode="auto">
                <a:xfrm>
                  <a:off x="3409" y="1841"/>
                  <a:ext cx="524" cy="141"/>
                </a:xfrm>
                <a:custGeom>
                  <a:avLst/>
                  <a:gdLst>
                    <a:gd name="T0" fmla="*/ 524 w 524"/>
                    <a:gd name="T1" fmla="*/ 71 h 141"/>
                    <a:gd name="T2" fmla="*/ 522 w 524"/>
                    <a:gd name="T3" fmla="*/ 80 h 141"/>
                    <a:gd name="T4" fmla="*/ 514 w 524"/>
                    <a:gd name="T5" fmla="*/ 90 h 141"/>
                    <a:gd name="T6" fmla="*/ 502 w 524"/>
                    <a:gd name="T7" fmla="*/ 99 h 141"/>
                    <a:gd name="T8" fmla="*/ 485 w 524"/>
                    <a:gd name="T9" fmla="*/ 107 h 141"/>
                    <a:gd name="T10" fmla="*/ 463 w 524"/>
                    <a:gd name="T11" fmla="*/ 116 h 141"/>
                    <a:gd name="T12" fmla="*/ 437 w 524"/>
                    <a:gd name="T13" fmla="*/ 123 h 141"/>
                    <a:gd name="T14" fmla="*/ 409 w 524"/>
                    <a:gd name="T15" fmla="*/ 129 h 141"/>
                    <a:gd name="T16" fmla="*/ 377 w 524"/>
                    <a:gd name="T17" fmla="*/ 134 h 141"/>
                    <a:gd name="T18" fmla="*/ 342 w 524"/>
                    <a:gd name="T19" fmla="*/ 138 h 141"/>
                    <a:gd name="T20" fmla="*/ 308 w 524"/>
                    <a:gd name="T21" fmla="*/ 139 h 141"/>
                    <a:gd name="T22" fmla="*/ 271 w 524"/>
                    <a:gd name="T23" fmla="*/ 141 h 141"/>
                    <a:gd name="T24" fmla="*/ 234 w 524"/>
                    <a:gd name="T25" fmla="*/ 140 h 141"/>
                    <a:gd name="T26" fmla="*/ 197 w 524"/>
                    <a:gd name="T27" fmla="*/ 138 h 141"/>
                    <a:gd name="T28" fmla="*/ 163 w 524"/>
                    <a:gd name="T29" fmla="*/ 136 h 141"/>
                    <a:gd name="T30" fmla="*/ 131 w 524"/>
                    <a:gd name="T31" fmla="*/ 132 h 141"/>
                    <a:gd name="T32" fmla="*/ 99 w 524"/>
                    <a:gd name="T33" fmla="*/ 127 h 141"/>
                    <a:gd name="T34" fmla="*/ 73 w 524"/>
                    <a:gd name="T35" fmla="*/ 119 h 141"/>
                    <a:gd name="T36" fmla="*/ 48 w 524"/>
                    <a:gd name="T37" fmla="*/ 112 h 141"/>
                    <a:gd name="T38" fmla="*/ 29 w 524"/>
                    <a:gd name="T39" fmla="*/ 104 h 141"/>
                    <a:gd name="T40" fmla="*/ 16 w 524"/>
                    <a:gd name="T41" fmla="*/ 94 h 141"/>
                    <a:gd name="T42" fmla="*/ 5 w 524"/>
                    <a:gd name="T43" fmla="*/ 84 h 141"/>
                    <a:gd name="T44" fmla="*/ 0 w 524"/>
                    <a:gd name="T45" fmla="*/ 75 h 141"/>
                    <a:gd name="T46" fmla="*/ 0 w 524"/>
                    <a:gd name="T47" fmla="*/ 65 h 141"/>
                    <a:gd name="T48" fmla="*/ 5 w 524"/>
                    <a:gd name="T49" fmla="*/ 55 h 141"/>
                    <a:gd name="T50" fmla="*/ 16 w 524"/>
                    <a:gd name="T51" fmla="*/ 46 h 141"/>
                    <a:gd name="T52" fmla="*/ 29 w 524"/>
                    <a:gd name="T53" fmla="*/ 37 h 141"/>
                    <a:gd name="T54" fmla="*/ 48 w 524"/>
                    <a:gd name="T55" fmla="*/ 28 h 141"/>
                    <a:gd name="T56" fmla="*/ 73 w 524"/>
                    <a:gd name="T57" fmla="*/ 20 h 141"/>
                    <a:gd name="T58" fmla="*/ 99 w 524"/>
                    <a:gd name="T59" fmla="*/ 14 h 141"/>
                    <a:gd name="T60" fmla="*/ 131 w 524"/>
                    <a:gd name="T61" fmla="*/ 9 h 141"/>
                    <a:gd name="T62" fmla="*/ 163 w 524"/>
                    <a:gd name="T63" fmla="*/ 5 h 141"/>
                    <a:gd name="T64" fmla="*/ 197 w 524"/>
                    <a:gd name="T65" fmla="*/ 2 h 141"/>
                    <a:gd name="T66" fmla="*/ 234 w 524"/>
                    <a:gd name="T67" fmla="*/ 0 h 141"/>
                    <a:gd name="T68" fmla="*/ 271 w 524"/>
                    <a:gd name="T69" fmla="*/ 0 h 141"/>
                    <a:gd name="T70" fmla="*/ 308 w 524"/>
                    <a:gd name="T71" fmla="*/ 1 h 141"/>
                    <a:gd name="T72" fmla="*/ 342 w 524"/>
                    <a:gd name="T73" fmla="*/ 3 h 141"/>
                    <a:gd name="T74" fmla="*/ 377 w 524"/>
                    <a:gd name="T75" fmla="*/ 6 h 141"/>
                    <a:gd name="T76" fmla="*/ 409 w 524"/>
                    <a:gd name="T77" fmla="*/ 11 h 141"/>
                    <a:gd name="T78" fmla="*/ 437 w 524"/>
                    <a:gd name="T79" fmla="*/ 17 h 141"/>
                    <a:gd name="T80" fmla="*/ 463 w 524"/>
                    <a:gd name="T81" fmla="*/ 24 h 141"/>
                    <a:gd name="T82" fmla="*/ 485 w 524"/>
                    <a:gd name="T83" fmla="*/ 33 h 141"/>
                    <a:gd name="T84" fmla="*/ 502 w 524"/>
                    <a:gd name="T85" fmla="*/ 41 h 141"/>
                    <a:gd name="T86" fmla="*/ 514 w 524"/>
                    <a:gd name="T87" fmla="*/ 50 h 141"/>
                    <a:gd name="T88" fmla="*/ 522 w 524"/>
                    <a:gd name="T89" fmla="*/ 61 h 141"/>
                    <a:gd name="T90" fmla="*/ 524 w 524"/>
                    <a:gd name="T91" fmla="*/ 71 h 141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524"/>
                    <a:gd name="T139" fmla="*/ 0 h 141"/>
                    <a:gd name="T140" fmla="*/ 524 w 524"/>
                    <a:gd name="T141" fmla="*/ 141 h 141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524" h="141">
                      <a:moveTo>
                        <a:pt x="524" y="71"/>
                      </a:moveTo>
                      <a:lnTo>
                        <a:pt x="522" y="80"/>
                      </a:lnTo>
                      <a:lnTo>
                        <a:pt x="514" y="90"/>
                      </a:lnTo>
                      <a:lnTo>
                        <a:pt x="502" y="99"/>
                      </a:lnTo>
                      <a:lnTo>
                        <a:pt x="485" y="107"/>
                      </a:lnTo>
                      <a:lnTo>
                        <a:pt x="463" y="116"/>
                      </a:lnTo>
                      <a:lnTo>
                        <a:pt x="437" y="123"/>
                      </a:lnTo>
                      <a:lnTo>
                        <a:pt x="409" y="129"/>
                      </a:lnTo>
                      <a:lnTo>
                        <a:pt x="377" y="134"/>
                      </a:lnTo>
                      <a:lnTo>
                        <a:pt x="342" y="138"/>
                      </a:lnTo>
                      <a:lnTo>
                        <a:pt x="308" y="139"/>
                      </a:lnTo>
                      <a:lnTo>
                        <a:pt x="271" y="141"/>
                      </a:lnTo>
                      <a:lnTo>
                        <a:pt x="234" y="140"/>
                      </a:lnTo>
                      <a:lnTo>
                        <a:pt x="197" y="138"/>
                      </a:lnTo>
                      <a:lnTo>
                        <a:pt x="163" y="136"/>
                      </a:lnTo>
                      <a:lnTo>
                        <a:pt x="131" y="132"/>
                      </a:lnTo>
                      <a:lnTo>
                        <a:pt x="99" y="127"/>
                      </a:lnTo>
                      <a:lnTo>
                        <a:pt x="73" y="119"/>
                      </a:lnTo>
                      <a:lnTo>
                        <a:pt x="48" y="112"/>
                      </a:lnTo>
                      <a:lnTo>
                        <a:pt x="29" y="104"/>
                      </a:lnTo>
                      <a:lnTo>
                        <a:pt x="16" y="94"/>
                      </a:lnTo>
                      <a:lnTo>
                        <a:pt x="5" y="84"/>
                      </a:lnTo>
                      <a:lnTo>
                        <a:pt x="0" y="75"/>
                      </a:lnTo>
                      <a:lnTo>
                        <a:pt x="0" y="65"/>
                      </a:lnTo>
                      <a:lnTo>
                        <a:pt x="5" y="55"/>
                      </a:lnTo>
                      <a:lnTo>
                        <a:pt x="16" y="46"/>
                      </a:lnTo>
                      <a:lnTo>
                        <a:pt x="29" y="37"/>
                      </a:lnTo>
                      <a:lnTo>
                        <a:pt x="48" y="28"/>
                      </a:lnTo>
                      <a:lnTo>
                        <a:pt x="73" y="20"/>
                      </a:lnTo>
                      <a:lnTo>
                        <a:pt x="99" y="14"/>
                      </a:lnTo>
                      <a:lnTo>
                        <a:pt x="131" y="9"/>
                      </a:lnTo>
                      <a:lnTo>
                        <a:pt x="163" y="5"/>
                      </a:lnTo>
                      <a:lnTo>
                        <a:pt x="197" y="2"/>
                      </a:lnTo>
                      <a:lnTo>
                        <a:pt x="234" y="0"/>
                      </a:lnTo>
                      <a:lnTo>
                        <a:pt x="271" y="0"/>
                      </a:lnTo>
                      <a:lnTo>
                        <a:pt x="308" y="1"/>
                      </a:lnTo>
                      <a:lnTo>
                        <a:pt x="342" y="3"/>
                      </a:lnTo>
                      <a:lnTo>
                        <a:pt x="377" y="6"/>
                      </a:lnTo>
                      <a:lnTo>
                        <a:pt x="409" y="11"/>
                      </a:lnTo>
                      <a:lnTo>
                        <a:pt x="437" y="17"/>
                      </a:lnTo>
                      <a:lnTo>
                        <a:pt x="463" y="24"/>
                      </a:lnTo>
                      <a:lnTo>
                        <a:pt x="485" y="33"/>
                      </a:lnTo>
                      <a:lnTo>
                        <a:pt x="502" y="41"/>
                      </a:lnTo>
                      <a:lnTo>
                        <a:pt x="514" y="50"/>
                      </a:lnTo>
                      <a:lnTo>
                        <a:pt x="522" y="61"/>
                      </a:lnTo>
                      <a:lnTo>
                        <a:pt x="524" y="71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04D6E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9735" name="Freeform 40"/>
              <p:cNvSpPr>
                <a:spLocks noEditPoints="1"/>
              </p:cNvSpPr>
              <p:nvPr/>
            </p:nvSpPr>
            <p:spPr bwMode="auto">
              <a:xfrm>
                <a:off x="3529" y="1854"/>
                <a:ext cx="276" cy="111"/>
              </a:xfrm>
              <a:custGeom>
                <a:avLst/>
                <a:gdLst>
                  <a:gd name="T0" fmla="*/ 51 w 276"/>
                  <a:gd name="T1" fmla="*/ 62 h 111"/>
                  <a:gd name="T2" fmla="*/ 212 w 276"/>
                  <a:gd name="T3" fmla="*/ 62 h 111"/>
                  <a:gd name="T4" fmla="*/ 110 w 276"/>
                  <a:gd name="T5" fmla="*/ 94 h 111"/>
                  <a:gd name="T6" fmla="*/ 51 w 276"/>
                  <a:gd name="T7" fmla="*/ 62 h 111"/>
                  <a:gd name="T8" fmla="*/ 226 w 276"/>
                  <a:gd name="T9" fmla="*/ 48 h 111"/>
                  <a:gd name="T10" fmla="*/ 65 w 276"/>
                  <a:gd name="T11" fmla="*/ 48 h 111"/>
                  <a:gd name="T12" fmla="*/ 167 w 276"/>
                  <a:gd name="T13" fmla="*/ 16 h 111"/>
                  <a:gd name="T14" fmla="*/ 226 w 276"/>
                  <a:gd name="T15" fmla="*/ 48 h 111"/>
                  <a:gd name="T16" fmla="*/ 105 w 276"/>
                  <a:gd name="T17" fmla="*/ 111 h 111"/>
                  <a:gd name="T18" fmla="*/ 276 w 276"/>
                  <a:gd name="T19" fmla="*/ 57 h 111"/>
                  <a:gd name="T20" fmla="*/ 171 w 276"/>
                  <a:gd name="T21" fmla="*/ 0 h 111"/>
                  <a:gd name="T22" fmla="*/ 0 w 276"/>
                  <a:gd name="T23" fmla="*/ 54 h 111"/>
                  <a:gd name="T24" fmla="*/ 105 w 276"/>
                  <a:gd name="T25" fmla="*/ 111 h 11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76"/>
                  <a:gd name="T40" fmla="*/ 0 h 111"/>
                  <a:gd name="T41" fmla="*/ 276 w 276"/>
                  <a:gd name="T42" fmla="*/ 111 h 11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76" h="111">
                    <a:moveTo>
                      <a:pt x="51" y="62"/>
                    </a:moveTo>
                    <a:lnTo>
                      <a:pt x="212" y="62"/>
                    </a:lnTo>
                    <a:lnTo>
                      <a:pt x="110" y="94"/>
                    </a:lnTo>
                    <a:lnTo>
                      <a:pt x="51" y="62"/>
                    </a:lnTo>
                    <a:close/>
                    <a:moveTo>
                      <a:pt x="226" y="48"/>
                    </a:moveTo>
                    <a:lnTo>
                      <a:pt x="65" y="48"/>
                    </a:lnTo>
                    <a:lnTo>
                      <a:pt x="167" y="16"/>
                    </a:lnTo>
                    <a:lnTo>
                      <a:pt x="226" y="48"/>
                    </a:lnTo>
                    <a:close/>
                    <a:moveTo>
                      <a:pt x="105" y="111"/>
                    </a:moveTo>
                    <a:lnTo>
                      <a:pt x="276" y="57"/>
                    </a:lnTo>
                    <a:lnTo>
                      <a:pt x="171" y="0"/>
                    </a:lnTo>
                    <a:lnTo>
                      <a:pt x="0" y="54"/>
                    </a:lnTo>
                    <a:lnTo>
                      <a:pt x="105" y="1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36" name="Freeform 41"/>
              <p:cNvSpPr>
                <a:spLocks noEditPoints="1"/>
              </p:cNvSpPr>
              <p:nvPr/>
            </p:nvSpPr>
            <p:spPr bwMode="auto">
              <a:xfrm>
                <a:off x="3536" y="1858"/>
                <a:ext cx="276" cy="110"/>
              </a:xfrm>
              <a:custGeom>
                <a:avLst/>
                <a:gdLst>
                  <a:gd name="T0" fmla="*/ 50 w 276"/>
                  <a:gd name="T1" fmla="*/ 62 h 110"/>
                  <a:gd name="T2" fmla="*/ 212 w 276"/>
                  <a:gd name="T3" fmla="*/ 62 h 110"/>
                  <a:gd name="T4" fmla="*/ 109 w 276"/>
                  <a:gd name="T5" fmla="*/ 94 h 110"/>
                  <a:gd name="T6" fmla="*/ 50 w 276"/>
                  <a:gd name="T7" fmla="*/ 62 h 110"/>
                  <a:gd name="T8" fmla="*/ 225 w 276"/>
                  <a:gd name="T9" fmla="*/ 49 h 110"/>
                  <a:gd name="T10" fmla="*/ 65 w 276"/>
                  <a:gd name="T11" fmla="*/ 49 h 110"/>
                  <a:gd name="T12" fmla="*/ 166 w 276"/>
                  <a:gd name="T13" fmla="*/ 17 h 110"/>
                  <a:gd name="T14" fmla="*/ 225 w 276"/>
                  <a:gd name="T15" fmla="*/ 49 h 110"/>
                  <a:gd name="T16" fmla="*/ 105 w 276"/>
                  <a:gd name="T17" fmla="*/ 110 h 110"/>
                  <a:gd name="T18" fmla="*/ 276 w 276"/>
                  <a:gd name="T19" fmla="*/ 57 h 110"/>
                  <a:gd name="T20" fmla="*/ 171 w 276"/>
                  <a:gd name="T21" fmla="*/ 0 h 110"/>
                  <a:gd name="T22" fmla="*/ 0 w 276"/>
                  <a:gd name="T23" fmla="*/ 54 h 110"/>
                  <a:gd name="T24" fmla="*/ 105 w 276"/>
                  <a:gd name="T25" fmla="*/ 110 h 11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76"/>
                  <a:gd name="T40" fmla="*/ 0 h 110"/>
                  <a:gd name="T41" fmla="*/ 276 w 276"/>
                  <a:gd name="T42" fmla="*/ 110 h 11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76" h="110">
                    <a:moveTo>
                      <a:pt x="50" y="62"/>
                    </a:moveTo>
                    <a:lnTo>
                      <a:pt x="212" y="62"/>
                    </a:lnTo>
                    <a:lnTo>
                      <a:pt x="109" y="94"/>
                    </a:lnTo>
                    <a:lnTo>
                      <a:pt x="50" y="62"/>
                    </a:lnTo>
                    <a:close/>
                    <a:moveTo>
                      <a:pt x="225" y="49"/>
                    </a:moveTo>
                    <a:lnTo>
                      <a:pt x="65" y="49"/>
                    </a:lnTo>
                    <a:lnTo>
                      <a:pt x="166" y="17"/>
                    </a:lnTo>
                    <a:lnTo>
                      <a:pt x="225" y="49"/>
                    </a:lnTo>
                    <a:close/>
                    <a:moveTo>
                      <a:pt x="105" y="110"/>
                    </a:moveTo>
                    <a:lnTo>
                      <a:pt x="276" y="57"/>
                    </a:lnTo>
                    <a:lnTo>
                      <a:pt x="171" y="0"/>
                    </a:lnTo>
                    <a:lnTo>
                      <a:pt x="0" y="54"/>
                    </a:lnTo>
                    <a:lnTo>
                      <a:pt x="105" y="1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37" name="Freeform 42"/>
              <p:cNvSpPr>
                <a:spLocks noEditPoints="1"/>
              </p:cNvSpPr>
              <p:nvPr/>
            </p:nvSpPr>
            <p:spPr bwMode="auto">
              <a:xfrm>
                <a:off x="3586" y="2037"/>
                <a:ext cx="182" cy="89"/>
              </a:xfrm>
              <a:custGeom>
                <a:avLst/>
                <a:gdLst>
                  <a:gd name="T0" fmla="*/ 69 w 182"/>
                  <a:gd name="T1" fmla="*/ 51 h 89"/>
                  <a:gd name="T2" fmla="*/ 88 w 182"/>
                  <a:gd name="T3" fmla="*/ 51 h 89"/>
                  <a:gd name="T4" fmla="*/ 127 w 182"/>
                  <a:gd name="T5" fmla="*/ 89 h 89"/>
                  <a:gd name="T6" fmla="*/ 182 w 182"/>
                  <a:gd name="T7" fmla="*/ 89 h 89"/>
                  <a:gd name="T8" fmla="*/ 182 w 182"/>
                  <a:gd name="T9" fmla="*/ 73 h 89"/>
                  <a:gd name="T10" fmla="*/ 159 w 182"/>
                  <a:gd name="T11" fmla="*/ 73 h 89"/>
                  <a:gd name="T12" fmla="*/ 131 w 182"/>
                  <a:gd name="T13" fmla="*/ 47 h 89"/>
                  <a:gd name="T14" fmla="*/ 135 w 182"/>
                  <a:gd name="T15" fmla="*/ 45 h 89"/>
                  <a:gd name="T16" fmla="*/ 144 w 182"/>
                  <a:gd name="T17" fmla="*/ 42 h 89"/>
                  <a:gd name="T18" fmla="*/ 152 w 182"/>
                  <a:gd name="T19" fmla="*/ 39 h 89"/>
                  <a:gd name="T20" fmla="*/ 156 w 182"/>
                  <a:gd name="T21" fmla="*/ 35 h 89"/>
                  <a:gd name="T22" fmla="*/ 160 w 182"/>
                  <a:gd name="T23" fmla="*/ 30 h 89"/>
                  <a:gd name="T24" fmla="*/ 161 w 182"/>
                  <a:gd name="T25" fmla="*/ 25 h 89"/>
                  <a:gd name="T26" fmla="*/ 160 w 182"/>
                  <a:gd name="T27" fmla="*/ 22 h 89"/>
                  <a:gd name="T28" fmla="*/ 159 w 182"/>
                  <a:gd name="T29" fmla="*/ 17 h 89"/>
                  <a:gd name="T30" fmla="*/ 153 w 182"/>
                  <a:gd name="T31" fmla="*/ 12 h 89"/>
                  <a:gd name="T32" fmla="*/ 147 w 182"/>
                  <a:gd name="T33" fmla="*/ 7 h 89"/>
                  <a:gd name="T34" fmla="*/ 144 w 182"/>
                  <a:gd name="T35" fmla="*/ 6 h 89"/>
                  <a:gd name="T36" fmla="*/ 137 w 182"/>
                  <a:gd name="T37" fmla="*/ 3 h 89"/>
                  <a:gd name="T38" fmla="*/ 127 w 182"/>
                  <a:gd name="T39" fmla="*/ 1 h 89"/>
                  <a:gd name="T40" fmla="*/ 117 w 182"/>
                  <a:gd name="T41" fmla="*/ 0 h 89"/>
                  <a:gd name="T42" fmla="*/ 105 w 182"/>
                  <a:gd name="T43" fmla="*/ 0 h 89"/>
                  <a:gd name="T44" fmla="*/ 0 w 182"/>
                  <a:gd name="T45" fmla="*/ 0 h 89"/>
                  <a:gd name="T46" fmla="*/ 0 w 182"/>
                  <a:gd name="T47" fmla="*/ 15 h 89"/>
                  <a:gd name="T48" fmla="*/ 24 w 182"/>
                  <a:gd name="T49" fmla="*/ 15 h 89"/>
                  <a:gd name="T50" fmla="*/ 24 w 182"/>
                  <a:gd name="T51" fmla="*/ 73 h 89"/>
                  <a:gd name="T52" fmla="*/ 0 w 182"/>
                  <a:gd name="T53" fmla="*/ 73 h 89"/>
                  <a:gd name="T54" fmla="*/ 0 w 182"/>
                  <a:gd name="T55" fmla="*/ 89 h 89"/>
                  <a:gd name="T56" fmla="*/ 91 w 182"/>
                  <a:gd name="T57" fmla="*/ 89 h 89"/>
                  <a:gd name="T58" fmla="*/ 91 w 182"/>
                  <a:gd name="T59" fmla="*/ 73 h 89"/>
                  <a:gd name="T60" fmla="*/ 69 w 182"/>
                  <a:gd name="T61" fmla="*/ 73 h 89"/>
                  <a:gd name="T62" fmla="*/ 69 w 182"/>
                  <a:gd name="T63" fmla="*/ 51 h 89"/>
                  <a:gd name="T64" fmla="*/ 69 w 182"/>
                  <a:gd name="T65" fmla="*/ 15 h 89"/>
                  <a:gd name="T66" fmla="*/ 88 w 182"/>
                  <a:gd name="T67" fmla="*/ 15 h 89"/>
                  <a:gd name="T68" fmla="*/ 98 w 182"/>
                  <a:gd name="T69" fmla="*/ 15 h 89"/>
                  <a:gd name="T70" fmla="*/ 106 w 182"/>
                  <a:gd name="T71" fmla="*/ 17 h 89"/>
                  <a:gd name="T72" fmla="*/ 112 w 182"/>
                  <a:gd name="T73" fmla="*/ 20 h 89"/>
                  <a:gd name="T74" fmla="*/ 114 w 182"/>
                  <a:gd name="T75" fmla="*/ 26 h 89"/>
                  <a:gd name="T76" fmla="*/ 114 w 182"/>
                  <a:gd name="T77" fmla="*/ 27 h 89"/>
                  <a:gd name="T78" fmla="*/ 112 w 182"/>
                  <a:gd name="T79" fmla="*/ 30 h 89"/>
                  <a:gd name="T80" fmla="*/ 105 w 182"/>
                  <a:gd name="T81" fmla="*/ 33 h 89"/>
                  <a:gd name="T82" fmla="*/ 97 w 182"/>
                  <a:gd name="T83" fmla="*/ 35 h 89"/>
                  <a:gd name="T84" fmla="*/ 85 w 182"/>
                  <a:gd name="T85" fmla="*/ 36 h 89"/>
                  <a:gd name="T86" fmla="*/ 69 w 182"/>
                  <a:gd name="T87" fmla="*/ 36 h 89"/>
                  <a:gd name="T88" fmla="*/ 69 w 182"/>
                  <a:gd name="T89" fmla="*/ 15 h 8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82"/>
                  <a:gd name="T136" fmla="*/ 0 h 89"/>
                  <a:gd name="T137" fmla="*/ 182 w 182"/>
                  <a:gd name="T138" fmla="*/ 89 h 8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82" h="89">
                    <a:moveTo>
                      <a:pt x="69" y="51"/>
                    </a:moveTo>
                    <a:lnTo>
                      <a:pt x="88" y="51"/>
                    </a:lnTo>
                    <a:lnTo>
                      <a:pt x="127" y="89"/>
                    </a:lnTo>
                    <a:lnTo>
                      <a:pt x="182" y="89"/>
                    </a:lnTo>
                    <a:lnTo>
                      <a:pt x="182" y="73"/>
                    </a:lnTo>
                    <a:lnTo>
                      <a:pt x="159" y="73"/>
                    </a:lnTo>
                    <a:lnTo>
                      <a:pt x="131" y="47"/>
                    </a:lnTo>
                    <a:lnTo>
                      <a:pt x="135" y="45"/>
                    </a:lnTo>
                    <a:lnTo>
                      <a:pt x="144" y="42"/>
                    </a:lnTo>
                    <a:lnTo>
                      <a:pt x="152" y="39"/>
                    </a:lnTo>
                    <a:lnTo>
                      <a:pt x="156" y="35"/>
                    </a:lnTo>
                    <a:lnTo>
                      <a:pt x="160" y="30"/>
                    </a:lnTo>
                    <a:lnTo>
                      <a:pt x="161" y="25"/>
                    </a:lnTo>
                    <a:lnTo>
                      <a:pt x="160" y="22"/>
                    </a:lnTo>
                    <a:lnTo>
                      <a:pt x="159" y="17"/>
                    </a:lnTo>
                    <a:lnTo>
                      <a:pt x="153" y="12"/>
                    </a:lnTo>
                    <a:lnTo>
                      <a:pt x="147" y="7"/>
                    </a:lnTo>
                    <a:lnTo>
                      <a:pt x="144" y="6"/>
                    </a:lnTo>
                    <a:lnTo>
                      <a:pt x="137" y="3"/>
                    </a:lnTo>
                    <a:lnTo>
                      <a:pt x="127" y="1"/>
                    </a:lnTo>
                    <a:lnTo>
                      <a:pt x="117" y="0"/>
                    </a:lnTo>
                    <a:lnTo>
                      <a:pt x="10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24" y="15"/>
                    </a:lnTo>
                    <a:lnTo>
                      <a:pt x="24" y="73"/>
                    </a:lnTo>
                    <a:lnTo>
                      <a:pt x="0" y="73"/>
                    </a:lnTo>
                    <a:lnTo>
                      <a:pt x="0" y="89"/>
                    </a:lnTo>
                    <a:lnTo>
                      <a:pt x="91" y="89"/>
                    </a:lnTo>
                    <a:lnTo>
                      <a:pt x="91" y="73"/>
                    </a:lnTo>
                    <a:lnTo>
                      <a:pt x="69" y="73"/>
                    </a:lnTo>
                    <a:lnTo>
                      <a:pt x="69" y="51"/>
                    </a:lnTo>
                    <a:close/>
                    <a:moveTo>
                      <a:pt x="69" y="15"/>
                    </a:moveTo>
                    <a:lnTo>
                      <a:pt x="88" y="15"/>
                    </a:lnTo>
                    <a:lnTo>
                      <a:pt x="98" y="15"/>
                    </a:lnTo>
                    <a:lnTo>
                      <a:pt x="106" y="17"/>
                    </a:lnTo>
                    <a:lnTo>
                      <a:pt x="112" y="20"/>
                    </a:lnTo>
                    <a:lnTo>
                      <a:pt x="114" y="26"/>
                    </a:lnTo>
                    <a:lnTo>
                      <a:pt x="114" y="27"/>
                    </a:lnTo>
                    <a:lnTo>
                      <a:pt x="112" y="30"/>
                    </a:lnTo>
                    <a:lnTo>
                      <a:pt x="105" y="33"/>
                    </a:lnTo>
                    <a:lnTo>
                      <a:pt x="97" y="35"/>
                    </a:lnTo>
                    <a:lnTo>
                      <a:pt x="85" y="36"/>
                    </a:lnTo>
                    <a:lnTo>
                      <a:pt x="69" y="36"/>
                    </a:lnTo>
                    <a:lnTo>
                      <a:pt x="69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38" name="Freeform 43"/>
              <p:cNvSpPr>
                <a:spLocks noEditPoints="1"/>
              </p:cNvSpPr>
              <p:nvPr/>
            </p:nvSpPr>
            <p:spPr bwMode="auto">
              <a:xfrm>
                <a:off x="3573" y="2028"/>
                <a:ext cx="182" cy="89"/>
              </a:xfrm>
              <a:custGeom>
                <a:avLst/>
                <a:gdLst>
                  <a:gd name="T0" fmla="*/ 69 w 182"/>
                  <a:gd name="T1" fmla="*/ 49 h 89"/>
                  <a:gd name="T2" fmla="*/ 90 w 182"/>
                  <a:gd name="T3" fmla="*/ 49 h 89"/>
                  <a:gd name="T4" fmla="*/ 129 w 182"/>
                  <a:gd name="T5" fmla="*/ 89 h 89"/>
                  <a:gd name="T6" fmla="*/ 182 w 182"/>
                  <a:gd name="T7" fmla="*/ 89 h 89"/>
                  <a:gd name="T8" fmla="*/ 182 w 182"/>
                  <a:gd name="T9" fmla="*/ 74 h 89"/>
                  <a:gd name="T10" fmla="*/ 160 w 182"/>
                  <a:gd name="T11" fmla="*/ 74 h 89"/>
                  <a:gd name="T12" fmla="*/ 130 w 182"/>
                  <a:gd name="T13" fmla="*/ 47 h 89"/>
                  <a:gd name="T14" fmla="*/ 137 w 182"/>
                  <a:gd name="T15" fmla="*/ 46 h 89"/>
                  <a:gd name="T16" fmla="*/ 146 w 182"/>
                  <a:gd name="T17" fmla="*/ 42 h 89"/>
                  <a:gd name="T18" fmla="*/ 153 w 182"/>
                  <a:gd name="T19" fmla="*/ 39 h 89"/>
                  <a:gd name="T20" fmla="*/ 157 w 182"/>
                  <a:gd name="T21" fmla="*/ 35 h 89"/>
                  <a:gd name="T22" fmla="*/ 160 w 182"/>
                  <a:gd name="T23" fmla="*/ 30 h 89"/>
                  <a:gd name="T24" fmla="*/ 162 w 182"/>
                  <a:gd name="T25" fmla="*/ 25 h 89"/>
                  <a:gd name="T26" fmla="*/ 162 w 182"/>
                  <a:gd name="T27" fmla="*/ 22 h 89"/>
                  <a:gd name="T28" fmla="*/ 158 w 182"/>
                  <a:gd name="T29" fmla="*/ 16 h 89"/>
                  <a:gd name="T30" fmla="*/ 155 w 182"/>
                  <a:gd name="T31" fmla="*/ 12 h 89"/>
                  <a:gd name="T32" fmla="*/ 148 w 182"/>
                  <a:gd name="T33" fmla="*/ 7 h 89"/>
                  <a:gd name="T34" fmla="*/ 145 w 182"/>
                  <a:gd name="T35" fmla="*/ 6 h 89"/>
                  <a:gd name="T36" fmla="*/ 138 w 182"/>
                  <a:gd name="T37" fmla="*/ 4 h 89"/>
                  <a:gd name="T38" fmla="*/ 128 w 182"/>
                  <a:gd name="T39" fmla="*/ 2 h 89"/>
                  <a:gd name="T40" fmla="*/ 118 w 182"/>
                  <a:gd name="T41" fmla="*/ 1 h 89"/>
                  <a:gd name="T42" fmla="*/ 105 w 182"/>
                  <a:gd name="T43" fmla="*/ 0 h 89"/>
                  <a:gd name="T44" fmla="*/ 0 w 182"/>
                  <a:gd name="T45" fmla="*/ 0 h 89"/>
                  <a:gd name="T46" fmla="*/ 0 w 182"/>
                  <a:gd name="T47" fmla="*/ 15 h 89"/>
                  <a:gd name="T48" fmla="*/ 24 w 182"/>
                  <a:gd name="T49" fmla="*/ 15 h 89"/>
                  <a:gd name="T50" fmla="*/ 24 w 182"/>
                  <a:gd name="T51" fmla="*/ 74 h 89"/>
                  <a:gd name="T52" fmla="*/ 0 w 182"/>
                  <a:gd name="T53" fmla="*/ 74 h 89"/>
                  <a:gd name="T54" fmla="*/ 0 w 182"/>
                  <a:gd name="T55" fmla="*/ 89 h 89"/>
                  <a:gd name="T56" fmla="*/ 91 w 182"/>
                  <a:gd name="T57" fmla="*/ 89 h 89"/>
                  <a:gd name="T58" fmla="*/ 91 w 182"/>
                  <a:gd name="T59" fmla="*/ 74 h 89"/>
                  <a:gd name="T60" fmla="*/ 69 w 182"/>
                  <a:gd name="T61" fmla="*/ 74 h 89"/>
                  <a:gd name="T62" fmla="*/ 69 w 182"/>
                  <a:gd name="T63" fmla="*/ 49 h 89"/>
                  <a:gd name="T64" fmla="*/ 69 w 182"/>
                  <a:gd name="T65" fmla="*/ 15 h 89"/>
                  <a:gd name="T66" fmla="*/ 90 w 182"/>
                  <a:gd name="T67" fmla="*/ 15 h 89"/>
                  <a:gd name="T68" fmla="*/ 99 w 182"/>
                  <a:gd name="T69" fmla="*/ 16 h 89"/>
                  <a:gd name="T70" fmla="*/ 108 w 182"/>
                  <a:gd name="T71" fmla="*/ 17 h 89"/>
                  <a:gd name="T72" fmla="*/ 111 w 182"/>
                  <a:gd name="T73" fmla="*/ 20 h 89"/>
                  <a:gd name="T74" fmla="*/ 114 w 182"/>
                  <a:gd name="T75" fmla="*/ 25 h 89"/>
                  <a:gd name="T76" fmla="*/ 114 w 182"/>
                  <a:gd name="T77" fmla="*/ 26 h 89"/>
                  <a:gd name="T78" fmla="*/ 111 w 182"/>
                  <a:gd name="T79" fmla="*/ 31 h 89"/>
                  <a:gd name="T80" fmla="*/ 107 w 182"/>
                  <a:gd name="T81" fmla="*/ 34 h 89"/>
                  <a:gd name="T82" fmla="*/ 98 w 182"/>
                  <a:gd name="T83" fmla="*/ 36 h 89"/>
                  <a:gd name="T84" fmla="*/ 86 w 182"/>
                  <a:gd name="T85" fmla="*/ 36 h 89"/>
                  <a:gd name="T86" fmla="*/ 69 w 182"/>
                  <a:gd name="T87" fmla="*/ 36 h 89"/>
                  <a:gd name="T88" fmla="*/ 69 w 182"/>
                  <a:gd name="T89" fmla="*/ 15 h 8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82"/>
                  <a:gd name="T136" fmla="*/ 0 h 89"/>
                  <a:gd name="T137" fmla="*/ 182 w 182"/>
                  <a:gd name="T138" fmla="*/ 89 h 8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82" h="89">
                    <a:moveTo>
                      <a:pt x="69" y="49"/>
                    </a:moveTo>
                    <a:lnTo>
                      <a:pt x="90" y="49"/>
                    </a:lnTo>
                    <a:lnTo>
                      <a:pt x="129" y="89"/>
                    </a:lnTo>
                    <a:lnTo>
                      <a:pt x="182" y="89"/>
                    </a:lnTo>
                    <a:lnTo>
                      <a:pt x="182" y="74"/>
                    </a:lnTo>
                    <a:lnTo>
                      <a:pt x="160" y="74"/>
                    </a:lnTo>
                    <a:lnTo>
                      <a:pt x="130" y="47"/>
                    </a:lnTo>
                    <a:lnTo>
                      <a:pt x="137" y="46"/>
                    </a:lnTo>
                    <a:lnTo>
                      <a:pt x="146" y="42"/>
                    </a:lnTo>
                    <a:lnTo>
                      <a:pt x="153" y="39"/>
                    </a:lnTo>
                    <a:lnTo>
                      <a:pt x="157" y="35"/>
                    </a:lnTo>
                    <a:lnTo>
                      <a:pt x="160" y="30"/>
                    </a:lnTo>
                    <a:lnTo>
                      <a:pt x="162" y="25"/>
                    </a:lnTo>
                    <a:lnTo>
                      <a:pt x="162" y="22"/>
                    </a:lnTo>
                    <a:lnTo>
                      <a:pt x="158" y="16"/>
                    </a:lnTo>
                    <a:lnTo>
                      <a:pt x="155" y="12"/>
                    </a:lnTo>
                    <a:lnTo>
                      <a:pt x="148" y="7"/>
                    </a:lnTo>
                    <a:lnTo>
                      <a:pt x="145" y="6"/>
                    </a:lnTo>
                    <a:lnTo>
                      <a:pt x="138" y="4"/>
                    </a:lnTo>
                    <a:lnTo>
                      <a:pt x="128" y="2"/>
                    </a:lnTo>
                    <a:lnTo>
                      <a:pt x="118" y="1"/>
                    </a:lnTo>
                    <a:lnTo>
                      <a:pt x="10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24" y="15"/>
                    </a:lnTo>
                    <a:lnTo>
                      <a:pt x="24" y="74"/>
                    </a:lnTo>
                    <a:lnTo>
                      <a:pt x="0" y="74"/>
                    </a:lnTo>
                    <a:lnTo>
                      <a:pt x="0" y="89"/>
                    </a:lnTo>
                    <a:lnTo>
                      <a:pt x="91" y="89"/>
                    </a:lnTo>
                    <a:lnTo>
                      <a:pt x="91" y="74"/>
                    </a:lnTo>
                    <a:lnTo>
                      <a:pt x="69" y="74"/>
                    </a:lnTo>
                    <a:lnTo>
                      <a:pt x="69" y="49"/>
                    </a:lnTo>
                    <a:close/>
                    <a:moveTo>
                      <a:pt x="69" y="15"/>
                    </a:moveTo>
                    <a:lnTo>
                      <a:pt x="90" y="15"/>
                    </a:lnTo>
                    <a:lnTo>
                      <a:pt x="99" y="16"/>
                    </a:lnTo>
                    <a:lnTo>
                      <a:pt x="108" y="17"/>
                    </a:lnTo>
                    <a:lnTo>
                      <a:pt x="111" y="20"/>
                    </a:lnTo>
                    <a:lnTo>
                      <a:pt x="114" y="25"/>
                    </a:lnTo>
                    <a:lnTo>
                      <a:pt x="114" y="26"/>
                    </a:lnTo>
                    <a:lnTo>
                      <a:pt x="111" y="31"/>
                    </a:lnTo>
                    <a:lnTo>
                      <a:pt x="107" y="34"/>
                    </a:lnTo>
                    <a:lnTo>
                      <a:pt x="98" y="36"/>
                    </a:lnTo>
                    <a:lnTo>
                      <a:pt x="86" y="36"/>
                    </a:lnTo>
                    <a:lnTo>
                      <a:pt x="69" y="36"/>
                    </a:lnTo>
                    <a:lnTo>
                      <a:pt x="69" y="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9739" name="Group 44"/>
              <p:cNvGrpSpPr>
                <a:grpSpLocks/>
              </p:cNvGrpSpPr>
              <p:nvPr/>
            </p:nvGrpSpPr>
            <p:grpSpPr bwMode="auto">
              <a:xfrm>
                <a:off x="3408" y="1841"/>
                <a:ext cx="525" cy="334"/>
                <a:chOff x="3408" y="1841"/>
                <a:chExt cx="525" cy="334"/>
              </a:xfrm>
            </p:grpSpPr>
            <p:sp>
              <p:nvSpPr>
                <p:cNvPr id="29747" name="Freeform 45"/>
                <p:cNvSpPr>
                  <a:spLocks noEditPoints="1"/>
                </p:cNvSpPr>
                <p:nvPr/>
              </p:nvSpPr>
              <p:spPr bwMode="auto">
                <a:xfrm>
                  <a:off x="3408" y="1841"/>
                  <a:ext cx="525" cy="334"/>
                </a:xfrm>
                <a:custGeom>
                  <a:avLst/>
                  <a:gdLst>
                    <a:gd name="T0" fmla="*/ 525 w 525"/>
                    <a:gd name="T1" fmla="*/ 71 h 334"/>
                    <a:gd name="T2" fmla="*/ 515 w 525"/>
                    <a:gd name="T3" fmla="*/ 90 h 334"/>
                    <a:gd name="T4" fmla="*/ 487 w 525"/>
                    <a:gd name="T5" fmla="*/ 107 h 334"/>
                    <a:gd name="T6" fmla="*/ 443 w 525"/>
                    <a:gd name="T7" fmla="*/ 122 h 334"/>
                    <a:gd name="T8" fmla="*/ 383 w 525"/>
                    <a:gd name="T9" fmla="*/ 133 h 334"/>
                    <a:gd name="T10" fmla="*/ 317 w 525"/>
                    <a:gd name="T11" fmla="*/ 139 h 334"/>
                    <a:gd name="T12" fmla="*/ 244 w 525"/>
                    <a:gd name="T13" fmla="*/ 140 h 334"/>
                    <a:gd name="T14" fmla="*/ 175 w 525"/>
                    <a:gd name="T15" fmla="*/ 137 h 334"/>
                    <a:gd name="T16" fmla="*/ 111 w 525"/>
                    <a:gd name="T17" fmla="*/ 128 h 334"/>
                    <a:gd name="T18" fmla="*/ 111 w 525"/>
                    <a:gd name="T19" fmla="*/ 128 h 334"/>
                    <a:gd name="T20" fmla="*/ 175 w 525"/>
                    <a:gd name="T21" fmla="*/ 137 h 334"/>
                    <a:gd name="T22" fmla="*/ 244 w 525"/>
                    <a:gd name="T23" fmla="*/ 140 h 334"/>
                    <a:gd name="T24" fmla="*/ 317 w 525"/>
                    <a:gd name="T25" fmla="*/ 139 h 334"/>
                    <a:gd name="T26" fmla="*/ 383 w 525"/>
                    <a:gd name="T27" fmla="*/ 133 h 334"/>
                    <a:gd name="T28" fmla="*/ 443 w 525"/>
                    <a:gd name="T29" fmla="*/ 122 h 334"/>
                    <a:gd name="T30" fmla="*/ 487 w 525"/>
                    <a:gd name="T31" fmla="*/ 107 h 334"/>
                    <a:gd name="T32" fmla="*/ 515 w 525"/>
                    <a:gd name="T33" fmla="*/ 90 h 334"/>
                    <a:gd name="T34" fmla="*/ 525 w 525"/>
                    <a:gd name="T35" fmla="*/ 71 h 334"/>
                    <a:gd name="T36" fmla="*/ 2 w 525"/>
                    <a:gd name="T37" fmla="*/ 80 h 334"/>
                    <a:gd name="T38" fmla="*/ 21 w 525"/>
                    <a:gd name="T39" fmla="*/ 99 h 334"/>
                    <a:gd name="T40" fmla="*/ 59 w 525"/>
                    <a:gd name="T41" fmla="*/ 115 h 334"/>
                    <a:gd name="T42" fmla="*/ 59 w 525"/>
                    <a:gd name="T43" fmla="*/ 115 h 334"/>
                    <a:gd name="T44" fmla="*/ 21 w 525"/>
                    <a:gd name="T45" fmla="*/ 99 h 334"/>
                    <a:gd name="T46" fmla="*/ 2 w 525"/>
                    <a:gd name="T47" fmla="*/ 80 h 334"/>
                    <a:gd name="T48" fmla="*/ 0 w 525"/>
                    <a:gd name="T49" fmla="*/ 71 h 334"/>
                    <a:gd name="T50" fmla="*/ 2 w 525"/>
                    <a:gd name="T51" fmla="*/ 273 h 334"/>
                    <a:gd name="T52" fmla="*/ 21 w 525"/>
                    <a:gd name="T53" fmla="*/ 291 h 334"/>
                    <a:gd name="T54" fmla="*/ 59 w 525"/>
                    <a:gd name="T55" fmla="*/ 308 h 334"/>
                    <a:gd name="T56" fmla="*/ 111 w 525"/>
                    <a:gd name="T57" fmla="*/ 322 h 334"/>
                    <a:gd name="T58" fmla="*/ 174 w 525"/>
                    <a:gd name="T59" fmla="*/ 330 h 334"/>
                    <a:gd name="T60" fmla="*/ 244 w 525"/>
                    <a:gd name="T61" fmla="*/ 334 h 334"/>
                    <a:gd name="T62" fmla="*/ 317 w 525"/>
                    <a:gd name="T63" fmla="*/ 333 h 334"/>
                    <a:gd name="T64" fmla="*/ 383 w 525"/>
                    <a:gd name="T65" fmla="*/ 326 h 334"/>
                    <a:gd name="T66" fmla="*/ 443 w 525"/>
                    <a:gd name="T67" fmla="*/ 315 h 334"/>
                    <a:gd name="T68" fmla="*/ 487 w 525"/>
                    <a:gd name="T69" fmla="*/ 300 h 334"/>
                    <a:gd name="T70" fmla="*/ 515 w 525"/>
                    <a:gd name="T71" fmla="*/ 283 h 334"/>
                    <a:gd name="T72" fmla="*/ 525 w 525"/>
                    <a:gd name="T73" fmla="*/ 263 h 334"/>
                    <a:gd name="T74" fmla="*/ 523 w 525"/>
                    <a:gd name="T75" fmla="*/ 61 h 334"/>
                    <a:gd name="T76" fmla="*/ 504 w 525"/>
                    <a:gd name="T77" fmla="*/ 42 h 334"/>
                    <a:gd name="T78" fmla="*/ 466 w 525"/>
                    <a:gd name="T79" fmla="*/ 25 h 334"/>
                    <a:gd name="T80" fmla="*/ 414 w 525"/>
                    <a:gd name="T81" fmla="*/ 12 h 334"/>
                    <a:gd name="T82" fmla="*/ 351 w 525"/>
                    <a:gd name="T83" fmla="*/ 4 h 334"/>
                    <a:gd name="T84" fmla="*/ 281 w 525"/>
                    <a:gd name="T85" fmla="*/ 0 h 334"/>
                    <a:gd name="T86" fmla="*/ 208 w 525"/>
                    <a:gd name="T87" fmla="*/ 1 h 334"/>
                    <a:gd name="T88" fmla="*/ 143 w 525"/>
                    <a:gd name="T89" fmla="*/ 7 h 334"/>
                    <a:gd name="T90" fmla="*/ 83 w 525"/>
                    <a:gd name="T91" fmla="*/ 18 h 334"/>
                    <a:gd name="T92" fmla="*/ 38 w 525"/>
                    <a:gd name="T93" fmla="*/ 34 h 334"/>
                    <a:gd name="T94" fmla="*/ 10 w 525"/>
                    <a:gd name="T95" fmla="*/ 50 h 334"/>
                    <a:gd name="T96" fmla="*/ 0 w 525"/>
                    <a:gd name="T97" fmla="*/ 71 h 334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525"/>
                    <a:gd name="T148" fmla="*/ 0 h 334"/>
                    <a:gd name="T149" fmla="*/ 525 w 525"/>
                    <a:gd name="T150" fmla="*/ 334 h 334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525" h="334">
                      <a:moveTo>
                        <a:pt x="525" y="71"/>
                      </a:moveTo>
                      <a:lnTo>
                        <a:pt x="525" y="71"/>
                      </a:lnTo>
                      <a:lnTo>
                        <a:pt x="523" y="80"/>
                      </a:lnTo>
                      <a:lnTo>
                        <a:pt x="515" y="90"/>
                      </a:lnTo>
                      <a:lnTo>
                        <a:pt x="504" y="98"/>
                      </a:lnTo>
                      <a:lnTo>
                        <a:pt x="487" y="107"/>
                      </a:lnTo>
                      <a:lnTo>
                        <a:pt x="466" y="115"/>
                      </a:lnTo>
                      <a:lnTo>
                        <a:pt x="443" y="122"/>
                      </a:lnTo>
                      <a:lnTo>
                        <a:pt x="414" y="128"/>
                      </a:lnTo>
                      <a:lnTo>
                        <a:pt x="383" y="133"/>
                      </a:lnTo>
                      <a:lnTo>
                        <a:pt x="351" y="137"/>
                      </a:lnTo>
                      <a:lnTo>
                        <a:pt x="317" y="139"/>
                      </a:lnTo>
                      <a:lnTo>
                        <a:pt x="281" y="140"/>
                      </a:lnTo>
                      <a:lnTo>
                        <a:pt x="244" y="140"/>
                      </a:lnTo>
                      <a:lnTo>
                        <a:pt x="211" y="139"/>
                      </a:lnTo>
                      <a:lnTo>
                        <a:pt x="175" y="137"/>
                      </a:lnTo>
                      <a:lnTo>
                        <a:pt x="143" y="133"/>
                      </a:lnTo>
                      <a:lnTo>
                        <a:pt x="111" y="128"/>
                      </a:lnTo>
                      <a:lnTo>
                        <a:pt x="83" y="123"/>
                      </a:lnTo>
                      <a:lnTo>
                        <a:pt x="111" y="128"/>
                      </a:lnTo>
                      <a:lnTo>
                        <a:pt x="143" y="133"/>
                      </a:lnTo>
                      <a:lnTo>
                        <a:pt x="175" y="137"/>
                      </a:lnTo>
                      <a:lnTo>
                        <a:pt x="211" y="139"/>
                      </a:lnTo>
                      <a:lnTo>
                        <a:pt x="244" y="140"/>
                      </a:lnTo>
                      <a:lnTo>
                        <a:pt x="281" y="140"/>
                      </a:lnTo>
                      <a:lnTo>
                        <a:pt x="317" y="139"/>
                      </a:lnTo>
                      <a:lnTo>
                        <a:pt x="351" y="137"/>
                      </a:lnTo>
                      <a:lnTo>
                        <a:pt x="383" y="133"/>
                      </a:lnTo>
                      <a:lnTo>
                        <a:pt x="414" y="128"/>
                      </a:lnTo>
                      <a:lnTo>
                        <a:pt x="443" y="122"/>
                      </a:lnTo>
                      <a:lnTo>
                        <a:pt x="466" y="115"/>
                      </a:lnTo>
                      <a:lnTo>
                        <a:pt x="487" y="107"/>
                      </a:lnTo>
                      <a:lnTo>
                        <a:pt x="504" y="98"/>
                      </a:lnTo>
                      <a:lnTo>
                        <a:pt x="515" y="90"/>
                      </a:lnTo>
                      <a:lnTo>
                        <a:pt x="523" y="80"/>
                      </a:lnTo>
                      <a:lnTo>
                        <a:pt x="525" y="71"/>
                      </a:lnTo>
                      <a:close/>
                      <a:moveTo>
                        <a:pt x="0" y="71"/>
                      </a:moveTo>
                      <a:lnTo>
                        <a:pt x="2" y="80"/>
                      </a:lnTo>
                      <a:lnTo>
                        <a:pt x="10" y="90"/>
                      </a:lnTo>
                      <a:lnTo>
                        <a:pt x="21" y="99"/>
                      </a:lnTo>
                      <a:lnTo>
                        <a:pt x="38" y="107"/>
                      </a:lnTo>
                      <a:lnTo>
                        <a:pt x="59" y="115"/>
                      </a:lnTo>
                      <a:lnTo>
                        <a:pt x="83" y="123"/>
                      </a:lnTo>
                      <a:lnTo>
                        <a:pt x="59" y="115"/>
                      </a:lnTo>
                      <a:lnTo>
                        <a:pt x="38" y="107"/>
                      </a:lnTo>
                      <a:lnTo>
                        <a:pt x="21" y="99"/>
                      </a:lnTo>
                      <a:lnTo>
                        <a:pt x="10" y="90"/>
                      </a:lnTo>
                      <a:lnTo>
                        <a:pt x="2" y="80"/>
                      </a:lnTo>
                      <a:lnTo>
                        <a:pt x="0" y="71"/>
                      </a:lnTo>
                      <a:close/>
                      <a:moveTo>
                        <a:pt x="0" y="71"/>
                      </a:moveTo>
                      <a:lnTo>
                        <a:pt x="0" y="263"/>
                      </a:lnTo>
                      <a:lnTo>
                        <a:pt x="2" y="273"/>
                      </a:lnTo>
                      <a:lnTo>
                        <a:pt x="10" y="283"/>
                      </a:lnTo>
                      <a:lnTo>
                        <a:pt x="21" y="291"/>
                      </a:lnTo>
                      <a:lnTo>
                        <a:pt x="38" y="300"/>
                      </a:lnTo>
                      <a:lnTo>
                        <a:pt x="59" y="308"/>
                      </a:lnTo>
                      <a:lnTo>
                        <a:pt x="83" y="315"/>
                      </a:lnTo>
                      <a:lnTo>
                        <a:pt x="111" y="322"/>
                      </a:lnTo>
                      <a:lnTo>
                        <a:pt x="143" y="326"/>
                      </a:lnTo>
                      <a:lnTo>
                        <a:pt x="174" y="330"/>
                      </a:lnTo>
                      <a:lnTo>
                        <a:pt x="208" y="333"/>
                      </a:lnTo>
                      <a:lnTo>
                        <a:pt x="244" y="334"/>
                      </a:lnTo>
                      <a:lnTo>
                        <a:pt x="281" y="334"/>
                      </a:lnTo>
                      <a:lnTo>
                        <a:pt x="317" y="333"/>
                      </a:lnTo>
                      <a:lnTo>
                        <a:pt x="351" y="330"/>
                      </a:lnTo>
                      <a:lnTo>
                        <a:pt x="383" y="326"/>
                      </a:lnTo>
                      <a:lnTo>
                        <a:pt x="414" y="322"/>
                      </a:lnTo>
                      <a:lnTo>
                        <a:pt x="443" y="315"/>
                      </a:lnTo>
                      <a:lnTo>
                        <a:pt x="466" y="308"/>
                      </a:lnTo>
                      <a:lnTo>
                        <a:pt x="487" y="300"/>
                      </a:lnTo>
                      <a:lnTo>
                        <a:pt x="504" y="291"/>
                      </a:lnTo>
                      <a:lnTo>
                        <a:pt x="515" y="283"/>
                      </a:lnTo>
                      <a:lnTo>
                        <a:pt x="523" y="273"/>
                      </a:lnTo>
                      <a:lnTo>
                        <a:pt x="525" y="263"/>
                      </a:lnTo>
                      <a:lnTo>
                        <a:pt x="525" y="71"/>
                      </a:lnTo>
                      <a:lnTo>
                        <a:pt x="523" y="61"/>
                      </a:lnTo>
                      <a:lnTo>
                        <a:pt x="515" y="50"/>
                      </a:lnTo>
                      <a:lnTo>
                        <a:pt x="504" y="42"/>
                      </a:lnTo>
                      <a:lnTo>
                        <a:pt x="487" y="34"/>
                      </a:lnTo>
                      <a:lnTo>
                        <a:pt x="466" y="25"/>
                      </a:lnTo>
                      <a:lnTo>
                        <a:pt x="443" y="18"/>
                      </a:lnTo>
                      <a:lnTo>
                        <a:pt x="414" y="12"/>
                      </a:lnTo>
                      <a:lnTo>
                        <a:pt x="383" y="7"/>
                      </a:lnTo>
                      <a:lnTo>
                        <a:pt x="351" y="4"/>
                      </a:lnTo>
                      <a:lnTo>
                        <a:pt x="317" y="1"/>
                      </a:lnTo>
                      <a:lnTo>
                        <a:pt x="281" y="0"/>
                      </a:lnTo>
                      <a:lnTo>
                        <a:pt x="244" y="0"/>
                      </a:lnTo>
                      <a:lnTo>
                        <a:pt x="208" y="1"/>
                      </a:lnTo>
                      <a:lnTo>
                        <a:pt x="174" y="4"/>
                      </a:lnTo>
                      <a:lnTo>
                        <a:pt x="143" y="7"/>
                      </a:lnTo>
                      <a:lnTo>
                        <a:pt x="111" y="12"/>
                      </a:lnTo>
                      <a:lnTo>
                        <a:pt x="83" y="18"/>
                      </a:lnTo>
                      <a:lnTo>
                        <a:pt x="59" y="25"/>
                      </a:lnTo>
                      <a:lnTo>
                        <a:pt x="38" y="34"/>
                      </a:lnTo>
                      <a:lnTo>
                        <a:pt x="21" y="42"/>
                      </a:lnTo>
                      <a:lnTo>
                        <a:pt x="10" y="50"/>
                      </a:lnTo>
                      <a:lnTo>
                        <a:pt x="2" y="61"/>
                      </a:lnTo>
                      <a:lnTo>
                        <a:pt x="0" y="71"/>
                      </a:lnTo>
                      <a:close/>
                    </a:path>
                  </a:pathLst>
                </a:custGeom>
                <a:solidFill>
                  <a:srgbClr val="8E85B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48" name="Freeform 46"/>
                <p:cNvSpPr>
                  <a:spLocks/>
                </p:cNvSpPr>
                <p:nvPr/>
              </p:nvSpPr>
              <p:spPr bwMode="auto">
                <a:xfrm>
                  <a:off x="3491" y="1912"/>
                  <a:ext cx="442" cy="69"/>
                </a:xfrm>
                <a:custGeom>
                  <a:avLst/>
                  <a:gdLst>
                    <a:gd name="T0" fmla="*/ 442 w 442"/>
                    <a:gd name="T1" fmla="*/ 0 h 69"/>
                    <a:gd name="T2" fmla="*/ 442 w 442"/>
                    <a:gd name="T3" fmla="*/ 0 h 69"/>
                    <a:gd name="T4" fmla="*/ 440 w 442"/>
                    <a:gd name="T5" fmla="*/ 9 h 69"/>
                    <a:gd name="T6" fmla="*/ 432 w 442"/>
                    <a:gd name="T7" fmla="*/ 19 h 69"/>
                    <a:gd name="T8" fmla="*/ 421 w 442"/>
                    <a:gd name="T9" fmla="*/ 27 h 69"/>
                    <a:gd name="T10" fmla="*/ 404 w 442"/>
                    <a:gd name="T11" fmla="*/ 36 h 69"/>
                    <a:gd name="T12" fmla="*/ 383 w 442"/>
                    <a:gd name="T13" fmla="*/ 44 h 69"/>
                    <a:gd name="T14" fmla="*/ 360 w 442"/>
                    <a:gd name="T15" fmla="*/ 51 h 69"/>
                    <a:gd name="T16" fmla="*/ 331 w 442"/>
                    <a:gd name="T17" fmla="*/ 57 h 69"/>
                    <a:gd name="T18" fmla="*/ 300 w 442"/>
                    <a:gd name="T19" fmla="*/ 62 h 69"/>
                    <a:gd name="T20" fmla="*/ 268 w 442"/>
                    <a:gd name="T21" fmla="*/ 66 h 69"/>
                    <a:gd name="T22" fmla="*/ 234 w 442"/>
                    <a:gd name="T23" fmla="*/ 68 h 69"/>
                    <a:gd name="T24" fmla="*/ 198 w 442"/>
                    <a:gd name="T25" fmla="*/ 69 h 69"/>
                    <a:gd name="T26" fmla="*/ 161 w 442"/>
                    <a:gd name="T27" fmla="*/ 69 h 69"/>
                    <a:gd name="T28" fmla="*/ 128 w 442"/>
                    <a:gd name="T29" fmla="*/ 68 h 69"/>
                    <a:gd name="T30" fmla="*/ 92 w 442"/>
                    <a:gd name="T31" fmla="*/ 66 h 69"/>
                    <a:gd name="T32" fmla="*/ 60 w 442"/>
                    <a:gd name="T33" fmla="*/ 62 h 69"/>
                    <a:gd name="T34" fmla="*/ 28 w 442"/>
                    <a:gd name="T35" fmla="*/ 57 h 69"/>
                    <a:gd name="T36" fmla="*/ 0 w 442"/>
                    <a:gd name="T37" fmla="*/ 52 h 69"/>
                    <a:gd name="T38" fmla="*/ 28 w 442"/>
                    <a:gd name="T39" fmla="*/ 57 h 69"/>
                    <a:gd name="T40" fmla="*/ 60 w 442"/>
                    <a:gd name="T41" fmla="*/ 62 h 69"/>
                    <a:gd name="T42" fmla="*/ 92 w 442"/>
                    <a:gd name="T43" fmla="*/ 66 h 69"/>
                    <a:gd name="T44" fmla="*/ 128 w 442"/>
                    <a:gd name="T45" fmla="*/ 68 h 69"/>
                    <a:gd name="T46" fmla="*/ 161 w 442"/>
                    <a:gd name="T47" fmla="*/ 69 h 69"/>
                    <a:gd name="T48" fmla="*/ 198 w 442"/>
                    <a:gd name="T49" fmla="*/ 69 h 69"/>
                    <a:gd name="T50" fmla="*/ 234 w 442"/>
                    <a:gd name="T51" fmla="*/ 68 h 69"/>
                    <a:gd name="T52" fmla="*/ 268 w 442"/>
                    <a:gd name="T53" fmla="*/ 66 h 69"/>
                    <a:gd name="T54" fmla="*/ 300 w 442"/>
                    <a:gd name="T55" fmla="*/ 62 h 69"/>
                    <a:gd name="T56" fmla="*/ 331 w 442"/>
                    <a:gd name="T57" fmla="*/ 57 h 69"/>
                    <a:gd name="T58" fmla="*/ 360 w 442"/>
                    <a:gd name="T59" fmla="*/ 51 h 69"/>
                    <a:gd name="T60" fmla="*/ 383 w 442"/>
                    <a:gd name="T61" fmla="*/ 44 h 69"/>
                    <a:gd name="T62" fmla="*/ 404 w 442"/>
                    <a:gd name="T63" fmla="*/ 36 h 69"/>
                    <a:gd name="T64" fmla="*/ 421 w 442"/>
                    <a:gd name="T65" fmla="*/ 27 h 69"/>
                    <a:gd name="T66" fmla="*/ 432 w 442"/>
                    <a:gd name="T67" fmla="*/ 19 h 69"/>
                    <a:gd name="T68" fmla="*/ 440 w 442"/>
                    <a:gd name="T69" fmla="*/ 9 h 69"/>
                    <a:gd name="T70" fmla="*/ 442 w 442"/>
                    <a:gd name="T71" fmla="*/ 0 h 69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442"/>
                    <a:gd name="T109" fmla="*/ 0 h 69"/>
                    <a:gd name="T110" fmla="*/ 442 w 442"/>
                    <a:gd name="T111" fmla="*/ 69 h 69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442" h="69">
                      <a:moveTo>
                        <a:pt x="442" y="0"/>
                      </a:moveTo>
                      <a:lnTo>
                        <a:pt x="442" y="0"/>
                      </a:lnTo>
                      <a:lnTo>
                        <a:pt x="440" y="9"/>
                      </a:lnTo>
                      <a:lnTo>
                        <a:pt x="432" y="19"/>
                      </a:lnTo>
                      <a:lnTo>
                        <a:pt x="421" y="27"/>
                      </a:lnTo>
                      <a:lnTo>
                        <a:pt x="404" y="36"/>
                      </a:lnTo>
                      <a:lnTo>
                        <a:pt x="383" y="44"/>
                      </a:lnTo>
                      <a:lnTo>
                        <a:pt x="360" y="51"/>
                      </a:lnTo>
                      <a:lnTo>
                        <a:pt x="331" y="57"/>
                      </a:lnTo>
                      <a:lnTo>
                        <a:pt x="300" y="62"/>
                      </a:lnTo>
                      <a:lnTo>
                        <a:pt x="268" y="66"/>
                      </a:lnTo>
                      <a:lnTo>
                        <a:pt x="234" y="68"/>
                      </a:lnTo>
                      <a:lnTo>
                        <a:pt x="198" y="69"/>
                      </a:lnTo>
                      <a:lnTo>
                        <a:pt x="161" y="69"/>
                      </a:lnTo>
                      <a:lnTo>
                        <a:pt x="128" y="68"/>
                      </a:lnTo>
                      <a:lnTo>
                        <a:pt x="92" y="66"/>
                      </a:lnTo>
                      <a:lnTo>
                        <a:pt x="60" y="62"/>
                      </a:lnTo>
                      <a:lnTo>
                        <a:pt x="28" y="57"/>
                      </a:lnTo>
                      <a:lnTo>
                        <a:pt x="0" y="52"/>
                      </a:lnTo>
                      <a:lnTo>
                        <a:pt x="28" y="57"/>
                      </a:lnTo>
                      <a:lnTo>
                        <a:pt x="60" y="62"/>
                      </a:lnTo>
                      <a:lnTo>
                        <a:pt x="92" y="66"/>
                      </a:lnTo>
                      <a:lnTo>
                        <a:pt x="128" y="68"/>
                      </a:lnTo>
                      <a:lnTo>
                        <a:pt x="161" y="69"/>
                      </a:lnTo>
                      <a:lnTo>
                        <a:pt x="198" y="69"/>
                      </a:lnTo>
                      <a:lnTo>
                        <a:pt x="234" y="68"/>
                      </a:lnTo>
                      <a:lnTo>
                        <a:pt x="268" y="66"/>
                      </a:lnTo>
                      <a:lnTo>
                        <a:pt x="300" y="62"/>
                      </a:lnTo>
                      <a:lnTo>
                        <a:pt x="331" y="57"/>
                      </a:lnTo>
                      <a:lnTo>
                        <a:pt x="360" y="51"/>
                      </a:lnTo>
                      <a:lnTo>
                        <a:pt x="383" y="44"/>
                      </a:lnTo>
                      <a:lnTo>
                        <a:pt x="404" y="36"/>
                      </a:lnTo>
                      <a:lnTo>
                        <a:pt x="421" y="27"/>
                      </a:lnTo>
                      <a:lnTo>
                        <a:pt x="432" y="19"/>
                      </a:lnTo>
                      <a:lnTo>
                        <a:pt x="440" y="9"/>
                      </a:lnTo>
                      <a:lnTo>
                        <a:pt x="442" y="0"/>
                      </a:lnTo>
                      <a:close/>
                    </a:path>
                  </a:pathLst>
                </a:custGeom>
                <a:noFill/>
                <a:ln w="9525" cap="rnd">
                  <a:solidFill>
                    <a:srgbClr val="23CB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49" name="Freeform 47"/>
                <p:cNvSpPr>
                  <a:spLocks/>
                </p:cNvSpPr>
                <p:nvPr/>
              </p:nvSpPr>
              <p:spPr bwMode="auto">
                <a:xfrm>
                  <a:off x="3408" y="1912"/>
                  <a:ext cx="83" cy="52"/>
                </a:xfrm>
                <a:custGeom>
                  <a:avLst/>
                  <a:gdLst>
                    <a:gd name="T0" fmla="*/ 0 w 83"/>
                    <a:gd name="T1" fmla="*/ 0 h 52"/>
                    <a:gd name="T2" fmla="*/ 2 w 83"/>
                    <a:gd name="T3" fmla="*/ 9 h 52"/>
                    <a:gd name="T4" fmla="*/ 10 w 83"/>
                    <a:gd name="T5" fmla="*/ 19 h 52"/>
                    <a:gd name="T6" fmla="*/ 21 w 83"/>
                    <a:gd name="T7" fmla="*/ 28 h 52"/>
                    <a:gd name="T8" fmla="*/ 38 w 83"/>
                    <a:gd name="T9" fmla="*/ 36 h 52"/>
                    <a:gd name="T10" fmla="*/ 59 w 83"/>
                    <a:gd name="T11" fmla="*/ 44 h 52"/>
                    <a:gd name="T12" fmla="*/ 83 w 83"/>
                    <a:gd name="T13" fmla="*/ 52 h 52"/>
                    <a:gd name="T14" fmla="*/ 59 w 83"/>
                    <a:gd name="T15" fmla="*/ 44 h 52"/>
                    <a:gd name="T16" fmla="*/ 38 w 83"/>
                    <a:gd name="T17" fmla="*/ 36 h 52"/>
                    <a:gd name="T18" fmla="*/ 21 w 83"/>
                    <a:gd name="T19" fmla="*/ 28 h 52"/>
                    <a:gd name="T20" fmla="*/ 10 w 83"/>
                    <a:gd name="T21" fmla="*/ 19 h 52"/>
                    <a:gd name="T22" fmla="*/ 2 w 83"/>
                    <a:gd name="T23" fmla="*/ 9 h 52"/>
                    <a:gd name="T24" fmla="*/ 0 w 83"/>
                    <a:gd name="T25" fmla="*/ 0 h 52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83"/>
                    <a:gd name="T40" fmla="*/ 0 h 52"/>
                    <a:gd name="T41" fmla="*/ 83 w 83"/>
                    <a:gd name="T42" fmla="*/ 52 h 52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83" h="52">
                      <a:moveTo>
                        <a:pt x="0" y="0"/>
                      </a:moveTo>
                      <a:lnTo>
                        <a:pt x="2" y="9"/>
                      </a:lnTo>
                      <a:lnTo>
                        <a:pt x="10" y="19"/>
                      </a:lnTo>
                      <a:lnTo>
                        <a:pt x="21" y="28"/>
                      </a:lnTo>
                      <a:lnTo>
                        <a:pt x="38" y="36"/>
                      </a:lnTo>
                      <a:lnTo>
                        <a:pt x="59" y="44"/>
                      </a:lnTo>
                      <a:lnTo>
                        <a:pt x="83" y="52"/>
                      </a:lnTo>
                      <a:lnTo>
                        <a:pt x="59" y="44"/>
                      </a:lnTo>
                      <a:lnTo>
                        <a:pt x="38" y="36"/>
                      </a:lnTo>
                      <a:lnTo>
                        <a:pt x="21" y="28"/>
                      </a:lnTo>
                      <a:lnTo>
                        <a:pt x="10" y="19"/>
                      </a:lnTo>
                      <a:lnTo>
                        <a:pt x="2" y="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>
                  <a:solidFill>
                    <a:srgbClr val="23CB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50" name="Freeform 48"/>
                <p:cNvSpPr>
                  <a:spLocks/>
                </p:cNvSpPr>
                <p:nvPr/>
              </p:nvSpPr>
              <p:spPr bwMode="auto">
                <a:xfrm>
                  <a:off x="3408" y="1841"/>
                  <a:ext cx="525" cy="334"/>
                </a:xfrm>
                <a:custGeom>
                  <a:avLst/>
                  <a:gdLst>
                    <a:gd name="T0" fmla="*/ 0 w 525"/>
                    <a:gd name="T1" fmla="*/ 71 h 334"/>
                    <a:gd name="T2" fmla="*/ 0 w 525"/>
                    <a:gd name="T3" fmla="*/ 263 h 334"/>
                    <a:gd name="T4" fmla="*/ 2 w 525"/>
                    <a:gd name="T5" fmla="*/ 273 h 334"/>
                    <a:gd name="T6" fmla="*/ 10 w 525"/>
                    <a:gd name="T7" fmla="*/ 283 h 334"/>
                    <a:gd name="T8" fmla="*/ 21 w 525"/>
                    <a:gd name="T9" fmla="*/ 291 h 334"/>
                    <a:gd name="T10" fmla="*/ 38 w 525"/>
                    <a:gd name="T11" fmla="*/ 300 h 334"/>
                    <a:gd name="T12" fmla="*/ 59 w 525"/>
                    <a:gd name="T13" fmla="*/ 308 h 334"/>
                    <a:gd name="T14" fmla="*/ 83 w 525"/>
                    <a:gd name="T15" fmla="*/ 315 h 334"/>
                    <a:gd name="T16" fmla="*/ 111 w 525"/>
                    <a:gd name="T17" fmla="*/ 322 h 334"/>
                    <a:gd name="T18" fmla="*/ 143 w 525"/>
                    <a:gd name="T19" fmla="*/ 326 h 334"/>
                    <a:gd name="T20" fmla="*/ 174 w 525"/>
                    <a:gd name="T21" fmla="*/ 330 h 334"/>
                    <a:gd name="T22" fmla="*/ 208 w 525"/>
                    <a:gd name="T23" fmla="*/ 333 h 334"/>
                    <a:gd name="T24" fmla="*/ 244 w 525"/>
                    <a:gd name="T25" fmla="*/ 334 h 334"/>
                    <a:gd name="T26" fmla="*/ 281 w 525"/>
                    <a:gd name="T27" fmla="*/ 334 h 334"/>
                    <a:gd name="T28" fmla="*/ 317 w 525"/>
                    <a:gd name="T29" fmla="*/ 333 h 334"/>
                    <a:gd name="T30" fmla="*/ 351 w 525"/>
                    <a:gd name="T31" fmla="*/ 330 h 334"/>
                    <a:gd name="T32" fmla="*/ 383 w 525"/>
                    <a:gd name="T33" fmla="*/ 326 h 334"/>
                    <a:gd name="T34" fmla="*/ 414 w 525"/>
                    <a:gd name="T35" fmla="*/ 322 h 334"/>
                    <a:gd name="T36" fmla="*/ 443 w 525"/>
                    <a:gd name="T37" fmla="*/ 315 h 334"/>
                    <a:gd name="T38" fmla="*/ 466 w 525"/>
                    <a:gd name="T39" fmla="*/ 308 h 334"/>
                    <a:gd name="T40" fmla="*/ 487 w 525"/>
                    <a:gd name="T41" fmla="*/ 300 h 334"/>
                    <a:gd name="T42" fmla="*/ 504 w 525"/>
                    <a:gd name="T43" fmla="*/ 291 h 334"/>
                    <a:gd name="T44" fmla="*/ 515 w 525"/>
                    <a:gd name="T45" fmla="*/ 283 h 334"/>
                    <a:gd name="T46" fmla="*/ 523 w 525"/>
                    <a:gd name="T47" fmla="*/ 273 h 334"/>
                    <a:gd name="T48" fmla="*/ 525 w 525"/>
                    <a:gd name="T49" fmla="*/ 263 h 334"/>
                    <a:gd name="T50" fmla="*/ 525 w 525"/>
                    <a:gd name="T51" fmla="*/ 71 h 334"/>
                    <a:gd name="T52" fmla="*/ 523 w 525"/>
                    <a:gd name="T53" fmla="*/ 61 h 334"/>
                    <a:gd name="T54" fmla="*/ 515 w 525"/>
                    <a:gd name="T55" fmla="*/ 50 h 334"/>
                    <a:gd name="T56" fmla="*/ 504 w 525"/>
                    <a:gd name="T57" fmla="*/ 42 h 334"/>
                    <a:gd name="T58" fmla="*/ 487 w 525"/>
                    <a:gd name="T59" fmla="*/ 34 h 334"/>
                    <a:gd name="T60" fmla="*/ 466 w 525"/>
                    <a:gd name="T61" fmla="*/ 25 h 334"/>
                    <a:gd name="T62" fmla="*/ 443 w 525"/>
                    <a:gd name="T63" fmla="*/ 18 h 334"/>
                    <a:gd name="T64" fmla="*/ 414 w 525"/>
                    <a:gd name="T65" fmla="*/ 12 h 334"/>
                    <a:gd name="T66" fmla="*/ 383 w 525"/>
                    <a:gd name="T67" fmla="*/ 7 h 334"/>
                    <a:gd name="T68" fmla="*/ 351 w 525"/>
                    <a:gd name="T69" fmla="*/ 4 h 334"/>
                    <a:gd name="T70" fmla="*/ 317 w 525"/>
                    <a:gd name="T71" fmla="*/ 1 h 334"/>
                    <a:gd name="T72" fmla="*/ 281 w 525"/>
                    <a:gd name="T73" fmla="*/ 0 h 334"/>
                    <a:gd name="T74" fmla="*/ 244 w 525"/>
                    <a:gd name="T75" fmla="*/ 0 h 334"/>
                    <a:gd name="T76" fmla="*/ 208 w 525"/>
                    <a:gd name="T77" fmla="*/ 1 h 334"/>
                    <a:gd name="T78" fmla="*/ 174 w 525"/>
                    <a:gd name="T79" fmla="*/ 4 h 334"/>
                    <a:gd name="T80" fmla="*/ 143 w 525"/>
                    <a:gd name="T81" fmla="*/ 7 h 334"/>
                    <a:gd name="T82" fmla="*/ 111 w 525"/>
                    <a:gd name="T83" fmla="*/ 12 h 334"/>
                    <a:gd name="T84" fmla="*/ 83 w 525"/>
                    <a:gd name="T85" fmla="*/ 18 h 334"/>
                    <a:gd name="T86" fmla="*/ 59 w 525"/>
                    <a:gd name="T87" fmla="*/ 25 h 334"/>
                    <a:gd name="T88" fmla="*/ 38 w 525"/>
                    <a:gd name="T89" fmla="*/ 34 h 334"/>
                    <a:gd name="T90" fmla="*/ 21 w 525"/>
                    <a:gd name="T91" fmla="*/ 42 h 334"/>
                    <a:gd name="T92" fmla="*/ 10 w 525"/>
                    <a:gd name="T93" fmla="*/ 50 h 334"/>
                    <a:gd name="T94" fmla="*/ 2 w 525"/>
                    <a:gd name="T95" fmla="*/ 61 h 334"/>
                    <a:gd name="T96" fmla="*/ 0 w 525"/>
                    <a:gd name="T97" fmla="*/ 71 h 334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525"/>
                    <a:gd name="T148" fmla="*/ 0 h 334"/>
                    <a:gd name="T149" fmla="*/ 525 w 525"/>
                    <a:gd name="T150" fmla="*/ 334 h 334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525" h="334">
                      <a:moveTo>
                        <a:pt x="0" y="71"/>
                      </a:moveTo>
                      <a:lnTo>
                        <a:pt x="0" y="263"/>
                      </a:lnTo>
                      <a:lnTo>
                        <a:pt x="2" y="273"/>
                      </a:lnTo>
                      <a:lnTo>
                        <a:pt x="10" y="283"/>
                      </a:lnTo>
                      <a:lnTo>
                        <a:pt x="21" y="291"/>
                      </a:lnTo>
                      <a:lnTo>
                        <a:pt x="38" y="300"/>
                      </a:lnTo>
                      <a:lnTo>
                        <a:pt x="59" y="308"/>
                      </a:lnTo>
                      <a:lnTo>
                        <a:pt x="83" y="315"/>
                      </a:lnTo>
                      <a:lnTo>
                        <a:pt x="111" y="322"/>
                      </a:lnTo>
                      <a:lnTo>
                        <a:pt x="143" y="326"/>
                      </a:lnTo>
                      <a:lnTo>
                        <a:pt x="174" y="330"/>
                      </a:lnTo>
                      <a:lnTo>
                        <a:pt x="208" y="333"/>
                      </a:lnTo>
                      <a:lnTo>
                        <a:pt x="244" y="334"/>
                      </a:lnTo>
                      <a:lnTo>
                        <a:pt x="281" y="334"/>
                      </a:lnTo>
                      <a:lnTo>
                        <a:pt x="317" y="333"/>
                      </a:lnTo>
                      <a:lnTo>
                        <a:pt x="351" y="330"/>
                      </a:lnTo>
                      <a:lnTo>
                        <a:pt x="383" y="326"/>
                      </a:lnTo>
                      <a:lnTo>
                        <a:pt x="414" y="322"/>
                      </a:lnTo>
                      <a:lnTo>
                        <a:pt x="443" y="315"/>
                      </a:lnTo>
                      <a:lnTo>
                        <a:pt x="466" y="308"/>
                      </a:lnTo>
                      <a:lnTo>
                        <a:pt x="487" y="300"/>
                      </a:lnTo>
                      <a:lnTo>
                        <a:pt x="504" y="291"/>
                      </a:lnTo>
                      <a:lnTo>
                        <a:pt x="515" y="283"/>
                      </a:lnTo>
                      <a:lnTo>
                        <a:pt x="523" y="273"/>
                      </a:lnTo>
                      <a:lnTo>
                        <a:pt x="525" y="263"/>
                      </a:lnTo>
                      <a:lnTo>
                        <a:pt x="525" y="71"/>
                      </a:lnTo>
                      <a:lnTo>
                        <a:pt x="523" y="61"/>
                      </a:lnTo>
                      <a:lnTo>
                        <a:pt x="515" y="50"/>
                      </a:lnTo>
                      <a:lnTo>
                        <a:pt x="504" y="42"/>
                      </a:lnTo>
                      <a:lnTo>
                        <a:pt x="487" y="34"/>
                      </a:lnTo>
                      <a:lnTo>
                        <a:pt x="466" y="25"/>
                      </a:lnTo>
                      <a:lnTo>
                        <a:pt x="443" y="18"/>
                      </a:lnTo>
                      <a:lnTo>
                        <a:pt x="414" y="12"/>
                      </a:lnTo>
                      <a:lnTo>
                        <a:pt x="383" y="7"/>
                      </a:lnTo>
                      <a:lnTo>
                        <a:pt x="351" y="4"/>
                      </a:lnTo>
                      <a:lnTo>
                        <a:pt x="317" y="1"/>
                      </a:lnTo>
                      <a:lnTo>
                        <a:pt x="281" y="0"/>
                      </a:lnTo>
                      <a:lnTo>
                        <a:pt x="244" y="0"/>
                      </a:lnTo>
                      <a:lnTo>
                        <a:pt x="208" y="1"/>
                      </a:lnTo>
                      <a:lnTo>
                        <a:pt x="174" y="4"/>
                      </a:lnTo>
                      <a:lnTo>
                        <a:pt x="143" y="7"/>
                      </a:lnTo>
                      <a:lnTo>
                        <a:pt x="111" y="12"/>
                      </a:lnTo>
                      <a:lnTo>
                        <a:pt x="83" y="18"/>
                      </a:lnTo>
                      <a:lnTo>
                        <a:pt x="59" y="25"/>
                      </a:lnTo>
                      <a:lnTo>
                        <a:pt x="38" y="34"/>
                      </a:lnTo>
                      <a:lnTo>
                        <a:pt x="21" y="42"/>
                      </a:lnTo>
                      <a:lnTo>
                        <a:pt x="10" y="50"/>
                      </a:lnTo>
                      <a:lnTo>
                        <a:pt x="2" y="61"/>
                      </a:lnTo>
                      <a:lnTo>
                        <a:pt x="0" y="71"/>
                      </a:lnTo>
                    </a:path>
                  </a:pathLst>
                </a:custGeom>
                <a:noFill/>
                <a:ln w="9525" cap="rnd">
                  <a:solidFill>
                    <a:srgbClr val="23CB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40" name="Group 49"/>
              <p:cNvGrpSpPr>
                <a:grpSpLocks/>
              </p:cNvGrpSpPr>
              <p:nvPr/>
            </p:nvGrpSpPr>
            <p:grpSpPr bwMode="auto">
              <a:xfrm>
                <a:off x="3409" y="1841"/>
                <a:ext cx="524" cy="141"/>
                <a:chOff x="3409" y="1841"/>
                <a:chExt cx="524" cy="141"/>
              </a:xfrm>
            </p:grpSpPr>
            <p:sp>
              <p:nvSpPr>
                <p:cNvPr id="29745" name="Freeform 50"/>
                <p:cNvSpPr>
                  <a:spLocks/>
                </p:cNvSpPr>
                <p:nvPr/>
              </p:nvSpPr>
              <p:spPr bwMode="auto">
                <a:xfrm>
                  <a:off x="3409" y="1841"/>
                  <a:ext cx="524" cy="141"/>
                </a:xfrm>
                <a:custGeom>
                  <a:avLst/>
                  <a:gdLst>
                    <a:gd name="T0" fmla="*/ 524 w 524"/>
                    <a:gd name="T1" fmla="*/ 71 h 141"/>
                    <a:gd name="T2" fmla="*/ 522 w 524"/>
                    <a:gd name="T3" fmla="*/ 80 h 141"/>
                    <a:gd name="T4" fmla="*/ 514 w 524"/>
                    <a:gd name="T5" fmla="*/ 90 h 141"/>
                    <a:gd name="T6" fmla="*/ 502 w 524"/>
                    <a:gd name="T7" fmla="*/ 99 h 141"/>
                    <a:gd name="T8" fmla="*/ 485 w 524"/>
                    <a:gd name="T9" fmla="*/ 107 h 141"/>
                    <a:gd name="T10" fmla="*/ 463 w 524"/>
                    <a:gd name="T11" fmla="*/ 116 h 141"/>
                    <a:gd name="T12" fmla="*/ 437 w 524"/>
                    <a:gd name="T13" fmla="*/ 123 h 141"/>
                    <a:gd name="T14" fmla="*/ 409 w 524"/>
                    <a:gd name="T15" fmla="*/ 129 h 141"/>
                    <a:gd name="T16" fmla="*/ 377 w 524"/>
                    <a:gd name="T17" fmla="*/ 134 h 141"/>
                    <a:gd name="T18" fmla="*/ 342 w 524"/>
                    <a:gd name="T19" fmla="*/ 138 h 141"/>
                    <a:gd name="T20" fmla="*/ 308 w 524"/>
                    <a:gd name="T21" fmla="*/ 139 h 141"/>
                    <a:gd name="T22" fmla="*/ 271 w 524"/>
                    <a:gd name="T23" fmla="*/ 141 h 141"/>
                    <a:gd name="T24" fmla="*/ 234 w 524"/>
                    <a:gd name="T25" fmla="*/ 140 h 141"/>
                    <a:gd name="T26" fmla="*/ 197 w 524"/>
                    <a:gd name="T27" fmla="*/ 138 h 141"/>
                    <a:gd name="T28" fmla="*/ 163 w 524"/>
                    <a:gd name="T29" fmla="*/ 136 h 141"/>
                    <a:gd name="T30" fmla="*/ 131 w 524"/>
                    <a:gd name="T31" fmla="*/ 132 h 141"/>
                    <a:gd name="T32" fmla="*/ 99 w 524"/>
                    <a:gd name="T33" fmla="*/ 127 h 141"/>
                    <a:gd name="T34" fmla="*/ 73 w 524"/>
                    <a:gd name="T35" fmla="*/ 119 h 141"/>
                    <a:gd name="T36" fmla="*/ 48 w 524"/>
                    <a:gd name="T37" fmla="*/ 112 h 141"/>
                    <a:gd name="T38" fmla="*/ 29 w 524"/>
                    <a:gd name="T39" fmla="*/ 104 h 141"/>
                    <a:gd name="T40" fmla="*/ 16 w 524"/>
                    <a:gd name="T41" fmla="*/ 94 h 141"/>
                    <a:gd name="T42" fmla="*/ 5 w 524"/>
                    <a:gd name="T43" fmla="*/ 84 h 141"/>
                    <a:gd name="T44" fmla="*/ 0 w 524"/>
                    <a:gd name="T45" fmla="*/ 75 h 141"/>
                    <a:gd name="T46" fmla="*/ 0 w 524"/>
                    <a:gd name="T47" fmla="*/ 65 h 141"/>
                    <a:gd name="T48" fmla="*/ 5 w 524"/>
                    <a:gd name="T49" fmla="*/ 55 h 141"/>
                    <a:gd name="T50" fmla="*/ 16 w 524"/>
                    <a:gd name="T51" fmla="*/ 46 h 141"/>
                    <a:gd name="T52" fmla="*/ 29 w 524"/>
                    <a:gd name="T53" fmla="*/ 37 h 141"/>
                    <a:gd name="T54" fmla="*/ 48 w 524"/>
                    <a:gd name="T55" fmla="*/ 28 h 141"/>
                    <a:gd name="T56" fmla="*/ 73 w 524"/>
                    <a:gd name="T57" fmla="*/ 20 h 141"/>
                    <a:gd name="T58" fmla="*/ 99 w 524"/>
                    <a:gd name="T59" fmla="*/ 14 h 141"/>
                    <a:gd name="T60" fmla="*/ 131 w 524"/>
                    <a:gd name="T61" fmla="*/ 9 h 141"/>
                    <a:gd name="T62" fmla="*/ 163 w 524"/>
                    <a:gd name="T63" fmla="*/ 5 h 141"/>
                    <a:gd name="T64" fmla="*/ 197 w 524"/>
                    <a:gd name="T65" fmla="*/ 2 h 141"/>
                    <a:gd name="T66" fmla="*/ 234 w 524"/>
                    <a:gd name="T67" fmla="*/ 0 h 141"/>
                    <a:gd name="T68" fmla="*/ 271 w 524"/>
                    <a:gd name="T69" fmla="*/ 0 h 141"/>
                    <a:gd name="T70" fmla="*/ 308 w 524"/>
                    <a:gd name="T71" fmla="*/ 1 h 141"/>
                    <a:gd name="T72" fmla="*/ 342 w 524"/>
                    <a:gd name="T73" fmla="*/ 3 h 141"/>
                    <a:gd name="T74" fmla="*/ 377 w 524"/>
                    <a:gd name="T75" fmla="*/ 6 h 141"/>
                    <a:gd name="T76" fmla="*/ 409 w 524"/>
                    <a:gd name="T77" fmla="*/ 11 h 141"/>
                    <a:gd name="T78" fmla="*/ 437 w 524"/>
                    <a:gd name="T79" fmla="*/ 17 h 141"/>
                    <a:gd name="T80" fmla="*/ 463 w 524"/>
                    <a:gd name="T81" fmla="*/ 24 h 141"/>
                    <a:gd name="T82" fmla="*/ 485 w 524"/>
                    <a:gd name="T83" fmla="*/ 33 h 141"/>
                    <a:gd name="T84" fmla="*/ 502 w 524"/>
                    <a:gd name="T85" fmla="*/ 41 h 141"/>
                    <a:gd name="T86" fmla="*/ 514 w 524"/>
                    <a:gd name="T87" fmla="*/ 50 h 141"/>
                    <a:gd name="T88" fmla="*/ 522 w 524"/>
                    <a:gd name="T89" fmla="*/ 61 h 141"/>
                    <a:gd name="T90" fmla="*/ 524 w 524"/>
                    <a:gd name="T91" fmla="*/ 71 h 141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524"/>
                    <a:gd name="T139" fmla="*/ 0 h 141"/>
                    <a:gd name="T140" fmla="*/ 524 w 524"/>
                    <a:gd name="T141" fmla="*/ 141 h 141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524" h="141">
                      <a:moveTo>
                        <a:pt x="524" y="71"/>
                      </a:moveTo>
                      <a:lnTo>
                        <a:pt x="522" y="80"/>
                      </a:lnTo>
                      <a:lnTo>
                        <a:pt x="514" y="90"/>
                      </a:lnTo>
                      <a:lnTo>
                        <a:pt x="502" y="99"/>
                      </a:lnTo>
                      <a:lnTo>
                        <a:pt x="485" y="107"/>
                      </a:lnTo>
                      <a:lnTo>
                        <a:pt x="463" y="116"/>
                      </a:lnTo>
                      <a:lnTo>
                        <a:pt x="437" y="123"/>
                      </a:lnTo>
                      <a:lnTo>
                        <a:pt x="409" y="129"/>
                      </a:lnTo>
                      <a:lnTo>
                        <a:pt x="377" y="134"/>
                      </a:lnTo>
                      <a:lnTo>
                        <a:pt x="342" y="138"/>
                      </a:lnTo>
                      <a:lnTo>
                        <a:pt x="308" y="139"/>
                      </a:lnTo>
                      <a:lnTo>
                        <a:pt x="271" y="141"/>
                      </a:lnTo>
                      <a:lnTo>
                        <a:pt x="234" y="140"/>
                      </a:lnTo>
                      <a:lnTo>
                        <a:pt x="197" y="138"/>
                      </a:lnTo>
                      <a:lnTo>
                        <a:pt x="163" y="136"/>
                      </a:lnTo>
                      <a:lnTo>
                        <a:pt x="131" y="132"/>
                      </a:lnTo>
                      <a:lnTo>
                        <a:pt x="99" y="127"/>
                      </a:lnTo>
                      <a:lnTo>
                        <a:pt x="73" y="119"/>
                      </a:lnTo>
                      <a:lnTo>
                        <a:pt x="48" y="112"/>
                      </a:lnTo>
                      <a:lnTo>
                        <a:pt x="29" y="104"/>
                      </a:lnTo>
                      <a:lnTo>
                        <a:pt x="16" y="94"/>
                      </a:lnTo>
                      <a:lnTo>
                        <a:pt x="5" y="84"/>
                      </a:lnTo>
                      <a:lnTo>
                        <a:pt x="0" y="75"/>
                      </a:lnTo>
                      <a:lnTo>
                        <a:pt x="0" y="65"/>
                      </a:lnTo>
                      <a:lnTo>
                        <a:pt x="5" y="55"/>
                      </a:lnTo>
                      <a:lnTo>
                        <a:pt x="16" y="46"/>
                      </a:lnTo>
                      <a:lnTo>
                        <a:pt x="29" y="37"/>
                      </a:lnTo>
                      <a:lnTo>
                        <a:pt x="48" y="28"/>
                      </a:lnTo>
                      <a:lnTo>
                        <a:pt x="73" y="20"/>
                      </a:lnTo>
                      <a:lnTo>
                        <a:pt x="99" y="14"/>
                      </a:lnTo>
                      <a:lnTo>
                        <a:pt x="131" y="9"/>
                      </a:lnTo>
                      <a:lnTo>
                        <a:pt x="163" y="5"/>
                      </a:lnTo>
                      <a:lnTo>
                        <a:pt x="197" y="2"/>
                      </a:lnTo>
                      <a:lnTo>
                        <a:pt x="234" y="0"/>
                      </a:lnTo>
                      <a:lnTo>
                        <a:pt x="271" y="0"/>
                      </a:lnTo>
                      <a:lnTo>
                        <a:pt x="308" y="1"/>
                      </a:lnTo>
                      <a:lnTo>
                        <a:pt x="342" y="3"/>
                      </a:lnTo>
                      <a:lnTo>
                        <a:pt x="377" y="6"/>
                      </a:lnTo>
                      <a:lnTo>
                        <a:pt x="409" y="11"/>
                      </a:lnTo>
                      <a:lnTo>
                        <a:pt x="437" y="17"/>
                      </a:lnTo>
                      <a:lnTo>
                        <a:pt x="463" y="24"/>
                      </a:lnTo>
                      <a:lnTo>
                        <a:pt x="485" y="33"/>
                      </a:lnTo>
                      <a:lnTo>
                        <a:pt x="502" y="41"/>
                      </a:lnTo>
                      <a:lnTo>
                        <a:pt x="514" y="50"/>
                      </a:lnTo>
                      <a:lnTo>
                        <a:pt x="522" y="61"/>
                      </a:lnTo>
                      <a:lnTo>
                        <a:pt x="524" y="71"/>
                      </a:lnTo>
                      <a:close/>
                    </a:path>
                  </a:pathLst>
                </a:custGeom>
                <a:solidFill>
                  <a:srgbClr val="BBB4D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746" name="Freeform 51"/>
                <p:cNvSpPr>
                  <a:spLocks/>
                </p:cNvSpPr>
                <p:nvPr/>
              </p:nvSpPr>
              <p:spPr bwMode="auto">
                <a:xfrm>
                  <a:off x="3409" y="1841"/>
                  <a:ext cx="524" cy="141"/>
                </a:xfrm>
                <a:custGeom>
                  <a:avLst/>
                  <a:gdLst>
                    <a:gd name="T0" fmla="*/ 524 w 524"/>
                    <a:gd name="T1" fmla="*/ 71 h 141"/>
                    <a:gd name="T2" fmla="*/ 522 w 524"/>
                    <a:gd name="T3" fmla="*/ 80 h 141"/>
                    <a:gd name="T4" fmla="*/ 514 w 524"/>
                    <a:gd name="T5" fmla="*/ 90 h 141"/>
                    <a:gd name="T6" fmla="*/ 502 w 524"/>
                    <a:gd name="T7" fmla="*/ 99 h 141"/>
                    <a:gd name="T8" fmla="*/ 485 w 524"/>
                    <a:gd name="T9" fmla="*/ 107 h 141"/>
                    <a:gd name="T10" fmla="*/ 463 w 524"/>
                    <a:gd name="T11" fmla="*/ 116 h 141"/>
                    <a:gd name="T12" fmla="*/ 437 w 524"/>
                    <a:gd name="T13" fmla="*/ 123 h 141"/>
                    <a:gd name="T14" fmla="*/ 409 w 524"/>
                    <a:gd name="T15" fmla="*/ 129 h 141"/>
                    <a:gd name="T16" fmla="*/ 377 w 524"/>
                    <a:gd name="T17" fmla="*/ 134 h 141"/>
                    <a:gd name="T18" fmla="*/ 342 w 524"/>
                    <a:gd name="T19" fmla="*/ 138 h 141"/>
                    <a:gd name="T20" fmla="*/ 308 w 524"/>
                    <a:gd name="T21" fmla="*/ 139 h 141"/>
                    <a:gd name="T22" fmla="*/ 271 w 524"/>
                    <a:gd name="T23" fmla="*/ 141 h 141"/>
                    <a:gd name="T24" fmla="*/ 234 w 524"/>
                    <a:gd name="T25" fmla="*/ 140 h 141"/>
                    <a:gd name="T26" fmla="*/ 197 w 524"/>
                    <a:gd name="T27" fmla="*/ 138 h 141"/>
                    <a:gd name="T28" fmla="*/ 163 w 524"/>
                    <a:gd name="T29" fmla="*/ 136 h 141"/>
                    <a:gd name="T30" fmla="*/ 131 w 524"/>
                    <a:gd name="T31" fmla="*/ 132 h 141"/>
                    <a:gd name="T32" fmla="*/ 99 w 524"/>
                    <a:gd name="T33" fmla="*/ 127 h 141"/>
                    <a:gd name="T34" fmla="*/ 73 w 524"/>
                    <a:gd name="T35" fmla="*/ 119 h 141"/>
                    <a:gd name="T36" fmla="*/ 48 w 524"/>
                    <a:gd name="T37" fmla="*/ 112 h 141"/>
                    <a:gd name="T38" fmla="*/ 29 w 524"/>
                    <a:gd name="T39" fmla="*/ 104 h 141"/>
                    <a:gd name="T40" fmla="*/ 16 w 524"/>
                    <a:gd name="T41" fmla="*/ 94 h 141"/>
                    <a:gd name="T42" fmla="*/ 5 w 524"/>
                    <a:gd name="T43" fmla="*/ 84 h 141"/>
                    <a:gd name="T44" fmla="*/ 0 w 524"/>
                    <a:gd name="T45" fmla="*/ 75 h 141"/>
                    <a:gd name="T46" fmla="*/ 0 w 524"/>
                    <a:gd name="T47" fmla="*/ 65 h 141"/>
                    <a:gd name="T48" fmla="*/ 5 w 524"/>
                    <a:gd name="T49" fmla="*/ 55 h 141"/>
                    <a:gd name="T50" fmla="*/ 16 w 524"/>
                    <a:gd name="T51" fmla="*/ 46 h 141"/>
                    <a:gd name="T52" fmla="*/ 29 w 524"/>
                    <a:gd name="T53" fmla="*/ 37 h 141"/>
                    <a:gd name="T54" fmla="*/ 48 w 524"/>
                    <a:gd name="T55" fmla="*/ 28 h 141"/>
                    <a:gd name="T56" fmla="*/ 73 w 524"/>
                    <a:gd name="T57" fmla="*/ 20 h 141"/>
                    <a:gd name="T58" fmla="*/ 99 w 524"/>
                    <a:gd name="T59" fmla="*/ 14 h 141"/>
                    <a:gd name="T60" fmla="*/ 131 w 524"/>
                    <a:gd name="T61" fmla="*/ 9 h 141"/>
                    <a:gd name="T62" fmla="*/ 163 w 524"/>
                    <a:gd name="T63" fmla="*/ 5 h 141"/>
                    <a:gd name="T64" fmla="*/ 197 w 524"/>
                    <a:gd name="T65" fmla="*/ 2 h 141"/>
                    <a:gd name="T66" fmla="*/ 234 w 524"/>
                    <a:gd name="T67" fmla="*/ 0 h 141"/>
                    <a:gd name="T68" fmla="*/ 271 w 524"/>
                    <a:gd name="T69" fmla="*/ 0 h 141"/>
                    <a:gd name="T70" fmla="*/ 308 w 524"/>
                    <a:gd name="T71" fmla="*/ 1 h 141"/>
                    <a:gd name="T72" fmla="*/ 342 w 524"/>
                    <a:gd name="T73" fmla="*/ 3 h 141"/>
                    <a:gd name="T74" fmla="*/ 377 w 524"/>
                    <a:gd name="T75" fmla="*/ 6 h 141"/>
                    <a:gd name="T76" fmla="*/ 409 w 524"/>
                    <a:gd name="T77" fmla="*/ 11 h 141"/>
                    <a:gd name="T78" fmla="*/ 437 w 524"/>
                    <a:gd name="T79" fmla="*/ 17 h 141"/>
                    <a:gd name="T80" fmla="*/ 463 w 524"/>
                    <a:gd name="T81" fmla="*/ 24 h 141"/>
                    <a:gd name="T82" fmla="*/ 485 w 524"/>
                    <a:gd name="T83" fmla="*/ 33 h 141"/>
                    <a:gd name="T84" fmla="*/ 502 w 524"/>
                    <a:gd name="T85" fmla="*/ 41 h 141"/>
                    <a:gd name="T86" fmla="*/ 514 w 524"/>
                    <a:gd name="T87" fmla="*/ 50 h 141"/>
                    <a:gd name="T88" fmla="*/ 522 w 524"/>
                    <a:gd name="T89" fmla="*/ 61 h 141"/>
                    <a:gd name="T90" fmla="*/ 524 w 524"/>
                    <a:gd name="T91" fmla="*/ 71 h 141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524"/>
                    <a:gd name="T139" fmla="*/ 0 h 141"/>
                    <a:gd name="T140" fmla="*/ 524 w 524"/>
                    <a:gd name="T141" fmla="*/ 141 h 141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524" h="141">
                      <a:moveTo>
                        <a:pt x="524" y="71"/>
                      </a:moveTo>
                      <a:lnTo>
                        <a:pt x="522" y="80"/>
                      </a:lnTo>
                      <a:lnTo>
                        <a:pt x="514" y="90"/>
                      </a:lnTo>
                      <a:lnTo>
                        <a:pt x="502" y="99"/>
                      </a:lnTo>
                      <a:lnTo>
                        <a:pt x="485" y="107"/>
                      </a:lnTo>
                      <a:lnTo>
                        <a:pt x="463" y="116"/>
                      </a:lnTo>
                      <a:lnTo>
                        <a:pt x="437" y="123"/>
                      </a:lnTo>
                      <a:lnTo>
                        <a:pt x="409" y="129"/>
                      </a:lnTo>
                      <a:lnTo>
                        <a:pt x="377" y="134"/>
                      </a:lnTo>
                      <a:lnTo>
                        <a:pt x="342" y="138"/>
                      </a:lnTo>
                      <a:lnTo>
                        <a:pt x="308" y="139"/>
                      </a:lnTo>
                      <a:lnTo>
                        <a:pt x="271" y="141"/>
                      </a:lnTo>
                      <a:lnTo>
                        <a:pt x="234" y="140"/>
                      </a:lnTo>
                      <a:lnTo>
                        <a:pt x="197" y="138"/>
                      </a:lnTo>
                      <a:lnTo>
                        <a:pt x="163" y="136"/>
                      </a:lnTo>
                      <a:lnTo>
                        <a:pt x="131" y="132"/>
                      </a:lnTo>
                      <a:lnTo>
                        <a:pt x="99" y="127"/>
                      </a:lnTo>
                      <a:lnTo>
                        <a:pt x="73" y="119"/>
                      </a:lnTo>
                      <a:lnTo>
                        <a:pt x="48" y="112"/>
                      </a:lnTo>
                      <a:lnTo>
                        <a:pt x="29" y="104"/>
                      </a:lnTo>
                      <a:lnTo>
                        <a:pt x="16" y="94"/>
                      </a:lnTo>
                      <a:lnTo>
                        <a:pt x="5" y="84"/>
                      </a:lnTo>
                      <a:lnTo>
                        <a:pt x="0" y="75"/>
                      </a:lnTo>
                      <a:lnTo>
                        <a:pt x="0" y="65"/>
                      </a:lnTo>
                      <a:lnTo>
                        <a:pt x="5" y="55"/>
                      </a:lnTo>
                      <a:lnTo>
                        <a:pt x="16" y="46"/>
                      </a:lnTo>
                      <a:lnTo>
                        <a:pt x="29" y="37"/>
                      </a:lnTo>
                      <a:lnTo>
                        <a:pt x="48" y="28"/>
                      </a:lnTo>
                      <a:lnTo>
                        <a:pt x="73" y="20"/>
                      </a:lnTo>
                      <a:lnTo>
                        <a:pt x="99" y="14"/>
                      </a:lnTo>
                      <a:lnTo>
                        <a:pt x="131" y="9"/>
                      </a:lnTo>
                      <a:lnTo>
                        <a:pt x="163" y="5"/>
                      </a:lnTo>
                      <a:lnTo>
                        <a:pt x="197" y="2"/>
                      </a:lnTo>
                      <a:lnTo>
                        <a:pt x="234" y="0"/>
                      </a:lnTo>
                      <a:lnTo>
                        <a:pt x="271" y="0"/>
                      </a:lnTo>
                      <a:lnTo>
                        <a:pt x="308" y="1"/>
                      </a:lnTo>
                      <a:lnTo>
                        <a:pt x="342" y="3"/>
                      </a:lnTo>
                      <a:lnTo>
                        <a:pt x="377" y="6"/>
                      </a:lnTo>
                      <a:lnTo>
                        <a:pt x="409" y="11"/>
                      </a:lnTo>
                      <a:lnTo>
                        <a:pt x="437" y="17"/>
                      </a:lnTo>
                      <a:lnTo>
                        <a:pt x="463" y="24"/>
                      </a:lnTo>
                      <a:lnTo>
                        <a:pt x="485" y="33"/>
                      </a:lnTo>
                      <a:lnTo>
                        <a:pt x="502" y="41"/>
                      </a:lnTo>
                      <a:lnTo>
                        <a:pt x="514" y="50"/>
                      </a:lnTo>
                      <a:lnTo>
                        <a:pt x="522" y="61"/>
                      </a:lnTo>
                      <a:lnTo>
                        <a:pt x="524" y="71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04D6E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9741" name="Freeform 52"/>
              <p:cNvSpPr>
                <a:spLocks noEditPoints="1"/>
              </p:cNvSpPr>
              <p:nvPr/>
            </p:nvSpPr>
            <p:spPr bwMode="auto">
              <a:xfrm>
                <a:off x="3529" y="1854"/>
                <a:ext cx="276" cy="111"/>
              </a:xfrm>
              <a:custGeom>
                <a:avLst/>
                <a:gdLst>
                  <a:gd name="T0" fmla="*/ 51 w 276"/>
                  <a:gd name="T1" fmla="*/ 62 h 111"/>
                  <a:gd name="T2" fmla="*/ 212 w 276"/>
                  <a:gd name="T3" fmla="*/ 62 h 111"/>
                  <a:gd name="T4" fmla="*/ 110 w 276"/>
                  <a:gd name="T5" fmla="*/ 94 h 111"/>
                  <a:gd name="T6" fmla="*/ 51 w 276"/>
                  <a:gd name="T7" fmla="*/ 62 h 111"/>
                  <a:gd name="T8" fmla="*/ 226 w 276"/>
                  <a:gd name="T9" fmla="*/ 48 h 111"/>
                  <a:gd name="T10" fmla="*/ 65 w 276"/>
                  <a:gd name="T11" fmla="*/ 48 h 111"/>
                  <a:gd name="T12" fmla="*/ 167 w 276"/>
                  <a:gd name="T13" fmla="*/ 16 h 111"/>
                  <a:gd name="T14" fmla="*/ 226 w 276"/>
                  <a:gd name="T15" fmla="*/ 48 h 111"/>
                  <a:gd name="T16" fmla="*/ 105 w 276"/>
                  <a:gd name="T17" fmla="*/ 111 h 111"/>
                  <a:gd name="T18" fmla="*/ 276 w 276"/>
                  <a:gd name="T19" fmla="*/ 57 h 111"/>
                  <a:gd name="T20" fmla="*/ 171 w 276"/>
                  <a:gd name="T21" fmla="*/ 0 h 111"/>
                  <a:gd name="T22" fmla="*/ 0 w 276"/>
                  <a:gd name="T23" fmla="*/ 54 h 111"/>
                  <a:gd name="T24" fmla="*/ 105 w 276"/>
                  <a:gd name="T25" fmla="*/ 111 h 11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76"/>
                  <a:gd name="T40" fmla="*/ 0 h 111"/>
                  <a:gd name="T41" fmla="*/ 276 w 276"/>
                  <a:gd name="T42" fmla="*/ 111 h 11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76" h="111">
                    <a:moveTo>
                      <a:pt x="51" y="62"/>
                    </a:moveTo>
                    <a:lnTo>
                      <a:pt x="212" y="62"/>
                    </a:lnTo>
                    <a:lnTo>
                      <a:pt x="110" y="94"/>
                    </a:lnTo>
                    <a:lnTo>
                      <a:pt x="51" y="62"/>
                    </a:lnTo>
                    <a:close/>
                    <a:moveTo>
                      <a:pt x="226" y="48"/>
                    </a:moveTo>
                    <a:lnTo>
                      <a:pt x="65" y="48"/>
                    </a:lnTo>
                    <a:lnTo>
                      <a:pt x="167" y="16"/>
                    </a:lnTo>
                    <a:lnTo>
                      <a:pt x="226" y="48"/>
                    </a:lnTo>
                    <a:close/>
                    <a:moveTo>
                      <a:pt x="105" y="111"/>
                    </a:moveTo>
                    <a:lnTo>
                      <a:pt x="276" y="57"/>
                    </a:lnTo>
                    <a:lnTo>
                      <a:pt x="171" y="0"/>
                    </a:lnTo>
                    <a:lnTo>
                      <a:pt x="0" y="54"/>
                    </a:lnTo>
                    <a:lnTo>
                      <a:pt x="105" y="1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42" name="Freeform 53"/>
              <p:cNvSpPr>
                <a:spLocks noEditPoints="1"/>
              </p:cNvSpPr>
              <p:nvPr/>
            </p:nvSpPr>
            <p:spPr bwMode="auto">
              <a:xfrm>
                <a:off x="3536" y="1858"/>
                <a:ext cx="276" cy="110"/>
              </a:xfrm>
              <a:custGeom>
                <a:avLst/>
                <a:gdLst>
                  <a:gd name="T0" fmla="*/ 50 w 276"/>
                  <a:gd name="T1" fmla="*/ 62 h 110"/>
                  <a:gd name="T2" fmla="*/ 212 w 276"/>
                  <a:gd name="T3" fmla="*/ 62 h 110"/>
                  <a:gd name="T4" fmla="*/ 109 w 276"/>
                  <a:gd name="T5" fmla="*/ 94 h 110"/>
                  <a:gd name="T6" fmla="*/ 50 w 276"/>
                  <a:gd name="T7" fmla="*/ 62 h 110"/>
                  <a:gd name="T8" fmla="*/ 225 w 276"/>
                  <a:gd name="T9" fmla="*/ 49 h 110"/>
                  <a:gd name="T10" fmla="*/ 65 w 276"/>
                  <a:gd name="T11" fmla="*/ 49 h 110"/>
                  <a:gd name="T12" fmla="*/ 166 w 276"/>
                  <a:gd name="T13" fmla="*/ 17 h 110"/>
                  <a:gd name="T14" fmla="*/ 225 w 276"/>
                  <a:gd name="T15" fmla="*/ 49 h 110"/>
                  <a:gd name="T16" fmla="*/ 105 w 276"/>
                  <a:gd name="T17" fmla="*/ 110 h 110"/>
                  <a:gd name="T18" fmla="*/ 276 w 276"/>
                  <a:gd name="T19" fmla="*/ 57 h 110"/>
                  <a:gd name="T20" fmla="*/ 171 w 276"/>
                  <a:gd name="T21" fmla="*/ 0 h 110"/>
                  <a:gd name="T22" fmla="*/ 0 w 276"/>
                  <a:gd name="T23" fmla="*/ 54 h 110"/>
                  <a:gd name="T24" fmla="*/ 105 w 276"/>
                  <a:gd name="T25" fmla="*/ 110 h 11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76"/>
                  <a:gd name="T40" fmla="*/ 0 h 110"/>
                  <a:gd name="T41" fmla="*/ 276 w 276"/>
                  <a:gd name="T42" fmla="*/ 110 h 11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76" h="110">
                    <a:moveTo>
                      <a:pt x="50" y="62"/>
                    </a:moveTo>
                    <a:lnTo>
                      <a:pt x="212" y="62"/>
                    </a:lnTo>
                    <a:lnTo>
                      <a:pt x="109" y="94"/>
                    </a:lnTo>
                    <a:lnTo>
                      <a:pt x="50" y="62"/>
                    </a:lnTo>
                    <a:close/>
                    <a:moveTo>
                      <a:pt x="225" y="49"/>
                    </a:moveTo>
                    <a:lnTo>
                      <a:pt x="65" y="49"/>
                    </a:lnTo>
                    <a:lnTo>
                      <a:pt x="166" y="17"/>
                    </a:lnTo>
                    <a:lnTo>
                      <a:pt x="225" y="49"/>
                    </a:lnTo>
                    <a:close/>
                    <a:moveTo>
                      <a:pt x="105" y="110"/>
                    </a:moveTo>
                    <a:lnTo>
                      <a:pt x="276" y="57"/>
                    </a:lnTo>
                    <a:lnTo>
                      <a:pt x="171" y="0"/>
                    </a:lnTo>
                    <a:lnTo>
                      <a:pt x="0" y="54"/>
                    </a:lnTo>
                    <a:lnTo>
                      <a:pt x="105" y="1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43" name="Freeform 54"/>
              <p:cNvSpPr>
                <a:spLocks noEditPoints="1"/>
              </p:cNvSpPr>
              <p:nvPr/>
            </p:nvSpPr>
            <p:spPr bwMode="auto">
              <a:xfrm>
                <a:off x="3586" y="2037"/>
                <a:ext cx="182" cy="89"/>
              </a:xfrm>
              <a:custGeom>
                <a:avLst/>
                <a:gdLst>
                  <a:gd name="T0" fmla="*/ 69 w 182"/>
                  <a:gd name="T1" fmla="*/ 51 h 89"/>
                  <a:gd name="T2" fmla="*/ 88 w 182"/>
                  <a:gd name="T3" fmla="*/ 51 h 89"/>
                  <a:gd name="T4" fmla="*/ 127 w 182"/>
                  <a:gd name="T5" fmla="*/ 89 h 89"/>
                  <a:gd name="T6" fmla="*/ 182 w 182"/>
                  <a:gd name="T7" fmla="*/ 89 h 89"/>
                  <a:gd name="T8" fmla="*/ 182 w 182"/>
                  <a:gd name="T9" fmla="*/ 73 h 89"/>
                  <a:gd name="T10" fmla="*/ 159 w 182"/>
                  <a:gd name="T11" fmla="*/ 73 h 89"/>
                  <a:gd name="T12" fmla="*/ 131 w 182"/>
                  <a:gd name="T13" fmla="*/ 47 h 89"/>
                  <a:gd name="T14" fmla="*/ 135 w 182"/>
                  <a:gd name="T15" fmla="*/ 45 h 89"/>
                  <a:gd name="T16" fmla="*/ 144 w 182"/>
                  <a:gd name="T17" fmla="*/ 42 h 89"/>
                  <a:gd name="T18" fmla="*/ 152 w 182"/>
                  <a:gd name="T19" fmla="*/ 39 h 89"/>
                  <a:gd name="T20" fmla="*/ 156 w 182"/>
                  <a:gd name="T21" fmla="*/ 35 h 89"/>
                  <a:gd name="T22" fmla="*/ 160 w 182"/>
                  <a:gd name="T23" fmla="*/ 30 h 89"/>
                  <a:gd name="T24" fmla="*/ 161 w 182"/>
                  <a:gd name="T25" fmla="*/ 25 h 89"/>
                  <a:gd name="T26" fmla="*/ 160 w 182"/>
                  <a:gd name="T27" fmla="*/ 22 h 89"/>
                  <a:gd name="T28" fmla="*/ 159 w 182"/>
                  <a:gd name="T29" fmla="*/ 17 h 89"/>
                  <a:gd name="T30" fmla="*/ 153 w 182"/>
                  <a:gd name="T31" fmla="*/ 12 h 89"/>
                  <a:gd name="T32" fmla="*/ 147 w 182"/>
                  <a:gd name="T33" fmla="*/ 7 h 89"/>
                  <a:gd name="T34" fmla="*/ 144 w 182"/>
                  <a:gd name="T35" fmla="*/ 6 h 89"/>
                  <a:gd name="T36" fmla="*/ 137 w 182"/>
                  <a:gd name="T37" fmla="*/ 3 h 89"/>
                  <a:gd name="T38" fmla="*/ 127 w 182"/>
                  <a:gd name="T39" fmla="*/ 1 h 89"/>
                  <a:gd name="T40" fmla="*/ 117 w 182"/>
                  <a:gd name="T41" fmla="*/ 0 h 89"/>
                  <a:gd name="T42" fmla="*/ 105 w 182"/>
                  <a:gd name="T43" fmla="*/ 0 h 89"/>
                  <a:gd name="T44" fmla="*/ 0 w 182"/>
                  <a:gd name="T45" fmla="*/ 0 h 89"/>
                  <a:gd name="T46" fmla="*/ 0 w 182"/>
                  <a:gd name="T47" fmla="*/ 15 h 89"/>
                  <a:gd name="T48" fmla="*/ 24 w 182"/>
                  <a:gd name="T49" fmla="*/ 15 h 89"/>
                  <a:gd name="T50" fmla="*/ 24 w 182"/>
                  <a:gd name="T51" fmla="*/ 73 h 89"/>
                  <a:gd name="T52" fmla="*/ 0 w 182"/>
                  <a:gd name="T53" fmla="*/ 73 h 89"/>
                  <a:gd name="T54" fmla="*/ 0 w 182"/>
                  <a:gd name="T55" fmla="*/ 89 h 89"/>
                  <a:gd name="T56" fmla="*/ 91 w 182"/>
                  <a:gd name="T57" fmla="*/ 89 h 89"/>
                  <a:gd name="T58" fmla="*/ 91 w 182"/>
                  <a:gd name="T59" fmla="*/ 73 h 89"/>
                  <a:gd name="T60" fmla="*/ 69 w 182"/>
                  <a:gd name="T61" fmla="*/ 73 h 89"/>
                  <a:gd name="T62" fmla="*/ 69 w 182"/>
                  <a:gd name="T63" fmla="*/ 51 h 89"/>
                  <a:gd name="T64" fmla="*/ 69 w 182"/>
                  <a:gd name="T65" fmla="*/ 15 h 89"/>
                  <a:gd name="T66" fmla="*/ 88 w 182"/>
                  <a:gd name="T67" fmla="*/ 15 h 89"/>
                  <a:gd name="T68" fmla="*/ 98 w 182"/>
                  <a:gd name="T69" fmla="*/ 15 h 89"/>
                  <a:gd name="T70" fmla="*/ 106 w 182"/>
                  <a:gd name="T71" fmla="*/ 17 h 89"/>
                  <a:gd name="T72" fmla="*/ 112 w 182"/>
                  <a:gd name="T73" fmla="*/ 20 h 89"/>
                  <a:gd name="T74" fmla="*/ 114 w 182"/>
                  <a:gd name="T75" fmla="*/ 26 h 89"/>
                  <a:gd name="T76" fmla="*/ 114 w 182"/>
                  <a:gd name="T77" fmla="*/ 27 h 89"/>
                  <a:gd name="T78" fmla="*/ 112 w 182"/>
                  <a:gd name="T79" fmla="*/ 30 h 89"/>
                  <a:gd name="T80" fmla="*/ 105 w 182"/>
                  <a:gd name="T81" fmla="*/ 33 h 89"/>
                  <a:gd name="T82" fmla="*/ 97 w 182"/>
                  <a:gd name="T83" fmla="*/ 35 h 89"/>
                  <a:gd name="T84" fmla="*/ 85 w 182"/>
                  <a:gd name="T85" fmla="*/ 36 h 89"/>
                  <a:gd name="T86" fmla="*/ 69 w 182"/>
                  <a:gd name="T87" fmla="*/ 36 h 89"/>
                  <a:gd name="T88" fmla="*/ 69 w 182"/>
                  <a:gd name="T89" fmla="*/ 15 h 8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82"/>
                  <a:gd name="T136" fmla="*/ 0 h 89"/>
                  <a:gd name="T137" fmla="*/ 182 w 182"/>
                  <a:gd name="T138" fmla="*/ 89 h 8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82" h="89">
                    <a:moveTo>
                      <a:pt x="69" y="51"/>
                    </a:moveTo>
                    <a:lnTo>
                      <a:pt x="88" y="51"/>
                    </a:lnTo>
                    <a:lnTo>
                      <a:pt x="127" y="89"/>
                    </a:lnTo>
                    <a:lnTo>
                      <a:pt x="182" y="89"/>
                    </a:lnTo>
                    <a:lnTo>
                      <a:pt x="182" y="73"/>
                    </a:lnTo>
                    <a:lnTo>
                      <a:pt x="159" y="73"/>
                    </a:lnTo>
                    <a:lnTo>
                      <a:pt x="131" y="47"/>
                    </a:lnTo>
                    <a:lnTo>
                      <a:pt x="135" y="45"/>
                    </a:lnTo>
                    <a:lnTo>
                      <a:pt x="144" y="42"/>
                    </a:lnTo>
                    <a:lnTo>
                      <a:pt x="152" y="39"/>
                    </a:lnTo>
                    <a:lnTo>
                      <a:pt x="156" y="35"/>
                    </a:lnTo>
                    <a:lnTo>
                      <a:pt x="160" y="30"/>
                    </a:lnTo>
                    <a:lnTo>
                      <a:pt x="161" y="25"/>
                    </a:lnTo>
                    <a:lnTo>
                      <a:pt x="160" y="22"/>
                    </a:lnTo>
                    <a:lnTo>
                      <a:pt x="159" y="17"/>
                    </a:lnTo>
                    <a:lnTo>
                      <a:pt x="153" y="12"/>
                    </a:lnTo>
                    <a:lnTo>
                      <a:pt x="147" y="7"/>
                    </a:lnTo>
                    <a:lnTo>
                      <a:pt x="144" y="6"/>
                    </a:lnTo>
                    <a:lnTo>
                      <a:pt x="137" y="3"/>
                    </a:lnTo>
                    <a:lnTo>
                      <a:pt x="127" y="1"/>
                    </a:lnTo>
                    <a:lnTo>
                      <a:pt x="117" y="0"/>
                    </a:lnTo>
                    <a:lnTo>
                      <a:pt x="10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24" y="15"/>
                    </a:lnTo>
                    <a:lnTo>
                      <a:pt x="24" y="73"/>
                    </a:lnTo>
                    <a:lnTo>
                      <a:pt x="0" y="73"/>
                    </a:lnTo>
                    <a:lnTo>
                      <a:pt x="0" y="89"/>
                    </a:lnTo>
                    <a:lnTo>
                      <a:pt x="91" y="89"/>
                    </a:lnTo>
                    <a:lnTo>
                      <a:pt x="91" y="73"/>
                    </a:lnTo>
                    <a:lnTo>
                      <a:pt x="69" y="73"/>
                    </a:lnTo>
                    <a:lnTo>
                      <a:pt x="69" y="51"/>
                    </a:lnTo>
                    <a:close/>
                    <a:moveTo>
                      <a:pt x="69" y="15"/>
                    </a:moveTo>
                    <a:lnTo>
                      <a:pt x="88" y="15"/>
                    </a:lnTo>
                    <a:lnTo>
                      <a:pt x="98" y="15"/>
                    </a:lnTo>
                    <a:lnTo>
                      <a:pt x="106" y="17"/>
                    </a:lnTo>
                    <a:lnTo>
                      <a:pt x="112" y="20"/>
                    </a:lnTo>
                    <a:lnTo>
                      <a:pt x="114" y="26"/>
                    </a:lnTo>
                    <a:lnTo>
                      <a:pt x="114" y="27"/>
                    </a:lnTo>
                    <a:lnTo>
                      <a:pt x="112" y="30"/>
                    </a:lnTo>
                    <a:lnTo>
                      <a:pt x="105" y="33"/>
                    </a:lnTo>
                    <a:lnTo>
                      <a:pt x="97" y="35"/>
                    </a:lnTo>
                    <a:lnTo>
                      <a:pt x="85" y="36"/>
                    </a:lnTo>
                    <a:lnTo>
                      <a:pt x="69" y="36"/>
                    </a:lnTo>
                    <a:lnTo>
                      <a:pt x="69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44" name="Freeform 55"/>
              <p:cNvSpPr>
                <a:spLocks noEditPoints="1"/>
              </p:cNvSpPr>
              <p:nvPr/>
            </p:nvSpPr>
            <p:spPr bwMode="auto">
              <a:xfrm>
                <a:off x="3573" y="2028"/>
                <a:ext cx="182" cy="89"/>
              </a:xfrm>
              <a:custGeom>
                <a:avLst/>
                <a:gdLst>
                  <a:gd name="T0" fmla="*/ 69 w 182"/>
                  <a:gd name="T1" fmla="*/ 49 h 89"/>
                  <a:gd name="T2" fmla="*/ 90 w 182"/>
                  <a:gd name="T3" fmla="*/ 49 h 89"/>
                  <a:gd name="T4" fmla="*/ 129 w 182"/>
                  <a:gd name="T5" fmla="*/ 89 h 89"/>
                  <a:gd name="T6" fmla="*/ 182 w 182"/>
                  <a:gd name="T7" fmla="*/ 89 h 89"/>
                  <a:gd name="T8" fmla="*/ 182 w 182"/>
                  <a:gd name="T9" fmla="*/ 74 h 89"/>
                  <a:gd name="T10" fmla="*/ 160 w 182"/>
                  <a:gd name="T11" fmla="*/ 74 h 89"/>
                  <a:gd name="T12" fmla="*/ 130 w 182"/>
                  <a:gd name="T13" fmla="*/ 47 h 89"/>
                  <a:gd name="T14" fmla="*/ 137 w 182"/>
                  <a:gd name="T15" fmla="*/ 46 h 89"/>
                  <a:gd name="T16" fmla="*/ 146 w 182"/>
                  <a:gd name="T17" fmla="*/ 42 h 89"/>
                  <a:gd name="T18" fmla="*/ 153 w 182"/>
                  <a:gd name="T19" fmla="*/ 39 h 89"/>
                  <a:gd name="T20" fmla="*/ 157 w 182"/>
                  <a:gd name="T21" fmla="*/ 35 h 89"/>
                  <a:gd name="T22" fmla="*/ 160 w 182"/>
                  <a:gd name="T23" fmla="*/ 30 h 89"/>
                  <a:gd name="T24" fmla="*/ 162 w 182"/>
                  <a:gd name="T25" fmla="*/ 25 h 89"/>
                  <a:gd name="T26" fmla="*/ 162 w 182"/>
                  <a:gd name="T27" fmla="*/ 22 h 89"/>
                  <a:gd name="T28" fmla="*/ 158 w 182"/>
                  <a:gd name="T29" fmla="*/ 16 h 89"/>
                  <a:gd name="T30" fmla="*/ 155 w 182"/>
                  <a:gd name="T31" fmla="*/ 12 h 89"/>
                  <a:gd name="T32" fmla="*/ 148 w 182"/>
                  <a:gd name="T33" fmla="*/ 7 h 89"/>
                  <a:gd name="T34" fmla="*/ 145 w 182"/>
                  <a:gd name="T35" fmla="*/ 6 h 89"/>
                  <a:gd name="T36" fmla="*/ 138 w 182"/>
                  <a:gd name="T37" fmla="*/ 4 h 89"/>
                  <a:gd name="T38" fmla="*/ 128 w 182"/>
                  <a:gd name="T39" fmla="*/ 2 h 89"/>
                  <a:gd name="T40" fmla="*/ 118 w 182"/>
                  <a:gd name="T41" fmla="*/ 1 h 89"/>
                  <a:gd name="T42" fmla="*/ 105 w 182"/>
                  <a:gd name="T43" fmla="*/ 0 h 89"/>
                  <a:gd name="T44" fmla="*/ 0 w 182"/>
                  <a:gd name="T45" fmla="*/ 0 h 89"/>
                  <a:gd name="T46" fmla="*/ 0 w 182"/>
                  <a:gd name="T47" fmla="*/ 15 h 89"/>
                  <a:gd name="T48" fmla="*/ 24 w 182"/>
                  <a:gd name="T49" fmla="*/ 15 h 89"/>
                  <a:gd name="T50" fmla="*/ 24 w 182"/>
                  <a:gd name="T51" fmla="*/ 74 h 89"/>
                  <a:gd name="T52" fmla="*/ 0 w 182"/>
                  <a:gd name="T53" fmla="*/ 74 h 89"/>
                  <a:gd name="T54" fmla="*/ 0 w 182"/>
                  <a:gd name="T55" fmla="*/ 89 h 89"/>
                  <a:gd name="T56" fmla="*/ 91 w 182"/>
                  <a:gd name="T57" fmla="*/ 89 h 89"/>
                  <a:gd name="T58" fmla="*/ 91 w 182"/>
                  <a:gd name="T59" fmla="*/ 74 h 89"/>
                  <a:gd name="T60" fmla="*/ 69 w 182"/>
                  <a:gd name="T61" fmla="*/ 74 h 89"/>
                  <a:gd name="T62" fmla="*/ 69 w 182"/>
                  <a:gd name="T63" fmla="*/ 49 h 89"/>
                  <a:gd name="T64" fmla="*/ 69 w 182"/>
                  <a:gd name="T65" fmla="*/ 15 h 89"/>
                  <a:gd name="T66" fmla="*/ 90 w 182"/>
                  <a:gd name="T67" fmla="*/ 15 h 89"/>
                  <a:gd name="T68" fmla="*/ 99 w 182"/>
                  <a:gd name="T69" fmla="*/ 16 h 89"/>
                  <a:gd name="T70" fmla="*/ 108 w 182"/>
                  <a:gd name="T71" fmla="*/ 17 h 89"/>
                  <a:gd name="T72" fmla="*/ 111 w 182"/>
                  <a:gd name="T73" fmla="*/ 20 h 89"/>
                  <a:gd name="T74" fmla="*/ 114 w 182"/>
                  <a:gd name="T75" fmla="*/ 25 h 89"/>
                  <a:gd name="T76" fmla="*/ 114 w 182"/>
                  <a:gd name="T77" fmla="*/ 26 h 89"/>
                  <a:gd name="T78" fmla="*/ 111 w 182"/>
                  <a:gd name="T79" fmla="*/ 31 h 89"/>
                  <a:gd name="T80" fmla="*/ 107 w 182"/>
                  <a:gd name="T81" fmla="*/ 34 h 89"/>
                  <a:gd name="T82" fmla="*/ 98 w 182"/>
                  <a:gd name="T83" fmla="*/ 36 h 89"/>
                  <a:gd name="T84" fmla="*/ 86 w 182"/>
                  <a:gd name="T85" fmla="*/ 36 h 89"/>
                  <a:gd name="T86" fmla="*/ 69 w 182"/>
                  <a:gd name="T87" fmla="*/ 36 h 89"/>
                  <a:gd name="T88" fmla="*/ 69 w 182"/>
                  <a:gd name="T89" fmla="*/ 15 h 8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82"/>
                  <a:gd name="T136" fmla="*/ 0 h 89"/>
                  <a:gd name="T137" fmla="*/ 182 w 182"/>
                  <a:gd name="T138" fmla="*/ 89 h 8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82" h="89">
                    <a:moveTo>
                      <a:pt x="69" y="49"/>
                    </a:moveTo>
                    <a:lnTo>
                      <a:pt x="90" y="49"/>
                    </a:lnTo>
                    <a:lnTo>
                      <a:pt x="129" y="89"/>
                    </a:lnTo>
                    <a:lnTo>
                      <a:pt x="182" y="89"/>
                    </a:lnTo>
                    <a:lnTo>
                      <a:pt x="182" y="74"/>
                    </a:lnTo>
                    <a:lnTo>
                      <a:pt x="160" y="74"/>
                    </a:lnTo>
                    <a:lnTo>
                      <a:pt x="130" y="47"/>
                    </a:lnTo>
                    <a:lnTo>
                      <a:pt x="137" y="46"/>
                    </a:lnTo>
                    <a:lnTo>
                      <a:pt x="146" y="42"/>
                    </a:lnTo>
                    <a:lnTo>
                      <a:pt x="153" y="39"/>
                    </a:lnTo>
                    <a:lnTo>
                      <a:pt x="157" y="35"/>
                    </a:lnTo>
                    <a:lnTo>
                      <a:pt x="160" y="30"/>
                    </a:lnTo>
                    <a:lnTo>
                      <a:pt x="162" y="25"/>
                    </a:lnTo>
                    <a:lnTo>
                      <a:pt x="162" y="22"/>
                    </a:lnTo>
                    <a:lnTo>
                      <a:pt x="158" y="16"/>
                    </a:lnTo>
                    <a:lnTo>
                      <a:pt x="155" y="12"/>
                    </a:lnTo>
                    <a:lnTo>
                      <a:pt x="148" y="7"/>
                    </a:lnTo>
                    <a:lnTo>
                      <a:pt x="145" y="6"/>
                    </a:lnTo>
                    <a:lnTo>
                      <a:pt x="138" y="4"/>
                    </a:lnTo>
                    <a:lnTo>
                      <a:pt x="128" y="2"/>
                    </a:lnTo>
                    <a:lnTo>
                      <a:pt x="118" y="1"/>
                    </a:lnTo>
                    <a:lnTo>
                      <a:pt x="105" y="0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24" y="15"/>
                    </a:lnTo>
                    <a:lnTo>
                      <a:pt x="24" y="74"/>
                    </a:lnTo>
                    <a:lnTo>
                      <a:pt x="0" y="74"/>
                    </a:lnTo>
                    <a:lnTo>
                      <a:pt x="0" y="89"/>
                    </a:lnTo>
                    <a:lnTo>
                      <a:pt x="91" y="89"/>
                    </a:lnTo>
                    <a:lnTo>
                      <a:pt x="91" y="74"/>
                    </a:lnTo>
                    <a:lnTo>
                      <a:pt x="69" y="74"/>
                    </a:lnTo>
                    <a:lnTo>
                      <a:pt x="69" y="49"/>
                    </a:lnTo>
                    <a:close/>
                    <a:moveTo>
                      <a:pt x="69" y="15"/>
                    </a:moveTo>
                    <a:lnTo>
                      <a:pt x="90" y="15"/>
                    </a:lnTo>
                    <a:lnTo>
                      <a:pt x="99" y="16"/>
                    </a:lnTo>
                    <a:lnTo>
                      <a:pt x="108" y="17"/>
                    </a:lnTo>
                    <a:lnTo>
                      <a:pt x="111" y="20"/>
                    </a:lnTo>
                    <a:lnTo>
                      <a:pt x="114" y="25"/>
                    </a:lnTo>
                    <a:lnTo>
                      <a:pt x="114" y="26"/>
                    </a:lnTo>
                    <a:lnTo>
                      <a:pt x="111" y="31"/>
                    </a:lnTo>
                    <a:lnTo>
                      <a:pt x="107" y="34"/>
                    </a:lnTo>
                    <a:lnTo>
                      <a:pt x="98" y="36"/>
                    </a:lnTo>
                    <a:lnTo>
                      <a:pt x="86" y="36"/>
                    </a:lnTo>
                    <a:lnTo>
                      <a:pt x="69" y="36"/>
                    </a:lnTo>
                    <a:lnTo>
                      <a:pt x="69" y="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9705" name="Line 56"/>
            <p:cNvSpPr>
              <a:spLocks noChangeShapeType="1"/>
            </p:cNvSpPr>
            <p:nvPr/>
          </p:nvSpPr>
          <p:spPr bwMode="auto">
            <a:xfrm>
              <a:off x="2064" y="2016"/>
              <a:ext cx="1344" cy="0"/>
            </a:xfrm>
            <a:prstGeom prst="line">
              <a:avLst/>
            </a:prstGeom>
            <a:noFill/>
            <a:ln w="46038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6" name="Line 57"/>
            <p:cNvSpPr>
              <a:spLocks noChangeShapeType="1"/>
            </p:cNvSpPr>
            <p:nvPr/>
          </p:nvSpPr>
          <p:spPr bwMode="auto">
            <a:xfrm>
              <a:off x="3954" y="2008"/>
              <a:ext cx="375" cy="1"/>
            </a:xfrm>
            <a:prstGeom prst="line">
              <a:avLst/>
            </a:prstGeom>
            <a:noFill/>
            <a:ln w="46038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7" name="Line 58"/>
            <p:cNvSpPr>
              <a:spLocks noChangeShapeType="1"/>
            </p:cNvSpPr>
            <p:nvPr/>
          </p:nvSpPr>
          <p:spPr bwMode="auto">
            <a:xfrm flipH="1">
              <a:off x="956" y="2002"/>
              <a:ext cx="567" cy="1"/>
            </a:xfrm>
            <a:prstGeom prst="line">
              <a:avLst/>
            </a:prstGeom>
            <a:noFill/>
            <a:ln w="46038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63" name="Rectangle 59"/>
            <p:cNvSpPr>
              <a:spLocks noChangeArrowheads="1"/>
            </p:cNvSpPr>
            <p:nvPr/>
          </p:nvSpPr>
          <p:spPr bwMode="auto">
            <a:xfrm>
              <a:off x="2168" y="2022"/>
              <a:ext cx="87" cy="23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160000"/>
                </a:lnSpc>
                <a:defRPr/>
              </a:pPr>
              <a:r>
                <a:rPr lang="en-US" altLang="zh-CN" sz="1500">
                  <a:latin typeface="Arial Black" pitchFamily="34" charset="0"/>
                  <a:ea typeface="宋体" pitchFamily="2" charset="-122"/>
                </a:rPr>
                <a:t>S</a:t>
              </a:r>
              <a:endParaRPr lang="en-US" altLang="zh-CN" sz="1600" b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2764" name="Rectangle 60"/>
            <p:cNvSpPr>
              <a:spLocks noChangeArrowheads="1"/>
            </p:cNvSpPr>
            <p:nvPr/>
          </p:nvSpPr>
          <p:spPr bwMode="auto">
            <a:xfrm>
              <a:off x="2271" y="2022"/>
              <a:ext cx="80" cy="23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160000"/>
                </a:lnSpc>
                <a:defRPr/>
              </a:pPr>
              <a:r>
                <a:rPr lang="en-US" altLang="zh-CN" sz="1500">
                  <a:latin typeface="Arial Black" pitchFamily="34" charset="0"/>
                  <a:ea typeface="宋体" pitchFamily="2" charset="-122"/>
                </a:rPr>
                <a:t>0</a:t>
              </a:r>
              <a:endParaRPr lang="en-US" altLang="zh-CN" sz="1600" b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2765" name="Rectangle 61"/>
            <p:cNvSpPr>
              <a:spLocks noChangeArrowheads="1"/>
            </p:cNvSpPr>
            <p:nvPr/>
          </p:nvSpPr>
          <p:spPr bwMode="auto">
            <a:xfrm>
              <a:off x="1308" y="2022"/>
              <a:ext cx="167" cy="23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160000"/>
                </a:lnSpc>
                <a:defRPr/>
              </a:pPr>
              <a:r>
                <a:rPr lang="en-US" altLang="zh-CN" sz="1500">
                  <a:latin typeface="Arial Black" pitchFamily="34" charset="0"/>
                  <a:ea typeface="宋体" pitchFamily="2" charset="-122"/>
                </a:rPr>
                <a:t>S1</a:t>
              </a:r>
              <a:endParaRPr lang="en-US" altLang="zh-CN" sz="1600" b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2766" name="Rectangle 62"/>
            <p:cNvSpPr>
              <a:spLocks noChangeArrowheads="1"/>
            </p:cNvSpPr>
            <p:nvPr/>
          </p:nvSpPr>
          <p:spPr bwMode="auto">
            <a:xfrm>
              <a:off x="4089" y="2022"/>
              <a:ext cx="87" cy="23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160000"/>
                </a:lnSpc>
                <a:defRPr/>
              </a:pPr>
              <a:r>
                <a:rPr lang="en-US" altLang="zh-CN" sz="1500">
                  <a:latin typeface="Arial Black" pitchFamily="34" charset="0"/>
                  <a:ea typeface="宋体" pitchFamily="2" charset="-122"/>
                </a:rPr>
                <a:t>S</a:t>
              </a:r>
              <a:endParaRPr lang="en-US" altLang="zh-CN" sz="1600" b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2767" name="Rectangle 63"/>
            <p:cNvSpPr>
              <a:spLocks noChangeArrowheads="1"/>
            </p:cNvSpPr>
            <p:nvPr/>
          </p:nvSpPr>
          <p:spPr bwMode="auto">
            <a:xfrm>
              <a:off x="4180" y="2022"/>
              <a:ext cx="80" cy="23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160000"/>
                </a:lnSpc>
                <a:defRPr/>
              </a:pPr>
              <a:r>
                <a:rPr lang="en-US" altLang="zh-CN" sz="1500">
                  <a:latin typeface="Arial Black" pitchFamily="34" charset="0"/>
                  <a:ea typeface="宋体" pitchFamily="2" charset="-122"/>
                </a:rPr>
                <a:t>1</a:t>
              </a:r>
              <a:endParaRPr lang="en-US" altLang="zh-CN" sz="1600" b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9713" name="Rectangle 64"/>
            <p:cNvSpPr>
              <a:spLocks noChangeArrowheads="1"/>
            </p:cNvSpPr>
            <p:nvPr/>
          </p:nvSpPr>
          <p:spPr bwMode="auto">
            <a:xfrm>
              <a:off x="3429" y="2839"/>
              <a:ext cx="937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Rectangle 65"/>
            <p:cNvSpPr>
              <a:spLocks noChangeArrowheads="1"/>
            </p:cNvSpPr>
            <p:nvPr/>
          </p:nvSpPr>
          <p:spPr bwMode="auto">
            <a:xfrm>
              <a:off x="3379" y="2839"/>
              <a:ext cx="937" cy="34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70" name="Rectangle 66"/>
            <p:cNvSpPr>
              <a:spLocks noChangeArrowheads="1"/>
            </p:cNvSpPr>
            <p:nvPr/>
          </p:nvSpPr>
          <p:spPr bwMode="auto">
            <a:xfrm>
              <a:off x="3751" y="2776"/>
              <a:ext cx="240" cy="23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160000"/>
                </a:lnSpc>
                <a:defRPr/>
              </a:pPr>
              <a:r>
                <a:rPr lang="zh-CN" altLang="en-US" sz="1500">
                  <a:latin typeface="黑体" pitchFamily="2" charset="-122"/>
                  <a:ea typeface="黑体" pitchFamily="2" charset="-122"/>
                </a:rPr>
                <a:t>整个</a:t>
              </a:r>
              <a:endParaRPr lang="zh-CN" altLang="en-US" sz="1600" b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2771" name="Rectangle 67"/>
            <p:cNvSpPr>
              <a:spLocks noChangeArrowheads="1"/>
            </p:cNvSpPr>
            <p:nvPr/>
          </p:nvSpPr>
          <p:spPr bwMode="auto">
            <a:xfrm>
              <a:off x="3696" y="2928"/>
              <a:ext cx="360" cy="23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160000"/>
                </a:lnSpc>
                <a:defRPr/>
              </a:pPr>
              <a:r>
                <a:rPr lang="zh-CN" altLang="en-US" sz="1500">
                  <a:latin typeface="黑体" pitchFamily="2" charset="-122"/>
                  <a:ea typeface="黑体" pitchFamily="2" charset="-122"/>
                </a:rPr>
                <a:t>路由表</a:t>
              </a:r>
              <a:endParaRPr lang="zh-CN" altLang="en-US" sz="1600" b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2772" name="Rectangle 68"/>
            <p:cNvSpPr>
              <a:spLocks noChangeArrowheads="1"/>
            </p:cNvSpPr>
            <p:nvPr/>
          </p:nvSpPr>
          <p:spPr bwMode="auto">
            <a:xfrm>
              <a:off x="3583" y="2531"/>
              <a:ext cx="420" cy="23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160000"/>
                </a:lnSpc>
                <a:defRPr/>
              </a:pPr>
              <a:r>
                <a:rPr lang="zh-CN" altLang="en-US" sz="150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路由器</a:t>
              </a:r>
              <a:r>
                <a:rPr lang="en-US" altLang="zh-CN" sz="150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B</a:t>
              </a:r>
              <a:endParaRPr lang="en-US" altLang="zh-CN" sz="1600" b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2773" name="Rectangle 69"/>
            <p:cNvSpPr>
              <a:spLocks noChangeArrowheads="1"/>
            </p:cNvSpPr>
            <p:nvPr/>
          </p:nvSpPr>
          <p:spPr bwMode="auto">
            <a:xfrm>
              <a:off x="1584" y="1584"/>
              <a:ext cx="360" cy="23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160000"/>
                </a:lnSpc>
                <a:defRPr/>
              </a:pPr>
              <a:r>
                <a:rPr lang="zh-CN" altLang="en-US" sz="1500">
                  <a:latin typeface="黑体" pitchFamily="2" charset="-122"/>
                  <a:ea typeface="黑体" pitchFamily="2" charset="-122"/>
                </a:rPr>
                <a:t>路由器</a:t>
              </a:r>
              <a:endParaRPr lang="zh-CN" altLang="en-US" sz="1600" b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2774" name="Rectangle 70"/>
            <p:cNvSpPr>
              <a:spLocks noChangeArrowheads="1"/>
            </p:cNvSpPr>
            <p:nvPr/>
          </p:nvSpPr>
          <p:spPr bwMode="auto">
            <a:xfrm>
              <a:off x="2007" y="1633"/>
              <a:ext cx="93" cy="23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160000"/>
                </a:lnSpc>
                <a:defRPr/>
              </a:pPr>
              <a:r>
                <a:rPr lang="en-US" altLang="zh-CN" sz="1500">
                  <a:latin typeface="Arial Black" pitchFamily="34" charset="0"/>
                  <a:ea typeface="宋体" pitchFamily="2" charset="-122"/>
                </a:rPr>
                <a:t>A</a:t>
              </a:r>
              <a:endParaRPr lang="en-US" altLang="zh-CN" sz="1600" b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2775" name="Rectangle 71"/>
            <p:cNvSpPr>
              <a:spLocks noChangeArrowheads="1"/>
            </p:cNvSpPr>
            <p:nvPr/>
          </p:nvSpPr>
          <p:spPr bwMode="auto">
            <a:xfrm>
              <a:off x="3456" y="1632"/>
              <a:ext cx="360" cy="23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160000"/>
                </a:lnSpc>
                <a:defRPr/>
              </a:pPr>
              <a:r>
                <a:rPr lang="zh-CN" altLang="en-US" sz="1500">
                  <a:latin typeface="黑体" pitchFamily="2" charset="-122"/>
                  <a:ea typeface="黑体" pitchFamily="2" charset="-122"/>
                </a:rPr>
                <a:t>路由器</a:t>
              </a:r>
              <a:endParaRPr lang="zh-CN" altLang="en-US" sz="1600" b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2776" name="Rectangle 72"/>
            <p:cNvSpPr>
              <a:spLocks noChangeArrowheads="1"/>
            </p:cNvSpPr>
            <p:nvPr/>
          </p:nvSpPr>
          <p:spPr bwMode="auto">
            <a:xfrm>
              <a:off x="3881" y="1633"/>
              <a:ext cx="93" cy="23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160000"/>
                </a:lnSpc>
                <a:defRPr/>
              </a:pPr>
              <a:r>
                <a:rPr lang="en-US" altLang="zh-CN" sz="1500" b="0">
                  <a:latin typeface="Arial Black" pitchFamily="34" charset="0"/>
                  <a:ea typeface="宋体" pitchFamily="2" charset="-122"/>
                </a:rPr>
                <a:t>B</a:t>
              </a:r>
              <a:endParaRPr lang="en-US" altLang="zh-CN" sz="1600" b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2777" name="Rectangle 73"/>
            <p:cNvSpPr>
              <a:spLocks noChangeArrowheads="1"/>
            </p:cNvSpPr>
            <p:nvPr/>
          </p:nvSpPr>
          <p:spPr bwMode="auto">
            <a:xfrm>
              <a:off x="3152" y="2022"/>
              <a:ext cx="87" cy="23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160000"/>
                </a:lnSpc>
                <a:defRPr/>
              </a:pPr>
              <a:r>
                <a:rPr lang="en-US" altLang="zh-CN" sz="1500">
                  <a:latin typeface="Arial Black" pitchFamily="34" charset="0"/>
                  <a:ea typeface="宋体" pitchFamily="2" charset="-122"/>
                </a:rPr>
                <a:t>S</a:t>
              </a:r>
              <a:endParaRPr lang="en-US" altLang="zh-CN" sz="1600" b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2778" name="Rectangle 74"/>
            <p:cNvSpPr>
              <a:spLocks noChangeArrowheads="1"/>
            </p:cNvSpPr>
            <p:nvPr/>
          </p:nvSpPr>
          <p:spPr bwMode="auto">
            <a:xfrm>
              <a:off x="3243" y="2022"/>
              <a:ext cx="80" cy="23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160000"/>
                </a:lnSpc>
                <a:defRPr/>
              </a:pPr>
              <a:r>
                <a:rPr lang="en-US" altLang="zh-CN" sz="1500">
                  <a:latin typeface="Arial Black" pitchFamily="34" charset="0"/>
                  <a:ea typeface="宋体" pitchFamily="2" charset="-122"/>
                </a:rPr>
                <a:t>0</a:t>
              </a:r>
              <a:endParaRPr lang="en-US" altLang="zh-CN" sz="1600" b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9724" name="Rectangle 75"/>
            <p:cNvSpPr>
              <a:spLocks noChangeArrowheads="1"/>
            </p:cNvSpPr>
            <p:nvPr/>
          </p:nvSpPr>
          <p:spPr bwMode="auto">
            <a:xfrm>
              <a:off x="1200" y="2839"/>
              <a:ext cx="937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5" name="Rectangle 76"/>
            <p:cNvSpPr>
              <a:spLocks noChangeArrowheads="1"/>
            </p:cNvSpPr>
            <p:nvPr/>
          </p:nvSpPr>
          <p:spPr bwMode="auto">
            <a:xfrm>
              <a:off x="1200" y="2839"/>
              <a:ext cx="937" cy="34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81" name="Rectangle 77"/>
            <p:cNvSpPr>
              <a:spLocks noChangeArrowheads="1"/>
            </p:cNvSpPr>
            <p:nvPr/>
          </p:nvSpPr>
          <p:spPr bwMode="auto">
            <a:xfrm>
              <a:off x="1507" y="2776"/>
              <a:ext cx="240" cy="23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160000"/>
                </a:lnSpc>
                <a:defRPr/>
              </a:pPr>
              <a:r>
                <a:rPr lang="zh-CN" altLang="en-US" sz="1500">
                  <a:latin typeface="黑体" pitchFamily="2" charset="-122"/>
                  <a:ea typeface="黑体" pitchFamily="2" charset="-122"/>
                </a:rPr>
                <a:t>整个</a:t>
              </a:r>
              <a:endParaRPr lang="zh-CN" altLang="en-US" sz="1600" b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2782" name="Rectangle 78"/>
            <p:cNvSpPr>
              <a:spLocks noChangeArrowheads="1"/>
            </p:cNvSpPr>
            <p:nvPr/>
          </p:nvSpPr>
          <p:spPr bwMode="auto">
            <a:xfrm>
              <a:off x="1440" y="2928"/>
              <a:ext cx="360" cy="23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160000"/>
                </a:lnSpc>
                <a:defRPr/>
              </a:pPr>
              <a:r>
                <a:rPr lang="zh-CN" altLang="en-US" sz="1500">
                  <a:latin typeface="黑体" pitchFamily="2" charset="-122"/>
                  <a:ea typeface="黑体" pitchFamily="2" charset="-122"/>
                </a:rPr>
                <a:t>路由表</a:t>
              </a:r>
              <a:endParaRPr lang="zh-CN" altLang="en-US" sz="1600" b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2783" name="Rectangle 79"/>
            <p:cNvSpPr>
              <a:spLocks noChangeArrowheads="1"/>
            </p:cNvSpPr>
            <p:nvPr/>
          </p:nvSpPr>
          <p:spPr bwMode="auto">
            <a:xfrm>
              <a:off x="1370" y="2531"/>
              <a:ext cx="420" cy="23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lnSpc>
                  <a:spcPct val="160000"/>
                </a:lnSpc>
                <a:defRPr/>
              </a:pPr>
              <a:r>
                <a:rPr lang="zh-CN" altLang="en-US" sz="150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路由器</a:t>
              </a:r>
              <a:r>
                <a:rPr lang="en-US" altLang="zh-CN" sz="1500">
                  <a:solidFill>
                    <a:srgbClr val="0000FF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endParaRPr lang="en-US" altLang="zh-CN" sz="1600" b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9729" name="Line 80"/>
            <p:cNvSpPr>
              <a:spLocks noChangeShapeType="1"/>
            </p:cNvSpPr>
            <p:nvPr/>
          </p:nvSpPr>
          <p:spPr bwMode="auto">
            <a:xfrm>
              <a:off x="2232" y="2597"/>
              <a:ext cx="841" cy="1"/>
            </a:xfrm>
            <a:prstGeom prst="line">
              <a:avLst/>
            </a:prstGeom>
            <a:noFill/>
            <a:ln w="46038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0" name="Freeform 81"/>
            <p:cNvSpPr>
              <a:spLocks/>
            </p:cNvSpPr>
            <p:nvPr/>
          </p:nvSpPr>
          <p:spPr bwMode="auto">
            <a:xfrm>
              <a:off x="3094" y="2540"/>
              <a:ext cx="185" cy="114"/>
            </a:xfrm>
            <a:custGeom>
              <a:avLst/>
              <a:gdLst>
                <a:gd name="T0" fmla="*/ 0 w 185"/>
                <a:gd name="T1" fmla="*/ 0 h 114"/>
                <a:gd name="T2" fmla="*/ 185 w 185"/>
                <a:gd name="T3" fmla="*/ 57 h 114"/>
                <a:gd name="T4" fmla="*/ 0 w 185"/>
                <a:gd name="T5" fmla="*/ 114 h 114"/>
                <a:gd name="T6" fmla="*/ 0 w 185"/>
                <a:gd name="T7" fmla="*/ 0 h 1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5"/>
                <a:gd name="T13" fmla="*/ 0 h 114"/>
                <a:gd name="T14" fmla="*/ 185 w 185"/>
                <a:gd name="T15" fmla="*/ 114 h 1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5" h="114">
                  <a:moveTo>
                    <a:pt x="0" y="0"/>
                  </a:moveTo>
                  <a:lnTo>
                    <a:pt x="185" y="57"/>
                  </a:lnTo>
                  <a:lnTo>
                    <a:pt x="0" y="1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1" name="Line 82"/>
            <p:cNvSpPr>
              <a:spLocks noChangeShapeType="1"/>
            </p:cNvSpPr>
            <p:nvPr/>
          </p:nvSpPr>
          <p:spPr bwMode="auto">
            <a:xfrm flipH="1">
              <a:off x="2400" y="3047"/>
              <a:ext cx="842" cy="1"/>
            </a:xfrm>
            <a:prstGeom prst="line">
              <a:avLst/>
            </a:prstGeom>
            <a:noFill/>
            <a:ln w="46038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2" name="Freeform 83"/>
            <p:cNvSpPr>
              <a:spLocks/>
            </p:cNvSpPr>
            <p:nvPr/>
          </p:nvSpPr>
          <p:spPr bwMode="auto">
            <a:xfrm>
              <a:off x="2230" y="2990"/>
              <a:ext cx="185" cy="114"/>
            </a:xfrm>
            <a:custGeom>
              <a:avLst/>
              <a:gdLst>
                <a:gd name="T0" fmla="*/ 185 w 185"/>
                <a:gd name="T1" fmla="*/ 114 h 114"/>
                <a:gd name="T2" fmla="*/ 0 w 185"/>
                <a:gd name="T3" fmla="*/ 57 h 114"/>
                <a:gd name="T4" fmla="*/ 185 w 185"/>
                <a:gd name="T5" fmla="*/ 0 h 114"/>
                <a:gd name="T6" fmla="*/ 185 w 185"/>
                <a:gd name="T7" fmla="*/ 114 h 1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5"/>
                <a:gd name="T13" fmla="*/ 0 h 114"/>
                <a:gd name="T14" fmla="*/ 185 w 185"/>
                <a:gd name="T15" fmla="*/ 114 h 1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5" h="114">
                  <a:moveTo>
                    <a:pt x="185" y="114"/>
                  </a:moveTo>
                  <a:lnTo>
                    <a:pt x="0" y="57"/>
                  </a:lnTo>
                  <a:lnTo>
                    <a:pt x="185" y="0"/>
                  </a:lnTo>
                  <a:lnTo>
                    <a:pt x="185" y="114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378225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RIP</a:t>
            </a:r>
            <a:r>
              <a:rPr lang="zh-CN" altLang="en-US" dirty="0" smtClean="0"/>
              <a:t>启动和运行的过程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3039" y="1330848"/>
            <a:ext cx="7416824" cy="576064"/>
          </a:xfrm>
        </p:spPr>
        <p:txBody>
          <a:bodyPr/>
          <a:lstStyle/>
          <a:p>
            <a:r>
              <a:rPr lang="en-US" altLang="zh-CN" dirty="0" smtClean="0"/>
              <a:t>RIP</a:t>
            </a:r>
            <a:r>
              <a:rPr lang="zh-CN" altLang="en-US" dirty="0" smtClean="0"/>
              <a:t>协议启动的</a:t>
            </a:r>
            <a:r>
              <a:rPr lang="en-US" altLang="zh-CN" dirty="0" smtClean="0"/>
              <a:t>Debug</a:t>
            </a:r>
            <a:r>
              <a:rPr lang="zh-CN" altLang="en-US" dirty="0" smtClean="0"/>
              <a:t>信息显示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6150114"/>
            <a:ext cx="3707904" cy="70788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/>
            <a:r>
              <a:rPr lang="en-US" altLang="zh-CN" sz="2000" dirty="0">
                <a:solidFill>
                  <a:schemeClr val="bg1">
                    <a:lumMod val="10000"/>
                  </a:schemeClr>
                </a:solidFill>
                <a:latin typeface="Calibri"/>
                <a:ea typeface="宋体"/>
              </a:rPr>
              <a:t>&lt;r1&gt;debugging rip packet</a:t>
            </a:r>
          </a:p>
          <a:p>
            <a:pPr lvl="0"/>
            <a:r>
              <a:rPr lang="en-US" altLang="zh-CN" sz="2000" dirty="0">
                <a:solidFill>
                  <a:schemeClr val="bg1">
                    <a:lumMod val="10000"/>
                  </a:schemeClr>
                </a:solidFill>
                <a:latin typeface="Calibri"/>
                <a:ea typeface="宋体"/>
              </a:rPr>
              <a:t>&lt;r1&gt;terminal  debugging</a:t>
            </a:r>
          </a:p>
        </p:txBody>
      </p:sp>
      <p:sp>
        <p:nvSpPr>
          <p:cNvPr id="5" name="矩形 4"/>
          <p:cNvSpPr/>
          <p:nvPr/>
        </p:nvSpPr>
        <p:spPr>
          <a:xfrm>
            <a:off x="971600" y="1979730"/>
            <a:ext cx="7632848" cy="41857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/>
              <a:t>[r 1-rip]                                                                       </a:t>
            </a:r>
            <a:endParaRPr lang="zh-CN" altLang="zh-CN" sz="1400" dirty="0"/>
          </a:p>
          <a:p>
            <a:r>
              <a:rPr lang="en-US" altLang="zh-CN" sz="1400" dirty="0"/>
              <a:t>*0.904772 r 1 RM/7/RTDBG:                                                       </a:t>
            </a:r>
            <a:endParaRPr lang="zh-CN" altLang="zh-CN" sz="1400" dirty="0"/>
          </a:p>
          <a:p>
            <a:r>
              <a:rPr lang="en-US" altLang="zh-CN" sz="1400" dirty="0"/>
              <a:t> RIP: send from 192.168.2.2(Ethernet0/0) to 255.255.255.255                     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Packet:vers</a:t>
            </a:r>
            <a:r>
              <a:rPr lang="en-US" altLang="zh-CN" sz="1400" dirty="0"/>
              <a:t> 1, </a:t>
            </a:r>
            <a:r>
              <a:rPr lang="en-US" altLang="zh-CN" sz="1400" dirty="0" err="1"/>
              <a:t>cmd</a:t>
            </a:r>
            <a:r>
              <a:rPr lang="en-US" altLang="zh-CN" sz="1400" dirty="0"/>
              <a:t> Response, length 24                                      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dest</a:t>
            </a:r>
            <a:r>
              <a:rPr lang="en-US" altLang="zh-CN" sz="1400" dirty="0"/>
              <a:t> 192.168.3.0, metric 1, tag 0                                           </a:t>
            </a:r>
            <a:endParaRPr lang="zh-CN" altLang="zh-CN" sz="1400" dirty="0"/>
          </a:p>
          <a:p>
            <a:r>
              <a:rPr lang="en-US" altLang="zh-CN" sz="1400" dirty="0"/>
              <a:t>*0.904772 r 1 RM/7/RTDBG:                                                       </a:t>
            </a:r>
            <a:endParaRPr lang="zh-CN" altLang="zh-CN" sz="1400" dirty="0"/>
          </a:p>
          <a:p>
            <a:r>
              <a:rPr lang="en-US" altLang="zh-CN" sz="1400" dirty="0"/>
              <a:t> RIP: send from 192.168.3.1(Ethernet0/1) to 255.255.255.255                     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Packet:vers</a:t>
            </a:r>
            <a:r>
              <a:rPr lang="en-US" altLang="zh-CN" sz="1400" dirty="0"/>
              <a:t> 1, </a:t>
            </a:r>
            <a:r>
              <a:rPr lang="en-US" altLang="zh-CN" sz="1400" dirty="0" err="1"/>
              <a:t>cmd</a:t>
            </a:r>
            <a:r>
              <a:rPr lang="en-US" altLang="zh-CN" sz="1400" dirty="0"/>
              <a:t> Response, length 44                                      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dest</a:t>
            </a:r>
            <a:r>
              <a:rPr lang="en-US" altLang="zh-CN" sz="1400" dirty="0"/>
              <a:t> 192.168.1.0, metric 2, tag 0                                           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dest</a:t>
            </a:r>
            <a:r>
              <a:rPr lang="en-US" altLang="zh-CN" sz="1400" dirty="0"/>
              <a:t> 192.168.2.0, metric 1, tag 0                                           </a:t>
            </a:r>
            <a:endParaRPr lang="zh-CN" altLang="zh-CN" sz="1400" dirty="0"/>
          </a:p>
          <a:p>
            <a:r>
              <a:rPr lang="en-US" altLang="zh-CN" sz="1400" dirty="0"/>
              <a:t>*0.934772 r 1 RM/7/RTDBG:                                                       </a:t>
            </a:r>
            <a:endParaRPr lang="zh-CN" altLang="zh-CN" sz="1400" dirty="0"/>
          </a:p>
          <a:p>
            <a:r>
              <a:rPr lang="en-US" altLang="zh-CN" sz="1400" dirty="0"/>
              <a:t> RIP: send from 192.168.2.2(Ethernet0/0) to 255.255.255.255                     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Packet:vers</a:t>
            </a:r>
            <a:r>
              <a:rPr lang="en-US" altLang="zh-CN" sz="1400" dirty="0"/>
              <a:t> 1, </a:t>
            </a:r>
            <a:r>
              <a:rPr lang="en-US" altLang="zh-CN" sz="1400" dirty="0" err="1"/>
              <a:t>cmd</a:t>
            </a:r>
            <a:r>
              <a:rPr lang="en-US" altLang="zh-CN" sz="1400" dirty="0"/>
              <a:t> Response, length 24                                      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dest</a:t>
            </a:r>
            <a:r>
              <a:rPr lang="en-US" altLang="zh-CN" sz="1400" dirty="0"/>
              <a:t> 192.168.3.0, metric 1, tag 0                                           </a:t>
            </a:r>
            <a:endParaRPr lang="zh-CN" altLang="zh-CN" sz="1400" dirty="0"/>
          </a:p>
          <a:p>
            <a:r>
              <a:rPr lang="en-US" altLang="zh-CN" sz="1400" dirty="0"/>
              <a:t>*0.934773 r 1 RM/7/RTDBG:                                                       </a:t>
            </a:r>
            <a:endParaRPr lang="zh-CN" altLang="zh-CN" sz="1400" dirty="0"/>
          </a:p>
          <a:p>
            <a:r>
              <a:rPr lang="en-US" altLang="zh-CN" sz="1400" dirty="0"/>
              <a:t> RIP: send from 192.168.3.1(Ethernet0/1) to 255.255.255.255                     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Packet:vers</a:t>
            </a:r>
            <a:r>
              <a:rPr lang="en-US" altLang="zh-CN" sz="1400" dirty="0"/>
              <a:t> 1, </a:t>
            </a:r>
            <a:r>
              <a:rPr lang="en-US" altLang="zh-CN" sz="1400" dirty="0" err="1"/>
              <a:t>cmd</a:t>
            </a:r>
            <a:r>
              <a:rPr lang="en-US" altLang="zh-CN" sz="1400" dirty="0"/>
              <a:t> Response, length 44                                      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dest</a:t>
            </a:r>
            <a:r>
              <a:rPr lang="en-US" altLang="zh-CN" sz="1400" dirty="0"/>
              <a:t> 192.168.1.0, metric 2, tag 0                                           </a:t>
            </a:r>
            <a:endParaRPr lang="zh-CN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dest</a:t>
            </a:r>
            <a:r>
              <a:rPr lang="en-US" altLang="zh-CN" sz="1400" dirty="0"/>
              <a:t> 192.168.2.0, metric 1, tag 0 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248344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RIP</a:t>
            </a:r>
            <a:r>
              <a:rPr lang="zh-CN" altLang="en-US" dirty="0" smtClean="0"/>
              <a:t>管理的路由数据库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86720" y="1412776"/>
            <a:ext cx="7488832" cy="576064"/>
          </a:xfrm>
        </p:spPr>
        <p:txBody>
          <a:bodyPr/>
          <a:lstStyle/>
          <a:p>
            <a:r>
              <a:rPr lang="zh-CN" altLang="en-US" dirty="0" smtClean="0"/>
              <a:t>显示</a:t>
            </a:r>
            <a:r>
              <a:rPr lang="zh-CN" altLang="en-US" dirty="0" smtClean="0"/>
              <a:t>路由数据库信息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102744" y="2132856"/>
            <a:ext cx="7272808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dk1"/>
                </a:solidFill>
              </a:rPr>
              <a:t>[r 1]display rip                                                                   </a:t>
            </a:r>
            <a:endParaRPr lang="zh-CN" altLang="zh-CN" dirty="0">
              <a:solidFill>
                <a:schemeClr val="dk1"/>
              </a:solidFill>
            </a:endParaRPr>
          </a:p>
          <a:p>
            <a:r>
              <a:rPr lang="en-US" altLang="zh-CN" dirty="0">
                <a:solidFill>
                  <a:schemeClr val="dk1"/>
                </a:solidFill>
              </a:rPr>
              <a:t>  RIP is running                                                                </a:t>
            </a:r>
            <a:endParaRPr lang="zh-CN" altLang="zh-CN" dirty="0">
              <a:solidFill>
                <a:schemeClr val="dk1"/>
              </a:solidFill>
            </a:endParaRPr>
          </a:p>
          <a:p>
            <a:r>
              <a:rPr lang="en-US" altLang="zh-CN" dirty="0">
                <a:solidFill>
                  <a:schemeClr val="dk1"/>
                </a:solidFill>
              </a:rPr>
              <a:t>  public net VPN-Instance                                                       </a:t>
            </a:r>
            <a:endParaRPr lang="zh-CN" altLang="zh-CN" dirty="0">
              <a:solidFill>
                <a:schemeClr val="dk1"/>
              </a:solidFill>
            </a:endParaRPr>
          </a:p>
          <a:p>
            <a:r>
              <a:rPr lang="en-US" altLang="zh-CN" dirty="0">
                <a:solidFill>
                  <a:schemeClr val="dk1"/>
                </a:solidFill>
              </a:rPr>
              <a:t>    </a:t>
            </a:r>
            <a:r>
              <a:rPr lang="en-US" altLang="zh-CN" dirty="0" err="1">
                <a:solidFill>
                  <a:schemeClr val="dk1"/>
                </a:solidFill>
              </a:rPr>
              <a:t>Checkzero</a:t>
            </a:r>
            <a:r>
              <a:rPr lang="en-US" altLang="zh-CN" dirty="0">
                <a:solidFill>
                  <a:schemeClr val="dk1"/>
                </a:solidFill>
              </a:rPr>
              <a:t> is on         Default cost : 1                                    </a:t>
            </a:r>
            <a:endParaRPr lang="zh-CN" altLang="zh-CN" dirty="0">
              <a:solidFill>
                <a:schemeClr val="dk1"/>
              </a:solidFill>
            </a:endParaRPr>
          </a:p>
          <a:p>
            <a:r>
              <a:rPr lang="en-US" altLang="zh-CN" dirty="0">
                <a:solidFill>
                  <a:schemeClr val="dk1"/>
                </a:solidFill>
              </a:rPr>
              <a:t>    Summary is on           Preference : 100                                    </a:t>
            </a:r>
            <a:endParaRPr lang="zh-CN" altLang="zh-CN" dirty="0">
              <a:solidFill>
                <a:schemeClr val="dk1"/>
              </a:solidFill>
            </a:endParaRPr>
          </a:p>
          <a:p>
            <a:r>
              <a:rPr lang="en-US" altLang="zh-CN" dirty="0">
                <a:solidFill>
                  <a:schemeClr val="dk1"/>
                </a:solidFill>
              </a:rPr>
              <a:t>    Validate-source-address is on                                               </a:t>
            </a:r>
            <a:endParaRPr lang="zh-CN" altLang="zh-CN" dirty="0">
              <a:solidFill>
                <a:schemeClr val="dk1"/>
              </a:solidFill>
            </a:endParaRPr>
          </a:p>
          <a:p>
            <a:r>
              <a:rPr lang="en-US" altLang="zh-CN" dirty="0">
                <a:solidFill>
                  <a:schemeClr val="dk1"/>
                </a:solidFill>
              </a:rPr>
              <a:t>    Traffic-share-across-interface is off                                       </a:t>
            </a:r>
            <a:endParaRPr lang="zh-CN" altLang="zh-CN" dirty="0">
              <a:solidFill>
                <a:schemeClr val="dk1"/>
              </a:solidFill>
            </a:endParaRPr>
          </a:p>
          <a:p>
            <a:r>
              <a:rPr lang="en-US" altLang="zh-CN" dirty="0">
                <a:solidFill>
                  <a:schemeClr val="dk1"/>
                </a:solidFill>
              </a:rPr>
              <a:t>    Period update timer : 30                                                    </a:t>
            </a:r>
            <a:endParaRPr lang="zh-CN" altLang="zh-CN" dirty="0">
              <a:solidFill>
                <a:schemeClr val="dk1"/>
              </a:solidFill>
            </a:endParaRPr>
          </a:p>
          <a:p>
            <a:r>
              <a:rPr lang="en-US" altLang="zh-CN" dirty="0">
                <a:solidFill>
                  <a:schemeClr val="dk1"/>
                </a:solidFill>
              </a:rPr>
              <a:t>    Timeout timer : 180                                                         </a:t>
            </a:r>
            <a:endParaRPr lang="zh-CN" altLang="zh-CN" dirty="0">
              <a:solidFill>
                <a:schemeClr val="dk1"/>
              </a:solidFill>
            </a:endParaRPr>
          </a:p>
          <a:p>
            <a:r>
              <a:rPr lang="en-US" altLang="zh-CN" dirty="0">
                <a:solidFill>
                  <a:schemeClr val="dk1"/>
                </a:solidFill>
              </a:rPr>
              <a:t>    Garbage-collection timer : 120                                              </a:t>
            </a:r>
            <a:endParaRPr lang="zh-CN" altLang="zh-CN" dirty="0">
              <a:solidFill>
                <a:schemeClr val="dk1"/>
              </a:solidFill>
            </a:endParaRPr>
          </a:p>
          <a:p>
            <a:r>
              <a:rPr lang="en-US" altLang="zh-CN" dirty="0">
                <a:solidFill>
                  <a:schemeClr val="dk1"/>
                </a:solidFill>
              </a:rPr>
              <a:t>    No peer router                                                              </a:t>
            </a:r>
            <a:endParaRPr lang="zh-CN" altLang="zh-CN" dirty="0">
              <a:solidFill>
                <a:schemeClr val="dk1"/>
              </a:solidFill>
            </a:endParaRPr>
          </a:p>
          <a:p>
            <a:r>
              <a:rPr lang="en-US" altLang="zh-CN" dirty="0">
                <a:solidFill>
                  <a:schemeClr val="dk1"/>
                </a:solidFill>
              </a:rPr>
              <a:t>    Network :                                                                   </a:t>
            </a:r>
            <a:endParaRPr lang="zh-CN" altLang="zh-CN" dirty="0">
              <a:solidFill>
                <a:schemeClr val="dk1"/>
              </a:solidFill>
            </a:endParaRPr>
          </a:p>
          <a:p>
            <a:r>
              <a:rPr lang="en-US" altLang="zh-CN" dirty="0">
                <a:solidFill>
                  <a:schemeClr val="dk1"/>
                </a:solidFill>
              </a:rPr>
              <a:t>    192.168.2.0              192.168.3.0       </a:t>
            </a:r>
            <a:endParaRPr lang="zh-CN" altLang="zh-CN" dirty="0">
              <a:solidFill>
                <a:schemeClr val="dk1"/>
              </a:solidFill>
            </a:endParaRPr>
          </a:p>
          <a:p>
            <a:r>
              <a:rPr lang="en-US" altLang="zh-CN" dirty="0">
                <a:solidFill>
                  <a:schemeClr val="dk1"/>
                </a:solidFill>
              </a:rPr>
              <a:t> </a:t>
            </a:r>
            <a:endParaRPr lang="zh-CN" altLang="zh-CN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9608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RIP</a:t>
            </a:r>
            <a:r>
              <a:rPr lang="zh-CN" altLang="en-US" dirty="0" smtClean="0"/>
              <a:t>管理的路由数据库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86720" y="1412776"/>
            <a:ext cx="7488832" cy="576064"/>
          </a:xfrm>
        </p:spPr>
        <p:txBody>
          <a:bodyPr/>
          <a:lstStyle/>
          <a:p>
            <a:r>
              <a:rPr lang="en-US" altLang="zh-CN" dirty="0"/>
              <a:t>Display rip  router</a:t>
            </a:r>
          </a:p>
        </p:txBody>
      </p:sp>
      <p:sp>
        <p:nvSpPr>
          <p:cNvPr id="4" name="矩形 3"/>
          <p:cNvSpPr/>
          <p:nvPr/>
        </p:nvSpPr>
        <p:spPr>
          <a:xfrm>
            <a:off x="1077461" y="2564904"/>
            <a:ext cx="7272808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dk1"/>
                </a:solidFill>
              </a:rPr>
              <a:t>[r 1]display rip </a:t>
            </a:r>
            <a:r>
              <a:rPr lang="en-US" altLang="zh-CN" sz="2000" dirty="0" err="1">
                <a:solidFill>
                  <a:schemeClr val="dk1"/>
                </a:solidFill>
              </a:rPr>
              <a:t>routting</a:t>
            </a:r>
            <a:r>
              <a:rPr lang="en-US" altLang="zh-CN" sz="2000" dirty="0">
                <a:solidFill>
                  <a:schemeClr val="dk1"/>
                </a:solidFill>
              </a:rPr>
              <a:t>-table                                                                </a:t>
            </a:r>
            <a:endParaRPr lang="zh-CN" altLang="zh-CN" sz="2000" dirty="0">
              <a:solidFill>
                <a:schemeClr val="dk1"/>
              </a:solidFill>
            </a:endParaRPr>
          </a:p>
          <a:p>
            <a:r>
              <a:rPr lang="en-US" altLang="zh-CN" sz="2000" dirty="0">
                <a:solidFill>
                  <a:schemeClr val="dk1"/>
                </a:solidFill>
              </a:rPr>
              <a:t>                                                                                </a:t>
            </a:r>
            <a:endParaRPr lang="zh-CN" altLang="zh-CN" sz="2000" dirty="0">
              <a:solidFill>
                <a:schemeClr val="dk1"/>
              </a:solidFill>
            </a:endParaRPr>
          </a:p>
          <a:p>
            <a:r>
              <a:rPr lang="en-US" altLang="zh-CN" sz="2000" dirty="0">
                <a:solidFill>
                  <a:schemeClr val="dk1"/>
                </a:solidFill>
              </a:rPr>
              <a:t>                     RIP routing table: public net                              </a:t>
            </a:r>
            <a:endParaRPr lang="zh-CN" altLang="zh-CN" sz="2000" dirty="0">
              <a:solidFill>
                <a:schemeClr val="dk1"/>
              </a:solidFill>
            </a:endParaRPr>
          </a:p>
          <a:p>
            <a:r>
              <a:rPr lang="en-US" altLang="zh-CN" sz="2000" dirty="0">
                <a:solidFill>
                  <a:schemeClr val="dk1"/>
                </a:solidFill>
              </a:rPr>
              <a:t>                                                                                </a:t>
            </a:r>
            <a:endParaRPr lang="zh-CN" altLang="zh-CN" sz="2000" dirty="0">
              <a:solidFill>
                <a:schemeClr val="dk1"/>
              </a:solidFill>
            </a:endParaRPr>
          </a:p>
          <a:p>
            <a:r>
              <a:rPr lang="en-US" altLang="zh-CN" sz="2000" dirty="0">
                <a:solidFill>
                  <a:schemeClr val="dk1"/>
                </a:solidFill>
              </a:rPr>
              <a:t>Destination/Mask    Cost  </a:t>
            </a:r>
            <a:r>
              <a:rPr lang="en-US" altLang="zh-CN" sz="2000" dirty="0" err="1">
                <a:solidFill>
                  <a:schemeClr val="dk1"/>
                </a:solidFill>
              </a:rPr>
              <a:t>NextHop</a:t>
            </a:r>
            <a:r>
              <a:rPr lang="en-US" altLang="zh-CN" sz="2000" dirty="0">
                <a:solidFill>
                  <a:schemeClr val="dk1"/>
                </a:solidFill>
              </a:rPr>
              <a:t>           Age    </a:t>
            </a:r>
            <a:r>
              <a:rPr lang="en-US" altLang="zh-CN" sz="2000" dirty="0" err="1">
                <a:solidFill>
                  <a:schemeClr val="dk1"/>
                </a:solidFill>
              </a:rPr>
              <a:t>SourceGateway</a:t>
            </a:r>
            <a:r>
              <a:rPr lang="en-US" altLang="zh-CN" sz="2000" dirty="0">
                <a:solidFill>
                  <a:schemeClr val="dk1"/>
                </a:solidFill>
              </a:rPr>
              <a:t>                </a:t>
            </a:r>
            <a:endParaRPr lang="zh-CN" altLang="zh-CN" sz="2000" dirty="0">
              <a:solidFill>
                <a:schemeClr val="dk1"/>
              </a:solidFill>
            </a:endParaRPr>
          </a:p>
          <a:p>
            <a:r>
              <a:rPr lang="en-US" altLang="zh-CN" sz="2000" dirty="0">
                <a:solidFill>
                  <a:schemeClr val="dk1"/>
                </a:solidFill>
              </a:rPr>
              <a:t>192.168.1.0/24      1     192.168.2.1       21s    192.168.2.1                  </a:t>
            </a:r>
            <a:endParaRPr lang="zh-CN" altLang="zh-CN" sz="2000" dirty="0">
              <a:solidFill>
                <a:schemeClr val="dk1"/>
              </a:solidFill>
            </a:endParaRPr>
          </a:p>
          <a:p>
            <a:r>
              <a:rPr lang="en-US" altLang="zh-CN" sz="2000" dirty="0">
                <a:solidFill>
                  <a:schemeClr val="dk1"/>
                </a:solidFill>
              </a:rPr>
              <a:t>192.168.5.0/24      1     192.168.3.2       18s    192.168.3.2  </a:t>
            </a:r>
            <a:endParaRPr lang="zh-CN" altLang="zh-CN" sz="2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1034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dirty="0"/>
              <a:t>RIP1</a:t>
            </a:r>
            <a:r>
              <a:rPr lang="zh-CN" altLang="en-US" dirty="0"/>
              <a:t>协议报文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563888" y="1196752"/>
            <a:ext cx="2699792" cy="1152128"/>
          </a:xfrm>
        </p:spPr>
        <p:txBody>
          <a:bodyPr/>
          <a:lstStyle/>
          <a:p>
            <a:r>
              <a:rPr lang="en-US" altLang="zh-CN" sz="2400" dirty="0" smtClean="0"/>
              <a:t>Request</a:t>
            </a:r>
            <a:r>
              <a:rPr lang="zh-CN" altLang="en-US" sz="2400" dirty="0" smtClean="0"/>
              <a:t>报文</a:t>
            </a:r>
            <a:endParaRPr lang="en-US" altLang="zh-CN" sz="2400" dirty="0" smtClean="0"/>
          </a:p>
          <a:p>
            <a:r>
              <a:rPr lang="en-US" altLang="zh-CN" sz="2400" dirty="0" smtClean="0"/>
              <a:t>Response</a:t>
            </a:r>
            <a:r>
              <a:rPr lang="zh-CN" altLang="en-US" sz="2400" dirty="0" smtClean="0"/>
              <a:t>报文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7313" b="56038"/>
          <a:stretch/>
        </p:blipFill>
        <p:spPr bwMode="auto">
          <a:xfrm>
            <a:off x="323528" y="2196035"/>
            <a:ext cx="8640960" cy="4648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72345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52463" y="279822"/>
            <a:ext cx="8064500" cy="923925"/>
          </a:xfrm>
          <a:noFill/>
        </p:spPr>
        <p:txBody>
          <a:bodyPr rIns="0"/>
          <a:lstStyle/>
          <a:p>
            <a:pPr eaLnBrk="1" hangingPunct="1"/>
            <a:r>
              <a:rPr lang="en-US" altLang="zh-CN" sz="3600" dirty="0" smtClean="0">
                <a:latin typeface="宋体" pitchFamily="2" charset="-122"/>
                <a:ea typeface="宋体" pitchFamily="2" charset="-122"/>
              </a:rPr>
              <a:t>RIP1</a:t>
            </a:r>
            <a:r>
              <a:rPr lang="zh-CN" altLang="en-US" sz="3600" dirty="0" smtClean="0">
                <a:latin typeface="宋体" pitchFamily="2" charset="-122"/>
                <a:ea typeface="宋体" pitchFamily="2" charset="-122"/>
              </a:rPr>
              <a:t>报文结构</a:t>
            </a:r>
          </a:p>
        </p:txBody>
      </p:sp>
      <p:grpSp>
        <p:nvGrpSpPr>
          <p:cNvPr id="2" name="Group 75"/>
          <p:cNvGrpSpPr>
            <a:grpSpLocks/>
          </p:cNvGrpSpPr>
          <p:nvPr/>
        </p:nvGrpSpPr>
        <p:grpSpPr bwMode="auto">
          <a:xfrm>
            <a:off x="652463" y="2058988"/>
            <a:ext cx="7807969" cy="2747962"/>
            <a:chOff x="385" y="1888"/>
            <a:chExt cx="5034" cy="1731"/>
          </a:xfrm>
        </p:grpSpPr>
        <p:sp>
          <p:nvSpPr>
            <p:cNvPr id="20492" name="Rectangle 32"/>
            <p:cNvSpPr>
              <a:spLocks noChangeArrowheads="1"/>
            </p:cNvSpPr>
            <p:nvPr/>
          </p:nvSpPr>
          <p:spPr bwMode="auto">
            <a:xfrm>
              <a:off x="385" y="3335"/>
              <a:ext cx="5034" cy="284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zh-CN" altLang="en-US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到网络</a:t>
              </a:r>
              <a:r>
                <a:rPr lang="en-US" altLang="zh-CN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</a:t>
              </a:r>
              <a:r>
                <a:rPr lang="zh-CN" altLang="en-US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的跳数</a:t>
              </a:r>
              <a:r>
                <a:rPr lang="en-US" altLang="zh-CN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(metric)</a:t>
              </a:r>
              <a:endParaRPr lang="en-US" altLang="zh-CN" sz="2000" b="0">
                <a:latin typeface="Arial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20493" name="Rectangle 29"/>
            <p:cNvSpPr>
              <a:spLocks noChangeArrowheads="1"/>
            </p:cNvSpPr>
            <p:nvPr/>
          </p:nvSpPr>
          <p:spPr bwMode="auto">
            <a:xfrm>
              <a:off x="385" y="3049"/>
              <a:ext cx="5034" cy="286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zh-CN" altLang="en-US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必须为</a:t>
              </a:r>
              <a:r>
                <a:rPr lang="en-US" altLang="zh-CN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0</a:t>
              </a:r>
              <a:endParaRPr lang="en-US" altLang="zh-CN" sz="2000" b="0">
                <a:latin typeface="Arial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20494" name="Rectangle 26"/>
            <p:cNvSpPr>
              <a:spLocks noChangeArrowheads="1"/>
            </p:cNvSpPr>
            <p:nvPr/>
          </p:nvSpPr>
          <p:spPr bwMode="auto">
            <a:xfrm>
              <a:off x="385" y="2763"/>
              <a:ext cx="5034" cy="286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zh-CN" altLang="en-US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必须为</a:t>
              </a:r>
              <a:r>
                <a:rPr lang="en-US" altLang="zh-CN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0</a:t>
              </a:r>
              <a:endParaRPr lang="en-US" altLang="zh-CN" sz="2000" b="0">
                <a:latin typeface="Arial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20495" name="Rectangle 23"/>
            <p:cNvSpPr>
              <a:spLocks noChangeArrowheads="1"/>
            </p:cNvSpPr>
            <p:nvPr/>
          </p:nvSpPr>
          <p:spPr bwMode="auto">
            <a:xfrm>
              <a:off x="385" y="2478"/>
              <a:ext cx="5034" cy="285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zh-CN" altLang="en-US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网络</a:t>
              </a:r>
              <a:r>
                <a:rPr lang="en-US" altLang="zh-CN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</a:t>
              </a:r>
              <a:r>
                <a:rPr lang="zh-CN" altLang="en-US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的</a:t>
              </a:r>
              <a:r>
                <a:rPr lang="en-US" altLang="zh-CN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IP</a:t>
              </a:r>
              <a:r>
                <a:rPr lang="zh-CN" altLang="en-US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地址</a:t>
              </a:r>
              <a:endParaRPr lang="zh-CN" altLang="en-US" sz="2000" b="0">
                <a:latin typeface="Arial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20496" name="Rectangle 22"/>
            <p:cNvSpPr>
              <a:spLocks noChangeArrowheads="1"/>
            </p:cNvSpPr>
            <p:nvPr/>
          </p:nvSpPr>
          <p:spPr bwMode="auto">
            <a:xfrm>
              <a:off x="2919" y="2187"/>
              <a:ext cx="2500" cy="291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zh-CN" altLang="en-US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必须为</a:t>
              </a:r>
              <a:r>
                <a:rPr lang="en-US" altLang="zh-CN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0</a:t>
              </a:r>
              <a:endParaRPr lang="en-US" altLang="zh-CN" sz="2000" b="0">
                <a:latin typeface="Arial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20497" name="Rectangle 20"/>
            <p:cNvSpPr>
              <a:spLocks noChangeArrowheads="1"/>
            </p:cNvSpPr>
            <p:nvPr/>
          </p:nvSpPr>
          <p:spPr bwMode="auto">
            <a:xfrm>
              <a:off x="385" y="2187"/>
              <a:ext cx="2534" cy="291"/>
            </a:xfrm>
            <a:prstGeom prst="rect">
              <a:avLst/>
            </a:prstGeom>
            <a:solidFill>
              <a:srgbClr val="B3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zh-CN" altLang="en-US" sz="2000" b="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网络</a:t>
              </a:r>
              <a:r>
                <a:rPr lang="en-US" altLang="zh-CN" sz="2000" b="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i</a:t>
              </a:r>
              <a:r>
                <a:rPr lang="zh-CN" altLang="en-US" sz="2000" b="0" dirty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的协议族</a:t>
              </a:r>
              <a:endParaRPr lang="zh-CN" altLang="en-US" sz="2000" b="0" dirty="0">
                <a:latin typeface="Arial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20498" name="Rectangle 19" descr="蓝色砂纸"/>
            <p:cNvSpPr>
              <a:spLocks noChangeArrowheads="1"/>
            </p:cNvSpPr>
            <p:nvPr/>
          </p:nvSpPr>
          <p:spPr bwMode="auto">
            <a:xfrm>
              <a:off x="2919" y="1888"/>
              <a:ext cx="2500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zh-CN" altLang="en-US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必须为</a:t>
              </a:r>
              <a:r>
                <a:rPr lang="en-US" altLang="zh-CN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0</a:t>
              </a:r>
              <a:endParaRPr lang="en-US" altLang="zh-CN" sz="2000" b="0">
                <a:latin typeface="Arial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20499" name="Rectangle 18" descr="蓝色砂纸"/>
            <p:cNvSpPr>
              <a:spLocks noChangeArrowheads="1"/>
            </p:cNvSpPr>
            <p:nvPr/>
          </p:nvSpPr>
          <p:spPr bwMode="auto">
            <a:xfrm>
              <a:off x="1585" y="1888"/>
              <a:ext cx="1334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zh-CN" altLang="en-US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版本</a:t>
              </a:r>
              <a:r>
                <a:rPr lang="en-US" altLang="zh-CN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1</a:t>
              </a:r>
              <a:endParaRPr lang="en-US" altLang="zh-CN" sz="2000" b="0">
                <a:latin typeface="Arial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20500" name="Rectangle 17" descr="蓝色砂纸"/>
            <p:cNvSpPr>
              <a:spLocks noChangeArrowheads="1"/>
            </p:cNvSpPr>
            <p:nvPr/>
          </p:nvSpPr>
          <p:spPr bwMode="auto">
            <a:xfrm>
              <a:off x="385" y="1888"/>
              <a:ext cx="1200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zh-CN" altLang="en-US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命令（</a:t>
              </a:r>
              <a:r>
                <a:rPr lang="en-US" altLang="zh-CN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1-5</a:t>
              </a:r>
              <a:r>
                <a:rPr lang="zh-CN" altLang="en-US" sz="2000" b="0"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）</a:t>
              </a:r>
              <a:endParaRPr lang="zh-CN" altLang="en-US" sz="2000" b="0">
                <a:latin typeface="Arial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20501" name="Line 35"/>
            <p:cNvSpPr>
              <a:spLocks noChangeShapeType="1"/>
            </p:cNvSpPr>
            <p:nvPr/>
          </p:nvSpPr>
          <p:spPr bwMode="auto">
            <a:xfrm>
              <a:off x="385" y="1888"/>
              <a:ext cx="5034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2" name="Line 36"/>
            <p:cNvSpPr>
              <a:spLocks noChangeShapeType="1"/>
            </p:cNvSpPr>
            <p:nvPr/>
          </p:nvSpPr>
          <p:spPr bwMode="auto">
            <a:xfrm>
              <a:off x="385" y="3619"/>
              <a:ext cx="5034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3" name="Line 37"/>
            <p:cNvSpPr>
              <a:spLocks noChangeShapeType="1"/>
            </p:cNvSpPr>
            <p:nvPr/>
          </p:nvSpPr>
          <p:spPr bwMode="auto">
            <a:xfrm>
              <a:off x="385" y="1888"/>
              <a:ext cx="0" cy="173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4" name="Line 38"/>
            <p:cNvSpPr>
              <a:spLocks noChangeShapeType="1"/>
            </p:cNvSpPr>
            <p:nvPr/>
          </p:nvSpPr>
          <p:spPr bwMode="auto">
            <a:xfrm>
              <a:off x="5419" y="1888"/>
              <a:ext cx="0" cy="173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5" name="Line 41"/>
            <p:cNvSpPr>
              <a:spLocks noChangeShapeType="1"/>
            </p:cNvSpPr>
            <p:nvPr/>
          </p:nvSpPr>
          <p:spPr bwMode="auto">
            <a:xfrm>
              <a:off x="385" y="2187"/>
              <a:ext cx="5034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6" name="Line 43"/>
            <p:cNvSpPr>
              <a:spLocks noChangeShapeType="1"/>
            </p:cNvSpPr>
            <p:nvPr/>
          </p:nvSpPr>
          <p:spPr bwMode="auto">
            <a:xfrm>
              <a:off x="1585" y="1888"/>
              <a:ext cx="0" cy="299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7" name="Line 46"/>
            <p:cNvSpPr>
              <a:spLocks noChangeShapeType="1"/>
            </p:cNvSpPr>
            <p:nvPr/>
          </p:nvSpPr>
          <p:spPr bwMode="auto">
            <a:xfrm>
              <a:off x="2919" y="1888"/>
              <a:ext cx="0" cy="59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8" name="Line 50"/>
            <p:cNvSpPr>
              <a:spLocks noChangeShapeType="1"/>
            </p:cNvSpPr>
            <p:nvPr/>
          </p:nvSpPr>
          <p:spPr bwMode="auto">
            <a:xfrm>
              <a:off x="385" y="2478"/>
              <a:ext cx="5034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9" name="Line 60"/>
            <p:cNvSpPr>
              <a:spLocks noChangeShapeType="1"/>
            </p:cNvSpPr>
            <p:nvPr/>
          </p:nvSpPr>
          <p:spPr bwMode="auto">
            <a:xfrm>
              <a:off x="385" y="2763"/>
              <a:ext cx="5034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0" name="Line 65"/>
            <p:cNvSpPr>
              <a:spLocks noChangeShapeType="1"/>
            </p:cNvSpPr>
            <p:nvPr/>
          </p:nvSpPr>
          <p:spPr bwMode="auto">
            <a:xfrm>
              <a:off x="385" y="3049"/>
              <a:ext cx="5034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511" name="Line 68"/>
            <p:cNvSpPr>
              <a:spLocks noChangeShapeType="1"/>
            </p:cNvSpPr>
            <p:nvPr/>
          </p:nvSpPr>
          <p:spPr bwMode="auto">
            <a:xfrm>
              <a:off x="385" y="3335"/>
              <a:ext cx="5034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77035" y="1169988"/>
            <a:ext cx="553998" cy="1357312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>
            <a:spAutoFit/>
          </a:bodyPr>
          <a:lstStyle/>
          <a:p>
            <a:pPr>
              <a:defRPr/>
            </a:pPr>
            <a:r>
              <a:rPr lang="zh-CN" altLang="en-US" sz="2400" dirty="0"/>
              <a:t>报文首部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2479" y="2533650"/>
            <a:ext cx="553998" cy="228600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zh-CN" altLang="en-US" dirty="0"/>
              <a:t>报文数据部分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512" y="5612605"/>
            <a:ext cx="8715375" cy="5232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800" dirty="0"/>
              <a:t>一个</a:t>
            </a:r>
            <a:r>
              <a:rPr lang="en-US" altLang="zh-CN" sz="2800" dirty="0"/>
              <a:t>RIP</a:t>
            </a:r>
            <a:r>
              <a:rPr lang="zh-CN" altLang="en-US" sz="2800" dirty="0"/>
              <a:t>报文</a:t>
            </a:r>
            <a:r>
              <a:rPr lang="en-US" altLang="zh-CN" sz="2800" dirty="0"/>
              <a:t>=</a:t>
            </a:r>
            <a:r>
              <a:rPr lang="zh-CN" altLang="en-US" sz="2800" dirty="0"/>
              <a:t>一个报文首部</a:t>
            </a:r>
            <a:r>
              <a:rPr lang="en-US" altLang="zh-CN" sz="2800" dirty="0"/>
              <a:t>+n</a:t>
            </a:r>
            <a:r>
              <a:rPr lang="zh-CN" altLang="en-US" sz="2800" dirty="0"/>
              <a:t>个数据部分，</a:t>
            </a:r>
            <a:r>
              <a:rPr lang="en-US" altLang="zh-CN" sz="2800" dirty="0"/>
              <a:t>n ≥1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68156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44835"/>
            <a:ext cx="8064500" cy="923925"/>
          </a:xfrm>
        </p:spPr>
        <p:txBody>
          <a:bodyPr/>
          <a:lstStyle/>
          <a:p>
            <a:r>
              <a:rPr lang="zh-CN" altLang="en-US" dirty="0" smtClean="0"/>
              <a:t>报文分析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 rotWithShape="1">
          <a:blip r:embed="rId3"/>
          <a:srcRect r="23297"/>
          <a:stretch/>
        </p:blipFill>
        <p:spPr>
          <a:xfrm>
            <a:off x="2987824" y="1268760"/>
            <a:ext cx="6063678" cy="5112568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07504" y="1826822"/>
            <a:ext cx="2664296" cy="3996444"/>
          </a:xfrm>
          <a:ln>
            <a:solidFill>
              <a:srgbClr val="FF0000"/>
            </a:solidFill>
          </a:ln>
        </p:spPr>
        <p:txBody>
          <a:bodyPr/>
          <a:lstStyle/>
          <a:p>
            <a:pPr>
              <a:buClr>
                <a:schemeClr val="accent1"/>
              </a:buClr>
            </a:pPr>
            <a:r>
              <a:rPr lang="zh-CN" altLang="en-US" sz="2000" dirty="0" smtClean="0">
                <a:solidFill>
                  <a:schemeClr val="bg2">
                    <a:lumMod val="10000"/>
                  </a:schemeClr>
                </a:solidFill>
              </a:rPr>
              <a:t>交换机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</a:rPr>
              <a:t>刚启动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</a:rPr>
              <a:t>RIP</a:t>
            </a:r>
            <a:r>
              <a:rPr lang="zh-CN" altLang="en-US" sz="2000" dirty="0" smtClean="0">
                <a:solidFill>
                  <a:schemeClr val="bg2">
                    <a:lumMod val="10000"/>
                  </a:schemeClr>
                </a:solidFill>
              </a:rPr>
              <a:t>时，发送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</a:rPr>
              <a:t>request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</a:rPr>
              <a:t>请求</a:t>
            </a:r>
            <a:r>
              <a:rPr lang="zh-CN" altLang="en-US" sz="2000" dirty="0" smtClean="0">
                <a:solidFill>
                  <a:schemeClr val="bg2">
                    <a:lumMod val="10000"/>
                  </a:schemeClr>
                </a:solidFill>
              </a:rPr>
              <a:t>报文；</a:t>
            </a:r>
            <a:endParaRPr lang="en-US" altLang="zh-CN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pPr>
              <a:buClr>
                <a:schemeClr val="accent1"/>
              </a:buClr>
            </a:pPr>
            <a:r>
              <a:rPr lang="zh-CN" altLang="en-US" sz="2000" dirty="0" smtClean="0">
                <a:solidFill>
                  <a:schemeClr val="bg2">
                    <a:lumMod val="10000"/>
                  </a:schemeClr>
                </a:solidFill>
              </a:rPr>
              <a:t>此后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</a:rPr>
              <a:t>，没有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</a:rPr>
              <a:t>request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</a:rPr>
              <a:t>报文，只有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</a:rPr>
              <a:t>response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</a:rPr>
              <a:t>应答</a:t>
            </a:r>
            <a:r>
              <a:rPr lang="zh-CN" altLang="en-US" sz="2000" dirty="0" smtClean="0">
                <a:solidFill>
                  <a:schemeClr val="bg2">
                    <a:lumMod val="10000"/>
                  </a:schemeClr>
                </a:solidFill>
              </a:rPr>
              <a:t>报文</a:t>
            </a:r>
            <a:endParaRPr lang="en-US" altLang="zh-CN" sz="2000" dirty="0" smtClean="0">
              <a:solidFill>
                <a:schemeClr val="bg2">
                  <a:lumMod val="10000"/>
                </a:schemeClr>
              </a:solidFill>
            </a:endParaRPr>
          </a:p>
          <a:p>
            <a:pPr>
              <a:buClr>
                <a:schemeClr val="accent1"/>
              </a:buClr>
            </a:pP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</a:rPr>
              <a:t>每隔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</a:rPr>
              <a:t>30s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</a:rPr>
              <a:t>发送一次</a:t>
            </a:r>
            <a:r>
              <a:rPr lang="en-US" altLang="zh-CN" sz="2000" dirty="0">
                <a:solidFill>
                  <a:schemeClr val="bg2">
                    <a:lumMod val="10000"/>
                  </a:schemeClr>
                </a:solidFill>
              </a:rPr>
              <a:t>response</a:t>
            </a:r>
            <a:r>
              <a:rPr lang="zh-CN" altLang="en-US" sz="2000" dirty="0">
                <a:solidFill>
                  <a:schemeClr val="bg2">
                    <a:lumMod val="10000"/>
                  </a:schemeClr>
                </a:solidFill>
              </a:rPr>
              <a:t>报文。</a:t>
            </a:r>
            <a:endParaRPr lang="en-US" altLang="zh-CN" sz="20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buClr>
                <a:schemeClr val="accent1"/>
              </a:buClr>
            </a:pPr>
            <a:r>
              <a:rPr lang="zh-CN" altLang="en-US" sz="2000" dirty="0" smtClean="0">
                <a:solidFill>
                  <a:schemeClr val="bg2">
                    <a:lumMod val="10000"/>
                  </a:schemeClr>
                </a:solidFill>
              </a:rPr>
              <a:t>以广播方式发送报文</a:t>
            </a:r>
            <a:endParaRPr lang="zh-CN" alt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buClr>
                <a:schemeClr val="accent1"/>
              </a:buClr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8826761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611188" y="417513"/>
            <a:ext cx="7777162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algn="l">
              <a:lnSpc>
                <a:spcPct val="90000"/>
              </a:lnSpc>
              <a:defRPr/>
            </a:pPr>
            <a:endParaRPr lang="zh-CN" altLang="en-US" sz="4000" kern="0" dirty="0">
              <a:latin typeface="宋体" pitchFamily="2" charset="-122"/>
              <a:ea typeface="宋体" pitchFamily="2" charset="-122"/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8568" y="328394"/>
            <a:ext cx="9560016" cy="74965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600" dirty="0" smtClean="0">
                <a:latin typeface="宋体" pitchFamily="2" charset="-122"/>
                <a:ea typeface="宋体" pitchFamily="2" charset="-122"/>
              </a:rPr>
              <a:t>Request</a:t>
            </a:r>
            <a:r>
              <a:rPr lang="zh-CN" altLang="en-US" sz="3600" dirty="0" smtClean="0">
                <a:latin typeface="宋体" pitchFamily="2" charset="-122"/>
                <a:ea typeface="宋体" pitchFamily="2" charset="-122"/>
              </a:rPr>
              <a:t>报文分析</a:t>
            </a:r>
            <a:r>
              <a:rPr lang="en-US" altLang="zh-CN" sz="3600" dirty="0" smtClean="0">
                <a:latin typeface="宋体" pitchFamily="2" charset="-122"/>
                <a:ea typeface="宋体" pitchFamily="2" charset="-122"/>
              </a:rPr>
              <a:t> </a:t>
            </a:r>
            <a:endParaRPr lang="zh-CN" altLang="en-US" sz="36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9512" y="1844825"/>
            <a:ext cx="3024336" cy="372409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spcBef>
                <a:spcPts val="12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命令</a:t>
            </a: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字段为</a:t>
            </a:r>
            <a:r>
              <a:rPr lang="en-US" altLang="zh-CN" sz="2800" dirty="0" smtClean="0">
                <a:solidFill>
                  <a:schemeClr val="bg2">
                    <a:lumMod val="10000"/>
                  </a:schemeClr>
                </a:solidFill>
              </a:rPr>
              <a:t>1</a:t>
            </a:r>
            <a:r>
              <a:rPr lang="zh-CN" altLang="en-US" sz="2800" dirty="0">
                <a:solidFill>
                  <a:schemeClr val="bg2">
                    <a:lumMod val="10000"/>
                  </a:schemeClr>
                </a:solidFill>
              </a:rPr>
              <a:t>，</a:t>
            </a: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表示</a:t>
            </a: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是请求选路信息的</a:t>
            </a: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报文</a:t>
            </a:r>
            <a:endParaRPr lang="en-US" altLang="zh-CN" sz="2800" dirty="0" smtClean="0">
              <a:solidFill>
                <a:schemeClr val="bg2">
                  <a:lumMod val="10000"/>
                </a:schemeClr>
              </a:solidFill>
            </a:endParaRPr>
          </a:p>
          <a:p>
            <a:pPr marL="457200" indent="-457200" algn="l">
              <a:spcBef>
                <a:spcPts val="12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版本号</a:t>
            </a: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为</a:t>
            </a:r>
            <a:r>
              <a:rPr lang="en-US" altLang="zh-CN" sz="2800" dirty="0" smtClean="0">
                <a:solidFill>
                  <a:schemeClr val="bg2">
                    <a:lumMod val="10000"/>
                  </a:schemeClr>
                </a:solidFill>
              </a:rPr>
              <a:t>1</a:t>
            </a:r>
          </a:p>
          <a:p>
            <a:pPr marL="457200" indent="-457200" algn="l">
              <a:spcBef>
                <a:spcPts val="12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地址</a:t>
            </a: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簇字段是</a:t>
            </a:r>
            <a:r>
              <a:rPr lang="en-US" altLang="zh-CN" sz="2800" dirty="0" smtClean="0">
                <a:solidFill>
                  <a:schemeClr val="bg2">
                    <a:lumMod val="10000"/>
                  </a:schemeClr>
                </a:solidFill>
              </a:rPr>
              <a:t>0</a:t>
            </a:r>
          </a:p>
          <a:p>
            <a:pPr marL="457200" indent="-457200" algn="l">
              <a:spcBef>
                <a:spcPts val="12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lang="en-US" altLang="zh-CN" sz="2800" dirty="0" smtClean="0">
                <a:solidFill>
                  <a:schemeClr val="bg2">
                    <a:lumMod val="10000"/>
                  </a:schemeClr>
                </a:solidFill>
              </a:rPr>
              <a:t>Metric</a:t>
            </a: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值是</a:t>
            </a:r>
            <a:r>
              <a:rPr lang="en-US" altLang="zh-CN" sz="2800" dirty="0" smtClean="0">
                <a:solidFill>
                  <a:schemeClr val="bg2">
                    <a:lumMod val="10000"/>
                  </a:schemeClr>
                </a:solidFill>
              </a:rPr>
              <a:t>16</a:t>
            </a:r>
          </a:p>
          <a:p>
            <a:pPr marL="457200" indent="-457200" algn="l">
              <a:spcBef>
                <a:spcPts val="12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其余</a:t>
            </a: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字段为</a:t>
            </a:r>
            <a:r>
              <a:rPr lang="en-US" altLang="zh-CN" sz="2800" dirty="0" smtClean="0">
                <a:solidFill>
                  <a:schemeClr val="bg2">
                    <a:lumMod val="10000"/>
                  </a:schemeClr>
                </a:solidFill>
              </a:rPr>
              <a:t>0</a:t>
            </a: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。</a:t>
            </a:r>
            <a:endParaRPr lang="zh-CN" altLang="en-US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8" name="图片 7"/>
          <p:cNvPicPr/>
          <p:nvPr/>
        </p:nvPicPr>
        <p:blipFill rotWithShape="1">
          <a:blip r:embed="rId3"/>
          <a:srcRect r="21618"/>
          <a:stretch/>
        </p:blipFill>
        <p:spPr>
          <a:xfrm>
            <a:off x="3491880" y="1241409"/>
            <a:ext cx="5361953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482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611188" y="417513"/>
            <a:ext cx="7777162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algn="l">
              <a:lnSpc>
                <a:spcPct val="90000"/>
              </a:lnSpc>
              <a:defRPr/>
            </a:pPr>
            <a:endParaRPr lang="zh-CN" altLang="en-US" sz="4000" kern="0" dirty="0">
              <a:latin typeface="宋体" pitchFamily="2" charset="-122"/>
              <a:ea typeface="宋体" pitchFamily="2" charset="-122"/>
              <a:cs typeface="+mj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05919" y="186531"/>
            <a:ext cx="8424738" cy="11699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3600" dirty="0" smtClean="0">
                <a:latin typeface="宋体" pitchFamily="2" charset="-122"/>
                <a:ea typeface="宋体" pitchFamily="2" charset="-122"/>
              </a:rPr>
              <a:t>Response</a:t>
            </a:r>
            <a:r>
              <a:rPr lang="zh-CN" altLang="en-US" sz="3600" dirty="0" smtClean="0">
                <a:latin typeface="宋体" pitchFamily="2" charset="-122"/>
                <a:ea typeface="宋体" pitchFamily="2" charset="-122"/>
              </a:rPr>
              <a:t>报文分析</a:t>
            </a:r>
            <a:endParaRPr lang="zh-CN" altLang="en-US" sz="36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9512" y="1817076"/>
            <a:ext cx="2478687" cy="458587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 algn="l">
              <a:spcBef>
                <a:spcPts val="12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命令</a:t>
            </a: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字段是</a:t>
            </a:r>
            <a:r>
              <a:rPr lang="en-US" altLang="zh-CN" sz="2800" dirty="0" smtClean="0">
                <a:solidFill>
                  <a:schemeClr val="bg2">
                    <a:lumMod val="10000"/>
                  </a:schemeClr>
                </a:solidFill>
              </a:rPr>
              <a:t>2</a:t>
            </a:r>
          </a:p>
          <a:p>
            <a:pPr marL="457200" indent="-457200" algn="l">
              <a:spcBef>
                <a:spcPts val="12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版本号</a:t>
            </a: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是</a:t>
            </a:r>
            <a:r>
              <a:rPr lang="en-US" altLang="zh-CN" sz="2800" dirty="0" smtClean="0">
                <a:solidFill>
                  <a:schemeClr val="bg2">
                    <a:lumMod val="10000"/>
                  </a:schemeClr>
                </a:solidFill>
              </a:rPr>
              <a:t>1</a:t>
            </a:r>
          </a:p>
          <a:p>
            <a:pPr marL="457200" indent="-457200" algn="l">
              <a:spcBef>
                <a:spcPts val="12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后面</a:t>
            </a: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紧跟地址簇</a:t>
            </a: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字段、</a:t>
            </a:r>
            <a:endParaRPr lang="en-US" altLang="zh-CN" sz="2800" dirty="0" smtClean="0">
              <a:solidFill>
                <a:schemeClr val="bg2">
                  <a:lumMod val="10000"/>
                </a:schemeClr>
              </a:solidFill>
            </a:endParaRPr>
          </a:p>
          <a:p>
            <a:pPr marL="457200" indent="-457200" algn="l">
              <a:spcBef>
                <a:spcPts val="12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lang="en-US" altLang="zh-CN" sz="2800" dirty="0" smtClean="0">
                <a:solidFill>
                  <a:schemeClr val="bg2">
                    <a:lumMod val="10000"/>
                  </a:schemeClr>
                </a:solidFill>
              </a:rPr>
              <a:t>IP</a:t>
            </a: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地址字段和</a:t>
            </a:r>
            <a:r>
              <a:rPr lang="en-US" altLang="zh-CN" sz="2800" dirty="0" smtClean="0">
                <a:solidFill>
                  <a:schemeClr val="bg2">
                    <a:lumMod val="10000"/>
                  </a:schemeClr>
                </a:solidFill>
              </a:rPr>
              <a:t>Metric</a:t>
            </a:r>
            <a:r>
              <a:rPr lang="zh-CN" altLang="en-US" sz="2800" dirty="0" smtClean="0">
                <a:solidFill>
                  <a:schemeClr val="bg2">
                    <a:lumMod val="10000"/>
                  </a:schemeClr>
                </a:solidFill>
              </a:rPr>
              <a:t>字段</a:t>
            </a:r>
            <a:endParaRPr lang="en-US" altLang="zh-CN" sz="2800" dirty="0" smtClean="0">
              <a:solidFill>
                <a:schemeClr val="bg2">
                  <a:lumMod val="10000"/>
                </a:schemeClr>
              </a:solidFill>
            </a:endParaRPr>
          </a:p>
          <a:p>
            <a:pPr marL="457200" indent="-457200" algn="l">
              <a:spcBef>
                <a:spcPts val="1200"/>
              </a:spcBef>
              <a:buClr>
                <a:srgbClr val="C00000"/>
              </a:buClr>
              <a:buFont typeface="Wingdings" pitchFamily="2" charset="2"/>
              <a:buChar char="n"/>
            </a:pPr>
            <a:endParaRPr lang="zh-CN" altLang="en-US" sz="28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885"/>
          <a:stretch/>
        </p:blipFill>
        <p:spPr bwMode="auto">
          <a:xfrm>
            <a:off x="2843808" y="1484784"/>
            <a:ext cx="5986849" cy="4634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94037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8"/>
          <p:cNvSpPr>
            <a:spLocks noChangeArrowheads="1"/>
          </p:cNvSpPr>
          <p:nvPr/>
        </p:nvSpPr>
        <p:spPr bwMode="auto">
          <a:xfrm>
            <a:off x="611188" y="488950"/>
            <a:ext cx="8064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anchor="ctr"/>
          <a:lstStyle/>
          <a:p>
            <a:pPr algn="l">
              <a:lnSpc>
                <a:spcPct val="90000"/>
              </a:lnSpc>
            </a:pPr>
            <a:endParaRPr lang="en-US" altLang="zh-CN" sz="4000" dirty="0">
              <a:latin typeface="黑体" pitchFamily="2" charset="-122"/>
              <a:ea typeface="宋体" pitchFamily="2" charset="-122"/>
            </a:endParaRPr>
          </a:p>
        </p:txBody>
      </p:sp>
      <p:grpSp>
        <p:nvGrpSpPr>
          <p:cNvPr id="16388" name="组合 47"/>
          <p:cNvGrpSpPr>
            <a:grpSpLocks/>
          </p:cNvGrpSpPr>
          <p:nvPr/>
        </p:nvGrpSpPr>
        <p:grpSpPr bwMode="auto">
          <a:xfrm>
            <a:off x="755650" y="1647032"/>
            <a:ext cx="7920038" cy="4302248"/>
            <a:chOff x="755650" y="2420938"/>
            <a:chExt cx="7315200" cy="3996869"/>
          </a:xfrm>
        </p:grpSpPr>
        <p:sp>
          <p:nvSpPr>
            <p:cNvPr id="16389" name="Text Box 7"/>
            <p:cNvSpPr txBox="1">
              <a:spLocks noChangeArrowheads="1"/>
            </p:cNvSpPr>
            <p:nvPr/>
          </p:nvSpPr>
          <p:spPr bwMode="auto">
            <a:xfrm>
              <a:off x="2595563" y="4402138"/>
              <a:ext cx="6699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PB</a:t>
              </a:r>
            </a:p>
          </p:txBody>
        </p:sp>
        <p:sp>
          <p:nvSpPr>
            <p:cNvPr id="16390" name="Text Box 8"/>
            <p:cNvSpPr txBox="1">
              <a:spLocks noChangeArrowheads="1"/>
            </p:cNvSpPr>
            <p:nvPr/>
          </p:nvSpPr>
          <p:spPr bwMode="auto">
            <a:xfrm>
              <a:off x="922338" y="4554538"/>
              <a:ext cx="6699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PA</a:t>
              </a:r>
            </a:p>
          </p:txBody>
        </p:sp>
        <p:sp>
          <p:nvSpPr>
            <p:cNvPr id="16391" name="Text Box 11"/>
            <p:cNvSpPr txBox="1">
              <a:spLocks noChangeArrowheads="1"/>
            </p:cNvSpPr>
            <p:nvPr/>
          </p:nvSpPr>
          <p:spPr bwMode="auto">
            <a:xfrm>
              <a:off x="2930525" y="3640138"/>
              <a:ext cx="6699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E0/2</a:t>
              </a:r>
            </a:p>
          </p:txBody>
        </p:sp>
        <p:sp>
          <p:nvSpPr>
            <p:cNvPr id="16392" name="Text Box 12"/>
            <p:cNvSpPr txBox="1">
              <a:spLocks noChangeArrowheads="1"/>
            </p:cNvSpPr>
            <p:nvPr/>
          </p:nvSpPr>
          <p:spPr bwMode="auto">
            <a:xfrm>
              <a:off x="2595563" y="3335338"/>
              <a:ext cx="6699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E0/1</a:t>
              </a:r>
            </a:p>
          </p:txBody>
        </p:sp>
        <p:sp>
          <p:nvSpPr>
            <p:cNvPr id="16393" name="Text Box 13"/>
            <p:cNvSpPr txBox="1">
              <a:spLocks noChangeArrowheads="1"/>
            </p:cNvSpPr>
            <p:nvPr/>
          </p:nvSpPr>
          <p:spPr bwMode="auto">
            <a:xfrm>
              <a:off x="4102100" y="2878138"/>
              <a:ext cx="8366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E0/24</a:t>
              </a:r>
            </a:p>
          </p:txBody>
        </p:sp>
        <p:grpSp>
          <p:nvGrpSpPr>
            <p:cNvPr id="16394" name="Group 14"/>
            <p:cNvGrpSpPr>
              <a:grpSpLocks/>
            </p:cNvGrpSpPr>
            <p:nvPr/>
          </p:nvGrpSpPr>
          <p:grpSpPr bwMode="auto">
            <a:xfrm>
              <a:off x="6778625" y="2878138"/>
              <a:ext cx="942975" cy="557212"/>
              <a:chOff x="940" y="956"/>
              <a:chExt cx="464" cy="364"/>
            </a:xfrm>
          </p:grpSpPr>
          <p:sp>
            <p:nvSpPr>
              <p:cNvPr id="16416" name="Freeform 15"/>
              <p:cNvSpPr>
                <a:spLocks noEditPoints="1"/>
              </p:cNvSpPr>
              <p:nvPr/>
            </p:nvSpPr>
            <p:spPr bwMode="auto">
              <a:xfrm>
                <a:off x="940" y="956"/>
                <a:ext cx="464" cy="364"/>
              </a:xfrm>
              <a:custGeom>
                <a:avLst/>
                <a:gdLst>
                  <a:gd name="T0" fmla="*/ 464 w 464"/>
                  <a:gd name="T1" fmla="*/ 77 h 364"/>
                  <a:gd name="T2" fmla="*/ 455 w 464"/>
                  <a:gd name="T3" fmla="*/ 98 h 364"/>
                  <a:gd name="T4" fmla="*/ 430 w 464"/>
                  <a:gd name="T5" fmla="*/ 117 h 364"/>
                  <a:gd name="T6" fmla="*/ 391 w 464"/>
                  <a:gd name="T7" fmla="*/ 133 h 364"/>
                  <a:gd name="T8" fmla="*/ 338 w 464"/>
                  <a:gd name="T9" fmla="*/ 145 h 364"/>
                  <a:gd name="T10" fmla="*/ 280 w 464"/>
                  <a:gd name="T11" fmla="*/ 152 h 364"/>
                  <a:gd name="T12" fmla="*/ 216 w 464"/>
                  <a:gd name="T13" fmla="*/ 153 h 364"/>
                  <a:gd name="T14" fmla="*/ 155 w 464"/>
                  <a:gd name="T15" fmla="*/ 149 h 364"/>
                  <a:gd name="T16" fmla="*/ 98 w 464"/>
                  <a:gd name="T17" fmla="*/ 140 h 364"/>
                  <a:gd name="T18" fmla="*/ 98 w 464"/>
                  <a:gd name="T19" fmla="*/ 140 h 364"/>
                  <a:gd name="T20" fmla="*/ 155 w 464"/>
                  <a:gd name="T21" fmla="*/ 149 h 364"/>
                  <a:gd name="T22" fmla="*/ 216 w 464"/>
                  <a:gd name="T23" fmla="*/ 153 h 364"/>
                  <a:gd name="T24" fmla="*/ 280 w 464"/>
                  <a:gd name="T25" fmla="*/ 152 h 364"/>
                  <a:gd name="T26" fmla="*/ 338 w 464"/>
                  <a:gd name="T27" fmla="*/ 145 h 364"/>
                  <a:gd name="T28" fmla="*/ 391 w 464"/>
                  <a:gd name="T29" fmla="*/ 133 h 364"/>
                  <a:gd name="T30" fmla="*/ 430 w 464"/>
                  <a:gd name="T31" fmla="*/ 117 h 364"/>
                  <a:gd name="T32" fmla="*/ 455 w 464"/>
                  <a:gd name="T33" fmla="*/ 98 h 364"/>
                  <a:gd name="T34" fmla="*/ 464 w 464"/>
                  <a:gd name="T35" fmla="*/ 77 h 364"/>
                  <a:gd name="T36" fmla="*/ 0 w 464"/>
                  <a:gd name="T37" fmla="*/ 77 h 364"/>
                  <a:gd name="T38" fmla="*/ 9 w 464"/>
                  <a:gd name="T39" fmla="*/ 98 h 364"/>
                  <a:gd name="T40" fmla="*/ 34 w 464"/>
                  <a:gd name="T41" fmla="*/ 117 h 364"/>
                  <a:gd name="T42" fmla="*/ 73 w 464"/>
                  <a:gd name="T43" fmla="*/ 134 h 364"/>
                  <a:gd name="T44" fmla="*/ 34 w 464"/>
                  <a:gd name="T45" fmla="*/ 117 h 364"/>
                  <a:gd name="T46" fmla="*/ 9 w 464"/>
                  <a:gd name="T47" fmla="*/ 98 h 364"/>
                  <a:gd name="T48" fmla="*/ 0 w 464"/>
                  <a:gd name="T49" fmla="*/ 77 h 364"/>
                  <a:gd name="T50" fmla="*/ 0 w 464"/>
                  <a:gd name="T51" fmla="*/ 77 h 364"/>
                  <a:gd name="T52" fmla="*/ 2 w 464"/>
                  <a:gd name="T53" fmla="*/ 298 h 364"/>
                  <a:gd name="T54" fmla="*/ 19 w 464"/>
                  <a:gd name="T55" fmla="*/ 318 h 364"/>
                  <a:gd name="T56" fmla="*/ 52 w 464"/>
                  <a:gd name="T57" fmla="*/ 336 h 364"/>
                  <a:gd name="T58" fmla="*/ 98 w 464"/>
                  <a:gd name="T59" fmla="*/ 351 h 364"/>
                  <a:gd name="T60" fmla="*/ 154 w 464"/>
                  <a:gd name="T61" fmla="*/ 360 h 364"/>
                  <a:gd name="T62" fmla="*/ 216 w 464"/>
                  <a:gd name="T63" fmla="*/ 364 h 364"/>
                  <a:gd name="T64" fmla="*/ 280 w 464"/>
                  <a:gd name="T65" fmla="*/ 363 h 364"/>
                  <a:gd name="T66" fmla="*/ 338 w 464"/>
                  <a:gd name="T67" fmla="*/ 356 h 364"/>
                  <a:gd name="T68" fmla="*/ 391 w 464"/>
                  <a:gd name="T69" fmla="*/ 344 h 364"/>
                  <a:gd name="T70" fmla="*/ 430 w 464"/>
                  <a:gd name="T71" fmla="*/ 327 h 364"/>
                  <a:gd name="T72" fmla="*/ 455 w 464"/>
                  <a:gd name="T73" fmla="*/ 309 h 364"/>
                  <a:gd name="T74" fmla="*/ 464 w 464"/>
                  <a:gd name="T75" fmla="*/ 287 h 364"/>
                  <a:gd name="T76" fmla="*/ 462 w 464"/>
                  <a:gd name="T77" fmla="*/ 66 h 364"/>
                  <a:gd name="T78" fmla="*/ 445 w 464"/>
                  <a:gd name="T79" fmla="*/ 46 h 364"/>
                  <a:gd name="T80" fmla="*/ 412 w 464"/>
                  <a:gd name="T81" fmla="*/ 27 h 364"/>
                  <a:gd name="T82" fmla="*/ 366 w 464"/>
                  <a:gd name="T83" fmla="*/ 13 h 364"/>
                  <a:gd name="T84" fmla="*/ 310 w 464"/>
                  <a:gd name="T85" fmla="*/ 4 h 364"/>
                  <a:gd name="T86" fmla="*/ 248 w 464"/>
                  <a:gd name="T87" fmla="*/ 0 h 364"/>
                  <a:gd name="T88" fmla="*/ 184 w 464"/>
                  <a:gd name="T89" fmla="*/ 1 h 364"/>
                  <a:gd name="T90" fmla="*/ 126 w 464"/>
                  <a:gd name="T91" fmla="*/ 8 h 364"/>
                  <a:gd name="T92" fmla="*/ 73 w 464"/>
                  <a:gd name="T93" fmla="*/ 20 h 364"/>
                  <a:gd name="T94" fmla="*/ 34 w 464"/>
                  <a:gd name="T95" fmla="*/ 37 h 364"/>
                  <a:gd name="T96" fmla="*/ 9 w 464"/>
                  <a:gd name="T97" fmla="*/ 55 h 364"/>
                  <a:gd name="T98" fmla="*/ 0 w 464"/>
                  <a:gd name="T99" fmla="*/ 77 h 36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464"/>
                  <a:gd name="T151" fmla="*/ 0 h 364"/>
                  <a:gd name="T152" fmla="*/ 464 w 464"/>
                  <a:gd name="T153" fmla="*/ 364 h 36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464" h="364">
                    <a:moveTo>
                      <a:pt x="464" y="77"/>
                    </a:moveTo>
                    <a:lnTo>
                      <a:pt x="464" y="77"/>
                    </a:lnTo>
                    <a:lnTo>
                      <a:pt x="462" y="87"/>
                    </a:lnTo>
                    <a:lnTo>
                      <a:pt x="455" y="98"/>
                    </a:lnTo>
                    <a:lnTo>
                      <a:pt x="445" y="107"/>
                    </a:lnTo>
                    <a:lnTo>
                      <a:pt x="430" y="117"/>
                    </a:lnTo>
                    <a:lnTo>
                      <a:pt x="412" y="125"/>
                    </a:lnTo>
                    <a:lnTo>
                      <a:pt x="391" y="133"/>
                    </a:lnTo>
                    <a:lnTo>
                      <a:pt x="366" y="140"/>
                    </a:lnTo>
                    <a:lnTo>
                      <a:pt x="338" y="145"/>
                    </a:lnTo>
                    <a:lnTo>
                      <a:pt x="310" y="149"/>
                    </a:lnTo>
                    <a:lnTo>
                      <a:pt x="280" y="152"/>
                    </a:lnTo>
                    <a:lnTo>
                      <a:pt x="248" y="153"/>
                    </a:lnTo>
                    <a:lnTo>
                      <a:pt x="216" y="153"/>
                    </a:lnTo>
                    <a:lnTo>
                      <a:pt x="186" y="152"/>
                    </a:lnTo>
                    <a:lnTo>
                      <a:pt x="155" y="149"/>
                    </a:lnTo>
                    <a:lnTo>
                      <a:pt x="126" y="145"/>
                    </a:lnTo>
                    <a:lnTo>
                      <a:pt x="98" y="140"/>
                    </a:lnTo>
                    <a:lnTo>
                      <a:pt x="73" y="134"/>
                    </a:lnTo>
                    <a:lnTo>
                      <a:pt x="98" y="140"/>
                    </a:lnTo>
                    <a:lnTo>
                      <a:pt x="126" y="145"/>
                    </a:lnTo>
                    <a:lnTo>
                      <a:pt x="155" y="149"/>
                    </a:lnTo>
                    <a:lnTo>
                      <a:pt x="186" y="152"/>
                    </a:lnTo>
                    <a:lnTo>
                      <a:pt x="216" y="153"/>
                    </a:lnTo>
                    <a:lnTo>
                      <a:pt x="248" y="153"/>
                    </a:lnTo>
                    <a:lnTo>
                      <a:pt x="280" y="152"/>
                    </a:lnTo>
                    <a:lnTo>
                      <a:pt x="310" y="149"/>
                    </a:lnTo>
                    <a:lnTo>
                      <a:pt x="338" y="145"/>
                    </a:lnTo>
                    <a:lnTo>
                      <a:pt x="366" y="140"/>
                    </a:lnTo>
                    <a:lnTo>
                      <a:pt x="391" y="133"/>
                    </a:lnTo>
                    <a:lnTo>
                      <a:pt x="412" y="125"/>
                    </a:lnTo>
                    <a:lnTo>
                      <a:pt x="430" y="117"/>
                    </a:lnTo>
                    <a:lnTo>
                      <a:pt x="445" y="107"/>
                    </a:lnTo>
                    <a:lnTo>
                      <a:pt x="455" y="98"/>
                    </a:lnTo>
                    <a:lnTo>
                      <a:pt x="462" y="87"/>
                    </a:lnTo>
                    <a:lnTo>
                      <a:pt x="464" y="77"/>
                    </a:lnTo>
                    <a:close/>
                    <a:moveTo>
                      <a:pt x="0" y="77"/>
                    </a:moveTo>
                    <a:lnTo>
                      <a:pt x="2" y="87"/>
                    </a:lnTo>
                    <a:lnTo>
                      <a:pt x="9" y="98"/>
                    </a:lnTo>
                    <a:lnTo>
                      <a:pt x="19" y="108"/>
                    </a:lnTo>
                    <a:lnTo>
                      <a:pt x="34" y="117"/>
                    </a:lnTo>
                    <a:lnTo>
                      <a:pt x="52" y="125"/>
                    </a:lnTo>
                    <a:lnTo>
                      <a:pt x="73" y="134"/>
                    </a:lnTo>
                    <a:lnTo>
                      <a:pt x="52" y="125"/>
                    </a:lnTo>
                    <a:lnTo>
                      <a:pt x="34" y="117"/>
                    </a:lnTo>
                    <a:lnTo>
                      <a:pt x="19" y="108"/>
                    </a:lnTo>
                    <a:lnTo>
                      <a:pt x="9" y="98"/>
                    </a:lnTo>
                    <a:lnTo>
                      <a:pt x="2" y="87"/>
                    </a:lnTo>
                    <a:lnTo>
                      <a:pt x="0" y="77"/>
                    </a:lnTo>
                    <a:close/>
                    <a:moveTo>
                      <a:pt x="0" y="77"/>
                    </a:moveTo>
                    <a:lnTo>
                      <a:pt x="0" y="287"/>
                    </a:lnTo>
                    <a:lnTo>
                      <a:pt x="2" y="298"/>
                    </a:lnTo>
                    <a:lnTo>
                      <a:pt x="9" y="309"/>
                    </a:lnTo>
                    <a:lnTo>
                      <a:pt x="19" y="318"/>
                    </a:lnTo>
                    <a:lnTo>
                      <a:pt x="34" y="327"/>
                    </a:lnTo>
                    <a:lnTo>
                      <a:pt x="52" y="336"/>
                    </a:lnTo>
                    <a:lnTo>
                      <a:pt x="73" y="344"/>
                    </a:lnTo>
                    <a:lnTo>
                      <a:pt x="98" y="351"/>
                    </a:lnTo>
                    <a:lnTo>
                      <a:pt x="126" y="356"/>
                    </a:lnTo>
                    <a:lnTo>
                      <a:pt x="154" y="360"/>
                    </a:lnTo>
                    <a:lnTo>
                      <a:pt x="184" y="363"/>
                    </a:lnTo>
                    <a:lnTo>
                      <a:pt x="216" y="364"/>
                    </a:lnTo>
                    <a:lnTo>
                      <a:pt x="248" y="364"/>
                    </a:lnTo>
                    <a:lnTo>
                      <a:pt x="280" y="363"/>
                    </a:lnTo>
                    <a:lnTo>
                      <a:pt x="310" y="360"/>
                    </a:lnTo>
                    <a:lnTo>
                      <a:pt x="338" y="356"/>
                    </a:lnTo>
                    <a:lnTo>
                      <a:pt x="366" y="351"/>
                    </a:lnTo>
                    <a:lnTo>
                      <a:pt x="391" y="344"/>
                    </a:lnTo>
                    <a:lnTo>
                      <a:pt x="412" y="336"/>
                    </a:lnTo>
                    <a:lnTo>
                      <a:pt x="430" y="327"/>
                    </a:lnTo>
                    <a:lnTo>
                      <a:pt x="445" y="318"/>
                    </a:lnTo>
                    <a:lnTo>
                      <a:pt x="455" y="309"/>
                    </a:lnTo>
                    <a:lnTo>
                      <a:pt x="462" y="298"/>
                    </a:lnTo>
                    <a:lnTo>
                      <a:pt x="464" y="287"/>
                    </a:lnTo>
                    <a:lnTo>
                      <a:pt x="464" y="77"/>
                    </a:lnTo>
                    <a:lnTo>
                      <a:pt x="462" y="66"/>
                    </a:lnTo>
                    <a:lnTo>
                      <a:pt x="455" y="55"/>
                    </a:lnTo>
                    <a:lnTo>
                      <a:pt x="445" y="46"/>
                    </a:lnTo>
                    <a:lnTo>
                      <a:pt x="430" y="37"/>
                    </a:lnTo>
                    <a:lnTo>
                      <a:pt x="412" y="27"/>
                    </a:lnTo>
                    <a:lnTo>
                      <a:pt x="391" y="20"/>
                    </a:lnTo>
                    <a:lnTo>
                      <a:pt x="366" y="13"/>
                    </a:lnTo>
                    <a:lnTo>
                      <a:pt x="338" y="8"/>
                    </a:lnTo>
                    <a:lnTo>
                      <a:pt x="310" y="4"/>
                    </a:lnTo>
                    <a:lnTo>
                      <a:pt x="280" y="1"/>
                    </a:lnTo>
                    <a:lnTo>
                      <a:pt x="248" y="0"/>
                    </a:lnTo>
                    <a:lnTo>
                      <a:pt x="216" y="0"/>
                    </a:lnTo>
                    <a:lnTo>
                      <a:pt x="184" y="1"/>
                    </a:lnTo>
                    <a:lnTo>
                      <a:pt x="154" y="4"/>
                    </a:lnTo>
                    <a:lnTo>
                      <a:pt x="126" y="8"/>
                    </a:lnTo>
                    <a:lnTo>
                      <a:pt x="98" y="13"/>
                    </a:lnTo>
                    <a:lnTo>
                      <a:pt x="73" y="20"/>
                    </a:lnTo>
                    <a:lnTo>
                      <a:pt x="52" y="27"/>
                    </a:lnTo>
                    <a:lnTo>
                      <a:pt x="34" y="37"/>
                    </a:lnTo>
                    <a:lnTo>
                      <a:pt x="19" y="46"/>
                    </a:lnTo>
                    <a:lnTo>
                      <a:pt x="9" y="55"/>
                    </a:lnTo>
                    <a:lnTo>
                      <a:pt x="2" y="66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8E85B7"/>
              </a:solidFill>
              <a:ln w="9525">
                <a:solidFill>
                  <a:srgbClr val="23CB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7" name="Freeform 16"/>
              <p:cNvSpPr>
                <a:spLocks/>
              </p:cNvSpPr>
              <p:nvPr/>
            </p:nvSpPr>
            <p:spPr bwMode="auto">
              <a:xfrm>
                <a:off x="941" y="956"/>
                <a:ext cx="463" cy="154"/>
              </a:xfrm>
              <a:custGeom>
                <a:avLst/>
                <a:gdLst>
                  <a:gd name="T0" fmla="*/ 463 w 463"/>
                  <a:gd name="T1" fmla="*/ 77 h 154"/>
                  <a:gd name="T2" fmla="*/ 461 w 463"/>
                  <a:gd name="T3" fmla="*/ 87 h 154"/>
                  <a:gd name="T4" fmla="*/ 454 w 463"/>
                  <a:gd name="T5" fmla="*/ 98 h 154"/>
                  <a:gd name="T6" fmla="*/ 443 w 463"/>
                  <a:gd name="T7" fmla="*/ 108 h 154"/>
                  <a:gd name="T8" fmla="*/ 428 w 463"/>
                  <a:gd name="T9" fmla="*/ 117 h 154"/>
                  <a:gd name="T10" fmla="*/ 409 w 463"/>
                  <a:gd name="T11" fmla="*/ 126 h 154"/>
                  <a:gd name="T12" fmla="*/ 386 w 463"/>
                  <a:gd name="T13" fmla="*/ 134 h 154"/>
                  <a:gd name="T14" fmla="*/ 361 w 463"/>
                  <a:gd name="T15" fmla="*/ 141 h 154"/>
                  <a:gd name="T16" fmla="*/ 333 w 463"/>
                  <a:gd name="T17" fmla="*/ 146 h 154"/>
                  <a:gd name="T18" fmla="*/ 302 w 463"/>
                  <a:gd name="T19" fmla="*/ 150 h 154"/>
                  <a:gd name="T20" fmla="*/ 272 w 463"/>
                  <a:gd name="T21" fmla="*/ 152 h 154"/>
                  <a:gd name="T22" fmla="*/ 239 w 463"/>
                  <a:gd name="T23" fmla="*/ 154 h 154"/>
                  <a:gd name="T24" fmla="*/ 207 w 463"/>
                  <a:gd name="T25" fmla="*/ 153 h 154"/>
                  <a:gd name="T26" fmla="*/ 174 w 463"/>
                  <a:gd name="T27" fmla="*/ 151 h 154"/>
                  <a:gd name="T28" fmla="*/ 144 w 463"/>
                  <a:gd name="T29" fmla="*/ 148 h 154"/>
                  <a:gd name="T30" fmla="*/ 116 w 463"/>
                  <a:gd name="T31" fmla="*/ 144 h 154"/>
                  <a:gd name="T32" fmla="*/ 88 w 463"/>
                  <a:gd name="T33" fmla="*/ 138 h 154"/>
                  <a:gd name="T34" fmla="*/ 65 w 463"/>
                  <a:gd name="T35" fmla="*/ 130 h 154"/>
                  <a:gd name="T36" fmla="*/ 43 w 463"/>
                  <a:gd name="T37" fmla="*/ 122 h 154"/>
                  <a:gd name="T38" fmla="*/ 26 w 463"/>
                  <a:gd name="T39" fmla="*/ 113 h 154"/>
                  <a:gd name="T40" fmla="*/ 14 w 463"/>
                  <a:gd name="T41" fmla="*/ 103 h 154"/>
                  <a:gd name="T42" fmla="*/ 5 w 463"/>
                  <a:gd name="T43" fmla="*/ 92 h 154"/>
                  <a:gd name="T44" fmla="*/ 0 w 463"/>
                  <a:gd name="T45" fmla="*/ 82 h 154"/>
                  <a:gd name="T46" fmla="*/ 0 w 463"/>
                  <a:gd name="T47" fmla="*/ 71 h 154"/>
                  <a:gd name="T48" fmla="*/ 5 w 463"/>
                  <a:gd name="T49" fmla="*/ 60 h 154"/>
                  <a:gd name="T50" fmla="*/ 14 w 463"/>
                  <a:gd name="T51" fmla="*/ 50 h 154"/>
                  <a:gd name="T52" fmla="*/ 26 w 463"/>
                  <a:gd name="T53" fmla="*/ 40 h 154"/>
                  <a:gd name="T54" fmla="*/ 43 w 463"/>
                  <a:gd name="T55" fmla="*/ 31 h 154"/>
                  <a:gd name="T56" fmla="*/ 65 w 463"/>
                  <a:gd name="T57" fmla="*/ 22 h 154"/>
                  <a:gd name="T58" fmla="*/ 88 w 463"/>
                  <a:gd name="T59" fmla="*/ 15 h 154"/>
                  <a:gd name="T60" fmla="*/ 116 w 463"/>
                  <a:gd name="T61" fmla="*/ 10 h 154"/>
                  <a:gd name="T62" fmla="*/ 144 w 463"/>
                  <a:gd name="T63" fmla="*/ 5 h 154"/>
                  <a:gd name="T64" fmla="*/ 174 w 463"/>
                  <a:gd name="T65" fmla="*/ 2 h 154"/>
                  <a:gd name="T66" fmla="*/ 207 w 463"/>
                  <a:gd name="T67" fmla="*/ 0 h 154"/>
                  <a:gd name="T68" fmla="*/ 239 w 463"/>
                  <a:gd name="T69" fmla="*/ 0 h 154"/>
                  <a:gd name="T70" fmla="*/ 272 w 463"/>
                  <a:gd name="T71" fmla="*/ 1 h 154"/>
                  <a:gd name="T72" fmla="*/ 302 w 463"/>
                  <a:gd name="T73" fmla="*/ 3 h 154"/>
                  <a:gd name="T74" fmla="*/ 333 w 463"/>
                  <a:gd name="T75" fmla="*/ 7 h 154"/>
                  <a:gd name="T76" fmla="*/ 361 w 463"/>
                  <a:gd name="T77" fmla="*/ 12 h 154"/>
                  <a:gd name="T78" fmla="*/ 386 w 463"/>
                  <a:gd name="T79" fmla="*/ 19 h 154"/>
                  <a:gd name="T80" fmla="*/ 409 w 463"/>
                  <a:gd name="T81" fmla="*/ 26 h 154"/>
                  <a:gd name="T82" fmla="*/ 428 w 463"/>
                  <a:gd name="T83" fmla="*/ 36 h 154"/>
                  <a:gd name="T84" fmla="*/ 443 w 463"/>
                  <a:gd name="T85" fmla="*/ 45 h 154"/>
                  <a:gd name="T86" fmla="*/ 454 w 463"/>
                  <a:gd name="T87" fmla="*/ 55 h 154"/>
                  <a:gd name="T88" fmla="*/ 461 w 463"/>
                  <a:gd name="T89" fmla="*/ 66 h 154"/>
                  <a:gd name="T90" fmla="*/ 463 w 463"/>
                  <a:gd name="T91" fmla="*/ 77 h 154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463"/>
                  <a:gd name="T139" fmla="*/ 0 h 154"/>
                  <a:gd name="T140" fmla="*/ 463 w 463"/>
                  <a:gd name="T141" fmla="*/ 154 h 154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463" h="154">
                    <a:moveTo>
                      <a:pt x="463" y="77"/>
                    </a:moveTo>
                    <a:lnTo>
                      <a:pt x="461" y="87"/>
                    </a:lnTo>
                    <a:lnTo>
                      <a:pt x="454" y="98"/>
                    </a:lnTo>
                    <a:lnTo>
                      <a:pt x="443" y="108"/>
                    </a:lnTo>
                    <a:lnTo>
                      <a:pt x="428" y="117"/>
                    </a:lnTo>
                    <a:lnTo>
                      <a:pt x="409" y="126"/>
                    </a:lnTo>
                    <a:lnTo>
                      <a:pt x="386" y="134"/>
                    </a:lnTo>
                    <a:lnTo>
                      <a:pt x="361" y="141"/>
                    </a:lnTo>
                    <a:lnTo>
                      <a:pt x="333" y="146"/>
                    </a:lnTo>
                    <a:lnTo>
                      <a:pt x="302" y="150"/>
                    </a:lnTo>
                    <a:lnTo>
                      <a:pt x="272" y="152"/>
                    </a:lnTo>
                    <a:lnTo>
                      <a:pt x="239" y="154"/>
                    </a:lnTo>
                    <a:lnTo>
                      <a:pt x="207" y="153"/>
                    </a:lnTo>
                    <a:lnTo>
                      <a:pt x="174" y="151"/>
                    </a:lnTo>
                    <a:lnTo>
                      <a:pt x="144" y="148"/>
                    </a:lnTo>
                    <a:lnTo>
                      <a:pt x="116" y="144"/>
                    </a:lnTo>
                    <a:lnTo>
                      <a:pt x="88" y="138"/>
                    </a:lnTo>
                    <a:lnTo>
                      <a:pt x="65" y="130"/>
                    </a:lnTo>
                    <a:lnTo>
                      <a:pt x="43" y="122"/>
                    </a:lnTo>
                    <a:lnTo>
                      <a:pt x="26" y="113"/>
                    </a:lnTo>
                    <a:lnTo>
                      <a:pt x="14" y="103"/>
                    </a:lnTo>
                    <a:lnTo>
                      <a:pt x="5" y="92"/>
                    </a:lnTo>
                    <a:lnTo>
                      <a:pt x="0" y="82"/>
                    </a:lnTo>
                    <a:lnTo>
                      <a:pt x="0" y="71"/>
                    </a:lnTo>
                    <a:lnTo>
                      <a:pt x="5" y="60"/>
                    </a:lnTo>
                    <a:lnTo>
                      <a:pt x="14" y="50"/>
                    </a:lnTo>
                    <a:lnTo>
                      <a:pt x="26" y="40"/>
                    </a:lnTo>
                    <a:lnTo>
                      <a:pt x="43" y="31"/>
                    </a:lnTo>
                    <a:lnTo>
                      <a:pt x="65" y="22"/>
                    </a:lnTo>
                    <a:lnTo>
                      <a:pt x="88" y="15"/>
                    </a:lnTo>
                    <a:lnTo>
                      <a:pt x="116" y="10"/>
                    </a:lnTo>
                    <a:lnTo>
                      <a:pt x="144" y="5"/>
                    </a:lnTo>
                    <a:lnTo>
                      <a:pt x="174" y="2"/>
                    </a:lnTo>
                    <a:lnTo>
                      <a:pt x="207" y="0"/>
                    </a:lnTo>
                    <a:lnTo>
                      <a:pt x="239" y="0"/>
                    </a:lnTo>
                    <a:lnTo>
                      <a:pt x="272" y="1"/>
                    </a:lnTo>
                    <a:lnTo>
                      <a:pt x="302" y="3"/>
                    </a:lnTo>
                    <a:lnTo>
                      <a:pt x="333" y="7"/>
                    </a:lnTo>
                    <a:lnTo>
                      <a:pt x="361" y="12"/>
                    </a:lnTo>
                    <a:lnTo>
                      <a:pt x="386" y="19"/>
                    </a:lnTo>
                    <a:lnTo>
                      <a:pt x="409" y="26"/>
                    </a:lnTo>
                    <a:lnTo>
                      <a:pt x="428" y="36"/>
                    </a:lnTo>
                    <a:lnTo>
                      <a:pt x="443" y="45"/>
                    </a:lnTo>
                    <a:lnTo>
                      <a:pt x="454" y="55"/>
                    </a:lnTo>
                    <a:lnTo>
                      <a:pt x="461" y="66"/>
                    </a:lnTo>
                    <a:lnTo>
                      <a:pt x="463" y="77"/>
                    </a:lnTo>
                    <a:close/>
                  </a:path>
                </a:pathLst>
              </a:custGeom>
              <a:solidFill>
                <a:srgbClr val="BBB4D6"/>
              </a:solidFill>
              <a:ln w="6350">
                <a:solidFill>
                  <a:srgbClr val="04D6E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8" name="Freeform 17"/>
              <p:cNvSpPr>
                <a:spLocks noEditPoints="1"/>
              </p:cNvSpPr>
              <p:nvPr/>
            </p:nvSpPr>
            <p:spPr bwMode="auto">
              <a:xfrm>
                <a:off x="1047" y="970"/>
                <a:ext cx="244" cy="121"/>
              </a:xfrm>
              <a:custGeom>
                <a:avLst/>
                <a:gdLst>
                  <a:gd name="T0" fmla="*/ 45 w 244"/>
                  <a:gd name="T1" fmla="*/ 68 h 121"/>
                  <a:gd name="T2" fmla="*/ 187 w 244"/>
                  <a:gd name="T3" fmla="*/ 68 h 121"/>
                  <a:gd name="T4" fmla="*/ 97 w 244"/>
                  <a:gd name="T5" fmla="*/ 103 h 121"/>
                  <a:gd name="T6" fmla="*/ 45 w 244"/>
                  <a:gd name="T7" fmla="*/ 68 h 121"/>
                  <a:gd name="T8" fmla="*/ 200 w 244"/>
                  <a:gd name="T9" fmla="*/ 53 h 121"/>
                  <a:gd name="T10" fmla="*/ 57 w 244"/>
                  <a:gd name="T11" fmla="*/ 53 h 121"/>
                  <a:gd name="T12" fmla="*/ 148 w 244"/>
                  <a:gd name="T13" fmla="*/ 18 h 121"/>
                  <a:gd name="T14" fmla="*/ 200 w 244"/>
                  <a:gd name="T15" fmla="*/ 53 h 121"/>
                  <a:gd name="T16" fmla="*/ 93 w 244"/>
                  <a:gd name="T17" fmla="*/ 121 h 121"/>
                  <a:gd name="T18" fmla="*/ 244 w 244"/>
                  <a:gd name="T19" fmla="*/ 62 h 121"/>
                  <a:gd name="T20" fmla="*/ 151 w 244"/>
                  <a:gd name="T21" fmla="*/ 0 h 121"/>
                  <a:gd name="T22" fmla="*/ 0 w 244"/>
                  <a:gd name="T23" fmla="*/ 59 h 121"/>
                  <a:gd name="T24" fmla="*/ 93 w 244"/>
                  <a:gd name="T25" fmla="*/ 121 h 12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4"/>
                  <a:gd name="T40" fmla="*/ 0 h 121"/>
                  <a:gd name="T41" fmla="*/ 244 w 244"/>
                  <a:gd name="T42" fmla="*/ 121 h 12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4" h="121">
                    <a:moveTo>
                      <a:pt x="45" y="68"/>
                    </a:moveTo>
                    <a:lnTo>
                      <a:pt x="187" y="68"/>
                    </a:lnTo>
                    <a:lnTo>
                      <a:pt x="97" y="103"/>
                    </a:lnTo>
                    <a:lnTo>
                      <a:pt x="45" y="68"/>
                    </a:lnTo>
                    <a:close/>
                    <a:moveTo>
                      <a:pt x="200" y="53"/>
                    </a:moveTo>
                    <a:lnTo>
                      <a:pt x="57" y="53"/>
                    </a:lnTo>
                    <a:lnTo>
                      <a:pt x="148" y="18"/>
                    </a:lnTo>
                    <a:lnTo>
                      <a:pt x="200" y="53"/>
                    </a:lnTo>
                    <a:close/>
                    <a:moveTo>
                      <a:pt x="93" y="121"/>
                    </a:moveTo>
                    <a:lnTo>
                      <a:pt x="244" y="62"/>
                    </a:lnTo>
                    <a:lnTo>
                      <a:pt x="151" y="0"/>
                    </a:lnTo>
                    <a:lnTo>
                      <a:pt x="0" y="59"/>
                    </a:lnTo>
                    <a:lnTo>
                      <a:pt x="93" y="1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9" name="Freeform 18"/>
              <p:cNvSpPr>
                <a:spLocks noEditPoints="1"/>
              </p:cNvSpPr>
              <p:nvPr/>
            </p:nvSpPr>
            <p:spPr bwMode="auto">
              <a:xfrm>
                <a:off x="1053" y="974"/>
                <a:ext cx="244" cy="121"/>
              </a:xfrm>
              <a:custGeom>
                <a:avLst/>
                <a:gdLst>
                  <a:gd name="T0" fmla="*/ 44 w 244"/>
                  <a:gd name="T1" fmla="*/ 68 h 121"/>
                  <a:gd name="T2" fmla="*/ 187 w 244"/>
                  <a:gd name="T3" fmla="*/ 68 h 121"/>
                  <a:gd name="T4" fmla="*/ 96 w 244"/>
                  <a:gd name="T5" fmla="*/ 103 h 121"/>
                  <a:gd name="T6" fmla="*/ 44 w 244"/>
                  <a:gd name="T7" fmla="*/ 68 h 121"/>
                  <a:gd name="T8" fmla="*/ 199 w 244"/>
                  <a:gd name="T9" fmla="*/ 54 h 121"/>
                  <a:gd name="T10" fmla="*/ 57 w 244"/>
                  <a:gd name="T11" fmla="*/ 54 h 121"/>
                  <a:gd name="T12" fmla="*/ 147 w 244"/>
                  <a:gd name="T13" fmla="*/ 19 h 121"/>
                  <a:gd name="T14" fmla="*/ 199 w 244"/>
                  <a:gd name="T15" fmla="*/ 54 h 121"/>
                  <a:gd name="T16" fmla="*/ 93 w 244"/>
                  <a:gd name="T17" fmla="*/ 121 h 121"/>
                  <a:gd name="T18" fmla="*/ 244 w 244"/>
                  <a:gd name="T19" fmla="*/ 63 h 121"/>
                  <a:gd name="T20" fmla="*/ 151 w 244"/>
                  <a:gd name="T21" fmla="*/ 0 h 121"/>
                  <a:gd name="T22" fmla="*/ 0 w 244"/>
                  <a:gd name="T23" fmla="*/ 59 h 121"/>
                  <a:gd name="T24" fmla="*/ 93 w 244"/>
                  <a:gd name="T25" fmla="*/ 121 h 12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4"/>
                  <a:gd name="T40" fmla="*/ 0 h 121"/>
                  <a:gd name="T41" fmla="*/ 244 w 244"/>
                  <a:gd name="T42" fmla="*/ 121 h 12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4" h="121">
                    <a:moveTo>
                      <a:pt x="44" y="68"/>
                    </a:moveTo>
                    <a:lnTo>
                      <a:pt x="187" y="68"/>
                    </a:lnTo>
                    <a:lnTo>
                      <a:pt x="96" y="103"/>
                    </a:lnTo>
                    <a:lnTo>
                      <a:pt x="44" y="68"/>
                    </a:lnTo>
                    <a:close/>
                    <a:moveTo>
                      <a:pt x="199" y="54"/>
                    </a:moveTo>
                    <a:lnTo>
                      <a:pt x="57" y="54"/>
                    </a:lnTo>
                    <a:lnTo>
                      <a:pt x="147" y="19"/>
                    </a:lnTo>
                    <a:lnTo>
                      <a:pt x="199" y="54"/>
                    </a:lnTo>
                    <a:close/>
                    <a:moveTo>
                      <a:pt x="93" y="121"/>
                    </a:moveTo>
                    <a:lnTo>
                      <a:pt x="244" y="63"/>
                    </a:lnTo>
                    <a:lnTo>
                      <a:pt x="151" y="0"/>
                    </a:lnTo>
                    <a:lnTo>
                      <a:pt x="0" y="59"/>
                    </a:lnTo>
                    <a:lnTo>
                      <a:pt x="93" y="1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0" name="Freeform 19"/>
              <p:cNvSpPr>
                <a:spLocks noEditPoints="1"/>
              </p:cNvSpPr>
              <p:nvPr/>
            </p:nvSpPr>
            <p:spPr bwMode="auto">
              <a:xfrm>
                <a:off x="1097" y="1170"/>
                <a:ext cx="161" cy="97"/>
              </a:xfrm>
              <a:custGeom>
                <a:avLst/>
                <a:gdLst>
                  <a:gd name="T0" fmla="*/ 61 w 161"/>
                  <a:gd name="T1" fmla="*/ 55 h 97"/>
                  <a:gd name="T2" fmla="*/ 78 w 161"/>
                  <a:gd name="T3" fmla="*/ 55 h 97"/>
                  <a:gd name="T4" fmla="*/ 113 w 161"/>
                  <a:gd name="T5" fmla="*/ 97 h 97"/>
                  <a:gd name="T6" fmla="*/ 161 w 161"/>
                  <a:gd name="T7" fmla="*/ 97 h 97"/>
                  <a:gd name="T8" fmla="*/ 161 w 161"/>
                  <a:gd name="T9" fmla="*/ 80 h 97"/>
                  <a:gd name="T10" fmla="*/ 141 w 161"/>
                  <a:gd name="T11" fmla="*/ 80 h 97"/>
                  <a:gd name="T12" fmla="*/ 116 w 161"/>
                  <a:gd name="T13" fmla="*/ 51 h 97"/>
                  <a:gd name="T14" fmla="*/ 120 w 161"/>
                  <a:gd name="T15" fmla="*/ 49 h 97"/>
                  <a:gd name="T16" fmla="*/ 128 w 161"/>
                  <a:gd name="T17" fmla="*/ 46 h 97"/>
                  <a:gd name="T18" fmla="*/ 135 w 161"/>
                  <a:gd name="T19" fmla="*/ 42 h 97"/>
                  <a:gd name="T20" fmla="*/ 138 w 161"/>
                  <a:gd name="T21" fmla="*/ 38 h 97"/>
                  <a:gd name="T22" fmla="*/ 142 w 161"/>
                  <a:gd name="T23" fmla="*/ 33 h 97"/>
                  <a:gd name="T24" fmla="*/ 143 w 161"/>
                  <a:gd name="T25" fmla="*/ 27 h 97"/>
                  <a:gd name="T26" fmla="*/ 142 w 161"/>
                  <a:gd name="T27" fmla="*/ 24 h 97"/>
                  <a:gd name="T28" fmla="*/ 141 w 161"/>
                  <a:gd name="T29" fmla="*/ 18 h 97"/>
                  <a:gd name="T30" fmla="*/ 136 w 161"/>
                  <a:gd name="T31" fmla="*/ 13 h 97"/>
                  <a:gd name="T32" fmla="*/ 130 w 161"/>
                  <a:gd name="T33" fmla="*/ 8 h 97"/>
                  <a:gd name="T34" fmla="*/ 128 w 161"/>
                  <a:gd name="T35" fmla="*/ 6 h 97"/>
                  <a:gd name="T36" fmla="*/ 121 w 161"/>
                  <a:gd name="T37" fmla="*/ 3 h 97"/>
                  <a:gd name="T38" fmla="*/ 113 w 161"/>
                  <a:gd name="T39" fmla="*/ 1 h 97"/>
                  <a:gd name="T40" fmla="*/ 104 w 161"/>
                  <a:gd name="T41" fmla="*/ 0 h 97"/>
                  <a:gd name="T42" fmla="*/ 93 w 161"/>
                  <a:gd name="T43" fmla="*/ 0 h 97"/>
                  <a:gd name="T44" fmla="*/ 0 w 161"/>
                  <a:gd name="T45" fmla="*/ 0 h 97"/>
                  <a:gd name="T46" fmla="*/ 0 w 161"/>
                  <a:gd name="T47" fmla="*/ 16 h 97"/>
                  <a:gd name="T48" fmla="*/ 21 w 161"/>
                  <a:gd name="T49" fmla="*/ 16 h 97"/>
                  <a:gd name="T50" fmla="*/ 21 w 161"/>
                  <a:gd name="T51" fmla="*/ 80 h 97"/>
                  <a:gd name="T52" fmla="*/ 0 w 161"/>
                  <a:gd name="T53" fmla="*/ 80 h 97"/>
                  <a:gd name="T54" fmla="*/ 0 w 161"/>
                  <a:gd name="T55" fmla="*/ 97 h 97"/>
                  <a:gd name="T56" fmla="*/ 81 w 161"/>
                  <a:gd name="T57" fmla="*/ 97 h 97"/>
                  <a:gd name="T58" fmla="*/ 81 w 161"/>
                  <a:gd name="T59" fmla="*/ 80 h 97"/>
                  <a:gd name="T60" fmla="*/ 61 w 161"/>
                  <a:gd name="T61" fmla="*/ 80 h 97"/>
                  <a:gd name="T62" fmla="*/ 61 w 161"/>
                  <a:gd name="T63" fmla="*/ 55 h 97"/>
                  <a:gd name="T64" fmla="*/ 61 w 161"/>
                  <a:gd name="T65" fmla="*/ 16 h 97"/>
                  <a:gd name="T66" fmla="*/ 78 w 161"/>
                  <a:gd name="T67" fmla="*/ 16 h 97"/>
                  <a:gd name="T68" fmla="*/ 87 w 161"/>
                  <a:gd name="T69" fmla="*/ 16 h 97"/>
                  <a:gd name="T70" fmla="*/ 94 w 161"/>
                  <a:gd name="T71" fmla="*/ 18 h 97"/>
                  <a:gd name="T72" fmla="*/ 99 w 161"/>
                  <a:gd name="T73" fmla="*/ 22 h 97"/>
                  <a:gd name="T74" fmla="*/ 101 w 161"/>
                  <a:gd name="T75" fmla="*/ 28 h 97"/>
                  <a:gd name="T76" fmla="*/ 101 w 161"/>
                  <a:gd name="T77" fmla="*/ 29 h 97"/>
                  <a:gd name="T78" fmla="*/ 99 w 161"/>
                  <a:gd name="T79" fmla="*/ 33 h 97"/>
                  <a:gd name="T80" fmla="*/ 93 w 161"/>
                  <a:gd name="T81" fmla="*/ 36 h 97"/>
                  <a:gd name="T82" fmla="*/ 86 w 161"/>
                  <a:gd name="T83" fmla="*/ 38 h 97"/>
                  <a:gd name="T84" fmla="*/ 75 w 161"/>
                  <a:gd name="T85" fmla="*/ 39 h 97"/>
                  <a:gd name="T86" fmla="*/ 61 w 161"/>
                  <a:gd name="T87" fmla="*/ 39 h 97"/>
                  <a:gd name="T88" fmla="*/ 61 w 161"/>
                  <a:gd name="T89" fmla="*/ 16 h 9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61"/>
                  <a:gd name="T136" fmla="*/ 0 h 97"/>
                  <a:gd name="T137" fmla="*/ 161 w 161"/>
                  <a:gd name="T138" fmla="*/ 97 h 9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61" h="97">
                    <a:moveTo>
                      <a:pt x="61" y="55"/>
                    </a:moveTo>
                    <a:lnTo>
                      <a:pt x="78" y="55"/>
                    </a:lnTo>
                    <a:lnTo>
                      <a:pt x="113" y="97"/>
                    </a:lnTo>
                    <a:lnTo>
                      <a:pt x="161" y="97"/>
                    </a:lnTo>
                    <a:lnTo>
                      <a:pt x="161" y="80"/>
                    </a:lnTo>
                    <a:lnTo>
                      <a:pt x="141" y="80"/>
                    </a:lnTo>
                    <a:lnTo>
                      <a:pt x="116" y="51"/>
                    </a:lnTo>
                    <a:lnTo>
                      <a:pt x="120" y="49"/>
                    </a:lnTo>
                    <a:lnTo>
                      <a:pt x="128" y="46"/>
                    </a:lnTo>
                    <a:lnTo>
                      <a:pt x="135" y="42"/>
                    </a:lnTo>
                    <a:lnTo>
                      <a:pt x="138" y="38"/>
                    </a:lnTo>
                    <a:lnTo>
                      <a:pt x="142" y="33"/>
                    </a:lnTo>
                    <a:lnTo>
                      <a:pt x="143" y="27"/>
                    </a:lnTo>
                    <a:lnTo>
                      <a:pt x="142" y="24"/>
                    </a:lnTo>
                    <a:lnTo>
                      <a:pt x="141" y="18"/>
                    </a:lnTo>
                    <a:lnTo>
                      <a:pt x="136" y="13"/>
                    </a:lnTo>
                    <a:lnTo>
                      <a:pt x="130" y="8"/>
                    </a:lnTo>
                    <a:lnTo>
                      <a:pt x="128" y="6"/>
                    </a:lnTo>
                    <a:lnTo>
                      <a:pt x="121" y="3"/>
                    </a:lnTo>
                    <a:lnTo>
                      <a:pt x="113" y="1"/>
                    </a:lnTo>
                    <a:lnTo>
                      <a:pt x="104" y="0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21" y="16"/>
                    </a:lnTo>
                    <a:lnTo>
                      <a:pt x="21" y="80"/>
                    </a:lnTo>
                    <a:lnTo>
                      <a:pt x="0" y="80"/>
                    </a:lnTo>
                    <a:lnTo>
                      <a:pt x="0" y="97"/>
                    </a:lnTo>
                    <a:lnTo>
                      <a:pt x="81" y="97"/>
                    </a:lnTo>
                    <a:lnTo>
                      <a:pt x="81" y="80"/>
                    </a:lnTo>
                    <a:lnTo>
                      <a:pt x="61" y="80"/>
                    </a:lnTo>
                    <a:lnTo>
                      <a:pt x="61" y="55"/>
                    </a:lnTo>
                    <a:close/>
                    <a:moveTo>
                      <a:pt x="61" y="16"/>
                    </a:moveTo>
                    <a:lnTo>
                      <a:pt x="78" y="16"/>
                    </a:lnTo>
                    <a:lnTo>
                      <a:pt x="87" y="16"/>
                    </a:lnTo>
                    <a:lnTo>
                      <a:pt x="94" y="18"/>
                    </a:lnTo>
                    <a:lnTo>
                      <a:pt x="99" y="22"/>
                    </a:lnTo>
                    <a:lnTo>
                      <a:pt x="101" y="28"/>
                    </a:lnTo>
                    <a:lnTo>
                      <a:pt x="101" y="29"/>
                    </a:lnTo>
                    <a:lnTo>
                      <a:pt x="99" y="33"/>
                    </a:lnTo>
                    <a:lnTo>
                      <a:pt x="93" y="36"/>
                    </a:lnTo>
                    <a:lnTo>
                      <a:pt x="86" y="38"/>
                    </a:lnTo>
                    <a:lnTo>
                      <a:pt x="75" y="39"/>
                    </a:lnTo>
                    <a:lnTo>
                      <a:pt x="61" y="39"/>
                    </a:lnTo>
                    <a:lnTo>
                      <a:pt x="61" y="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1" name="Freeform 20"/>
              <p:cNvSpPr>
                <a:spLocks noEditPoints="1"/>
              </p:cNvSpPr>
              <p:nvPr/>
            </p:nvSpPr>
            <p:spPr bwMode="auto">
              <a:xfrm>
                <a:off x="1086" y="1160"/>
                <a:ext cx="161" cy="97"/>
              </a:xfrm>
              <a:custGeom>
                <a:avLst/>
                <a:gdLst>
                  <a:gd name="T0" fmla="*/ 61 w 161"/>
                  <a:gd name="T1" fmla="*/ 54 h 97"/>
                  <a:gd name="T2" fmla="*/ 79 w 161"/>
                  <a:gd name="T3" fmla="*/ 54 h 97"/>
                  <a:gd name="T4" fmla="*/ 114 w 161"/>
                  <a:gd name="T5" fmla="*/ 97 h 97"/>
                  <a:gd name="T6" fmla="*/ 161 w 161"/>
                  <a:gd name="T7" fmla="*/ 97 h 97"/>
                  <a:gd name="T8" fmla="*/ 161 w 161"/>
                  <a:gd name="T9" fmla="*/ 81 h 97"/>
                  <a:gd name="T10" fmla="*/ 141 w 161"/>
                  <a:gd name="T11" fmla="*/ 81 h 97"/>
                  <a:gd name="T12" fmla="*/ 115 w 161"/>
                  <a:gd name="T13" fmla="*/ 51 h 97"/>
                  <a:gd name="T14" fmla="*/ 121 w 161"/>
                  <a:gd name="T15" fmla="*/ 50 h 97"/>
                  <a:gd name="T16" fmla="*/ 129 w 161"/>
                  <a:gd name="T17" fmla="*/ 46 h 97"/>
                  <a:gd name="T18" fmla="*/ 135 w 161"/>
                  <a:gd name="T19" fmla="*/ 43 h 97"/>
                  <a:gd name="T20" fmla="*/ 139 w 161"/>
                  <a:gd name="T21" fmla="*/ 38 h 97"/>
                  <a:gd name="T22" fmla="*/ 141 w 161"/>
                  <a:gd name="T23" fmla="*/ 33 h 97"/>
                  <a:gd name="T24" fmla="*/ 143 w 161"/>
                  <a:gd name="T25" fmla="*/ 27 h 97"/>
                  <a:gd name="T26" fmla="*/ 143 w 161"/>
                  <a:gd name="T27" fmla="*/ 24 h 97"/>
                  <a:gd name="T28" fmla="*/ 140 w 161"/>
                  <a:gd name="T29" fmla="*/ 18 h 97"/>
                  <a:gd name="T30" fmla="*/ 137 w 161"/>
                  <a:gd name="T31" fmla="*/ 13 h 97"/>
                  <a:gd name="T32" fmla="*/ 131 w 161"/>
                  <a:gd name="T33" fmla="*/ 8 h 97"/>
                  <a:gd name="T34" fmla="*/ 128 w 161"/>
                  <a:gd name="T35" fmla="*/ 7 h 97"/>
                  <a:gd name="T36" fmla="*/ 122 w 161"/>
                  <a:gd name="T37" fmla="*/ 4 h 97"/>
                  <a:gd name="T38" fmla="*/ 113 w 161"/>
                  <a:gd name="T39" fmla="*/ 2 h 97"/>
                  <a:gd name="T40" fmla="*/ 104 w 161"/>
                  <a:gd name="T41" fmla="*/ 1 h 97"/>
                  <a:gd name="T42" fmla="*/ 93 w 161"/>
                  <a:gd name="T43" fmla="*/ 0 h 97"/>
                  <a:gd name="T44" fmla="*/ 0 w 161"/>
                  <a:gd name="T45" fmla="*/ 0 h 97"/>
                  <a:gd name="T46" fmla="*/ 0 w 161"/>
                  <a:gd name="T47" fmla="*/ 16 h 97"/>
                  <a:gd name="T48" fmla="*/ 21 w 161"/>
                  <a:gd name="T49" fmla="*/ 16 h 97"/>
                  <a:gd name="T50" fmla="*/ 21 w 161"/>
                  <a:gd name="T51" fmla="*/ 81 h 97"/>
                  <a:gd name="T52" fmla="*/ 0 w 161"/>
                  <a:gd name="T53" fmla="*/ 81 h 97"/>
                  <a:gd name="T54" fmla="*/ 0 w 161"/>
                  <a:gd name="T55" fmla="*/ 97 h 97"/>
                  <a:gd name="T56" fmla="*/ 80 w 161"/>
                  <a:gd name="T57" fmla="*/ 97 h 97"/>
                  <a:gd name="T58" fmla="*/ 80 w 161"/>
                  <a:gd name="T59" fmla="*/ 81 h 97"/>
                  <a:gd name="T60" fmla="*/ 61 w 161"/>
                  <a:gd name="T61" fmla="*/ 81 h 97"/>
                  <a:gd name="T62" fmla="*/ 61 w 161"/>
                  <a:gd name="T63" fmla="*/ 54 h 97"/>
                  <a:gd name="T64" fmla="*/ 61 w 161"/>
                  <a:gd name="T65" fmla="*/ 16 h 97"/>
                  <a:gd name="T66" fmla="*/ 79 w 161"/>
                  <a:gd name="T67" fmla="*/ 16 h 97"/>
                  <a:gd name="T68" fmla="*/ 87 w 161"/>
                  <a:gd name="T69" fmla="*/ 17 h 97"/>
                  <a:gd name="T70" fmla="*/ 95 w 161"/>
                  <a:gd name="T71" fmla="*/ 19 h 97"/>
                  <a:gd name="T72" fmla="*/ 98 w 161"/>
                  <a:gd name="T73" fmla="*/ 22 h 97"/>
                  <a:gd name="T74" fmla="*/ 101 w 161"/>
                  <a:gd name="T75" fmla="*/ 27 h 97"/>
                  <a:gd name="T76" fmla="*/ 101 w 161"/>
                  <a:gd name="T77" fmla="*/ 28 h 97"/>
                  <a:gd name="T78" fmla="*/ 98 w 161"/>
                  <a:gd name="T79" fmla="*/ 34 h 97"/>
                  <a:gd name="T80" fmla="*/ 94 w 161"/>
                  <a:gd name="T81" fmla="*/ 37 h 97"/>
                  <a:gd name="T82" fmla="*/ 86 w 161"/>
                  <a:gd name="T83" fmla="*/ 39 h 97"/>
                  <a:gd name="T84" fmla="*/ 76 w 161"/>
                  <a:gd name="T85" fmla="*/ 39 h 97"/>
                  <a:gd name="T86" fmla="*/ 61 w 161"/>
                  <a:gd name="T87" fmla="*/ 39 h 97"/>
                  <a:gd name="T88" fmla="*/ 61 w 161"/>
                  <a:gd name="T89" fmla="*/ 16 h 9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61"/>
                  <a:gd name="T136" fmla="*/ 0 h 97"/>
                  <a:gd name="T137" fmla="*/ 161 w 161"/>
                  <a:gd name="T138" fmla="*/ 97 h 9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61" h="97">
                    <a:moveTo>
                      <a:pt x="61" y="54"/>
                    </a:moveTo>
                    <a:lnTo>
                      <a:pt x="79" y="54"/>
                    </a:lnTo>
                    <a:lnTo>
                      <a:pt x="114" y="97"/>
                    </a:lnTo>
                    <a:lnTo>
                      <a:pt x="161" y="97"/>
                    </a:lnTo>
                    <a:lnTo>
                      <a:pt x="161" y="81"/>
                    </a:lnTo>
                    <a:lnTo>
                      <a:pt x="141" y="81"/>
                    </a:lnTo>
                    <a:lnTo>
                      <a:pt x="115" y="51"/>
                    </a:lnTo>
                    <a:lnTo>
                      <a:pt x="121" y="50"/>
                    </a:lnTo>
                    <a:lnTo>
                      <a:pt x="129" y="46"/>
                    </a:lnTo>
                    <a:lnTo>
                      <a:pt x="135" y="43"/>
                    </a:lnTo>
                    <a:lnTo>
                      <a:pt x="139" y="38"/>
                    </a:lnTo>
                    <a:lnTo>
                      <a:pt x="141" y="33"/>
                    </a:lnTo>
                    <a:lnTo>
                      <a:pt x="143" y="27"/>
                    </a:lnTo>
                    <a:lnTo>
                      <a:pt x="143" y="24"/>
                    </a:lnTo>
                    <a:lnTo>
                      <a:pt x="140" y="18"/>
                    </a:lnTo>
                    <a:lnTo>
                      <a:pt x="137" y="13"/>
                    </a:lnTo>
                    <a:lnTo>
                      <a:pt x="131" y="8"/>
                    </a:lnTo>
                    <a:lnTo>
                      <a:pt x="128" y="7"/>
                    </a:lnTo>
                    <a:lnTo>
                      <a:pt x="122" y="4"/>
                    </a:lnTo>
                    <a:lnTo>
                      <a:pt x="113" y="2"/>
                    </a:lnTo>
                    <a:lnTo>
                      <a:pt x="104" y="1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21" y="16"/>
                    </a:lnTo>
                    <a:lnTo>
                      <a:pt x="21" y="81"/>
                    </a:lnTo>
                    <a:lnTo>
                      <a:pt x="0" y="81"/>
                    </a:lnTo>
                    <a:lnTo>
                      <a:pt x="0" y="97"/>
                    </a:lnTo>
                    <a:lnTo>
                      <a:pt x="80" y="97"/>
                    </a:lnTo>
                    <a:lnTo>
                      <a:pt x="80" y="81"/>
                    </a:lnTo>
                    <a:lnTo>
                      <a:pt x="61" y="81"/>
                    </a:lnTo>
                    <a:lnTo>
                      <a:pt x="61" y="54"/>
                    </a:lnTo>
                    <a:close/>
                    <a:moveTo>
                      <a:pt x="61" y="16"/>
                    </a:moveTo>
                    <a:lnTo>
                      <a:pt x="79" y="16"/>
                    </a:lnTo>
                    <a:lnTo>
                      <a:pt x="87" y="17"/>
                    </a:lnTo>
                    <a:lnTo>
                      <a:pt x="95" y="19"/>
                    </a:lnTo>
                    <a:lnTo>
                      <a:pt x="98" y="22"/>
                    </a:lnTo>
                    <a:lnTo>
                      <a:pt x="101" y="27"/>
                    </a:lnTo>
                    <a:lnTo>
                      <a:pt x="101" y="28"/>
                    </a:lnTo>
                    <a:lnTo>
                      <a:pt x="98" y="34"/>
                    </a:lnTo>
                    <a:lnTo>
                      <a:pt x="94" y="37"/>
                    </a:lnTo>
                    <a:lnTo>
                      <a:pt x="86" y="39"/>
                    </a:lnTo>
                    <a:lnTo>
                      <a:pt x="76" y="39"/>
                    </a:lnTo>
                    <a:lnTo>
                      <a:pt x="61" y="39"/>
                    </a:lnTo>
                    <a:lnTo>
                      <a:pt x="61" y="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pic>
          <p:nvPicPr>
            <p:cNvPr id="16395" name="Picture 21" descr="显示屏-2"/>
            <p:cNvPicPr preferRelativeResize="0"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DFFFF"/>
                </a:clrFrom>
                <a:clrTo>
                  <a:srgbClr val="FD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3988" y="4402138"/>
              <a:ext cx="657225" cy="690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396" name="Picture 22" descr="显示屏-2"/>
            <p:cNvPicPr preferRelativeResize="0"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DFFFF"/>
                </a:clrFrom>
                <a:clrTo>
                  <a:srgbClr val="FD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7213" y="4402138"/>
              <a:ext cx="657225" cy="690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97" name="Line 23"/>
            <p:cNvSpPr>
              <a:spLocks noChangeShapeType="1"/>
            </p:cNvSpPr>
            <p:nvPr/>
          </p:nvSpPr>
          <p:spPr bwMode="auto">
            <a:xfrm>
              <a:off x="4102100" y="3182938"/>
              <a:ext cx="267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8" name="Line 24"/>
            <p:cNvSpPr>
              <a:spLocks noChangeShapeType="1"/>
            </p:cNvSpPr>
            <p:nvPr/>
          </p:nvSpPr>
          <p:spPr bwMode="auto">
            <a:xfrm flipH="1">
              <a:off x="1925638" y="3335338"/>
              <a:ext cx="133985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9" name="Line 25"/>
            <p:cNvSpPr>
              <a:spLocks noChangeShapeType="1"/>
            </p:cNvSpPr>
            <p:nvPr/>
          </p:nvSpPr>
          <p:spPr bwMode="auto">
            <a:xfrm>
              <a:off x="3265488" y="3335338"/>
              <a:ext cx="166687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400" name="Group 28"/>
            <p:cNvGrpSpPr>
              <a:grpSpLocks/>
            </p:cNvGrpSpPr>
            <p:nvPr/>
          </p:nvGrpSpPr>
          <p:grpSpPr bwMode="auto">
            <a:xfrm>
              <a:off x="3097213" y="2878138"/>
              <a:ext cx="1087437" cy="554037"/>
              <a:chOff x="820" y="1552"/>
              <a:chExt cx="671" cy="422"/>
            </a:xfrm>
          </p:grpSpPr>
          <p:sp>
            <p:nvSpPr>
              <p:cNvPr id="16409" name="Freeform 29"/>
              <p:cNvSpPr>
                <a:spLocks/>
              </p:cNvSpPr>
              <p:nvPr/>
            </p:nvSpPr>
            <p:spPr bwMode="auto">
              <a:xfrm>
                <a:off x="820" y="1552"/>
                <a:ext cx="671" cy="422"/>
              </a:xfrm>
              <a:custGeom>
                <a:avLst/>
                <a:gdLst>
                  <a:gd name="T0" fmla="*/ 495 w 671"/>
                  <a:gd name="T1" fmla="*/ 422 h 422"/>
                  <a:gd name="T2" fmla="*/ 671 w 671"/>
                  <a:gd name="T3" fmla="*/ 247 h 422"/>
                  <a:gd name="T4" fmla="*/ 671 w 671"/>
                  <a:gd name="T5" fmla="*/ 0 h 422"/>
                  <a:gd name="T6" fmla="*/ 175 w 671"/>
                  <a:gd name="T7" fmla="*/ 0 h 422"/>
                  <a:gd name="T8" fmla="*/ 0 w 671"/>
                  <a:gd name="T9" fmla="*/ 175 h 422"/>
                  <a:gd name="T10" fmla="*/ 0 w 671"/>
                  <a:gd name="T11" fmla="*/ 422 h 422"/>
                  <a:gd name="T12" fmla="*/ 495 w 671"/>
                  <a:gd name="T13" fmla="*/ 422 h 4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71"/>
                  <a:gd name="T22" fmla="*/ 0 h 422"/>
                  <a:gd name="T23" fmla="*/ 671 w 671"/>
                  <a:gd name="T24" fmla="*/ 422 h 4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71" h="422">
                    <a:moveTo>
                      <a:pt x="495" y="422"/>
                    </a:moveTo>
                    <a:lnTo>
                      <a:pt x="671" y="247"/>
                    </a:lnTo>
                    <a:lnTo>
                      <a:pt x="671" y="0"/>
                    </a:lnTo>
                    <a:lnTo>
                      <a:pt x="175" y="0"/>
                    </a:lnTo>
                    <a:lnTo>
                      <a:pt x="0" y="175"/>
                    </a:lnTo>
                    <a:lnTo>
                      <a:pt x="0" y="422"/>
                    </a:lnTo>
                    <a:lnTo>
                      <a:pt x="495" y="422"/>
                    </a:lnTo>
                    <a:close/>
                  </a:path>
                </a:pathLst>
              </a:custGeom>
              <a:solidFill>
                <a:srgbClr val="6D619E"/>
              </a:solidFill>
              <a:ln w="9525">
                <a:solidFill>
                  <a:srgbClr val="23CB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0" name="Rectangle 30"/>
              <p:cNvSpPr>
                <a:spLocks noChangeArrowheads="1"/>
              </p:cNvSpPr>
              <p:nvPr/>
            </p:nvSpPr>
            <p:spPr bwMode="auto">
              <a:xfrm>
                <a:off x="820" y="1727"/>
                <a:ext cx="495" cy="247"/>
              </a:xfrm>
              <a:prstGeom prst="rect">
                <a:avLst/>
              </a:prstGeom>
              <a:solidFill>
                <a:srgbClr val="8E85B7"/>
              </a:solidFill>
              <a:ln w="9525">
                <a:solidFill>
                  <a:srgbClr val="23CBFF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1" name="Freeform 31"/>
              <p:cNvSpPr>
                <a:spLocks/>
              </p:cNvSpPr>
              <p:nvPr/>
            </p:nvSpPr>
            <p:spPr bwMode="auto">
              <a:xfrm>
                <a:off x="820" y="1552"/>
                <a:ext cx="671" cy="175"/>
              </a:xfrm>
              <a:custGeom>
                <a:avLst/>
                <a:gdLst>
                  <a:gd name="T0" fmla="*/ 0 w 671"/>
                  <a:gd name="T1" fmla="*/ 175 h 175"/>
                  <a:gd name="T2" fmla="*/ 495 w 671"/>
                  <a:gd name="T3" fmla="*/ 175 h 175"/>
                  <a:gd name="T4" fmla="*/ 671 w 671"/>
                  <a:gd name="T5" fmla="*/ 0 h 175"/>
                  <a:gd name="T6" fmla="*/ 175 w 671"/>
                  <a:gd name="T7" fmla="*/ 0 h 175"/>
                  <a:gd name="T8" fmla="*/ 0 w 671"/>
                  <a:gd name="T9" fmla="*/ 175 h 1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1"/>
                  <a:gd name="T16" fmla="*/ 0 h 175"/>
                  <a:gd name="T17" fmla="*/ 671 w 671"/>
                  <a:gd name="T18" fmla="*/ 175 h 1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1" h="175">
                    <a:moveTo>
                      <a:pt x="0" y="175"/>
                    </a:moveTo>
                    <a:lnTo>
                      <a:pt x="495" y="175"/>
                    </a:lnTo>
                    <a:lnTo>
                      <a:pt x="671" y="0"/>
                    </a:lnTo>
                    <a:lnTo>
                      <a:pt x="175" y="0"/>
                    </a:lnTo>
                    <a:lnTo>
                      <a:pt x="0" y="175"/>
                    </a:lnTo>
                    <a:close/>
                  </a:path>
                </a:pathLst>
              </a:custGeom>
              <a:solidFill>
                <a:srgbClr val="BBB4D6"/>
              </a:solidFill>
              <a:ln w="9525">
                <a:solidFill>
                  <a:srgbClr val="23CB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2" name="Freeform 32"/>
              <p:cNvSpPr>
                <a:spLocks noEditPoints="1"/>
              </p:cNvSpPr>
              <p:nvPr/>
            </p:nvSpPr>
            <p:spPr bwMode="auto">
              <a:xfrm>
                <a:off x="1003" y="1584"/>
                <a:ext cx="291" cy="102"/>
              </a:xfrm>
              <a:custGeom>
                <a:avLst/>
                <a:gdLst>
                  <a:gd name="T0" fmla="*/ 146 w 291"/>
                  <a:gd name="T1" fmla="*/ 41 h 102"/>
                  <a:gd name="T2" fmla="*/ 115 w 291"/>
                  <a:gd name="T3" fmla="*/ 18 h 102"/>
                  <a:gd name="T4" fmla="*/ 203 w 291"/>
                  <a:gd name="T5" fmla="*/ 18 h 102"/>
                  <a:gd name="T6" fmla="*/ 146 w 291"/>
                  <a:gd name="T7" fmla="*/ 41 h 102"/>
                  <a:gd name="T8" fmla="*/ 144 w 291"/>
                  <a:gd name="T9" fmla="*/ 62 h 102"/>
                  <a:gd name="T10" fmla="*/ 174 w 291"/>
                  <a:gd name="T11" fmla="*/ 85 h 102"/>
                  <a:gd name="T12" fmla="*/ 86 w 291"/>
                  <a:gd name="T13" fmla="*/ 85 h 102"/>
                  <a:gd name="T14" fmla="*/ 144 w 291"/>
                  <a:gd name="T15" fmla="*/ 62 h 102"/>
                  <a:gd name="T16" fmla="*/ 0 w 291"/>
                  <a:gd name="T17" fmla="*/ 102 h 102"/>
                  <a:gd name="T18" fmla="*/ 225 w 291"/>
                  <a:gd name="T19" fmla="*/ 102 h 102"/>
                  <a:gd name="T20" fmla="*/ 162 w 291"/>
                  <a:gd name="T21" fmla="*/ 53 h 102"/>
                  <a:gd name="T22" fmla="*/ 291 w 291"/>
                  <a:gd name="T23" fmla="*/ 0 h 102"/>
                  <a:gd name="T24" fmla="*/ 64 w 291"/>
                  <a:gd name="T25" fmla="*/ 0 h 102"/>
                  <a:gd name="T26" fmla="*/ 128 w 291"/>
                  <a:gd name="T27" fmla="*/ 50 h 102"/>
                  <a:gd name="T28" fmla="*/ 0 w 291"/>
                  <a:gd name="T29" fmla="*/ 102 h 1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91"/>
                  <a:gd name="T46" fmla="*/ 0 h 102"/>
                  <a:gd name="T47" fmla="*/ 291 w 291"/>
                  <a:gd name="T48" fmla="*/ 102 h 10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91" h="102">
                    <a:moveTo>
                      <a:pt x="146" y="41"/>
                    </a:moveTo>
                    <a:lnTo>
                      <a:pt x="115" y="18"/>
                    </a:lnTo>
                    <a:lnTo>
                      <a:pt x="203" y="18"/>
                    </a:lnTo>
                    <a:lnTo>
                      <a:pt x="146" y="41"/>
                    </a:lnTo>
                    <a:close/>
                    <a:moveTo>
                      <a:pt x="144" y="62"/>
                    </a:moveTo>
                    <a:lnTo>
                      <a:pt x="174" y="85"/>
                    </a:lnTo>
                    <a:lnTo>
                      <a:pt x="86" y="85"/>
                    </a:lnTo>
                    <a:lnTo>
                      <a:pt x="144" y="62"/>
                    </a:lnTo>
                    <a:close/>
                    <a:moveTo>
                      <a:pt x="0" y="102"/>
                    </a:moveTo>
                    <a:lnTo>
                      <a:pt x="225" y="102"/>
                    </a:lnTo>
                    <a:lnTo>
                      <a:pt x="162" y="53"/>
                    </a:lnTo>
                    <a:lnTo>
                      <a:pt x="291" y="0"/>
                    </a:lnTo>
                    <a:lnTo>
                      <a:pt x="64" y="0"/>
                    </a:lnTo>
                    <a:lnTo>
                      <a:pt x="128" y="50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3" name="Freeform 33"/>
              <p:cNvSpPr>
                <a:spLocks noEditPoints="1"/>
              </p:cNvSpPr>
              <p:nvPr/>
            </p:nvSpPr>
            <p:spPr bwMode="auto">
              <a:xfrm>
                <a:off x="1017" y="1593"/>
                <a:ext cx="291" cy="101"/>
              </a:xfrm>
              <a:custGeom>
                <a:avLst/>
                <a:gdLst>
                  <a:gd name="T0" fmla="*/ 147 w 291"/>
                  <a:gd name="T1" fmla="*/ 41 h 101"/>
                  <a:gd name="T2" fmla="*/ 117 w 291"/>
                  <a:gd name="T3" fmla="*/ 17 h 101"/>
                  <a:gd name="T4" fmla="*/ 205 w 291"/>
                  <a:gd name="T5" fmla="*/ 17 h 101"/>
                  <a:gd name="T6" fmla="*/ 147 w 291"/>
                  <a:gd name="T7" fmla="*/ 41 h 101"/>
                  <a:gd name="T8" fmla="*/ 144 w 291"/>
                  <a:gd name="T9" fmla="*/ 60 h 101"/>
                  <a:gd name="T10" fmla="*/ 176 w 291"/>
                  <a:gd name="T11" fmla="*/ 84 h 101"/>
                  <a:gd name="T12" fmla="*/ 87 w 291"/>
                  <a:gd name="T13" fmla="*/ 84 h 101"/>
                  <a:gd name="T14" fmla="*/ 144 w 291"/>
                  <a:gd name="T15" fmla="*/ 60 h 101"/>
                  <a:gd name="T16" fmla="*/ 0 w 291"/>
                  <a:gd name="T17" fmla="*/ 101 h 101"/>
                  <a:gd name="T18" fmla="*/ 227 w 291"/>
                  <a:gd name="T19" fmla="*/ 101 h 101"/>
                  <a:gd name="T20" fmla="*/ 163 w 291"/>
                  <a:gd name="T21" fmla="*/ 53 h 101"/>
                  <a:gd name="T22" fmla="*/ 291 w 291"/>
                  <a:gd name="T23" fmla="*/ 0 h 101"/>
                  <a:gd name="T24" fmla="*/ 66 w 291"/>
                  <a:gd name="T25" fmla="*/ 0 h 101"/>
                  <a:gd name="T26" fmla="*/ 129 w 291"/>
                  <a:gd name="T27" fmla="*/ 48 h 101"/>
                  <a:gd name="T28" fmla="*/ 0 w 291"/>
                  <a:gd name="T29" fmla="*/ 101 h 10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91"/>
                  <a:gd name="T46" fmla="*/ 0 h 101"/>
                  <a:gd name="T47" fmla="*/ 291 w 291"/>
                  <a:gd name="T48" fmla="*/ 101 h 10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91" h="101">
                    <a:moveTo>
                      <a:pt x="147" y="41"/>
                    </a:moveTo>
                    <a:lnTo>
                      <a:pt x="117" y="17"/>
                    </a:lnTo>
                    <a:lnTo>
                      <a:pt x="205" y="17"/>
                    </a:lnTo>
                    <a:lnTo>
                      <a:pt x="147" y="41"/>
                    </a:lnTo>
                    <a:close/>
                    <a:moveTo>
                      <a:pt x="144" y="60"/>
                    </a:moveTo>
                    <a:lnTo>
                      <a:pt x="176" y="84"/>
                    </a:lnTo>
                    <a:lnTo>
                      <a:pt x="87" y="84"/>
                    </a:lnTo>
                    <a:lnTo>
                      <a:pt x="144" y="60"/>
                    </a:lnTo>
                    <a:close/>
                    <a:moveTo>
                      <a:pt x="0" y="101"/>
                    </a:moveTo>
                    <a:lnTo>
                      <a:pt x="227" y="101"/>
                    </a:lnTo>
                    <a:lnTo>
                      <a:pt x="163" y="53"/>
                    </a:lnTo>
                    <a:lnTo>
                      <a:pt x="291" y="0"/>
                    </a:lnTo>
                    <a:lnTo>
                      <a:pt x="66" y="0"/>
                    </a:lnTo>
                    <a:lnTo>
                      <a:pt x="129" y="48"/>
                    </a:lnTo>
                    <a:lnTo>
                      <a:pt x="0" y="1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4" name="Freeform 34"/>
              <p:cNvSpPr>
                <a:spLocks/>
              </p:cNvSpPr>
              <p:nvPr/>
            </p:nvSpPr>
            <p:spPr bwMode="auto">
              <a:xfrm>
                <a:off x="1015" y="1803"/>
                <a:ext cx="149" cy="115"/>
              </a:xfrm>
              <a:custGeom>
                <a:avLst/>
                <a:gdLst>
                  <a:gd name="T0" fmla="*/ 106 w 149"/>
                  <a:gd name="T1" fmla="*/ 112 h 115"/>
                  <a:gd name="T2" fmla="*/ 83 w 149"/>
                  <a:gd name="T3" fmla="*/ 115 h 115"/>
                  <a:gd name="T4" fmla="*/ 58 w 149"/>
                  <a:gd name="T5" fmla="*/ 112 h 115"/>
                  <a:gd name="T6" fmla="*/ 39 w 149"/>
                  <a:gd name="T7" fmla="*/ 104 h 115"/>
                  <a:gd name="T8" fmla="*/ 1 w 149"/>
                  <a:gd name="T9" fmla="*/ 113 h 115"/>
                  <a:gd name="T10" fmla="*/ 39 w 149"/>
                  <a:gd name="T11" fmla="*/ 75 h 115"/>
                  <a:gd name="T12" fmla="*/ 46 w 149"/>
                  <a:gd name="T13" fmla="*/ 88 h 115"/>
                  <a:gd name="T14" fmla="*/ 60 w 149"/>
                  <a:gd name="T15" fmla="*/ 94 h 115"/>
                  <a:gd name="T16" fmla="*/ 86 w 149"/>
                  <a:gd name="T17" fmla="*/ 94 h 115"/>
                  <a:gd name="T18" fmla="*/ 97 w 149"/>
                  <a:gd name="T19" fmla="*/ 86 h 115"/>
                  <a:gd name="T20" fmla="*/ 94 w 149"/>
                  <a:gd name="T21" fmla="*/ 77 h 115"/>
                  <a:gd name="T22" fmla="*/ 82 w 149"/>
                  <a:gd name="T23" fmla="*/ 71 h 115"/>
                  <a:gd name="T24" fmla="*/ 65 w 149"/>
                  <a:gd name="T25" fmla="*/ 66 h 115"/>
                  <a:gd name="T26" fmla="*/ 36 w 149"/>
                  <a:gd name="T27" fmla="*/ 59 h 115"/>
                  <a:gd name="T28" fmla="*/ 17 w 149"/>
                  <a:gd name="T29" fmla="*/ 52 h 115"/>
                  <a:gd name="T30" fmla="*/ 6 w 149"/>
                  <a:gd name="T31" fmla="*/ 46 h 115"/>
                  <a:gd name="T32" fmla="*/ 0 w 149"/>
                  <a:gd name="T33" fmla="*/ 32 h 115"/>
                  <a:gd name="T34" fmla="*/ 1 w 149"/>
                  <a:gd name="T35" fmla="*/ 24 h 115"/>
                  <a:gd name="T36" fmla="*/ 11 w 149"/>
                  <a:gd name="T37" fmla="*/ 12 h 115"/>
                  <a:gd name="T38" fmla="*/ 29 w 149"/>
                  <a:gd name="T39" fmla="*/ 5 h 115"/>
                  <a:gd name="T40" fmla="*/ 53 w 149"/>
                  <a:gd name="T41" fmla="*/ 0 h 115"/>
                  <a:gd name="T42" fmla="*/ 73 w 149"/>
                  <a:gd name="T43" fmla="*/ 1 h 115"/>
                  <a:gd name="T44" fmla="*/ 94 w 149"/>
                  <a:gd name="T45" fmla="*/ 7 h 115"/>
                  <a:gd name="T46" fmla="*/ 100 w 149"/>
                  <a:gd name="T47" fmla="*/ 1 h 115"/>
                  <a:gd name="T48" fmla="*/ 137 w 149"/>
                  <a:gd name="T49" fmla="*/ 35 h 115"/>
                  <a:gd name="T50" fmla="*/ 97 w 149"/>
                  <a:gd name="T51" fmla="*/ 29 h 115"/>
                  <a:gd name="T52" fmla="*/ 89 w 149"/>
                  <a:gd name="T53" fmla="*/ 23 h 115"/>
                  <a:gd name="T54" fmla="*/ 68 w 149"/>
                  <a:gd name="T55" fmla="*/ 19 h 115"/>
                  <a:gd name="T56" fmla="*/ 52 w 149"/>
                  <a:gd name="T57" fmla="*/ 22 h 115"/>
                  <a:gd name="T58" fmla="*/ 46 w 149"/>
                  <a:gd name="T59" fmla="*/ 28 h 115"/>
                  <a:gd name="T60" fmla="*/ 51 w 149"/>
                  <a:gd name="T61" fmla="*/ 35 h 115"/>
                  <a:gd name="T62" fmla="*/ 71 w 149"/>
                  <a:gd name="T63" fmla="*/ 41 h 115"/>
                  <a:gd name="T64" fmla="*/ 97 w 149"/>
                  <a:gd name="T65" fmla="*/ 47 h 115"/>
                  <a:gd name="T66" fmla="*/ 119 w 149"/>
                  <a:gd name="T67" fmla="*/ 53 h 115"/>
                  <a:gd name="T68" fmla="*/ 131 w 149"/>
                  <a:gd name="T69" fmla="*/ 58 h 115"/>
                  <a:gd name="T70" fmla="*/ 140 w 149"/>
                  <a:gd name="T71" fmla="*/ 65 h 115"/>
                  <a:gd name="T72" fmla="*/ 148 w 149"/>
                  <a:gd name="T73" fmla="*/ 77 h 115"/>
                  <a:gd name="T74" fmla="*/ 148 w 149"/>
                  <a:gd name="T75" fmla="*/ 89 h 115"/>
                  <a:gd name="T76" fmla="*/ 138 w 149"/>
                  <a:gd name="T77" fmla="*/ 101 h 115"/>
                  <a:gd name="T78" fmla="*/ 129 w 149"/>
                  <a:gd name="T79" fmla="*/ 106 h 11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49"/>
                  <a:gd name="T121" fmla="*/ 0 h 115"/>
                  <a:gd name="T122" fmla="*/ 149 w 149"/>
                  <a:gd name="T123" fmla="*/ 115 h 115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49" h="115">
                    <a:moveTo>
                      <a:pt x="119" y="110"/>
                    </a:moveTo>
                    <a:lnTo>
                      <a:pt x="106" y="112"/>
                    </a:lnTo>
                    <a:lnTo>
                      <a:pt x="93" y="115"/>
                    </a:lnTo>
                    <a:lnTo>
                      <a:pt x="83" y="115"/>
                    </a:lnTo>
                    <a:lnTo>
                      <a:pt x="70" y="113"/>
                    </a:lnTo>
                    <a:lnTo>
                      <a:pt x="58" y="112"/>
                    </a:lnTo>
                    <a:lnTo>
                      <a:pt x="47" y="109"/>
                    </a:lnTo>
                    <a:lnTo>
                      <a:pt x="39" y="104"/>
                    </a:lnTo>
                    <a:lnTo>
                      <a:pt x="39" y="113"/>
                    </a:lnTo>
                    <a:lnTo>
                      <a:pt x="1" y="113"/>
                    </a:lnTo>
                    <a:lnTo>
                      <a:pt x="1" y="75"/>
                    </a:lnTo>
                    <a:lnTo>
                      <a:pt x="39" y="75"/>
                    </a:lnTo>
                    <a:lnTo>
                      <a:pt x="41" y="82"/>
                    </a:lnTo>
                    <a:lnTo>
                      <a:pt x="46" y="88"/>
                    </a:lnTo>
                    <a:lnTo>
                      <a:pt x="49" y="90"/>
                    </a:lnTo>
                    <a:lnTo>
                      <a:pt x="60" y="94"/>
                    </a:lnTo>
                    <a:lnTo>
                      <a:pt x="73" y="95"/>
                    </a:lnTo>
                    <a:lnTo>
                      <a:pt x="86" y="94"/>
                    </a:lnTo>
                    <a:lnTo>
                      <a:pt x="91" y="92"/>
                    </a:lnTo>
                    <a:lnTo>
                      <a:pt x="97" y="86"/>
                    </a:lnTo>
                    <a:lnTo>
                      <a:pt x="97" y="83"/>
                    </a:lnTo>
                    <a:lnTo>
                      <a:pt x="94" y="77"/>
                    </a:lnTo>
                    <a:lnTo>
                      <a:pt x="91" y="75"/>
                    </a:lnTo>
                    <a:lnTo>
                      <a:pt x="82" y="71"/>
                    </a:lnTo>
                    <a:lnTo>
                      <a:pt x="69" y="68"/>
                    </a:lnTo>
                    <a:lnTo>
                      <a:pt x="65" y="66"/>
                    </a:lnTo>
                    <a:lnTo>
                      <a:pt x="49" y="63"/>
                    </a:lnTo>
                    <a:lnTo>
                      <a:pt x="36" y="59"/>
                    </a:lnTo>
                    <a:lnTo>
                      <a:pt x="25" y="55"/>
                    </a:lnTo>
                    <a:lnTo>
                      <a:pt x="17" y="52"/>
                    </a:lnTo>
                    <a:lnTo>
                      <a:pt x="13" y="51"/>
                    </a:lnTo>
                    <a:lnTo>
                      <a:pt x="6" y="46"/>
                    </a:lnTo>
                    <a:lnTo>
                      <a:pt x="1" y="40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1" y="24"/>
                    </a:lnTo>
                    <a:lnTo>
                      <a:pt x="5" y="17"/>
                    </a:lnTo>
                    <a:lnTo>
                      <a:pt x="11" y="12"/>
                    </a:lnTo>
                    <a:lnTo>
                      <a:pt x="18" y="8"/>
                    </a:lnTo>
                    <a:lnTo>
                      <a:pt x="29" y="5"/>
                    </a:lnTo>
                    <a:lnTo>
                      <a:pt x="41" y="1"/>
                    </a:lnTo>
                    <a:lnTo>
                      <a:pt x="53" y="0"/>
                    </a:lnTo>
                    <a:lnTo>
                      <a:pt x="59" y="0"/>
                    </a:lnTo>
                    <a:lnTo>
                      <a:pt x="73" y="1"/>
                    </a:lnTo>
                    <a:lnTo>
                      <a:pt x="85" y="3"/>
                    </a:lnTo>
                    <a:lnTo>
                      <a:pt x="94" y="7"/>
                    </a:lnTo>
                    <a:lnTo>
                      <a:pt x="100" y="11"/>
                    </a:lnTo>
                    <a:lnTo>
                      <a:pt x="100" y="1"/>
                    </a:lnTo>
                    <a:lnTo>
                      <a:pt x="137" y="1"/>
                    </a:lnTo>
                    <a:lnTo>
                      <a:pt x="137" y="35"/>
                    </a:lnTo>
                    <a:lnTo>
                      <a:pt x="100" y="35"/>
                    </a:lnTo>
                    <a:lnTo>
                      <a:pt x="97" y="29"/>
                    </a:lnTo>
                    <a:lnTo>
                      <a:pt x="89" y="23"/>
                    </a:lnTo>
                    <a:lnTo>
                      <a:pt x="77" y="19"/>
                    </a:lnTo>
                    <a:lnTo>
                      <a:pt x="68" y="19"/>
                    </a:lnTo>
                    <a:lnTo>
                      <a:pt x="56" y="20"/>
                    </a:lnTo>
                    <a:lnTo>
                      <a:pt x="52" y="22"/>
                    </a:lnTo>
                    <a:lnTo>
                      <a:pt x="46" y="26"/>
                    </a:lnTo>
                    <a:lnTo>
                      <a:pt x="46" y="28"/>
                    </a:lnTo>
                    <a:lnTo>
                      <a:pt x="51" y="34"/>
                    </a:lnTo>
                    <a:lnTo>
                      <a:pt x="51" y="35"/>
                    </a:lnTo>
                    <a:lnTo>
                      <a:pt x="58" y="37"/>
                    </a:lnTo>
                    <a:lnTo>
                      <a:pt x="71" y="41"/>
                    </a:lnTo>
                    <a:lnTo>
                      <a:pt x="82" y="43"/>
                    </a:lnTo>
                    <a:lnTo>
                      <a:pt x="97" y="47"/>
                    </a:lnTo>
                    <a:lnTo>
                      <a:pt x="109" y="49"/>
                    </a:lnTo>
                    <a:lnTo>
                      <a:pt x="119" y="53"/>
                    </a:lnTo>
                    <a:lnTo>
                      <a:pt x="120" y="53"/>
                    </a:lnTo>
                    <a:lnTo>
                      <a:pt x="131" y="58"/>
                    </a:lnTo>
                    <a:lnTo>
                      <a:pt x="138" y="63"/>
                    </a:lnTo>
                    <a:lnTo>
                      <a:pt x="140" y="65"/>
                    </a:lnTo>
                    <a:lnTo>
                      <a:pt x="145" y="71"/>
                    </a:lnTo>
                    <a:lnTo>
                      <a:pt x="148" y="77"/>
                    </a:lnTo>
                    <a:lnTo>
                      <a:pt x="149" y="81"/>
                    </a:lnTo>
                    <a:lnTo>
                      <a:pt x="148" y="89"/>
                    </a:lnTo>
                    <a:lnTo>
                      <a:pt x="144" y="95"/>
                    </a:lnTo>
                    <a:lnTo>
                      <a:pt x="138" y="101"/>
                    </a:lnTo>
                    <a:lnTo>
                      <a:pt x="131" y="106"/>
                    </a:lnTo>
                    <a:lnTo>
                      <a:pt x="129" y="106"/>
                    </a:lnTo>
                    <a:lnTo>
                      <a:pt x="119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5" name="Freeform 35"/>
              <p:cNvSpPr>
                <a:spLocks/>
              </p:cNvSpPr>
              <p:nvPr/>
            </p:nvSpPr>
            <p:spPr bwMode="auto">
              <a:xfrm>
                <a:off x="1003" y="1796"/>
                <a:ext cx="149" cy="114"/>
              </a:xfrm>
              <a:custGeom>
                <a:avLst/>
                <a:gdLst>
                  <a:gd name="T0" fmla="*/ 108 w 149"/>
                  <a:gd name="T1" fmla="*/ 112 h 114"/>
                  <a:gd name="T2" fmla="*/ 85 w 149"/>
                  <a:gd name="T3" fmla="*/ 114 h 114"/>
                  <a:gd name="T4" fmla="*/ 58 w 149"/>
                  <a:gd name="T5" fmla="*/ 111 h 114"/>
                  <a:gd name="T6" fmla="*/ 40 w 149"/>
                  <a:gd name="T7" fmla="*/ 104 h 114"/>
                  <a:gd name="T8" fmla="*/ 2 w 149"/>
                  <a:gd name="T9" fmla="*/ 113 h 114"/>
                  <a:gd name="T10" fmla="*/ 40 w 149"/>
                  <a:gd name="T11" fmla="*/ 75 h 114"/>
                  <a:gd name="T12" fmla="*/ 47 w 149"/>
                  <a:gd name="T13" fmla="*/ 88 h 114"/>
                  <a:gd name="T14" fmla="*/ 61 w 149"/>
                  <a:gd name="T15" fmla="*/ 94 h 114"/>
                  <a:gd name="T16" fmla="*/ 86 w 149"/>
                  <a:gd name="T17" fmla="*/ 93 h 114"/>
                  <a:gd name="T18" fmla="*/ 97 w 149"/>
                  <a:gd name="T19" fmla="*/ 85 h 114"/>
                  <a:gd name="T20" fmla="*/ 94 w 149"/>
                  <a:gd name="T21" fmla="*/ 77 h 114"/>
                  <a:gd name="T22" fmla="*/ 82 w 149"/>
                  <a:gd name="T23" fmla="*/ 71 h 114"/>
                  <a:gd name="T24" fmla="*/ 66 w 149"/>
                  <a:gd name="T25" fmla="*/ 66 h 114"/>
                  <a:gd name="T26" fmla="*/ 37 w 149"/>
                  <a:gd name="T27" fmla="*/ 59 h 114"/>
                  <a:gd name="T28" fmla="*/ 18 w 149"/>
                  <a:gd name="T29" fmla="*/ 52 h 114"/>
                  <a:gd name="T30" fmla="*/ 6 w 149"/>
                  <a:gd name="T31" fmla="*/ 44 h 114"/>
                  <a:gd name="T32" fmla="*/ 0 w 149"/>
                  <a:gd name="T33" fmla="*/ 31 h 114"/>
                  <a:gd name="T34" fmla="*/ 1 w 149"/>
                  <a:gd name="T35" fmla="*/ 23 h 114"/>
                  <a:gd name="T36" fmla="*/ 11 w 149"/>
                  <a:gd name="T37" fmla="*/ 12 h 114"/>
                  <a:gd name="T38" fmla="*/ 29 w 149"/>
                  <a:gd name="T39" fmla="*/ 3 h 114"/>
                  <a:gd name="T40" fmla="*/ 54 w 149"/>
                  <a:gd name="T41" fmla="*/ 0 h 114"/>
                  <a:gd name="T42" fmla="*/ 72 w 149"/>
                  <a:gd name="T43" fmla="*/ 1 h 114"/>
                  <a:gd name="T44" fmla="*/ 94 w 149"/>
                  <a:gd name="T45" fmla="*/ 7 h 114"/>
                  <a:gd name="T46" fmla="*/ 100 w 149"/>
                  <a:gd name="T47" fmla="*/ 1 h 114"/>
                  <a:gd name="T48" fmla="*/ 138 w 149"/>
                  <a:gd name="T49" fmla="*/ 35 h 114"/>
                  <a:gd name="T50" fmla="*/ 97 w 149"/>
                  <a:gd name="T51" fmla="*/ 27 h 114"/>
                  <a:gd name="T52" fmla="*/ 89 w 149"/>
                  <a:gd name="T53" fmla="*/ 23 h 114"/>
                  <a:gd name="T54" fmla="*/ 69 w 149"/>
                  <a:gd name="T55" fmla="*/ 18 h 114"/>
                  <a:gd name="T56" fmla="*/ 53 w 149"/>
                  <a:gd name="T57" fmla="*/ 20 h 114"/>
                  <a:gd name="T58" fmla="*/ 47 w 149"/>
                  <a:gd name="T59" fmla="*/ 27 h 114"/>
                  <a:gd name="T60" fmla="*/ 52 w 149"/>
                  <a:gd name="T61" fmla="*/ 33 h 114"/>
                  <a:gd name="T62" fmla="*/ 71 w 149"/>
                  <a:gd name="T63" fmla="*/ 39 h 114"/>
                  <a:gd name="T64" fmla="*/ 97 w 149"/>
                  <a:gd name="T65" fmla="*/ 46 h 114"/>
                  <a:gd name="T66" fmla="*/ 120 w 149"/>
                  <a:gd name="T67" fmla="*/ 53 h 114"/>
                  <a:gd name="T68" fmla="*/ 131 w 149"/>
                  <a:gd name="T69" fmla="*/ 56 h 114"/>
                  <a:gd name="T70" fmla="*/ 141 w 149"/>
                  <a:gd name="T71" fmla="*/ 64 h 114"/>
                  <a:gd name="T72" fmla="*/ 149 w 149"/>
                  <a:gd name="T73" fmla="*/ 77 h 114"/>
                  <a:gd name="T74" fmla="*/ 148 w 149"/>
                  <a:gd name="T75" fmla="*/ 88 h 114"/>
                  <a:gd name="T76" fmla="*/ 139 w 149"/>
                  <a:gd name="T77" fmla="*/ 100 h 114"/>
                  <a:gd name="T78" fmla="*/ 129 w 149"/>
                  <a:gd name="T79" fmla="*/ 106 h 11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49"/>
                  <a:gd name="T121" fmla="*/ 0 h 114"/>
                  <a:gd name="T122" fmla="*/ 149 w 149"/>
                  <a:gd name="T123" fmla="*/ 114 h 114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49" h="114">
                    <a:moveTo>
                      <a:pt x="118" y="110"/>
                    </a:moveTo>
                    <a:lnTo>
                      <a:pt x="108" y="112"/>
                    </a:lnTo>
                    <a:lnTo>
                      <a:pt x="94" y="113"/>
                    </a:lnTo>
                    <a:lnTo>
                      <a:pt x="85" y="114"/>
                    </a:lnTo>
                    <a:lnTo>
                      <a:pt x="70" y="113"/>
                    </a:lnTo>
                    <a:lnTo>
                      <a:pt x="58" y="111"/>
                    </a:lnTo>
                    <a:lnTo>
                      <a:pt x="48" y="107"/>
                    </a:lnTo>
                    <a:lnTo>
                      <a:pt x="40" y="104"/>
                    </a:lnTo>
                    <a:lnTo>
                      <a:pt x="40" y="113"/>
                    </a:lnTo>
                    <a:lnTo>
                      <a:pt x="2" y="113"/>
                    </a:lnTo>
                    <a:lnTo>
                      <a:pt x="2" y="75"/>
                    </a:lnTo>
                    <a:lnTo>
                      <a:pt x="40" y="75"/>
                    </a:lnTo>
                    <a:lnTo>
                      <a:pt x="41" y="82"/>
                    </a:lnTo>
                    <a:lnTo>
                      <a:pt x="47" y="88"/>
                    </a:lnTo>
                    <a:lnTo>
                      <a:pt x="51" y="90"/>
                    </a:lnTo>
                    <a:lnTo>
                      <a:pt x="61" y="94"/>
                    </a:lnTo>
                    <a:lnTo>
                      <a:pt x="74" y="95"/>
                    </a:lnTo>
                    <a:lnTo>
                      <a:pt x="86" y="93"/>
                    </a:lnTo>
                    <a:lnTo>
                      <a:pt x="91" y="91"/>
                    </a:lnTo>
                    <a:lnTo>
                      <a:pt x="97" y="85"/>
                    </a:lnTo>
                    <a:lnTo>
                      <a:pt x="98" y="83"/>
                    </a:lnTo>
                    <a:lnTo>
                      <a:pt x="94" y="77"/>
                    </a:lnTo>
                    <a:lnTo>
                      <a:pt x="91" y="75"/>
                    </a:lnTo>
                    <a:lnTo>
                      <a:pt x="82" y="71"/>
                    </a:lnTo>
                    <a:lnTo>
                      <a:pt x="69" y="67"/>
                    </a:lnTo>
                    <a:lnTo>
                      <a:pt x="66" y="66"/>
                    </a:lnTo>
                    <a:lnTo>
                      <a:pt x="51" y="62"/>
                    </a:lnTo>
                    <a:lnTo>
                      <a:pt x="37" y="59"/>
                    </a:lnTo>
                    <a:lnTo>
                      <a:pt x="26" y="55"/>
                    </a:lnTo>
                    <a:lnTo>
                      <a:pt x="18" y="52"/>
                    </a:lnTo>
                    <a:lnTo>
                      <a:pt x="14" y="49"/>
                    </a:lnTo>
                    <a:lnTo>
                      <a:pt x="6" y="44"/>
                    </a:lnTo>
                    <a:lnTo>
                      <a:pt x="2" y="38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1" y="23"/>
                    </a:lnTo>
                    <a:lnTo>
                      <a:pt x="5" y="17"/>
                    </a:lnTo>
                    <a:lnTo>
                      <a:pt x="11" y="12"/>
                    </a:lnTo>
                    <a:lnTo>
                      <a:pt x="18" y="8"/>
                    </a:lnTo>
                    <a:lnTo>
                      <a:pt x="29" y="3"/>
                    </a:lnTo>
                    <a:lnTo>
                      <a:pt x="41" y="1"/>
                    </a:lnTo>
                    <a:lnTo>
                      <a:pt x="54" y="0"/>
                    </a:lnTo>
                    <a:lnTo>
                      <a:pt x="59" y="0"/>
                    </a:lnTo>
                    <a:lnTo>
                      <a:pt x="72" y="1"/>
                    </a:lnTo>
                    <a:lnTo>
                      <a:pt x="85" y="3"/>
                    </a:lnTo>
                    <a:lnTo>
                      <a:pt x="94" y="7"/>
                    </a:lnTo>
                    <a:lnTo>
                      <a:pt x="100" y="10"/>
                    </a:lnTo>
                    <a:lnTo>
                      <a:pt x="100" y="1"/>
                    </a:lnTo>
                    <a:lnTo>
                      <a:pt x="138" y="1"/>
                    </a:lnTo>
                    <a:lnTo>
                      <a:pt x="138" y="35"/>
                    </a:lnTo>
                    <a:lnTo>
                      <a:pt x="100" y="35"/>
                    </a:lnTo>
                    <a:lnTo>
                      <a:pt x="97" y="27"/>
                    </a:lnTo>
                    <a:lnTo>
                      <a:pt x="89" y="23"/>
                    </a:lnTo>
                    <a:lnTo>
                      <a:pt x="78" y="19"/>
                    </a:lnTo>
                    <a:lnTo>
                      <a:pt x="69" y="18"/>
                    </a:lnTo>
                    <a:lnTo>
                      <a:pt x="55" y="20"/>
                    </a:lnTo>
                    <a:lnTo>
                      <a:pt x="53" y="20"/>
                    </a:lnTo>
                    <a:lnTo>
                      <a:pt x="47" y="26"/>
                    </a:lnTo>
                    <a:lnTo>
                      <a:pt x="47" y="27"/>
                    </a:lnTo>
                    <a:lnTo>
                      <a:pt x="51" y="33"/>
                    </a:lnTo>
                    <a:lnTo>
                      <a:pt x="52" y="33"/>
                    </a:lnTo>
                    <a:lnTo>
                      <a:pt x="59" y="37"/>
                    </a:lnTo>
                    <a:lnTo>
                      <a:pt x="71" y="39"/>
                    </a:lnTo>
                    <a:lnTo>
                      <a:pt x="82" y="43"/>
                    </a:lnTo>
                    <a:lnTo>
                      <a:pt x="97" y="46"/>
                    </a:lnTo>
                    <a:lnTo>
                      <a:pt x="110" y="49"/>
                    </a:lnTo>
                    <a:lnTo>
                      <a:pt x="120" y="53"/>
                    </a:lnTo>
                    <a:lnTo>
                      <a:pt x="121" y="53"/>
                    </a:lnTo>
                    <a:lnTo>
                      <a:pt x="131" y="56"/>
                    </a:lnTo>
                    <a:lnTo>
                      <a:pt x="139" y="62"/>
                    </a:lnTo>
                    <a:lnTo>
                      <a:pt x="141" y="64"/>
                    </a:lnTo>
                    <a:lnTo>
                      <a:pt x="146" y="70"/>
                    </a:lnTo>
                    <a:lnTo>
                      <a:pt x="149" y="77"/>
                    </a:lnTo>
                    <a:lnTo>
                      <a:pt x="149" y="81"/>
                    </a:lnTo>
                    <a:lnTo>
                      <a:pt x="148" y="88"/>
                    </a:lnTo>
                    <a:lnTo>
                      <a:pt x="144" y="95"/>
                    </a:lnTo>
                    <a:lnTo>
                      <a:pt x="139" y="100"/>
                    </a:lnTo>
                    <a:lnTo>
                      <a:pt x="131" y="105"/>
                    </a:lnTo>
                    <a:lnTo>
                      <a:pt x="129" y="106"/>
                    </a:lnTo>
                    <a:lnTo>
                      <a:pt x="118" y="1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401" name="Text Box 38"/>
            <p:cNvSpPr txBox="1">
              <a:spLocks noChangeArrowheads="1"/>
            </p:cNvSpPr>
            <p:nvPr/>
          </p:nvSpPr>
          <p:spPr bwMode="auto">
            <a:xfrm>
              <a:off x="3575050" y="2420938"/>
              <a:ext cx="2286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Vlan2:192.168.1.1/24</a:t>
              </a:r>
            </a:p>
          </p:txBody>
        </p:sp>
        <p:sp>
          <p:nvSpPr>
            <p:cNvPr id="16402" name="Text Box 39"/>
            <p:cNvSpPr txBox="1">
              <a:spLocks noChangeArrowheads="1"/>
            </p:cNvSpPr>
            <p:nvPr/>
          </p:nvSpPr>
          <p:spPr bwMode="auto">
            <a:xfrm>
              <a:off x="6110288" y="2420938"/>
              <a:ext cx="196056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E0:192.168.1.2/24</a:t>
              </a:r>
            </a:p>
            <a:p>
              <a:pPr algn="just" eaLnBrk="0" hangingPunct="0"/>
              <a:endParaRPr lang="en-US" altLang="zh-CN" sz="1800">
                <a:latin typeface="Times New Roman" pitchFamily="18" charset="0"/>
              </a:endParaRPr>
            </a:p>
          </p:txBody>
        </p:sp>
        <p:sp>
          <p:nvSpPr>
            <p:cNvPr id="16403" name="Text Box 40"/>
            <p:cNvSpPr txBox="1">
              <a:spLocks noChangeArrowheads="1"/>
            </p:cNvSpPr>
            <p:nvPr/>
          </p:nvSpPr>
          <p:spPr bwMode="auto">
            <a:xfrm>
              <a:off x="922338" y="3030538"/>
              <a:ext cx="22717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Vlan1:192.168.2.1/24</a:t>
              </a:r>
            </a:p>
          </p:txBody>
        </p:sp>
        <p:sp>
          <p:nvSpPr>
            <p:cNvPr id="16404" name="Text Box 41"/>
            <p:cNvSpPr txBox="1">
              <a:spLocks noChangeArrowheads="1"/>
            </p:cNvSpPr>
            <p:nvPr/>
          </p:nvSpPr>
          <p:spPr bwMode="auto">
            <a:xfrm>
              <a:off x="755650" y="5011738"/>
              <a:ext cx="2008188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Ip:192.168.2.2/24</a:t>
              </a:r>
            </a:p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Gw:192.168.2.1</a:t>
              </a:r>
            </a:p>
          </p:txBody>
        </p:sp>
        <p:sp>
          <p:nvSpPr>
            <p:cNvPr id="16405" name="Text Box 42"/>
            <p:cNvSpPr txBox="1">
              <a:spLocks noChangeArrowheads="1"/>
            </p:cNvSpPr>
            <p:nvPr/>
          </p:nvSpPr>
          <p:spPr bwMode="auto">
            <a:xfrm>
              <a:off x="2595563" y="5011738"/>
              <a:ext cx="2046287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Ip:192.168.2.3/24</a:t>
              </a:r>
            </a:p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Gw:192.168.2.1</a:t>
              </a:r>
            </a:p>
          </p:txBody>
        </p:sp>
        <p:sp>
          <p:nvSpPr>
            <p:cNvPr id="16406" name="Text Box 45"/>
            <p:cNvSpPr txBox="1">
              <a:spLocks noChangeArrowheads="1"/>
            </p:cNvSpPr>
            <p:nvPr/>
          </p:nvSpPr>
          <p:spPr bwMode="auto">
            <a:xfrm>
              <a:off x="1296988" y="5960607"/>
              <a:ext cx="66929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zh-CN" altLang="en-US" sz="1800" dirty="0">
                  <a:latin typeface="Times New Roman" pitchFamily="18" charset="0"/>
                </a:rPr>
                <a:t>注：</a:t>
              </a:r>
              <a:r>
                <a:rPr lang="en-US" altLang="zh-CN" sz="1800" dirty="0">
                  <a:latin typeface="Times New Roman" pitchFamily="18" charset="0"/>
                </a:rPr>
                <a:t>vlan1</a:t>
              </a:r>
              <a:r>
                <a:rPr lang="zh-CN" altLang="en-US" sz="1800" dirty="0">
                  <a:latin typeface="Times New Roman" pitchFamily="18" charset="0"/>
                </a:rPr>
                <a:t>包括端口</a:t>
              </a:r>
              <a:r>
                <a:rPr lang="en-US" altLang="zh-CN" sz="1800" dirty="0">
                  <a:latin typeface="Times New Roman" pitchFamily="18" charset="0"/>
                </a:rPr>
                <a:t>E0/1</a:t>
              </a:r>
              <a:r>
                <a:rPr lang="zh-CN" altLang="en-US" sz="1800" dirty="0">
                  <a:latin typeface="Times New Roman" pitchFamily="18" charset="0"/>
                </a:rPr>
                <a:t>到</a:t>
              </a:r>
              <a:r>
                <a:rPr lang="en-US" altLang="zh-CN" sz="1800" dirty="0">
                  <a:latin typeface="Times New Roman" pitchFamily="18" charset="0"/>
                </a:rPr>
                <a:t>E0/22</a:t>
              </a:r>
              <a:r>
                <a:rPr lang="zh-CN" altLang="en-US" sz="1800" dirty="0">
                  <a:latin typeface="Times New Roman" pitchFamily="18" charset="0"/>
                </a:rPr>
                <a:t>，</a:t>
              </a:r>
              <a:r>
                <a:rPr lang="en-US" altLang="zh-CN" sz="1800" dirty="0">
                  <a:latin typeface="Times New Roman" pitchFamily="18" charset="0"/>
                </a:rPr>
                <a:t>vlan2</a:t>
              </a:r>
              <a:r>
                <a:rPr lang="zh-CN" altLang="en-US" sz="1800" dirty="0">
                  <a:latin typeface="Times New Roman" pitchFamily="18" charset="0"/>
                </a:rPr>
                <a:t>包括端口</a:t>
              </a:r>
              <a:r>
                <a:rPr lang="en-US" altLang="zh-CN" sz="1800" dirty="0">
                  <a:latin typeface="Times New Roman" pitchFamily="18" charset="0"/>
                </a:rPr>
                <a:t>E0/23</a:t>
              </a:r>
              <a:r>
                <a:rPr lang="zh-CN" altLang="en-US" sz="1800" dirty="0">
                  <a:latin typeface="Times New Roman" pitchFamily="18" charset="0"/>
                </a:rPr>
                <a:t>到</a:t>
              </a:r>
              <a:r>
                <a:rPr lang="en-US" altLang="zh-CN" sz="1800" dirty="0">
                  <a:latin typeface="Times New Roman" pitchFamily="18" charset="0"/>
                </a:rPr>
                <a:t>E0/24</a:t>
              </a:r>
            </a:p>
          </p:txBody>
        </p:sp>
        <p:sp>
          <p:nvSpPr>
            <p:cNvPr id="16407" name="Text Box 46"/>
            <p:cNvSpPr txBox="1">
              <a:spLocks noChangeArrowheads="1"/>
            </p:cNvSpPr>
            <p:nvPr/>
          </p:nvSpPr>
          <p:spPr bwMode="auto">
            <a:xfrm>
              <a:off x="2930525" y="2573338"/>
              <a:ext cx="5016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S1</a:t>
              </a:r>
            </a:p>
          </p:txBody>
        </p:sp>
        <p:sp>
          <p:nvSpPr>
            <p:cNvPr id="16408" name="Text Box 47"/>
            <p:cNvSpPr txBox="1">
              <a:spLocks noChangeArrowheads="1"/>
            </p:cNvSpPr>
            <p:nvPr/>
          </p:nvSpPr>
          <p:spPr bwMode="auto">
            <a:xfrm>
              <a:off x="6945313" y="3335338"/>
              <a:ext cx="50323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>
                <a:defRPr sz="32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eaLnBrk="0" hangingPunct="0">
                <a:defRPr sz="20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0" hangingPunct="0"/>
              <a:r>
                <a:rPr lang="en-US" altLang="zh-CN" sz="1800">
                  <a:latin typeface="Times New Roman" pitchFamily="18" charset="0"/>
                </a:rPr>
                <a:t>R1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3088" y="415064"/>
            <a:ext cx="8064500" cy="923925"/>
          </a:xfrm>
        </p:spPr>
        <p:txBody>
          <a:bodyPr/>
          <a:lstStyle/>
          <a:p>
            <a:r>
              <a:rPr lang="en-US" altLang="zh-CN" dirty="0" smtClean="0">
                <a:latin typeface="黑体" pitchFamily="2" charset="-122"/>
                <a:ea typeface="宋体" pitchFamily="2" charset="-122"/>
              </a:rPr>
              <a:t>RIP1</a:t>
            </a:r>
            <a:r>
              <a:rPr lang="zh-CN" altLang="en-US" dirty="0" smtClean="0">
                <a:latin typeface="黑体" pitchFamily="2" charset="-122"/>
                <a:ea typeface="宋体" pitchFamily="2" charset="-122"/>
              </a:rPr>
              <a:t>协议基础实验组网图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42910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smtClean="0">
                <a:latin typeface="宋体" pitchFamily="2" charset="-122"/>
                <a:ea typeface="宋体" pitchFamily="2" charset="-122"/>
              </a:rPr>
              <a:t>RIP1</a:t>
            </a:r>
            <a:r>
              <a:rPr lang="zh-CN" altLang="en-US" sz="3600" dirty="0" smtClean="0">
                <a:latin typeface="宋体" pitchFamily="2" charset="-122"/>
                <a:ea typeface="宋体" pitchFamily="2" charset="-122"/>
              </a:rPr>
              <a:t>协议配置关键</a:t>
            </a:r>
            <a:r>
              <a:rPr lang="zh-CN" altLang="en-US" sz="3600" dirty="0">
                <a:latin typeface="宋体" pitchFamily="2" charset="-122"/>
                <a:ea typeface="宋体" pitchFamily="2" charset="-122"/>
              </a:rPr>
              <a:t>实验步骤</a:t>
            </a:r>
            <a:r>
              <a:rPr lang="zh-CN" altLang="en-US" sz="3600" dirty="0" smtClean="0">
                <a:latin typeface="宋体" pitchFamily="2" charset="-122"/>
                <a:ea typeface="宋体" pitchFamily="2" charset="-122"/>
              </a:rPr>
              <a:t>说明</a:t>
            </a:r>
            <a:endParaRPr lang="en-US" altLang="zh-CN" sz="3600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484313"/>
            <a:ext cx="8353300" cy="4897015"/>
          </a:xfrm>
        </p:spPr>
        <p:txBody>
          <a:bodyPr/>
          <a:lstStyle/>
          <a:p>
            <a:pPr marL="447675" lvl="1" indent="-350838" eaLnBrk="1" hangingPunct="1">
              <a:lnSpc>
                <a:spcPct val="9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zh-CN" altLang="en-US" sz="2800" dirty="0" smtClean="0"/>
              <a:t>在静态路由配置实验基础上删除配置的缺省路由，对</a:t>
            </a:r>
            <a:r>
              <a:rPr lang="en-US" altLang="zh-CN" sz="2800" dirty="0" smtClean="0"/>
              <a:t>S1</a:t>
            </a:r>
            <a:r>
              <a:rPr lang="zh-CN" altLang="en-US" sz="2800" dirty="0" smtClean="0"/>
              <a:t>和</a:t>
            </a:r>
            <a:r>
              <a:rPr lang="en-US" altLang="zh-CN" sz="2800" dirty="0" smtClean="0"/>
              <a:t>R1 </a:t>
            </a:r>
            <a:r>
              <a:rPr lang="zh-CN" altLang="en-US" sz="2800" dirty="0" smtClean="0"/>
              <a:t>分别配置</a:t>
            </a:r>
            <a:r>
              <a:rPr lang="en-US" altLang="zh-CN" sz="2800" dirty="0" smtClean="0"/>
              <a:t>RIP</a:t>
            </a:r>
            <a:r>
              <a:rPr lang="zh-CN" altLang="en-US" sz="2800" dirty="0" smtClean="0"/>
              <a:t>协议。</a:t>
            </a:r>
            <a:endParaRPr lang="en-US" altLang="zh-CN" sz="2800" dirty="0" smtClean="0"/>
          </a:p>
          <a:p>
            <a:pPr marL="1897063" lvl="5" indent="-1177925"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CN" b="0" dirty="0" smtClean="0"/>
              <a:t>[R1]rip   //</a:t>
            </a:r>
            <a:r>
              <a:rPr lang="zh-CN" altLang="en-US" b="0" dirty="0" smtClean="0"/>
              <a:t>启动</a:t>
            </a:r>
            <a:r>
              <a:rPr lang="en-US" altLang="zh-CN" b="0" dirty="0" smtClean="0"/>
              <a:t>RIP</a:t>
            </a:r>
            <a:r>
              <a:rPr lang="zh-CN" altLang="en-US" b="0" dirty="0" smtClean="0"/>
              <a:t>协议</a:t>
            </a:r>
            <a:endParaRPr lang="en-US" altLang="zh-CN" b="0" dirty="0" smtClean="0"/>
          </a:p>
          <a:p>
            <a:pPr marL="1897063" lvl="5" indent="-1177925"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CN" b="0" dirty="0" smtClean="0"/>
              <a:t>[R1-rip]network 192.168.1.0    //</a:t>
            </a:r>
            <a:r>
              <a:rPr lang="zh-CN" altLang="en-US" b="0" dirty="0" smtClean="0"/>
              <a:t>指定启动</a:t>
            </a:r>
            <a:r>
              <a:rPr lang="en-US" altLang="zh-CN" b="0" dirty="0" smtClean="0"/>
              <a:t>RIP</a:t>
            </a:r>
            <a:r>
              <a:rPr lang="zh-CN" altLang="en-US" b="0" dirty="0" smtClean="0"/>
              <a:t>协议的</a:t>
            </a:r>
            <a:r>
              <a:rPr lang="zh-CN" altLang="en-US" b="0" dirty="0"/>
              <a:t>网</a:t>
            </a:r>
            <a:r>
              <a:rPr lang="zh-CN" altLang="en-US" b="0" dirty="0" smtClean="0"/>
              <a:t>段地址</a:t>
            </a:r>
            <a:endParaRPr lang="en-US" altLang="zh-CN" b="0" dirty="0" smtClean="0"/>
          </a:p>
          <a:p>
            <a:pPr marL="1897063" lvl="5" indent="-1177925"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CN" b="0" dirty="0" smtClean="0"/>
              <a:t>[S1]rip</a:t>
            </a:r>
          </a:p>
          <a:p>
            <a:pPr marL="1897063" lvl="5" indent="-1177925"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CN" b="0" dirty="0" smtClean="0"/>
              <a:t>[S1-rip]network 192.168.1.0</a:t>
            </a:r>
          </a:p>
          <a:p>
            <a:pPr marL="1897063" lvl="5" indent="-1177925">
              <a:buClr>
                <a:schemeClr val="accent1"/>
              </a:buClr>
              <a:buFont typeface="Wingdings" pitchFamily="2" charset="2"/>
              <a:buNone/>
            </a:pPr>
            <a:r>
              <a:rPr lang="en-US" altLang="zh-CN" b="0" dirty="0" smtClean="0"/>
              <a:t>[S1-rip]network 192.168.2.0</a:t>
            </a:r>
          </a:p>
          <a:p>
            <a:pPr marL="447675" lvl="3" indent="-350838" eaLnBrk="1" hangingPunct="1">
              <a:lnSpc>
                <a:spcPct val="90000"/>
              </a:lnSpc>
              <a:buClr>
                <a:schemeClr val="accent1"/>
              </a:buClr>
              <a:buFont typeface="Wingdings" pitchFamily="2" charset="2"/>
              <a:buNone/>
            </a:pPr>
            <a:endParaRPr lang="en-US" altLang="zh-CN" dirty="0" smtClean="0"/>
          </a:p>
          <a:p>
            <a:pPr marL="447675" lvl="1" indent="-350838" eaLnBrk="1" hangingPunct="1">
              <a:lnSpc>
                <a:spcPct val="9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zh-CN" altLang="en-US" sz="2800" dirty="0"/>
              <a:t>观察</a:t>
            </a:r>
            <a:r>
              <a:rPr lang="en-US" altLang="zh-CN" sz="2800" dirty="0"/>
              <a:t>R1</a:t>
            </a:r>
            <a:r>
              <a:rPr lang="zh-CN" altLang="en-US" sz="2800" dirty="0"/>
              <a:t>路由表，</a:t>
            </a:r>
            <a:r>
              <a:rPr lang="zh-CN" altLang="en-US" sz="2800" dirty="0" smtClean="0"/>
              <a:t>比较与配置</a:t>
            </a:r>
            <a:r>
              <a:rPr lang="en-US" altLang="zh-CN" sz="2800" dirty="0" smtClean="0"/>
              <a:t>RIP</a:t>
            </a:r>
            <a:r>
              <a:rPr lang="zh-CN" altLang="en-US" sz="2800" dirty="0" smtClean="0"/>
              <a:t>协议前</a:t>
            </a:r>
            <a:r>
              <a:rPr lang="zh-CN" altLang="en-US" sz="2800" dirty="0"/>
              <a:t>的差别。</a:t>
            </a:r>
          </a:p>
          <a:p>
            <a:pPr marL="447675" lvl="1" indent="-350838" eaLnBrk="1" hangingPunct="1">
              <a:lnSpc>
                <a:spcPct val="9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zh-CN" altLang="en-US" sz="2800" dirty="0"/>
              <a:t>在</a:t>
            </a:r>
            <a:r>
              <a:rPr lang="en-US" altLang="zh-CN" sz="2800" dirty="0"/>
              <a:t>R1</a:t>
            </a:r>
            <a:r>
              <a:rPr lang="zh-CN" altLang="en-US" sz="2800" dirty="0"/>
              <a:t>上</a:t>
            </a:r>
            <a:r>
              <a:rPr lang="en-US" altLang="zh-CN" sz="2800" dirty="0"/>
              <a:t>ping</a:t>
            </a:r>
            <a:r>
              <a:rPr lang="zh-CN" altLang="en-US" sz="2800" dirty="0"/>
              <a:t>各台计算机</a:t>
            </a:r>
            <a:r>
              <a:rPr lang="zh-CN" altLang="en-US" sz="2800" dirty="0" smtClean="0"/>
              <a:t>，测试能否</a:t>
            </a:r>
            <a:r>
              <a:rPr lang="en-US" altLang="zh-CN" sz="2800" dirty="0"/>
              <a:t>ping</a:t>
            </a:r>
            <a:r>
              <a:rPr lang="zh-CN" altLang="en-US" sz="2800" dirty="0"/>
              <a:t>通。</a:t>
            </a:r>
          </a:p>
        </p:txBody>
      </p:sp>
    </p:spTree>
    <p:extLst>
      <p:ext uri="{BB962C8B-B14F-4D97-AF65-F5344CB8AC3E}">
        <p14:creationId xmlns:p14="http://schemas.microsoft.com/office/powerpoint/2010/main" val="31735494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404664"/>
            <a:ext cx="8424936" cy="923925"/>
          </a:xfrm>
        </p:spPr>
        <p:txBody>
          <a:bodyPr/>
          <a:lstStyle/>
          <a:p>
            <a:pPr eaLnBrk="1" hangingPunct="1"/>
            <a:r>
              <a:rPr lang="en-US" altLang="zh-CN" sz="3600" dirty="0" smtClean="0">
                <a:latin typeface="宋体" pitchFamily="2" charset="-122"/>
                <a:ea typeface="宋体" pitchFamily="2" charset="-122"/>
              </a:rPr>
              <a:t>RIP1</a:t>
            </a:r>
            <a:r>
              <a:rPr lang="zh-CN" altLang="en-US" sz="3600" dirty="0" smtClean="0">
                <a:latin typeface="宋体" pitchFamily="2" charset="-122"/>
                <a:ea typeface="宋体" pitchFamily="2" charset="-122"/>
              </a:rPr>
              <a:t>报文结构分析关键</a:t>
            </a:r>
            <a:r>
              <a:rPr lang="zh-CN" altLang="en-US" sz="3600" dirty="0">
                <a:latin typeface="宋体" pitchFamily="2" charset="-122"/>
                <a:ea typeface="宋体" pitchFamily="2" charset="-122"/>
              </a:rPr>
              <a:t>实验步骤</a:t>
            </a:r>
            <a:r>
              <a:rPr lang="zh-CN" altLang="en-US" sz="3600" dirty="0" smtClean="0">
                <a:latin typeface="宋体" pitchFamily="2" charset="-122"/>
                <a:ea typeface="宋体" pitchFamily="2" charset="-122"/>
              </a:rPr>
              <a:t>说明</a:t>
            </a:r>
            <a:endParaRPr lang="en-US" altLang="zh-CN" sz="3600" dirty="0" smtClean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84784"/>
            <a:ext cx="8424936" cy="4752528"/>
          </a:xfrm>
        </p:spPr>
        <p:txBody>
          <a:bodyPr>
            <a:normAutofit/>
          </a:bodyPr>
          <a:lstStyle/>
          <a:p>
            <a:pPr marL="715963" lvl="1" indent="-636588" eaLnBrk="1" hangingPunct="1">
              <a:lnSpc>
                <a:spcPct val="150000"/>
              </a:lnSpc>
              <a:buClr>
                <a:schemeClr val="accent1"/>
              </a:buClr>
              <a:buFont typeface="+mj-lt"/>
              <a:buAutoNum type="arabicPeriod" startAt="4"/>
            </a:pPr>
            <a:r>
              <a:rPr lang="zh-CN" altLang="en-US" sz="2800" dirty="0" smtClean="0"/>
              <a:t>在</a:t>
            </a:r>
            <a:r>
              <a:rPr lang="en-US" altLang="zh-CN" sz="2800" dirty="0" smtClean="0"/>
              <a:t>RIP</a:t>
            </a:r>
            <a:r>
              <a:rPr lang="zh-CN" altLang="en-US" sz="2800" dirty="0" smtClean="0"/>
              <a:t>协议基本配置实验基础上进行，为了观察</a:t>
            </a:r>
            <a:r>
              <a:rPr lang="en-US" altLang="zh-CN" sz="2800" dirty="0" smtClean="0"/>
              <a:t>RIP</a:t>
            </a:r>
            <a:r>
              <a:rPr lang="zh-CN" altLang="en-US" sz="2800" dirty="0" smtClean="0"/>
              <a:t>报文的交互过程，先停止</a:t>
            </a:r>
            <a:r>
              <a:rPr lang="en-US" altLang="zh-CN" sz="2800" dirty="0" smtClean="0"/>
              <a:t>S1</a:t>
            </a:r>
            <a:r>
              <a:rPr lang="zh-CN" altLang="en-US" sz="2800" dirty="0" smtClean="0"/>
              <a:t>上的</a:t>
            </a:r>
            <a:r>
              <a:rPr lang="en-US" altLang="zh-CN" sz="2800" dirty="0" smtClean="0"/>
              <a:t>RIP </a:t>
            </a:r>
            <a:r>
              <a:rPr lang="zh-CN" altLang="en-US" sz="2800" dirty="0" smtClean="0"/>
              <a:t>协议。</a:t>
            </a:r>
            <a:endParaRPr lang="en-US" altLang="zh-CN" sz="2800" dirty="0" smtClean="0"/>
          </a:p>
          <a:p>
            <a:pPr marL="536575" lvl="3" indent="0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altLang="zh-CN" sz="2000" b="0" dirty="0" smtClean="0"/>
              <a:t>          [s1] undo rip</a:t>
            </a:r>
            <a:endParaRPr lang="zh-CN" altLang="en-US" sz="2000" b="0" dirty="0" smtClean="0"/>
          </a:p>
          <a:p>
            <a:pPr marL="715963" lvl="1" indent="-636588" eaLnBrk="1" hangingPunct="1">
              <a:lnSpc>
                <a:spcPct val="150000"/>
              </a:lnSpc>
              <a:buClr>
                <a:schemeClr val="accent1"/>
              </a:buClr>
              <a:buFont typeface="+mj-lt"/>
              <a:buAutoNum type="arabicPeriod" startAt="4"/>
            </a:pPr>
            <a:r>
              <a:rPr lang="zh-CN" altLang="en-US" sz="2800" dirty="0" smtClean="0"/>
              <a:t>在各台计算机上运行</a:t>
            </a:r>
            <a:r>
              <a:rPr lang="en-US" altLang="zh-CN" sz="2800" dirty="0" err="1" smtClean="0"/>
              <a:t>Wireshark</a:t>
            </a:r>
            <a:r>
              <a:rPr lang="en-US" altLang="zh-CN" sz="2800" dirty="0" smtClean="0"/>
              <a:t> ,</a:t>
            </a:r>
            <a:r>
              <a:rPr lang="zh-CN" altLang="en-US" sz="2800" dirty="0" smtClean="0"/>
              <a:t>然后在</a:t>
            </a:r>
            <a:r>
              <a:rPr lang="en-US" altLang="zh-CN" sz="2800" dirty="0" smtClean="0"/>
              <a:t>S1</a:t>
            </a:r>
            <a:r>
              <a:rPr lang="zh-CN" altLang="en-US" sz="2800" dirty="0" smtClean="0"/>
              <a:t>上运行</a:t>
            </a:r>
            <a:r>
              <a:rPr lang="en-US" altLang="zh-CN" sz="2800" dirty="0" smtClean="0"/>
              <a:t>RIP </a:t>
            </a:r>
            <a:r>
              <a:rPr lang="zh-CN" altLang="en-US" sz="2800" dirty="0" smtClean="0"/>
              <a:t>协议。</a:t>
            </a:r>
          </a:p>
          <a:p>
            <a:pPr marL="715963" lvl="1" indent="-636588" eaLnBrk="1" hangingPunct="1">
              <a:lnSpc>
                <a:spcPct val="150000"/>
              </a:lnSpc>
              <a:buClr>
                <a:schemeClr val="accent1"/>
              </a:buClr>
              <a:buFont typeface="+mj-lt"/>
              <a:buAutoNum type="arabicPeriod" startAt="4"/>
            </a:pPr>
            <a:r>
              <a:rPr lang="zh-CN" altLang="en-US" sz="2800" dirty="0" smtClean="0"/>
              <a:t>观察</a:t>
            </a:r>
            <a:r>
              <a:rPr lang="en-US" altLang="zh-CN" sz="2800" dirty="0" err="1" smtClean="0"/>
              <a:t>Wireshark</a:t>
            </a:r>
            <a:r>
              <a:rPr lang="zh-CN" altLang="en-US" sz="2800" dirty="0" smtClean="0"/>
              <a:t>截获的报文，分析</a:t>
            </a:r>
            <a:r>
              <a:rPr lang="en-US" altLang="zh-CN" sz="2800" dirty="0" smtClean="0"/>
              <a:t>RIP1</a:t>
            </a:r>
            <a:r>
              <a:rPr lang="zh-CN" altLang="en-US" sz="2800" dirty="0" smtClean="0"/>
              <a:t>报文。</a:t>
            </a:r>
            <a:endParaRPr lang="en-US" altLang="zh-CN" sz="2800" dirty="0" smtClean="0"/>
          </a:p>
          <a:p>
            <a:pPr marL="715963" lvl="1" indent="-636588" eaLnBrk="1" hangingPunct="1">
              <a:lnSpc>
                <a:spcPct val="150000"/>
              </a:lnSpc>
              <a:buClr>
                <a:schemeClr val="accent1"/>
              </a:buClr>
              <a:buFont typeface="+mj-lt"/>
              <a:buAutoNum type="arabicPeriod" startAt="4"/>
            </a:pPr>
            <a:r>
              <a:rPr lang="zh-CN" altLang="en-US" sz="2800" dirty="0" smtClean="0"/>
              <a:t>观察报文的交互过程。</a:t>
            </a:r>
          </a:p>
        </p:txBody>
      </p:sp>
    </p:spTree>
    <p:extLst>
      <p:ext uri="{BB962C8B-B14F-4D97-AF65-F5344CB8AC3E}">
        <p14:creationId xmlns:p14="http://schemas.microsoft.com/office/powerpoint/2010/main" val="13930816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毕业答辩尹瑞模板">
  <a:themeElements>
    <a:clrScheme name="毕业答辩尹瑞模板 9">
      <a:dk1>
        <a:srgbClr val="330066"/>
      </a:dk1>
      <a:lt1>
        <a:srgbClr val="D8DADA"/>
      </a:lt1>
      <a:dk2>
        <a:srgbClr val="FFFFFF"/>
      </a:dk2>
      <a:lt2>
        <a:srgbClr val="6B6B6B"/>
      </a:lt2>
      <a:accent1>
        <a:srgbClr val="DF0029"/>
      </a:accent1>
      <a:accent2>
        <a:srgbClr val="DF0029"/>
      </a:accent2>
      <a:accent3>
        <a:srgbClr val="E9EAEA"/>
      </a:accent3>
      <a:accent4>
        <a:srgbClr val="2A0056"/>
      </a:accent4>
      <a:accent5>
        <a:srgbClr val="ECAAAC"/>
      </a:accent5>
      <a:accent6>
        <a:srgbClr val="CA0024"/>
      </a:accent6>
      <a:hlink>
        <a:srgbClr val="135A9A"/>
      </a:hlink>
      <a:folHlink>
        <a:srgbClr val="711C81"/>
      </a:folHlink>
    </a:clrScheme>
    <a:fontScheme name="毕业答辩尹瑞模板">
      <a:majorFont>
        <a:latin typeface="黑体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scene3d>
          <a:camera prst="legacyObliqueTopRight"/>
          <a:lightRig rig="legacyFlat3" dir="b"/>
        </a:scene3d>
        <a:sp3d extrusionH="430200" prstMaterial="legacyMatte">
          <a:bevelT w="13500" h="13500" prst="angle"/>
          <a:bevelB w="13500" h="13500" prst="angle"/>
          <a:extrusionClr>
            <a:srgbClr val="CCECFF"/>
          </a:extrusionClr>
        </a:sp3d>
        <a:extLst>
          <a:ext uri="{91240B29-F687-4F45-9708-019B960494DF}">
            <a14:hiddenLine xmlns:a14="http://schemas.microsoft.com/office/drawing/2010/main" w="9525" cap="flat" cmpd="sng" algn="ctr">
              <a:noFill/>
              <a:prstDash val="dash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仿宋_GB2312" pitchFamily="49" charset="-122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>
          <a:noFill/>
        </a:ln>
        <a:effectLst/>
        <a:scene3d>
          <a:camera prst="legacyObliqueTopRight"/>
          <a:lightRig rig="legacyFlat3" dir="b"/>
        </a:scene3d>
        <a:sp3d extrusionH="430200" prstMaterial="legacyMatte">
          <a:bevelT w="13500" h="13500" prst="angle"/>
          <a:bevelB w="13500" h="13500" prst="angle"/>
          <a:extrusionClr>
            <a:srgbClr val="CCECFF"/>
          </a:extrusionClr>
        </a:sp3d>
        <a:extLst>
          <a:ext uri="{91240B29-F687-4F45-9708-019B960494DF}">
            <a14:hiddenLine xmlns:a14="http://schemas.microsoft.com/office/drawing/2010/main" w="9525" cap="flat" cmpd="sng" algn="ctr">
              <a:noFill/>
              <a:prstDash val="dash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仿宋_GB2312" pitchFamily="49" charset="-122"/>
            <a:ea typeface="仿宋_GB2312" pitchFamily="49" charset="-122"/>
          </a:defRPr>
        </a:defPPr>
      </a:lstStyle>
    </a:lnDef>
  </a:objectDefaults>
  <a:extraClrSchemeLst>
    <a:extraClrScheme>
      <a:clrScheme name="毕业答辩尹瑞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毕业答辩尹瑞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8">
        <a:dk1>
          <a:srgbClr val="330066"/>
        </a:dk1>
        <a:lt1>
          <a:srgbClr val="D8DADA"/>
        </a:lt1>
        <a:dk2>
          <a:srgbClr val="FFFFFF"/>
        </a:dk2>
        <a:lt2>
          <a:srgbClr val="6B6B6B"/>
        </a:lt2>
        <a:accent1>
          <a:srgbClr val="DF0029"/>
        </a:accent1>
        <a:accent2>
          <a:srgbClr val="8FECE5"/>
        </a:accent2>
        <a:accent3>
          <a:srgbClr val="E9EAEA"/>
        </a:accent3>
        <a:accent4>
          <a:srgbClr val="2A0056"/>
        </a:accent4>
        <a:accent5>
          <a:srgbClr val="ECAAAC"/>
        </a:accent5>
        <a:accent6>
          <a:srgbClr val="81D6CF"/>
        </a:accent6>
        <a:hlink>
          <a:srgbClr val="135A9A"/>
        </a:hlink>
        <a:folHlink>
          <a:srgbClr val="711C8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毕业答辩尹瑞模板 9">
        <a:dk1>
          <a:srgbClr val="330066"/>
        </a:dk1>
        <a:lt1>
          <a:srgbClr val="D8DADA"/>
        </a:lt1>
        <a:dk2>
          <a:srgbClr val="FFFFFF"/>
        </a:dk2>
        <a:lt2>
          <a:srgbClr val="6B6B6B"/>
        </a:lt2>
        <a:accent1>
          <a:srgbClr val="DF0029"/>
        </a:accent1>
        <a:accent2>
          <a:srgbClr val="DF0029"/>
        </a:accent2>
        <a:accent3>
          <a:srgbClr val="E9EAEA"/>
        </a:accent3>
        <a:accent4>
          <a:srgbClr val="2A0056"/>
        </a:accent4>
        <a:accent5>
          <a:srgbClr val="ECAAAC"/>
        </a:accent5>
        <a:accent6>
          <a:srgbClr val="CA0024"/>
        </a:accent6>
        <a:hlink>
          <a:srgbClr val="135A9A"/>
        </a:hlink>
        <a:folHlink>
          <a:srgbClr val="711C8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RIP协议实验(本科生mooc)</Template>
  <TotalTime>37</TotalTime>
  <Words>1402</Words>
  <Application>Microsoft Office PowerPoint</Application>
  <PresentationFormat>全屏显示(4:3)</PresentationFormat>
  <Paragraphs>174</Paragraphs>
  <Slides>14</Slides>
  <Notes>10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毕业答辩尹瑞模板</vt:lpstr>
      <vt:lpstr>RIP协议基础实验</vt:lpstr>
      <vt:lpstr>关于RIP协议</vt:lpstr>
      <vt:lpstr>RIP如何交换路由信息？</vt:lpstr>
      <vt:lpstr>RIP启动和运行的过程</vt:lpstr>
      <vt:lpstr>RIP管理的路由数据库</vt:lpstr>
      <vt:lpstr>RIP管理的路由数据库</vt:lpstr>
      <vt:lpstr>RIP1协议报文</vt:lpstr>
      <vt:lpstr>RIP1报文结构</vt:lpstr>
      <vt:lpstr>报文分析</vt:lpstr>
      <vt:lpstr>Request报文分析 </vt:lpstr>
      <vt:lpstr>Response报文分析</vt:lpstr>
      <vt:lpstr>RIP1协议基础实验组网图</vt:lpstr>
      <vt:lpstr>RIP1协议配置关键实验步骤说明</vt:lpstr>
      <vt:lpstr>RIP1报文结构分析关键实验步骤说明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RIP协议基础实验</dc:title>
  <dc:creator>jiaofuju</dc:creator>
  <cp:lastModifiedBy>jiaofuju</cp:lastModifiedBy>
  <cp:revision>4</cp:revision>
  <dcterms:created xsi:type="dcterms:W3CDTF">2014-11-06T22:42:50Z</dcterms:created>
  <dcterms:modified xsi:type="dcterms:W3CDTF">2014-11-06T23:20:02Z</dcterms:modified>
</cp:coreProperties>
</file>