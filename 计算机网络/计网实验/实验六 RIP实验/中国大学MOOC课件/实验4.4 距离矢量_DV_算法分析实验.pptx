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0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68EC5-6B8C-4C85-8B67-6F9274EF6553}" type="datetimeFigureOut">
              <a:rPr lang="zh-CN" altLang="en-US" smtClean="0"/>
              <a:t>2014/11/7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C040F-EBF7-4063-A4B7-FBD4AB2B5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068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距离矢量路由协议启动时会初始化路由表，生成其直连路由，并定期传播给相邻的路由器，让其它的路由器知道自己的网络情况。</a:t>
            </a:r>
            <a:endParaRPr lang="en-US" altLang="zh-CN" dirty="0" smtClean="0"/>
          </a:p>
          <a:p>
            <a:r>
              <a:rPr lang="zh-CN" altLang="en-US" dirty="0" smtClean="0"/>
              <a:t>路由器根据从相邻路由器接收到的信息来更新自己的路由表，然后进行矢量叠加后再将路由信息传递到相邻的路由器，这样逐级的上下传递网络的信息以达到全网同步。</a:t>
            </a:r>
            <a:endParaRPr lang="en-US" altLang="zh-CN" dirty="0" smtClean="0"/>
          </a:p>
          <a:p>
            <a:r>
              <a:rPr lang="zh-CN" altLang="en-US" dirty="0" smtClean="0"/>
              <a:t>例如，图中从子网</a:t>
            </a:r>
            <a:r>
              <a:rPr lang="en-US" altLang="zh-CN" dirty="0" smtClean="0"/>
              <a:t>202.112.138.0</a:t>
            </a:r>
            <a:r>
              <a:rPr lang="zh-CN" altLang="en-US" dirty="0" smtClean="0"/>
              <a:t>到子网</a:t>
            </a:r>
            <a:r>
              <a:rPr lang="en-US" altLang="zh-CN" dirty="0" smtClean="0"/>
              <a:t>202.112.130.0</a:t>
            </a:r>
            <a:r>
              <a:rPr lang="zh-CN" altLang="en-US" dirty="0" smtClean="0"/>
              <a:t>需要从路由器</a:t>
            </a:r>
            <a:r>
              <a:rPr lang="en-US" altLang="zh-CN" dirty="0" smtClean="0"/>
              <a:t>A</a:t>
            </a:r>
            <a:r>
              <a:rPr lang="zh-CN" altLang="en-US" dirty="0" smtClean="0"/>
              <a:t>经过路由器</a:t>
            </a:r>
            <a:r>
              <a:rPr lang="en-US" altLang="zh-CN" dirty="0" smtClean="0"/>
              <a:t>B</a:t>
            </a:r>
            <a:r>
              <a:rPr lang="zh-CN" altLang="en-US" dirty="0" smtClean="0"/>
              <a:t>或</a:t>
            </a:r>
            <a:r>
              <a:rPr lang="en-US" altLang="zh-CN" dirty="0" smtClean="0"/>
              <a:t>C</a:t>
            </a:r>
            <a:r>
              <a:rPr lang="zh-CN" altLang="en-US" dirty="0" smtClean="0"/>
              <a:t>到</a:t>
            </a:r>
            <a:r>
              <a:rPr lang="en-US" altLang="zh-CN" dirty="0" smtClean="0"/>
              <a:t>D</a:t>
            </a:r>
            <a:r>
              <a:rPr lang="zh-CN" altLang="en-US" dirty="0" smtClean="0"/>
              <a:t>都是</a:t>
            </a:r>
            <a:r>
              <a:rPr lang="en-US" altLang="zh-CN" dirty="0" smtClean="0"/>
              <a:t>2</a:t>
            </a:r>
            <a:r>
              <a:rPr lang="zh-CN" altLang="en-US" dirty="0" smtClean="0"/>
              <a:t>跳，也可以直接从路由器</a:t>
            </a:r>
            <a:r>
              <a:rPr lang="en-US" altLang="zh-CN" dirty="0" smtClean="0"/>
              <a:t>A</a:t>
            </a:r>
            <a:r>
              <a:rPr lang="zh-CN" altLang="en-US" dirty="0" smtClean="0"/>
              <a:t>到</a:t>
            </a:r>
            <a:r>
              <a:rPr lang="en-US" altLang="zh-CN" dirty="0" smtClean="0"/>
              <a:t>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跳。路由器根据跳数确定路由。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10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n-US" altLang="zh-CN" dirty="0" smtClean="0"/>
              <a:t>RIP</a:t>
            </a:r>
            <a:r>
              <a:rPr lang="zh-CN" altLang="en-US" dirty="0" smtClean="0"/>
              <a:t>通过目的地址、下一跳、跳数描述路由信息。</a:t>
            </a:r>
            <a:endParaRPr lang="en-US" altLang="zh-CN" dirty="0" smtClean="0"/>
          </a:p>
          <a:p>
            <a:r>
              <a:rPr lang="zh-CN" altLang="en-US" dirty="0" smtClean="0"/>
              <a:t>如图，</a:t>
            </a:r>
            <a:endParaRPr lang="en-US" altLang="zh-CN" dirty="0" smtClean="0"/>
          </a:p>
          <a:p>
            <a:r>
              <a:rPr lang="zh-CN" altLang="en-US" dirty="0" smtClean="0"/>
              <a:t>路由器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的路由表中有一条到</a:t>
            </a:r>
            <a:r>
              <a:rPr lang="en-US" altLang="zh-CN" dirty="0" smtClean="0"/>
              <a:t>202.112.130.0</a:t>
            </a:r>
            <a:r>
              <a:rPr lang="zh-CN" altLang="en-US" dirty="0" smtClean="0"/>
              <a:t>这个网段的下一跳是路由器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，跳数是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的表项。</a:t>
            </a:r>
            <a:endParaRPr lang="en-US" altLang="zh-CN" dirty="0" smtClean="0"/>
          </a:p>
          <a:p>
            <a:r>
              <a:rPr lang="zh-CN" altLang="en-US" dirty="0" smtClean="0"/>
              <a:t>同样路由器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的路由表中有一条到</a:t>
            </a:r>
            <a:r>
              <a:rPr lang="en-US" altLang="zh-CN" dirty="0" smtClean="0"/>
              <a:t>202.112.138.0</a:t>
            </a:r>
            <a:r>
              <a:rPr lang="zh-CN" altLang="en-US" dirty="0" smtClean="0"/>
              <a:t>这个网段的下一跳是路由器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，跳数是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的表项。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840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如图，路由器</a:t>
            </a:r>
            <a:r>
              <a:rPr lang="en-US" altLang="zh-CN" dirty="0" smtClean="0"/>
              <a:t>RB</a:t>
            </a:r>
            <a:r>
              <a:rPr lang="zh-CN" altLang="en-US" dirty="0" smtClean="0"/>
              <a:t>收到一条路由信息（</a:t>
            </a:r>
            <a:r>
              <a:rPr lang="en-US" altLang="zh-CN" dirty="0" smtClean="0"/>
              <a:t>1.0.0.0,s0,0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表明到</a:t>
            </a:r>
            <a:r>
              <a:rPr lang="en-US" altLang="zh-CN" dirty="0" smtClean="0"/>
              <a:t>1.0.0.0</a:t>
            </a:r>
            <a:r>
              <a:rPr lang="zh-CN" altLang="en-US" dirty="0" smtClean="0"/>
              <a:t>这个网段的数据包要送到</a:t>
            </a:r>
            <a:r>
              <a:rPr lang="en-US" altLang="zh-CN" dirty="0" smtClean="0"/>
              <a:t>RA</a:t>
            </a:r>
            <a:r>
              <a:rPr lang="zh-CN" altLang="en-US" dirty="0" smtClean="0"/>
              <a:t>，跳数为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RB</a:t>
            </a:r>
            <a:r>
              <a:rPr lang="zh-CN" altLang="en-US" dirty="0" smtClean="0"/>
              <a:t>查询自己的路由表，发现没有此路由表项，将跳数加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变为（</a:t>
            </a:r>
            <a:r>
              <a:rPr lang="en-US" altLang="zh-CN" dirty="0" smtClean="0"/>
              <a:t>1.0.0.0,s0,1</a:t>
            </a:r>
            <a:r>
              <a:rPr lang="zh-CN" altLang="en-US" dirty="0" smtClean="0"/>
              <a:t>）后，发给相邻路由器。</a:t>
            </a:r>
            <a:endParaRPr lang="en-US" altLang="zh-CN" dirty="0" smtClean="0"/>
          </a:p>
          <a:p>
            <a:r>
              <a:rPr lang="en-US" altLang="zh-CN" dirty="0" smtClean="0"/>
              <a:t>RC</a:t>
            </a:r>
            <a:r>
              <a:rPr lang="zh-CN" altLang="en-US" dirty="0" smtClean="0"/>
              <a:t>收到此条更新信息后，发现没有到</a:t>
            </a:r>
            <a:r>
              <a:rPr lang="en-US" altLang="zh-CN" dirty="0" smtClean="0"/>
              <a:t>1.0.0.0</a:t>
            </a:r>
            <a:r>
              <a:rPr lang="zh-CN" altLang="en-US" dirty="0" smtClean="0"/>
              <a:t>的路由，将跳数加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变为（</a:t>
            </a:r>
            <a:r>
              <a:rPr lang="en-US" altLang="zh-CN" dirty="0" smtClean="0"/>
              <a:t>1.0.0.0,s0,2</a:t>
            </a:r>
            <a:r>
              <a:rPr lang="zh-CN" altLang="en-US" dirty="0" smtClean="0"/>
              <a:t>）写入自己的路由表，然后再传递给相邻路由器。</a:t>
            </a:r>
            <a:endParaRPr lang="en-US" altLang="zh-CN" dirty="0" smtClean="0"/>
          </a:p>
          <a:p>
            <a:r>
              <a:rPr lang="zh-CN" altLang="en-US" dirty="0" smtClean="0"/>
              <a:t>若干次更新后，每个路由器都知道了网络的情况，达到平衡。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019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H="1">
            <a:off x="1143000" y="2422525"/>
            <a:ext cx="800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009775" y="2425700"/>
            <a:ext cx="0" cy="27463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7938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7451725" cy="5492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468313" y="28527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0" y="4149725"/>
            <a:ext cx="755650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7596188" y="188913"/>
            <a:ext cx="1338262" cy="2189162"/>
            <a:chOff x="4704" y="1885"/>
            <a:chExt cx="843" cy="1379"/>
          </a:xfrm>
        </p:grpSpPr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7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8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2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3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7451725" y="0"/>
            <a:ext cx="0" cy="54451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692150"/>
            <a:ext cx="7696200" cy="1524000"/>
          </a:xfrm>
        </p:spPr>
        <p:txBody>
          <a:bodyPr lIns="91440" tIns="0" bIns="0" anchor="b"/>
          <a:lstStyle>
            <a:lvl1pPr>
              <a:lnSpc>
                <a:spcPct val="85000"/>
              </a:lnSpc>
              <a:defRPr sz="54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128467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2841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810823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882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758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4985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20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5995394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8086239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1835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9563" y="417513"/>
            <a:ext cx="2016125" cy="59642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417513"/>
            <a:ext cx="5895975" cy="59642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9975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11188" y="1484313"/>
            <a:ext cx="8064500" cy="4897437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1550948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3820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417513"/>
            <a:ext cx="8064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主标题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645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 </a:t>
            </a:r>
            <a:r>
              <a:rPr lang="zh-CN" altLang="en-US" smtClean="0"/>
              <a:t>主文本标题</a:t>
            </a:r>
          </a:p>
          <a:p>
            <a:pPr lvl="1"/>
            <a:r>
              <a:rPr lang="zh-CN" altLang="en-US" smtClean="0"/>
              <a:t>二级标题</a:t>
            </a:r>
            <a:endParaRPr lang="en-US" altLang="en-US" smtClean="0"/>
          </a:p>
          <a:p>
            <a:pPr lvl="2"/>
            <a:r>
              <a:rPr lang="zh-CN" altLang="en-US" smtClean="0"/>
              <a:t>三级标题</a:t>
            </a:r>
            <a:endParaRPr lang="en-US" altLang="en-US" smtClean="0"/>
          </a:p>
          <a:p>
            <a:pPr lvl="3"/>
            <a:r>
              <a:rPr lang="zh-CN" altLang="en-US" smtClean="0"/>
              <a:t>四级标题</a:t>
            </a:r>
            <a:endParaRPr lang="en-US" altLang="en-US" smtClean="0"/>
          </a:p>
          <a:p>
            <a:pPr lvl="4"/>
            <a:r>
              <a:rPr lang="zh-CN" altLang="en-US" smtClean="0"/>
              <a:t>五级标题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7380288" cy="3333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8532813" y="6524625"/>
            <a:ext cx="576262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fld id="{8FECF948-4B9C-4C1F-AD3C-BBA043649D44}" type="slidenum">
              <a:rPr lang="en-US" altLang="zh-CN" sz="1400" b="0" smtClean="0">
                <a:solidFill>
                  <a:srgbClr val="000099"/>
                </a:solidFill>
                <a:latin typeface="Arial" charset="0"/>
                <a:ea typeface="宋体" pitchFamily="2" charset="-122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altLang="zh-CN" sz="1400" b="0" smtClean="0">
              <a:solidFill>
                <a:srgbClr val="000099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 flipV="1">
            <a:off x="611188" y="11255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484438" y="0"/>
            <a:ext cx="217487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p"/>
        <a:defRPr sz="3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–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79512" y="1340768"/>
            <a:ext cx="7696200" cy="1524000"/>
          </a:xfrm>
        </p:spPr>
        <p:txBody>
          <a:bodyPr/>
          <a:lstStyle/>
          <a:p>
            <a:r>
              <a:rPr lang="zh-CN" altLang="en-US" sz="4400" dirty="0" smtClean="0">
                <a:solidFill>
                  <a:srgbClr val="C00000"/>
                </a:solidFill>
              </a:rPr>
              <a:t>距离矢量</a:t>
            </a:r>
            <a:r>
              <a:rPr lang="en-US" altLang="zh-CN" sz="4400" dirty="0" smtClean="0">
                <a:solidFill>
                  <a:srgbClr val="C00000"/>
                </a:solidFill>
              </a:rPr>
              <a:t>(DV)</a:t>
            </a:r>
            <a:r>
              <a:rPr lang="zh-CN" altLang="en-US" sz="4400" dirty="0" smtClean="0">
                <a:solidFill>
                  <a:srgbClr val="C00000"/>
                </a:solidFill>
              </a:rPr>
              <a:t>算法分析实验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29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 smtClean="0">
                <a:ea typeface="宋体" pitchFamily="2" charset="-122"/>
              </a:rPr>
              <a:t>距离矢量（</a:t>
            </a:r>
            <a:r>
              <a:rPr lang="en-US" altLang="zh-CN" sz="4000" dirty="0" smtClean="0">
                <a:ea typeface="宋体" pitchFamily="2" charset="-122"/>
              </a:rPr>
              <a:t>DV</a:t>
            </a:r>
            <a:r>
              <a:rPr lang="zh-CN" altLang="en-US" sz="4000" dirty="0" smtClean="0">
                <a:ea typeface="宋体" pitchFamily="2" charset="-122"/>
              </a:rPr>
              <a:t>）算法原理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15616" y="1340768"/>
            <a:ext cx="7272808" cy="682873"/>
          </a:xfrm>
        </p:spPr>
        <p:txBody>
          <a:bodyPr/>
          <a:lstStyle/>
          <a:p>
            <a:pPr lvl="1" eaLnBrk="1" hangingPunct="1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altLang="zh-CN" dirty="0" smtClean="0"/>
              <a:t>DV</a:t>
            </a:r>
            <a:r>
              <a:rPr lang="zh-CN" altLang="en-US" dirty="0" smtClean="0"/>
              <a:t>算法根据跳数确定路由</a:t>
            </a:r>
          </a:p>
        </p:txBody>
      </p:sp>
      <p:pic>
        <p:nvPicPr>
          <p:cNvPr id="26628" name="Picture 4" descr="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6" y="3050381"/>
            <a:ext cx="12239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 descr="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4" y="4634706"/>
            <a:ext cx="12239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 descr="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186" y="4656931"/>
            <a:ext cx="12239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 descr="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1" y="3050381"/>
            <a:ext cx="12239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2559049" y="2813844"/>
            <a:ext cx="647700" cy="360362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flipH="1" flipV="1">
            <a:off x="4087811" y="3610769"/>
            <a:ext cx="1655763" cy="1081087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 flipH="1" flipV="1">
            <a:off x="6343649" y="5195094"/>
            <a:ext cx="1223962" cy="1079500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 flipV="1">
            <a:off x="4356099" y="3337719"/>
            <a:ext cx="1081087" cy="0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flipV="1">
            <a:off x="4283074" y="4920456"/>
            <a:ext cx="1223962" cy="1588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744911" y="3626644"/>
            <a:ext cx="0" cy="1008062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5976936" y="3625056"/>
            <a:ext cx="34925" cy="1047750"/>
          </a:xfrm>
          <a:prstGeom prst="line">
            <a:avLst/>
          </a:prstGeom>
          <a:noFill/>
          <a:ln w="38100">
            <a:solidFill>
              <a:srgbClr val="E7B70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431799" y="2186755"/>
            <a:ext cx="26638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dirty="0">
                <a:latin typeface="Arial" charset="0"/>
                <a:ea typeface="宋体" pitchFamily="2" charset="-122"/>
              </a:rPr>
              <a:t>子网：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 dirty="0">
                <a:latin typeface="Arial" charset="0"/>
                <a:ea typeface="宋体" pitchFamily="2" charset="-122"/>
              </a:rPr>
              <a:t>202.112.138.0/24</a:t>
            </a: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6955630" y="5307107"/>
            <a:ext cx="26638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dirty="0">
                <a:latin typeface="Arial" charset="0"/>
                <a:ea typeface="宋体" pitchFamily="2" charset="-122"/>
              </a:rPr>
              <a:t>子网：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 dirty="0">
                <a:latin typeface="Arial" charset="0"/>
                <a:ea typeface="宋体" pitchFamily="2" charset="-122"/>
              </a:rPr>
              <a:t>202.112.130.0/24</a:t>
            </a:r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3671886" y="3625056"/>
            <a:ext cx="503238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宋体" pitchFamily="2" charset="-122"/>
              </a:rPr>
              <a:t>A</a:t>
            </a:r>
          </a:p>
        </p:txBody>
      </p:sp>
      <p:sp>
        <p:nvSpPr>
          <p:cNvPr id="26642" name="Rectangle 18"/>
          <p:cNvSpPr>
            <a:spLocks noChangeArrowheads="1"/>
          </p:cNvSpPr>
          <p:nvPr/>
        </p:nvSpPr>
        <p:spPr bwMode="auto">
          <a:xfrm>
            <a:off x="6048374" y="3553619"/>
            <a:ext cx="50323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宋体" pitchFamily="2" charset="-122"/>
              </a:rPr>
              <a:t>B</a:t>
            </a:r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3529011" y="5209381"/>
            <a:ext cx="503238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宋体" pitchFamily="2" charset="-122"/>
              </a:rPr>
              <a:t>C</a:t>
            </a:r>
          </a:p>
        </p:txBody>
      </p:sp>
      <p:sp>
        <p:nvSpPr>
          <p:cNvPr id="26644" name="Rectangle 20"/>
          <p:cNvSpPr>
            <a:spLocks noChangeArrowheads="1"/>
          </p:cNvSpPr>
          <p:nvPr/>
        </p:nvSpPr>
        <p:spPr bwMode="auto">
          <a:xfrm>
            <a:off x="5832474" y="5136356"/>
            <a:ext cx="503237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宋体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60262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0" dirty="0" smtClean="0"/>
              <a:t>距离矢量</a:t>
            </a:r>
            <a:r>
              <a:rPr lang="en-US" altLang="zh-CN" sz="4000" b="0" dirty="0" smtClean="0"/>
              <a:t>(DV)</a:t>
            </a:r>
            <a:r>
              <a:rPr lang="zh-CN" altLang="en-US" sz="4000" b="0" dirty="0" smtClean="0"/>
              <a:t>对网络的描述</a:t>
            </a:r>
            <a:endParaRPr lang="zh-CN" altLang="en-US" sz="4000" b="0" dirty="0"/>
          </a:p>
        </p:txBody>
      </p:sp>
      <p:graphicFrame>
        <p:nvGraphicFramePr>
          <p:cNvPr id="17442" name="Group 3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111454"/>
              </p:ext>
            </p:extLst>
          </p:nvPr>
        </p:nvGraphicFramePr>
        <p:xfrm>
          <a:off x="722461" y="4437112"/>
          <a:ext cx="8064500" cy="1173375"/>
        </p:xfrm>
        <a:graphic>
          <a:graphicData uri="http://schemas.openxmlformats.org/drawingml/2006/table">
            <a:tbl>
              <a:tblPr/>
              <a:tblGrid>
                <a:gridCol w="3616248"/>
                <a:gridCol w="2224126"/>
                <a:gridCol w="2224126"/>
              </a:tblGrid>
              <a:tr h="517852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目的地址</a:t>
                      </a:r>
                    </a:p>
                  </a:txBody>
                  <a:tcPr marL="117748" marR="117748"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下一跳</a:t>
                      </a:r>
                    </a:p>
                  </a:txBody>
                  <a:tcPr marL="117748" marR="117748"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跳数</a:t>
                      </a:r>
                    </a:p>
                  </a:txBody>
                  <a:tcPr marL="117748" marR="117748"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31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202.112.130.0</a:t>
                      </a:r>
                      <a:endParaRPr kumimoji="0" lang="en-US" altLang="zh-CN" sz="3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17748" marR="117748"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117748" marR="117748"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17748" marR="117748"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755650" y="2976563"/>
            <a:ext cx="26638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>
                <a:latin typeface="Arial" charset="0"/>
                <a:ea typeface="宋体" pitchFamily="2" charset="-122"/>
              </a:rPr>
              <a:t>子网：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宋体" pitchFamily="2" charset="-122"/>
              </a:rPr>
              <a:t>202.112.138.0/24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6157913" y="3009901"/>
            <a:ext cx="26638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dirty="0">
                <a:latin typeface="Arial" charset="0"/>
                <a:ea typeface="宋体" pitchFamily="2" charset="-122"/>
              </a:rPr>
              <a:t>子网：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en-US" altLang="zh-CN" dirty="0">
                <a:latin typeface="Arial" charset="0"/>
                <a:ea typeface="宋体" pitchFamily="2" charset="-122"/>
              </a:rPr>
              <a:t>202.112.130.0/24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403648" y="1603376"/>
            <a:ext cx="5976937" cy="1514475"/>
            <a:chOff x="1116013" y="1530351"/>
            <a:chExt cx="5976937" cy="1514475"/>
          </a:xfrm>
        </p:grpSpPr>
        <p:pic>
          <p:nvPicPr>
            <p:cNvPr id="27651" name="Picture 3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513" y="1530351"/>
              <a:ext cx="1223962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 flipV="1">
              <a:off x="1116013" y="1963738"/>
              <a:ext cx="1152525" cy="107950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7653" name="Picture 5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3138" y="1603376"/>
              <a:ext cx="1223962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H="1" flipV="1">
              <a:off x="6011863" y="1963738"/>
              <a:ext cx="1081087" cy="1081088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 flipH="1" flipV="1">
              <a:off x="3419475" y="1892301"/>
              <a:ext cx="1439863" cy="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2555875" y="2108201"/>
              <a:ext cx="503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5219700" y="2179638"/>
              <a:ext cx="503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B</a:t>
              </a:r>
            </a:p>
          </p:txBody>
        </p:sp>
      </p:grpSp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3390106" y="5767388"/>
            <a:ext cx="3097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 algn="l"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dirty="0">
                <a:latin typeface="Arial" charset="0"/>
                <a:ea typeface="宋体" pitchFamily="2" charset="-122"/>
              </a:rPr>
              <a:t>路由器</a:t>
            </a:r>
            <a:r>
              <a:rPr lang="en-US" altLang="zh-CN" dirty="0">
                <a:latin typeface="Arial" charset="0"/>
                <a:ea typeface="宋体" pitchFamily="2" charset="-122"/>
              </a:rPr>
              <a:t>A</a:t>
            </a:r>
            <a:r>
              <a:rPr lang="zh-CN" altLang="en-US" dirty="0">
                <a:latin typeface="Arial" charset="0"/>
                <a:ea typeface="宋体" pitchFamily="2" charset="-122"/>
              </a:rPr>
              <a:t>的路由表</a:t>
            </a:r>
          </a:p>
        </p:txBody>
      </p:sp>
    </p:spTree>
    <p:extLst>
      <p:ext uri="{BB962C8B-B14F-4D97-AF65-F5344CB8AC3E}">
        <p14:creationId xmlns:p14="http://schemas.microsoft.com/office/powerpoint/2010/main" val="309809051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70" y="476672"/>
            <a:ext cx="8712968" cy="923925"/>
          </a:xfrm>
        </p:spPr>
        <p:txBody>
          <a:bodyPr>
            <a:normAutofit fontScale="90000"/>
          </a:bodyPr>
          <a:lstStyle/>
          <a:p>
            <a:r>
              <a:rPr lang="zh-CN" altLang="en-US" sz="3600" dirty="0"/>
              <a:t>路由器收到一条</a:t>
            </a:r>
            <a:r>
              <a:rPr lang="en-US" altLang="zh-CN" sz="3600" dirty="0"/>
              <a:t>Rip</a:t>
            </a:r>
            <a:r>
              <a:rPr lang="zh-CN" altLang="en-US" sz="3600" dirty="0"/>
              <a:t>选路信息后的计算</a:t>
            </a:r>
            <a:r>
              <a:rPr lang="zh-CN" altLang="en-US" sz="3600" dirty="0" smtClean="0"/>
              <a:t>过程</a:t>
            </a:r>
            <a:r>
              <a:rPr lang="en-US" altLang="zh-CN" sz="3600" dirty="0"/>
              <a:t/>
            </a:r>
            <a:br>
              <a:rPr lang="en-US" altLang="zh-CN" sz="3600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84313"/>
            <a:ext cx="8892480" cy="51130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 smtClean="0"/>
              <a:t>       每个当</a:t>
            </a:r>
            <a:r>
              <a:rPr lang="zh-CN" altLang="en-US" sz="2800" dirty="0"/>
              <a:t>路由器收到相邻路由器</a:t>
            </a:r>
            <a:r>
              <a:rPr lang="en-US" altLang="zh-CN" sz="2800" dirty="0"/>
              <a:t>R</a:t>
            </a:r>
            <a:r>
              <a:rPr lang="zh-CN" altLang="en-US" sz="2800" dirty="0"/>
              <a:t>发来的一个跳数为</a:t>
            </a:r>
            <a:r>
              <a:rPr lang="en-US" altLang="zh-CN" sz="2800" dirty="0"/>
              <a:t>M</a:t>
            </a:r>
            <a:r>
              <a:rPr lang="zh-CN" altLang="en-US" sz="2800" dirty="0"/>
              <a:t>、目的地址为</a:t>
            </a:r>
            <a:r>
              <a:rPr lang="en-US" altLang="zh-CN" sz="2800" dirty="0"/>
              <a:t>D</a:t>
            </a:r>
            <a:r>
              <a:rPr lang="zh-CN" altLang="en-US" sz="2800" dirty="0"/>
              <a:t>的更新消息时，会将收到的路由信息与自己的路由表进行比较，</a:t>
            </a:r>
            <a:r>
              <a:rPr lang="zh-CN" altLang="en-US" sz="2800" dirty="0" smtClean="0"/>
              <a:t>如果</a:t>
            </a:r>
            <a:endParaRPr lang="en-US" altLang="zh-CN" sz="2800" dirty="0" smtClean="0"/>
          </a:p>
          <a:p>
            <a:pPr marL="449263" indent="-449263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 smtClean="0"/>
              <a:t>没有</a:t>
            </a:r>
            <a:r>
              <a:rPr lang="zh-CN" altLang="en-US" sz="2400" dirty="0"/>
              <a:t>到</a:t>
            </a:r>
            <a:r>
              <a:rPr lang="en-US" altLang="zh-CN" sz="2400" dirty="0"/>
              <a:t>D</a:t>
            </a:r>
            <a:r>
              <a:rPr lang="zh-CN" altLang="en-US" sz="2400" dirty="0"/>
              <a:t>这个网段的路由表项存在，则生成路由表项（</a:t>
            </a: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M+1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zh-CN" altLang="en-US" sz="2400" dirty="0"/>
              <a:t>），其中跳数为</a:t>
            </a:r>
            <a:r>
              <a:rPr lang="en-US" altLang="zh-CN" sz="2400" dirty="0"/>
              <a:t>M+1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449263" indent="-449263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/>
              <a:t>否则，如果已存在（</a:t>
            </a:r>
            <a:r>
              <a:rPr lang="en-US" altLang="zh-CN" sz="2400" dirty="0"/>
              <a:t>D</a:t>
            </a:r>
            <a:r>
              <a:rPr lang="zh-CN" altLang="en-US" sz="2400" dirty="0"/>
              <a:t>，*，</a:t>
            </a:r>
            <a:r>
              <a:rPr lang="en-US" altLang="zh-CN" sz="2400" dirty="0"/>
              <a:t>R</a:t>
            </a:r>
            <a:r>
              <a:rPr lang="zh-CN" altLang="en-US" sz="2400" dirty="0"/>
              <a:t>）的路由表项，则更新为（</a:t>
            </a: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M+1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zh-CN" altLang="en-US" sz="2400" dirty="0"/>
              <a:t>）；</a:t>
            </a:r>
            <a:endParaRPr lang="en-US" altLang="zh-CN" sz="2400" dirty="0"/>
          </a:p>
          <a:p>
            <a:pPr marL="449263" indent="-449263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/>
              <a:t>否则，如果已存在到</a:t>
            </a:r>
            <a:r>
              <a:rPr lang="en-US" altLang="zh-CN" sz="2400" dirty="0"/>
              <a:t>D</a:t>
            </a:r>
            <a:r>
              <a:rPr lang="zh-CN" altLang="en-US" sz="2400" dirty="0"/>
              <a:t>的跳数大于</a:t>
            </a:r>
            <a:r>
              <a:rPr lang="en-US" altLang="zh-CN" sz="2400" dirty="0"/>
              <a:t>M+1</a:t>
            </a:r>
            <a:r>
              <a:rPr lang="zh-CN" altLang="en-US" sz="2400" dirty="0"/>
              <a:t>，则更新为（</a:t>
            </a:r>
            <a:r>
              <a:rPr lang="en-US" altLang="zh-CN" sz="2400" dirty="0"/>
              <a:t>D</a:t>
            </a:r>
            <a:r>
              <a:rPr lang="zh-CN" altLang="en-US" sz="2400" dirty="0"/>
              <a:t>、</a:t>
            </a:r>
            <a:r>
              <a:rPr lang="en-US" altLang="zh-CN" sz="2400" dirty="0"/>
              <a:t>M+1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zh-CN" altLang="en-US" sz="2400" dirty="0"/>
              <a:t>）；</a:t>
            </a:r>
            <a:endParaRPr lang="en-US" altLang="zh-CN" sz="2400" dirty="0"/>
          </a:p>
          <a:p>
            <a:pPr marL="449263" indent="-449263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/>
              <a:t>否则，不更新。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7452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3200" dirty="0" smtClean="0">
                <a:latin typeface="宋体" pitchFamily="2" charset="-122"/>
              </a:rPr>
              <a:t>RIP</a:t>
            </a:r>
            <a:r>
              <a:rPr lang="zh-CN" altLang="en-US" sz="3200" dirty="0" smtClean="0">
                <a:latin typeface="宋体" pitchFamily="2" charset="-122"/>
              </a:rPr>
              <a:t>协议中根据</a:t>
            </a:r>
            <a:r>
              <a:rPr lang="en-US" altLang="zh-CN" sz="3200" dirty="0" smtClean="0">
                <a:latin typeface="宋体" pitchFamily="2" charset="-122"/>
              </a:rPr>
              <a:t>DV</a:t>
            </a:r>
            <a:r>
              <a:rPr lang="zh-CN" altLang="en-US" sz="3200" dirty="0" smtClean="0">
                <a:latin typeface="宋体" pitchFamily="2" charset="-122"/>
              </a:rPr>
              <a:t>算法计算路由信息的过程</a:t>
            </a:r>
            <a:endParaRPr lang="en-US" altLang="zh-CN" sz="3200" dirty="0">
              <a:latin typeface="宋体" pitchFamily="2" charset="-122"/>
            </a:endParaRPr>
          </a:p>
        </p:txBody>
      </p:sp>
      <p:grpSp>
        <p:nvGrpSpPr>
          <p:cNvPr id="28675" name="Group 134"/>
          <p:cNvGrpSpPr>
            <a:grpSpLocks/>
          </p:cNvGrpSpPr>
          <p:nvPr/>
        </p:nvGrpSpPr>
        <p:grpSpPr bwMode="auto">
          <a:xfrm>
            <a:off x="6677025" y="3074194"/>
            <a:ext cx="1981200" cy="2362200"/>
            <a:chOff x="288" y="2112"/>
            <a:chExt cx="1248" cy="1488"/>
          </a:xfrm>
        </p:grpSpPr>
        <p:sp>
          <p:nvSpPr>
            <p:cNvPr id="28799" name="Rectangle 135"/>
            <p:cNvSpPr>
              <a:spLocks noChangeArrowheads="1"/>
            </p:cNvSpPr>
            <p:nvPr/>
          </p:nvSpPr>
          <p:spPr bwMode="auto">
            <a:xfrm>
              <a:off x="288" y="2112"/>
              <a:ext cx="1248" cy="14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rgbClr val="FF00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0" name="Line 136"/>
            <p:cNvSpPr>
              <a:spLocks noChangeShapeType="1"/>
            </p:cNvSpPr>
            <p:nvPr/>
          </p:nvSpPr>
          <p:spPr bwMode="auto">
            <a:xfrm>
              <a:off x="288" y="240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1" name="Line 137"/>
            <p:cNvSpPr>
              <a:spLocks noChangeShapeType="1"/>
            </p:cNvSpPr>
            <p:nvPr/>
          </p:nvSpPr>
          <p:spPr bwMode="auto">
            <a:xfrm>
              <a:off x="288" y="264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2" name="Line 138"/>
            <p:cNvSpPr>
              <a:spLocks noChangeShapeType="1"/>
            </p:cNvSpPr>
            <p:nvPr/>
          </p:nvSpPr>
          <p:spPr bwMode="auto">
            <a:xfrm>
              <a:off x="288" y="2976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3" name="Line 139"/>
            <p:cNvSpPr>
              <a:spLocks noChangeShapeType="1"/>
            </p:cNvSpPr>
            <p:nvPr/>
          </p:nvSpPr>
          <p:spPr bwMode="auto">
            <a:xfrm>
              <a:off x="288" y="3264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4" name="Line 140"/>
            <p:cNvSpPr>
              <a:spLocks noChangeShapeType="1"/>
            </p:cNvSpPr>
            <p:nvPr/>
          </p:nvSpPr>
          <p:spPr bwMode="auto">
            <a:xfrm>
              <a:off x="864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05" name="Line 141"/>
            <p:cNvSpPr>
              <a:spLocks noChangeShapeType="1"/>
            </p:cNvSpPr>
            <p:nvPr/>
          </p:nvSpPr>
          <p:spPr bwMode="auto">
            <a:xfrm>
              <a:off x="1200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676" name="Group 142"/>
          <p:cNvGrpSpPr>
            <a:grpSpLocks/>
          </p:cNvGrpSpPr>
          <p:nvPr/>
        </p:nvGrpSpPr>
        <p:grpSpPr bwMode="auto">
          <a:xfrm>
            <a:off x="504825" y="3150394"/>
            <a:ext cx="1981200" cy="2362200"/>
            <a:chOff x="288" y="2112"/>
            <a:chExt cx="1248" cy="1488"/>
          </a:xfrm>
        </p:grpSpPr>
        <p:sp>
          <p:nvSpPr>
            <p:cNvPr id="28792" name="Rectangle 143"/>
            <p:cNvSpPr>
              <a:spLocks noChangeArrowheads="1"/>
            </p:cNvSpPr>
            <p:nvPr/>
          </p:nvSpPr>
          <p:spPr bwMode="auto">
            <a:xfrm>
              <a:off x="288" y="2112"/>
              <a:ext cx="1248" cy="14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rgbClr val="FF00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3" name="Line 144"/>
            <p:cNvSpPr>
              <a:spLocks noChangeShapeType="1"/>
            </p:cNvSpPr>
            <p:nvPr/>
          </p:nvSpPr>
          <p:spPr bwMode="auto">
            <a:xfrm>
              <a:off x="288" y="240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4" name="Line 145"/>
            <p:cNvSpPr>
              <a:spLocks noChangeShapeType="1"/>
            </p:cNvSpPr>
            <p:nvPr/>
          </p:nvSpPr>
          <p:spPr bwMode="auto">
            <a:xfrm>
              <a:off x="288" y="264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5" name="Line 146"/>
            <p:cNvSpPr>
              <a:spLocks noChangeShapeType="1"/>
            </p:cNvSpPr>
            <p:nvPr/>
          </p:nvSpPr>
          <p:spPr bwMode="auto">
            <a:xfrm>
              <a:off x="288" y="2976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6" name="Line 147"/>
            <p:cNvSpPr>
              <a:spLocks noChangeShapeType="1"/>
            </p:cNvSpPr>
            <p:nvPr/>
          </p:nvSpPr>
          <p:spPr bwMode="auto">
            <a:xfrm>
              <a:off x="288" y="3264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7" name="Line 148"/>
            <p:cNvSpPr>
              <a:spLocks noChangeShapeType="1"/>
            </p:cNvSpPr>
            <p:nvPr/>
          </p:nvSpPr>
          <p:spPr bwMode="auto">
            <a:xfrm>
              <a:off x="864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8" name="Line 149"/>
            <p:cNvSpPr>
              <a:spLocks noChangeShapeType="1"/>
            </p:cNvSpPr>
            <p:nvPr/>
          </p:nvSpPr>
          <p:spPr bwMode="auto">
            <a:xfrm>
              <a:off x="1200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677" name="Group 150"/>
          <p:cNvGrpSpPr>
            <a:grpSpLocks/>
          </p:cNvGrpSpPr>
          <p:nvPr/>
        </p:nvGrpSpPr>
        <p:grpSpPr bwMode="auto">
          <a:xfrm>
            <a:off x="3629025" y="3150394"/>
            <a:ext cx="1981200" cy="2362200"/>
            <a:chOff x="288" y="2112"/>
            <a:chExt cx="1248" cy="1488"/>
          </a:xfrm>
        </p:grpSpPr>
        <p:sp>
          <p:nvSpPr>
            <p:cNvPr id="28785" name="Rectangle 151"/>
            <p:cNvSpPr>
              <a:spLocks noChangeArrowheads="1"/>
            </p:cNvSpPr>
            <p:nvPr/>
          </p:nvSpPr>
          <p:spPr bwMode="auto">
            <a:xfrm>
              <a:off x="288" y="2112"/>
              <a:ext cx="1248" cy="14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rgbClr val="FF00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86" name="Line 152"/>
            <p:cNvSpPr>
              <a:spLocks noChangeShapeType="1"/>
            </p:cNvSpPr>
            <p:nvPr/>
          </p:nvSpPr>
          <p:spPr bwMode="auto">
            <a:xfrm>
              <a:off x="288" y="240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87" name="Line 153"/>
            <p:cNvSpPr>
              <a:spLocks noChangeShapeType="1"/>
            </p:cNvSpPr>
            <p:nvPr/>
          </p:nvSpPr>
          <p:spPr bwMode="auto">
            <a:xfrm>
              <a:off x="288" y="2640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88" name="Line 154"/>
            <p:cNvSpPr>
              <a:spLocks noChangeShapeType="1"/>
            </p:cNvSpPr>
            <p:nvPr/>
          </p:nvSpPr>
          <p:spPr bwMode="auto">
            <a:xfrm>
              <a:off x="288" y="2976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89" name="Line 155"/>
            <p:cNvSpPr>
              <a:spLocks noChangeShapeType="1"/>
            </p:cNvSpPr>
            <p:nvPr/>
          </p:nvSpPr>
          <p:spPr bwMode="auto">
            <a:xfrm>
              <a:off x="288" y="3264"/>
              <a:ext cx="1248" cy="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0" name="Line 156"/>
            <p:cNvSpPr>
              <a:spLocks noChangeShapeType="1"/>
            </p:cNvSpPr>
            <p:nvPr/>
          </p:nvSpPr>
          <p:spPr bwMode="auto">
            <a:xfrm>
              <a:off x="864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91" name="Line 157"/>
            <p:cNvSpPr>
              <a:spLocks noChangeShapeType="1"/>
            </p:cNvSpPr>
            <p:nvPr/>
          </p:nvSpPr>
          <p:spPr bwMode="auto">
            <a:xfrm>
              <a:off x="1200" y="2400"/>
              <a:ext cx="0" cy="1200"/>
            </a:xfrm>
            <a:prstGeom prst="line">
              <a:avLst/>
            </a:prstGeom>
            <a:noFill/>
            <a:ln w="31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678" name="Text Box 158"/>
          <p:cNvSpPr txBox="1">
            <a:spLocks noChangeArrowheads="1"/>
          </p:cNvSpPr>
          <p:nvPr/>
        </p:nvSpPr>
        <p:spPr bwMode="auto">
          <a:xfrm>
            <a:off x="581025" y="3074194"/>
            <a:ext cx="19812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zh-CN" altLang="en-US" sz="1600" dirty="0"/>
              <a:t>路由表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0C0018"/>
                </a:solidFill>
              </a:rPr>
              <a:t>1.0.0.0	S1     0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0C0018"/>
                </a:solidFill>
              </a:rPr>
              <a:t>2.0.0.0	S0     0</a:t>
            </a:r>
          </a:p>
        </p:txBody>
      </p:sp>
      <p:sp>
        <p:nvSpPr>
          <p:cNvPr id="28679" name="Text Box 159"/>
          <p:cNvSpPr txBox="1">
            <a:spLocks noChangeArrowheads="1"/>
          </p:cNvSpPr>
          <p:nvPr/>
        </p:nvSpPr>
        <p:spPr bwMode="auto">
          <a:xfrm>
            <a:off x="3705225" y="3074194"/>
            <a:ext cx="20574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zh-CN" altLang="en-US" sz="1600"/>
              <a:t>路由表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0C0018"/>
                </a:solidFill>
              </a:rPr>
              <a:t>2.0.0.0	S0     0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0C0018"/>
                </a:solidFill>
              </a:rPr>
              <a:t>3.0.0.0	S1     0</a:t>
            </a:r>
          </a:p>
        </p:txBody>
      </p:sp>
      <p:sp>
        <p:nvSpPr>
          <p:cNvPr id="28680" name="Text Box 160"/>
          <p:cNvSpPr txBox="1">
            <a:spLocks noChangeArrowheads="1"/>
          </p:cNvSpPr>
          <p:nvPr/>
        </p:nvSpPr>
        <p:spPr bwMode="auto">
          <a:xfrm>
            <a:off x="6829425" y="2997994"/>
            <a:ext cx="18288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zh-CN" altLang="en-US" sz="1600"/>
              <a:t>路由表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0C0018"/>
                </a:solidFill>
              </a:rPr>
              <a:t>3.0.0.0	S1     0</a:t>
            </a:r>
          </a:p>
          <a:p>
            <a:pPr algn="l"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0C0018"/>
                </a:solidFill>
              </a:rPr>
              <a:t>4.0.0.0	S0     0</a:t>
            </a:r>
          </a:p>
        </p:txBody>
      </p:sp>
      <p:grpSp>
        <p:nvGrpSpPr>
          <p:cNvPr id="28681" name="Group 161"/>
          <p:cNvGrpSpPr>
            <a:grpSpLocks/>
          </p:cNvGrpSpPr>
          <p:nvPr/>
        </p:nvGrpSpPr>
        <p:grpSpPr bwMode="auto">
          <a:xfrm>
            <a:off x="1306512" y="2059782"/>
            <a:ext cx="823913" cy="558800"/>
            <a:chOff x="1217" y="1366"/>
            <a:chExt cx="519" cy="352"/>
          </a:xfrm>
        </p:grpSpPr>
        <p:grpSp>
          <p:nvGrpSpPr>
            <p:cNvPr id="28761" name="Group 162"/>
            <p:cNvGrpSpPr>
              <a:grpSpLocks/>
            </p:cNvGrpSpPr>
            <p:nvPr/>
          </p:nvGrpSpPr>
          <p:grpSpPr bwMode="auto">
            <a:xfrm>
              <a:off x="1217" y="1366"/>
              <a:ext cx="519" cy="352"/>
              <a:chOff x="1217" y="1366"/>
              <a:chExt cx="519" cy="352"/>
            </a:xfrm>
          </p:grpSpPr>
          <p:sp>
            <p:nvSpPr>
              <p:cNvPr id="28781" name="Freeform 163"/>
              <p:cNvSpPr>
                <a:spLocks noEditPoints="1"/>
              </p:cNvSpPr>
              <p:nvPr/>
            </p:nvSpPr>
            <p:spPr bwMode="auto">
              <a:xfrm>
                <a:off x="1217" y="1366"/>
                <a:ext cx="519" cy="352"/>
              </a:xfrm>
              <a:custGeom>
                <a:avLst/>
                <a:gdLst>
                  <a:gd name="T0" fmla="*/ 519 w 519"/>
                  <a:gd name="T1" fmla="*/ 75 h 352"/>
                  <a:gd name="T2" fmla="*/ 509 w 519"/>
                  <a:gd name="T3" fmla="*/ 95 h 352"/>
                  <a:gd name="T4" fmla="*/ 481 w 519"/>
                  <a:gd name="T5" fmla="*/ 113 h 352"/>
                  <a:gd name="T6" fmla="*/ 437 w 519"/>
                  <a:gd name="T7" fmla="*/ 129 h 352"/>
                  <a:gd name="T8" fmla="*/ 378 w 519"/>
                  <a:gd name="T9" fmla="*/ 140 h 352"/>
                  <a:gd name="T10" fmla="*/ 313 w 519"/>
                  <a:gd name="T11" fmla="*/ 147 h 352"/>
                  <a:gd name="T12" fmla="*/ 242 w 519"/>
                  <a:gd name="T13" fmla="*/ 148 h 352"/>
                  <a:gd name="T14" fmla="*/ 174 w 519"/>
                  <a:gd name="T15" fmla="*/ 144 h 352"/>
                  <a:gd name="T16" fmla="*/ 110 w 519"/>
                  <a:gd name="T17" fmla="*/ 136 h 352"/>
                  <a:gd name="T18" fmla="*/ 110 w 519"/>
                  <a:gd name="T19" fmla="*/ 136 h 352"/>
                  <a:gd name="T20" fmla="*/ 174 w 519"/>
                  <a:gd name="T21" fmla="*/ 144 h 352"/>
                  <a:gd name="T22" fmla="*/ 242 w 519"/>
                  <a:gd name="T23" fmla="*/ 148 h 352"/>
                  <a:gd name="T24" fmla="*/ 313 w 519"/>
                  <a:gd name="T25" fmla="*/ 147 h 352"/>
                  <a:gd name="T26" fmla="*/ 378 w 519"/>
                  <a:gd name="T27" fmla="*/ 140 h 352"/>
                  <a:gd name="T28" fmla="*/ 437 w 519"/>
                  <a:gd name="T29" fmla="*/ 129 h 352"/>
                  <a:gd name="T30" fmla="*/ 481 w 519"/>
                  <a:gd name="T31" fmla="*/ 113 h 352"/>
                  <a:gd name="T32" fmla="*/ 509 w 519"/>
                  <a:gd name="T33" fmla="*/ 95 h 352"/>
                  <a:gd name="T34" fmla="*/ 519 w 519"/>
                  <a:gd name="T35" fmla="*/ 75 h 352"/>
                  <a:gd name="T36" fmla="*/ 3 w 519"/>
                  <a:gd name="T37" fmla="*/ 84 h 352"/>
                  <a:gd name="T38" fmla="*/ 22 w 519"/>
                  <a:gd name="T39" fmla="*/ 105 h 352"/>
                  <a:gd name="T40" fmla="*/ 59 w 519"/>
                  <a:gd name="T41" fmla="*/ 121 h 352"/>
                  <a:gd name="T42" fmla="*/ 59 w 519"/>
                  <a:gd name="T43" fmla="*/ 121 h 352"/>
                  <a:gd name="T44" fmla="*/ 22 w 519"/>
                  <a:gd name="T45" fmla="*/ 105 h 352"/>
                  <a:gd name="T46" fmla="*/ 3 w 519"/>
                  <a:gd name="T47" fmla="*/ 84 h 352"/>
                  <a:gd name="T48" fmla="*/ 0 w 519"/>
                  <a:gd name="T49" fmla="*/ 75 h 352"/>
                  <a:gd name="T50" fmla="*/ 3 w 519"/>
                  <a:gd name="T51" fmla="*/ 288 h 352"/>
                  <a:gd name="T52" fmla="*/ 22 w 519"/>
                  <a:gd name="T53" fmla="*/ 308 h 352"/>
                  <a:gd name="T54" fmla="*/ 59 w 519"/>
                  <a:gd name="T55" fmla="*/ 325 h 352"/>
                  <a:gd name="T56" fmla="*/ 110 w 519"/>
                  <a:gd name="T57" fmla="*/ 339 h 352"/>
                  <a:gd name="T58" fmla="*/ 172 w 519"/>
                  <a:gd name="T59" fmla="*/ 348 h 352"/>
                  <a:gd name="T60" fmla="*/ 242 w 519"/>
                  <a:gd name="T61" fmla="*/ 352 h 352"/>
                  <a:gd name="T62" fmla="*/ 313 w 519"/>
                  <a:gd name="T63" fmla="*/ 351 h 352"/>
                  <a:gd name="T64" fmla="*/ 378 w 519"/>
                  <a:gd name="T65" fmla="*/ 344 h 352"/>
                  <a:gd name="T66" fmla="*/ 437 w 519"/>
                  <a:gd name="T67" fmla="*/ 333 h 352"/>
                  <a:gd name="T68" fmla="*/ 481 w 519"/>
                  <a:gd name="T69" fmla="*/ 316 h 352"/>
                  <a:gd name="T70" fmla="*/ 509 w 519"/>
                  <a:gd name="T71" fmla="*/ 299 h 352"/>
                  <a:gd name="T72" fmla="*/ 519 w 519"/>
                  <a:gd name="T73" fmla="*/ 278 h 352"/>
                  <a:gd name="T74" fmla="*/ 517 w 519"/>
                  <a:gd name="T75" fmla="*/ 64 h 352"/>
                  <a:gd name="T76" fmla="*/ 498 w 519"/>
                  <a:gd name="T77" fmla="*/ 45 h 352"/>
                  <a:gd name="T78" fmla="*/ 461 w 519"/>
                  <a:gd name="T79" fmla="*/ 26 h 352"/>
                  <a:gd name="T80" fmla="*/ 409 w 519"/>
                  <a:gd name="T81" fmla="*/ 13 h 352"/>
                  <a:gd name="T82" fmla="*/ 347 w 519"/>
                  <a:gd name="T83" fmla="*/ 4 h 352"/>
                  <a:gd name="T84" fmla="*/ 277 w 519"/>
                  <a:gd name="T85" fmla="*/ 0 h 352"/>
                  <a:gd name="T86" fmla="*/ 206 w 519"/>
                  <a:gd name="T87" fmla="*/ 1 h 352"/>
                  <a:gd name="T88" fmla="*/ 141 w 519"/>
                  <a:gd name="T89" fmla="*/ 8 h 352"/>
                  <a:gd name="T90" fmla="*/ 82 w 519"/>
                  <a:gd name="T91" fmla="*/ 20 h 352"/>
                  <a:gd name="T92" fmla="*/ 38 w 519"/>
                  <a:gd name="T93" fmla="*/ 36 h 352"/>
                  <a:gd name="T94" fmla="*/ 10 w 519"/>
                  <a:gd name="T95" fmla="*/ 53 h 352"/>
                  <a:gd name="T96" fmla="*/ 0 w 519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9"/>
                  <a:gd name="T148" fmla="*/ 0 h 352"/>
                  <a:gd name="T149" fmla="*/ 519 w 519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9" h="352">
                    <a:moveTo>
                      <a:pt x="519" y="75"/>
                    </a:moveTo>
                    <a:lnTo>
                      <a:pt x="519" y="75"/>
                    </a:lnTo>
                    <a:lnTo>
                      <a:pt x="517" y="84"/>
                    </a:lnTo>
                    <a:lnTo>
                      <a:pt x="509" y="95"/>
                    </a:lnTo>
                    <a:lnTo>
                      <a:pt x="498" y="104"/>
                    </a:lnTo>
                    <a:lnTo>
                      <a:pt x="481" y="113"/>
                    </a:lnTo>
                    <a:lnTo>
                      <a:pt x="461" y="121"/>
                    </a:lnTo>
                    <a:lnTo>
                      <a:pt x="437" y="129"/>
                    </a:lnTo>
                    <a:lnTo>
                      <a:pt x="409" y="136"/>
                    </a:lnTo>
                    <a:lnTo>
                      <a:pt x="378" y="140"/>
                    </a:lnTo>
                    <a:lnTo>
                      <a:pt x="347" y="144"/>
                    </a:lnTo>
                    <a:lnTo>
                      <a:pt x="313" y="147"/>
                    </a:lnTo>
                    <a:lnTo>
                      <a:pt x="277" y="148"/>
                    </a:lnTo>
                    <a:lnTo>
                      <a:pt x="242" y="148"/>
                    </a:lnTo>
                    <a:lnTo>
                      <a:pt x="208" y="147"/>
                    </a:lnTo>
                    <a:lnTo>
                      <a:pt x="174" y="144"/>
                    </a:lnTo>
                    <a:lnTo>
                      <a:pt x="141" y="140"/>
                    </a:lnTo>
                    <a:lnTo>
                      <a:pt x="110" y="136"/>
                    </a:lnTo>
                    <a:lnTo>
                      <a:pt x="82" y="130"/>
                    </a:lnTo>
                    <a:lnTo>
                      <a:pt x="110" y="136"/>
                    </a:lnTo>
                    <a:lnTo>
                      <a:pt x="141" y="140"/>
                    </a:lnTo>
                    <a:lnTo>
                      <a:pt x="174" y="144"/>
                    </a:lnTo>
                    <a:lnTo>
                      <a:pt x="208" y="147"/>
                    </a:lnTo>
                    <a:lnTo>
                      <a:pt x="242" y="148"/>
                    </a:lnTo>
                    <a:lnTo>
                      <a:pt x="277" y="148"/>
                    </a:lnTo>
                    <a:lnTo>
                      <a:pt x="313" y="147"/>
                    </a:lnTo>
                    <a:lnTo>
                      <a:pt x="347" y="144"/>
                    </a:lnTo>
                    <a:lnTo>
                      <a:pt x="378" y="140"/>
                    </a:lnTo>
                    <a:lnTo>
                      <a:pt x="409" y="136"/>
                    </a:lnTo>
                    <a:lnTo>
                      <a:pt x="437" y="129"/>
                    </a:lnTo>
                    <a:lnTo>
                      <a:pt x="461" y="121"/>
                    </a:lnTo>
                    <a:lnTo>
                      <a:pt x="481" y="113"/>
                    </a:lnTo>
                    <a:lnTo>
                      <a:pt x="498" y="104"/>
                    </a:lnTo>
                    <a:lnTo>
                      <a:pt x="509" y="95"/>
                    </a:lnTo>
                    <a:lnTo>
                      <a:pt x="517" y="84"/>
                    </a:lnTo>
                    <a:lnTo>
                      <a:pt x="519" y="75"/>
                    </a:lnTo>
                    <a:close/>
                    <a:moveTo>
                      <a:pt x="0" y="75"/>
                    </a:moveTo>
                    <a:lnTo>
                      <a:pt x="3" y="84"/>
                    </a:lnTo>
                    <a:lnTo>
                      <a:pt x="10" y="95"/>
                    </a:lnTo>
                    <a:lnTo>
                      <a:pt x="22" y="105"/>
                    </a:lnTo>
                    <a:lnTo>
                      <a:pt x="38" y="113"/>
                    </a:lnTo>
                    <a:lnTo>
                      <a:pt x="59" y="121"/>
                    </a:lnTo>
                    <a:lnTo>
                      <a:pt x="82" y="130"/>
                    </a:lnTo>
                    <a:lnTo>
                      <a:pt x="59" y="121"/>
                    </a:lnTo>
                    <a:lnTo>
                      <a:pt x="38" y="113"/>
                    </a:lnTo>
                    <a:lnTo>
                      <a:pt x="22" y="105"/>
                    </a:lnTo>
                    <a:lnTo>
                      <a:pt x="10" y="95"/>
                    </a:lnTo>
                    <a:lnTo>
                      <a:pt x="3" y="84"/>
                    </a:lnTo>
                    <a:lnTo>
                      <a:pt x="0" y="75"/>
                    </a:lnTo>
                    <a:close/>
                    <a:moveTo>
                      <a:pt x="0" y="75"/>
                    </a:moveTo>
                    <a:lnTo>
                      <a:pt x="0" y="278"/>
                    </a:lnTo>
                    <a:lnTo>
                      <a:pt x="3" y="288"/>
                    </a:lnTo>
                    <a:lnTo>
                      <a:pt x="10" y="299"/>
                    </a:lnTo>
                    <a:lnTo>
                      <a:pt x="22" y="308"/>
                    </a:lnTo>
                    <a:lnTo>
                      <a:pt x="38" y="316"/>
                    </a:lnTo>
                    <a:lnTo>
                      <a:pt x="59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2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7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1" y="325"/>
                    </a:lnTo>
                    <a:lnTo>
                      <a:pt x="481" y="316"/>
                    </a:lnTo>
                    <a:lnTo>
                      <a:pt x="498" y="308"/>
                    </a:lnTo>
                    <a:lnTo>
                      <a:pt x="509" y="299"/>
                    </a:lnTo>
                    <a:lnTo>
                      <a:pt x="517" y="288"/>
                    </a:lnTo>
                    <a:lnTo>
                      <a:pt x="519" y="278"/>
                    </a:lnTo>
                    <a:lnTo>
                      <a:pt x="519" y="75"/>
                    </a:lnTo>
                    <a:lnTo>
                      <a:pt x="517" y="64"/>
                    </a:lnTo>
                    <a:lnTo>
                      <a:pt x="509" y="53"/>
                    </a:lnTo>
                    <a:lnTo>
                      <a:pt x="498" y="45"/>
                    </a:lnTo>
                    <a:lnTo>
                      <a:pt x="481" y="36"/>
                    </a:lnTo>
                    <a:lnTo>
                      <a:pt x="461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7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2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9" y="26"/>
                    </a:lnTo>
                    <a:lnTo>
                      <a:pt x="38" y="36"/>
                    </a:lnTo>
                    <a:lnTo>
                      <a:pt x="22" y="45"/>
                    </a:lnTo>
                    <a:lnTo>
                      <a:pt x="10" y="53"/>
                    </a:lnTo>
                    <a:lnTo>
                      <a:pt x="3" y="64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82" name="Freeform 164"/>
              <p:cNvSpPr>
                <a:spLocks/>
              </p:cNvSpPr>
              <p:nvPr/>
            </p:nvSpPr>
            <p:spPr bwMode="auto">
              <a:xfrm>
                <a:off x="1299" y="1441"/>
                <a:ext cx="437" cy="73"/>
              </a:xfrm>
              <a:custGeom>
                <a:avLst/>
                <a:gdLst>
                  <a:gd name="T0" fmla="*/ 437 w 437"/>
                  <a:gd name="T1" fmla="*/ 0 h 73"/>
                  <a:gd name="T2" fmla="*/ 437 w 437"/>
                  <a:gd name="T3" fmla="*/ 0 h 73"/>
                  <a:gd name="T4" fmla="*/ 435 w 437"/>
                  <a:gd name="T5" fmla="*/ 9 h 73"/>
                  <a:gd name="T6" fmla="*/ 427 w 437"/>
                  <a:gd name="T7" fmla="*/ 20 h 73"/>
                  <a:gd name="T8" fmla="*/ 416 w 437"/>
                  <a:gd name="T9" fmla="*/ 29 h 73"/>
                  <a:gd name="T10" fmla="*/ 399 w 437"/>
                  <a:gd name="T11" fmla="*/ 38 h 73"/>
                  <a:gd name="T12" fmla="*/ 379 w 437"/>
                  <a:gd name="T13" fmla="*/ 46 h 73"/>
                  <a:gd name="T14" fmla="*/ 355 w 437"/>
                  <a:gd name="T15" fmla="*/ 54 h 73"/>
                  <a:gd name="T16" fmla="*/ 327 w 437"/>
                  <a:gd name="T17" fmla="*/ 61 h 73"/>
                  <a:gd name="T18" fmla="*/ 296 w 437"/>
                  <a:gd name="T19" fmla="*/ 65 h 73"/>
                  <a:gd name="T20" fmla="*/ 265 w 437"/>
                  <a:gd name="T21" fmla="*/ 69 h 73"/>
                  <a:gd name="T22" fmla="*/ 231 w 437"/>
                  <a:gd name="T23" fmla="*/ 72 h 73"/>
                  <a:gd name="T24" fmla="*/ 195 w 437"/>
                  <a:gd name="T25" fmla="*/ 73 h 73"/>
                  <a:gd name="T26" fmla="*/ 160 w 437"/>
                  <a:gd name="T27" fmla="*/ 73 h 73"/>
                  <a:gd name="T28" fmla="*/ 126 w 437"/>
                  <a:gd name="T29" fmla="*/ 72 h 73"/>
                  <a:gd name="T30" fmla="*/ 92 w 437"/>
                  <a:gd name="T31" fmla="*/ 69 h 73"/>
                  <a:gd name="T32" fmla="*/ 59 w 437"/>
                  <a:gd name="T33" fmla="*/ 65 h 73"/>
                  <a:gd name="T34" fmla="*/ 28 w 437"/>
                  <a:gd name="T35" fmla="*/ 61 h 73"/>
                  <a:gd name="T36" fmla="*/ 0 w 437"/>
                  <a:gd name="T37" fmla="*/ 55 h 73"/>
                  <a:gd name="T38" fmla="*/ 28 w 437"/>
                  <a:gd name="T39" fmla="*/ 61 h 73"/>
                  <a:gd name="T40" fmla="*/ 59 w 437"/>
                  <a:gd name="T41" fmla="*/ 65 h 73"/>
                  <a:gd name="T42" fmla="*/ 92 w 437"/>
                  <a:gd name="T43" fmla="*/ 69 h 73"/>
                  <a:gd name="T44" fmla="*/ 126 w 437"/>
                  <a:gd name="T45" fmla="*/ 72 h 73"/>
                  <a:gd name="T46" fmla="*/ 160 w 437"/>
                  <a:gd name="T47" fmla="*/ 73 h 73"/>
                  <a:gd name="T48" fmla="*/ 195 w 437"/>
                  <a:gd name="T49" fmla="*/ 73 h 73"/>
                  <a:gd name="T50" fmla="*/ 231 w 437"/>
                  <a:gd name="T51" fmla="*/ 72 h 73"/>
                  <a:gd name="T52" fmla="*/ 265 w 437"/>
                  <a:gd name="T53" fmla="*/ 69 h 73"/>
                  <a:gd name="T54" fmla="*/ 296 w 437"/>
                  <a:gd name="T55" fmla="*/ 65 h 73"/>
                  <a:gd name="T56" fmla="*/ 327 w 437"/>
                  <a:gd name="T57" fmla="*/ 61 h 73"/>
                  <a:gd name="T58" fmla="*/ 355 w 437"/>
                  <a:gd name="T59" fmla="*/ 54 h 73"/>
                  <a:gd name="T60" fmla="*/ 379 w 437"/>
                  <a:gd name="T61" fmla="*/ 46 h 73"/>
                  <a:gd name="T62" fmla="*/ 399 w 437"/>
                  <a:gd name="T63" fmla="*/ 38 h 73"/>
                  <a:gd name="T64" fmla="*/ 416 w 437"/>
                  <a:gd name="T65" fmla="*/ 29 h 73"/>
                  <a:gd name="T66" fmla="*/ 427 w 437"/>
                  <a:gd name="T67" fmla="*/ 20 h 73"/>
                  <a:gd name="T68" fmla="*/ 435 w 437"/>
                  <a:gd name="T69" fmla="*/ 9 h 73"/>
                  <a:gd name="T70" fmla="*/ 437 w 437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37"/>
                  <a:gd name="T109" fmla="*/ 0 h 73"/>
                  <a:gd name="T110" fmla="*/ 437 w 437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37" h="73">
                    <a:moveTo>
                      <a:pt x="437" y="0"/>
                    </a:moveTo>
                    <a:lnTo>
                      <a:pt x="437" y="0"/>
                    </a:lnTo>
                    <a:lnTo>
                      <a:pt x="435" y="9"/>
                    </a:lnTo>
                    <a:lnTo>
                      <a:pt x="427" y="20"/>
                    </a:lnTo>
                    <a:lnTo>
                      <a:pt x="416" y="29"/>
                    </a:lnTo>
                    <a:lnTo>
                      <a:pt x="399" y="38"/>
                    </a:lnTo>
                    <a:lnTo>
                      <a:pt x="379" y="46"/>
                    </a:lnTo>
                    <a:lnTo>
                      <a:pt x="355" y="54"/>
                    </a:lnTo>
                    <a:lnTo>
                      <a:pt x="327" y="61"/>
                    </a:lnTo>
                    <a:lnTo>
                      <a:pt x="296" y="65"/>
                    </a:lnTo>
                    <a:lnTo>
                      <a:pt x="265" y="69"/>
                    </a:lnTo>
                    <a:lnTo>
                      <a:pt x="231" y="72"/>
                    </a:lnTo>
                    <a:lnTo>
                      <a:pt x="195" y="73"/>
                    </a:lnTo>
                    <a:lnTo>
                      <a:pt x="160" y="73"/>
                    </a:lnTo>
                    <a:lnTo>
                      <a:pt x="126" y="72"/>
                    </a:lnTo>
                    <a:lnTo>
                      <a:pt x="92" y="69"/>
                    </a:lnTo>
                    <a:lnTo>
                      <a:pt x="59" y="65"/>
                    </a:lnTo>
                    <a:lnTo>
                      <a:pt x="28" y="61"/>
                    </a:lnTo>
                    <a:lnTo>
                      <a:pt x="0" y="55"/>
                    </a:lnTo>
                    <a:lnTo>
                      <a:pt x="28" y="61"/>
                    </a:lnTo>
                    <a:lnTo>
                      <a:pt x="59" y="65"/>
                    </a:lnTo>
                    <a:lnTo>
                      <a:pt x="92" y="69"/>
                    </a:lnTo>
                    <a:lnTo>
                      <a:pt x="126" y="72"/>
                    </a:lnTo>
                    <a:lnTo>
                      <a:pt x="160" y="73"/>
                    </a:lnTo>
                    <a:lnTo>
                      <a:pt x="195" y="73"/>
                    </a:lnTo>
                    <a:lnTo>
                      <a:pt x="231" y="72"/>
                    </a:lnTo>
                    <a:lnTo>
                      <a:pt x="265" y="69"/>
                    </a:lnTo>
                    <a:lnTo>
                      <a:pt x="296" y="65"/>
                    </a:lnTo>
                    <a:lnTo>
                      <a:pt x="327" y="61"/>
                    </a:lnTo>
                    <a:lnTo>
                      <a:pt x="355" y="54"/>
                    </a:lnTo>
                    <a:lnTo>
                      <a:pt x="379" y="46"/>
                    </a:lnTo>
                    <a:lnTo>
                      <a:pt x="399" y="38"/>
                    </a:lnTo>
                    <a:lnTo>
                      <a:pt x="416" y="29"/>
                    </a:lnTo>
                    <a:lnTo>
                      <a:pt x="427" y="20"/>
                    </a:lnTo>
                    <a:lnTo>
                      <a:pt x="435" y="9"/>
                    </a:lnTo>
                    <a:lnTo>
                      <a:pt x="437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83" name="Freeform 165"/>
              <p:cNvSpPr>
                <a:spLocks/>
              </p:cNvSpPr>
              <p:nvPr/>
            </p:nvSpPr>
            <p:spPr bwMode="auto">
              <a:xfrm>
                <a:off x="1217" y="1441"/>
                <a:ext cx="82" cy="55"/>
              </a:xfrm>
              <a:custGeom>
                <a:avLst/>
                <a:gdLst>
                  <a:gd name="T0" fmla="*/ 0 w 82"/>
                  <a:gd name="T1" fmla="*/ 0 h 55"/>
                  <a:gd name="T2" fmla="*/ 3 w 82"/>
                  <a:gd name="T3" fmla="*/ 9 h 55"/>
                  <a:gd name="T4" fmla="*/ 10 w 82"/>
                  <a:gd name="T5" fmla="*/ 20 h 55"/>
                  <a:gd name="T6" fmla="*/ 22 w 82"/>
                  <a:gd name="T7" fmla="*/ 30 h 55"/>
                  <a:gd name="T8" fmla="*/ 38 w 82"/>
                  <a:gd name="T9" fmla="*/ 38 h 55"/>
                  <a:gd name="T10" fmla="*/ 59 w 82"/>
                  <a:gd name="T11" fmla="*/ 46 h 55"/>
                  <a:gd name="T12" fmla="*/ 82 w 82"/>
                  <a:gd name="T13" fmla="*/ 55 h 55"/>
                  <a:gd name="T14" fmla="*/ 59 w 82"/>
                  <a:gd name="T15" fmla="*/ 46 h 55"/>
                  <a:gd name="T16" fmla="*/ 38 w 82"/>
                  <a:gd name="T17" fmla="*/ 38 h 55"/>
                  <a:gd name="T18" fmla="*/ 22 w 82"/>
                  <a:gd name="T19" fmla="*/ 30 h 55"/>
                  <a:gd name="T20" fmla="*/ 10 w 82"/>
                  <a:gd name="T21" fmla="*/ 20 h 55"/>
                  <a:gd name="T22" fmla="*/ 3 w 82"/>
                  <a:gd name="T23" fmla="*/ 9 h 55"/>
                  <a:gd name="T24" fmla="*/ 0 w 82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2"/>
                  <a:gd name="T40" fmla="*/ 0 h 55"/>
                  <a:gd name="T41" fmla="*/ 82 w 82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2" h="55">
                    <a:moveTo>
                      <a:pt x="0" y="0"/>
                    </a:moveTo>
                    <a:lnTo>
                      <a:pt x="3" y="9"/>
                    </a:lnTo>
                    <a:lnTo>
                      <a:pt x="10" y="20"/>
                    </a:lnTo>
                    <a:lnTo>
                      <a:pt x="22" y="30"/>
                    </a:lnTo>
                    <a:lnTo>
                      <a:pt x="38" y="38"/>
                    </a:lnTo>
                    <a:lnTo>
                      <a:pt x="59" y="46"/>
                    </a:lnTo>
                    <a:lnTo>
                      <a:pt x="82" y="55"/>
                    </a:lnTo>
                    <a:lnTo>
                      <a:pt x="59" y="46"/>
                    </a:lnTo>
                    <a:lnTo>
                      <a:pt x="38" y="38"/>
                    </a:lnTo>
                    <a:lnTo>
                      <a:pt x="22" y="30"/>
                    </a:lnTo>
                    <a:lnTo>
                      <a:pt x="10" y="20"/>
                    </a:lnTo>
                    <a:lnTo>
                      <a:pt x="3" y="9"/>
                    </a:lnTo>
                    <a:lnTo>
                      <a:pt x="0" y="0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84" name="Freeform 166"/>
              <p:cNvSpPr>
                <a:spLocks/>
              </p:cNvSpPr>
              <p:nvPr/>
            </p:nvSpPr>
            <p:spPr bwMode="auto">
              <a:xfrm>
                <a:off x="1217" y="1366"/>
                <a:ext cx="519" cy="352"/>
              </a:xfrm>
              <a:custGeom>
                <a:avLst/>
                <a:gdLst>
                  <a:gd name="T0" fmla="*/ 0 w 519"/>
                  <a:gd name="T1" fmla="*/ 75 h 352"/>
                  <a:gd name="T2" fmla="*/ 0 w 519"/>
                  <a:gd name="T3" fmla="*/ 278 h 352"/>
                  <a:gd name="T4" fmla="*/ 3 w 519"/>
                  <a:gd name="T5" fmla="*/ 288 h 352"/>
                  <a:gd name="T6" fmla="*/ 10 w 519"/>
                  <a:gd name="T7" fmla="*/ 299 h 352"/>
                  <a:gd name="T8" fmla="*/ 22 w 519"/>
                  <a:gd name="T9" fmla="*/ 308 h 352"/>
                  <a:gd name="T10" fmla="*/ 38 w 519"/>
                  <a:gd name="T11" fmla="*/ 316 h 352"/>
                  <a:gd name="T12" fmla="*/ 59 w 519"/>
                  <a:gd name="T13" fmla="*/ 325 h 352"/>
                  <a:gd name="T14" fmla="*/ 82 w 519"/>
                  <a:gd name="T15" fmla="*/ 333 h 352"/>
                  <a:gd name="T16" fmla="*/ 110 w 519"/>
                  <a:gd name="T17" fmla="*/ 339 h 352"/>
                  <a:gd name="T18" fmla="*/ 141 w 519"/>
                  <a:gd name="T19" fmla="*/ 344 h 352"/>
                  <a:gd name="T20" fmla="*/ 172 w 519"/>
                  <a:gd name="T21" fmla="*/ 348 h 352"/>
                  <a:gd name="T22" fmla="*/ 206 w 519"/>
                  <a:gd name="T23" fmla="*/ 351 h 352"/>
                  <a:gd name="T24" fmla="*/ 242 w 519"/>
                  <a:gd name="T25" fmla="*/ 352 h 352"/>
                  <a:gd name="T26" fmla="*/ 277 w 519"/>
                  <a:gd name="T27" fmla="*/ 352 h 352"/>
                  <a:gd name="T28" fmla="*/ 313 w 519"/>
                  <a:gd name="T29" fmla="*/ 351 h 352"/>
                  <a:gd name="T30" fmla="*/ 347 w 519"/>
                  <a:gd name="T31" fmla="*/ 348 h 352"/>
                  <a:gd name="T32" fmla="*/ 378 w 519"/>
                  <a:gd name="T33" fmla="*/ 344 h 352"/>
                  <a:gd name="T34" fmla="*/ 409 w 519"/>
                  <a:gd name="T35" fmla="*/ 339 h 352"/>
                  <a:gd name="T36" fmla="*/ 437 w 519"/>
                  <a:gd name="T37" fmla="*/ 333 h 352"/>
                  <a:gd name="T38" fmla="*/ 461 w 519"/>
                  <a:gd name="T39" fmla="*/ 325 h 352"/>
                  <a:gd name="T40" fmla="*/ 481 w 519"/>
                  <a:gd name="T41" fmla="*/ 316 h 352"/>
                  <a:gd name="T42" fmla="*/ 498 w 519"/>
                  <a:gd name="T43" fmla="*/ 308 h 352"/>
                  <a:gd name="T44" fmla="*/ 509 w 519"/>
                  <a:gd name="T45" fmla="*/ 299 h 352"/>
                  <a:gd name="T46" fmla="*/ 517 w 519"/>
                  <a:gd name="T47" fmla="*/ 288 h 352"/>
                  <a:gd name="T48" fmla="*/ 519 w 519"/>
                  <a:gd name="T49" fmla="*/ 278 h 352"/>
                  <a:gd name="T50" fmla="*/ 519 w 519"/>
                  <a:gd name="T51" fmla="*/ 75 h 352"/>
                  <a:gd name="T52" fmla="*/ 517 w 519"/>
                  <a:gd name="T53" fmla="*/ 64 h 352"/>
                  <a:gd name="T54" fmla="*/ 509 w 519"/>
                  <a:gd name="T55" fmla="*/ 53 h 352"/>
                  <a:gd name="T56" fmla="*/ 498 w 519"/>
                  <a:gd name="T57" fmla="*/ 45 h 352"/>
                  <a:gd name="T58" fmla="*/ 481 w 519"/>
                  <a:gd name="T59" fmla="*/ 36 h 352"/>
                  <a:gd name="T60" fmla="*/ 461 w 519"/>
                  <a:gd name="T61" fmla="*/ 26 h 352"/>
                  <a:gd name="T62" fmla="*/ 437 w 519"/>
                  <a:gd name="T63" fmla="*/ 20 h 352"/>
                  <a:gd name="T64" fmla="*/ 409 w 519"/>
                  <a:gd name="T65" fmla="*/ 13 h 352"/>
                  <a:gd name="T66" fmla="*/ 378 w 519"/>
                  <a:gd name="T67" fmla="*/ 8 h 352"/>
                  <a:gd name="T68" fmla="*/ 347 w 519"/>
                  <a:gd name="T69" fmla="*/ 4 h 352"/>
                  <a:gd name="T70" fmla="*/ 313 w 519"/>
                  <a:gd name="T71" fmla="*/ 1 h 352"/>
                  <a:gd name="T72" fmla="*/ 277 w 519"/>
                  <a:gd name="T73" fmla="*/ 0 h 352"/>
                  <a:gd name="T74" fmla="*/ 242 w 519"/>
                  <a:gd name="T75" fmla="*/ 0 h 352"/>
                  <a:gd name="T76" fmla="*/ 206 w 519"/>
                  <a:gd name="T77" fmla="*/ 1 h 352"/>
                  <a:gd name="T78" fmla="*/ 172 w 519"/>
                  <a:gd name="T79" fmla="*/ 4 h 352"/>
                  <a:gd name="T80" fmla="*/ 141 w 519"/>
                  <a:gd name="T81" fmla="*/ 8 h 352"/>
                  <a:gd name="T82" fmla="*/ 110 w 519"/>
                  <a:gd name="T83" fmla="*/ 13 h 352"/>
                  <a:gd name="T84" fmla="*/ 82 w 519"/>
                  <a:gd name="T85" fmla="*/ 20 h 352"/>
                  <a:gd name="T86" fmla="*/ 59 w 519"/>
                  <a:gd name="T87" fmla="*/ 26 h 352"/>
                  <a:gd name="T88" fmla="*/ 38 w 519"/>
                  <a:gd name="T89" fmla="*/ 36 h 352"/>
                  <a:gd name="T90" fmla="*/ 22 w 519"/>
                  <a:gd name="T91" fmla="*/ 45 h 352"/>
                  <a:gd name="T92" fmla="*/ 10 w 519"/>
                  <a:gd name="T93" fmla="*/ 53 h 352"/>
                  <a:gd name="T94" fmla="*/ 3 w 519"/>
                  <a:gd name="T95" fmla="*/ 64 h 352"/>
                  <a:gd name="T96" fmla="*/ 0 w 519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9"/>
                  <a:gd name="T148" fmla="*/ 0 h 352"/>
                  <a:gd name="T149" fmla="*/ 519 w 519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9" h="352">
                    <a:moveTo>
                      <a:pt x="0" y="75"/>
                    </a:moveTo>
                    <a:lnTo>
                      <a:pt x="0" y="278"/>
                    </a:lnTo>
                    <a:lnTo>
                      <a:pt x="3" y="288"/>
                    </a:lnTo>
                    <a:lnTo>
                      <a:pt x="10" y="299"/>
                    </a:lnTo>
                    <a:lnTo>
                      <a:pt x="22" y="308"/>
                    </a:lnTo>
                    <a:lnTo>
                      <a:pt x="38" y="316"/>
                    </a:lnTo>
                    <a:lnTo>
                      <a:pt x="59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2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7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1" y="325"/>
                    </a:lnTo>
                    <a:lnTo>
                      <a:pt x="481" y="316"/>
                    </a:lnTo>
                    <a:lnTo>
                      <a:pt x="498" y="308"/>
                    </a:lnTo>
                    <a:lnTo>
                      <a:pt x="509" y="299"/>
                    </a:lnTo>
                    <a:lnTo>
                      <a:pt x="517" y="288"/>
                    </a:lnTo>
                    <a:lnTo>
                      <a:pt x="519" y="278"/>
                    </a:lnTo>
                    <a:lnTo>
                      <a:pt x="519" y="75"/>
                    </a:lnTo>
                    <a:lnTo>
                      <a:pt x="517" y="64"/>
                    </a:lnTo>
                    <a:lnTo>
                      <a:pt x="509" y="53"/>
                    </a:lnTo>
                    <a:lnTo>
                      <a:pt x="498" y="45"/>
                    </a:lnTo>
                    <a:lnTo>
                      <a:pt x="481" y="36"/>
                    </a:lnTo>
                    <a:lnTo>
                      <a:pt x="461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7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2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9" y="26"/>
                    </a:lnTo>
                    <a:lnTo>
                      <a:pt x="38" y="36"/>
                    </a:lnTo>
                    <a:lnTo>
                      <a:pt x="22" y="45"/>
                    </a:lnTo>
                    <a:lnTo>
                      <a:pt x="10" y="53"/>
                    </a:lnTo>
                    <a:lnTo>
                      <a:pt x="3" y="64"/>
                    </a:lnTo>
                    <a:lnTo>
                      <a:pt x="0" y="75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62" name="Group 167"/>
            <p:cNvGrpSpPr>
              <a:grpSpLocks/>
            </p:cNvGrpSpPr>
            <p:nvPr/>
          </p:nvGrpSpPr>
          <p:grpSpPr bwMode="auto">
            <a:xfrm>
              <a:off x="1218" y="1366"/>
              <a:ext cx="518" cy="149"/>
              <a:chOff x="1218" y="1366"/>
              <a:chExt cx="518" cy="149"/>
            </a:xfrm>
          </p:grpSpPr>
          <p:sp>
            <p:nvSpPr>
              <p:cNvPr id="28779" name="Freeform 168"/>
              <p:cNvSpPr>
                <a:spLocks/>
              </p:cNvSpPr>
              <p:nvPr/>
            </p:nvSpPr>
            <p:spPr bwMode="auto">
              <a:xfrm>
                <a:off x="1218" y="1366"/>
                <a:ext cx="518" cy="149"/>
              </a:xfrm>
              <a:custGeom>
                <a:avLst/>
                <a:gdLst>
                  <a:gd name="T0" fmla="*/ 518 w 518"/>
                  <a:gd name="T1" fmla="*/ 75 h 149"/>
                  <a:gd name="T2" fmla="*/ 516 w 518"/>
                  <a:gd name="T3" fmla="*/ 84 h 149"/>
                  <a:gd name="T4" fmla="*/ 508 w 518"/>
                  <a:gd name="T5" fmla="*/ 95 h 149"/>
                  <a:gd name="T6" fmla="*/ 495 w 518"/>
                  <a:gd name="T7" fmla="*/ 105 h 149"/>
                  <a:gd name="T8" fmla="*/ 479 w 518"/>
                  <a:gd name="T9" fmla="*/ 113 h 149"/>
                  <a:gd name="T10" fmla="*/ 457 w 518"/>
                  <a:gd name="T11" fmla="*/ 122 h 149"/>
                  <a:gd name="T12" fmla="*/ 432 w 518"/>
                  <a:gd name="T13" fmla="*/ 130 h 149"/>
                  <a:gd name="T14" fmla="*/ 404 w 518"/>
                  <a:gd name="T15" fmla="*/ 137 h 149"/>
                  <a:gd name="T16" fmla="*/ 373 w 518"/>
                  <a:gd name="T17" fmla="*/ 141 h 149"/>
                  <a:gd name="T18" fmla="*/ 338 w 518"/>
                  <a:gd name="T19" fmla="*/ 145 h 149"/>
                  <a:gd name="T20" fmla="*/ 304 w 518"/>
                  <a:gd name="T21" fmla="*/ 147 h 149"/>
                  <a:gd name="T22" fmla="*/ 267 w 518"/>
                  <a:gd name="T23" fmla="*/ 149 h 149"/>
                  <a:gd name="T24" fmla="*/ 232 w 518"/>
                  <a:gd name="T25" fmla="*/ 148 h 149"/>
                  <a:gd name="T26" fmla="*/ 195 w 518"/>
                  <a:gd name="T27" fmla="*/ 146 h 149"/>
                  <a:gd name="T28" fmla="*/ 161 w 518"/>
                  <a:gd name="T29" fmla="*/ 143 h 149"/>
                  <a:gd name="T30" fmla="*/ 130 w 518"/>
                  <a:gd name="T31" fmla="*/ 139 h 149"/>
                  <a:gd name="T32" fmla="*/ 99 w 518"/>
                  <a:gd name="T33" fmla="*/ 134 h 149"/>
                  <a:gd name="T34" fmla="*/ 73 w 518"/>
                  <a:gd name="T35" fmla="*/ 126 h 149"/>
                  <a:gd name="T36" fmla="*/ 48 w 518"/>
                  <a:gd name="T37" fmla="*/ 118 h 149"/>
                  <a:gd name="T38" fmla="*/ 29 w 518"/>
                  <a:gd name="T39" fmla="*/ 109 h 149"/>
                  <a:gd name="T40" fmla="*/ 16 w 518"/>
                  <a:gd name="T41" fmla="*/ 100 h 149"/>
                  <a:gd name="T42" fmla="*/ 6 w 518"/>
                  <a:gd name="T43" fmla="*/ 89 h 149"/>
                  <a:gd name="T44" fmla="*/ 0 w 518"/>
                  <a:gd name="T45" fmla="*/ 80 h 149"/>
                  <a:gd name="T46" fmla="*/ 0 w 518"/>
                  <a:gd name="T47" fmla="*/ 69 h 149"/>
                  <a:gd name="T48" fmla="*/ 6 w 518"/>
                  <a:gd name="T49" fmla="*/ 58 h 149"/>
                  <a:gd name="T50" fmla="*/ 16 w 518"/>
                  <a:gd name="T51" fmla="*/ 49 h 149"/>
                  <a:gd name="T52" fmla="*/ 29 w 518"/>
                  <a:gd name="T53" fmla="*/ 39 h 149"/>
                  <a:gd name="T54" fmla="*/ 48 w 518"/>
                  <a:gd name="T55" fmla="*/ 30 h 149"/>
                  <a:gd name="T56" fmla="*/ 73 w 518"/>
                  <a:gd name="T57" fmla="*/ 22 h 149"/>
                  <a:gd name="T58" fmla="*/ 99 w 518"/>
                  <a:gd name="T59" fmla="*/ 15 h 149"/>
                  <a:gd name="T60" fmla="*/ 130 w 518"/>
                  <a:gd name="T61" fmla="*/ 10 h 149"/>
                  <a:gd name="T62" fmla="*/ 161 w 518"/>
                  <a:gd name="T63" fmla="*/ 5 h 149"/>
                  <a:gd name="T64" fmla="*/ 195 w 518"/>
                  <a:gd name="T65" fmla="*/ 2 h 149"/>
                  <a:gd name="T66" fmla="*/ 232 w 518"/>
                  <a:gd name="T67" fmla="*/ 0 h 149"/>
                  <a:gd name="T68" fmla="*/ 267 w 518"/>
                  <a:gd name="T69" fmla="*/ 0 h 149"/>
                  <a:gd name="T70" fmla="*/ 304 w 518"/>
                  <a:gd name="T71" fmla="*/ 1 h 149"/>
                  <a:gd name="T72" fmla="*/ 338 w 518"/>
                  <a:gd name="T73" fmla="*/ 3 h 149"/>
                  <a:gd name="T74" fmla="*/ 373 w 518"/>
                  <a:gd name="T75" fmla="*/ 7 h 149"/>
                  <a:gd name="T76" fmla="*/ 404 w 518"/>
                  <a:gd name="T77" fmla="*/ 12 h 149"/>
                  <a:gd name="T78" fmla="*/ 432 w 518"/>
                  <a:gd name="T79" fmla="*/ 19 h 149"/>
                  <a:gd name="T80" fmla="*/ 457 w 518"/>
                  <a:gd name="T81" fmla="*/ 25 h 149"/>
                  <a:gd name="T82" fmla="*/ 479 w 518"/>
                  <a:gd name="T83" fmla="*/ 35 h 149"/>
                  <a:gd name="T84" fmla="*/ 495 w 518"/>
                  <a:gd name="T85" fmla="*/ 44 h 149"/>
                  <a:gd name="T86" fmla="*/ 508 w 518"/>
                  <a:gd name="T87" fmla="*/ 53 h 149"/>
                  <a:gd name="T88" fmla="*/ 516 w 518"/>
                  <a:gd name="T89" fmla="*/ 64 h 149"/>
                  <a:gd name="T90" fmla="*/ 518 w 518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8"/>
                  <a:gd name="T139" fmla="*/ 0 h 149"/>
                  <a:gd name="T140" fmla="*/ 518 w 518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8" h="149">
                    <a:moveTo>
                      <a:pt x="518" y="75"/>
                    </a:moveTo>
                    <a:lnTo>
                      <a:pt x="516" y="84"/>
                    </a:lnTo>
                    <a:lnTo>
                      <a:pt x="508" y="95"/>
                    </a:lnTo>
                    <a:lnTo>
                      <a:pt x="495" y="105"/>
                    </a:lnTo>
                    <a:lnTo>
                      <a:pt x="479" y="113"/>
                    </a:lnTo>
                    <a:lnTo>
                      <a:pt x="457" y="122"/>
                    </a:lnTo>
                    <a:lnTo>
                      <a:pt x="432" y="130"/>
                    </a:lnTo>
                    <a:lnTo>
                      <a:pt x="404" y="137"/>
                    </a:lnTo>
                    <a:lnTo>
                      <a:pt x="373" y="141"/>
                    </a:lnTo>
                    <a:lnTo>
                      <a:pt x="338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2" y="148"/>
                    </a:lnTo>
                    <a:lnTo>
                      <a:pt x="195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9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6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6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9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5" y="2"/>
                    </a:lnTo>
                    <a:lnTo>
                      <a:pt x="232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8" y="3"/>
                    </a:lnTo>
                    <a:lnTo>
                      <a:pt x="373" y="7"/>
                    </a:lnTo>
                    <a:lnTo>
                      <a:pt x="404" y="12"/>
                    </a:lnTo>
                    <a:lnTo>
                      <a:pt x="432" y="19"/>
                    </a:lnTo>
                    <a:lnTo>
                      <a:pt x="457" y="25"/>
                    </a:lnTo>
                    <a:lnTo>
                      <a:pt x="479" y="35"/>
                    </a:lnTo>
                    <a:lnTo>
                      <a:pt x="495" y="44"/>
                    </a:lnTo>
                    <a:lnTo>
                      <a:pt x="508" y="53"/>
                    </a:lnTo>
                    <a:lnTo>
                      <a:pt x="516" y="64"/>
                    </a:lnTo>
                    <a:lnTo>
                      <a:pt x="518" y="75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80" name="Freeform 169"/>
              <p:cNvSpPr>
                <a:spLocks/>
              </p:cNvSpPr>
              <p:nvPr/>
            </p:nvSpPr>
            <p:spPr bwMode="auto">
              <a:xfrm>
                <a:off x="1218" y="1366"/>
                <a:ext cx="518" cy="149"/>
              </a:xfrm>
              <a:custGeom>
                <a:avLst/>
                <a:gdLst>
                  <a:gd name="T0" fmla="*/ 518 w 518"/>
                  <a:gd name="T1" fmla="*/ 75 h 149"/>
                  <a:gd name="T2" fmla="*/ 516 w 518"/>
                  <a:gd name="T3" fmla="*/ 84 h 149"/>
                  <a:gd name="T4" fmla="*/ 508 w 518"/>
                  <a:gd name="T5" fmla="*/ 95 h 149"/>
                  <a:gd name="T6" fmla="*/ 495 w 518"/>
                  <a:gd name="T7" fmla="*/ 105 h 149"/>
                  <a:gd name="T8" fmla="*/ 479 w 518"/>
                  <a:gd name="T9" fmla="*/ 113 h 149"/>
                  <a:gd name="T10" fmla="*/ 457 w 518"/>
                  <a:gd name="T11" fmla="*/ 122 h 149"/>
                  <a:gd name="T12" fmla="*/ 432 w 518"/>
                  <a:gd name="T13" fmla="*/ 130 h 149"/>
                  <a:gd name="T14" fmla="*/ 404 w 518"/>
                  <a:gd name="T15" fmla="*/ 137 h 149"/>
                  <a:gd name="T16" fmla="*/ 373 w 518"/>
                  <a:gd name="T17" fmla="*/ 141 h 149"/>
                  <a:gd name="T18" fmla="*/ 338 w 518"/>
                  <a:gd name="T19" fmla="*/ 145 h 149"/>
                  <a:gd name="T20" fmla="*/ 304 w 518"/>
                  <a:gd name="T21" fmla="*/ 147 h 149"/>
                  <a:gd name="T22" fmla="*/ 267 w 518"/>
                  <a:gd name="T23" fmla="*/ 149 h 149"/>
                  <a:gd name="T24" fmla="*/ 232 w 518"/>
                  <a:gd name="T25" fmla="*/ 148 h 149"/>
                  <a:gd name="T26" fmla="*/ 195 w 518"/>
                  <a:gd name="T27" fmla="*/ 146 h 149"/>
                  <a:gd name="T28" fmla="*/ 161 w 518"/>
                  <a:gd name="T29" fmla="*/ 143 h 149"/>
                  <a:gd name="T30" fmla="*/ 130 w 518"/>
                  <a:gd name="T31" fmla="*/ 139 h 149"/>
                  <a:gd name="T32" fmla="*/ 99 w 518"/>
                  <a:gd name="T33" fmla="*/ 134 h 149"/>
                  <a:gd name="T34" fmla="*/ 73 w 518"/>
                  <a:gd name="T35" fmla="*/ 126 h 149"/>
                  <a:gd name="T36" fmla="*/ 48 w 518"/>
                  <a:gd name="T37" fmla="*/ 118 h 149"/>
                  <a:gd name="T38" fmla="*/ 29 w 518"/>
                  <a:gd name="T39" fmla="*/ 109 h 149"/>
                  <a:gd name="T40" fmla="*/ 16 w 518"/>
                  <a:gd name="T41" fmla="*/ 100 h 149"/>
                  <a:gd name="T42" fmla="*/ 6 w 518"/>
                  <a:gd name="T43" fmla="*/ 89 h 149"/>
                  <a:gd name="T44" fmla="*/ 0 w 518"/>
                  <a:gd name="T45" fmla="*/ 80 h 149"/>
                  <a:gd name="T46" fmla="*/ 0 w 518"/>
                  <a:gd name="T47" fmla="*/ 69 h 149"/>
                  <a:gd name="T48" fmla="*/ 6 w 518"/>
                  <a:gd name="T49" fmla="*/ 58 h 149"/>
                  <a:gd name="T50" fmla="*/ 16 w 518"/>
                  <a:gd name="T51" fmla="*/ 49 h 149"/>
                  <a:gd name="T52" fmla="*/ 29 w 518"/>
                  <a:gd name="T53" fmla="*/ 39 h 149"/>
                  <a:gd name="T54" fmla="*/ 48 w 518"/>
                  <a:gd name="T55" fmla="*/ 30 h 149"/>
                  <a:gd name="T56" fmla="*/ 73 w 518"/>
                  <a:gd name="T57" fmla="*/ 22 h 149"/>
                  <a:gd name="T58" fmla="*/ 99 w 518"/>
                  <a:gd name="T59" fmla="*/ 15 h 149"/>
                  <a:gd name="T60" fmla="*/ 130 w 518"/>
                  <a:gd name="T61" fmla="*/ 10 h 149"/>
                  <a:gd name="T62" fmla="*/ 161 w 518"/>
                  <a:gd name="T63" fmla="*/ 5 h 149"/>
                  <a:gd name="T64" fmla="*/ 195 w 518"/>
                  <a:gd name="T65" fmla="*/ 2 h 149"/>
                  <a:gd name="T66" fmla="*/ 232 w 518"/>
                  <a:gd name="T67" fmla="*/ 0 h 149"/>
                  <a:gd name="T68" fmla="*/ 267 w 518"/>
                  <a:gd name="T69" fmla="*/ 0 h 149"/>
                  <a:gd name="T70" fmla="*/ 304 w 518"/>
                  <a:gd name="T71" fmla="*/ 1 h 149"/>
                  <a:gd name="T72" fmla="*/ 338 w 518"/>
                  <a:gd name="T73" fmla="*/ 3 h 149"/>
                  <a:gd name="T74" fmla="*/ 373 w 518"/>
                  <a:gd name="T75" fmla="*/ 7 h 149"/>
                  <a:gd name="T76" fmla="*/ 404 w 518"/>
                  <a:gd name="T77" fmla="*/ 12 h 149"/>
                  <a:gd name="T78" fmla="*/ 432 w 518"/>
                  <a:gd name="T79" fmla="*/ 19 h 149"/>
                  <a:gd name="T80" fmla="*/ 457 w 518"/>
                  <a:gd name="T81" fmla="*/ 25 h 149"/>
                  <a:gd name="T82" fmla="*/ 479 w 518"/>
                  <a:gd name="T83" fmla="*/ 35 h 149"/>
                  <a:gd name="T84" fmla="*/ 495 w 518"/>
                  <a:gd name="T85" fmla="*/ 44 h 149"/>
                  <a:gd name="T86" fmla="*/ 508 w 518"/>
                  <a:gd name="T87" fmla="*/ 53 h 149"/>
                  <a:gd name="T88" fmla="*/ 516 w 518"/>
                  <a:gd name="T89" fmla="*/ 64 h 149"/>
                  <a:gd name="T90" fmla="*/ 518 w 518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8"/>
                  <a:gd name="T139" fmla="*/ 0 h 149"/>
                  <a:gd name="T140" fmla="*/ 518 w 518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8" h="149">
                    <a:moveTo>
                      <a:pt x="518" y="75"/>
                    </a:moveTo>
                    <a:lnTo>
                      <a:pt x="516" y="84"/>
                    </a:lnTo>
                    <a:lnTo>
                      <a:pt x="508" y="95"/>
                    </a:lnTo>
                    <a:lnTo>
                      <a:pt x="495" y="105"/>
                    </a:lnTo>
                    <a:lnTo>
                      <a:pt x="479" y="113"/>
                    </a:lnTo>
                    <a:lnTo>
                      <a:pt x="457" y="122"/>
                    </a:lnTo>
                    <a:lnTo>
                      <a:pt x="432" y="130"/>
                    </a:lnTo>
                    <a:lnTo>
                      <a:pt x="404" y="137"/>
                    </a:lnTo>
                    <a:lnTo>
                      <a:pt x="373" y="141"/>
                    </a:lnTo>
                    <a:lnTo>
                      <a:pt x="338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2" y="148"/>
                    </a:lnTo>
                    <a:lnTo>
                      <a:pt x="195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9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6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6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9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5" y="2"/>
                    </a:lnTo>
                    <a:lnTo>
                      <a:pt x="232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8" y="3"/>
                    </a:lnTo>
                    <a:lnTo>
                      <a:pt x="373" y="7"/>
                    </a:lnTo>
                    <a:lnTo>
                      <a:pt x="404" y="12"/>
                    </a:lnTo>
                    <a:lnTo>
                      <a:pt x="432" y="19"/>
                    </a:lnTo>
                    <a:lnTo>
                      <a:pt x="457" y="25"/>
                    </a:lnTo>
                    <a:lnTo>
                      <a:pt x="479" y="35"/>
                    </a:lnTo>
                    <a:lnTo>
                      <a:pt x="495" y="44"/>
                    </a:lnTo>
                    <a:lnTo>
                      <a:pt x="508" y="53"/>
                    </a:lnTo>
                    <a:lnTo>
                      <a:pt x="516" y="64"/>
                    </a:lnTo>
                    <a:lnTo>
                      <a:pt x="518" y="75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63" name="Freeform 170"/>
            <p:cNvSpPr>
              <a:spLocks noEditPoints="1"/>
            </p:cNvSpPr>
            <p:nvPr/>
          </p:nvSpPr>
          <p:spPr bwMode="auto">
            <a:xfrm>
              <a:off x="1337" y="1380"/>
              <a:ext cx="272" cy="117"/>
            </a:xfrm>
            <a:custGeom>
              <a:avLst/>
              <a:gdLst>
                <a:gd name="T0" fmla="*/ 50 w 272"/>
                <a:gd name="T1" fmla="*/ 66 h 117"/>
                <a:gd name="T2" fmla="*/ 209 w 272"/>
                <a:gd name="T3" fmla="*/ 66 h 117"/>
                <a:gd name="T4" fmla="*/ 108 w 272"/>
                <a:gd name="T5" fmla="*/ 99 h 117"/>
                <a:gd name="T6" fmla="*/ 50 w 272"/>
                <a:gd name="T7" fmla="*/ 66 h 117"/>
                <a:gd name="T8" fmla="*/ 223 w 272"/>
                <a:gd name="T9" fmla="*/ 51 h 117"/>
                <a:gd name="T10" fmla="*/ 64 w 272"/>
                <a:gd name="T11" fmla="*/ 51 h 117"/>
                <a:gd name="T12" fmla="*/ 165 w 272"/>
                <a:gd name="T13" fmla="*/ 17 h 117"/>
                <a:gd name="T14" fmla="*/ 223 w 272"/>
                <a:gd name="T15" fmla="*/ 51 h 117"/>
                <a:gd name="T16" fmla="*/ 104 w 272"/>
                <a:gd name="T17" fmla="*/ 117 h 117"/>
                <a:gd name="T18" fmla="*/ 272 w 272"/>
                <a:gd name="T19" fmla="*/ 60 h 117"/>
                <a:gd name="T20" fmla="*/ 168 w 272"/>
                <a:gd name="T21" fmla="*/ 0 h 117"/>
                <a:gd name="T22" fmla="*/ 0 w 272"/>
                <a:gd name="T23" fmla="*/ 57 h 117"/>
                <a:gd name="T24" fmla="*/ 104 w 272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2"/>
                <a:gd name="T40" fmla="*/ 0 h 117"/>
                <a:gd name="T41" fmla="*/ 272 w 272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2" h="117">
                  <a:moveTo>
                    <a:pt x="50" y="66"/>
                  </a:moveTo>
                  <a:lnTo>
                    <a:pt x="209" y="66"/>
                  </a:lnTo>
                  <a:lnTo>
                    <a:pt x="108" y="99"/>
                  </a:lnTo>
                  <a:lnTo>
                    <a:pt x="50" y="66"/>
                  </a:lnTo>
                  <a:close/>
                  <a:moveTo>
                    <a:pt x="223" y="51"/>
                  </a:moveTo>
                  <a:lnTo>
                    <a:pt x="64" y="51"/>
                  </a:lnTo>
                  <a:lnTo>
                    <a:pt x="165" y="17"/>
                  </a:lnTo>
                  <a:lnTo>
                    <a:pt x="223" y="51"/>
                  </a:lnTo>
                  <a:close/>
                  <a:moveTo>
                    <a:pt x="104" y="117"/>
                  </a:moveTo>
                  <a:lnTo>
                    <a:pt x="272" y="60"/>
                  </a:lnTo>
                  <a:lnTo>
                    <a:pt x="168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4" name="Freeform 171"/>
            <p:cNvSpPr>
              <a:spLocks noEditPoints="1"/>
            </p:cNvSpPr>
            <p:nvPr/>
          </p:nvSpPr>
          <p:spPr bwMode="auto">
            <a:xfrm>
              <a:off x="1344" y="1384"/>
              <a:ext cx="272" cy="117"/>
            </a:xfrm>
            <a:custGeom>
              <a:avLst/>
              <a:gdLst>
                <a:gd name="T0" fmla="*/ 49 w 272"/>
                <a:gd name="T1" fmla="*/ 65 h 117"/>
                <a:gd name="T2" fmla="*/ 209 w 272"/>
                <a:gd name="T3" fmla="*/ 65 h 117"/>
                <a:gd name="T4" fmla="*/ 107 w 272"/>
                <a:gd name="T5" fmla="*/ 99 h 117"/>
                <a:gd name="T6" fmla="*/ 49 w 272"/>
                <a:gd name="T7" fmla="*/ 65 h 117"/>
                <a:gd name="T8" fmla="*/ 222 w 272"/>
                <a:gd name="T9" fmla="*/ 52 h 117"/>
                <a:gd name="T10" fmla="*/ 64 w 272"/>
                <a:gd name="T11" fmla="*/ 52 h 117"/>
                <a:gd name="T12" fmla="*/ 164 w 272"/>
                <a:gd name="T13" fmla="*/ 18 h 117"/>
                <a:gd name="T14" fmla="*/ 222 w 272"/>
                <a:gd name="T15" fmla="*/ 52 h 117"/>
                <a:gd name="T16" fmla="*/ 104 w 272"/>
                <a:gd name="T17" fmla="*/ 117 h 117"/>
                <a:gd name="T18" fmla="*/ 272 w 272"/>
                <a:gd name="T19" fmla="*/ 61 h 117"/>
                <a:gd name="T20" fmla="*/ 168 w 272"/>
                <a:gd name="T21" fmla="*/ 0 h 117"/>
                <a:gd name="T22" fmla="*/ 0 w 272"/>
                <a:gd name="T23" fmla="*/ 57 h 117"/>
                <a:gd name="T24" fmla="*/ 104 w 272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2"/>
                <a:gd name="T40" fmla="*/ 0 h 117"/>
                <a:gd name="T41" fmla="*/ 272 w 272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2" h="117">
                  <a:moveTo>
                    <a:pt x="49" y="65"/>
                  </a:moveTo>
                  <a:lnTo>
                    <a:pt x="209" y="65"/>
                  </a:lnTo>
                  <a:lnTo>
                    <a:pt x="107" y="99"/>
                  </a:lnTo>
                  <a:lnTo>
                    <a:pt x="49" y="65"/>
                  </a:lnTo>
                  <a:close/>
                  <a:moveTo>
                    <a:pt x="222" y="52"/>
                  </a:moveTo>
                  <a:lnTo>
                    <a:pt x="64" y="52"/>
                  </a:lnTo>
                  <a:lnTo>
                    <a:pt x="164" y="18"/>
                  </a:lnTo>
                  <a:lnTo>
                    <a:pt x="222" y="52"/>
                  </a:lnTo>
                  <a:close/>
                  <a:moveTo>
                    <a:pt x="104" y="117"/>
                  </a:moveTo>
                  <a:lnTo>
                    <a:pt x="272" y="61"/>
                  </a:lnTo>
                  <a:lnTo>
                    <a:pt x="168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5" name="Freeform 172"/>
            <p:cNvSpPr>
              <a:spLocks noEditPoints="1"/>
            </p:cNvSpPr>
            <p:nvPr/>
          </p:nvSpPr>
          <p:spPr bwMode="auto">
            <a:xfrm>
              <a:off x="1393" y="157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7 w 179"/>
                <a:gd name="T3" fmla="*/ 53 h 94"/>
                <a:gd name="T4" fmla="*/ 126 w 179"/>
                <a:gd name="T5" fmla="*/ 94 h 94"/>
                <a:gd name="T6" fmla="*/ 179 w 179"/>
                <a:gd name="T7" fmla="*/ 94 h 94"/>
                <a:gd name="T8" fmla="*/ 179 w 179"/>
                <a:gd name="T9" fmla="*/ 77 h 94"/>
                <a:gd name="T10" fmla="*/ 157 w 179"/>
                <a:gd name="T11" fmla="*/ 77 h 94"/>
                <a:gd name="T12" fmla="*/ 129 w 179"/>
                <a:gd name="T13" fmla="*/ 49 h 94"/>
                <a:gd name="T14" fmla="*/ 134 w 179"/>
                <a:gd name="T15" fmla="*/ 47 h 94"/>
                <a:gd name="T16" fmla="*/ 143 w 179"/>
                <a:gd name="T17" fmla="*/ 44 h 94"/>
                <a:gd name="T18" fmla="*/ 150 w 179"/>
                <a:gd name="T19" fmla="*/ 41 h 94"/>
                <a:gd name="T20" fmla="*/ 154 w 179"/>
                <a:gd name="T21" fmla="*/ 37 h 94"/>
                <a:gd name="T22" fmla="*/ 158 w 179"/>
                <a:gd name="T23" fmla="*/ 32 h 94"/>
                <a:gd name="T24" fmla="*/ 159 w 179"/>
                <a:gd name="T25" fmla="*/ 26 h 94"/>
                <a:gd name="T26" fmla="*/ 158 w 179"/>
                <a:gd name="T27" fmla="*/ 23 h 94"/>
                <a:gd name="T28" fmla="*/ 157 w 179"/>
                <a:gd name="T29" fmla="*/ 17 h 94"/>
                <a:gd name="T30" fmla="*/ 152 w 179"/>
                <a:gd name="T31" fmla="*/ 13 h 94"/>
                <a:gd name="T32" fmla="*/ 145 w 179"/>
                <a:gd name="T33" fmla="*/ 8 h 94"/>
                <a:gd name="T34" fmla="*/ 143 w 179"/>
                <a:gd name="T35" fmla="*/ 6 h 94"/>
                <a:gd name="T36" fmla="*/ 135 w 179"/>
                <a:gd name="T37" fmla="*/ 3 h 94"/>
                <a:gd name="T38" fmla="*/ 126 w 179"/>
                <a:gd name="T39" fmla="*/ 1 h 94"/>
                <a:gd name="T40" fmla="*/ 116 w 179"/>
                <a:gd name="T41" fmla="*/ 0 h 94"/>
                <a:gd name="T42" fmla="*/ 104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4 w 179"/>
                <a:gd name="T49" fmla="*/ 16 h 94"/>
                <a:gd name="T50" fmla="*/ 24 w 179"/>
                <a:gd name="T51" fmla="*/ 77 h 94"/>
                <a:gd name="T52" fmla="*/ 0 w 179"/>
                <a:gd name="T53" fmla="*/ 77 h 94"/>
                <a:gd name="T54" fmla="*/ 0 w 179"/>
                <a:gd name="T55" fmla="*/ 94 h 94"/>
                <a:gd name="T56" fmla="*/ 90 w 179"/>
                <a:gd name="T57" fmla="*/ 94 h 94"/>
                <a:gd name="T58" fmla="*/ 90 w 179"/>
                <a:gd name="T59" fmla="*/ 77 h 94"/>
                <a:gd name="T60" fmla="*/ 68 w 179"/>
                <a:gd name="T61" fmla="*/ 77 h 94"/>
                <a:gd name="T62" fmla="*/ 68 w 179"/>
                <a:gd name="T63" fmla="*/ 53 h 94"/>
                <a:gd name="T64" fmla="*/ 68 w 179"/>
                <a:gd name="T65" fmla="*/ 16 h 94"/>
                <a:gd name="T66" fmla="*/ 87 w 179"/>
                <a:gd name="T67" fmla="*/ 16 h 94"/>
                <a:gd name="T68" fmla="*/ 97 w 179"/>
                <a:gd name="T69" fmla="*/ 16 h 94"/>
                <a:gd name="T70" fmla="*/ 105 w 179"/>
                <a:gd name="T71" fmla="*/ 17 h 94"/>
                <a:gd name="T72" fmla="*/ 110 w 179"/>
                <a:gd name="T73" fmla="*/ 21 h 94"/>
                <a:gd name="T74" fmla="*/ 113 w 179"/>
                <a:gd name="T75" fmla="*/ 27 h 94"/>
                <a:gd name="T76" fmla="*/ 113 w 179"/>
                <a:gd name="T77" fmla="*/ 28 h 94"/>
                <a:gd name="T78" fmla="*/ 110 w 179"/>
                <a:gd name="T79" fmla="*/ 32 h 94"/>
                <a:gd name="T80" fmla="*/ 104 w 179"/>
                <a:gd name="T81" fmla="*/ 35 h 94"/>
                <a:gd name="T82" fmla="*/ 96 w 179"/>
                <a:gd name="T83" fmla="*/ 37 h 94"/>
                <a:gd name="T84" fmla="*/ 84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7" y="53"/>
                  </a:lnTo>
                  <a:lnTo>
                    <a:pt x="126" y="94"/>
                  </a:lnTo>
                  <a:lnTo>
                    <a:pt x="179" y="94"/>
                  </a:lnTo>
                  <a:lnTo>
                    <a:pt x="179" y="77"/>
                  </a:lnTo>
                  <a:lnTo>
                    <a:pt x="157" y="77"/>
                  </a:lnTo>
                  <a:lnTo>
                    <a:pt x="129" y="49"/>
                  </a:lnTo>
                  <a:lnTo>
                    <a:pt x="134" y="47"/>
                  </a:lnTo>
                  <a:lnTo>
                    <a:pt x="143" y="44"/>
                  </a:lnTo>
                  <a:lnTo>
                    <a:pt x="150" y="41"/>
                  </a:lnTo>
                  <a:lnTo>
                    <a:pt x="154" y="37"/>
                  </a:lnTo>
                  <a:lnTo>
                    <a:pt x="158" y="32"/>
                  </a:lnTo>
                  <a:lnTo>
                    <a:pt x="159" y="26"/>
                  </a:lnTo>
                  <a:lnTo>
                    <a:pt x="158" y="23"/>
                  </a:lnTo>
                  <a:lnTo>
                    <a:pt x="157" y="17"/>
                  </a:lnTo>
                  <a:lnTo>
                    <a:pt x="152" y="13"/>
                  </a:lnTo>
                  <a:lnTo>
                    <a:pt x="145" y="8"/>
                  </a:lnTo>
                  <a:lnTo>
                    <a:pt x="143" y="6"/>
                  </a:lnTo>
                  <a:lnTo>
                    <a:pt x="135" y="3"/>
                  </a:lnTo>
                  <a:lnTo>
                    <a:pt x="126" y="1"/>
                  </a:lnTo>
                  <a:lnTo>
                    <a:pt x="116" y="0"/>
                  </a:lnTo>
                  <a:lnTo>
                    <a:pt x="10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7"/>
                  </a:lnTo>
                  <a:lnTo>
                    <a:pt x="0" y="77"/>
                  </a:lnTo>
                  <a:lnTo>
                    <a:pt x="0" y="94"/>
                  </a:lnTo>
                  <a:lnTo>
                    <a:pt x="90" y="94"/>
                  </a:lnTo>
                  <a:lnTo>
                    <a:pt x="90" y="77"/>
                  </a:lnTo>
                  <a:lnTo>
                    <a:pt x="68" y="77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7" y="16"/>
                  </a:lnTo>
                  <a:lnTo>
                    <a:pt x="97" y="16"/>
                  </a:lnTo>
                  <a:lnTo>
                    <a:pt x="105" y="17"/>
                  </a:lnTo>
                  <a:lnTo>
                    <a:pt x="110" y="21"/>
                  </a:lnTo>
                  <a:lnTo>
                    <a:pt x="113" y="27"/>
                  </a:lnTo>
                  <a:lnTo>
                    <a:pt x="113" y="28"/>
                  </a:lnTo>
                  <a:lnTo>
                    <a:pt x="110" y="32"/>
                  </a:lnTo>
                  <a:lnTo>
                    <a:pt x="104" y="35"/>
                  </a:lnTo>
                  <a:lnTo>
                    <a:pt x="96" y="37"/>
                  </a:lnTo>
                  <a:lnTo>
                    <a:pt x="84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6" name="Freeform 173"/>
            <p:cNvSpPr>
              <a:spLocks noEditPoints="1"/>
            </p:cNvSpPr>
            <p:nvPr/>
          </p:nvSpPr>
          <p:spPr bwMode="auto">
            <a:xfrm>
              <a:off x="1381" y="156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8 w 179"/>
                <a:gd name="T3" fmla="*/ 53 h 94"/>
                <a:gd name="T4" fmla="*/ 127 w 179"/>
                <a:gd name="T5" fmla="*/ 94 h 94"/>
                <a:gd name="T6" fmla="*/ 179 w 179"/>
                <a:gd name="T7" fmla="*/ 94 h 94"/>
                <a:gd name="T8" fmla="*/ 179 w 179"/>
                <a:gd name="T9" fmla="*/ 79 h 94"/>
                <a:gd name="T10" fmla="*/ 157 w 179"/>
                <a:gd name="T11" fmla="*/ 79 h 94"/>
                <a:gd name="T12" fmla="*/ 128 w 179"/>
                <a:gd name="T13" fmla="*/ 50 h 94"/>
                <a:gd name="T14" fmla="*/ 135 w 179"/>
                <a:gd name="T15" fmla="*/ 49 h 94"/>
                <a:gd name="T16" fmla="*/ 143 w 179"/>
                <a:gd name="T17" fmla="*/ 45 h 94"/>
                <a:gd name="T18" fmla="*/ 150 w 179"/>
                <a:gd name="T19" fmla="*/ 42 h 94"/>
                <a:gd name="T20" fmla="*/ 155 w 179"/>
                <a:gd name="T21" fmla="*/ 37 h 94"/>
                <a:gd name="T22" fmla="*/ 157 w 179"/>
                <a:gd name="T23" fmla="*/ 32 h 94"/>
                <a:gd name="T24" fmla="*/ 159 w 179"/>
                <a:gd name="T25" fmla="*/ 26 h 94"/>
                <a:gd name="T26" fmla="*/ 159 w 179"/>
                <a:gd name="T27" fmla="*/ 24 h 94"/>
                <a:gd name="T28" fmla="*/ 156 w 179"/>
                <a:gd name="T29" fmla="*/ 18 h 94"/>
                <a:gd name="T30" fmla="*/ 152 w 179"/>
                <a:gd name="T31" fmla="*/ 13 h 94"/>
                <a:gd name="T32" fmla="*/ 146 w 179"/>
                <a:gd name="T33" fmla="*/ 8 h 94"/>
                <a:gd name="T34" fmla="*/ 142 w 179"/>
                <a:gd name="T35" fmla="*/ 7 h 94"/>
                <a:gd name="T36" fmla="*/ 136 w 179"/>
                <a:gd name="T37" fmla="*/ 4 h 94"/>
                <a:gd name="T38" fmla="*/ 126 w 179"/>
                <a:gd name="T39" fmla="*/ 2 h 94"/>
                <a:gd name="T40" fmla="*/ 116 w 179"/>
                <a:gd name="T41" fmla="*/ 1 h 94"/>
                <a:gd name="T42" fmla="*/ 103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3 w 179"/>
                <a:gd name="T49" fmla="*/ 16 h 94"/>
                <a:gd name="T50" fmla="*/ 23 w 179"/>
                <a:gd name="T51" fmla="*/ 79 h 94"/>
                <a:gd name="T52" fmla="*/ 0 w 179"/>
                <a:gd name="T53" fmla="*/ 79 h 94"/>
                <a:gd name="T54" fmla="*/ 0 w 179"/>
                <a:gd name="T55" fmla="*/ 94 h 94"/>
                <a:gd name="T56" fmla="*/ 89 w 179"/>
                <a:gd name="T57" fmla="*/ 94 h 94"/>
                <a:gd name="T58" fmla="*/ 89 w 179"/>
                <a:gd name="T59" fmla="*/ 79 h 94"/>
                <a:gd name="T60" fmla="*/ 68 w 179"/>
                <a:gd name="T61" fmla="*/ 79 h 94"/>
                <a:gd name="T62" fmla="*/ 68 w 179"/>
                <a:gd name="T63" fmla="*/ 53 h 94"/>
                <a:gd name="T64" fmla="*/ 68 w 179"/>
                <a:gd name="T65" fmla="*/ 16 h 94"/>
                <a:gd name="T66" fmla="*/ 88 w 179"/>
                <a:gd name="T67" fmla="*/ 16 h 94"/>
                <a:gd name="T68" fmla="*/ 97 w 179"/>
                <a:gd name="T69" fmla="*/ 17 h 94"/>
                <a:gd name="T70" fmla="*/ 106 w 179"/>
                <a:gd name="T71" fmla="*/ 19 h 94"/>
                <a:gd name="T72" fmla="*/ 109 w 179"/>
                <a:gd name="T73" fmla="*/ 22 h 94"/>
                <a:gd name="T74" fmla="*/ 112 w 179"/>
                <a:gd name="T75" fmla="*/ 26 h 94"/>
                <a:gd name="T76" fmla="*/ 112 w 179"/>
                <a:gd name="T77" fmla="*/ 27 h 94"/>
                <a:gd name="T78" fmla="*/ 109 w 179"/>
                <a:gd name="T79" fmla="*/ 33 h 94"/>
                <a:gd name="T80" fmla="*/ 105 w 179"/>
                <a:gd name="T81" fmla="*/ 36 h 94"/>
                <a:gd name="T82" fmla="*/ 96 w 179"/>
                <a:gd name="T83" fmla="*/ 38 h 94"/>
                <a:gd name="T84" fmla="*/ 84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8" y="53"/>
                  </a:lnTo>
                  <a:lnTo>
                    <a:pt x="127" y="94"/>
                  </a:lnTo>
                  <a:lnTo>
                    <a:pt x="179" y="94"/>
                  </a:lnTo>
                  <a:lnTo>
                    <a:pt x="179" y="79"/>
                  </a:lnTo>
                  <a:lnTo>
                    <a:pt x="157" y="79"/>
                  </a:lnTo>
                  <a:lnTo>
                    <a:pt x="128" y="50"/>
                  </a:lnTo>
                  <a:lnTo>
                    <a:pt x="135" y="49"/>
                  </a:lnTo>
                  <a:lnTo>
                    <a:pt x="143" y="45"/>
                  </a:lnTo>
                  <a:lnTo>
                    <a:pt x="150" y="42"/>
                  </a:lnTo>
                  <a:lnTo>
                    <a:pt x="155" y="37"/>
                  </a:lnTo>
                  <a:lnTo>
                    <a:pt x="157" y="32"/>
                  </a:lnTo>
                  <a:lnTo>
                    <a:pt x="159" y="26"/>
                  </a:lnTo>
                  <a:lnTo>
                    <a:pt x="159" y="24"/>
                  </a:lnTo>
                  <a:lnTo>
                    <a:pt x="156" y="18"/>
                  </a:lnTo>
                  <a:lnTo>
                    <a:pt x="152" y="13"/>
                  </a:lnTo>
                  <a:lnTo>
                    <a:pt x="146" y="8"/>
                  </a:lnTo>
                  <a:lnTo>
                    <a:pt x="142" y="7"/>
                  </a:lnTo>
                  <a:lnTo>
                    <a:pt x="136" y="4"/>
                  </a:lnTo>
                  <a:lnTo>
                    <a:pt x="126" y="2"/>
                  </a:lnTo>
                  <a:lnTo>
                    <a:pt x="116" y="1"/>
                  </a:lnTo>
                  <a:lnTo>
                    <a:pt x="103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3" y="16"/>
                  </a:lnTo>
                  <a:lnTo>
                    <a:pt x="23" y="79"/>
                  </a:lnTo>
                  <a:lnTo>
                    <a:pt x="0" y="79"/>
                  </a:lnTo>
                  <a:lnTo>
                    <a:pt x="0" y="94"/>
                  </a:lnTo>
                  <a:lnTo>
                    <a:pt x="89" y="94"/>
                  </a:lnTo>
                  <a:lnTo>
                    <a:pt x="89" y="79"/>
                  </a:lnTo>
                  <a:lnTo>
                    <a:pt x="68" y="79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8" y="16"/>
                  </a:lnTo>
                  <a:lnTo>
                    <a:pt x="97" y="17"/>
                  </a:lnTo>
                  <a:lnTo>
                    <a:pt x="106" y="19"/>
                  </a:lnTo>
                  <a:lnTo>
                    <a:pt x="109" y="22"/>
                  </a:lnTo>
                  <a:lnTo>
                    <a:pt x="112" y="26"/>
                  </a:lnTo>
                  <a:lnTo>
                    <a:pt x="112" y="27"/>
                  </a:lnTo>
                  <a:lnTo>
                    <a:pt x="109" y="33"/>
                  </a:lnTo>
                  <a:lnTo>
                    <a:pt x="105" y="36"/>
                  </a:lnTo>
                  <a:lnTo>
                    <a:pt x="96" y="38"/>
                  </a:lnTo>
                  <a:lnTo>
                    <a:pt x="84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67" name="Group 174"/>
            <p:cNvGrpSpPr>
              <a:grpSpLocks/>
            </p:cNvGrpSpPr>
            <p:nvPr/>
          </p:nvGrpSpPr>
          <p:grpSpPr bwMode="auto">
            <a:xfrm>
              <a:off x="1217" y="1366"/>
              <a:ext cx="519" cy="352"/>
              <a:chOff x="1217" y="1366"/>
              <a:chExt cx="519" cy="352"/>
            </a:xfrm>
          </p:grpSpPr>
          <p:sp>
            <p:nvSpPr>
              <p:cNvPr id="28775" name="Freeform 175"/>
              <p:cNvSpPr>
                <a:spLocks noEditPoints="1"/>
              </p:cNvSpPr>
              <p:nvPr/>
            </p:nvSpPr>
            <p:spPr bwMode="auto">
              <a:xfrm>
                <a:off x="1217" y="1366"/>
                <a:ext cx="519" cy="352"/>
              </a:xfrm>
              <a:custGeom>
                <a:avLst/>
                <a:gdLst>
                  <a:gd name="T0" fmla="*/ 519 w 519"/>
                  <a:gd name="T1" fmla="*/ 75 h 352"/>
                  <a:gd name="T2" fmla="*/ 509 w 519"/>
                  <a:gd name="T3" fmla="*/ 95 h 352"/>
                  <a:gd name="T4" fmla="*/ 481 w 519"/>
                  <a:gd name="T5" fmla="*/ 113 h 352"/>
                  <a:gd name="T6" fmla="*/ 437 w 519"/>
                  <a:gd name="T7" fmla="*/ 129 h 352"/>
                  <a:gd name="T8" fmla="*/ 378 w 519"/>
                  <a:gd name="T9" fmla="*/ 140 h 352"/>
                  <a:gd name="T10" fmla="*/ 313 w 519"/>
                  <a:gd name="T11" fmla="*/ 147 h 352"/>
                  <a:gd name="T12" fmla="*/ 242 w 519"/>
                  <a:gd name="T13" fmla="*/ 148 h 352"/>
                  <a:gd name="T14" fmla="*/ 174 w 519"/>
                  <a:gd name="T15" fmla="*/ 144 h 352"/>
                  <a:gd name="T16" fmla="*/ 110 w 519"/>
                  <a:gd name="T17" fmla="*/ 136 h 352"/>
                  <a:gd name="T18" fmla="*/ 110 w 519"/>
                  <a:gd name="T19" fmla="*/ 136 h 352"/>
                  <a:gd name="T20" fmla="*/ 174 w 519"/>
                  <a:gd name="T21" fmla="*/ 144 h 352"/>
                  <a:gd name="T22" fmla="*/ 242 w 519"/>
                  <a:gd name="T23" fmla="*/ 148 h 352"/>
                  <a:gd name="T24" fmla="*/ 313 w 519"/>
                  <a:gd name="T25" fmla="*/ 147 h 352"/>
                  <a:gd name="T26" fmla="*/ 378 w 519"/>
                  <a:gd name="T27" fmla="*/ 140 h 352"/>
                  <a:gd name="T28" fmla="*/ 437 w 519"/>
                  <a:gd name="T29" fmla="*/ 129 h 352"/>
                  <a:gd name="T30" fmla="*/ 481 w 519"/>
                  <a:gd name="T31" fmla="*/ 113 h 352"/>
                  <a:gd name="T32" fmla="*/ 509 w 519"/>
                  <a:gd name="T33" fmla="*/ 95 h 352"/>
                  <a:gd name="T34" fmla="*/ 519 w 519"/>
                  <a:gd name="T35" fmla="*/ 75 h 352"/>
                  <a:gd name="T36" fmla="*/ 3 w 519"/>
                  <a:gd name="T37" fmla="*/ 84 h 352"/>
                  <a:gd name="T38" fmla="*/ 22 w 519"/>
                  <a:gd name="T39" fmla="*/ 105 h 352"/>
                  <a:gd name="T40" fmla="*/ 59 w 519"/>
                  <a:gd name="T41" fmla="*/ 121 h 352"/>
                  <a:gd name="T42" fmla="*/ 59 w 519"/>
                  <a:gd name="T43" fmla="*/ 121 h 352"/>
                  <a:gd name="T44" fmla="*/ 22 w 519"/>
                  <a:gd name="T45" fmla="*/ 105 h 352"/>
                  <a:gd name="T46" fmla="*/ 3 w 519"/>
                  <a:gd name="T47" fmla="*/ 84 h 352"/>
                  <a:gd name="T48" fmla="*/ 0 w 519"/>
                  <a:gd name="T49" fmla="*/ 75 h 352"/>
                  <a:gd name="T50" fmla="*/ 3 w 519"/>
                  <a:gd name="T51" fmla="*/ 288 h 352"/>
                  <a:gd name="T52" fmla="*/ 22 w 519"/>
                  <a:gd name="T53" fmla="*/ 308 h 352"/>
                  <a:gd name="T54" fmla="*/ 59 w 519"/>
                  <a:gd name="T55" fmla="*/ 325 h 352"/>
                  <a:gd name="T56" fmla="*/ 110 w 519"/>
                  <a:gd name="T57" fmla="*/ 339 h 352"/>
                  <a:gd name="T58" fmla="*/ 172 w 519"/>
                  <a:gd name="T59" fmla="*/ 348 h 352"/>
                  <a:gd name="T60" fmla="*/ 242 w 519"/>
                  <a:gd name="T61" fmla="*/ 352 h 352"/>
                  <a:gd name="T62" fmla="*/ 313 w 519"/>
                  <a:gd name="T63" fmla="*/ 351 h 352"/>
                  <a:gd name="T64" fmla="*/ 378 w 519"/>
                  <a:gd name="T65" fmla="*/ 344 h 352"/>
                  <a:gd name="T66" fmla="*/ 437 w 519"/>
                  <a:gd name="T67" fmla="*/ 333 h 352"/>
                  <a:gd name="T68" fmla="*/ 481 w 519"/>
                  <a:gd name="T69" fmla="*/ 316 h 352"/>
                  <a:gd name="T70" fmla="*/ 509 w 519"/>
                  <a:gd name="T71" fmla="*/ 299 h 352"/>
                  <a:gd name="T72" fmla="*/ 519 w 519"/>
                  <a:gd name="T73" fmla="*/ 278 h 352"/>
                  <a:gd name="T74" fmla="*/ 517 w 519"/>
                  <a:gd name="T75" fmla="*/ 64 h 352"/>
                  <a:gd name="T76" fmla="*/ 498 w 519"/>
                  <a:gd name="T77" fmla="*/ 45 h 352"/>
                  <a:gd name="T78" fmla="*/ 461 w 519"/>
                  <a:gd name="T79" fmla="*/ 26 h 352"/>
                  <a:gd name="T80" fmla="*/ 409 w 519"/>
                  <a:gd name="T81" fmla="*/ 13 h 352"/>
                  <a:gd name="T82" fmla="*/ 347 w 519"/>
                  <a:gd name="T83" fmla="*/ 4 h 352"/>
                  <a:gd name="T84" fmla="*/ 277 w 519"/>
                  <a:gd name="T85" fmla="*/ 0 h 352"/>
                  <a:gd name="T86" fmla="*/ 206 w 519"/>
                  <a:gd name="T87" fmla="*/ 1 h 352"/>
                  <a:gd name="T88" fmla="*/ 141 w 519"/>
                  <a:gd name="T89" fmla="*/ 8 h 352"/>
                  <a:gd name="T90" fmla="*/ 82 w 519"/>
                  <a:gd name="T91" fmla="*/ 20 h 352"/>
                  <a:gd name="T92" fmla="*/ 38 w 519"/>
                  <a:gd name="T93" fmla="*/ 36 h 352"/>
                  <a:gd name="T94" fmla="*/ 10 w 519"/>
                  <a:gd name="T95" fmla="*/ 53 h 352"/>
                  <a:gd name="T96" fmla="*/ 0 w 519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9"/>
                  <a:gd name="T148" fmla="*/ 0 h 352"/>
                  <a:gd name="T149" fmla="*/ 519 w 519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9" h="352">
                    <a:moveTo>
                      <a:pt x="519" y="75"/>
                    </a:moveTo>
                    <a:lnTo>
                      <a:pt x="519" y="75"/>
                    </a:lnTo>
                    <a:lnTo>
                      <a:pt x="517" y="84"/>
                    </a:lnTo>
                    <a:lnTo>
                      <a:pt x="509" y="95"/>
                    </a:lnTo>
                    <a:lnTo>
                      <a:pt x="498" y="104"/>
                    </a:lnTo>
                    <a:lnTo>
                      <a:pt x="481" y="113"/>
                    </a:lnTo>
                    <a:lnTo>
                      <a:pt x="461" y="121"/>
                    </a:lnTo>
                    <a:lnTo>
                      <a:pt x="437" y="129"/>
                    </a:lnTo>
                    <a:lnTo>
                      <a:pt x="409" y="136"/>
                    </a:lnTo>
                    <a:lnTo>
                      <a:pt x="378" y="140"/>
                    </a:lnTo>
                    <a:lnTo>
                      <a:pt x="347" y="144"/>
                    </a:lnTo>
                    <a:lnTo>
                      <a:pt x="313" y="147"/>
                    </a:lnTo>
                    <a:lnTo>
                      <a:pt x="277" y="148"/>
                    </a:lnTo>
                    <a:lnTo>
                      <a:pt x="242" y="148"/>
                    </a:lnTo>
                    <a:lnTo>
                      <a:pt x="208" y="147"/>
                    </a:lnTo>
                    <a:lnTo>
                      <a:pt x="174" y="144"/>
                    </a:lnTo>
                    <a:lnTo>
                      <a:pt x="141" y="140"/>
                    </a:lnTo>
                    <a:lnTo>
                      <a:pt x="110" y="136"/>
                    </a:lnTo>
                    <a:lnTo>
                      <a:pt x="82" y="130"/>
                    </a:lnTo>
                    <a:lnTo>
                      <a:pt x="110" y="136"/>
                    </a:lnTo>
                    <a:lnTo>
                      <a:pt x="141" y="140"/>
                    </a:lnTo>
                    <a:lnTo>
                      <a:pt x="174" y="144"/>
                    </a:lnTo>
                    <a:lnTo>
                      <a:pt x="208" y="147"/>
                    </a:lnTo>
                    <a:lnTo>
                      <a:pt x="242" y="148"/>
                    </a:lnTo>
                    <a:lnTo>
                      <a:pt x="277" y="148"/>
                    </a:lnTo>
                    <a:lnTo>
                      <a:pt x="313" y="147"/>
                    </a:lnTo>
                    <a:lnTo>
                      <a:pt x="347" y="144"/>
                    </a:lnTo>
                    <a:lnTo>
                      <a:pt x="378" y="140"/>
                    </a:lnTo>
                    <a:lnTo>
                      <a:pt x="409" y="136"/>
                    </a:lnTo>
                    <a:lnTo>
                      <a:pt x="437" y="129"/>
                    </a:lnTo>
                    <a:lnTo>
                      <a:pt x="461" y="121"/>
                    </a:lnTo>
                    <a:lnTo>
                      <a:pt x="481" y="113"/>
                    </a:lnTo>
                    <a:lnTo>
                      <a:pt x="498" y="104"/>
                    </a:lnTo>
                    <a:lnTo>
                      <a:pt x="509" y="95"/>
                    </a:lnTo>
                    <a:lnTo>
                      <a:pt x="517" y="84"/>
                    </a:lnTo>
                    <a:lnTo>
                      <a:pt x="519" y="75"/>
                    </a:lnTo>
                    <a:close/>
                    <a:moveTo>
                      <a:pt x="0" y="75"/>
                    </a:moveTo>
                    <a:lnTo>
                      <a:pt x="3" y="84"/>
                    </a:lnTo>
                    <a:lnTo>
                      <a:pt x="10" y="95"/>
                    </a:lnTo>
                    <a:lnTo>
                      <a:pt x="22" y="105"/>
                    </a:lnTo>
                    <a:lnTo>
                      <a:pt x="38" y="113"/>
                    </a:lnTo>
                    <a:lnTo>
                      <a:pt x="59" y="121"/>
                    </a:lnTo>
                    <a:lnTo>
                      <a:pt x="82" y="130"/>
                    </a:lnTo>
                    <a:lnTo>
                      <a:pt x="59" y="121"/>
                    </a:lnTo>
                    <a:lnTo>
                      <a:pt x="38" y="113"/>
                    </a:lnTo>
                    <a:lnTo>
                      <a:pt x="22" y="105"/>
                    </a:lnTo>
                    <a:lnTo>
                      <a:pt x="10" y="95"/>
                    </a:lnTo>
                    <a:lnTo>
                      <a:pt x="3" y="84"/>
                    </a:lnTo>
                    <a:lnTo>
                      <a:pt x="0" y="75"/>
                    </a:lnTo>
                    <a:close/>
                    <a:moveTo>
                      <a:pt x="0" y="75"/>
                    </a:moveTo>
                    <a:lnTo>
                      <a:pt x="0" y="278"/>
                    </a:lnTo>
                    <a:lnTo>
                      <a:pt x="3" y="288"/>
                    </a:lnTo>
                    <a:lnTo>
                      <a:pt x="10" y="299"/>
                    </a:lnTo>
                    <a:lnTo>
                      <a:pt x="22" y="308"/>
                    </a:lnTo>
                    <a:lnTo>
                      <a:pt x="38" y="316"/>
                    </a:lnTo>
                    <a:lnTo>
                      <a:pt x="59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2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7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1" y="325"/>
                    </a:lnTo>
                    <a:lnTo>
                      <a:pt x="481" y="316"/>
                    </a:lnTo>
                    <a:lnTo>
                      <a:pt x="498" y="308"/>
                    </a:lnTo>
                    <a:lnTo>
                      <a:pt x="509" y="299"/>
                    </a:lnTo>
                    <a:lnTo>
                      <a:pt x="517" y="288"/>
                    </a:lnTo>
                    <a:lnTo>
                      <a:pt x="519" y="278"/>
                    </a:lnTo>
                    <a:lnTo>
                      <a:pt x="519" y="75"/>
                    </a:lnTo>
                    <a:lnTo>
                      <a:pt x="517" y="64"/>
                    </a:lnTo>
                    <a:lnTo>
                      <a:pt x="509" y="53"/>
                    </a:lnTo>
                    <a:lnTo>
                      <a:pt x="498" y="45"/>
                    </a:lnTo>
                    <a:lnTo>
                      <a:pt x="481" y="36"/>
                    </a:lnTo>
                    <a:lnTo>
                      <a:pt x="461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7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2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9" y="26"/>
                    </a:lnTo>
                    <a:lnTo>
                      <a:pt x="38" y="36"/>
                    </a:lnTo>
                    <a:lnTo>
                      <a:pt x="22" y="45"/>
                    </a:lnTo>
                    <a:lnTo>
                      <a:pt x="10" y="53"/>
                    </a:lnTo>
                    <a:lnTo>
                      <a:pt x="3" y="64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6" name="Freeform 176"/>
              <p:cNvSpPr>
                <a:spLocks/>
              </p:cNvSpPr>
              <p:nvPr/>
            </p:nvSpPr>
            <p:spPr bwMode="auto">
              <a:xfrm>
                <a:off x="1299" y="1441"/>
                <a:ext cx="437" cy="73"/>
              </a:xfrm>
              <a:custGeom>
                <a:avLst/>
                <a:gdLst>
                  <a:gd name="T0" fmla="*/ 437 w 437"/>
                  <a:gd name="T1" fmla="*/ 0 h 73"/>
                  <a:gd name="T2" fmla="*/ 437 w 437"/>
                  <a:gd name="T3" fmla="*/ 0 h 73"/>
                  <a:gd name="T4" fmla="*/ 435 w 437"/>
                  <a:gd name="T5" fmla="*/ 9 h 73"/>
                  <a:gd name="T6" fmla="*/ 427 w 437"/>
                  <a:gd name="T7" fmla="*/ 20 h 73"/>
                  <a:gd name="T8" fmla="*/ 416 w 437"/>
                  <a:gd name="T9" fmla="*/ 29 h 73"/>
                  <a:gd name="T10" fmla="*/ 399 w 437"/>
                  <a:gd name="T11" fmla="*/ 38 h 73"/>
                  <a:gd name="T12" fmla="*/ 379 w 437"/>
                  <a:gd name="T13" fmla="*/ 46 h 73"/>
                  <a:gd name="T14" fmla="*/ 355 w 437"/>
                  <a:gd name="T15" fmla="*/ 54 h 73"/>
                  <a:gd name="T16" fmla="*/ 327 w 437"/>
                  <a:gd name="T17" fmla="*/ 61 h 73"/>
                  <a:gd name="T18" fmla="*/ 296 w 437"/>
                  <a:gd name="T19" fmla="*/ 65 h 73"/>
                  <a:gd name="T20" fmla="*/ 265 w 437"/>
                  <a:gd name="T21" fmla="*/ 69 h 73"/>
                  <a:gd name="T22" fmla="*/ 231 w 437"/>
                  <a:gd name="T23" fmla="*/ 72 h 73"/>
                  <a:gd name="T24" fmla="*/ 195 w 437"/>
                  <a:gd name="T25" fmla="*/ 73 h 73"/>
                  <a:gd name="T26" fmla="*/ 160 w 437"/>
                  <a:gd name="T27" fmla="*/ 73 h 73"/>
                  <a:gd name="T28" fmla="*/ 126 w 437"/>
                  <a:gd name="T29" fmla="*/ 72 h 73"/>
                  <a:gd name="T30" fmla="*/ 92 w 437"/>
                  <a:gd name="T31" fmla="*/ 69 h 73"/>
                  <a:gd name="T32" fmla="*/ 59 w 437"/>
                  <a:gd name="T33" fmla="*/ 65 h 73"/>
                  <a:gd name="T34" fmla="*/ 28 w 437"/>
                  <a:gd name="T35" fmla="*/ 61 h 73"/>
                  <a:gd name="T36" fmla="*/ 0 w 437"/>
                  <a:gd name="T37" fmla="*/ 55 h 73"/>
                  <a:gd name="T38" fmla="*/ 28 w 437"/>
                  <a:gd name="T39" fmla="*/ 61 h 73"/>
                  <a:gd name="T40" fmla="*/ 59 w 437"/>
                  <a:gd name="T41" fmla="*/ 65 h 73"/>
                  <a:gd name="T42" fmla="*/ 92 w 437"/>
                  <a:gd name="T43" fmla="*/ 69 h 73"/>
                  <a:gd name="T44" fmla="*/ 126 w 437"/>
                  <a:gd name="T45" fmla="*/ 72 h 73"/>
                  <a:gd name="T46" fmla="*/ 160 w 437"/>
                  <a:gd name="T47" fmla="*/ 73 h 73"/>
                  <a:gd name="T48" fmla="*/ 195 w 437"/>
                  <a:gd name="T49" fmla="*/ 73 h 73"/>
                  <a:gd name="T50" fmla="*/ 231 w 437"/>
                  <a:gd name="T51" fmla="*/ 72 h 73"/>
                  <a:gd name="T52" fmla="*/ 265 w 437"/>
                  <a:gd name="T53" fmla="*/ 69 h 73"/>
                  <a:gd name="T54" fmla="*/ 296 w 437"/>
                  <a:gd name="T55" fmla="*/ 65 h 73"/>
                  <a:gd name="T56" fmla="*/ 327 w 437"/>
                  <a:gd name="T57" fmla="*/ 61 h 73"/>
                  <a:gd name="T58" fmla="*/ 355 w 437"/>
                  <a:gd name="T59" fmla="*/ 54 h 73"/>
                  <a:gd name="T60" fmla="*/ 379 w 437"/>
                  <a:gd name="T61" fmla="*/ 46 h 73"/>
                  <a:gd name="T62" fmla="*/ 399 w 437"/>
                  <a:gd name="T63" fmla="*/ 38 h 73"/>
                  <a:gd name="T64" fmla="*/ 416 w 437"/>
                  <a:gd name="T65" fmla="*/ 29 h 73"/>
                  <a:gd name="T66" fmla="*/ 427 w 437"/>
                  <a:gd name="T67" fmla="*/ 20 h 73"/>
                  <a:gd name="T68" fmla="*/ 435 w 437"/>
                  <a:gd name="T69" fmla="*/ 9 h 73"/>
                  <a:gd name="T70" fmla="*/ 437 w 437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37"/>
                  <a:gd name="T109" fmla="*/ 0 h 73"/>
                  <a:gd name="T110" fmla="*/ 437 w 437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37" h="73">
                    <a:moveTo>
                      <a:pt x="437" y="0"/>
                    </a:moveTo>
                    <a:lnTo>
                      <a:pt x="437" y="0"/>
                    </a:lnTo>
                    <a:lnTo>
                      <a:pt x="435" y="9"/>
                    </a:lnTo>
                    <a:lnTo>
                      <a:pt x="427" y="20"/>
                    </a:lnTo>
                    <a:lnTo>
                      <a:pt x="416" y="29"/>
                    </a:lnTo>
                    <a:lnTo>
                      <a:pt x="399" y="38"/>
                    </a:lnTo>
                    <a:lnTo>
                      <a:pt x="379" y="46"/>
                    </a:lnTo>
                    <a:lnTo>
                      <a:pt x="355" y="54"/>
                    </a:lnTo>
                    <a:lnTo>
                      <a:pt x="327" y="61"/>
                    </a:lnTo>
                    <a:lnTo>
                      <a:pt x="296" y="65"/>
                    </a:lnTo>
                    <a:lnTo>
                      <a:pt x="265" y="69"/>
                    </a:lnTo>
                    <a:lnTo>
                      <a:pt x="231" y="72"/>
                    </a:lnTo>
                    <a:lnTo>
                      <a:pt x="195" y="73"/>
                    </a:lnTo>
                    <a:lnTo>
                      <a:pt x="160" y="73"/>
                    </a:lnTo>
                    <a:lnTo>
                      <a:pt x="126" y="72"/>
                    </a:lnTo>
                    <a:lnTo>
                      <a:pt x="92" y="69"/>
                    </a:lnTo>
                    <a:lnTo>
                      <a:pt x="59" y="65"/>
                    </a:lnTo>
                    <a:lnTo>
                      <a:pt x="28" y="61"/>
                    </a:lnTo>
                    <a:lnTo>
                      <a:pt x="0" y="55"/>
                    </a:lnTo>
                    <a:lnTo>
                      <a:pt x="28" y="61"/>
                    </a:lnTo>
                    <a:lnTo>
                      <a:pt x="59" y="65"/>
                    </a:lnTo>
                    <a:lnTo>
                      <a:pt x="92" y="69"/>
                    </a:lnTo>
                    <a:lnTo>
                      <a:pt x="126" y="72"/>
                    </a:lnTo>
                    <a:lnTo>
                      <a:pt x="160" y="73"/>
                    </a:lnTo>
                    <a:lnTo>
                      <a:pt x="195" y="73"/>
                    </a:lnTo>
                    <a:lnTo>
                      <a:pt x="231" y="72"/>
                    </a:lnTo>
                    <a:lnTo>
                      <a:pt x="265" y="69"/>
                    </a:lnTo>
                    <a:lnTo>
                      <a:pt x="296" y="65"/>
                    </a:lnTo>
                    <a:lnTo>
                      <a:pt x="327" y="61"/>
                    </a:lnTo>
                    <a:lnTo>
                      <a:pt x="355" y="54"/>
                    </a:lnTo>
                    <a:lnTo>
                      <a:pt x="379" y="46"/>
                    </a:lnTo>
                    <a:lnTo>
                      <a:pt x="399" y="38"/>
                    </a:lnTo>
                    <a:lnTo>
                      <a:pt x="416" y="29"/>
                    </a:lnTo>
                    <a:lnTo>
                      <a:pt x="427" y="20"/>
                    </a:lnTo>
                    <a:lnTo>
                      <a:pt x="435" y="9"/>
                    </a:lnTo>
                    <a:lnTo>
                      <a:pt x="437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7" name="Freeform 177"/>
              <p:cNvSpPr>
                <a:spLocks/>
              </p:cNvSpPr>
              <p:nvPr/>
            </p:nvSpPr>
            <p:spPr bwMode="auto">
              <a:xfrm>
                <a:off x="1217" y="1441"/>
                <a:ext cx="82" cy="55"/>
              </a:xfrm>
              <a:custGeom>
                <a:avLst/>
                <a:gdLst>
                  <a:gd name="T0" fmla="*/ 0 w 82"/>
                  <a:gd name="T1" fmla="*/ 0 h 55"/>
                  <a:gd name="T2" fmla="*/ 3 w 82"/>
                  <a:gd name="T3" fmla="*/ 9 h 55"/>
                  <a:gd name="T4" fmla="*/ 10 w 82"/>
                  <a:gd name="T5" fmla="*/ 20 h 55"/>
                  <a:gd name="T6" fmla="*/ 22 w 82"/>
                  <a:gd name="T7" fmla="*/ 30 h 55"/>
                  <a:gd name="T8" fmla="*/ 38 w 82"/>
                  <a:gd name="T9" fmla="*/ 38 h 55"/>
                  <a:gd name="T10" fmla="*/ 59 w 82"/>
                  <a:gd name="T11" fmla="*/ 46 h 55"/>
                  <a:gd name="T12" fmla="*/ 82 w 82"/>
                  <a:gd name="T13" fmla="*/ 55 h 55"/>
                  <a:gd name="T14" fmla="*/ 59 w 82"/>
                  <a:gd name="T15" fmla="*/ 46 h 55"/>
                  <a:gd name="T16" fmla="*/ 38 w 82"/>
                  <a:gd name="T17" fmla="*/ 38 h 55"/>
                  <a:gd name="T18" fmla="*/ 22 w 82"/>
                  <a:gd name="T19" fmla="*/ 30 h 55"/>
                  <a:gd name="T20" fmla="*/ 10 w 82"/>
                  <a:gd name="T21" fmla="*/ 20 h 55"/>
                  <a:gd name="T22" fmla="*/ 3 w 82"/>
                  <a:gd name="T23" fmla="*/ 9 h 55"/>
                  <a:gd name="T24" fmla="*/ 0 w 82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2"/>
                  <a:gd name="T40" fmla="*/ 0 h 55"/>
                  <a:gd name="T41" fmla="*/ 82 w 82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2" h="55">
                    <a:moveTo>
                      <a:pt x="0" y="0"/>
                    </a:moveTo>
                    <a:lnTo>
                      <a:pt x="3" y="9"/>
                    </a:lnTo>
                    <a:lnTo>
                      <a:pt x="10" y="20"/>
                    </a:lnTo>
                    <a:lnTo>
                      <a:pt x="22" y="30"/>
                    </a:lnTo>
                    <a:lnTo>
                      <a:pt x="38" y="38"/>
                    </a:lnTo>
                    <a:lnTo>
                      <a:pt x="59" y="46"/>
                    </a:lnTo>
                    <a:lnTo>
                      <a:pt x="82" y="55"/>
                    </a:lnTo>
                    <a:lnTo>
                      <a:pt x="59" y="46"/>
                    </a:lnTo>
                    <a:lnTo>
                      <a:pt x="38" y="38"/>
                    </a:lnTo>
                    <a:lnTo>
                      <a:pt x="22" y="30"/>
                    </a:lnTo>
                    <a:lnTo>
                      <a:pt x="10" y="20"/>
                    </a:lnTo>
                    <a:lnTo>
                      <a:pt x="3" y="9"/>
                    </a:lnTo>
                    <a:lnTo>
                      <a:pt x="0" y="0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8" name="Freeform 178"/>
              <p:cNvSpPr>
                <a:spLocks/>
              </p:cNvSpPr>
              <p:nvPr/>
            </p:nvSpPr>
            <p:spPr bwMode="auto">
              <a:xfrm>
                <a:off x="1217" y="1366"/>
                <a:ext cx="519" cy="352"/>
              </a:xfrm>
              <a:custGeom>
                <a:avLst/>
                <a:gdLst>
                  <a:gd name="T0" fmla="*/ 0 w 519"/>
                  <a:gd name="T1" fmla="*/ 75 h 352"/>
                  <a:gd name="T2" fmla="*/ 0 w 519"/>
                  <a:gd name="T3" fmla="*/ 278 h 352"/>
                  <a:gd name="T4" fmla="*/ 3 w 519"/>
                  <a:gd name="T5" fmla="*/ 288 h 352"/>
                  <a:gd name="T6" fmla="*/ 10 w 519"/>
                  <a:gd name="T7" fmla="*/ 299 h 352"/>
                  <a:gd name="T8" fmla="*/ 22 w 519"/>
                  <a:gd name="T9" fmla="*/ 308 h 352"/>
                  <a:gd name="T10" fmla="*/ 38 w 519"/>
                  <a:gd name="T11" fmla="*/ 316 h 352"/>
                  <a:gd name="T12" fmla="*/ 59 w 519"/>
                  <a:gd name="T13" fmla="*/ 325 h 352"/>
                  <a:gd name="T14" fmla="*/ 82 w 519"/>
                  <a:gd name="T15" fmla="*/ 333 h 352"/>
                  <a:gd name="T16" fmla="*/ 110 w 519"/>
                  <a:gd name="T17" fmla="*/ 339 h 352"/>
                  <a:gd name="T18" fmla="*/ 141 w 519"/>
                  <a:gd name="T19" fmla="*/ 344 h 352"/>
                  <a:gd name="T20" fmla="*/ 172 w 519"/>
                  <a:gd name="T21" fmla="*/ 348 h 352"/>
                  <a:gd name="T22" fmla="*/ 206 w 519"/>
                  <a:gd name="T23" fmla="*/ 351 h 352"/>
                  <a:gd name="T24" fmla="*/ 242 w 519"/>
                  <a:gd name="T25" fmla="*/ 352 h 352"/>
                  <a:gd name="T26" fmla="*/ 277 w 519"/>
                  <a:gd name="T27" fmla="*/ 352 h 352"/>
                  <a:gd name="T28" fmla="*/ 313 w 519"/>
                  <a:gd name="T29" fmla="*/ 351 h 352"/>
                  <a:gd name="T30" fmla="*/ 347 w 519"/>
                  <a:gd name="T31" fmla="*/ 348 h 352"/>
                  <a:gd name="T32" fmla="*/ 378 w 519"/>
                  <a:gd name="T33" fmla="*/ 344 h 352"/>
                  <a:gd name="T34" fmla="*/ 409 w 519"/>
                  <a:gd name="T35" fmla="*/ 339 h 352"/>
                  <a:gd name="T36" fmla="*/ 437 w 519"/>
                  <a:gd name="T37" fmla="*/ 333 h 352"/>
                  <a:gd name="T38" fmla="*/ 461 w 519"/>
                  <a:gd name="T39" fmla="*/ 325 h 352"/>
                  <a:gd name="T40" fmla="*/ 481 w 519"/>
                  <a:gd name="T41" fmla="*/ 316 h 352"/>
                  <a:gd name="T42" fmla="*/ 498 w 519"/>
                  <a:gd name="T43" fmla="*/ 308 h 352"/>
                  <a:gd name="T44" fmla="*/ 509 w 519"/>
                  <a:gd name="T45" fmla="*/ 299 h 352"/>
                  <a:gd name="T46" fmla="*/ 517 w 519"/>
                  <a:gd name="T47" fmla="*/ 288 h 352"/>
                  <a:gd name="T48" fmla="*/ 519 w 519"/>
                  <a:gd name="T49" fmla="*/ 278 h 352"/>
                  <a:gd name="T50" fmla="*/ 519 w 519"/>
                  <a:gd name="T51" fmla="*/ 75 h 352"/>
                  <a:gd name="T52" fmla="*/ 517 w 519"/>
                  <a:gd name="T53" fmla="*/ 64 h 352"/>
                  <a:gd name="T54" fmla="*/ 509 w 519"/>
                  <a:gd name="T55" fmla="*/ 53 h 352"/>
                  <a:gd name="T56" fmla="*/ 498 w 519"/>
                  <a:gd name="T57" fmla="*/ 45 h 352"/>
                  <a:gd name="T58" fmla="*/ 481 w 519"/>
                  <a:gd name="T59" fmla="*/ 36 h 352"/>
                  <a:gd name="T60" fmla="*/ 461 w 519"/>
                  <a:gd name="T61" fmla="*/ 26 h 352"/>
                  <a:gd name="T62" fmla="*/ 437 w 519"/>
                  <a:gd name="T63" fmla="*/ 20 h 352"/>
                  <a:gd name="T64" fmla="*/ 409 w 519"/>
                  <a:gd name="T65" fmla="*/ 13 h 352"/>
                  <a:gd name="T66" fmla="*/ 378 w 519"/>
                  <a:gd name="T67" fmla="*/ 8 h 352"/>
                  <a:gd name="T68" fmla="*/ 347 w 519"/>
                  <a:gd name="T69" fmla="*/ 4 h 352"/>
                  <a:gd name="T70" fmla="*/ 313 w 519"/>
                  <a:gd name="T71" fmla="*/ 1 h 352"/>
                  <a:gd name="T72" fmla="*/ 277 w 519"/>
                  <a:gd name="T73" fmla="*/ 0 h 352"/>
                  <a:gd name="T74" fmla="*/ 242 w 519"/>
                  <a:gd name="T75" fmla="*/ 0 h 352"/>
                  <a:gd name="T76" fmla="*/ 206 w 519"/>
                  <a:gd name="T77" fmla="*/ 1 h 352"/>
                  <a:gd name="T78" fmla="*/ 172 w 519"/>
                  <a:gd name="T79" fmla="*/ 4 h 352"/>
                  <a:gd name="T80" fmla="*/ 141 w 519"/>
                  <a:gd name="T81" fmla="*/ 8 h 352"/>
                  <a:gd name="T82" fmla="*/ 110 w 519"/>
                  <a:gd name="T83" fmla="*/ 13 h 352"/>
                  <a:gd name="T84" fmla="*/ 82 w 519"/>
                  <a:gd name="T85" fmla="*/ 20 h 352"/>
                  <a:gd name="T86" fmla="*/ 59 w 519"/>
                  <a:gd name="T87" fmla="*/ 26 h 352"/>
                  <a:gd name="T88" fmla="*/ 38 w 519"/>
                  <a:gd name="T89" fmla="*/ 36 h 352"/>
                  <a:gd name="T90" fmla="*/ 22 w 519"/>
                  <a:gd name="T91" fmla="*/ 45 h 352"/>
                  <a:gd name="T92" fmla="*/ 10 w 519"/>
                  <a:gd name="T93" fmla="*/ 53 h 352"/>
                  <a:gd name="T94" fmla="*/ 3 w 519"/>
                  <a:gd name="T95" fmla="*/ 64 h 352"/>
                  <a:gd name="T96" fmla="*/ 0 w 519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9"/>
                  <a:gd name="T148" fmla="*/ 0 h 352"/>
                  <a:gd name="T149" fmla="*/ 519 w 519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9" h="352">
                    <a:moveTo>
                      <a:pt x="0" y="75"/>
                    </a:moveTo>
                    <a:lnTo>
                      <a:pt x="0" y="278"/>
                    </a:lnTo>
                    <a:lnTo>
                      <a:pt x="3" y="288"/>
                    </a:lnTo>
                    <a:lnTo>
                      <a:pt x="10" y="299"/>
                    </a:lnTo>
                    <a:lnTo>
                      <a:pt x="22" y="308"/>
                    </a:lnTo>
                    <a:lnTo>
                      <a:pt x="38" y="316"/>
                    </a:lnTo>
                    <a:lnTo>
                      <a:pt x="59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2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7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1" y="325"/>
                    </a:lnTo>
                    <a:lnTo>
                      <a:pt x="481" y="316"/>
                    </a:lnTo>
                    <a:lnTo>
                      <a:pt x="498" y="308"/>
                    </a:lnTo>
                    <a:lnTo>
                      <a:pt x="509" y="299"/>
                    </a:lnTo>
                    <a:lnTo>
                      <a:pt x="517" y="288"/>
                    </a:lnTo>
                    <a:lnTo>
                      <a:pt x="519" y="278"/>
                    </a:lnTo>
                    <a:lnTo>
                      <a:pt x="519" y="75"/>
                    </a:lnTo>
                    <a:lnTo>
                      <a:pt x="517" y="64"/>
                    </a:lnTo>
                    <a:lnTo>
                      <a:pt x="509" y="53"/>
                    </a:lnTo>
                    <a:lnTo>
                      <a:pt x="498" y="45"/>
                    </a:lnTo>
                    <a:lnTo>
                      <a:pt x="481" y="36"/>
                    </a:lnTo>
                    <a:lnTo>
                      <a:pt x="461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7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2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9" y="26"/>
                    </a:lnTo>
                    <a:lnTo>
                      <a:pt x="38" y="36"/>
                    </a:lnTo>
                    <a:lnTo>
                      <a:pt x="22" y="45"/>
                    </a:lnTo>
                    <a:lnTo>
                      <a:pt x="10" y="53"/>
                    </a:lnTo>
                    <a:lnTo>
                      <a:pt x="3" y="64"/>
                    </a:lnTo>
                    <a:lnTo>
                      <a:pt x="0" y="75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68" name="Group 179"/>
            <p:cNvGrpSpPr>
              <a:grpSpLocks/>
            </p:cNvGrpSpPr>
            <p:nvPr/>
          </p:nvGrpSpPr>
          <p:grpSpPr bwMode="auto">
            <a:xfrm>
              <a:off x="1218" y="1366"/>
              <a:ext cx="518" cy="149"/>
              <a:chOff x="1218" y="1366"/>
              <a:chExt cx="518" cy="149"/>
            </a:xfrm>
          </p:grpSpPr>
          <p:sp>
            <p:nvSpPr>
              <p:cNvPr id="28773" name="Freeform 180"/>
              <p:cNvSpPr>
                <a:spLocks/>
              </p:cNvSpPr>
              <p:nvPr/>
            </p:nvSpPr>
            <p:spPr bwMode="auto">
              <a:xfrm>
                <a:off x="1218" y="1366"/>
                <a:ext cx="518" cy="149"/>
              </a:xfrm>
              <a:custGeom>
                <a:avLst/>
                <a:gdLst>
                  <a:gd name="T0" fmla="*/ 518 w 518"/>
                  <a:gd name="T1" fmla="*/ 75 h 149"/>
                  <a:gd name="T2" fmla="*/ 516 w 518"/>
                  <a:gd name="T3" fmla="*/ 84 h 149"/>
                  <a:gd name="T4" fmla="*/ 508 w 518"/>
                  <a:gd name="T5" fmla="*/ 95 h 149"/>
                  <a:gd name="T6" fmla="*/ 495 w 518"/>
                  <a:gd name="T7" fmla="*/ 105 h 149"/>
                  <a:gd name="T8" fmla="*/ 479 w 518"/>
                  <a:gd name="T9" fmla="*/ 113 h 149"/>
                  <a:gd name="T10" fmla="*/ 457 w 518"/>
                  <a:gd name="T11" fmla="*/ 122 h 149"/>
                  <a:gd name="T12" fmla="*/ 432 w 518"/>
                  <a:gd name="T13" fmla="*/ 130 h 149"/>
                  <a:gd name="T14" fmla="*/ 404 w 518"/>
                  <a:gd name="T15" fmla="*/ 137 h 149"/>
                  <a:gd name="T16" fmla="*/ 373 w 518"/>
                  <a:gd name="T17" fmla="*/ 141 h 149"/>
                  <a:gd name="T18" fmla="*/ 338 w 518"/>
                  <a:gd name="T19" fmla="*/ 145 h 149"/>
                  <a:gd name="T20" fmla="*/ 304 w 518"/>
                  <a:gd name="T21" fmla="*/ 147 h 149"/>
                  <a:gd name="T22" fmla="*/ 267 w 518"/>
                  <a:gd name="T23" fmla="*/ 149 h 149"/>
                  <a:gd name="T24" fmla="*/ 232 w 518"/>
                  <a:gd name="T25" fmla="*/ 148 h 149"/>
                  <a:gd name="T26" fmla="*/ 195 w 518"/>
                  <a:gd name="T27" fmla="*/ 146 h 149"/>
                  <a:gd name="T28" fmla="*/ 161 w 518"/>
                  <a:gd name="T29" fmla="*/ 143 h 149"/>
                  <a:gd name="T30" fmla="*/ 130 w 518"/>
                  <a:gd name="T31" fmla="*/ 139 h 149"/>
                  <a:gd name="T32" fmla="*/ 99 w 518"/>
                  <a:gd name="T33" fmla="*/ 134 h 149"/>
                  <a:gd name="T34" fmla="*/ 73 w 518"/>
                  <a:gd name="T35" fmla="*/ 126 h 149"/>
                  <a:gd name="T36" fmla="*/ 48 w 518"/>
                  <a:gd name="T37" fmla="*/ 118 h 149"/>
                  <a:gd name="T38" fmla="*/ 29 w 518"/>
                  <a:gd name="T39" fmla="*/ 109 h 149"/>
                  <a:gd name="T40" fmla="*/ 16 w 518"/>
                  <a:gd name="T41" fmla="*/ 100 h 149"/>
                  <a:gd name="T42" fmla="*/ 6 w 518"/>
                  <a:gd name="T43" fmla="*/ 89 h 149"/>
                  <a:gd name="T44" fmla="*/ 0 w 518"/>
                  <a:gd name="T45" fmla="*/ 80 h 149"/>
                  <a:gd name="T46" fmla="*/ 0 w 518"/>
                  <a:gd name="T47" fmla="*/ 69 h 149"/>
                  <a:gd name="T48" fmla="*/ 6 w 518"/>
                  <a:gd name="T49" fmla="*/ 58 h 149"/>
                  <a:gd name="T50" fmla="*/ 16 w 518"/>
                  <a:gd name="T51" fmla="*/ 49 h 149"/>
                  <a:gd name="T52" fmla="*/ 29 w 518"/>
                  <a:gd name="T53" fmla="*/ 39 h 149"/>
                  <a:gd name="T54" fmla="*/ 48 w 518"/>
                  <a:gd name="T55" fmla="*/ 30 h 149"/>
                  <a:gd name="T56" fmla="*/ 73 w 518"/>
                  <a:gd name="T57" fmla="*/ 22 h 149"/>
                  <a:gd name="T58" fmla="*/ 99 w 518"/>
                  <a:gd name="T59" fmla="*/ 15 h 149"/>
                  <a:gd name="T60" fmla="*/ 130 w 518"/>
                  <a:gd name="T61" fmla="*/ 10 h 149"/>
                  <a:gd name="T62" fmla="*/ 161 w 518"/>
                  <a:gd name="T63" fmla="*/ 5 h 149"/>
                  <a:gd name="T64" fmla="*/ 195 w 518"/>
                  <a:gd name="T65" fmla="*/ 2 h 149"/>
                  <a:gd name="T66" fmla="*/ 232 w 518"/>
                  <a:gd name="T67" fmla="*/ 0 h 149"/>
                  <a:gd name="T68" fmla="*/ 267 w 518"/>
                  <a:gd name="T69" fmla="*/ 0 h 149"/>
                  <a:gd name="T70" fmla="*/ 304 w 518"/>
                  <a:gd name="T71" fmla="*/ 1 h 149"/>
                  <a:gd name="T72" fmla="*/ 338 w 518"/>
                  <a:gd name="T73" fmla="*/ 3 h 149"/>
                  <a:gd name="T74" fmla="*/ 373 w 518"/>
                  <a:gd name="T75" fmla="*/ 7 h 149"/>
                  <a:gd name="T76" fmla="*/ 404 w 518"/>
                  <a:gd name="T77" fmla="*/ 12 h 149"/>
                  <a:gd name="T78" fmla="*/ 432 w 518"/>
                  <a:gd name="T79" fmla="*/ 19 h 149"/>
                  <a:gd name="T80" fmla="*/ 457 w 518"/>
                  <a:gd name="T81" fmla="*/ 25 h 149"/>
                  <a:gd name="T82" fmla="*/ 479 w 518"/>
                  <a:gd name="T83" fmla="*/ 35 h 149"/>
                  <a:gd name="T84" fmla="*/ 495 w 518"/>
                  <a:gd name="T85" fmla="*/ 44 h 149"/>
                  <a:gd name="T86" fmla="*/ 508 w 518"/>
                  <a:gd name="T87" fmla="*/ 53 h 149"/>
                  <a:gd name="T88" fmla="*/ 516 w 518"/>
                  <a:gd name="T89" fmla="*/ 64 h 149"/>
                  <a:gd name="T90" fmla="*/ 518 w 518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8"/>
                  <a:gd name="T139" fmla="*/ 0 h 149"/>
                  <a:gd name="T140" fmla="*/ 518 w 518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8" h="149">
                    <a:moveTo>
                      <a:pt x="518" y="75"/>
                    </a:moveTo>
                    <a:lnTo>
                      <a:pt x="516" y="84"/>
                    </a:lnTo>
                    <a:lnTo>
                      <a:pt x="508" y="95"/>
                    </a:lnTo>
                    <a:lnTo>
                      <a:pt x="495" y="105"/>
                    </a:lnTo>
                    <a:lnTo>
                      <a:pt x="479" y="113"/>
                    </a:lnTo>
                    <a:lnTo>
                      <a:pt x="457" y="122"/>
                    </a:lnTo>
                    <a:lnTo>
                      <a:pt x="432" y="130"/>
                    </a:lnTo>
                    <a:lnTo>
                      <a:pt x="404" y="137"/>
                    </a:lnTo>
                    <a:lnTo>
                      <a:pt x="373" y="141"/>
                    </a:lnTo>
                    <a:lnTo>
                      <a:pt x="338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2" y="148"/>
                    </a:lnTo>
                    <a:lnTo>
                      <a:pt x="195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9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6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6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9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5" y="2"/>
                    </a:lnTo>
                    <a:lnTo>
                      <a:pt x="232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8" y="3"/>
                    </a:lnTo>
                    <a:lnTo>
                      <a:pt x="373" y="7"/>
                    </a:lnTo>
                    <a:lnTo>
                      <a:pt x="404" y="12"/>
                    </a:lnTo>
                    <a:lnTo>
                      <a:pt x="432" y="19"/>
                    </a:lnTo>
                    <a:lnTo>
                      <a:pt x="457" y="25"/>
                    </a:lnTo>
                    <a:lnTo>
                      <a:pt x="479" y="35"/>
                    </a:lnTo>
                    <a:lnTo>
                      <a:pt x="495" y="44"/>
                    </a:lnTo>
                    <a:lnTo>
                      <a:pt x="508" y="53"/>
                    </a:lnTo>
                    <a:lnTo>
                      <a:pt x="516" y="64"/>
                    </a:lnTo>
                    <a:lnTo>
                      <a:pt x="518" y="75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4" name="Freeform 181"/>
              <p:cNvSpPr>
                <a:spLocks/>
              </p:cNvSpPr>
              <p:nvPr/>
            </p:nvSpPr>
            <p:spPr bwMode="auto">
              <a:xfrm>
                <a:off x="1218" y="1366"/>
                <a:ext cx="518" cy="149"/>
              </a:xfrm>
              <a:custGeom>
                <a:avLst/>
                <a:gdLst>
                  <a:gd name="T0" fmla="*/ 518 w 518"/>
                  <a:gd name="T1" fmla="*/ 75 h 149"/>
                  <a:gd name="T2" fmla="*/ 516 w 518"/>
                  <a:gd name="T3" fmla="*/ 84 h 149"/>
                  <a:gd name="T4" fmla="*/ 508 w 518"/>
                  <a:gd name="T5" fmla="*/ 95 h 149"/>
                  <a:gd name="T6" fmla="*/ 495 w 518"/>
                  <a:gd name="T7" fmla="*/ 105 h 149"/>
                  <a:gd name="T8" fmla="*/ 479 w 518"/>
                  <a:gd name="T9" fmla="*/ 113 h 149"/>
                  <a:gd name="T10" fmla="*/ 457 w 518"/>
                  <a:gd name="T11" fmla="*/ 122 h 149"/>
                  <a:gd name="T12" fmla="*/ 432 w 518"/>
                  <a:gd name="T13" fmla="*/ 130 h 149"/>
                  <a:gd name="T14" fmla="*/ 404 w 518"/>
                  <a:gd name="T15" fmla="*/ 137 h 149"/>
                  <a:gd name="T16" fmla="*/ 373 w 518"/>
                  <a:gd name="T17" fmla="*/ 141 h 149"/>
                  <a:gd name="T18" fmla="*/ 338 w 518"/>
                  <a:gd name="T19" fmla="*/ 145 h 149"/>
                  <a:gd name="T20" fmla="*/ 304 w 518"/>
                  <a:gd name="T21" fmla="*/ 147 h 149"/>
                  <a:gd name="T22" fmla="*/ 267 w 518"/>
                  <a:gd name="T23" fmla="*/ 149 h 149"/>
                  <a:gd name="T24" fmla="*/ 232 w 518"/>
                  <a:gd name="T25" fmla="*/ 148 h 149"/>
                  <a:gd name="T26" fmla="*/ 195 w 518"/>
                  <a:gd name="T27" fmla="*/ 146 h 149"/>
                  <a:gd name="T28" fmla="*/ 161 w 518"/>
                  <a:gd name="T29" fmla="*/ 143 h 149"/>
                  <a:gd name="T30" fmla="*/ 130 w 518"/>
                  <a:gd name="T31" fmla="*/ 139 h 149"/>
                  <a:gd name="T32" fmla="*/ 99 w 518"/>
                  <a:gd name="T33" fmla="*/ 134 h 149"/>
                  <a:gd name="T34" fmla="*/ 73 w 518"/>
                  <a:gd name="T35" fmla="*/ 126 h 149"/>
                  <a:gd name="T36" fmla="*/ 48 w 518"/>
                  <a:gd name="T37" fmla="*/ 118 h 149"/>
                  <a:gd name="T38" fmla="*/ 29 w 518"/>
                  <a:gd name="T39" fmla="*/ 109 h 149"/>
                  <a:gd name="T40" fmla="*/ 16 w 518"/>
                  <a:gd name="T41" fmla="*/ 100 h 149"/>
                  <a:gd name="T42" fmla="*/ 6 w 518"/>
                  <a:gd name="T43" fmla="*/ 89 h 149"/>
                  <a:gd name="T44" fmla="*/ 0 w 518"/>
                  <a:gd name="T45" fmla="*/ 80 h 149"/>
                  <a:gd name="T46" fmla="*/ 0 w 518"/>
                  <a:gd name="T47" fmla="*/ 69 h 149"/>
                  <a:gd name="T48" fmla="*/ 6 w 518"/>
                  <a:gd name="T49" fmla="*/ 58 h 149"/>
                  <a:gd name="T50" fmla="*/ 16 w 518"/>
                  <a:gd name="T51" fmla="*/ 49 h 149"/>
                  <a:gd name="T52" fmla="*/ 29 w 518"/>
                  <a:gd name="T53" fmla="*/ 39 h 149"/>
                  <a:gd name="T54" fmla="*/ 48 w 518"/>
                  <a:gd name="T55" fmla="*/ 30 h 149"/>
                  <a:gd name="T56" fmla="*/ 73 w 518"/>
                  <a:gd name="T57" fmla="*/ 22 h 149"/>
                  <a:gd name="T58" fmla="*/ 99 w 518"/>
                  <a:gd name="T59" fmla="*/ 15 h 149"/>
                  <a:gd name="T60" fmla="*/ 130 w 518"/>
                  <a:gd name="T61" fmla="*/ 10 h 149"/>
                  <a:gd name="T62" fmla="*/ 161 w 518"/>
                  <a:gd name="T63" fmla="*/ 5 h 149"/>
                  <a:gd name="T64" fmla="*/ 195 w 518"/>
                  <a:gd name="T65" fmla="*/ 2 h 149"/>
                  <a:gd name="T66" fmla="*/ 232 w 518"/>
                  <a:gd name="T67" fmla="*/ 0 h 149"/>
                  <a:gd name="T68" fmla="*/ 267 w 518"/>
                  <a:gd name="T69" fmla="*/ 0 h 149"/>
                  <a:gd name="T70" fmla="*/ 304 w 518"/>
                  <a:gd name="T71" fmla="*/ 1 h 149"/>
                  <a:gd name="T72" fmla="*/ 338 w 518"/>
                  <a:gd name="T73" fmla="*/ 3 h 149"/>
                  <a:gd name="T74" fmla="*/ 373 w 518"/>
                  <a:gd name="T75" fmla="*/ 7 h 149"/>
                  <a:gd name="T76" fmla="*/ 404 w 518"/>
                  <a:gd name="T77" fmla="*/ 12 h 149"/>
                  <a:gd name="T78" fmla="*/ 432 w 518"/>
                  <a:gd name="T79" fmla="*/ 19 h 149"/>
                  <a:gd name="T80" fmla="*/ 457 w 518"/>
                  <a:gd name="T81" fmla="*/ 25 h 149"/>
                  <a:gd name="T82" fmla="*/ 479 w 518"/>
                  <a:gd name="T83" fmla="*/ 35 h 149"/>
                  <a:gd name="T84" fmla="*/ 495 w 518"/>
                  <a:gd name="T85" fmla="*/ 44 h 149"/>
                  <a:gd name="T86" fmla="*/ 508 w 518"/>
                  <a:gd name="T87" fmla="*/ 53 h 149"/>
                  <a:gd name="T88" fmla="*/ 516 w 518"/>
                  <a:gd name="T89" fmla="*/ 64 h 149"/>
                  <a:gd name="T90" fmla="*/ 518 w 518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8"/>
                  <a:gd name="T139" fmla="*/ 0 h 149"/>
                  <a:gd name="T140" fmla="*/ 518 w 518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8" h="149">
                    <a:moveTo>
                      <a:pt x="518" y="75"/>
                    </a:moveTo>
                    <a:lnTo>
                      <a:pt x="516" y="84"/>
                    </a:lnTo>
                    <a:lnTo>
                      <a:pt x="508" y="95"/>
                    </a:lnTo>
                    <a:lnTo>
                      <a:pt x="495" y="105"/>
                    </a:lnTo>
                    <a:lnTo>
                      <a:pt x="479" y="113"/>
                    </a:lnTo>
                    <a:lnTo>
                      <a:pt x="457" y="122"/>
                    </a:lnTo>
                    <a:lnTo>
                      <a:pt x="432" y="130"/>
                    </a:lnTo>
                    <a:lnTo>
                      <a:pt x="404" y="137"/>
                    </a:lnTo>
                    <a:lnTo>
                      <a:pt x="373" y="141"/>
                    </a:lnTo>
                    <a:lnTo>
                      <a:pt x="338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2" y="148"/>
                    </a:lnTo>
                    <a:lnTo>
                      <a:pt x="195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9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6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6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9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5" y="2"/>
                    </a:lnTo>
                    <a:lnTo>
                      <a:pt x="232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8" y="3"/>
                    </a:lnTo>
                    <a:lnTo>
                      <a:pt x="373" y="7"/>
                    </a:lnTo>
                    <a:lnTo>
                      <a:pt x="404" y="12"/>
                    </a:lnTo>
                    <a:lnTo>
                      <a:pt x="432" y="19"/>
                    </a:lnTo>
                    <a:lnTo>
                      <a:pt x="457" y="25"/>
                    </a:lnTo>
                    <a:lnTo>
                      <a:pt x="479" y="35"/>
                    </a:lnTo>
                    <a:lnTo>
                      <a:pt x="495" y="44"/>
                    </a:lnTo>
                    <a:lnTo>
                      <a:pt x="508" y="53"/>
                    </a:lnTo>
                    <a:lnTo>
                      <a:pt x="516" y="64"/>
                    </a:lnTo>
                    <a:lnTo>
                      <a:pt x="518" y="75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69" name="Freeform 182"/>
            <p:cNvSpPr>
              <a:spLocks noEditPoints="1"/>
            </p:cNvSpPr>
            <p:nvPr/>
          </p:nvSpPr>
          <p:spPr bwMode="auto">
            <a:xfrm>
              <a:off x="1337" y="1380"/>
              <a:ext cx="272" cy="117"/>
            </a:xfrm>
            <a:custGeom>
              <a:avLst/>
              <a:gdLst>
                <a:gd name="T0" fmla="*/ 50 w 272"/>
                <a:gd name="T1" fmla="*/ 66 h 117"/>
                <a:gd name="T2" fmla="*/ 209 w 272"/>
                <a:gd name="T3" fmla="*/ 66 h 117"/>
                <a:gd name="T4" fmla="*/ 108 w 272"/>
                <a:gd name="T5" fmla="*/ 99 h 117"/>
                <a:gd name="T6" fmla="*/ 50 w 272"/>
                <a:gd name="T7" fmla="*/ 66 h 117"/>
                <a:gd name="T8" fmla="*/ 223 w 272"/>
                <a:gd name="T9" fmla="*/ 51 h 117"/>
                <a:gd name="T10" fmla="*/ 64 w 272"/>
                <a:gd name="T11" fmla="*/ 51 h 117"/>
                <a:gd name="T12" fmla="*/ 165 w 272"/>
                <a:gd name="T13" fmla="*/ 17 h 117"/>
                <a:gd name="T14" fmla="*/ 223 w 272"/>
                <a:gd name="T15" fmla="*/ 51 h 117"/>
                <a:gd name="T16" fmla="*/ 104 w 272"/>
                <a:gd name="T17" fmla="*/ 117 h 117"/>
                <a:gd name="T18" fmla="*/ 272 w 272"/>
                <a:gd name="T19" fmla="*/ 60 h 117"/>
                <a:gd name="T20" fmla="*/ 168 w 272"/>
                <a:gd name="T21" fmla="*/ 0 h 117"/>
                <a:gd name="T22" fmla="*/ 0 w 272"/>
                <a:gd name="T23" fmla="*/ 57 h 117"/>
                <a:gd name="T24" fmla="*/ 104 w 272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2"/>
                <a:gd name="T40" fmla="*/ 0 h 117"/>
                <a:gd name="T41" fmla="*/ 272 w 272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2" h="117">
                  <a:moveTo>
                    <a:pt x="50" y="66"/>
                  </a:moveTo>
                  <a:lnTo>
                    <a:pt x="209" y="66"/>
                  </a:lnTo>
                  <a:lnTo>
                    <a:pt x="108" y="99"/>
                  </a:lnTo>
                  <a:lnTo>
                    <a:pt x="50" y="66"/>
                  </a:lnTo>
                  <a:close/>
                  <a:moveTo>
                    <a:pt x="223" y="51"/>
                  </a:moveTo>
                  <a:lnTo>
                    <a:pt x="64" y="51"/>
                  </a:lnTo>
                  <a:lnTo>
                    <a:pt x="165" y="17"/>
                  </a:lnTo>
                  <a:lnTo>
                    <a:pt x="223" y="51"/>
                  </a:lnTo>
                  <a:close/>
                  <a:moveTo>
                    <a:pt x="104" y="117"/>
                  </a:moveTo>
                  <a:lnTo>
                    <a:pt x="272" y="60"/>
                  </a:lnTo>
                  <a:lnTo>
                    <a:pt x="168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0" name="Freeform 183"/>
            <p:cNvSpPr>
              <a:spLocks noEditPoints="1"/>
            </p:cNvSpPr>
            <p:nvPr/>
          </p:nvSpPr>
          <p:spPr bwMode="auto">
            <a:xfrm>
              <a:off x="1344" y="1384"/>
              <a:ext cx="272" cy="117"/>
            </a:xfrm>
            <a:custGeom>
              <a:avLst/>
              <a:gdLst>
                <a:gd name="T0" fmla="*/ 49 w 272"/>
                <a:gd name="T1" fmla="*/ 65 h 117"/>
                <a:gd name="T2" fmla="*/ 209 w 272"/>
                <a:gd name="T3" fmla="*/ 65 h 117"/>
                <a:gd name="T4" fmla="*/ 107 w 272"/>
                <a:gd name="T5" fmla="*/ 99 h 117"/>
                <a:gd name="T6" fmla="*/ 49 w 272"/>
                <a:gd name="T7" fmla="*/ 65 h 117"/>
                <a:gd name="T8" fmla="*/ 222 w 272"/>
                <a:gd name="T9" fmla="*/ 52 h 117"/>
                <a:gd name="T10" fmla="*/ 64 w 272"/>
                <a:gd name="T11" fmla="*/ 52 h 117"/>
                <a:gd name="T12" fmla="*/ 164 w 272"/>
                <a:gd name="T13" fmla="*/ 18 h 117"/>
                <a:gd name="T14" fmla="*/ 222 w 272"/>
                <a:gd name="T15" fmla="*/ 52 h 117"/>
                <a:gd name="T16" fmla="*/ 104 w 272"/>
                <a:gd name="T17" fmla="*/ 117 h 117"/>
                <a:gd name="T18" fmla="*/ 272 w 272"/>
                <a:gd name="T19" fmla="*/ 61 h 117"/>
                <a:gd name="T20" fmla="*/ 168 w 272"/>
                <a:gd name="T21" fmla="*/ 0 h 117"/>
                <a:gd name="T22" fmla="*/ 0 w 272"/>
                <a:gd name="T23" fmla="*/ 57 h 117"/>
                <a:gd name="T24" fmla="*/ 104 w 272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2"/>
                <a:gd name="T40" fmla="*/ 0 h 117"/>
                <a:gd name="T41" fmla="*/ 272 w 272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2" h="117">
                  <a:moveTo>
                    <a:pt x="49" y="65"/>
                  </a:moveTo>
                  <a:lnTo>
                    <a:pt x="209" y="65"/>
                  </a:lnTo>
                  <a:lnTo>
                    <a:pt x="107" y="99"/>
                  </a:lnTo>
                  <a:lnTo>
                    <a:pt x="49" y="65"/>
                  </a:lnTo>
                  <a:close/>
                  <a:moveTo>
                    <a:pt x="222" y="52"/>
                  </a:moveTo>
                  <a:lnTo>
                    <a:pt x="64" y="52"/>
                  </a:lnTo>
                  <a:lnTo>
                    <a:pt x="164" y="18"/>
                  </a:lnTo>
                  <a:lnTo>
                    <a:pt x="222" y="52"/>
                  </a:lnTo>
                  <a:close/>
                  <a:moveTo>
                    <a:pt x="104" y="117"/>
                  </a:moveTo>
                  <a:lnTo>
                    <a:pt x="272" y="61"/>
                  </a:lnTo>
                  <a:lnTo>
                    <a:pt x="168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1" name="Freeform 184"/>
            <p:cNvSpPr>
              <a:spLocks noEditPoints="1"/>
            </p:cNvSpPr>
            <p:nvPr/>
          </p:nvSpPr>
          <p:spPr bwMode="auto">
            <a:xfrm>
              <a:off x="1393" y="157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7 w 179"/>
                <a:gd name="T3" fmla="*/ 53 h 94"/>
                <a:gd name="T4" fmla="*/ 126 w 179"/>
                <a:gd name="T5" fmla="*/ 94 h 94"/>
                <a:gd name="T6" fmla="*/ 179 w 179"/>
                <a:gd name="T7" fmla="*/ 94 h 94"/>
                <a:gd name="T8" fmla="*/ 179 w 179"/>
                <a:gd name="T9" fmla="*/ 77 h 94"/>
                <a:gd name="T10" fmla="*/ 157 w 179"/>
                <a:gd name="T11" fmla="*/ 77 h 94"/>
                <a:gd name="T12" fmla="*/ 129 w 179"/>
                <a:gd name="T13" fmla="*/ 49 h 94"/>
                <a:gd name="T14" fmla="*/ 134 w 179"/>
                <a:gd name="T15" fmla="*/ 47 h 94"/>
                <a:gd name="T16" fmla="*/ 143 w 179"/>
                <a:gd name="T17" fmla="*/ 44 h 94"/>
                <a:gd name="T18" fmla="*/ 150 w 179"/>
                <a:gd name="T19" fmla="*/ 41 h 94"/>
                <a:gd name="T20" fmla="*/ 154 w 179"/>
                <a:gd name="T21" fmla="*/ 37 h 94"/>
                <a:gd name="T22" fmla="*/ 158 w 179"/>
                <a:gd name="T23" fmla="*/ 32 h 94"/>
                <a:gd name="T24" fmla="*/ 159 w 179"/>
                <a:gd name="T25" fmla="*/ 26 h 94"/>
                <a:gd name="T26" fmla="*/ 158 w 179"/>
                <a:gd name="T27" fmla="*/ 23 h 94"/>
                <a:gd name="T28" fmla="*/ 157 w 179"/>
                <a:gd name="T29" fmla="*/ 17 h 94"/>
                <a:gd name="T30" fmla="*/ 152 w 179"/>
                <a:gd name="T31" fmla="*/ 13 h 94"/>
                <a:gd name="T32" fmla="*/ 145 w 179"/>
                <a:gd name="T33" fmla="*/ 8 h 94"/>
                <a:gd name="T34" fmla="*/ 143 w 179"/>
                <a:gd name="T35" fmla="*/ 6 h 94"/>
                <a:gd name="T36" fmla="*/ 135 w 179"/>
                <a:gd name="T37" fmla="*/ 3 h 94"/>
                <a:gd name="T38" fmla="*/ 126 w 179"/>
                <a:gd name="T39" fmla="*/ 1 h 94"/>
                <a:gd name="T40" fmla="*/ 116 w 179"/>
                <a:gd name="T41" fmla="*/ 0 h 94"/>
                <a:gd name="T42" fmla="*/ 104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4 w 179"/>
                <a:gd name="T49" fmla="*/ 16 h 94"/>
                <a:gd name="T50" fmla="*/ 24 w 179"/>
                <a:gd name="T51" fmla="*/ 77 h 94"/>
                <a:gd name="T52" fmla="*/ 0 w 179"/>
                <a:gd name="T53" fmla="*/ 77 h 94"/>
                <a:gd name="T54" fmla="*/ 0 w 179"/>
                <a:gd name="T55" fmla="*/ 94 h 94"/>
                <a:gd name="T56" fmla="*/ 90 w 179"/>
                <a:gd name="T57" fmla="*/ 94 h 94"/>
                <a:gd name="T58" fmla="*/ 90 w 179"/>
                <a:gd name="T59" fmla="*/ 77 h 94"/>
                <a:gd name="T60" fmla="*/ 68 w 179"/>
                <a:gd name="T61" fmla="*/ 77 h 94"/>
                <a:gd name="T62" fmla="*/ 68 w 179"/>
                <a:gd name="T63" fmla="*/ 53 h 94"/>
                <a:gd name="T64" fmla="*/ 68 w 179"/>
                <a:gd name="T65" fmla="*/ 16 h 94"/>
                <a:gd name="T66" fmla="*/ 87 w 179"/>
                <a:gd name="T67" fmla="*/ 16 h 94"/>
                <a:gd name="T68" fmla="*/ 97 w 179"/>
                <a:gd name="T69" fmla="*/ 16 h 94"/>
                <a:gd name="T70" fmla="*/ 105 w 179"/>
                <a:gd name="T71" fmla="*/ 17 h 94"/>
                <a:gd name="T72" fmla="*/ 110 w 179"/>
                <a:gd name="T73" fmla="*/ 21 h 94"/>
                <a:gd name="T74" fmla="*/ 113 w 179"/>
                <a:gd name="T75" fmla="*/ 27 h 94"/>
                <a:gd name="T76" fmla="*/ 113 w 179"/>
                <a:gd name="T77" fmla="*/ 28 h 94"/>
                <a:gd name="T78" fmla="*/ 110 w 179"/>
                <a:gd name="T79" fmla="*/ 32 h 94"/>
                <a:gd name="T80" fmla="*/ 104 w 179"/>
                <a:gd name="T81" fmla="*/ 35 h 94"/>
                <a:gd name="T82" fmla="*/ 96 w 179"/>
                <a:gd name="T83" fmla="*/ 37 h 94"/>
                <a:gd name="T84" fmla="*/ 84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7" y="53"/>
                  </a:lnTo>
                  <a:lnTo>
                    <a:pt x="126" y="94"/>
                  </a:lnTo>
                  <a:lnTo>
                    <a:pt x="179" y="94"/>
                  </a:lnTo>
                  <a:lnTo>
                    <a:pt x="179" y="77"/>
                  </a:lnTo>
                  <a:lnTo>
                    <a:pt x="157" y="77"/>
                  </a:lnTo>
                  <a:lnTo>
                    <a:pt x="129" y="49"/>
                  </a:lnTo>
                  <a:lnTo>
                    <a:pt x="134" y="47"/>
                  </a:lnTo>
                  <a:lnTo>
                    <a:pt x="143" y="44"/>
                  </a:lnTo>
                  <a:lnTo>
                    <a:pt x="150" y="41"/>
                  </a:lnTo>
                  <a:lnTo>
                    <a:pt x="154" y="37"/>
                  </a:lnTo>
                  <a:lnTo>
                    <a:pt x="158" y="32"/>
                  </a:lnTo>
                  <a:lnTo>
                    <a:pt x="159" y="26"/>
                  </a:lnTo>
                  <a:lnTo>
                    <a:pt x="158" y="23"/>
                  </a:lnTo>
                  <a:lnTo>
                    <a:pt x="157" y="17"/>
                  </a:lnTo>
                  <a:lnTo>
                    <a:pt x="152" y="13"/>
                  </a:lnTo>
                  <a:lnTo>
                    <a:pt x="145" y="8"/>
                  </a:lnTo>
                  <a:lnTo>
                    <a:pt x="143" y="6"/>
                  </a:lnTo>
                  <a:lnTo>
                    <a:pt x="135" y="3"/>
                  </a:lnTo>
                  <a:lnTo>
                    <a:pt x="126" y="1"/>
                  </a:lnTo>
                  <a:lnTo>
                    <a:pt x="116" y="0"/>
                  </a:lnTo>
                  <a:lnTo>
                    <a:pt x="10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7"/>
                  </a:lnTo>
                  <a:lnTo>
                    <a:pt x="0" y="77"/>
                  </a:lnTo>
                  <a:lnTo>
                    <a:pt x="0" y="94"/>
                  </a:lnTo>
                  <a:lnTo>
                    <a:pt x="90" y="94"/>
                  </a:lnTo>
                  <a:lnTo>
                    <a:pt x="90" y="77"/>
                  </a:lnTo>
                  <a:lnTo>
                    <a:pt x="68" y="77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7" y="16"/>
                  </a:lnTo>
                  <a:lnTo>
                    <a:pt x="97" y="16"/>
                  </a:lnTo>
                  <a:lnTo>
                    <a:pt x="105" y="17"/>
                  </a:lnTo>
                  <a:lnTo>
                    <a:pt x="110" y="21"/>
                  </a:lnTo>
                  <a:lnTo>
                    <a:pt x="113" y="27"/>
                  </a:lnTo>
                  <a:lnTo>
                    <a:pt x="113" y="28"/>
                  </a:lnTo>
                  <a:lnTo>
                    <a:pt x="110" y="32"/>
                  </a:lnTo>
                  <a:lnTo>
                    <a:pt x="104" y="35"/>
                  </a:lnTo>
                  <a:lnTo>
                    <a:pt x="96" y="37"/>
                  </a:lnTo>
                  <a:lnTo>
                    <a:pt x="84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2" name="Freeform 185"/>
            <p:cNvSpPr>
              <a:spLocks noEditPoints="1"/>
            </p:cNvSpPr>
            <p:nvPr/>
          </p:nvSpPr>
          <p:spPr bwMode="auto">
            <a:xfrm>
              <a:off x="1381" y="156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8 w 179"/>
                <a:gd name="T3" fmla="*/ 53 h 94"/>
                <a:gd name="T4" fmla="*/ 127 w 179"/>
                <a:gd name="T5" fmla="*/ 94 h 94"/>
                <a:gd name="T6" fmla="*/ 179 w 179"/>
                <a:gd name="T7" fmla="*/ 94 h 94"/>
                <a:gd name="T8" fmla="*/ 179 w 179"/>
                <a:gd name="T9" fmla="*/ 79 h 94"/>
                <a:gd name="T10" fmla="*/ 157 w 179"/>
                <a:gd name="T11" fmla="*/ 79 h 94"/>
                <a:gd name="T12" fmla="*/ 128 w 179"/>
                <a:gd name="T13" fmla="*/ 50 h 94"/>
                <a:gd name="T14" fmla="*/ 135 w 179"/>
                <a:gd name="T15" fmla="*/ 49 h 94"/>
                <a:gd name="T16" fmla="*/ 143 w 179"/>
                <a:gd name="T17" fmla="*/ 45 h 94"/>
                <a:gd name="T18" fmla="*/ 150 w 179"/>
                <a:gd name="T19" fmla="*/ 42 h 94"/>
                <a:gd name="T20" fmla="*/ 155 w 179"/>
                <a:gd name="T21" fmla="*/ 37 h 94"/>
                <a:gd name="T22" fmla="*/ 157 w 179"/>
                <a:gd name="T23" fmla="*/ 32 h 94"/>
                <a:gd name="T24" fmla="*/ 159 w 179"/>
                <a:gd name="T25" fmla="*/ 26 h 94"/>
                <a:gd name="T26" fmla="*/ 159 w 179"/>
                <a:gd name="T27" fmla="*/ 24 h 94"/>
                <a:gd name="T28" fmla="*/ 156 w 179"/>
                <a:gd name="T29" fmla="*/ 18 h 94"/>
                <a:gd name="T30" fmla="*/ 152 w 179"/>
                <a:gd name="T31" fmla="*/ 13 h 94"/>
                <a:gd name="T32" fmla="*/ 146 w 179"/>
                <a:gd name="T33" fmla="*/ 8 h 94"/>
                <a:gd name="T34" fmla="*/ 142 w 179"/>
                <a:gd name="T35" fmla="*/ 7 h 94"/>
                <a:gd name="T36" fmla="*/ 136 w 179"/>
                <a:gd name="T37" fmla="*/ 4 h 94"/>
                <a:gd name="T38" fmla="*/ 126 w 179"/>
                <a:gd name="T39" fmla="*/ 2 h 94"/>
                <a:gd name="T40" fmla="*/ 116 w 179"/>
                <a:gd name="T41" fmla="*/ 1 h 94"/>
                <a:gd name="T42" fmla="*/ 103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3 w 179"/>
                <a:gd name="T49" fmla="*/ 16 h 94"/>
                <a:gd name="T50" fmla="*/ 23 w 179"/>
                <a:gd name="T51" fmla="*/ 79 h 94"/>
                <a:gd name="T52" fmla="*/ 0 w 179"/>
                <a:gd name="T53" fmla="*/ 79 h 94"/>
                <a:gd name="T54" fmla="*/ 0 w 179"/>
                <a:gd name="T55" fmla="*/ 94 h 94"/>
                <a:gd name="T56" fmla="*/ 89 w 179"/>
                <a:gd name="T57" fmla="*/ 94 h 94"/>
                <a:gd name="T58" fmla="*/ 89 w 179"/>
                <a:gd name="T59" fmla="*/ 79 h 94"/>
                <a:gd name="T60" fmla="*/ 68 w 179"/>
                <a:gd name="T61" fmla="*/ 79 h 94"/>
                <a:gd name="T62" fmla="*/ 68 w 179"/>
                <a:gd name="T63" fmla="*/ 53 h 94"/>
                <a:gd name="T64" fmla="*/ 68 w 179"/>
                <a:gd name="T65" fmla="*/ 16 h 94"/>
                <a:gd name="T66" fmla="*/ 88 w 179"/>
                <a:gd name="T67" fmla="*/ 16 h 94"/>
                <a:gd name="T68" fmla="*/ 97 w 179"/>
                <a:gd name="T69" fmla="*/ 17 h 94"/>
                <a:gd name="T70" fmla="*/ 106 w 179"/>
                <a:gd name="T71" fmla="*/ 19 h 94"/>
                <a:gd name="T72" fmla="*/ 109 w 179"/>
                <a:gd name="T73" fmla="*/ 22 h 94"/>
                <a:gd name="T74" fmla="*/ 112 w 179"/>
                <a:gd name="T75" fmla="*/ 26 h 94"/>
                <a:gd name="T76" fmla="*/ 112 w 179"/>
                <a:gd name="T77" fmla="*/ 27 h 94"/>
                <a:gd name="T78" fmla="*/ 109 w 179"/>
                <a:gd name="T79" fmla="*/ 33 h 94"/>
                <a:gd name="T80" fmla="*/ 105 w 179"/>
                <a:gd name="T81" fmla="*/ 36 h 94"/>
                <a:gd name="T82" fmla="*/ 96 w 179"/>
                <a:gd name="T83" fmla="*/ 38 h 94"/>
                <a:gd name="T84" fmla="*/ 84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8" y="53"/>
                  </a:lnTo>
                  <a:lnTo>
                    <a:pt x="127" y="94"/>
                  </a:lnTo>
                  <a:lnTo>
                    <a:pt x="179" y="94"/>
                  </a:lnTo>
                  <a:lnTo>
                    <a:pt x="179" y="79"/>
                  </a:lnTo>
                  <a:lnTo>
                    <a:pt x="157" y="79"/>
                  </a:lnTo>
                  <a:lnTo>
                    <a:pt x="128" y="50"/>
                  </a:lnTo>
                  <a:lnTo>
                    <a:pt x="135" y="49"/>
                  </a:lnTo>
                  <a:lnTo>
                    <a:pt x="143" y="45"/>
                  </a:lnTo>
                  <a:lnTo>
                    <a:pt x="150" y="42"/>
                  </a:lnTo>
                  <a:lnTo>
                    <a:pt x="155" y="37"/>
                  </a:lnTo>
                  <a:lnTo>
                    <a:pt x="157" y="32"/>
                  </a:lnTo>
                  <a:lnTo>
                    <a:pt x="159" y="26"/>
                  </a:lnTo>
                  <a:lnTo>
                    <a:pt x="159" y="24"/>
                  </a:lnTo>
                  <a:lnTo>
                    <a:pt x="156" y="18"/>
                  </a:lnTo>
                  <a:lnTo>
                    <a:pt x="152" y="13"/>
                  </a:lnTo>
                  <a:lnTo>
                    <a:pt x="146" y="8"/>
                  </a:lnTo>
                  <a:lnTo>
                    <a:pt x="142" y="7"/>
                  </a:lnTo>
                  <a:lnTo>
                    <a:pt x="136" y="4"/>
                  </a:lnTo>
                  <a:lnTo>
                    <a:pt x="126" y="2"/>
                  </a:lnTo>
                  <a:lnTo>
                    <a:pt x="116" y="1"/>
                  </a:lnTo>
                  <a:lnTo>
                    <a:pt x="103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3" y="16"/>
                  </a:lnTo>
                  <a:lnTo>
                    <a:pt x="23" y="79"/>
                  </a:lnTo>
                  <a:lnTo>
                    <a:pt x="0" y="79"/>
                  </a:lnTo>
                  <a:lnTo>
                    <a:pt x="0" y="94"/>
                  </a:lnTo>
                  <a:lnTo>
                    <a:pt x="89" y="94"/>
                  </a:lnTo>
                  <a:lnTo>
                    <a:pt x="89" y="79"/>
                  </a:lnTo>
                  <a:lnTo>
                    <a:pt x="68" y="79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8" y="16"/>
                  </a:lnTo>
                  <a:lnTo>
                    <a:pt x="97" y="17"/>
                  </a:lnTo>
                  <a:lnTo>
                    <a:pt x="106" y="19"/>
                  </a:lnTo>
                  <a:lnTo>
                    <a:pt x="109" y="22"/>
                  </a:lnTo>
                  <a:lnTo>
                    <a:pt x="112" y="26"/>
                  </a:lnTo>
                  <a:lnTo>
                    <a:pt x="112" y="27"/>
                  </a:lnTo>
                  <a:lnTo>
                    <a:pt x="109" y="33"/>
                  </a:lnTo>
                  <a:lnTo>
                    <a:pt x="105" y="36"/>
                  </a:lnTo>
                  <a:lnTo>
                    <a:pt x="96" y="38"/>
                  </a:lnTo>
                  <a:lnTo>
                    <a:pt x="84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82" name="Group 186"/>
          <p:cNvGrpSpPr>
            <a:grpSpLocks/>
          </p:cNvGrpSpPr>
          <p:nvPr/>
        </p:nvGrpSpPr>
        <p:grpSpPr bwMode="auto">
          <a:xfrm>
            <a:off x="4114800" y="2082007"/>
            <a:ext cx="822325" cy="558800"/>
            <a:chOff x="2604" y="1366"/>
            <a:chExt cx="518" cy="352"/>
          </a:xfrm>
        </p:grpSpPr>
        <p:grpSp>
          <p:nvGrpSpPr>
            <p:cNvPr id="28737" name="Group 187"/>
            <p:cNvGrpSpPr>
              <a:grpSpLocks/>
            </p:cNvGrpSpPr>
            <p:nvPr/>
          </p:nvGrpSpPr>
          <p:grpSpPr bwMode="auto">
            <a:xfrm>
              <a:off x="2604" y="1366"/>
              <a:ext cx="518" cy="352"/>
              <a:chOff x="2604" y="1366"/>
              <a:chExt cx="518" cy="352"/>
            </a:xfrm>
          </p:grpSpPr>
          <p:sp>
            <p:nvSpPr>
              <p:cNvPr id="28757" name="Freeform 188"/>
              <p:cNvSpPr>
                <a:spLocks noEditPoints="1"/>
              </p:cNvSpPr>
              <p:nvPr/>
            </p:nvSpPr>
            <p:spPr bwMode="auto">
              <a:xfrm>
                <a:off x="2604" y="1366"/>
                <a:ext cx="518" cy="352"/>
              </a:xfrm>
              <a:custGeom>
                <a:avLst/>
                <a:gdLst>
                  <a:gd name="T0" fmla="*/ 518 w 518"/>
                  <a:gd name="T1" fmla="*/ 75 h 352"/>
                  <a:gd name="T2" fmla="*/ 508 w 518"/>
                  <a:gd name="T3" fmla="*/ 95 h 352"/>
                  <a:gd name="T4" fmla="*/ 480 w 518"/>
                  <a:gd name="T5" fmla="*/ 113 h 352"/>
                  <a:gd name="T6" fmla="*/ 437 w 518"/>
                  <a:gd name="T7" fmla="*/ 129 h 352"/>
                  <a:gd name="T8" fmla="*/ 378 w 518"/>
                  <a:gd name="T9" fmla="*/ 140 h 352"/>
                  <a:gd name="T10" fmla="*/ 313 w 518"/>
                  <a:gd name="T11" fmla="*/ 147 h 352"/>
                  <a:gd name="T12" fmla="*/ 241 w 518"/>
                  <a:gd name="T13" fmla="*/ 148 h 352"/>
                  <a:gd name="T14" fmla="*/ 173 w 518"/>
                  <a:gd name="T15" fmla="*/ 144 h 352"/>
                  <a:gd name="T16" fmla="*/ 110 w 518"/>
                  <a:gd name="T17" fmla="*/ 136 h 352"/>
                  <a:gd name="T18" fmla="*/ 110 w 518"/>
                  <a:gd name="T19" fmla="*/ 136 h 352"/>
                  <a:gd name="T20" fmla="*/ 173 w 518"/>
                  <a:gd name="T21" fmla="*/ 144 h 352"/>
                  <a:gd name="T22" fmla="*/ 241 w 518"/>
                  <a:gd name="T23" fmla="*/ 148 h 352"/>
                  <a:gd name="T24" fmla="*/ 313 w 518"/>
                  <a:gd name="T25" fmla="*/ 147 h 352"/>
                  <a:gd name="T26" fmla="*/ 378 w 518"/>
                  <a:gd name="T27" fmla="*/ 140 h 352"/>
                  <a:gd name="T28" fmla="*/ 437 w 518"/>
                  <a:gd name="T29" fmla="*/ 129 h 352"/>
                  <a:gd name="T30" fmla="*/ 480 w 518"/>
                  <a:gd name="T31" fmla="*/ 113 h 352"/>
                  <a:gd name="T32" fmla="*/ 508 w 518"/>
                  <a:gd name="T33" fmla="*/ 95 h 352"/>
                  <a:gd name="T34" fmla="*/ 518 w 518"/>
                  <a:gd name="T35" fmla="*/ 75 h 352"/>
                  <a:gd name="T36" fmla="*/ 2 w 518"/>
                  <a:gd name="T37" fmla="*/ 84 h 352"/>
                  <a:gd name="T38" fmla="*/ 21 w 518"/>
                  <a:gd name="T39" fmla="*/ 105 h 352"/>
                  <a:gd name="T40" fmla="*/ 58 w 518"/>
                  <a:gd name="T41" fmla="*/ 121 h 352"/>
                  <a:gd name="T42" fmla="*/ 58 w 518"/>
                  <a:gd name="T43" fmla="*/ 121 h 352"/>
                  <a:gd name="T44" fmla="*/ 21 w 518"/>
                  <a:gd name="T45" fmla="*/ 105 h 352"/>
                  <a:gd name="T46" fmla="*/ 2 w 518"/>
                  <a:gd name="T47" fmla="*/ 84 h 352"/>
                  <a:gd name="T48" fmla="*/ 0 w 518"/>
                  <a:gd name="T49" fmla="*/ 75 h 352"/>
                  <a:gd name="T50" fmla="*/ 2 w 518"/>
                  <a:gd name="T51" fmla="*/ 288 h 352"/>
                  <a:gd name="T52" fmla="*/ 21 w 518"/>
                  <a:gd name="T53" fmla="*/ 308 h 352"/>
                  <a:gd name="T54" fmla="*/ 58 w 518"/>
                  <a:gd name="T55" fmla="*/ 325 h 352"/>
                  <a:gd name="T56" fmla="*/ 110 w 518"/>
                  <a:gd name="T57" fmla="*/ 339 h 352"/>
                  <a:gd name="T58" fmla="*/ 172 w 518"/>
                  <a:gd name="T59" fmla="*/ 348 h 352"/>
                  <a:gd name="T60" fmla="*/ 241 w 518"/>
                  <a:gd name="T61" fmla="*/ 352 h 352"/>
                  <a:gd name="T62" fmla="*/ 313 w 518"/>
                  <a:gd name="T63" fmla="*/ 351 h 352"/>
                  <a:gd name="T64" fmla="*/ 378 w 518"/>
                  <a:gd name="T65" fmla="*/ 344 h 352"/>
                  <a:gd name="T66" fmla="*/ 437 w 518"/>
                  <a:gd name="T67" fmla="*/ 333 h 352"/>
                  <a:gd name="T68" fmla="*/ 480 w 518"/>
                  <a:gd name="T69" fmla="*/ 316 h 352"/>
                  <a:gd name="T70" fmla="*/ 508 w 518"/>
                  <a:gd name="T71" fmla="*/ 299 h 352"/>
                  <a:gd name="T72" fmla="*/ 518 w 518"/>
                  <a:gd name="T73" fmla="*/ 278 h 352"/>
                  <a:gd name="T74" fmla="*/ 516 w 518"/>
                  <a:gd name="T75" fmla="*/ 64 h 352"/>
                  <a:gd name="T76" fmla="*/ 497 w 518"/>
                  <a:gd name="T77" fmla="*/ 45 h 352"/>
                  <a:gd name="T78" fmla="*/ 460 w 518"/>
                  <a:gd name="T79" fmla="*/ 26 h 352"/>
                  <a:gd name="T80" fmla="*/ 409 w 518"/>
                  <a:gd name="T81" fmla="*/ 13 h 352"/>
                  <a:gd name="T82" fmla="*/ 346 w 518"/>
                  <a:gd name="T83" fmla="*/ 4 h 352"/>
                  <a:gd name="T84" fmla="*/ 277 w 518"/>
                  <a:gd name="T85" fmla="*/ 0 h 352"/>
                  <a:gd name="T86" fmla="*/ 206 w 518"/>
                  <a:gd name="T87" fmla="*/ 1 h 352"/>
                  <a:gd name="T88" fmla="*/ 141 w 518"/>
                  <a:gd name="T89" fmla="*/ 8 h 352"/>
                  <a:gd name="T90" fmla="*/ 82 w 518"/>
                  <a:gd name="T91" fmla="*/ 20 h 352"/>
                  <a:gd name="T92" fmla="*/ 38 w 518"/>
                  <a:gd name="T93" fmla="*/ 36 h 352"/>
                  <a:gd name="T94" fmla="*/ 10 w 518"/>
                  <a:gd name="T95" fmla="*/ 53 h 352"/>
                  <a:gd name="T96" fmla="*/ 0 w 518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8"/>
                  <a:gd name="T148" fmla="*/ 0 h 352"/>
                  <a:gd name="T149" fmla="*/ 518 w 518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8" h="352">
                    <a:moveTo>
                      <a:pt x="518" y="75"/>
                    </a:moveTo>
                    <a:lnTo>
                      <a:pt x="518" y="75"/>
                    </a:lnTo>
                    <a:lnTo>
                      <a:pt x="516" y="84"/>
                    </a:lnTo>
                    <a:lnTo>
                      <a:pt x="508" y="95"/>
                    </a:lnTo>
                    <a:lnTo>
                      <a:pt x="497" y="104"/>
                    </a:lnTo>
                    <a:lnTo>
                      <a:pt x="480" y="113"/>
                    </a:lnTo>
                    <a:lnTo>
                      <a:pt x="460" y="121"/>
                    </a:lnTo>
                    <a:lnTo>
                      <a:pt x="437" y="129"/>
                    </a:lnTo>
                    <a:lnTo>
                      <a:pt x="409" y="136"/>
                    </a:lnTo>
                    <a:lnTo>
                      <a:pt x="378" y="140"/>
                    </a:lnTo>
                    <a:lnTo>
                      <a:pt x="346" y="144"/>
                    </a:lnTo>
                    <a:lnTo>
                      <a:pt x="313" y="147"/>
                    </a:lnTo>
                    <a:lnTo>
                      <a:pt x="277" y="148"/>
                    </a:lnTo>
                    <a:lnTo>
                      <a:pt x="241" y="148"/>
                    </a:lnTo>
                    <a:lnTo>
                      <a:pt x="208" y="147"/>
                    </a:lnTo>
                    <a:lnTo>
                      <a:pt x="173" y="144"/>
                    </a:lnTo>
                    <a:lnTo>
                      <a:pt x="141" y="140"/>
                    </a:lnTo>
                    <a:lnTo>
                      <a:pt x="110" y="136"/>
                    </a:lnTo>
                    <a:lnTo>
                      <a:pt x="82" y="130"/>
                    </a:lnTo>
                    <a:lnTo>
                      <a:pt x="110" y="136"/>
                    </a:lnTo>
                    <a:lnTo>
                      <a:pt x="141" y="140"/>
                    </a:lnTo>
                    <a:lnTo>
                      <a:pt x="173" y="144"/>
                    </a:lnTo>
                    <a:lnTo>
                      <a:pt x="208" y="147"/>
                    </a:lnTo>
                    <a:lnTo>
                      <a:pt x="241" y="148"/>
                    </a:lnTo>
                    <a:lnTo>
                      <a:pt x="277" y="148"/>
                    </a:lnTo>
                    <a:lnTo>
                      <a:pt x="313" y="147"/>
                    </a:lnTo>
                    <a:lnTo>
                      <a:pt x="346" y="144"/>
                    </a:lnTo>
                    <a:lnTo>
                      <a:pt x="378" y="140"/>
                    </a:lnTo>
                    <a:lnTo>
                      <a:pt x="409" y="136"/>
                    </a:lnTo>
                    <a:lnTo>
                      <a:pt x="437" y="129"/>
                    </a:lnTo>
                    <a:lnTo>
                      <a:pt x="460" y="121"/>
                    </a:lnTo>
                    <a:lnTo>
                      <a:pt x="480" y="113"/>
                    </a:lnTo>
                    <a:lnTo>
                      <a:pt x="497" y="104"/>
                    </a:lnTo>
                    <a:lnTo>
                      <a:pt x="508" y="95"/>
                    </a:lnTo>
                    <a:lnTo>
                      <a:pt x="516" y="84"/>
                    </a:lnTo>
                    <a:lnTo>
                      <a:pt x="518" y="75"/>
                    </a:lnTo>
                    <a:close/>
                    <a:moveTo>
                      <a:pt x="0" y="75"/>
                    </a:moveTo>
                    <a:lnTo>
                      <a:pt x="2" y="84"/>
                    </a:lnTo>
                    <a:lnTo>
                      <a:pt x="10" y="95"/>
                    </a:lnTo>
                    <a:lnTo>
                      <a:pt x="21" y="105"/>
                    </a:lnTo>
                    <a:lnTo>
                      <a:pt x="38" y="113"/>
                    </a:lnTo>
                    <a:lnTo>
                      <a:pt x="58" y="121"/>
                    </a:lnTo>
                    <a:lnTo>
                      <a:pt x="82" y="130"/>
                    </a:lnTo>
                    <a:lnTo>
                      <a:pt x="58" y="121"/>
                    </a:lnTo>
                    <a:lnTo>
                      <a:pt x="38" y="113"/>
                    </a:lnTo>
                    <a:lnTo>
                      <a:pt x="21" y="105"/>
                    </a:lnTo>
                    <a:lnTo>
                      <a:pt x="10" y="95"/>
                    </a:lnTo>
                    <a:lnTo>
                      <a:pt x="2" y="84"/>
                    </a:lnTo>
                    <a:lnTo>
                      <a:pt x="0" y="75"/>
                    </a:lnTo>
                    <a:close/>
                    <a:moveTo>
                      <a:pt x="0" y="75"/>
                    </a:moveTo>
                    <a:lnTo>
                      <a:pt x="0" y="278"/>
                    </a:lnTo>
                    <a:lnTo>
                      <a:pt x="2" y="288"/>
                    </a:lnTo>
                    <a:lnTo>
                      <a:pt x="10" y="299"/>
                    </a:lnTo>
                    <a:lnTo>
                      <a:pt x="21" y="308"/>
                    </a:lnTo>
                    <a:lnTo>
                      <a:pt x="38" y="316"/>
                    </a:lnTo>
                    <a:lnTo>
                      <a:pt x="58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1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6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0" y="325"/>
                    </a:lnTo>
                    <a:lnTo>
                      <a:pt x="480" y="316"/>
                    </a:lnTo>
                    <a:lnTo>
                      <a:pt x="497" y="308"/>
                    </a:lnTo>
                    <a:lnTo>
                      <a:pt x="508" y="299"/>
                    </a:lnTo>
                    <a:lnTo>
                      <a:pt x="516" y="288"/>
                    </a:lnTo>
                    <a:lnTo>
                      <a:pt x="518" y="278"/>
                    </a:lnTo>
                    <a:lnTo>
                      <a:pt x="518" y="75"/>
                    </a:lnTo>
                    <a:lnTo>
                      <a:pt x="516" y="64"/>
                    </a:lnTo>
                    <a:lnTo>
                      <a:pt x="508" y="53"/>
                    </a:lnTo>
                    <a:lnTo>
                      <a:pt x="497" y="45"/>
                    </a:lnTo>
                    <a:lnTo>
                      <a:pt x="480" y="36"/>
                    </a:lnTo>
                    <a:lnTo>
                      <a:pt x="460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6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1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8" y="26"/>
                    </a:lnTo>
                    <a:lnTo>
                      <a:pt x="38" y="36"/>
                    </a:lnTo>
                    <a:lnTo>
                      <a:pt x="21" y="45"/>
                    </a:lnTo>
                    <a:lnTo>
                      <a:pt x="10" y="53"/>
                    </a:lnTo>
                    <a:lnTo>
                      <a:pt x="2" y="64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8" name="Freeform 189"/>
              <p:cNvSpPr>
                <a:spLocks/>
              </p:cNvSpPr>
              <p:nvPr/>
            </p:nvSpPr>
            <p:spPr bwMode="auto">
              <a:xfrm>
                <a:off x="2686" y="1441"/>
                <a:ext cx="436" cy="73"/>
              </a:xfrm>
              <a:custGeom>
                <a:avLst/>
                <a:gdLst>
                  <a:gd name="T0" fmla="*/ 436 w 436"/>
                  <a:gd name="T1" fmla="*/ 0 h 73"/>
                  <a:gd name="T2" fmla="*/ 436 w 436"/>
                  <a:gd name="T3" fmla="*/ 0 h 73"/>
                  <a:gd name="T4" fmla="*/ 434 w 436"/>
                  <a:gd name="T5" fmla="*/ 9 h 73"/>
                  <a:gd name="T6" fmla="*/ 426 w 436"/>
                  <a:gd name="T7" fmla="*/ 20 h 73"/>
                  <a:gd name="T8" fmla="*/ 415 w 436"/>
                  <a:gd name="T9" fmla="*/ 29 h 73"/>
                  <a:gd name="T10" fmla="*/ 398 w 436"/>
                  <a:gd name="T11" fmla="*/ 38 h 73"/>
                  <a:gd name="T12" fmla="*/ 378 w 436"/>
                  <a:gd name="T13" fmla="*/ 46 h 73"/>
                  <a:gd name="T14" fmla="*/ 355 w 436"/>
                  <a:gd name="T15" fmla="*/ 54 h 73"/>
                  <a:gd name="T16" fmla="*/ 327 w 436"/>
                  <a:gd name="T17" fmla="*/ 61 h 73"/>
                  <a:gd name="T18" fmla="*/ 296 w 436"/>
                  <a:gd name="T19" fmla="*/ 65 h 73"/>
                  <a:gd name="T20" fmla="*/ 264 w 436"/>
                  <a:gd name="T21" fmla="*/ 69 h 73"/>
                  <a:gd name="T22" fmla="*/ 231 w 436"/>
                  <a:gd name="T23" fmla="*/ 72 h 73"/>
                  <a:gd name="T24" fmla="*/ 195 w 436"/>
                  <a:gd name="T25" fmla="*/ 73 h 73"/>
                  <a:gd name="T26" fmla="*/ 159 w 436"/>
                  <a:gd name="T27" fmla="*/ 73 h 73"/>
                  <a:gd name="T28" fmla="*/ 126 w 436"/>
                  <a:gd name="T29" fmla="*/ 72 h 73"/>
                  <a:gd name="T30" fmla="*/ 91 w 436"/>
                  <a:gd name="T31" fmla="*/ 69 h 73"/>
                  <a:gd name="T32" fmla="*/ 59 w 436"/>
                  <a:gd name="T33" fmla="*/ 65 h 73"/>
                  <a:gd name="T34" fmla="*/ 28 w 436"/>
                  <a:gd name="T35" fmla="*/ 61 h 73"/>
                  <a:gd name="T36" fmla="*/ 0 w 436"/>
                  <a:gd name="T37" fmla="*/ 55 h 73"/>
                  <a:gd name="T38" fmla="*/ 28 w 436"/>
                  <a:gd name="T39" fmla="*/ 61 h 73"/>
                  <a:gd name="T40" fmla="*/ 59 w 436"/>
                  <a:gd name="T41" fmla="*/ 65 h 73"/>
                  <a:gd name="T42" fmla="*/ 91 w 436"/>
                  <a:gd name="T43" fmla="*/ 69 h 73"/>
                  <a:gd name="T44" fmla="*/ 126 w 436"/>
                  <a:gd name="T45" fmla="*/ 72 h 73"/>
                  <a:gd name="T46" fmla="*/ 159 w 436"/>
                  <a:gd name="T47" fmla="*/ 73 h 73"/>
                  <a:gd name="T48" fmla="*/ 195 w 436"/>
                  <a:gd name="T49" fmla="*/ 73 h 73"/>
                  <a:gd name="T50" fmla="*/ 231 w 436"/>
                  <a:gd name="T51" fmla="*/ 72 h 73"/>
                  <a:gd name="T52" fmla="*/ 264 w 436"/>
                  <a:gd name="T53" fmla="*/ 69 h 73"/>
                  <a:gd name="T54" fmla="*/ 296 w 436"/>
                  <a:gd name="T55" fmla="*/ 65 h 73"/>
                  <a:gd name="T56" fmla="*/ 327 w 436"/>
                  <a:gd name="T57" fmla="*/ 61 h 73"/>
                  <a:gd name="T58" fmla="*/ 355 w 436"/>
                  <a:gd name="T59" fmla="*/ 54 h 73"/>
                  <a:gd name="T60" fmla="*/ 378 w 436"/>
                  <a:gd name="T61" fmla="*/ 46 h 73"/>
                  <a:gd name="T62" fmla="*/ 398 w 436"/>
                  <a:gd name="T63" fmla="*/ 38 h 73"/>
                  <a:gd name="T64" fmla="*/ 415 w 436"/>
                  <a:gd name="T65" fmla="*/ 29 h 73"/>
                  <a:gd name="T66" fmla="*/ 426 w 436"/>
                  <a:gd name="T67" fmla="*/ 20 h 73"/>
                  <a:gd name="T68" fmla="*/ 434 w 436"/>
                  <a:gd name="T69" fmla="*/ 9 h 73"/>
                  <a:gd name="T70" fmla="*/ 436 w 436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36"/>
                  <a:gd name="T109" fmla="*/ 0 h 73"/>
                  <a:gd name="T110" fmla="*/ 436 w 436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36" h="73">
                    <a:moveTo>
                      <a:pt x="436" y="0"/>
                    </a:moveTo>
                    <a:lnTo>
                      <a:pt x="436" y="0"/>
                    </a:lnTo>
                    <a:lnTo>
                      <a:pt x="434" y="9"/>
                    </a:lnTo>
                    <a:lnTo>
                      <a:pt x="426" y="20"/>
                    </a:lnTo>
                    <a:lnTo>
                      <a:pt x="415" y="29"/>
                    </a:lnTo>
                    <a:lnTo>
                      <a:pt x="398" y="38"/>
                    </a:lnTo>
                    <a:lnTo>
                      <a:pt x="378" y="46"/>
                    </a:lnTo>
                    <a:lnTo>
                      <a:pt x="355" y="54"/>
                    </a:lnTo>
                    <a:lnTo>
                      <a:pt x="327" y="61"/>
                    </a:lnTo>
                    <a:lnTo>
                      <a:pt x="296" y="65"/>
                    </a:lnTo>
                    <a:lnTo>
                      <a:pt x="264" y="69"/>
                    </a:lnTo>
                    <a:lnTo>
                      <a:pt x="231" y="72"/>
                    </a:lnTo>
                    <a:lnTo>
                      <a:pt x="195" y="73"/>
                    </a:lnTo>
                    <a:lnTo>
                      <a:pt x="159" y="73"/>
                    </a:lnTo>
                    <a:lnTo>
                      <a:pt x="126" y="72"/>
                    </a:lnTo>
                    <a:lnTo>
                      <a:pt x="91" y="69"/>
                    </a:lnTo>
                    <a:lnTo>
                      <a:pt x="59" y="65"/>
                    </a:lnTo>
                    <a:lnTo>
                      <a:pt x="28" y="61"/>
                    </a:lnTo>
                    <a:lnTo>
                      <a:pt x="0" y="55"/>
                    </a:lnTo>
                    <a:lnTo>
                      <a:pt x="28" y="61"/>
                    </a:lnTo>
                    <a:lnTo>
                      <a:pt x="59" y="65"/>
                    </a:lnTo>
                    <a:lnTo>
                      <a:pt x="91" y="69"/>
                    </a:lnTo>
                    <a:lnTo>
                      <a:pt x="126" y="72"/>
                    </a:lnTo>
                    <a:lnTo>
                      <a:pt x="159" y="73"/>
                    </a:lnTo>
                    <a:lnTo>
                      <a:pt x="195" y="73"/>
                    </a:lnTo>
                    <a:lnTo>
                      <a:pt x="231" y="72"/>
                    </a:lnTo>
                    <a:lnTo>
                      <a:pt x="264" y="69"/>
                    </a:lnTo>
                    <a:lnTo>
                      <a:pt x="296" y="65"/>
                    </a:lnTo>
                    <a:lnTo>
                      <a:pt x="327" y="61"/>
                    </a:lnTo>
                    <a:lnTo>
                      <a:pt x="355" y="54"/>
                    </a:lnTo>
                    <a:lnTo>
                      <a:pt x="378" y="46"/>
                    </a:lnTo>
                    <a:lnTo>
                      <a:pt x="398" y="38"/>
                    </a:lnTo>
                    <a:lnTo>
                      <a:pt x="415" y="29"/>
                    </a:lnTo>
                    <a:lnTo>
                      <a:pt x="426" y="20"/>
                    </a:lnTo>
                    <a:lnTo>
                      <a:pt x="434" y="9"/>
                    </a:lnTo>
                    <a:lnTo>
                      <a:pt x="436" y="0"/>
                    </a:lnTo>
                    <a:close/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9" name="Freeform 190"/>
              <p:cNvSpPr>
                <a:spLocks/>
              </p:cNvSpPr>
              <p:nvPr/>
            </p:nvSpPr>
            <p:spPr bwMode="auto">
              <a:xfrm>
                <a:off x="2604" y="1441"/>
                <a:ext cx="82" cy="55"/>
              </a:xfrm>
              <a:custGeom>
                <a:avLst/>
                <a:gdLst>
                  <a:gd name="T0" fmla="*/ 0 w 82"/>
                  <a:gd name="T1" fmla="*/ 0 h 55"/>
                  <a:gd name="T2" fmla="*/ 2 w 82"/>
                  <a:gd name="T3" fmla="*/ 9 h 55"/>
                  <a:gd name="T4" fmla="*/ 10 w 82"/>
                  <a:gd name="T5" fmla="*/ 20 h 55"/>
                  <a:gd name="T6" fmla="*/ 21 w 82"/>
                  <a:gd name="T7" fmla="*/ 30 h 55"/>
                  <a:gd name="T8" fmla="*/ 38 w 82"/>
                  <a:gd name="T9" fmla="*/ 38 h 55"/>
                  <a:gd name="T10" fmla="*/ 58 w 82"/>
                  <a:gd name="T11" fmla="*/ 46 h 55"/>
                  <a:gd name="T12" fmla="*/ 82 w 82"/>
                  <a:gd name="T13" fmla="*/ 55 h 55"/>
                  <a:gd name="T14" fmla="*/ 58 w 82"/>
                  <a:gd name="T15" fmla="*/ 46 h 55"/>
                  <a:gd name="T16" fmla="*/ 38 w 82"/>
                  <a:gd name="T17" fmla="*/ 38 h 55"/>
                  <a:gd name="T18" fmla="*/ 21 w 82"/>
                  <a:gd name="T19" fmla="*/ 30 h 55"/>
                  <a:gd name="T20" fmla="*/ 10 w 82"/>
                  <a:gd name="T21" fmla="*/ 20 h 55"/>
                  <a:gd name="T22" fmla="*/ 2 w 82"/>
                  <a:gd name="T23" fmla="*/ 9 h 55"/>
                  <a:gd name="T24" fmla="*/ 0 w 82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2"/>
                  <a:gd name="T40" fmla="*/ 0 h 55"/>
                  <a:gd name="T41" fmla="*/ 82 w 82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2" h="55">
                    <a:moveTo>
                      <a:pt x="0" y="0"/>
                    </a:moveTo>
                    <a:lnTo>
                      <a:pt x="2" y="9"/>
                    </a:lnTo>
                    <a:lnTo>
                      <a:pt x="10" y="20"/>
                    </a:lnTo>
                    <a:lnTo>
                      <a:pt x="21" y="30"/>
                    </a:lnTo>
                    <a:lnTo>
                      <a:pt x="38" y="38"/>
                    </a:lnTo>
                    <a:lnTo>
                      <a:pt x="58" y="46"/>
                    </a:lnTo>
                    <a:lnTo>
                      <a:pt x="82" y="55"/>
                    </a:lnTo>
                    <a:lnTo>
                      <a:pt x="58" y="46"/>
                    </a:lnTo>
                    <a:lnTo>
                      <a:pt x="38" y="38"/>
                    </a:lnTo>
                    <a:lnTo>
                      <a:pt x="21" y="30"/>
                    </a:lnTo>
                    <a:lnTo>
                      <a:pt x="10" y="20"/>
                    </a:lnTo>
                    <a:lnTo>
                      <a:pt x="2" y="9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60" name="Freeform 191"/>
              <p:cNvSpPr>
                <a:spLocks/>
              </p:cNvSpPr>
              <p:nvPr/>
            </p:nvSpPr>
            <p:spPr bwMode="auto">
              <a:xfrm>
                <a:off x="2604" y="1366"/>
                <a:ext cx="518" cy="352"/>
              </a:xfrm>
              <a:custGeom>
                <a:avLst/>
                <a:gdLst>
                  <a:gd name="T0" fmla="*/ 0 w 518"/>
                  <a:gd name="T1" fmla="*/ 75 h 352"/>
                  <a:gd name="T2" fmla="*/ 0 w 518"/>
                  <a:gd name="T3" fmla="*/ 278 h 352"/>
                  <a:gd name="T4" fmla="*/ 2 w 518"/>
                  <a:gd name="T5" fmla="*/ 288 h 352"/>
                  <a:gd name="T6" fmla="*/ 10 w 518"/>
                  <a:gd name="T7" fmla="*/ 299 h 352"/>
                  <a:gd name="T8" fmla="*/ 21 w 518"/>
                  <a:gd name="T9" fmla="*/ 308 h 352"/>
                  <a:gd name="T10" fmla="*/ 38 w 518"/>
                  <a:gd name="T11" fmla="*/ 316 h 352"/>
                  <a:gd name="T12" fmla="*/ 58 w 518"/>
                  <a:gd name="T13" fmla="*/ 325 h 352"/>
                  <a:gd name="T14" fmla="*/ 82 w 518"/>
                  <a:gd name="T15" fmla="*/ 333 h 352"/>
                  <a:gd name="T16" fmla="*/ 110 w 518"/>
                  <a:gd name="T17" fmla="*/ 339 h 352"/>
                  <a:gd name="T18" fmla="*/ 141 w 518"/>
                  <a:gd name="T19" fmla="*/ 344 h 352"/>
                  <a:gd name="T20" fmla="*/ 172 w 518"/>
                  <a:gd name="T21" fmla="*/ 348 h 352"/>
                  <a:gd name="T22" fmla="*/ 206 w 518"/>
                  <a:gd name="T23" fmla="*/ 351 h 352"/>
                  <a:gd name="T24" fmla="*/ 241 w 518"/>
                  <a:gd name="T25" fmla="*/ 352 h 352"/>
                  <a:gd name="T26" fmla="*/ 277 w 518"/>
                  <a:gd name="T27" fmla="*/ 352 h 352"/>
                  <a:gd name="T28" fmla="*/ 313 w 518"/>
                  <a:gd name="T29" fmla="*/ 351 h 352"/>
                  <a:gd name="T30" fmla="*/ 346 w 518"/>
                  <a:gd name="T31" fmla="*/ 348 h 352"/>
                  <a:gd name="T32" fmla="*/ 378 w 518"/>
                  <a:gd name="T33" fmla="*/ 344 h 352"/>
                  <a:gd name="T34" fmla="*/ 409 w 518"/>
                  <a:gd name="T35" fmla="*/ 339 h 352"/>
                  <a:gd name="T36" fmla="*/ 437 w 518"/>
                  <a:gd name="T37" fmla="*/ 333 h 352"/>
                  <a:gd name="T38" fmla="*/ 460 w 518"/>
                  <a:gd name="T39" fmla="*/ 325 h 352"/>
                  <a:gd name="T40" fmla="*/ 480 w 518"/>
                  <a:gd name="T41" fmla="*/ 316 h 352"/>
                  <a:gd name="T42" fmla="*/ 497 w 518"/>
                  <a:gd name="T43" fmla="*/ 308 h 352"/>
                  <a:gd name="T44" fmla="*/ 508 w 518"/>
                  <a:gd name="T45" fmla="*/ 299 h 352"/>
                  <a:gd name="T46" fmla="*/ 516 w 518"/>
                  <a:gd name="T47" fmla="*/ 288 h 352"/>
                  <a:gd name="T48" fmla="*/ 518 w 518"/>
                  <a:gd name="T49" fmla="*/ 278 h 352"/>
                  <a:gd name="T50" fmla="*/ 518 w 518"/>
                  <a:gd name="T51" fmla="*/ 75 h 352"/>
                  <a:gd name="T52" fmla="*/ 516 w 518"/>
                  <a:gd name="T53" fmla="*/ 64 h 352"/>
                  <a:gd name="T54" fmla="*/ 508 w 518"/>
                  <a:gd name="T55" fmla="*/ 53 h 352"/>
                  <a:gd name="T56" fmla="*/ 497 w 518"/>
                  <a:gd name="T57" fmla="*/ 45 h 352"/>
                  <a:gd name="T58" fmla="*/ 480 w 518"/>
                  <a:gd name="T59" fmla="*/ 36 h 352"/>
                  <a:gd name="T60" fmla="*/ 460 w 518"/>
                  <a:gd name="T61" fmla="*/ 26 h 352"/>
                  <a:gd name="T62" fmla="*/ 437 w 518"/>
                  <a:gd name="T63" fmla="*/ 20 h 352"/>
                  <a:gd name="T64" fmla="*/ 409 w 518"/>
                  <a:gd name="T65" fmla="*/ 13 h 352"/>
                  <a:gd name="T66" fmla="*/ 378 w 518"/>
                  <a:gd name="T67" fmla="*/ 8 h 352"/>
                  <a:gd name="T68" fmla="*/ 346 w 518"/>
                  <a:gd name="T69" fmla="*/ 4 h 352"/>
                  <a:gd name="T70" fmla="*/ 313 w 518"/>
                  <a:gd name="T71" fmla="*/ 1 h 352"/>
                  <a:gd name="T72" fmla="*/ 277 w 518"/>
                  <a:gd name="T73" fmla="*/ 0 h 352"/>
                  <a:gd name="T74" fmla="*/ 241 w 518"/>
                  <a:gd name="T75" fmla="*/ 0 h 352"/>
                  <a:gd name="T76" fmla="*/ 206 w 518"/>
                  <a:gd name="T77" fmla="*/ 1 h 352"/>
                  <a:gd name="T78" fmla="*/ 172 w 518"/>
                  <a:gd name="T79" fmla="*/ 4 h 352"/>
                  <a:gd name="T80" fmla="*/ 141 w 518"/>
                  <a:gd name="T81" fmla="*/ 8 h 352"/>
                  <a:gd name="T82" fmla="*/ 110 w 518"/>
                  <a:gd name="T83" fmla="*/ 13 h 352"/>
                  <a:gd name="T84" fmla="*/ 82 w 518"/>
                  <a:gd name="T85" fmla="*/ 20 h 352"/>
                  <a:gd name="T86" fmla="*/ 58 w 518"/>
                  <a:gd name="T87" fmla="*/ 26 h 352"/>
                  <a:gd name="T88" fmla="*/ 38 w 518"/>
                  <a:gd name="T89" fmla="*/ 36 h 352"/>
                  <a:gd name="T90" fmla="*/ 21 w 518"/>
                  <a:gd name="T91" fmla="*/ 45 h 352"/>
                  <a:gd name="T92" fmla="*/ 10 w 518"/>
                  <a:gd name="T93" fmla="*/ 53 h 352"/>
                  <a:gd name="T94" fmla="*/ 2 w 518"/>
                  <a:gd name="T95" fmla="*/ 64 h 352"/>
                  <a:gd name="T96" fmla="*/ 0 w 518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8"/>
                  <a:gd name="T148" fmla="*/ 0 h 352"/>
                  <a:gd name="T149" fmla="*/ 518 w 518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8" h="352">
                    <a:moveTo>
                      <a:pt x="0" y="75"/>
                    </a:moveTo>
                    <a:lnTo>
                      <a:pt x="0" y="278"/>
                    </a:lnTo>
                    <a:lnTo>
                      <a:pt x="2" y="288"/>
                    </a:lnTo>
                    <a:lnTo>
                      <a:pt x="10" y="299"/>
                    </a:lnTo>
                    <a:lnTo>
                      <a:pt x="21" y="308"/>
                    </a:lnTo>
                    <a:lnTo>
                      <a:pt x="38" y="316"/>
                    </a:lnTo>
                    <a:lnTo>
                      <a:pt x="58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1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6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0" y="325"/>
                    </a:lnTo>
                    <a:lnTo>
                      <a:pt x="480" y="316"/>
                    </a:lnTo>
                    <a:lnTo>
                      <a:pt x="497" y="308"/>
                    </a:lnTo>
                    <a:lnTo>
                      <a:pt x="508" y="299"/>
                    </a:lnTo>
                    <a:lnTo>
                      <a:pt x="516" y="288"/>
                    </a:lnTo>
                    <a:lnTo>
                      <a:pt x="518" y="278"/>
                    </a:lnTo>
                    <a:lnTo>
                      <a:pt x="518" y="75"/>
                    </a:lnTo>
                    <a:lnTo>
                      <a:pt x="516" y="64"/>
                    </a:lnTo>
                    <a:lnTo>
                      <a:pt x="508" y="53"/>
                    </a:lnTo>
                    <a:lnTo>
                      <a:pt x="497" y="45"/>
                    </a:lnTo>
                    <a:lnTo>
                      <a:pt x="480" y="36"/>
                    </a:lnTo>
                    <a:lnTo>
                      <a:pt x="460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6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1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8" y="26"/>
                    </a:lnTo>
                    <a:lnTo>
                      <a:pt x="38" y="36"/>
                    </a:lnTo>
                    <a:lnTo>
                      <a:pt x="21" y="45"/>
                    </a:lnTo>
                    <a:lnTo>
                      <a:pt x="10" y="53"/>
                    </a:lnTo>
                    <a:lnTo>
                      <a:pt x="2" y="64"/>
                    </a:lnTo>
                    <a:lnTo>
                      <a:pt x="0" y="75"/>
                    </a:lnTo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38" name="Group 192"/>
            <p:cNvGrpSpPr>
              <a:grpSpLocks/>
            </p:cNvGrpSpPr>
            <p:nvPr/>
          </p:nvGrpSpPr>
          <p:grpSpPr bwMode="auto">
            <a:xfrm>
              <a:off x="2605" y="1366"/>
              <a:ext cx="517" cy="149"/>
              <a:chOff x="2605" y="1366"/>
              <a:chExt cx="517" cy="149"/>
            </a:xfrm>
          </p:grpSpPr>
          <p:sp>
            <p:nvSpPr>
              <p:cNvPr id="28755" name="Freeform 193"/>
              <p:cNvSpPr>
                <a:spLocks/>
              </p:cNvSpPr>
              <p:nvPr/>
            </p:nvSpPr>
            <p:spPr bwMode="auto">
              <a:xfrm>
                <a:off x="2605" y="1366"/>
                <a:ext cx="517" cy="149"/>
              </a:xfrm>
              <a:custGeom>
                <a:avLst/>
                <a:gdLst>
                  <a:gd name="T0" fmla="*/ 517 w 517"/>
                  <a:gd name="T1" fmla="*/ 75 h 149"/>
                  <a:gd name="T2" fmla="*/ 515 w 517"/>
                  <a:gd name="T3" fmla="*/ 84 h 149"/>
                  <a:gd name="T4" fmla="*/ 507 w 517"/>
                  <a:gd name="T5" fmla="*/ 95 h 149"/>
                  <a:gd name="T6" fmla="*/ 495 w 517"/>
                  <a:gd name="T7" fmla="*/ 105 h 149"/>
                  <a:gd name="T8" fmla="*/ 478 w 517"/>
                  <a:gd name="T9" fmla="*/ 113 h 149"/>
                  <a:gd name="T10" fmla="*/ 457 w 517"/>
                  <a:gd name="T11" fmla="*/ 122 h 149"/>
                  <a:gd name="T12" fmla="*/ 431 w 517"/>
                  <a:gd name="T13" fmla="*/ 130 h 149"/>
                  <a:gd name="T14" fmla="*/ 403 w 517"/>
                  <a:gd name="T15" fmla="*/ 137 h 149"/>
                  <a:gd name="T16" fmla="*/ 372 w 517"/>
                  <a:gd name="T17" fmla="*/ 141 h 149"/>
                  <a:gd name="T18" fmla="*/ 337 w 517"/>
                  <a:gd name="T19" fmla="*/ 145 h 149"/>
                  <a:gd name="T20" fmla="*/ 304 w 517"/>
                  <a:gd name="T21" fmla="*/ 147 h 149"/>
                  <a:gd name="T22" fmla="*/ 267 w 517"/>
                  <a:gd name="T23" fmla="*/ 149 h 149"/>
                  <a:gd name="T24" fmla="*/ 231 w 517"/>
                  <a:gd name="T25" fmla="*/ 148 h 149"/>
                  <a:gd name="T26" fmla="*/ 194 w 517"/>
                  <a:gd name="T27" fmla="*/ 146 h 149"/>
                  <a:gd name="T28" fmla="*/ 161 w 517"/>
                  <a:gd name="T29" fmla="*/ 143 h 149"/>
                  <a:gd name="T30" fmla="*/ 130 w 517"/>
                  <a:gd name="T31" fmla="*/ 139 h 149"/>
                  <a:gd name="T32" fmla="*/ 98 w 517"/>
                  <a:gd name="T33" fmla="*/ 134 h 149"/>
                  <a:gd name="T34" fmla="*/ 73 w 517"/>
                  <a:gd name="T35" fmla="*/ 126 h 149"/>
                  <a:gd name="T36" fmla="*/ 48 w 517"/>
                  <a:gd name="T37" fmla="*/ 118 h 149"/>
                  <a:gd name="T38" fmla="*/ 29 w 517"/>
                  <a:gd name="T39" fmla="*/ 109 h 149"/>
                  <a:gd name="T40" fmla="*/ 16 w 517"/>
                  <a:gd name="T41" fmla="*/ 100 h 149"/>
                  <a:gd name="T42" fmla="*/ 5 w 517"/>
                  <a:gd name="T43" fmla="*/ 89 h 149"/>
                  <a:gd name="T44" fmla="*/ 0 w 517"/>
                  <a:gd name="T45" fmla="*/ 80 h 149"/>
                  <a:gd name="T46" fmla="*/ 0 w 517"/>
                  <a:gd name="T47" fmla="*/ 69 h 149"/>
                  <a:gd name="T48" fmla="*/ 5 w 517"/>
                  <a:gd name="T49" fmla="*/ 58 h 149"/>
                  <a:gd name="T50" fmla="*/ 16 w 517"/>
                  <a:gd name="T51" fmla="*/ 49 h 149"/>
                  <a:gd name="T52" fmla="*/ 29 w 517"/>
                  <a:gd name="T53" fmla="*/ 39 h 149"/>
                  <a:gd name="T54" fmla="*/ 48 w 517"/>
                  <a:gd name="T55" fmla="*/ 30 h 149"/>
                  <a:gd name="T56" fmla="*/ 73 w 517"/>
                  <a:gd name="T57" fmla="*/ 22 h 149"/>
                  <a:gd name="T58" fmla="*/ 98 w 517"/>
                  <a:gd name="T59" fmla="*/ 15 h 149"/>
                  <a:gd name="T60" fmla="*/ 130 w 517"/>
                  <a:gd name="T61" fmla="*/ 10 h 149"/>
                  <a:gd name="T62" fmla="*/ 161 w 517"/>
                  <a:gd name="T63" fmla="*/ 5 h 149"/>
                  <a:gd name="T64" fmla="*/ 194 w 517"/>
                  <a:gd name="T65" fmla="*/ 2 h 149"/>
                  <a:gd name="T66" fmla="*/ 231 w 517"/>
                  <a:gd name="T67" fmla="*/ 0 h 149"/>
                  <a:gd name="T68" fmla="*/ 267 w 517"/>
                  <a:gd name="T69" fmla="*/ 0 h 149"/>
                  <a:gd name="T70" fmla="*/ 304 w 517"/>
                  <a:gd name="T71" fmla="*/ 1 h 149"/>
                  <a:gd name="T72" fmla="*/ 337 w 517"/>
                  <a:gd name="T73" fmla="*/ 3 h 149"/>
                  <a:gd name="T74" fmla="*/ 372 w 517"/>
                  <a:gd name="T75" fmla="*/ 7 h 149"/>
                  <a:gd name="T76" fmla="*/ 403 w 517"/>
                  <a:gd name="T77" fmla="*/ 12 h 149"/>
                  <a:gd name="T78" fmla="*/ 431 w 517"/>
                  <a:gd name="T79" fmla="*/ 19 h 149"/>
                  <a:gd name="T80" fmla="*/ 457 w 517"/>
                  <a:gd name="T81" fmla="*/ 25 h 149"/>
                  <a:gd name="T82" fmla="*/ 478 w 517"/>
                  <a:gd name="T83" fmla="*/ 35 h 149"/>
                  <a:gd name="T84" fmla="*/ 495 w 517"/>
                  <a:gd name="T85" fmla="*/ 44 h 149"/>
                  <a:gd name="T86" fmla="*/ 507 w 517"/>
                  <a:gd name="T87" fmla="*/ 53 h 149"/>
                  <a:gd name="T88" fmla="*/ 515 w 517"/>
                  <a:gd name="T89" fmla="*/ 64 h 149"/>
                  <a:gd name="T90" fmla="*/ 517 w 517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7"/>
                  <a:gd name="T139" fmla="*/ 0 h 149"/>
                  <a:gd name="T140" fmla="*/ 517 w 517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7" h="149">
                    <a:moveTo>
                      <a:pt x="517" y="75"/>
                    </a:moveTo>
                    <a:lnTo>
                      <a:pt x="515" y="84"/>
                    </a:lnTo>
                    <a:lnTo>
                      <a:pt x="507" y="95"/>
                    </a:lnTo>
                    <a:lnTo>
                      <a:pt x="495" y="105"/>
                    </a:lnTo>
                    <a:lnTo>
                      <a:pt x="478" y="113"/>
                    </a:lnTo>
                    <a:lnTo>
                      <a:pt x="457" y="122"/>
                    </a:lnTo>
                    <a:lnTo>
                      <a:pt x="431" y="130"/>
                    </a:lnTo>
                    <a:lnTo>
                      <a:pt x="403" y="137"/>
                    </a:lnTo>
                    <a:lnTo>
                      <a:pt x="372" y="141"/>
                    </a:lnTo>
                    <a:lnTo>
                      <a:pt x="337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1" y="148"/>
                    </a:lnTo>
                    <a:lnTo>
                      <a:pt x="194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8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5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5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8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4" y="2"/>
                    </a:lnTo>
                    <a:lnTo>
                      <a:pt x="231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7" y="3"/>
                    </a:lnTo>
                    <a:lnTo>
                      <a:pt x="372" y="7"/>
                    </a:lnTo>
                    <a:lnTo>
                      <a:pt x="403" y="12"/>
                    </a:lnTo>
                    <a:lnTo>
                      <a:pt x="431" y="19"/>
                    </a:lnTo>
                    <a:lnTo>
                      <a:pt x="457" y="25"/>
                    </a:lnTo>
                    <a:lnTo>
                      <a:pt x="478" y="35"/>
                    </a:lnTo>
                    <a:lnTo>
                      <a:pt x="495" y="44"/>
                    </a:lnTo>
                    <a:lnTo>
                      <a:pt x="507" y="53"/>
                    </a:lnTo>
                    <a:lnTo>
                      <a:pt x="515" y="64"/>
                    </a:lnTo>
                    <a:lnTo>
                      <a:pt x="517" y="75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6" name="Freeform 194"/>
              <p:cNvSpPr>
                <a:spLocks/>
              </p:cNvSpPr>
              <p:nvPr/>
            </p:nvSpPr>
            <p:spPr bwMode="auto">
              <a:xfrm>
                <a:off x="2605" y="1366"/>
                <a:ext cx="517" cy="149"/>
              </a:xfrm>
              <a:custGeom>
                <a:avLst/>
                <a:gdLst>
                  <a:gd name="T0" fmla="*/ 517 w 517"/>
                  <a:gd name="T1" fmla="*/ 75 h 149"/>
                  <a:gd name="T2" fmla="*/ 515 w 517"/>
                  <a:gd name="T3" fmla="*/ 84 h 149"/>
                  <a:gd name="T4" fmla="*/ 507 w 517"/>
                  <a:gd name="T5" fmla="*/ 95 h 149"/>
                  <a:gd name="T6" fmla="*/ 495 w 517"/>
                  <a:gd name="T7" fmla="*/ 105 h 149"/>
                  <a:gd name="T8" fmla="*/ 478 w 517"/>
                  <a:gd name="T9" fmla="*/ 113 h 149"/>
                  <a:gd name="T10" fmla="*/ 457 w 517"/>
                  <a:gd name="T11" fmla="*/ 122 h 149"/>
                  <a:gd name="T12" fmla="*/ 431 w 517"/>
                  <a:gd name="T13" fmla="*/ 130 h 149"/>
                  <a:gd name="T14" fmla="*/ 403 w 517"/>
                  <a:gd name="T15" fmla="*/ 137 h 149"/>
                  <a:gd name="T16" fmla="*/ 372 w 517"/>
                  <a:gd name="T17" fmla="*/ 141 h 149"/>
                  <a:gd name="T18" fmla="*/ 337 w 517"/>
                  <a:gd name="T19" fmla="*/ 145 h 149"/>
                  <a:gd name="T20" fmla="*/ 304 w 517"/>
                  <a:gd name="T21" fmla="*/ 147 h 149"/>
                  <a:gd name="T22" fmla="*/ 267 w 517"/>
                  <a:gd name="T23" fmla="*/ 149 h 149"/>
                  <a:gd name="T24" fmla="*/ 231 w 517"/>
                  <a:gd name="T25" fmla="*/ 148 h 149"/>
                  <a:gd name="T26" fmla="*/ 194 w 517"/>
                  <a:gd name="T27" fmla="*/ 146 h 149"/>
                  <a:gd name="T28" fmla="*/ 161 w 517"/>
                  <a:gd name="T29" fmla="*/ 143 h 149"/>
                  <a:gd name="T30" fmla="*/ 130 w 517"/>
                  <a:gd name="T31" fmla="*/ 139 h 149"/>
                  <a:gd name="T32" fmla="*/ 98 w 517"/>
                  <a:gd name="T33" fmla="*/ 134 h 149"/>
                  <a:gd name="T34" fmla="*/ 73 w 517"/>
                  <a:gd name="T35" fmla="*/ 126 h 149"/>
                  <a:gd name="T36" fmla="*/ 48 w 517"/>
                  <a:gd name="T37" fmla="*/ 118 h 149"/>
                  <a:gd name="T38" fmla="*/ 29 w 517"/>
                  <a:gd name="T39" fmla="*/ 109 h 149"/>
                  <a:gd name="T40" fmla="*/ 16 w 517"/>
                  <a:gd name="T41" fmla="*/ 100 h 149"/>
                  <a:gd name="T42" fmla="*/ 5 w 517"/>
                  <a:gd name="T43" fmla="*/ 89 h 149"/>
                  <a:gd name="T44" fmla="*/ 0 w 517"/>
                  <a:gd name="T45" fmla="*/ 80 h 149"/>
                  <a:gd name="T46" fmla="*/ 0 w 517"/>
                  <a:gd name="T47" fmla="*/ 69 h 149"/>
                  <a:gd name="T48" fmla="*/ 5 w 517"/>
                  <a:gd name="T49" fmla="*/ 58 h 149"/>
                  <a:gd name="T50" fmla="*/ 16 w 517"/>
                  <a:gd name="T51" fmla="*/ 49 h 149"/>
                  <a:gd name="T52" fmla="*/ 29 w 517"/>
                  <a:gd name="T53" fmla="*/ 39 h 149"/>
                  <a:gd name="T54" fmla="*/ 48 w 517"/>
                  <a:gd name="T55" fmla="*/ 30 h 149"/>
                  <a:gd name="T56" fmla="*/ 73 w 517"/>
                  <a:gd name="T57" fmla="*/ 22 h 149"/>
                  <a:gd name="T58" fmla="*/ 98 w 517"/>
                  <a:gd name="T59" fmla="*/ 15 h 149"/>
                  <a:gd name="T60" fmla="*/ 130 w 517"/>
                  <a:gd name="T61" fmla="*/ 10 h 149"/>
                  <a:gd name="T62" fmla="*/ 161 w 517"/>
                  <a:gd name="T63" fmla="*/ 5 h 149"/>
                  <a:gd name="T64" fmla="*/ 194 w 517"/>
                  <a:gd name="T65" fmla="*/ 2 h 149"/>
                  <a:gd name="T66" fmla="*/ 231 w 517"/>
                  <a:gd name="T67" fmla="*/ 0 h 149"/>
                  <a:gd name="T68" fmla="*/ 267 w 517"/>
                  <a:gd name="T69" fmla="*/ 0 h 149"/>
                  <a:gd name="T70" fmla="*/ 304 w 517"/>
                  <a:gd name="T71" fmla="*/ 1 h 149"/>
                  <a:gd name="T72" fmla="*/ 337 w 517"/>
                  <a:gd name="T73" fmla="*/ 3 h 149"/>
                  <a:gd name="T74" fmla="*/ 372 w 517"/>
                  <a:gd name="T75" fmla="*/ 7 h 149"/>
                  <a:gd name="T76" fmla="*/ 403 w 517"/>
                  <a:gd name="T77" fmla="*/ 12 h 149"/>
                  <a:gd name="T78" fmla="*/ 431 w 517"/>
                  <a:gd name="T79" fmla="*/ 19 h 149"/>
                  <a:gd name="T80" fmla="*/ 457 w 517"/>
                  <a:gd name="T81" fmla="*/ 25 h 149"/>
                  <a:gd name="T82" fmla="*/ 478 w 517"/>
                  <a:gd name="T83" fmla="*/ 35 h 149"/>
                  <a:gd name="T84" fmla="*/ 495 w 517"/>
                  <a:gd name="T85" fmla="*/ 44 h 149"/>
                  <a:gd name="T86" fmla="*/ 507 w 517"/>
                  <a:gd name="T87" fmla="*/ 53 h 149"/>
                  <a:gd name="T88" fmla="*/ 515 w 517"/>
                  <a:gd name="T89" fmla="*/ 64 h 149"/>
                  <a:gd name="T90" fmla="*/ 517 w 517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7"/>
                  <a:gd name="T139" fmla="*/ 0 h 149"/>
                  <a:gd name="T140" fmla="*/ 517 w 517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7" h="149">
                    <a:moveTo>
                      <a:pt x="517" y="75"/>
                    </a:moveTo>
                    <a:lnTo>
                      <a:pt x="515" y="84"/>
                    </a:lnTo>
                    <a:lnTo>
                      <a:pt x="507" y="95"/>
                    </a:lnTo>
                    <a:lnTo>
                      <a:pt x="495" y="105"/>
                    </a:lnTo>
                    <a:lnTo>
                      <a:pt x="478" y="113"/>
                    </a:lnTo>
                    <a:lnTo>
                      <a:pt x="457" y="122"/>
                    </a:lnTo>
                    <a:lnTo>
                      <a:pt x="431" y="130"/>
                    </a:lnTo>
                    <a:lnTo>
                      <a:pt x="403" y="137"/>
                    </a:lnTo>
                    <a:lnTo>
                      <a:pt x="372" y="141"/>
                    </a:lnTo>
                    <a:lnTo>
                      <a:pt x="337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1" y="148"/>
                    </a:lnTo>
                    <a:lnTo>
                      <a:pt x="194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8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5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5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8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4" y="2"/>
                    </a:lnTo>
                    <a:lnTo>
                      <a:pt x="231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7" y="3"/>
                    </a:lnTo>
                    <a:lnTo>
                      <a:pt x="372" y="7"/>
                    </a:lnTo>
                    <a:lnTo>
                      <a:pt x="403" y="12"/>
                    </a:lnTo>
                    <a:lnTo>
                      <a:pt x="431" y="19"/>
                    </a:lnTo>
                    <a:lnTo>
                      <a:pt x="457" y="25"/>
                    </a:lnTo>
                    <a:lnTo>
                      <a:pt x="478" y="35"/>
                    </a:lnTo>
                    <a:lnTo>
                      <a:pt x="495" y="44"/>
                    </a:lnTo>
                    <a:lnTo>
                      <a:pt x="507" y="53"/>
                    </a:lnTo>
                    <a:lnTo>
                      <a:pt x="515" y="64"/>
                    </a:lnTo>
                    <a:lnTo>
                      <a:pt x="517" y="75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39" name="Freeform 195"/>
            <p:cNvSpPr>
              <a:spLocks noEditPoints="1"/>
            </p:cNvSpPr>
            <p:nvPr/>
          </p:nvSpPr>
          <p:spPr bwMode="auto">
            <a:xfrm>
              <a:off x="2723" y="1380"/>
              <a:ext cx="273" cy="117"/>
            </a:xfrm>
            <a:custGeom>
              <a:avLst/>
              <a:gdLst>
                <a:gd name="T0" fmla="*/ 51 w 273"/>
                <a:gd name="T1" fmla="*/ 66 h 117"/>
                <a:gd name="T2" fmla="*/ 209 w 273"/>
                <a:gd name="T3" fmla="*/ 66 h 117"/>
                <a:gd name="T4" fmla="*/ 109 w 273"/>
                <a:gd name="T5" fmla="*/ 99 h 117"/>
                <a:gd name="T6" fmla="*/ 51 w 273"/>
                <a:gd name="T7" fmla="*/ 66 h 117"/>
                <a:gd name="T8" fmla="*/ 224 w 273"/>
                <a:gd name="T9" fmla="*/ 51 h 117"/>
                <a:gd name="T10" fmla="*/ 64 w 273"/>
                <a:gd name="T11" fmla="*/ 51 h 117"/>
                <a:gd name="T12" fmla="*/ 166 w 273"/>
                <a:gd name="T13" fmla="*/ 17 h 117"/>
                <a:gd name="T14" fmla="*/ 224 w 273"/>
                <a:gd name="T15" fmla="*/ 51 h 117"/>
                <a:gd name="T16" fmla="*/ 104 w 273"/>
                <a:gd name="T17" fmla="*/ 117 h 117"/>
                <a:gd name="T18" fmla="*/ 273 w 273"/>
                <a:gd name="T19" fmla="*/ 60 h 117"/>
                <a:gd name="T20" fmla="*/ 169 w 273"/>
                <a:gd name="T21" fmla="*/ 0 h 117"/>
                <a:gd name="T22" fmla="*/ 0 w 273"/>
                <a:gd name="T23" fmla="*/ 57 h 117"/>
                <a:gd name="T24" fmla="*/ 104 w 273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117"/>
                <a:gd name="T41" fmla="*/ 273 w 273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117">
                  <a:moveTo>
                    <a:pt x="51" y="66"/>
                  </a:moveTo>
                  <a:lnTo>
                    <a:pt x="209" y="66"/>
                  </a:lnTo>
                  <a:lnTo>
                    <a:pt x="109" y="99"/>
                  </a:lnTo>
                  <a:lnTo>
                    <a:pt x="51" y="66"/>
                  </a:lnTo>
                  <a:close/>
                  <a:moveTo>
                    <a:pt x="224" y="51"/>
                  </a:moveTo>
                  <a:lnTo>
                    <a:pt x="64" y="51"/>
                  </a:lnTo>
                  <a:lnTo>
                    <a:pt x="166" y="17"/>
                  </a:lnTo>
                  <a:lnTo>
                    <a:pt x="224" y="51"/>
                  </a:lnTo>
                  <a:close/>
                  <a:moveTo>
                    <a:pt x="104" y="117"/>
                  </a:moveTo>
                  <a:lnTo>
                    <a:pt x="273" y="60"/>
                  </a:lnTo>
                  <a:lnTo>
                    <a:pt x="169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0" name="Freeform 196"/>
            <p:cNvSpPr>
              <a:spLocks noEditPoints="1"/>
            </p:cNvSpPr>
            <p:nvPr/>
          </p:nvSpPr>
          <p:spPr bwMode="auto">
            <a:xfrm>
              <a:off x="2730" y="1384"/>
              <a:ext cx="273" cy="117"/>
            </a:xfrm>
            <a:custGeom>
              <a:avLst/>
              <a:gdLst>
                <a:gd name="T0" fmla="*/ 50 w 273"/>
                <a:gd name="T1" fmla="*/ 65 h 117"/>
                <a:gd name="T2" fmla="*/ 209 w 273"/>
                <a:gd name="T3" fmla="*/ 65 h 117"/>
                <a:gd name="T4" fmla="*/ 108 w 273"/>
                <a:gd name="T5" fmla="*/ 99 h 117"/>
                <a:gd name="T6" fmla="*/ 50 w 273"/>
                <a:gd name="T7" fmla="*/ 65 h 117"/>
                <a:gd name="T8" fmla="*/ 223 w 273"/>
                <a:gd name="T9" fmla="*/ 52 h 117"/>
                <a:gd name="T10" fmla="*/ 64 w 273"/>
                <a:gd name="T11" fmla="*/ 52 h 117"/>
                <a:gd name="T12" fmla="*/ 165 w 273"/>
                <a:gd name="T13" fmla="*/ 18 h 117"/>
                <a:gd name="T14" fmla="*/ 223 w 273"/>
                <a:gd name="T15" fmla="*/ 52 h 117"/>
                <a:gd name="T16" fmla="*/ 104 w 273"/>
                <a:gd name="T17" fmla="*/ 117 h 117"/>
                <a:gd name="T18" fmla="*/ 273 w 273"/>
                <a:gd name="T19" fmla="*/ 61 h 117"/>
                <a:gd name="T20" fmla="*/ 169 w 273"/>
                <a:gd name="T21" fmla="*/ 0 h 117"/>
                <a:gd name="T22" fmla="*/ 0 w 273"/>
                <a:gd name="T23" fmla="*/ 57 h 117"/>
                <a:gd name="T24" fmla="*/ 104 w 273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117"/>
                <a:gd name="T41" fmla="*/ 273 w 273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117">
                  <a:moveTo>
                    <a:pt x="50" y="65"/>
                  </a:moveTo>
                  <a:lnTo>
                    <a:pt x="209" y="65"/>
                  </a:lnTo>
                  <a:lnTo>
                    <a:pt x="108" y="99"/>
                  </a:lnTo>
                  <a:lnTo>
                    <a:pt x="50" y="65"/>
                  </a:lnTo>
                  <a:close/>
                  <a:moveTo>
                    <a:pt x="223" y="52"/>
                  </a:moveTo>
                  <a:lnTo>
                    <a:pt x="64" y="52"/>
                  </a:lnTo>
                  <a:lnTo>
                    <a:pt x="165" y="18"/>
                  </a:lnTo>
                  <a:lnTo>
                    <a:pt x="223" y="52"/>
                  </a:lnTo>
                  <a:close/>
                  <a:moveTo>
                    <a:pt x="104" y="117"/>
                  </a:moveTo>
                  <a:lnTo>
                    <a:pt x="273" y="61"/>
                  </a:lnTo>
                  <a:lnTo>
                    <a:pt x="169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1" name="Freeform 197"/>
            <p:cNvSpPr>
              <a:spLocks noEditPoints="1"/>
            </p:cNvSpPr>
            <p:nvPr/>
          </p:nvSpPr>
          <p:spPr bwMode="auto">
            <a:xfrm>
              <a:off x="2780" y="157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7 w 179"/>
                <a:gd name="T3" fmla="*/ 53 h 94"/>
                <a:gd name="T4" fmla="*/ 126 w 179"/>
                <a:gd name="T5" fmla="*/ 94 h 94"/>
                <a:gd name="T6" fmla="*/ 179 w 179"/>
                <a:gd name="T7" fmla="*/ 94 h 94"/>
                <a:gd name="T8" fmla="*/ 179 w 179"/>
                <a:gd name="T9" fmla="*/ 77 h 94"/>
                <a:gd name="T10" fmla="*/ 157 w 179"/>
                <a:gd name="T11" fmla="*/ 77 h 94"/>
                <a:gd name="T12" fmla="*/ 129 w 179"/>
                <a:gd name="T13" fmla="*/ 49 h 94"/>
                <a:gd name="T14" fmla="*/ 133 w 179"/>
                <a:gd name="T15" fmla="*/ 47 h 94"/>
                <a:gd name="T16" fmla="*/ 142 w 179"/>
                <a:gd name="T17" fmla="*/ 44 h 94"/>
                <a:gd name="T18" fmla="*/ 150 w 179"/>
                <a:gd name="T19" fmla="*/ 41 h 94"/>
                <a:gd name="T20" fmla="*/ 153 w 179"/>
                <a:gd name="T21" fmla="*/ 37 h 94"/>
                <a:gd name="T22" fmla="*/ 158 w 179"/>
                <a:gd name="T23" fmla="*/ 32 h 94"/>
                <a:gd name="T24" fmla="*/ 159 w 179"/>
                <a:gd name="T25" fmla="*/ 26 h 94"/>
                <a:gd name="T26" fmla="*/ 158 w 179"/>
                <a:gd name="T27" fmla="*/ 23 h 94"/>
                <a:gd name="T28" fmla="*/ 157 w 179"/>
                <a:gd name="T29" fmla="*/ 17 h 94"/>
                <a:gd name="T30" fmla="*/ 151 w 179"/>
                <a:gd name="T31" fmla="*/ 13 h 94"/>
                <a:gd name="T32" fmla="*/ 145 w 179"/>
                <a:gd name="T33" fmla="*/ 8 h 94"/>
                <a:gd name="T34" fmla="*/ 142 w 179"/>
                <a:gd name="T35" fmla="*/ 6 h 94"/>
                <a:gd name="T36" fmla="*/ 134 w 179"/>
                <a:gd name="T37" fmla="*/ 3 h 94"/>
                <a:gd name="T38" fmla="*/ 126 w 179"/>
                <a:gd name="T39" fmla="*/ 1 h 94"/>
                <a:gd name="T40" fmla="*/ 116 w 179"/>
                <a:gd name="T41" fmla="*/ 0 h 94"/>
                <a:gd name="T42" fmla="*/ 103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3 w 179"/>
                <a:gd name="T49" fmla="*/ 16 h 94"/>
                <a:gd name="T50" fmla="*/ 23 w 179"/>
                <a:gd name="T51" fmla="*/ 77 h 94"/>
                <a:gd name="T52" fmla="*/ 0 w 179"/>
                <a:gd name="T53" fmla="*/ 77 h 94"/>
                <a:gd name="T54" fmla="*/ 0 w 179"/>
                <a:gd name="T55" fmla="*/ 94 h 94"/>
                <a:gd name="T56" fmla="*/ 90 w 179"/>
                <a:gd name="T57" fmla="*/ 94 h 94"/>
                <a:gd name="T58" fmla="*/ 90 w 179"/>
                <a:gd name="T59" fmla="*/ 77 h 94"/>
                <a:gd name="T60" fmla="*/ 68 w 179"/>
                <a:gd name="T61" fmla="*/ 77 h 94"/>
                <a:gd name="T62" fmla="*/ 68 w 179"/>
                <a:gd name="T63" fmla="*/ 53 h 94"/>
                <a:gd name="T64" fmla="*/ 68 w 179"/>
                <a:gd name="T65" fmla="*/ 16 h 94"/>
                <a:gd name="T66" fmla="*/ 87 w 179"/>
                <a:gd name="T67" fmla="*/ 16 h 94"/>
                <a:gd name="T68" fmla="*/ 97 w 179"/>
                <a:gd name="T69" fmla="*/ 16 h 94"/>
                <a:gd name="T70" fmla="*/ 104 w 179"/>
                <a:gd name="T71" fmla="*/ 17 h 94"/>
                <a:gd name="T72" fmla="*/ 110 w 179"/>
                <a:gd name="T73" fmla="*/ 21 h 94"/>
                <a:gd name="T74" fmla="*/ 112 w 179"/>
                <a:gd name="T75" fmla="*/ 27 h 94"/>
                <a:gd name="T76" fmla="*/ 112 w 179"/>
                <a:gd name="T77" fmla="*/ 28 h 94"/>
                <a:gd name="T78" fmla="*/ 110 w 179"/>
                <a:gd name="T79" fmla="*/ 32 h 94"/>
                <a:gd name="T80" fmla="*/ 103 w 179"/>
                <a:gd name="T81" fmla="*/ 35 h 94"/>
                <a:gd name="T82" fmla="*/ 95 w 179"/>
                <a:gd name="T83" fmla="*/ 37 h 94"/>
                <a:gd name="T84" fmla="*/ 83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7" y="53"/>
                  </a:lnTo>
                  <a:lnTo>
                    <a:pt x="126" y="94"/>
                  </a:lnTo>
                  <a:lnTo>
                    <a:pt x="179" y="94"/>
                  </a:lnTo>
                  <a:lnTo>
                    <a:pt x="179" y="77"/>
                  </a:lnTo>
                  <a:lnTo>
                    <a:pt x="157" y="77"/>
                  </a:lnTo>
                  <a:lnTo>
                    <a:pt x="129" y="49"/>
                  </a:lnTo>
                  <a:lnTo>
                    <a:pt x="133" y="47"/>
                  </a:lnTo>
                  <a:lnTo>
                    <a:pt x="142" y="44"/>
                  </a:lnTo>
                  <a:lnTo>
                    <a:pt x="150" y="41"/>
                  </a:lnTo>
                  <a:lnTo>
                    <a:pt x="153" y="37"/>
                  </a:lnTo>
                  <a:lnTo>
                    <a:pt x="158" y="32"/>
                  </a:lnTo>
                  <a:lnTo>
                    <a:pt x="159" y="26"/>
                  </a:lnTo>
                  <a:lnTo>
                    <a:pt x="158" y="23"/>
                  </a:lnTo>
                  <a:lnTo>
                    <a:pt x="157" y="17"/>
                  </a:lnTo>
                  <a:lnTo>
                    <a:pt x="151" y="13"/>
                  </a:lnTo>
                  <a:lnTo>
                    <a:pt x="145" y="8"/>
                  </a:lnTo>
                  <a:lnTo>
                    <a:pt x="142" y="6"/>
                  </a:lnTo>
                  <a:lnTo>
                    <a:pt x="134" y="3"/>
                  </a:lnTo>
                  <a:lnTo>
                    <a:pt x="126" y="1"/>
                  </a:lnTo>
                  <a:lnTo>
                    <a:pt x="116" y="0"/>
                  </a:lnTo>
                  <a:lnTo>
                    <a:pt x="103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3" y="16"/>
                  </a:lnTo>
                  <a:lnTo>
                    <a:pt x="23" y="77"/>
                  </a:lnTo>
                  <a:lnTo>
                    <a:pt x="0" y="77"/>
                  </a:lnTo>
                  <a:lnTo>
                    <a:pt x="0" y="94"/>
                  </a:lnTo>
                  <a:lnTo>
                    <a:pt x="90" y="94"/>
                  </a:lnTo>
                  <a:lnTo>
                    <a:pt x="90" y="77"/>
                  </a:lnTo>
                  <a:lnTo>
                    <a:pt x="68" y="77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7" y="16"/>
                  </a:lnTo>
                  <a:lnTo>
                    <a:pt x="97" y="16"/>
                  </a:lnTo>
                  <a:lnTo>
                    <a:pt x="104" y="17"/>
                  </a:lnTo>
                  <a:lnTo>
                    <a:pt x="110" y="21"/>
                  </a:lnTo>
                  <a:lnTo>
                    <a:pt x="112" y="27"/>
                  </a:lnTo>
                  <a:lnTo>
                    <a:pt x="112" y="28"/>
                  </a:lnTo>
                  <a:lnTo>
                    <a:pt x="110" y="32"/>
                  </a:lnTo>
                  <a:lnTo>
                    <a:pt x="103" y="35"/>
                  </a:lnTo>
                  <a:lnTo>
                    <a:pt x="95" y="37"/>
                  </a:lnTo>
                  <a:lnTo>
                    <a:pt x="83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2" name="Freeform 198"/>
            <p:cNvSpPr>
              <a:spLocks noEditPoints="1"/>
            </p:cNvSpPr>
            <p:nvPr/>
          </p:nvSpPr>
          <p:spPr bwMode="auto">
            <a:xfrm>
              <a:off x="2767" y="1563"/>
              <a:ext cx="180" cy="94"/>
            </a:xfrm>
            <a:custGeom>
              <a:avLst/>
              <a:gdLst>
                <a:gd name="T0" fmla="*/ 68 w 180"/>
                <a:gd name="T1" fmla="*/ 53 h 94"/>
                <a:gd name="T2" fmla="*/ 88 w 180"/>
                <a:gd name="T3" fmla="*/ 53 h 94"/>
                <a:gd name="T4" fmla="*/ 127 w 180"/>
                <a:gd name="T5" fmla="*/ 94 h 94"/>
                <a:gd name="T6" fmla="*/ 180 w 180"/>
                <a:gd name="T7" fmla="*/ 94 h 94"/>
                <a:gd name="T8" fmla="*/ 180 w 180"/>
                <a:gd name="T9" fmla="*/ 79 h 94"/>
                <a:gd name="T10" fmla="*/ 157 w 180"/>
                <a:gd name="T11" fmla="*/ 79 h 94"/>
                <a:gd name="T12" fmla="*/ 129 w 180"/>
                <a:gd name="T13" fmla="*/ 50 h 94"/>
                <a:gd name="T14" fmla="*/ 135 w 180"/>
                <a:gd name="T15" fmla="*/ 49 h 94"/>
                <a:gd name="T16" fmla="*/ 144 w 180"/>
                <a:gd name="T17" fmla="*/ 45 h 94"/>
                <a:gd name="T18" fmla="*/ 151 w 180"/>
                <a:gd name="T19" fmla="*/ 42 h 94"/>
                <a:gd name="T20" fmla="*/ 155 w 180"/>
                <a:gd name="T21" fmla="*/ 37 h 94"/>
                <a:gd name="T22" fmla="*/ 157 w 180"/>
                <a:gd name="T23" fmla="*/ 32 h 94"/>
                <a:gd name="T24" fmla="*/ 160 w 180"/>
                <a:gd name="T25" fmla="*/ 26 h 94"/>
                <a:gd name="T26" fmla="*/ 160 w 180"/>
                <a:gd name="T27" fmla="*/ 24 h 94"/>
                <a:gd name="T28" fmla="*/ 156 w 180"/>
                <a:gd name="T29" fmla="*/ 18 h 94"/>
                <a:gd name="T30" fmla="*/ 153 w 180"/>
                <a:gd name="T31" fmla="*/ 13 h 94"/>
                <a:gd name="T32" fmla="*/ 146 w 180"/>
                <a:gd name="T33" fmla="*/ 8 h 94"/>
                <a:gd name="T34" fmla="*/ 143 w 180"/>
                <a:gd name="T35" fmla="*/ 7 h 94"/>
                <a:gd name="T36" fmla="*/ 136 w 180"/>
                <a:gd name="T37" fmla="*/ 4 h 94"/>
                <a:gd name="T38" fmla="*/ 126 w 180"/>
                <a:gd name="T39" fmla="*/ 2 h 94"/>
                <a:gd name="T40" fmla="*/ 116 w 180"/>
                <a:gd name="T41" fmla="*/ 1 h 94"/>
                <a:gd name="T42" fmla="*/ 104 w 180"/>
                <a:gd name="T43" fmla="*/ 0 h 94"/>
                <a:gd name="T44" fmla="*/ 0 w 180"/>
                <a:gd name="T45" fmla="*/ 0 h 94"/>
                <a:gd name="T46" fmla="*/ 0 w 180"/>
                <a:gd name="T47" fmla="*/ 16 h 94"/>
                <a:gd name="T48" fmla="*/ 24 w 180"/>
                <a:gd name="T49" fmla="*/ 16 h 94"/>
                <a:gd name="T50" fmla="*/ 24 w 180"/>
                <a:gd name="T51" fmla="*/ 79 h 94"/>
                <a:gd name="T52" fmla="*/ 0 w 180"/>
                <a:gd name="T53" fmla="*/ 79 h 94"/>
                <a:gd name="T54" fmla="*/ 0 w 180"/>
                <a:gd name="T55" fmla="*/ 94 h 94"/>
                <a:gd name="T56" fmla="*/ 89 w 180"/>
                <a:gd name="T57" fmla="*/ 94 h 94"/>
                <a:gd name="T58" fmla="*/ 89 w 180"/>
                <a:gd name="T59" fmla="*/ 79 h 94"/>
                <a:gd name="T60" fmla="*/ 68 w 180"/>
                <a:gd name="T61" fmla="*/ 79 h 94"/>
                <a:gd name="T62" fmla="*/ 68 w 180"/>
                <a:gd name="T63" fmla="*/ 53 h 94"/>
                <a:gd name="T64" fmla="*/ 68 w 180"/>
                <a:gd name="T65" fmla="*/ 16 h 94"/>
                <a:gd name="T66" fmla="*/ 88 w 180"/>
                <a:gd name="T67" fmla="*/ 16 h 94"/>
                <a:gd name="T68" fmla="*/ 97 w 180"/>
                <a:gd name="T69" fmla="*/ 17 h 94"/>
                <a:gd name="T70" fmla="*/ 106 w 180"/>
                <a:gd name="T71" fmla="*/ 19 h 94"/>
                <a:gd name="T72" fmla="*/ 110 w 180"/>
                <a:gd name="T73" fmla="*/ 22 h 94"/>
                <a:gd name="T74" fmla="*/ 113 w 180"/>
                <a:gd name="T75" fmla="*/ 26 h 94"/>
                <a:gd name="T76" fmla="*/ 113 w 180"/>
                <a:gd name="T77" fmla="*/ 27 h 94"/>
                <a:gd name="T78" fmla="*/ 110 w 180"/>
                <a:gd name="T79" fmla="*/ 33 h 94"/>
                <a:gd name="T80" fmla="*/ 105 w 180"/>
                <a:gd name="T81" fmla="*/ 36 h 94"/>
                <a:gd name="T82" fmla="*/ 96 w 180"/>
                <a:gd name="T83" fmla="*/ 38 h 94"/>
                <a:gd name="T84" fmla="*/ 85 w 180"/>
                <a:gd name="T85" fmla="*/ 38 h 94"/>
                <a:gd name="T86" fmla="*/ 68 w 180"/>
                <a:gd name="T87" fmla="*/ 38 h 94"/>
                <a:gd name="T88" fmla="*/ 68 w 180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0"/>
                <a:gd name="T136" fmla="*/ 0 h 94"/>
                <a:gd name="T137" fmla="*/ 180 w 180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0" h="94">
                  <a:moveTo>
                    <a:pt x="68" y="53"/>
                  </a:moveTo>
                  <a:lnTo>
                    <a:pt x="88" y="53"/>
                  </a:lnTo>
                  <a:lnTo>
                    <a:pt x="127" y="94"/>
                  </a:lnTo>
                  <a:lnTo>
                    <a:pt x="180" y="94"/>
                  </a:lnTo>
                  <a:lnTo>
                    <a:pt x="180" y="79"/>
                  </a:lnTo>
                  <a:lnTo>
                    <a:pt x="157" y="79"/>
                  </a:lnTo>
                  <a:lnTo>
                    <a:pt x="129" y="50"/>
                  </a:lnTo>
                  <a:lnTo>
                    <a:pt x="135" y="49"/>
                  </a:lnTo>
                  <a:lnTo>
                    <a:pt x="144" y="45"/>
                  </a:lnTo>
                  <a:lnTo>
                    <a:pt x="151" y="42"/>
                  </a:lnTo>
                  <a:lnTo>
                    <a:pt x="155" y="37"/>
                  </a:lnTo>
                  <a:lnTo>
                    <a:pt x="157" y="32"/>
                  </a:lnTo>
                  <a:lnTo>
                    <a:pt x="160" y="26"/>
                  </a:lnTo>
                  <a:lnTo>
                    <a:pt x="160" y="24"/>
                  </a:lnTo>
                  <a:lnTo>
                    <a:pt x="156" y="18"/>
                  </a:lnTo>
                  <a:lnTo>
                    <a:pt x="153" y="13"/>
                  </a:lnTo>
                  <a:lnTo>
                    <a:pt x="146" y="8"/>
                  </a:lnTo>
                  <a:lnTo>
                    <a:pt x="143" y="7"/>
                  </a:lnTo>
                  <a:lnTo>
                    <a:pt x="136" y="4"/>
                  </a:lnTo>
                  <a:lnTo>
                    <a:pt x="126" y="2"/>
                  </a:lnTo>
                  <a:lnTo>
                    <a:pt x="116" y="1"/>
                  </a:lnTo>
                  <a:lnTo>
                    <a:pt x="10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9"/>
                  </a:lnTo>
                  <a:lnTo>
                    <a:pt x="0" y="79"/>
                  </a:lnTo>
                  <a:lnTo>
                    <a:pt x="0" y="94"/>
                  </a:lnTo>
                  <a:lnTo>
                    <a:pt x="89" y="94"/>
                  </a:lnTo>
                  <a:lnTo>
                    <a:pt x="89" y="79"/>
                  </a:lnTo>
                  <a:lnTo>
                    <a:pt x="68" y="79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8" y="16"/>
                  </a:lnTo>
                  <a:lnTo>
                    <a:pt x="97" y="17"/>
                  </a:lnTo>
                  <a:lnTo>
                    <a:pt x="106" y="19"/>
                  </a:lnTo>
                  <a:lnTo>
                    <a:pt x="110" y="22"/>
                  </a:lnTo>
                  <a:lnTo>
                    <a:pt x="113" y="26"/>
                  </a:lnTo>
                  <a:lnTo>
                    <a:pt x="113" y="27"/>
                  </a:lnTo>
                  <a:lnTo>
                    <a:pt x="110" y="33"/>
                  </a:lnTo>
                  <a:lnTo>
                    <a:pt x="105" y="36"/>
                  </a:lnTo>
                  <a:lnTo>
                    <a:pt x="96" y="38"/>
                  </a:lnTo>
                  <a:lnTo>
                    <a:pt x="85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43" name="Group 199"/>
            <p:cNvGrpSpPr>
              <a:grpSpLocks/>
            </p:cNvGrpSpPr>
            <p:nvPr/>
          </p:nvGrpSpPr>
          <p:grpSpPr bwMode="auto">
            <a:xfrm>
              <a:off x="2604" y="1366"/>
              <a:ext cx="518" cy="352"/>
              <a:chOff x="2604" y="1366"/>
              <a:chExt cx="518" cy="352"/>
            </a:xfrm>
          </p:grpSpPr>
          <p:sp>
            <p:nvSpPr>
              <p:cNvPr id="28751" name="Freeform 200"/>
              <p:cNvSpPr>
                <a:spLocks noEditPoints="1"/>
              </p:cNvSpPr>
              <p:nvPr/>
            </p:nvSpPr>
            <p:spPr bwMode="auto">
              <a:xfrm>
                <a:off x="2604" y="1366"/>
                <a:ext cx="518" cy="352"/>
              </a:xfrm>
              <a:custGeom>
                <a:avLst/>
                <a:gdLst>
                  <a:gd name="T0" fmla="*/ 518 w 518"/>
                  <a:gd name="T1" fmla="*/ 75 h 352"/>
                  <a:gd name="T2" fmla="*/ 508 w 518"/>
                  <a:gd name="T3" fmla="*/ 95 h 352"/>
                  <a:gd name="T4" fmla="*/ 480 w 518"/>
                  <a:gd name="T5" fmla="*/ 113 h 352"/>
                  <a:gd name="T6" fmla="*/ 437 w 518"/>
                  <a:gd name="T7" fmla="*/ 129 h 352"/>
                  <a:gd name="T8" fmla="*/ 378 w 518"/>
                  <a:gd name="T9" fmla="*/ 140 h 352"/>
                  <a:gd name="T10" fmla="*/ 313 w 518"/>
                  <a:gd name="T11" fmla="*/ 147 h 352"/>
                  <a:gd name="T12" fmla="*/ 241 w 518"/>
                  <a:gd name="T13" fmla="*/ 148 h 352"/>
                  <a:gd name="T14" fmla="*/ 173 w 518"/>
                  <a:gd name="T15" fmla="*/ 144 h 352"/>
                  <a:gd name="T16" fmla="*/ 110 w 518"/>
                  <a:gd name="T17" fmla="*/ 136 h 352"/>
                  <a:gd name="T18" fmla="*/ 110 w 518"/>
                  <a:gd name="T19" fmla="*/ 136 h 352"/>
                  <a:gd name="T20" fmla="*/ 173 w 518"/>
                  <a:gd name="T21" fmla="*/ 144 h 352"/>
                  <a:gd name="T22" fmla="*/ 241 w 518"/>
                  <a:gd name="T23" fmla="*/ 148 h 352"/>
                  <a:gd name="T24" fmla="*/ 313 w 518"/>
                  <a:gd name="T25" fmla="*/ 147 h 352"/>
                  <a:gd name="T26" fmla="*/ 378 w 518"/>
                  <a:gd name="T27" fmla="*/ 140 h 352"/>
                  <a:gd name="T28" fmla="*/ 437 w 518"/>
                  <a:gd name="T29" fmla="*/ 129 h 352"/>
                  <a:gd name="T30" fmla="*/ 480 w 518"/>
                  <a:gd name="T31" fmla="*/ 113 h 352"/>
                  <a:gd name="T32" fmla="*/ 508 w 518"/>
                  <a:gd name="T33" fmla="*/ 95 h 352"/>
                  <a:gd name="T34" fmla="*/ 518 w 518"/>
                  <a:gd name="T35" fmla="*/ 75 h 352"/>
                  <a:gd name="T36" fmla="*/ 2 w 518"/>
                  <a:gd name="T37" fmla="*/ 84 h 352"/>
                  <a:gd name="T38" fmla="*/ 21 w 518"/>
                  <a:gd name="T39" fmla="*/ 105 h 352"/>
                  <a:gd name="T40" fmla="*/ 58 w 518"/>
                  <a:gd name="T41" fmla="*/ 121 h 352"/>
                  <a:gd name="T42" fmla="*/ 58 w 518"/>
                  <a:gd name="T43" fmla="*/ 121 h 352"/>
                  <a:gd name="T44" fmla="*/ 21 w 518"/>
                  <a:gd name="T45" fmla="*/ 105 h 352"/>
                  <a:gd name="T46" fmla="*/ 2 w 518"/>
                  <a:gd name="T47" fmla="*/ 84 h 352"/>
                  <a:gd name="T48" fmla="*/ 0 w 518"/>
                  <a:gd name="T49" fmla="*/ 75 h 352"/>
                  <a:gd name="T50" fmla="*/ 2 w 518"/>
                  <a:gd name="T51" fmla="*/ 288 h 352"/>
                  <a:gd name="T52" fmla="*/ 21 w 518"/>
                  <a:gd name="T53" fmla="*/ 308 h 352"/>
                  <a:gd name="T54" fmla="*/ 58 w 518"/>
                  <a:gd name="T55" fmla="*/ 325 h 352"/>
                  <a:gd name="T56" fmla="*/ 110 w 518"/>
                  <a:gd name="T57" fmla="*/ 339 h 352"/>
                  <a:gd name="T58" fmla="*/ 172 w 518"/>
                  <a:gd name="T59" fmla="*/ 348 h 352"/>
                  <a:gd name="T60" fmla="*/ 241 w 518"/>
                  <a:gd name="T61" fmla="*/ 352 h 352"/>
                  <a:gd name="T62" fmla="*/ 313 w 518"/>
                  <a:gd name="T63" fmla="*/ 351 h 352"/>
                  <a:gd name="T64" fmla="*/ 378 w 518"/>
                  <a:gd name="T65" fmla="*/ 344 h 352"/>
                  <a:gd name="T66" fmla="*/ 437 w 518"/>
                  <a:gd name="T67" fmla="*/ 333 h 352"/>
                  <a:gd name="T68" fmla="*/ 480 w 518"/>
                  <a:gd name="T69" fmla="*/ 316 h 352"/>
                  <a:gd name="T70" fmla="*/ 508 w 518"/>
                  <a:gd name="T71" fmla="*/ 299 h 352"/>
                  <a:gd name="T72" fmla="*/ 518 w 518"/>
                  <a:gd name="T73" fmla="*/ 278 h 352"/>
                  <a:gd name="T74" fmla="*/ 516 w 518"/>
                  <a:gd name="T75" fmla="*/ 64 h 352"/>
                  <a:gd name="T76" fmla="*/ 497 w 518"/>
                  <a:gd name="T77" fmla="*/ 45 h 352"/>
                  <a:gd name="T78" fmla="*/ 460 w 518"/>
                  <a:gd name="T79" fmla="*/ 26 h 352"/>
                  <a:gd name="T80" fmla="*/ 409 w 518"/>
                  <a:gd name="T81" fmla="*/ 13 h 352"/>
                  <a:gd name="T82" fmla="*/ 346 w 518"/>
                  <a:gd name="T83" fmla="*/ 4 h 352"/>
                  <a:gd name="T84" fmla="*/ 277 w 518"/>
                  <a:gd name="T85" fmla="*/ 0 h 352"/>
                  <a:gd name="T86" fmla="*/ 206 w 518"/>
                  <a:gd name="T87" fmla="*/ 1 h 352"/>
                  <a:gd name="T88" fmla="*/ 141 w 518"/>
                  <a:gd name="T89" fmla="*/ 8 h 352"/>
                  <a:gd name="T90" fmla="*/ 82 w 518"/>
                  <a:gd name="T91" fmla="*/ 20 h 352"/>
                  <a:gd name="T92" fmla="*/ 38 w 518"/>
                  <a:gd name="T93" fmla="*/ 36 h 352"/>
                  <a:gd name="T94" fmla="*/ 10 w 518"/>
                  <a:gd name="T95" fmla="*/ 53 h 352"/>
                  <a:gd name="T96" fmla="*/ 0 w 518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8"/>
                  <a:gd name="T148" fmla="*/ 0 h 352"/>
                  <a:gd name="T149" fmla="*/ 518 w 518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8" h="352">
                    <a:moveTo>
                      <a:pt x="518" y="75"/>
                    </a:moveTo>
                    <a:lnTo>
                      <a:pt x="518" y="75"/>
                    </a:lnTo>
                    <a:lnTo>
                      <a:pt x="516" y="84"/>
                    </a:lnTo>
                    <a:lnTo>
                      <a:pt x="508" y="95"/>
                    </a:lnTo>
                    <a:lnTo>
                      <a:pt x="497" y="104"/>
                    </a:lnTo>
                    <a:lnTo>
                      <a:pt x="480" y="113"/>
                    </a:lnTo>
                    <a:lnTo>
                      <a:pt x="460" y="121"/>
                    </a:lnTo>
                    <a:lnTo>
                      <a:pt x="437" y="129"/>
                    </a:lnTo>
                    <a:lnTo>
                      <a:pt x="409" y="136"/>
                    </a:lnTo>
                    <a:lnTo>
                      <a:pt x="378" y="140"/>
                    </a:lnTo>
                    <a:lnTo>
                      <a:pt x="346" y="144"/>
                    </a:lnTo>
                    <a:lnTo>
                      <a:pt x="313" y="147"/>
                    </a:lnTo>
                    <a:lnTo>
                      <a:pt x="277" y="148"/>
                    </a:lnTo>
                    <a:lnTo>
                      <a:pt x="241" y="148"/>
                    </a:lnTo>
                    <a:lnTo>
                      <a:pt x="208" y="147"/>
                    </a:lnTo>
                    <a:lnTo>
                      <a:pt x="173" y="144"/>
                    </a:lnTo>
                    <a:lnTo>
                      <a:pt x="141" y="140"/>
                    </a:lnTo>
                    <a:lnTo>
                      <a:pt x="110" y="136"/>
                    </a:lnTo>
                    <a:lnTo>
                      <a:pt x="82" y="130"/>
                    </a:lnTo>
                    <a:lnTo>
                      <a:pt x="110" y="136"/>
                    </a:lnTo>
                    <a:lnTo>
                      <a:pt x="141" y="140"/>
                    </a:lnTo>
                    <a:lnTo>
                      <a:pt x="173" y="144"/>
                    </a:lnTo>
                    <a:lnTo>
                      <a:pt x="208" y="147"/>
                    </a:lnTo>
                    <a:lnTo>
                      <a:pt x="241" y="148"/>
                    </a:lnTo>
                    <a:lnTo>
                      <a:pt x="277" y="148"/>
                    </a:lnTo>
                    <a:lnTo>
                      <a:pt x="313" y="147"/>
                    </a:lnTo>
                    <a:lnTo>
                      <a:pt x="346" y="144"/>
                    </a:lnTo>
                    <a:lnTo>
                      <a:pt x="378" y="140"/>
                    </a:lnTo>
                    <a:lnTo>
                      <a:pt x="409" y="136"/>
                    </a:lnTo>
                    <a:lnTo>
                      <a:pt x="437" y="129"/>
                    </a:lnTo>
                    <a:lnTo>
                      <a:pt x="460" y="121"/>
                    </a:lnTo>
                    <a:lnTo>
                      <a:pt x="480" y="113"/>
                    </a:lnTo>
                    <a:lnTo>
                      <a:pt x="497" y="104"/>
                    </a:lnTo>
                    <a:lnTo>
                      <a:pt x="508" y="95"/>
                    </a:lnTo>
                    <a:lnTo>
                      <a:pt x="516" y="84"/>
                    </a:lnTo>
                    <a:lnTo>
                      <a:pt x="518" y="75"/>
                    </a:lnTo>
                    <a:close/>
                    <a:moveTo>
                      <a:pt x="0" y="75"/>
                    </a:moveTo>
                    <a:lnTo>
                      <a:pt x="2" y="84"/>
                    </a:lnTo>
                    <a:lnTo>
                      <a:pt x="10" y="95"/>
                    </a:lnTo>
                    <a:lnTo>
                      <a:pt x="21" y="105"/>
                    </a:lnTo>
                    <a:lnTo>
                      <a:pt x="38" y="113"/>
                    </a:lnTo>
                    <a:lnTo>
                      <a:pt x="58" y="121"/>
                    </a:lnTo>
                    <a:lnTo>
                      <a:pt x="82" y="130"/>
                    </a:lnTo>
                    <a:lnTo>
                      <a:pt x="58" y="121"/>
                    </a:lnTo>
                    <a:lnTo>
                      <a:pt x="38" y="113"/>
                    </a:lnTo>
                    <a:lnTo>
                      <a:pt x="21" y="105"/>
                    </a:lnTo>
                    <a:lnTo>
                      <a:pt x="10" y="95"/>
                    </a:lnTo>
                    <a:lnTo>
                      <a:pt x="2" y="84"/>
                    </a:lnTo>
                    <a:lnTo>
                      <a:pt x="0" y="75"/>
                    </a:lnTo>
                    <a:close/>
                    <a:moveTo>
                      <a:pt x="0" y="75"/>
                    </a:moveTo>
                    <a:lnTo>
                      <a:pt x="0" y="278"/>
                    </a:lnTo>
                    <a:lnTo>
                      <a:pt x="2" y="288"/>
                    </a:lnTo>
                    <a:lnTo>
                      <a:pt x="10" y="299"/>
                    </a:lnTo>
                    <a:lnTo>
                      <a:pt x="21" y="308"/>
                    </a:lnTo>
                    <a:lnTo>
                      <a:pt x="38" y="316"/>
                    </a:lnTo>
                    <a:lnTo>
                      <a:pt x="58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1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6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0" y="325"/>
                    </a:lnTo>
                    <a:lnTo>
                      <a:pt x="480" y="316"/>
                    </a:lnTo>
                    <a:lnTo>
                      <a:pt x="497" y="308"/>
                    </a:lnTo>
                    <a:lnTo>
                      <a:pt x="508" y="299"/>
                    </a:lnTo>
                    <a:lnTo>
                      <a:pt x="516" y="288"/>
                    </a:lnTo>
                    <a:lnTo>
                      <a:pt x="518" y="278"/>
                    </a:lnTo>
                    <a:lnTo>
                      <a:pt x="518" y="75"/>
                    </a:lnTo>
                    <a:lnTo>
                      <a:pt x="516" y="64"/>
                    </a:lnTo>
                    <a:lnTo>
                      <a:pt x="508" y="53"/>
                    </a:lnTo>
                    <a:lnTo>
                      <a:pt x="497" y="45"/>
                    </a:lnTo>
                    <a:lnTo>
                      <a:pt x="480" y="36"/>
                    </a:lnTo>
                    <a:lnTo>
                      <a:pt x="460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6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1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8" y="26"/>
                    </a:lnTo>
                    <a:lnTo>
                      <a:pt x="38" y="36"/>
                    </a:lnTo>
                    <a:lnTo>
                      <a:pt x="21" y="45"/>
                    </a:lnTo>
                    <a:lnTo>
                      <a:pt x="10" y="53"/>
                    </a:lnTo>
                    <a:lnTo>
                      <a:pt x="2" y="64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2" name="Freeform 201"/>
              <p:cNvSpPr>
                <a:spLocks/>
              </p:cNvSpPr>
              <p:nvPr/>
            </p:nvSpPr>
            <p:spPr bwMode="auto">
              <a:xfrm>
                <a:off x="2686" y="1441"/>
                <a:ext cx="436" cy="73"/>
              </a:xfrm>
              <a:custGeom>
                <a:avLst/>
                <a:gdLst>
                  <a:gd name="T0" fmla="*/ 436 w 436"/>
                  <a:gd name="T1" fmla="*/ 0 h 73"/>
                  <a:gd name="T2" fmla="*/ 436 w 436"/>
                  <a:gd name="T3" fmla="*/ 0 h 73"/>
                  <a:gd name="T4" fmla="*/ 434 w 436"/>
                  <a:gd name="T5" fmla="*/ 9 h 73"/>
                  <a:gd name="T6" fmla="*/ 426 w 436"/>
                  <a:gd name="T7" fmla="*/ 20 h 73"/>
                  <a:gd name="T8" fmla="*/ 415 w 436"/>
                  <a:gd name="T9" fmla="*/ 29 h 73"/>
                  <a:gd name="T10" fmla="*/ 398 w 436"/>
                  <a:gd name="T11" fmla="*/ 38 h 73"/>
                  <a:gd name="T12" fmla="*/ 378 w 436"/>
                  <a:gd name="T13" fmla="*/ 46 h 73"/>
                  <a:gd name="T14" fmla="*/ 355 w 436"/>
                  <a:gd name="T15" fmla="*/ 54 h 73"/>
                  <a:gd name="T16" fmla="*/ 327 w 436"/>
                  <a:gd name="T17" fmla="*/ 61 h 73"/>
                  <a:gd name="T18" fmla="*/ 296 w 436"/>
                  <a:gd name="T19" fmla="*/ 65 h 73"/>
                  <a:gd name="T20" fmla="*/ 264 w 436"/>
                  <a:gd name="T21" fmla="*/ 69 h 73"/>
                  <a:gd name="T22" fmla="*/ 231 w 436"/>
                  <a:gd name="T23" fmla="*/ 72 h 73"/>
                  <a:gd name="T24" fmla="*/ 195 w 436"/>
                  <a:gd name="T25" fmla="*/ 73 h 73"/>
                  <a:gd name="T26" fmla="*/ 159 w 436"/>
                  <a:gd name="T27" fmla="*/ 73 h 73"/>
                  <a:gd name="T28" fmla="*/ 126 w 436"/>
                  <a:gd name="T29" fmla="*/ 72 h 73"/>
                  <a:gd name="T30" fmla="*/ 91 w 436"/>
                  <a:gd name="T31" fmla="*/ 69 h 73"/>
                  <a:gd name="T32" fmla="*/ 59 w 436"/>
                  <a:gd name="T33" fmla="*/ 65 h 73"/>
                  <a:gd name="T34" fmla="*/ 28 w 436"/>
                  <a:gd name="T35" fmla="*/ 61 h 73"/>
                  <a:gd name="T36" fmla="*/ 0 w 436"/>
                  <a:gd name="T37" fmla="*/ 55 h 73"/>
                  <a:gd name="T38" fmla="*/ 28 w 436"/>
                  <a:gd name="T39" fmla="*/ 61 h 73"/>
                  <a:gd name="T40" fmla="*/ 59 w 436"/>
                  <a:gd name="T41" fmla="*/ 65 h 73"/>
                  <a:gd name="T42" fmla="*/ 91 w 436"/>
                  <a:gd name="T43" fmla="*/ 69 h 73"/>
                  <a:gd name="T44" fmla="*/ 126 w 436"/>
                  <a:gd name="T45" fmla="*/ 72 h 73"/>
                  <a:gd name="T46" fmla="*/ 159 w 436"/>
                  <a:gd name="T47" fmla="*/ 73 h 73"/>
                  <a:gd name="T48" fmla="*/ 195 w 436"/>
                  <a:gd name="T49" fmla="*/ 73 h 73"/>
                  <a:gd name="T50" fmla="*/ 231 w 436"/>
                  <a:gd name="T51" fmla="*/ 72 h 73"/>
                  <a:gd name="T52" fmla="*/ 264 w 436"/>
                  <a:gd name="T53" fmla="*/ 69 h 73"/>
                  <a:gd name="T54" fmla="*/ 296 w 436"/>
                  <a:gd name="T55" fmla="*/ 65 h 73"/>
                  <a:gd name="T56" fmla="*/ 327 w 436"/>
                  <a:gd name="T57" fmla="*/ 61 h 73"/>
                  <a:gd name="T58" fmla="*/ 355 w 436"/>
                  <a:gd name="T59" fmla="*/ 54 h 73"/>
                  <a:gd name="T60" fmla="*/ 378 w 436"/>
                  <a:gd name="T61" fmla="*/ 46 h 73"/>
                  <a:gd name="T62" fmla="*/ 398 w 436"/>
                  <a:gd name="T63" fmla="*/ 38 h 73"/>
                  <a:gd name="T64" fmla="*/ 415 w 436"/>
                  <a:gd name="T65" fmla="*/ 29 h 73"/>
                  <a:gd name="T66" fmla="*/ 426 w 436"/>
                  <a:gd name="T67" fmla="*/ 20 h 73"/>
                  <a:gd name="T68" fmla="*/ 434 w 436"/>
                  <a:gd name="T69" fmla="*/ 9 h 73"/>
                  <a:gd name="T70" fmla="*/ 436 w 436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36"/>
                  <a:gd name="T109" fmla="*/ 0 h 73"/>
                  <a:gd name="T110" fmla="*/ 436 w 436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36" h="73">
                    <a:moveTo>
                      <a:pt x="436" y="0"/>
                    </a:moveTo>
                    <a:lnTo>
                      <a:pt x="436" y="0"/>
                    </a:lnTo>
                    <a:lnTo>
                      <a:pt x="434" y="9"/>
                    </a:lnTo>
                    <a:lnTo>
                      <a:pt x="426" y="20"/>
                    </a:lnTo>
                    <a:lnTo>
                      <a:pt x="415" y="29"/>
                    </a:lnTo>
                    <a:lnTo>
                      <a:pt x="398" y="38"/>
                    </a:lnTo>
                    <a:lnTo>
                      <a:pt x="378" y="46"/>
                    </a:lnTo>
                    <a:lnTo>
                      <a:pt x="355" y="54"/>
                    </a:lnTo>
                    <a:lnTo>
                      <a:pt x="327" y="61"/>
                    </a:lnTo>
                    <a:lnTo>
                      <a:pt x="296" y="65"/>
                    </a:lnTo>
                    <a:lnTo>
                      <a:pt x="264" y="69"/>
                    </a:lnTo>
                    <a:lnTo>
                      <a:pt x="231" y="72"/>
                    </a:lnTo>
                    <a:lnTo>
                      <a:pt x="195" y="73"/>
                    </a:lnTo>
                    <a:lnTo>
                      <a:pt x="159" y="73"/>
                    </a:lnTo>
                    <a:lnTo>
                      <a:pt x="126" y="72"/>
                    </a:lnTo>
                    <a:lnTo>
                      <a:pt x="91" y="69"/>
                    </a:lnTo>
                    <a:lnTo>
                      <a:pt x="59" y="65"/>
                    </a:lnTo>
                    <a:lnTo>
                      <a:pt x="28" y="61"/>
                    </a:lnTo>
                    <a:lnTo>
                      <a:pt x="0" y="55"/>
                    </a:lnTo>
                    <a:lnTo>
                      <a:pt x="28" y="61"/>
                    </a:lnTo>
                    <a:lnTo>
                      <a:pt x="59" y="65"/>
                    </a:lnTo>
                    <a:lnTo>
                      <a:pt x="91" y="69"/>
                    </a:lnTo>
                    <a:lnTo>
                      <a:pt x="126" y="72"/>
                    </a:lnTo>
                    <a:lnTo>
                      <a:pt x="159" y="73"/>
                    </a:lnTo>
                    <a:lnTo>
                      <a:pt x="195" y="73"/>
                    </a:lnTo>
                    <a:lnTo>
                      <a:pt x="231" y="72"/>
                    </a:lnTo>
                    <a:lnTo>
                      <a:pt x="264" y="69"/>
                    </a:lnTo>
                    <a:lnTo>
                      <a:pt x="296" y="65"/>
                    </a:lnTo>
                    <a:lnTo>
                      <a:pt x="327" y="61"/>
                    </a:lnTo>
                    <a:lnTo>
                      <a:pt x="355" y="54"/>
                    </a:lnTo>
                    <a:lnTo>
                      <a:pt x="378" y="46"/>
                    </a:lnTo>
                    <a:lnTo>
                      <a:pt x="398" y="38"/>
                    </a:lnTo>
                    <a:lnTo>
                      <a:pt x="415" y="29"/>
                    </a:lnTo>
                    <a:lnTo>
                      <a:pt x="426" y="20"/>
                    </a:lnTo>
                    <a:lnTo>
                      <a:pt x="434" y="9"/>
                    </a:lnTo>
                    <a:lnTo>
                      <a:pt x="436" y="0"/>
                    </a:lnTo>
                    <a:close/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3" name="Freeform 202"/>
              <p:cNvSpPr>
                <a:spLocks/>
              </p:cNvSpPr>
              <p:nvPr/>
            </p:nvSpPr>
            <p:spPr bwMode="auto">
              <a:xfrm>
                <a:off x="2604" y="1441"/>
                <a:ext cx="82" cy="55"/>
              </a:xfrm>
              <a:custGeom>
                <a:avLst/>
                <a:gdLst>
                  <a:gd name="T0" fmla="*/ 0 w 82"/>
                  <a:gd name="T1" fmla="*/ 0 h 55"/>
                  <a:gd name="T2" fmla="*/ 2 w 82"/>
                  <a:gd name="T3" fmla="*/ 9 h 55"/>
                  <a:gd name="T4" fmla="*/ 10 w 82"/>
                  <a:gd name="T5" fmla="*/ 20 h 55"/>
                  <a:gd name="T6" fmla="*/ 21 w 82"/>
                  <a:gd name="T7" fmla="*/ 30 h 55"/>
                  <a:gd name="T8" fmla="*/ 38 w 82"/>
                  <a:gd name="T9" fmla="*/ 38 h 55"/>
                  <a:gd name="T10" fmla="*/ 58 w 82"/>
                  <a:gd name="T11" fmla="*/ 46 h 55"/>
                  <a:gd name="T12" fmla="*/ 82 w 82"/>
                  <a:gd name="T13" fmla="*/ 55 h 55"/>
                  <a:gd name="T14" fmla="*/ 58 w 82"/>
                  <a:gd name="T15" fmla="*/ 46 h 55"/>
                  <a:gd name="T16" fmla="*/ 38 w 82"/>
                  <a:gd name="T17" fmla="*/ 38 h 55"/>
                  <a:gd name="T18" fmla="*/ 21 w 82"/>
                  <a:gd name="T19" fmla="*/ 30 h 55"/>
                  <a:gd name="T20" fmla="*/ 10 w 82"/>
                  <a:gd name="T21" fmla="*/ 20 h 55"/>
                  <a:gd name="T22" fmla="*/ 2 w 82"/>
                  <a:gd name="T23" fmla="*/ 9 h 55"/>
                  <a:gd name="T24" fmla="*/ 0 w 82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2"/>
                  <a:gd name="T40" fmla="*/ 0 h 55"/>
                  <a:gd name="T41" fmla="*/ 82 w 82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2" h="55">
                    <a:moveTo>
                      <a:pt x="0" y="0"/>
                    </a:moveTo>
                    <a:lnTo>
                      <a:pt x="2" y="9"/>
                    </a:lnTo>
                    <a:lnTo>
                      <a:pt x="10" y="20"/>
                    </a:lnTo>
                    <a:lnTo>
                      <a:pt x="21" y="30"/>
                    </a:lnTo>
                    <a:lnTo>
                      <a:pt x="38" y="38"/>
                    </a:lnTo>
                    <a:lnTo>
                      <a:pt x="58" y="46"/>
                    </a:lnTo>
                    <a:lnTo>
                      <a:pt x="82" y="55"/>
                    </a:lnTo>
                    <a:lnTo>
                      <a:pt x="58" y="46"/>
                    </a:lnTo>
                    <a:lnTo>
                      <a:pt x="38" y="38"/>
                    </a:lnTo>
                    <a:lnTo>
                      <a:pt x="21" y="30"/>
                    </a:lnTo>
                    <a:lnTo>
                      <a:pt x="10" y="20"/>
                    </a:lnTo>
                    <a:lnTo>
                      <a:pt x="2" y="9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4" name="Freeform 203"/>
              <p:cNvSpPr>
                <a:spLocks/>
              </p:cNvSpPr>
              <p:nvPr/>
            </p:nvSpPr>
            <p:spPr bwMode="auto">
              <a:xfrm>
                <a:off x="2604" y="1366"/>
                <a:ext cx="518" cy="352"/>
              </a:xfrm>
              <a:custGeom>
                <a:avLst/>
                <a:gdLst>
                  <a:gd name="T0" fmla="*/ 0 w 518"/>
                  <a:gd name="T1" fmla="*/ 75 h 352"/>
                  <a:gd name="T2" fmla="*/ 0 w 518"/>
                  <a:gd name="T3" fmla="*/ 278 h 352"/>
                  <a:gd name="T4" fmla="*/ 2 w 518"/>
                  <a:gd name="T5" fmla="*/ 288 h 352"/>
                  <a:gd name="T6" fmla="*/ 10 w 518"/>
                  <a:gd name="T7" fmla="*/ 299 h 352"/>
                  <a:gd name="T8" fmla="*/ 21 w 518"/>
                  <a:gd name="T9" fmla="*/ 308 h 352"/>
                  <a:gd name="T10" fmla="*/ 38 w 518"/>
                  <a:gd name="T11" fmla="*/ 316 h 352"/>
                  <a:gd name="T12" fmla="*/ 58 w 518"/>
                  <a:gd name="T13" fmla="*/ 325 h 352"/>
                  <a:gd name="T14" fmla="*/ 82 w 518"/>
                  <a:gd name="T15" fmla="*/ 333 h 352"/>
                  <a:gd name="T16" fmla="*/ 110 w 518"/>
                  <a:gd name="T17" fmla="*/ 339 h 352"/>
                  <a:gd name="T18" fmla="*/ 141 w 518"/>
                  <a:gd name="T19" fmla="*/ 344 h 352"/>
                  <a:gd name="T20" fmla="*/ 172 w 518"/>
                  <a:gd name="T21" fmla="*/ 348 h 352"/>
                  <a:gd name="T22" fmla="*/ 206 w 518"/>
                  <a:gd name="T23" fmla="*/ 351 h 352"/>
                  <a:gd name="T24" fmla="*/ 241 w 518"/>
                  <a:gd name="T25" fmla="*/ 352 h 352"/>
                  <a:gd name="T26" fmla="*/ 277 w 518"/>
                  <a:gd name="T27" fmla="*/ 352 h 352"/>
                  <a:gd name="T28" fmla="*/ 313 w 518"/>
                  <a:gd name="T29" fmla="*/ 351 h 352"/>
                  <a:gd name="T30" fmla="*/ 346 w 518"/>
                  <a:gd name="T31" fmla="*/ 348 h 352"/>
                  <a:gd name="T32" fmla="*/ 378 w 518"/>
                  <a:gd name="T33" fmla="*/ 344 h 352"/>
                  <a:gd name="T34" fmla="*/ 409 w 518"/>
                  <a:gd name="T35" fmla="*/ 339 h 352"/>
                  <a:gd name="T36" fmla="*/ 437 w 518"/>
                  <a:gd name="T37" fmla="*/ 333 h 352"/>
                  <a:gd name="T38" fmla="*/ 460 w 518"/>
                  <a:gd name="T39" fmla="*/ 325 h 352"/>
                  <a:gd name="T40" fmla="*/ 480 w 518"/>
                  <a:gd name="T41" fmla="*/ 316 h 352"/>
                  <a:gd name="T42" fmla="*/ 497 w 518"/>
                  <a:gd name="T43" fmla="*/ 308 h 352"/>
                  <a:gd name="T44" fmla="*/ 508 w 518"/>
                  <a:gd name="T45" fmla="*/ 299 h 352"/>
                  <a:gd name="T46" fmla="*/ 516 w 518"/>
                  <a:gd name="T47" fmla="*/ 288 h 352"/>
                  <a:gd name="T48" fmla="*/ 518 w 518"/>
                  <a:gd name="T49" fmla="*/ 278 h 352"/>
                  <a:gd name="T50" fmla="*/ 518 w 518"/>
                  <a:gd name="T51" fmla="*/ 75 h 352"/>
                  <a:gd name="T52" fmla="*/ 516 w 518"/>
                  <a:gd name="T53" fmla="*/ 64 h 352"/>
                  <a:gd name="T54" fmla="*/ 508 w 518"/>
                  <a:gd name="T55" fmla="*/ 53 h 352"/>
                  <a:gd name="T56" fmla="*/ 497 w 518"/>
                  <a:gd name="T57" fmla="*/ 45 h 352"/>
                  <a:gd name="T58" fmla="*/ 480 w 518"/>
                  <a:gd name="T59" fmla="*/ 36 h 352"/>
                  <a:gd name="T60" fmla="*/ 460 w 518"/>
                  <a:gd name="T61" fmla="*/ 26 h 352"/>
                  <a:gd name="T62" fmla="*/ 437 w 518"/>
                  <a:gd name="T63" fmla="*/ 20 h 352"/>
                  <a:gd name="T64" fmla="*/ 409 w 518"/>
                  <a:gd name="T65" fmla="*/ 13 h 352"/>
                  <a:gd name="T66" fmla="*/ 378 w 518"/>
                  <a:gd name="T67" fmla="*/ 8 h 352"/>
                  <a:gd name="T68" fmla="*/ 346 w 518"/>
                  <a:gd name="T69" fmla="*/ 4 h 352"/>
                  <a:gd name="T70" fmla="*/ 313 w 518"/>
                  <a:gd name="T71" fmla="*/ 1 h 352"/>
                  <a:gd name="T72" fmla="*/ 277 w 518"/>
                  <a:gd name="T73" fmla="*/ 0 h 352"/>
                  <a:gd name="T74" fmla="*/ 241 w 518"/>
                  <a:gd name="T75" fmla="*/ 0 h 352"/>
                  <a:gd name="T76" fmla="*/ 206 w 518"/>
                  <a:gd name="T77" fmla="*/ 1 h 352"/>
                  <a:gd name="T78" fmla="*/ 172 w 518"/>
                  <a:gd name="T79" fmla="*/ 4 h 352"/>
                  <a:gd name="T80" fmla="*/ 141 w 518"/>
                  <a:gd name="T81" fmla="*/ 8 h 352"/>
                  <a:gd name="T82" fmla="*/ 110 w 518"/>
                  <a:gd name="T83" fmla="*/ 13 h 352"/>
                  <a:gd name="T84" fmla="*/ 82 w 518"/>
                  <a:gd name="T85" fmla="*/ 20 h 352"/>
                  <a:gd name="T86" fmla="*/ 58 w 518"/>
                  <a:gd name="T87" fmla="*/ 26 h 352"/>
                  <a:gd name="T88" fmla="*/ 38 w 518"/>
                  <a:gd name="T89" fmla="*/ 36 h 352"/>
                  <a:gd name="T90" fmla="*/ 21 w 518"/>
                  <a:gd name="T91" fmla="*/ 45 h 352"/>
                  <a:gd name="T92" fmla="*/ 10 w 518"/>
                  <a:gd name="T93" fmla="*/ 53 h 352"/>
                  <a:gd name="T94" fmla="*/ 2 w 518"/>
                  <a:gd name="T95" fmla="*/ 64 h 352"/>
                  <a:gd name="T96" fmla="*/ 0 w 518"/>
                  <a:gd name="T97" fmla="*/ 75 h 3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18"/>
                  <a:gd name="T148" fmla="*/ 0 h 352"/>
                  <a:gd name="T149" fmla="*/ 518 w 518"/>
                  <a:gd name="T150" fmla="*/ 352 h 3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18" h="352">
                    <a:moveTo>
                      <a:pt x="0" y="75"/>
                    </a:moveTo>
                    <a:lnTo>
                      <a:pt x="0" y="278"/>
                    </a:lnTo>
                    <a:lnTo>
                      <a:pt x="2" y="288"/>
                    </a:lnTo>
                    <a:lnTo>
                      <a:pt x="10" y="299"/>
                    </a:lnTo>
                    <a:lnTo>
                      <a:pt x="21" y="308"/>
                    </a:lnTo>
                    <a:lnTo>
                      <a:pt x="38" y="316"/>
                    </a:lnTo>
                    <a:lnTo>
                      <a:pt x="58" y="325"/>
                    </a:lnTo>
                    <a:lnTo>
                      <a:pt x="82" y="333"/>
                    </a:lnTo>
                    <a:lnTo>
                      <a:pt x="110" y="339"/>
                    </a:lnTo>
                    <a:lnTo>
                      <a:pt x="141" y="344"/>
                    </a:lnTo>
                    <a:lnTo>
                      <a:pt x="172" y="348"/>
                    </a:lnTo>
                    <a:lnTo>
                      <a:pt x="206" y="351"/>
                    </a:lnTo>
                    <a:lnTo>
                      <a:pt x="241" y="352"/>
                    </a:lnTo>
                    <a:lnTo>
                      <a:pt x="277" y="352"/>
                    </a:lnTo>
                    <a:lnTo>
                      <a:pt x="313" y="351"/>
                    </a:lnTo>
                    <a:lnTo>
                      <a:pt x="346" y="348"/>
                    </a:lnTo>
                    <a:lnTo>
                      <a:pt x="378" y="344"/>
                    </a:lnTo>
                    <a:lnTo>
                      <a:pt x="409" y="339"/>
                    </a:lnTo>
                    <a:lnTo>
                      <a:pt x="437" y="333"/>
                    </a:lnTo>
                    <a:lnTo>
                      <a:pt x="460" y="325"/>
                    </a:lnTo>
                    <a:lnTo>
                      <a:pt x="480" y="316"/>
                    </a:lnTo>
                    <a:lnTo>
                      <a:pt x="497" y="308"/>
                    </a:lnTo>
                    <a:lnTo>
                      <a:pt x="508" y="299"/>
                    </a:lnTo>
                    <a:lnTo>
                      <a:pt x="516" y="288"/>
                    </a:lnTo>
                    <a:lnTo>
                      <a:pt x="518" y="278"/>
                    </a:lnTo>
                    <a:lnTo>
                      <a:pt x="518" y="75"/>
                    </a:lnTo>
                    <a:lnTo>
                      <a:pt x="516" y="64"/>
                    </a:lnTo>
                    <a:lnTo>
                      <a:pt x="508" y="53"/>
                    </a:lnTo>
                    <a:lnTo>
                      <a:pt x="497" y="45"/>
                    </a:lnTo>
                    <a:lnTo>
                      <a:pt x="480" y="36"/>
                    </a:lnTo>
                    <a:lnTo>
                      <a:pt x="460" y="26"/>
                    </a:lnTo>
                    <a:lnTo>
                      <a:pt x="437" y="20"/>
                    </a:lnTo>
                    <a:lnTo>
                      <a:pt x="409" y="13"/>
                    </a:lnTo>
                    <a:lnTo>
                      <a:pt x="378" y="8"/>
                    </a:lnTo>
                    <a:lnTo>
                      <a:pt x="346" y="4"/>
                    </a:lnTo>
                    <a:lnTo>
                      <a:pt x="313" y="1"/>
                    </a:lnTo>
                    <a:lnTo>
                      <a:pt x="277" y="0"/>
                    </a:lnTo>
                    <a:lnTo>
                      <a:pt x="241" y="0"/>
                    </a:lnTo>
                    <a:lnTo>
                      <a:pt x="206" y="1"/>
                    </a:lnTo>
                    <a:lnTo>
                      <a:pt x="172" y="4"/>
                    </a:lnTo>
                    <a:lnTo>
                      <a:pt x="141" y="8"/>
                    </a:lnTo>
                    <a:lnTo>
                      <a:pt x="110" y="13"/>
                    </a:lnTo>
                    <a:lnTo>
                      <a:pt x="82" y="20"/>
                    </a:lnTo>
                    <a:lnTo>
                      <a:pt x="58" y="26"/>
                    </a:lnTo>
                    <a:lnTo>
                      <a:pt x="38" y="36"/>
                    </a:lnTo>
                    <a:lnTo>
                      <a:pt x="21" y="45"/>
                    </a:lnTo>
                    <a:lnTo>
                      <a:pt x="10" y="53"/>
                    </a:lnTo>
                    <a:lnTo>
                      <a:pt x="2" y="64"/>
                    </a:lnTo>
                    <a:lnTo>
                      <a:pt x="0" y="75"/>
                    </a:lnTo>
                  </a:path>
                </a:pathLst>
              </a:custGeom>
              <a:noFill/>
              <a:ln w="9525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44" name="Group 204"/>
            <p:cNvGrpSpPr>
              <a:grpSpLocks/>
            </p:cNvGrpSpPr>
            <p:nvPr/>
          </p:nvGrpSpPr>
          <p:grpSpPr bwMode="auto">
            <a:xfrm>
              <a:off x="2605" y="1366"/>
              <a:ext cx="517" cy="149"/>
              <a:chOff x="2605" y="1366"/>
              <a:chExt cx="517" cy="149"/>
            </a:xfrm>
          </p:grpSpPr>
          <p:sp>
            <p:nvSpPr>
              <p:cNvPr id="28749" name="Freeform 205"/>
              <p:cNvSpPr>
                <a:spLocks/>
              </p:cNvSpPr>
              <p:nvPr/>
            </p:nvSpPr>
            <p:spPr bwMode="auto">
              <a:xfrm>
                <a:off x="2605" y="1366"/>
                <a:ext cx="517" cy="149"/>
              </a:xfrm>
              <a:custGeom>
                <a:avLst/>
                <a:gdLst>
                  <a:gd name="T0" fmla="*/ 517 w 517"/>
                  <a:gd name="T1" fmla="*/ 75 h 149"/>
                  <a:gd name="T2" fmla="*/ 515 w 517"/>
                  <a:gd name="T3" fmla="*/ 84 h 149"/>
                  <a:gd name="T4" fmla="*/ 507 w 517"/>
                  <a:gd name="T5" fmla="*/ 95 h 149"/>
                  <a:gd name="T6" fmla="*/ 495 w 517"/>
                  <a:gd name="T7" fmla="*/ 105 h 149"/>
                  <a:gd name="T8" fmla="*/ 478 w 517"/>
                  <a:gd name="T9" fmla="*/ 113 h 149"/>
                  <a:gd name="T10" fmla="*/ 457 w 517"/>
                  <a:gd name="T11" fmla="*/ 122 h 149"/>
                  <a:gd name="T12" fmla="*/ 431 w 517"/>
                  <a:gd name="T13" fmla="*/ 130 h 149"/>
                  <a:gd name="T14" fmla="*/ 403 w 517"/>
                  <a:gd name="T15" fmla="*/ 137 h 149"/>
                  <a:gd name="T16" fmla="*/ 372 w 517"/>
                  <a:gd name="T17" fmla="*/ 141 h 149"/>
                  <a:gd name="T18" fmla="*/ 337 w 517"/>
                  <a:gd name="T19" fmla="*/ 145 h 149"/>
                  <a:gd name="T20" fmla="*/ 304 w 517"/>
                  <a:gd name="T21" fmla="*/ 147 h 149"/>
                  <a:gd name="T22" fmla="*/ 267 w 517"/>
                  <a:gd name="T23" fmla="*/ 149 h 149"/>
                  <a:gd name="T24" fmla="*/ 231 w 517"/>
                  <a:gd name="T25" fmla="*/ 148 h 149"/>
                  <a:gd name="T26" fmla="*/ 194 w 517"/>
                  <a:gd name="T27" fmla="*/ 146 h 149"/>
                  <a:gd name="T28" fmla="*/ 161 w 517"/>
                  <a:gd name="T29" fmla="*/ 143 h 149"/>
                  <a:gd name="T30" fmla="*/ 130 w 517"/>
                  <a:gd name="T31" fmla="*/ 139 h 149"/>
                  <a:gd name="T32" fmla="*/ 98 w 517"/>
                  <a:gd name="T33" fmla="*/ 134 h 149"/>
                  <a:gd name="T34" fmla="*/ 73 w 517"/>
                  <a:gd name="T35" fmla="*/ 126 h 149"/>
                  <a:gd name="T36" fmla="*/ 48 w 517"/>
                  <a:gd name="T37" fmla="*/ 118 h 149"/>
                  <a:gd name="T38" fmla="*/ 29 w 517"/>
                  <a:gd name="T39" fmla="*/ 109 h 149"/>
                  <a:gd name="T40" fmla="*/ 16 w 517"/>
                  <a:gd name="T41" fmla="*/ 100 h 149"/>
                  <a:gd name="T42" fmla="*/ 5 w 517"/>
                  <a:gd name="T43" fmla="*/ 89 h 149"/>
                  <a:gd name="T44" fmla="*/ 0 w 517"/>
                  <a:gd name="T45" fmla="*/ 80 h 149"/>
                  <a:gd name="T46" fmla="*/ 0 w 517"/>
                  <a:gd name="T47" fmla="*/ 69 h 149"/>
                  <a:gd name="T48" fmla="*/ 5 w 517"/>
                  <a:gd name="T49" fmla="*/ 58 h 149"/>
                  <a:gd name="T50" fmla="*/ 16 w 517"/>
                  <a:gd name="T51" fmla="*/ 49 h 149"/>
                  <a:gd name="T52" fmla="*/ 29 w 517"/>
                  <a:gd name="T53" fmla="*/ 39 h 149"/>
                  <a:gd name="T54" fmla="*/ 48 w 517"/>
                  <a:gd name="T55" fmla="*/ 30 h 149"/>
                  <a:gd name="T56" fmla="*/ 73 w 517"/>
                  <a:gd name="T57" fmla="*/ 22 h 149"/>
                  <a:gd name="T58" fmla="*/ 98 w 517"/>
                  <a:gd name="T59" fmla="*/ 15 h 149"/>
                  <a:gd name="T60" fmla="*/ 130 w 517"/>
                  <a:gd name="T61" fmla="*/ 10 h 149"/>
                  <a:gd name="T62" fmla="*/ 161 w 517"/>
                  <a:gd name="T63" fmla="*/ 5 h 149"/>
                  <a:gd name="T64" fmla="*/ 194 w 517"/>
                  <a:gd name="T65" fmla="*/ 2 h 149"/>
                  <a:gd name="T66" fmla="*/ 231 w 517"/>
                  <a:gd name="T67" fmla="*/ 0 h 149"/>
                  <a:gd name="T68" fmla="*/ 267 w 517"/>
                  <a:gd name="T69" fmla="*/ 0 h 149"/>
                  <a:gd name="T70" fmla="*/ 304 w 517"/>
                  <a:gd name="T71" fmla="*/ 1 h 149"/>
                  <a:gd name="T72" fmla="*/ 337 w 517"/>
                  <a:gd name="T73" fmla="*/ 3 h 149"/>
                  <a:gd name="T74" fmla="*/ 372 w 517"/>
                  <a:gd name="T75" fmla="*/ 7 h 149"/>
                  <a:gd name="T76" fmla="*/ 403 w 517"/>
                  <a:gd name="T77" fmla="*/ 12 h 149"/>
                  <a:gd name="T78" fmla="*/ 431 w 517"/>
                  <a:gd name="T79" fmla="*/ 19 h 149"/>
                  <a:gd name="T80" fmla="*/ 457 w 517"/>
                  <a:gd name="T81" fmla="*/ 25 h 149"/>
                  <a:gd name="T82" fmla="*/ 478 w 517"/>
                  <a:gd name="T83" fmla="*/ 35 h 149"/>
                  <a:gd name="T84" fmla="*/ 495 w 517"/>
                  <a:gd name="T85" fmla="*/ 44 h 149"/>
                  <a:gd name="T86" fmla="*/ 507 w 517"/>
                  <a:gd name="T87" fmla="*/ 53 h 149"/>
                  <a:gd name="T88" fmla="*/ 515 w 517"/>
                  <a:gd name="T89" fmla="*/ 64 h 149"/>
                  <a:gd name="T90" fmla="*/ 517 w 517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7"/>
                  <a:gd name="T139" fmla="*/ 0 h 149"/>
                  <a:gd name="T140" fmla="*/ 517 w 517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7" h="149">
                    <a:moveTo>
                      <a:pt x="517" y="75"/>
                    </a:moveTo>
                    <a:lnTo>
                      <a:pt x="515" y="84"/>
                    </a:lnTo>
                    <a:lnTo>
                      <a:pt x="507" y="95"/>
                    </a:lnTo>
                    <a:lnTo>
                      <a:pt x="495" y="105"/>
                    </a:lnTo>
                    <a:lnTo>
                      <a:pt x="478" y="113"/>
                    </a:lnTo>
                    <a:lnTo>
                      <a:pt x="457" y="122"/>
                    </a:lnTo>
                    <a:lnTo>
                      <a:pt x="431" y="130"/>
                    </a:lnTo>
                    <a:lnTo>
                      <a:pt x="403" y="137"/>
                    </a:lnTo>
                    <a:lnTo>
                      <a:pt x="372" y="141"/>
                    </a:lnTo>
                    <a:lnTo>
                      <a:pt x="337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1" y="148"/>
                    </a:lnTo>
                    <a:lnTo>
                      <a:pt x="194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8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5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5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8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4" y="2"/>
                    </a:lnTo>
                    <a:lnTo>
                      <a:pt x="231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7" y="3"/>
                    </a:lnTo>
                    <a:lnTo>
                      <a:pt x="372" y="7"/>
                    </a:lnTo>
                    <a:lnTo>
                      <a:pt x="403" y="12"/>
                    </a:lnTo>
                    <a:lnTo>
                      <a:pt x="431" y="19"/>
                    </a:lnTo>
                    <a:lnTo>
                      <a:pt x="457" y="25"/>
                    </a:lnTo>
                    <a:lnTo>
                      <a:pt x="478" y="35"/>
                    </a:lnTo>
                    <a:lnTo>
                      <a:pt x="495" y="44"/>
                    </a:lnTo>
                    <a:lnTo>
                      <a:pt x="507" y="53"/>
                    </a:lnTo>
                    <a:lnTo>
                      <a:pt x="515" y="64"/>
                    </a:lnTo>
                    <a:lnTo>
                      <a:pt x="517" y="75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0" name="Freeform 206"/>
              <p:cNvSpPr>
                <a:spLocks/>
              </p:cNvSpPr>
              <p:nvPr/>
            </p:nvSpPr>
            <p:spPr bwMode="auto">
              <a:xfrm>
                <a:off x="2605" y="1366"/>
                <a:ext cx="517" cy="149"/>
              </a:xfrm>
              <a:custGeom>
                <a:avLst/>
                <a:gdLst>
                  <a:gd name="T0" fmla="*/ 517 w 517"/>
                  <a:gd name="T1" fmla="*/ 75 h 149"/>
                  <a:gd name="T2" fmla="*/ 515 w 517"/>
                  <a:gd name="T3" fmla="*/ 84 h 149"/>
                  <a:gd name="T4" fmla="*/ 507 w 517"/>
                  <a:gd name="T5" fmla="*/ 95 h 149"/>
                  <a:gd name="T6" fmla="*/ 495 w 517"/>
                  <a:gd name="T7" fmla="*/ 105 h 149"/>
                  <a:gd name="T8" fmla="*/ 478 w 517"/>
                  <a:gd name="T9" fmla="*/ 113 h 149"/>
                  <a:gd name="T10" fmla="*/ 457 w 517"/>
                  <a:gd name="T11" fmla="*/ 122 h 149"/>
                  <a:gd name="T12" fmla="*/ 431 w 517"/>
                  <a:gd name="T13" fmla="*/ 130 h 149"/>
                  <a:gd name="T14" fmla="*/ 403 w 517"/>
                  <a:gd name="T15" fmla="*/ 137 h 149"/>
                  <a:gd name="T16" fmla="*/ 372 w 517"/>
                  <a:gd name="T17" fmla="*/ 141 h 149"/>
                  <a:gd name="T18" fmla="*/ 337 w 517"/>
                  <a:gd name="T19" fmla="*/ 145 h 149"/>
                  <a:gd name="T20" fmla="*/ 304 w 517"/>
                  <a:gd name="T21" fmla="*/ 147 h 149"/>
                  <a:gd name="T22" fmla="*/ 267 w 517"/>
                  <a:gd name="T23" fmla="*/ 149 h 149"/>
                  <a:gd name="T24" fmla="*/ 231 w 517"/>
                  <a:gd name="T25" fmla="*/ 148 h 149"/>
                  <a:gd name="T26" fmla="*/ 194 w 517"/>
                  <a:gd name="T27" fmla="*/ 146 h 149"/>
                  <a:gd name="T28" fmla="*/ 161 w 517"/>
                  <a:gd name="T29" fmla="*/ 143 h 149"/>
                  <a:gd name="T30" fmla="*/ 130 w 517"/>
                  <a:gd name="T31" fmla="*/ 139 h 149"/>
                  <a:gd name="T32" fmla="*/ 98 w 517"/>
                  <a:gd name="T33" fmla="*/ 134 h 149"/>
                  <a:gd name="T34" fmla="*/ 73 w 517"/>
                  <a:gd name="T35" fmla="*/ 126 h 149"/>
                  <a:gd name="T36" fmla="*/ 48 w 517"/>
                  <a:gd name="T37" fmla="*/ 118 h 149"/>
                  <a:gd name="T38" fmla="*/ 29 w 517"/>
                  <a:gd name="T39" fmla="*/ 109 h 149"/>
                  <a:gd name="T40" fmla="*/ 16 w 517"/>
                  <a:gd name="T41" fmla="*/ 100 h 149"/>
                  <a:gd name="T42" fmla="*/ 5 w 517"/>
                  <a:gd name="T43" fmla="*/ 89 h 149"/>
                  <a:gd name="T44" fmla="*/ 0 w 517"/>
                  <a:gd name="T45" fmla="*/ 80 h 149"/>
                  <a:gd name="T46" fmla="*/ 0 w 517"/>
                  <a:gd name="T47" fmla="*/ 69 h 149"/>
                  <a:gd name="T48" fmla="*/ 5 w 517"/>
                  <a:gd name="T49" fmla="*/ 58 h 149"/>
                  <a:gd name="T50" fmla="*/ 16 w 517"/>
                  <a:gd name="T51" fmla="*/ 49 h 149"/>
                  <a:gd name="T52" fmla="*/ 29 w 517"/>
                  <a:gd name="T53" fmla="*/ 39 h 149"/>
                  <a:gd name="T54" fmla="*/ 48 w 517"/>
                  <a:gd name="T55" fmla="*/ 30 h 149"/>
                  <a:gd name="T56" fmla="*/ 73 w 517"/>
                  <a:gd name="T57" fmla="*/ 22 h 149"/>
                  <a:gd name="T58" fmla="*/ 98 w 517"/>
                  <a:gd name="T59" fmla="*/ 15 h 149"/>
                  <a:gd name="T60" fmla="*/ 130 w 517"/>
                  <a:gd name="T61" fmla="*/ 10 h 149"/>
                  <a:gd name="T62" fmla="*/ 161 w 517"/>
                  <a:gd name="T63" fmla="*/ 5 h 149"/>
                  <a:gd name="T64" fmla="*/ 194 w 517"/>
                  <a:gd name="T65" fmla="*/ 2 h 149"/>
                  <a:gd name="T66" fmla="*/ 231 w 517"/>
                  <a:gd name="T67" fmla="*/ 0 h 149"/>
                  <a:gd name="T68" fmla="*/ 267 w 517"/>
                  <a:gd name="T69" fmla="*/ 0 h 149"/>
                  <a:gd name="T70" fmla="*/ 304 w 517"/>
                  <a:gd name="T71" fmla="*/ 1 h 149"/>
                  <a:gd name="T72" fmla="*/ 337 w 517"/>
                  <a:gd name="T73" fmla="*/ 3 h 149"/>
                  <a:gd name="T74" fmla="*/ 372 w 517"/>
                  <a:gd name="T75" fmla="*/ 7 h 149"/>
                  <a:gd name="T76" fmla="*/ 403 w 517"/>
                  <a:gd name="T77" fmla="*/ 12 h 149"/>
                  <a:gd name="T78" fmla="*/ 431 w 517"/>
                  <a:gd name="T79" fmla="*/ 19 h 149"/>
                  <a:gd name="T80" fmla="*/ 457 w 517"/>
                  <a:gd name="T81" fmla="*/ 25 h 149"/>
                  <a:gd name="T82" fmla="*/ 478 w 517"/>
                  <a:gd name="T83" fmla="*/ 35 h 149"/>
                  <a:gd name="T84" fmla="*/ 495 w 517"/>
                  <a:gd name="T85" fmla="*/ 44 h 149"/>
                  <a:gd name="T86" fmla="*/ 507 w 517"/>
                  <a:gd name="T87" fmla="*/ 53 h 149"/>
                  <a:gd name="T88" fmla="*/ 515 w 517"/>
                  <a:gd name="T89" fmla="*/ 64 h 149"/>
                  <a:gd name="T90" fmla="*/ 517 w 517"/>
                  <a:gd name="T91" fmla="*/ 75 h 14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17"/>
                  <a:gd name="T139" fmla="*/ 0 h 149"/>
                  <a:gd name="T140" fmla="*/ 517 w 517"/>
                  <a:gd name="T141" fmla="*/ 149 h 14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17" h="149">
                    <a:moveTo>
                      <a:pt x="517" y="75"/>
                    </a:moveTo>
                    <a:lnTo>
                      <a:pt x="515" y="84"/>
                    </a:lnTo>
                    <a:lnTo>
                      <a:pt x="507" y="95"/>
                    </a:lnTo>
                    <a:lnTo>
                      <a:pt x="495" y="105"/>
                    </a:lnTo>
                    <a:lnTo>
                      <a:pt x="478" y="113"/>
                    </a:lnTo>
                    <a:lnTo>
                      <a:pt x="457" y="122"/>
                    </a:lnTo>
                    <a:lnTo>
                      <a:pt x="431" y="130"/>
                    </a:lnTo>
                    <a:lnTo>
                      <a:pt x="403" y="137"/>
                    </a:lnTo>
                    <a:lnTo>
                      <a:pt x="372" y="141"/>
                    </a:lnTo>
                    <a:lnTo>
                      <a:pt x="337" y="145"/>
                    </a:lnTo>
                    <a:lnTo>
                      <a:pt x="304" y="147"/>
                    </a:lnTo>
                    <a:lnTo>
                      <a:pt x="267" y="149"/>
                    </a:lnTo>
                    <a:lnTo>
                      <a:pt x="231" y="148"/>
                    </a:lnTo>
                    <a:lnTo>
                      <a:pt x="194" y="146"/>
                    </a:lnTo>
                    <a:lnTo>
                      <a:pt x="161" y="143"/>
                    </a:lnTo>
                    <a:lnTo>
                      <a:pt x="130" y="139"/>
                    </a:lnTo>
                    <a:lnTo>
                      <a:pt x="98" y="134"/>
                    </a:lnTo>
                    <a:lnTo>
                      <a:pt x="73" y="126"/>
                    </a:lnTo>
                    <a:lnTo>
                      <a:pt x="48" y="118"/>
                    </a:lnTo>
                    <a:lnTo>
                      <a:pt x="29" y="109"/>
                    </a:lnTo>
                    <a:lnTo>
                      <a:pt x="16" y="100"/>
                    </a:lnTo>
                    <a:lnTo>
                      <a:pt x="5" y="89"/>
                    </a:lnTo>
                    <a:lnTo>
                      <a:pt x="0" y="80"/>
                    </a:lnTo>
                    <a:lnTo>
                      <a:pt x="0" y="69"/>
                    </a:lnTo>
                    <a:lnTo>
                      <a:pt x="5" y="58"/>
                    </a:lnTo>
                    <a:lnTo>
                      <a:pt x="16" y="49"/>
                    </a:lnTo>
                    <a:lnTo>
                      <a:pt x="29" y="39"/>
                    </a:lnTo>
                    <a:lnTo>
                      <a:pt x="48" y="30"/>
                    </a:lnTo>
                    <a:lnTo>
                      <a:pt x="73" y="22"/>
                    </a:lnTo>
                    <a:lnTo>
                      <a:pt x="98" y="15"/>
                    </a:lnTo>
                    <a:lnTo>
                      <a:pt x="130" y="10"/>
                    </a:lnTo>
                    <a:lnTo>
                      <a:pt x="161" y="5"/>
                    </a:lnTo>
                    <a:lnTo>
                      <a:pt x="194" y="2"/>
                    </a:lnTo>
                    <a:lnTo>
                      <a:pt x="231" y="0"/>
                    </a:lnTo>
                    <a:lnTo>
                      <a:pt x="267" y="0"/>
                    </a:lnTo>
                    <a:lnTo>
                      <a:pt x="304" y="1"/>
                    </a:lnTo>
                    <a:lnTo>
                      <a:pt x="337" y="3"/>
                    </a:lnTo>
                    <a:lnTo>
                      <a:pt x="372" y="7"/>
                    </a:lnTo>
                    <a:lnTo>
                      <a:pt x="403" y="12"/>
                    </a:lnTo>
                    <a:lnTo>
                      <a:pt x="431" y="19"/>
                    </a:lnTo>
                    <a:lnTo>
                      <a:pt x="457" y="25"/>
                    </a:lnTo>
                    <a:lnTo>
                      <a:pt x="478" y="35"/>
                    </a:lnTo>
                    <a:lnTo>
                      <a:pt x="495" y="44"/>
                    </a:lnTo>
                    <a:lnTo>
                      <a:pt x="507" y="53"/>
                    </a:lnTo>
                    <a:lnTo>
                      <a:pt x="515" y="64"/>
                    </a:lnTo>
                    <a:lnTo>
                      <a:pt x="517" y="75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45" name="Freeform 207"/>
            <p:cNvSpPr>
              <a:spLocks noEditPoints="1"/>
            </p:cNvSpPr>
            <p:nvPr/>
          </p:nvSpPr>
          <p:spPr bwMode="auto">
            <a:xfrm>
              <a:off x="2723" y="1380"/>
              <a:ext cx="273" cy="117"/>
            </a:xfrm>
            <a:custGeom>
              <a:avLst/>
              <a:gdLst>
                <a:gd name="T0" fmla="*/ 51 w 273"/>
                <a:gd name="T1" fmla="*/ 66 h 117"/>
                <a:gd name="T2" fmla="*/ 209 w 273"/>
                <a:gd name="T3" fmla="*/ 66 h 117"/>
                <a:gd name="T4" fmla="*/ 109 w 273"/>
                <a:gd name="T5" fmla="*/ 99 h 117"/>
                <a:gd name="T6" fmla="*/ 51 w 273"/>
                <a:gd name="T7" fmla="*/ 66 h 117"/>
                <a:gd name="T8" fmla="*/ 224 w 273"/>
                <a:gd name="T9" fmla="*/ 51 h 117"/>
                <a:gd name="T10" fmla="*/ 64 w 273"/>
                <a:gd name="T11" fmla="*/ 51 h 117"/>
                <a:gd name="T12" fmla="*/ 166 w 273"/>
                <a:gd name="T13" fmla="*/ 17 h 117"/>
                <a:gd name="T14" fmla="*/ 224 w 273"/>
                <a:gd name="T15" fmla="*/ 51 h 117"/>
                <a:gd name="T16" fmla="*/ 104 w 273"/>
                <a:gd name="T17" fmla="*/ 117 h 117"/>
                <a:gd name="T18" fmla="*/ 273 w 273"/>
                <a:gd name="T19" fmla="*/ 60 h 117"/>
                <a:gd name="T20" fmla="*/ 169 w 273"/>
                <a:gd name="T21" fmla="*/ 0 h 117"/>
                <a:gd name="T22" fmla="*/ 0 w 273"/>
                <a:gd name="T23" fmla="*/ 57 h 117"/>
                <a:gd name="T24" fmla="*/ 104 w 273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117"/>
                <a:gd name="T41" fmla="*/ 273 w 273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117">
                  <a:moveTo>
                    <a:pt x="51" y="66"/>
                  </a:moveTo>
                  <a:lnTo>
                    <a:pt x="209" y="66"/>
                  </a:lnTo>
                  <a:lnTo>
                    <a:pt x="109" y="99"/>
                  </a:lnTo>
                  <a:lnTo>
                    <a:pt x="51" y="66"/>
                  </a:lnTo>
                  <a:close/>
                  <a:moveTo>
                    <a:pt x="224" y="51"/>
                  </a:moveTo>
                  <a:lnTo>
                    <a:pt x="64" y="51"/>
                  </a:lnTo>
                  <a:lnTo>
                    <a:pt x="166" y="17"/>
                  </a:lnTo>
                  <a:lnTo>
                    <a:pt x="224" y="51"/>
                  </a:lnTo>
                  <a:close/>
                  <a:moveTo>
                    <a:pt x="104" y="117"/>
                  </a:moveTo>
                  <a:lnTo>
                    <a:pt x="273" y="60"/>
                  </a:lnTo>
                  <a:lnTo>
                    <a:pt x="169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6" name="Freeform 208"/>
            <p:cNvSpPr>
              <a:spLocks noEditPoints="1"/>
            </p:cNvSpPr>
            <p:nvPr/>
          </p:nvSpPr>
          <p:spPr bwMode="auto">
            <a:xfrm>
              <a:off x="2730" y="1384"/>
              <a:ext cx="273" cy="117"/>
            </a:xfrm>
            <a:custGeom>
              <a:avLst/>
              <a:gdLst>
                <a:gd name="T0" fmla="*/ 50 w 273"/>
                <a:gd name="T1" fmla="*/ 65 h 117"/>
                <a:gd name="T2" fmla="*/ 209 w 273"/>
                <a:gd name="T3" fmla="*/ 65 h 117"/>
                <a:gd name="T4" fmla="*/ 108 w 273"/>
                <a:gd name="T5" fmla="*/ 99 h 117"/>
                <a:gd name="T6" fmla="*/ 50 w 273"/>
                <a:gd name="T7" fmla="*/ 65 h 117"/>
                <a:gd name="T8" fmla="*/ 223 w 273"/>
                <a:gd name="T9" fmla="*/ 52 h 117"/>
                <a:gd name="T10" fmla="*/ 64 w 273"/>
                <a:gd name="T11" fmla="*/ 52 h 117"/>
                <a:gd name="T12" fmla="*/ 165 w 273"/>
                <a:gd name="T13" fmla="*/ 18 h 117"/>
                <a:gd name="T14" fmla="*/ 223 w 273"/>
                <a:gd name="T15" fmla="*/ 52 h 117"/>
                <a:gd name="T16" fmla="*/ 104 w 273"/>
                <a:gd name="T17" fmla="*/ 117 h 117"/>
                <a:gd name="T18" fmla="*/ 273 w 273"/>
                <a:gd name="T19" fmla="*/ 61 h 117"/>
                <a:gd name="T20" fmla="*/ 169 w 273"/>
                <a:gd name="T21" fmla="*/ 0 h 117"/>
                <a:gd name="T22" fmla="*/ 0 w 273"/>
                <a:gd name="T23" fmla="*/ 57 h 117"/>
                <a:gd name="T24" fmla="*/ 104 w 273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117"/>
                <a:gd name="T41" fmla="*/ 273 w 273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117">
                  <a:moveTo>
                    <a:pt x="50" y="65"/>
                  </a:moveTo>
                  <a:lnTo>
                    <a:pt x="209" y="65"/>
                  </a:lnTo>
                  <a:lnTo>
                    <a:pt x="108" y="99"/>
                  </a:lnTo>
                  <a:lnTo>
                    <a:pt x="50" y="65"/>
                  </a:lnTo>
                  <a:close/>
                  <a:moveTo>
                    <a:pt x="223" y="52"/>
                  </a:moveTo>
                  <a:lnTo>
                    <a:pt x="64" y="52"/>
                  </a:lnTo>
                  <a:lnTo>
                    <a:pt x="165" y="18"/>
                  </a:lnTo>
                  <a:lnTo>
                    <a:pt x="223" y="52"/>
                  </a:lnTo>
                  <a:close/>
                  <a:moveTo>
                    <a:pt x="104" y="117"/>
                  </a:moveTo>
                  <a:lnTo>
                    <a:pt x="273" y="61"/>
                  </a:lnTo>
                  <a:lnTo>
                    <a:pt x="169" y="0"/>
                  </a:lnTo>
                  <a:lnTo>
                    <a:pt x="0" y="57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7" name="Freeform 209"/>
            <p:cNvSpPr>
              <a:spLocks noEditPoints="1"/>
            </p:cNvSpPr>
            <p:nvPr/>
          </p:nvSpPr>
          <p:spPr bwMode="auto">
            <a:xfrm>
              <a:off x="2780" y="1573"/>
              <a:ext cx="179" cy="94"/>
            </a:xfrm>
            <a:custGeom>
              <a:avLst/>
              <a:gdLst>
                <a:gd name="T0" fmla="*/ 68 w 179"/>
                <a:gd name="T1" fmla="*/ 53 h 94"/>
                <a:gd name="T2" fmla="*/ 87 w 179"/>
                <a:gd name="T3" fmla="*/ 53 h 94"/>
                <a:gd name="T4" fmla="*/ 126 w 179"/>
                <a:gd name="T5" fmla="*/ 94 h 94"/>
                <a:gd name="T6" fmla="*/ 179 w 179"/>
                <a:gd name="T7" fmla="*/ 94 h 94"/>
                <a:gd name="T8" fmla="*/ 179 w 179"/>
                <a:gd name="T9" fmla="*/ 77 h 94"/>
                <a:gd name="T10" fmla="*/ 157 w 179"/>
                <a:gd name="T11" fmla="*/ 77 h 94"/>
                <a:gd name="T12" fmla="*/ 129 w 179"/>
                <a:gd name="T13" fmla="*/ 49 h 94"/>
                <a:gd name="T14" fmla="*/ 133 w 179"/>
                <a:gd name="T15" fmla="*/ 47 h 94"/>
                <a:gd name="T16" fmla="*/ 142 w 179"/>
                <a:gd name="T17" fmla="*/ 44 h 94"/>
                <a:gd name="T18" fmla="*/ 150 w 179"/>
                <a:gd name="T19" fmla="*/ 41 h 94"/>
                <a:gd name="T20" fmla="*/ 153 w 179"/>
                <a:gd name="T21" fmla="*/ 37 h 94"/>
                <a:gd name="T22" fmla="*/ 158 w 179"/>
                <a:gd name="T23" fmla="*/ 32 h 94"/>
                <a:gd name="T24" fmla="*/ 159 w 179"/>
                <a:gd name="T25" fmla="*/ 26 h 94"/>
                <a:gd name="T26" fmla="*/ 158 w 179"/>
                <a:gd name="T27" fmla="*/ 23 h 94"/>
                <a:gd name="T28" fmla="*/ 157 w 179"/>
                <a:gd name="T29" fmla="*/ 17 h 94"/>
                <a:gd name="T30" fmla="*/ 151 w 179"/>
                <a:gd name="T31" fmla="*/ 13 h 94"/>
                <a:gd name="T32" fmla="*/ 145 w 179"/>
                <a:gd name="T33" fmla="*/ 8 h 94"/>
                <a:gd name="T34" fmla="*/ 142 w 179"/>
                <a:gd name="T35" fmla="*/ 6 h 94"/>
                <a:gd name="T36" fmla="*/ 134 w 179"/>
                <a:gd name="T37" fmla="*/ 3 h 94"/>
                <a:gd name="T38" fmla="*/ 126 w 179"/>
                <a:gd name="T39" fmla="*/ 1 h 94"/>
                <a:gd name="T40" fmla="*/ 116 w 179"/>
                <a:gd name="T41" fmla="*/ 0 h 94"/>
                <a:gd name="T42" fmla="*/ 103 w 179"/>
                <a:gd name="T43" fmla="*/ 0 h 94"/>
                <a:gd name="T44" fmla="*/ 0 w 179"/>
                <a:gd name="T45" fmla="*/ 0 h 94"/>
                <a:gd name="T46" fmla="*/ 0 w 179"/>
                <a:gd name="T47" fmla="*/ 16 h 94"/>
                <a:gd name="T48" fmla="*/ 23 w 179"/>
                <a:gd name="T49" fmla="*/ 16 h 94"/>
                <a:gd name="T50" fmla="*/ 23 w 179"/>
                <a:gd name="T51" fmla="*/ 77 h 94"/>
                <a:gd name="T52" fmla="*/ 0 w 179"/>
                <a:gd name="T53" fmla="*/ 77 h 94"/>
                <a:gd name="T54" fmla="*/ 0 w 179"/>
                <a:gd name="T55" fmla="*/ 94 h 94"/>
                <a:gd name="T56" fmla="*/ 90 w 179"/>
                <a:gd name="T57" fmla="*/ 94 h 94"/>
                <a:gd name="T58" fmla="*/ 90 w 179"/>
                <a:gd name="T59" fmla="*/ 77 h 94"/>
                <a:gd name="T60" fmla="*/ 68 w 179"/>
                <a:gd name="T61" fmla="*/ 77 h 94"/>
                <a:gd name="T62" fmla="*/ 68 w 179"/>
                <a:gd name="T63" fmla="*/ 53 h 94"/>
                <a:gd name="T64" fmla="*/ 68 w 179"/>
                <a:gd name="T65" fmla="*/ 16 h 94"/>
                <a:gd name="T66" fmla="*/ 87 w 179"/>
                <a:gd name="T67" fmla="*/ 16 h 94"/>
                <a:gd name="T68" fmla="*/ 97 w 179"/>
                <a:gd name="T69" fmla="*/ 16 h 94"/>
                <a:gd name="T70" fmla="*/ 104 w 179"/>
                <a:gd name="T71" fmla="*/ 17 h 94"/>
                <a:gd name="T72" fmla="*/ 110 w 179"/>
                <a:gd name="T73" fmla="*/ 21 h 94"/>
                <a:gd name="T74" fmla="*/ 112 w 179"/>
                <a:gd name="T75" fmla="*/ 27 h 94"/>
                <a:gd name="T76" fmla="*/ 112 w 179"/>
                <a:gd name="T77" fmla="*/ 28 h 94"/>
                <a:gd name="T78" fmla="*/ 110 w 179"/>
                <a:gd name="T79" fmla="*/ 32 h 94"/>
                <a:gd name="T80" fmla="*/ 103 w 179"/>
                <a:gd name="T81" fmla="*/ 35 h 94"/>
                <a:gd name="T82" fmla="*/ 95 w 179"/>
                <a:gd name="T83" fmla="*/ 37 h 94"/>
                <a:gd name="T84" fmla="*/ 83 w 179"/>
                <a:gd name="T85" fmla="*/ 38 h 94"/>
                <a:gd name="T86" fmla="*/ 68 w 179"/>
                <a:gd name="T87" fmla="*/ 38 h 94"/>
                <a:gd name="T88" fmla="*/ 68 w 179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9"/>
                <a:gd name="T136" fmla="*/ 0 h 94"/>
                <a:gd name="T137" fmla="*/ 179 w 179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9" h="94">
                  <a:moveTo>
                    <a:pt x="68" y="53"/>
                  </a:moveTo>
                  <a:lnTo>
                    <a:pt x="87" y="53"/>
                  </a:lnTo>
                  <a:lnTo>
                    <a:pt x="126" y="94"/>
                  </a:lnTo>
                  <a:lnTo>
                    <a:pt x="179" y="94"/>
                  </a:lnTo>
                  <a:lnTo>
                    <a:pt x="179" y="77"/>
                  </a:lnTo>
                  <a:lnTo>
                    <a:pt x="157" y="77"/>
                  </a:lnTo>
                  <a:lnTo>
                    <a:pt x="129" y="49"/>
                  </a:lnTo>
                  <a:lnTo>
                    <a:pt x="133" y="47"/>
                  </a:lnTo>
                  <a:lnTo>
                    <a:pt x="142" y="44"/>
                  </a:lnTo>
                  <a:lnTo>
                    <a:pt x="150" y="41"/>
                  </a:lnTo>
                  <a:lnTo>
                    <a:pt x="153" y="37"/>
                  </a:lnTo>
                  <a:lnTo>
                    <a:pt x="158" y="32"/>
                  </a:lnTo>
                  <a:lnTo>
                    <a:pt x="159" y="26"/>
                  </a:lnTo>
                  <a:lnTo>
                    <a:pt x="158" y="23"/>
                  </a:lnTo>
                  <a:lnTo>
                    <a:pt x="157" y="17"/>
                  </a:lnTo>
                  <a:lnTo>
                    <a:pt x="151" y="13"/>
                  </a:lnTo>
                  <a:lnTo>
                    <a:pt x="145" y="8"/>
                  </a:lnTo>
                  <a:lnTo>
                    <a:pt x="142" y="6"/>
                  </a:lnTo>
                  <a:lnTo>
                    <a:pt x="134" y="3"/>
                  </a:lnTo>
                  <a:lnTo>
                    <a:pt x="126" y="1"/>
                  </a:lnTo>
                  <a:lnTo>
                    <a:pt x="116" y="0"/>
                  </a:lnTo>
                  <a:lnTo>
                    <a:pt x="103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3" y="16"/>
                  </a:lnTo>
                  <a:lnTo>
                    <a:pt x="23" y="77"/>
                  </a:lnTo>
                  <a:lnTo>
                    <a:pt x="0" y="77"/>
                  </a:lnTo>
                  <a:lnTo>
                    <a:pt x="0" y="94"/>
                  </a:lnTo>
                  <a:lnTo>
                    <a:pt x="90" y="94"/>
                  </a:lnTo>
                  <a:lnTo>
                    <a:pt x="90" y="77"/>
                  </a:lnTo>
                  <a:lnTo>
                    <a:pt x="68" y="77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7" y="16"/>
                  </a:lnTo>
                  <a:lnTo>
                    <a:pt x="97" y="16"/>
                  </a:lnTo>
                  <a:lnTo>
                    <a:pt x="104" y="17"/>
                  </a:lnTo>
                  <a:lnTo>
                    <a:pt x="110" y="21"/>
                  </a:lnTo>
                  <a:lnTo>
                    <a:pt x="112" y="27"/>
                  </a:lnTo>
                  <a:lnTo>
                    <a:pt x="112" y="28"/>
                  </a:lnTo>
                  <a:lnTo>
                    <a:pt x="110" y="32"/>
                  </a:lnTo>
                  <a:lnTo>
                    <a:pt x="103" y="35"/>
                  </a:lnTo>
                  <a:lnTo>
                    <a:pt x="95" y="37"/>
                  </a:lnTo>
                  <a:lnTo>
                    <a:pt x="83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8" name="Freeform 210"/>
            <p:cNvSpPr>
              <a:spLocks noEditPoints="1"/>
            </p:cNvSpPr>
            <p:nvPr/>
          </p:nvSpPr>
          <p:spPr bwMode="auto">
            <a:xfrm>
              <a:off x="2767" y="1563"/>
              <a:ext cx="180" cy="94"/>
            </a:xfrm>
            <a:custGeom>
              <a:avLst/>
              <a:gdLst>
                <a:gd name="T0" fmla="*/ 68 w 180"/>
                <a:gd name="T1" fmla="*/ 53 h 94"/>
                <a:gd name="T2" fmla="*/ 88 w 180"/>
                <a:gd name="T3" fmla="*/ 53 h 94"/>
                <a:gd name="T4" fmla="*/ 127 w 180"/>
                <a:gd name="T5" fmla="*/ 94 h 94"/>
                <a:gd name="T6" fmla="*/ 180 w 180"/>
                <a:gd name="T7" fmla="*/ 94 h 94"/>
                <a:gd name="T8" fmla="*/ 180 w 180"/>
                <a:gd name="T9" fmla="*/ 79 h 94"/>
                <a:gd name="T10" fmla="*/ 157 w 180"/>
                <a:gd name="T11" fmla="*/ 79 h 94"/>
                <a:gd name="T12" fmla="*/ 129 w 180"/>
                <a:gd name="T13" fmla="*/ 50 h 94"/>
                <a:gd name="T14" fmla="*/ 135 w 180"/>
                <a:gd name="T15" fmla="*/ 49 h 94"/>
                <a:gd name="T16" fmla="*/ 144 w 180"/>
                <a:gd name="T17" fmla="*/ 45 h 94"/>
                <a:gd name="T18" fmla="*/ 151 w 180"/>
                <a:gd name="T19" fmla="*/ 42 h 94"/>
                <a:gd name="T20" fmla="*/ 155 w 180"/>
                <a:gd name="T21" fmla="*/ 37 h 94"/>
                <a:gd name="T22" fmla="*/ 157 w 180"/>
                <a:gd name="T23" fmla="*/ 32 h 94"/>
                <a:gd name="T24" fmla="*/ 160 w 180"/>
                <a:gd name="T25" fmla="*/ 26 h 94"/>
                <a:gd name="T26" fmla="*/ 160 w 180"/>
                <a:gd name="T27" fmla="*/ 24 h 94"/>
                <a:gd name="T28" fmla="*/ 156 w 180"/>
                <a:gd name="T29" fmla="*/ 18 h 94"/>
                <a:gd name="T30" fmla="*/ 153 w 180"/>
                <a:gd name="T31" fmla="*/ 13 h 94"/>
                <a:gd name="T32" fmla="*/ 146 w 180"/>
                <a:gd name="T33" fmla="*/ 8 h 94"/>
                <a:gd name="T34" fmla="*/ 143 w 180"/>
                <a:gd name="T35" fmla="*/ 7 h 94"/>
                <a:gd name="T36" fmla="*/ 136 w 180"/>
                <a:gd name="T37" fmla="*/ 4 h 94"/>
                <a:gd name="T38" fmla="*/ 126 w 180"/>
                <a:gd name="T39" fmla="*/ 2 h 94"/>
                <a:gd name="T40" fmla="*/ 116 w 180"/>
                <a:gd name="T41" fmla="*/ 1 h 94"/>
                <a:gd name="T42" fmla="*/ 104 w 180"/>
                <a:gd name="T43" fmla="*/ 0 h 94"/>
                <a:gd name="T44" fmla="*/ 0 w 180"/>
                <a:gd name="T45" fmla="*/ 0 h 94"/>
                <a:gd name="T46" fmla="*/ 0 w 180"/>
                <a:gd name="T47" fmla="*/ 16 h 94"/>
                <a:gd name="T48" fmla="*/ 24 w 180"/>
                <a:gd name="T49" fmla="*/ 16 h 94"/>
                <a:gd name="T50" fmla="*/ 24 w 180"/>
                <a:gd name="T51" fmla="*/ 79 h 94"/>
                <a:gd name="T52" fmla="*/ 0 w 180"/>
                <a:gd name="T53" fmla="*/ 79 h 94"/>
                <a:gd name="T54" fmla="*/ 0 w 180"/>
                <a:gd name="T55" fmla="*/ 94 h 94"/>
                <a:gd name="T56" fmla="*/ 89 w 180"/>
                <a:gd name="T57" fmla="*/ 94 h 94"/>
                <a:gd name="T58" fmla="*/ 89 w 180"/>
                <a:gd name="T59" fmla="*/ 79 h 94"/>
                <a:gd name="T60" fmla="*/ 68 w 180"/>
                <a:gd name="T61" fmla="*/ 79 h 94"/>
                <a:gd name="T62" fmla="*/ 68 w 180"/>
                <a:gd name="T63" fmla="*/ 53 h 94"/>
                <a:gd name="T64" fmla="*/ 68 w 180"/>
                <a:gd name="T65" fmla="*/ 16 h 94"/>
                <a:gd name="T66" fmla="*/ 88 w 180"/>
                <a:gd name="T67" fmla="*/ 16 h 94"/>
                <a:gd name="T68" fmla="*/ 97 w 180"/>
                <a:gd name="T69" fmla="*/ 17 h 94"/>
                <a:gd name="T70" fmla="*/ 106 w 180"/>
                <a:gd name="T71" fmla="*/ 19 h 94"/>
                <a:gd name="T72" fmla="*/ 110 w 180"/>
                <a:gd name="T73" fmla="*/ 22 h 94"/>
                <a:gd name="T74" fmla="*/ 113 w 180"/>
                <a:gd name="T75" fmla="*/ 26 h 94"/>
                <a:gd name="T76" fmla="*/ 113 w 180"/>
                <a:gd name="T77" fmla="*/ 27 h 94"/>
                <a:gd name="T78" fmla="*/ 110 w 180"/>
                <a:gd name="T79" fmla="*/ 33 h 94"/>
                <a:gd name="T80" fmla="*/ 105 w 180"/>
                <a:gd name="T81" fmla="*/ 36 h 94"/>
                <a:gd name="T82" fmla="*/ 96 w 180"/>
                <a:gd name="T83" fmla="*/ 38 h 94"/>
                <a:gd name="T84" fmla="*/ 85 w 180"/>
                <a:gd name="T85" fmla="*/ 38 h 94"/>
                <a:gd name="T86" fmla="*/ 68 w 180"/>
                <a:gd name="T87" fmla="*/ 38 h 94"/>
                <a:gd name="T88" fmla="*/ 68 w 180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0"/>
                <a:gd name="T136" fmla="*/ 0 h 94"/>
                <a:gd name="T137" fmla="*/ 180 w 180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0" h="94">
                  <a:moveTo>
                    <a:pt x="68" y="53"/>
                  </a:moveTo>
                  <a:lnTo>
                    <a:pt x="88" y="53"/>
                  </a:lnTo>
                  <a:lnTo>
                    <a:pt x="127" y="94"/>
                  </a:lnTo>
                  <a:lnTo>
                    <a:pt x="180" y="94"/>
                  </a:lnTo>
                  <a:lnTo>
                    <a:pt x="180" y="79"/>
                  </a:lnTo>
                  <a:lnTo>
                    <a:pt x="157" y="79"/>
                  </a:lnTo>
                  <a:lnTo>
                    <a:pt x="129" y="50"/>
                  </a:lnTo>
                  <a:lnTo>
                    <a:pt x="135" y="49"/>
                  </a:lnTo>
                  <a:lnTo>
                    <a:pt x="144" y="45"/>
                  </a:lnTo>
                  <a:lnTo>
                    <a:pt x="151" y="42"/>
                  </a:lnTo>
                  <a:lnTo>
                    <a:pt x="155" y="37"/>
                  </a:lnTo>
                  <a:lnTo>
                    <a:pt x="157" y="32"/>
                  </a:lnTo>
                  <a:lnTo>
                    <a:pt x="160" y="26"/>
                  </a:lnTo>
                  <a:lnTo>
                    <a:pt x="160" y="24"/>
                  </a:lnTo>
                  <a:lnTo>
                    <a:pt x="156" y="18"/>
                  </a:lnTo>
                  <a:lnTo>
                    <a:pt x="153" y="13"/>
                  </a:lnTo>
                  <a:lnTo>
                    <a:pt x="146" y="8"/>
                  </a:lnTo>
                  <a:lnTo>
                    <a:pt x="143" y="7"/>
                  </a:lnTo>
                  <a:lnTo>
                    <a:pt x="136" y="4"/>
                  </a:lnTo>
                  <a:lnTo>
                    <a:pt x="126" y="2"/>
                  </a:lnTo>
                  <a:lnTo>
                    <a:pt x="116" y="1"/>
                  </a:lnTo>
                  <a:lnTo>
                    <a:pt x="10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9"/>
                  </a:lnTo>
                  <a:lnTo>
                    <a:pt x="0" y="79"/>
                  </a:lnTo>
                  <a:lnTo>
                    <a:pt x="0" y="94"/>
                  </a:lnTo>
                  <a:lnTo>
                    <a:pt x="89" y="94"/>
                  </a:lnTo>
                  <a:lnTo>
                    <a:pt x="89" y="79"/>
                  </a:lnTo>
                  <a:lnTo>
                    <a:pt x="68" y="79"/>
                  </a:lnTo>
                  <a:lnTo>
                    <a:pt x="68" y="53"/>
                  </a:lnTo>
                  <a:close/>
                  <a:moveTo>
                    <a:pt x="68" y="16"/>
                  </a:moveTo>
                  <a:lnTo>
                    <a:pt x="88" y="16"/>
                  </a:lnTo>
                  <a:lnTo>
                    <a:pt x="97" y="17"/>
                  </a:lnTo>
                  <a:lnTo>
                    <a:pt x="106" y="19"/>
                  </a:lnTo>
                  <a:lnTo>
                    <a:pt x="110" y="22"/>
                  </a:lnTo>
                  <a:lnTo>
                    <a:pt x="113" y="26"/>
                  </a:lnTo>
                  <a:lnTo>
                    <a:pt x="113" y="27"/>
                  </a:lnTo>
                  <a:lnTo>
                    <a:pt x="110" y="33"/>
                  </a:lnTo>
                  <a:lnTo>
                    <a:pt x="105" y="36"/>
                  </a:lnTo>
                  <a:lnTo>
                    <a:pt x="96" y="38"/>
                  </a:lnTo>
                  <a:lnTo>
                    <a:pt x="85" y="38"/>
                  </a:lnTo>
                  <a:lnTo>
                    <a:pt x="68" y="38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83" name="Group 211"/>
          <p:cNvGrpSpPr>
            <a:grpSpLocks/>
          </p:cNvGrpSpPr>
          <p:nvPr/>
        </p:nvGrpSpPr>
        <p:grpSpPr bwMode="auto">
          <a:xfrm>
            <a:off x="6873875" y="2101057"/>
            <a:ext cx="841375" cy="557212"/>
            <a:chOff x="3979" y="1378"/>
            <a:chExt cx="530" cy="351"/>
          </a:xfrm>
        </p:grpSpPr>
        <p:grpSp>
          <p:nvGrpSpPr>
            <p:cNvPr id="28713" name="Group 212"/>
            <p:cNvGrpSpPr>
              <a:grpSpLocks/>
            </p:cNvGrpSpPr>
            <p:nvPr/>
          </p:nvGrpSpPr>
          <p:grpSpPr bwMode="auto">
            <a:xfrm>
              <a:off x="3979" y="1378"/>
              <a:ext cx="530" cy="351"/>
              <a:chOff x="3979" y="1378"/>
              <a:chExt cx="530" cy="351"/>
            </a:xfrm>
          </p:grpSpPr>
          <p:sp>
            <p:nvSpPr>
              <p:cNvPr id="28733" name="Freeform 213"/>
              <p:cNvSpPr>
                <a:spLocks noEditPoints="1"/>
              </p:cNvSpPr>
              <p:nvPr/>
            </p:nvSpPr>
            <p:spPr bwMode="auto">
              <a:xfrm>
                <a:off x="3979" y="1378"/>
                <a:ext cx="530" cy="351"/>
              </a:xfrm>
              <a:custGeom>
                <a:avLst/>
                <a:gdLst>
                  <a:gd name="T0" fmla="*/ 530 w 530"/>
                  <a:gd name="T1" fmla="*/ 74 h 351"/>
                  <a:gd name="T2" fmla="*/ 519 w 530"/>
                  <a:gd name="T3" fmla="*/ 94 h 351"/>
                  <a:gd name="T4" fmla="*/ 491 w 530"/>
                  <a:gd name="T5" fmla="*/ 113 h 351"/>
                  <a:gd name="T6" fmla="*/ 446 w 530"/>
                  <a:gd name="T7" fmla="*/ 128 h 351"/>
                  <a:gd name="T8" fmla="*/ 386 w 530"/>
                  <a:gd name="T9" fmla="*/ 140 h 351"/>
                  <a:gd name="T10" fmla="*/ 320 w 530"/>
                  <a:gd name="T11" fmla="*/ 147 h 351"/>
                  <a:gd name="T12" fmla="*/ 247 w 530"/>
                  <a:gd name="T13" fmla="*/ 147 h 351"/>
                  <a:gd name="T14" fmla="*/ 177 w 530"/>
                  <a:gd name="T15" fmla="*/ 144 h 351"/>
                  <a:gd name="T16" fmla="*/ 112 w 530"/>
                  <a:gd name="T17" fmla="*/ 135 h 351"/>
                  <a:gd name="T18" fmla="*/ 112 w 530"/>
                  <a:gd name="T19" fmla="*/ 135 h 351"/>
                  <a:gd name="T20" fmla="*/ 177 w 530"/>
                  <a:gd name="T21" fmla="*/ 144 h 351"/>
                  <a:gd name="T22" fmla="*/ 247 w 530"/>
                  <a:gd name="T23" fmla="*/ 147 h 351"/>
                  <a:gd name="T24" fmla="*/ 320 w 530"/>
                  <a:gd name="T25" fmla="*/ 147 h 351"/>
                  <a:gd name="T26" fmla="*/ 386 w 530"/>
                  <a:gd name="T27" fmla="*/ 140 h 351"/>
                  <a:gd name="T28" fmla="*/ 446 w 530"/>
                  <a:gd name="T29" fmla="*/ 128 h 351"/>
                  <a:gd name="T30" fmla="*/ 491 w 530"/>
                  <a:gd name="T31" fmla="*/ 113 h 351"/>
                  <a:gd name="T32" fmla="*/ 519 w 530"/>
                  <a:gd name="T33" fmla="*/ 94 h 351"/>
                  <a:gd name="T34" fmla="*/ 530 w 530"/>
                  <a:gd name="T35" fmla="*/ 74 h 351"/>
                  <a:gd name="T36" fmla="*/ 2 w 530"/>
                  <a:gd name="T37" fmla="*/ 84 h 351"/>
                  <a:gd name="T38" fmla="*/ 22 w 530"/>
                  <a:gd name="T39" fmla="*/ 104 h 351"/>
                  <a:gd name="T40" fmla="*/ 59 w 530"/>
                  <a:gd name="T41" fmla="*/ 120 h 351"/>
                  <a:gd name="T42" fmla="*/ 59 w 530"/>
                  <a:gd name="T43" fmla="*/ 120 h 351"/>
                  <a:gd name="T44" fmla="*/ 22 w 530"/>
                  <a:gd name="T45" fmla="*/ 104 h 351"/>
                  <a:gd name="T46" fmla="*/ 2 w 530"/>
                  <a:gd name="T47" fmla="*/ 84 h 351"/>
                  <a:gd name="T48" fmla="*/ 0 w 530"/>
                  <a:gd name="T49" fmla="*/ 74 h 351"/>
                  <a:gd name="T50" fmla="*/ 2 w 530"/>
                  <a:gd name="T51" fmla="*/ 288 h 351"/>
                  <a:gd name="T52" fmla="*/ 22 w 530"/>
                  <a:gd name="T53" fmla="*/ 307 h 351"/>
                  <a:gd name="T54" fmla="*/ 59 w 530"/>
                  <a:gd name="T55" fmla="*/ 324 h 351"/>
                  <a:gd name="T56" fmla="*/ 112 w 530"/>
                  <a:gd name="T57" fmla="*/ 339 h 351"/>
                  <a:gd name="T58" fmla="*/ 176 w 530"/>
                  <a:gd name="T59" fmla="*/ 347 h 351"/>
                  <a:gd name="T60" fmla="*/ 247 w 530"/>
                  <a:gd name="T61" fmla="*/ 351 h 351"/>
                  <a:gd name="T62" fmla="*/ 320 w 530"/>
                  <a:gd name="T63" fmla="*/ 350 h 351"/>
                  <a:gd name="T64" fmla="*/ 386 w 530"/>
                  <a:gd name="T65" fmla="*/ 344 h 351"/>
                  <a:gd name="T66" fmla="*/ 446 w 530"/>
                  <a:gd name="T67" fmla="*/ 332 h 351"/>
                  <a:gd name="T68" fmla="*/ 491 w 530"/>
                  <a:gd name="T69" fmla="*/ 316 h 351"/>
                  <a:gd name="T70" fmla="*/ 519 w 530"/>
                  <a:gd name="T71" fmla="*/ 298 h 351"/>
                  <a:gd name="T72" fmla="*/ 530 w 530"/>
                  <a:gd name="T73" fmla="*/ 277 h 351"/>
                  <a:gd name="T74" fmla="*/ 527 w 530"/>
                  <a:gd name="T75" fmla="*/ 63 h 351"/>
                  <a:gd name="T76" fmla="*/ 508 w 530"/>
                  <a:gd name="T77" fmla="*/ 44 h 351"/>
                  <a:gd name="T78" fmla="*/ 470 w 530"/>
                  <a:gd name="T79" fmla="*/ 26 h 351"/>
                  <a:gd name="T80" fmla="*/ 418 w 530"/>
                  <a:gd name="T81" fmla="*/ 12 h 351"/>
                  <a:gd name="T82" fmla="*/ 354 w 530"/>
                  <a:gd name="T83" fmla="*/ 4 h 351"/>
                  <a:gd name="T84" fmla="*/ 283 w 530"/>
                  <a:gd name="T85" fmla="*/ 0 h 351"/>
                  <a:gd name="T86" fmla="*/ 210 w 530"/>
                  <a:gd name="T87" fmla="*/ 1 h 351"/>
                  <a:gd name="T88" fmla="*/ 144 w 530"/>
                  <a:gd name="T89" fmla="*/ 7 h 351"/>
                  <a:gd name="T90" fmla="*/ 83 w 530"/>
                  <a:gd name="T91" fmla="*/ 19 h 351"/>
                  <a:gd name="T92" fmla="*/ 39 w 530"/>
                  <a:gd name="T93" fmla="*/ 35 h 351"/>
                  <a:gd name="T94" fmla="*/ 10 w 530"/>
                  <a:gd name="T95" fmla="*/ 53 h 351"/>
                  <a:gd name="T96" fmla="*/ 0 w 530"/>
                  <a:gd name="T97" fmla="*/ 74 h 35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30"/>
                  <a:gd name="T148" fmla="*/ 0 h 351"/>
                  <a:gd name="T149" fmla="*/ 530 w 530"/>
                  <a:gd name="T150" fmla="*/ 351 h 35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30" h="351">
                    <a:moveTo>
                      <a:pt x="530" y="74"/>
                    </a:moveTo>
                    <a:lnTo>
                      <a:pt x="530" y="74"/>
                    </a:lnTo>
                    <a:lnTo>
                      <a:pt x="527" y="84"/>
                    </a:lnTo>
                    <a:lnTo>
                      <a:pt x="519" y="94"/>
                    </a:lnTo>
                    <a:lnTo>
                      <a:pt x="508" y="103"/>
                    </a:lnTo>
                    <a:lnTo>
                      <a:pt x="491" y="113"/>
                    </a:lnTo>
                    <a:lnTo>
                      <a:pt x="470" y="120"/>
                    </a:lnTo>
                    <a:lnTo>
                      <a:pt x="446" y="128"/>
                    </a:lnTo>
                    <a:lnTo>
                      <a:pt x="418" y="135"/>
                    </a:lnTo>
                    <a:lnTo>
                      <a:pt x="386" y="140"/>
                    </a:lnTo>
                    <a:lnTo>
                      <a:pt x="354" y="144"/>
                    </a:lnTo>
                    <a:lnTo>
                      <a:pt x="320" y="147"/>
                    </a:lnTo>
                    <a:lnTo>
                      <a:pt x="283" y="147"/>
                    </a:lnTo>
                    <a:lnTo>
                      <a:pt x="247" y="147"/>
                    </a:lnTo>
                    <a:lnTo>
                      <a:pt x="212" y="147"/>
                    </a:lnTo>
                    <a:lnTo>
                      <a:pt x="177" y="144"/>
                    </a:lnTo>
                    <a:lnTo>
                      <a:pt x="144" y="140"/>
                    </a:lnTo>
                    <a:lnTo>
                      <a:pt x="112" y="135"/>
                    </a:lnTo>
                    <a:lnTo>
                      <a:pt x="83" y="129"/>
                    </a:lnTo>
                    <a:lnTo>
                      <a:pt x="112" y="135"/>
                    </a:lnTo>
                    <a:lnTo>
                      <a:pt x="144" y="140"/>
                    </a:lnTo>
                    <a:lnTo>
                      <a:pt x="177" y="144"/>
                    </a:lnTo>
                    <a:lnTo>
                      <a:pt x="212" y="147"/>
                    </a:lnTo>
                    <a:lnTo>
                      <a:pt x="247" y="147"/>
                    </a:lnTo>
                    <a:lnTo>
                      <a:pt x="283" y="147"/>
                    </a:lnTo>
                    <a:lnTo>
                      <a:pt x="320" y="147"/>
                    </a:lnTo>
                    <a:lnTo>
                      <a:pt x="354" y="144"/>
                    </a:lnTo>
                    <a:lnTo>
                      <a:pt x="386" y="140"/>
                    </a:lnTo>
                    <a:lnTo>
                      <a:pt x="418" y="135"/>
                    </a:lnTo>
                    <a:lnTo>
                      <a:pt x="446" y="128"/>
                    </a:lnTo>
                    <a:lnTo>
                      <a:pt x="470" y="120"/>
                    </a:lnTo>
                    <a:lnTo>
                      <a:pt x="491" y="113"/>
                    </a:lnTo>
                    <a:lnTo>
                      <a:pt x="508" y="103"/>
                    </a:lnTo>
                    <a:lnTo>
                      <a:pt x="519" y="94"/>
                    </a:lnTo>
                    <a:lnTo>
                      <a:pt x="527" y="84"/>
                    </a:lnTo>
                    <a:lnTo>
                      <a:pt x="530" y="74"/>
                    </a:lnTo>
                    <a:close/>
                    <a:moveTo>
                      <a:pt x="0" y="74"/>
                    </a:moveTo>
                    <a:lnTo>
                      <a:pt x="2" y="84"/>
                    </a:lnTo>
                    <a:lnTo>
                      <a:pt x="10" y="94"/>
                    </a:lnTo>
                    <a:lnTo>
                      <a:pt x="22" y="104"/>
                    </a:lnTo>
                    <a:lnTo>
                      <a:pt x="39" y="113"/>
                    </a:lnTo>
                    <a:lnTo>
                      <a:pt x="59" y="120"/>
                    </a:lnTo>
                    <a:lnTo>
                      <a:pt x="83" y="129"/>
                    </a:lnTo>
                    <a:lnTo>
                      <a:pt x="59" y="120"/>
                    </a:lnTo>
                    <a:lnTo>
                      <a:pt x="39" y="113"/>
                    </a:lnTo>
                    <a:lnTo>
                      <a:pt x="22" y="104"/>
                    </a:lnTo>
                    <a:lnTo>
                      <a:pt x="10" y="94"/>
                    </a:lnTo>
                    <a:lnTo>
                      <a:pt x="2" y="84"/>
                    </a:lnTo>
                    <a:lnTo>
                      <a:pt x="0" y="74"/>
                    </a:lnTo>
                    <a:close/>
                    <a:moveTo>
                      <a:pt x="0" y="74"/>
                    </a:moveTo>
                    <a:lnTo>
                      <a:pt x="0" y="277"/>
                    </a:lnTo>
                    <a:lnTo>
                      <a:pt x="2" y="288"/>
                    </a:lnTo>
                    <a:lnTo>
                      <a:pt x="10" y="298"/>
                    </a:lnTo>
                    <a:lnTo>
                      <a:pt x="22" y="307"/>
                    </a:lnTo>
                    <a:lnTo>
                      <a:pt x="39" y="316"/>
                    </a:lnTo>
                    <a:lnTo>
                      <a:pt x="59" y="324"/>
                    </a:lnTo>
                    <a:lnTo>
                      <a:pt x="83" y="332"/>
                    </a:lnTo>
                    <a:lnTo>
                      <a:pt x="112" y="339"/>
                    </a:lnTo>
                    <a:lnTo>
                      <a:pt x="144" y="344"/>
                    </a:lnTo>
                    <a:lnTo>
                      <a:pt x="176" y="347"/>
                    </a:lnTo>
                    <a:lnTo>
                      <a:pt x="210" y="350"/>
                    </a:lnTo>
                    <a:lnTo>
                      <a:pt x="247" y="351"/>
                    </a:lnTo>
                    <a:lnTo>
                      <a:pt x="283" y="351"/>
                    </a:lnTo>
                    <a:lnTo>
                      <a:pt x="320" y="350"/>
                    </a:lnTo>
                    <a:lnTo>
                      <a:pt x="354" y="347"/>
                    </a:lnTo>
                    <a:lnTo>
                      <a:pt x="386" y="344"/>
                    </a:lnTo>
                    <a:lnTo>
                      <a:pt x="418" y="339"/>
                    </a:lnTo>
                    <a:lnTo>
                      <a:pt x="446" y="332"/>
                    </a:lnTo>
                    <a:lnTo>
                      <a:pt x="470" y="324"/>
                    </a:lnTo>
                    <a:lnTo>
                      <a:pt x="491" y="316"/>
                    </a:lnTo>
                    <a:lnTo>
                      <a:pt x="508" y="307"/>
                    </a:lnTo>
                    <a:lnTo>
                      <a:pt x="519" y="298"/>
                    </a:lnTo>
                    <a:lnTo>
                      <a:pt x="527" y="288"/>
                    </a:lnTo>
                    <a:lnTo>
                      <a:pt x="530" y="277"/>
                    </a:lnTo>
                    <a:lnTo>
                      <a:pt x="530" y="74"/>
                    </a:lnTo>
                    <a:lnTo>
                      <a:pt x="527" y="63"/>
                    </a:lnTo>
                    <a:lnTo>
                      <a:pt x="519" y="53"/>
                    </a:lnTo>
                    <a:lnTo>
                      <a:pt x="508" y="44"/>
                    </a:lnTo>
                    <a:lnTo>
                      <a:pt x="491" y="35"/>
                    </a:lnTo>
                    <a:lnTo>
                      <a:pt x="470" y="26"/>
                    </a:lnTo>
                    <a:lnTo>
                      <a:pt x="446" y="19"/>
                    </a:lnTo>
                    <a:lnTo>
                      <a:pt x="418" y="12"/>
                    </a:lnTo>
                    <a:lnTo>
                      <a:pt x="386" y="7"/>
                    </a:lnTo>
                    <a:lnTo>
                      <a:pt x="354" y="4"/>
                    </a:lnTo>
                    <a:lnTo>
                      <a:pt x="320" y="1"/>
                    </a:lnTo>
                    <a:lnTo>
                      <a:pt x="283" y="0"/>
                    </a:lnTo>
                    <a:lnTo>
                      <a:pt x="247" y="0"/>
                    </a:lnTo>
                    <a:lnTo>
                      <a:pt x="210" y="1"/>
                    </a:lnTo>
                    <a:lnTo>
                      <a:pt x="176" y="4"/>
                    </a:lnTo>
                    <a:lnTo>
                      <a:pt x="144" y="7"/>
                    </a:lnTo>
                    <a:lnTo>
                      <a:pt x="112" y="12"/>
                    </a:lnTo>
                    <a:lnTo>
                      <a:pt x="83" y="19"/>
                    </a:lnTo>
                    <a:lnTo>
                      <a:pt x="59" y="26"/>
                    </a:lnTo>
                    <a:lnTo>
                      <a:pt x="39" y="35"/>
                    </a:lnTo>
                    <a:lnTo>
                      <a:pt x="22" y="44"/>
                    </a:lnTo>
                    <a:lnTo>
                      <a:pt x="10" y="53"/>
                    </a:lnTo>
                    <a:lnTo>
                      <a:pt x="2" y="63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4" name="Freeform 214"/>
              <p:cNvSpPr>
                <a:spLocks/>
              </p:cNvSpPr>
              <p:nvPr/>
            </p:nvSpPr>
            <p:spPr bwMode="auto">
              <a:xfrm>
                <a:off x="4062" y="1452"/>
                <a:ext cx="447" cy="73"/>
              </a:xfrm>
              <a:custGeom>
                <a:avLst/>
                <a:gdLst>
                  <a:gd name="T0" fmla="*/ 447 w 447"/>
                  <a:gd name="T1" fmla="*/ 0 h 73"/>
                  <a:gd name="T2" fmla="*/ 447 w 447"/>
                  <a:gd name="T3" fmla="*/ 0 h 73"/>
                  <a:gd name="T4" fmla="*/ 444 w 447"/>
                  <a:gd name="T5" fmla="*/ 10 h 73"/>
                  <a:gd name="T6" fmla="*/ 436 w 447"/>
                  <a:gd name="T7" fmla="*/ 20 h 73"/>
                  <a:gd name="T8" fmla="*/ 425 w 447"/>
                  <a:gd name="T9" fmla="*/ 29 h 73"/>
                  <a:gd name="T10" fmla="*/ 408 w 447"/>
                  <a:gd name="T11" fmla="*/ 39 h 73"/>
                  <a:gd name="T12" fmla="*/ 387 w 447"/>
                  <a:gd name="T13" fmla="*/ 46 h 73"/>
                  <a:gd name="T14" fmla="*/ 363 w 447"/>
                  <a:gd name="T15" fmla="*/ 54 h 73"/>
                  <a:gd name="T16" fmla="*/ 335 w 447"/>
                  <a:gd name="T17" fmla="*/ 61 h 73"/>
                  <a:gd name="T18" fmla="*/ 303 w 447"/>
                  <a:gd name="T19" fmla="*/ 66 h 73"/>
                  <a:gd name="T20" fmla="*/ 271 w 447"/>
                  <a:gd name="T21" fmla="*/ 70 h 73"/>
                  <a:gd name="T22" fmla="*/ 237 w 447"/>
                  <a:gd name="T23" fmla="*/ 73 h 73"/>
                  <a:gd name="T24" fmla="*/ 200 w 447"/>
                  <a:gd name="T25" fmla="*/ 73 h 73"/>
                  <a:gd name="T26" fmla="*/ 164 w 447"/>
                  <a:gd name="T27" fmla="*/ 73 h 73"/>
                  <a:gd name="T28" fmla="*/ 129 w 447"/>
                  <a:gd name="T29" fmla="*/ 73 h 73"/>
                  <a:gd name="T30" fmla="*/ 94 w 447"/>
                  <a:gd name="T31" fmla="*/ 70 h 73"/>
                  <a:gd name="T32" fmla="*/ 61 w 447"/>
                  <a:gd name="T33" fmla="*/ 66 h 73"/>
                  <a:gd name="T34" fmla="*/ 29 w 447"/>
                  <a:gd name="T35" fmla="*/ 61 h 73"/>
                  <a:gd name="T36" fmla="*/ 0 w 447"/>
                  <a:gd name="T37" fmla="*/ 55 h 73"/>
                  <a:gd name="T38" fmla="*/ 29 w 447"/>
                  <a:gd name="T39" fmla="*/ 61 h 73"/>
                  <a:gd name="T40" fmla="*/ 61 w 447"/>
                  <a:gd name="T41" fmla="*/ 66 h 73"/>
                  <a:gd name="T42" fmla="*/ 94 w 447"/>
                  <a:gd name="T43" fmla="*/ 70 h 73"/>
                  <a:gd name="T44" fmla="*/ 129 w 447"/>
                  <a:gd name="T45" fmla="*/ 73 h 73"/>
                  <a:gd name="T46" fmla="*/ 164 w 447"/>
                  <a:gd name="T47" fmla="*/ 73 h 73"/>
                  <a:gd name="T48" fmla="*/ 200 w 447"/>
                  <a:gd name="T49" fmla="*/ 73 h 73"/>
                  <a:gd name="T50" fmla="*/ 237 w 447"/>
                  <a:gd name="T51" fmla="*/ 73 h 73"/>
                  <a:gd name="T52" fmla="*/ 271 w 447"/>
                  <a:gd name="T53" fmla="*/ 70 h 73"/>
                  <a:gd name="T54" fmla="*/ 303 w 447"/>
                  <a:gd name="T55" fmla="*/ 66 h 73"/>
                  <a:gd name="T56" fmla="*/ 335 w 447"/>
                  <a:gd name="T57" fmla="*/ 61 h 73"/>
                  <a:gd name="T58" fmla="*/ 363 w 447"/>
                  <a:gd name="T59" fmla="*/ 54 h 73"/>
                  <a:gd name="T60" fmla="*/ 387 w 447"/>
                  <a:gd name="T61" fmla="*/ 46 h 73"/>
                  <a:gd name="T62" fmla="*/ 408 w 447"/>
                  <a:gd name="T63" fmla="*/ 39 h 73"/>
                  <a:gd name="T64" fmla="*/ 425 w 447"/>
                  <a:gd name="T65" fmla="*/ 29 h 73"/>
                  <a:gd name="T66" fmla="*/ 436 w 447"/>
                  <a:gd name="T67" fmla="*/ 20 h 73"/>
                  <a:gd name="T68" fmla="*/ 444 w 447"/>
                  <a:gd name="T69" fmla="*/ 10 h 73"/>
                  <a:gd name="T70" fmla="*/ 447 w 447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47"/>
                  <a:gd name="T109" fmla="*/ 0 h 73"/>
                  <a:gd name="T110" fmla="*/ 447 w 447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47" h="73">
                    <a:moveTo>
                      <a:pt x="447" y="0"/>
                    </a:moveTo>
                    <a:lnTo>
                      <a:pt x="447" y="0"/>
                    </a:lnTo>
                    <a:lnTo>
                      <a:pt x="444" y="10"/>
                    </a:lnTo>
                    <a:lnTo>
                      <a:pt x="436" y="20"/>
                    </a:lnTo>
                    <a:lnTo>
                      <a:pt x="425" y="29"/>
                    </a:lnTo>
                    <a:lnTo>
                      <a:pt x="408" y="39"/>
                    </a:lnTo>
                    <a:lnTo>
                      <a:pt x="387" y="46"/>
                    </a:lnTo>
                    <a:lnTo>
                      <a:pt x="363" y="54"/>
                    </a:lnTo>
                    <a:lnTo>
                      <a:pt x="335" y="61"/>
                    </a:lnTo>
                    <a:lnTo>
                      <a:pt x="303" y="66"/>
                    </a:lnTo>
                    <a:lnTo>
                      <a:pt x="271" y="70"/>
                    </a:lnTo>
                    <a:lnTo>
                      <a:pt x="237" y="73"/>
                    </a:lnTo>
                    <a:lnTo>
                      <a:pt x="200" y="73"/>
                    </a:lnTo>
                    <a:lnTo>
                      <a:pt x="164" y="73"/>
                    </a:lnTo>
                    <a:lnTo>
                      <a:pt x="129" y="73"/>
                    </a:lnTo>
                    <a:lnTo>
                      <a:pt x="94" y="70"/>
                    </a:lnTo>
                    <a:lnTo>
                      <a:pt x="61" y="66"/>
                    </a:lnTo>
                    <a:lnTo>
                      <a:pt x="29" y="61"/>
                    </a:lnTo>
                    <a:lnTo>
                      <a:pt x="0" y="55"/>
                    </a:lnTo>
                    <a:lnTo>
                      <a:pt x="29" y="61"/>
                    </a:lnTo>
                    <a:lnTo>
                      <a:pt x="61" y="66"/>
                    </a:lnTo>
                    <a:lnTo>
                      <a:pt x="94" y="70"/>
                    </a:lnTo>
                    <a:lnTo>
                      <a:pt x="129" y="73"/>
                    </a:lnTo>
                    <a:lnTo>
                      <a:pt x="164" y="73"/>
                    </a:lnTo>
                    <a:lnTo>
                      <a:pt x="200" y="73"/>
                    </a:lnTo>
                    <a:lnTo>
                      <a:pt x="237" y="73"/>
                    </a:lnTo>
                    <a:lnTo>
                      <a:pt x="271" y="70"/>
                    </a:lnTo>
                    <a:lnTo>
                      <a:pt x="303" y="66"/>
                    </a:lnTo>
                    <a:lnTo>
                      <a:pt x="335" y="61"/>
                    </a:lnTo>
                    <a:lnTo>
                      <a:pt x="363" y="54"/>
                    </a:lnTo>
                    <a:lnTo>
                      <a:pt x="387" y="46"/>
                    </a:lnTo>
                    <a:lnTo>
                      <a:pt x="408" y="39"/>
                    </a:lnTo>
                    <a:lnTo>
                      <a:pt x="425" y="29"/>
                    </a:lnTo>
                    <a:lnTo>
                      <a:pt x="436" y="20"/>
                    </a:lnTo>
                    <a:lnTo>
                      <a:pt x="444" y="10"/>
                    </a:lnTo>
                    <a:lnTo>
                      <a:pt x="447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5" name="Freeform 215"/>
              <p:cNvSpPr>
                <a:spLocks/>
              </p:cNvSpPr>
              <p:nvPr/>
            </p:nvSpPr>
            <p:spPr bwMode="auto">
              <a:xfrm>
                <a:off x="3979" y="1452"/>
                <a:ext cx="83" cy="55"/>
              </a:xfrm>
              <a:custGeom>
                <a:avLst/>
                <a:gdLst>
                  <a:gd name="T0" fmla="*/ 0 w 83"/>
                  <a:gd name="T1" fmla="*/ 0 h 55"/>
                  <a:gd name="T2" fmla="*/ 2 w 83"/>
                  <a:gd name="T3" fmla="*/ 10 h 55"/>
                  <a:gd name="T4" fmla="*/ 10 w 83"/>
                  <a:gd name="T5" fmla="*/ 20 h 55"/>
                  <a:gd name="T6" fmla="*/ 22 w 83"/>
                  <a:gd name="T7" fmla="*/ 30 h 55"/>
                  <a:gd name="T8" fmla="*/ 39 w 83"/>
                  <a:gd name="T9" fmla="*/ 39 h 55"/>
                  <a:gd name="T10" fmla="*/ 59 w 83"/>
                  <a:gd name="T11" fmla="*/ 46 h 55"/>
                  <a:gd name="T12" fmla="*/ 83 w 83"/>
                  <a:gd name="T13" fmla="*/ 55 h 55"/>
                  <a:gd name="T14" fmla="*/ 59 w 83"/>
                  <a:gd name="T15" fmla="*/ 46 h 55"/>
                  <a:gd name="T16" fmla="*/ 39 w 83"/>
                  <a:gd name="T17" fmla="*/ 39 h 55"/>
                  <a:gd name="T18" fmla="*/ 22 w 83"/>
                  <a:gd name="T19" fmla="*/ 30 h 55"/>
                  <a:gd name="T20" fmla="*/ 10 w 83"/>
                  <a:gd name="T21" fmla="*/ 20 h 55"/>
                  <a:gd name="T22" fmla="*/ 2 w 83"/>
                  <a:gd name="T23" fmla="*/ 10 h 55"/>
                  <a:gd name="T24" fmla="*/ 0 w 83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3"/>
                  <a:gd name="T40" fmla="*/ 0 h 55"/>
                  <a:gd name="T41" fmla="*/ 83 w 83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3" h="55">
                    <a:moveTo>
                      <a:pt x="0" y="0"/>
                    </a:moveTo>
                    <a:lnTo>
                      <a:pt x="2" y="10"/>
                    </a:lnTo>
                    <a:lnTo>
                      <a:pt x="10" y="20"/>
                    </a:lnTo>
                    <a:lnTo>
                      <a:pt x="22" y="30"/>
                    </a:lnTo>
                    <a:lnTo>
                      <a:pt x="39" y="39"/>
                    </a:lnTo>
                    <a:lnTo>
                      <a:pt x="59" y="46"/>
                    </a:lnTo>
                    <a:lnTo>
                      <a:pt x="83" y="55"/>
                    </a:lnTo>
                    <a:lnTo>
                      <a:pt x="59" y="46"/>
                    </a:lnTo>
                    <a:lnTo>
                      <a:pt x="39" y="39"/>
                    </a:lnTo>
                    <a:lnTo>
                      <a:pt x="22" y="30"/>
                    </a:lnTo>
                    <a:lnTo>
                      <a:pt x="10" y="20"/>
                    </a:lnTo>
                    <a:lnTo>
                      <a:pt x="2" y="10"/>
                    </a:lnTo>
                    <a:lnTo>
                      <a:pt x="0" y="0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6" name="Freeform 216"/>
              <p:cNvSpPr>
                <a:spLocks/>
              </p:cNvSpPr>
              <p:nvPr/>
            </p:nvSpPr>
            <p:spPr bwMode="auto">
              <a:xfrm>
                <a:off x="3979" y="1378"/>
                <a:ext cx="530" cy="351"/>
              </a:xfrm>
              <a:custGeom>
                <a:avLst/>
                <a:gdLst>
                  <a:gd name="T0" fmla="*/ 0 w 530"/>
                  <a:gd name="T1" fmla="*/ 74 h 351"/>
                  <a:gd name="T2" fmla="*/ 0 w 530"/>
                  <a:gd name="T3" fmla="*/ 277 h 351"/>
                  <a:gd name="T4" fmla="*/ 2 w 530"/>
                  <a:gd name="T5" fmla="*/ 288 h 351"/>
                  <a:gd name="T6" fmla="*/ 10 w 530"/>
                  <a:gd name="T7" fmla="*/ 298 h 351"/>
                  <a:gd name="T8" fmla="*/ 22 w 530"/>
                  <a:gd name="T9" fmla="*/ 307 h 351"/>
                  <a:gd name="T10" fmla="*/ 39 w 530"/>
                  <a:gd name="T11" fmla="*/ 316 h 351"/>
                  <a:gd name="T12" fmla="*/ 59 w 530"/>
                  <a:gd name="T13" fmla="*/ 324 h 351"/>
                  <a:gd name="T14" fmla="*/ 83 w 530"/>
                  <a:gd name="T15" fmla="*/ 332 h 351"/>
                  <a:gd name="T16" fmla="*/ 112 w 530"/>
                  <a:gd name="T17" fmla="*/ 339 h 351"/>
                  <a:gd name="T18" fmla="*/ 144 w 530"/>
                  <a:gd name="T19" fmla="*/ 344 h 351"/>
                  <a:gd name="T20" fmla="*/ 176 w 530"/>
                  <a:gd name="T21" fmla="*/ 347 h 351"/>
                  <a:gd name="T22" fmla="*/ 210 w 530"/>
                  <a:gd name="T23" fmla="*/ 350 h 351"/>
                  <a:gd name="T24" fmla="*/ 247 w 530"/>
                  <a:gd name="T25" fmla="*/ 351 h 351"/>
                  <a:gd name="T26" fmla="*/ 283 w 530"/>
                  <a:gd name="T27" fmla="*/ 351 h 351"/>
                  <a:gd name="T28" fmla="*/ 320 w 530"/>
                  <a:gd name="T29" fmla="*/ 350 h 351"/>
                  <a:gd name="T30" fmla="*/ 354 w 530"/>
                  <a:gd name="T31" fmla="*/ 347 h 351"/>
                  <a:gd name="T32" fmla="*/ 386 w 530"/>
                  <a:gd name="T33" fmla="*/ 344 h 351"/>
                  <a:gd name="T34" fmla="*/ 418 w 530"/>
                  <a:gd name="T35" fmla="*/ 339 h 351"/>
                  <a:gd name="T36" fmla="*/ 446 w 530"/>
                  <a:gd name="T37" fmla="*/ 332 h 351"/>
                  <a:gd name="T38" fmla="*/ 470 w 530"/>
                  <a:gd name="T39" fmla="*/ 324 h 351"/>
                  <a:gd name="T40" fmla="*/ 491 w 530"/>
                  <a:gd name="T41" fmla="*/ 316 h 351"/>
                  <a:gd name="T42" fmla="*/ 508 w 530"/>
                  <a:gd name="T43" fmla="*/ 307 h 351"/>
                  <a:gd name="T44" fmla="*/ 519 w 530"/>
                  <a:gd name="T45" fmla="*/ 298 h 351"/>
                  <a:gd name="T46" fmla="*/ 527 w 530"/>
                  <a:gd name="T47" fmla="*/ 288 h 351"/>
                  <a:gd name="T48" fmla="*/ 530 w 530"/>
                  <a:gd name="T49" fmla="*/ 277 h 351"/>
                  <a:gd name="T50" fmla="*/ 530 w 530"/>
                  <a:gd name="T51" fmla="*/ 74 h 351"/>
                  <a:gd name="T52" fmla="*/ 527 w 530"/>
                  <a:gd name="T53" fmla="*/ 63 h 351"/>
                  <a:gd name="T54" fmla="*/ 519 w 530"/>
                  <a:gd name="T55" fmla="*/ 53 h 351"/>
                  <a:gd name="T56" fmla="*/ 508 w 530"/>
                  <a:gd name="T57" fmla="*/ 44 h 351"/>
                  <a:gd name="T58" fmla="*/ 491 w 530"/>
                  <a:gd name="T59" fmla="*/ 35 h 351"/>
                  <a:gd name="T60" fmla="*/ 470 w 530"/>
                  <a:gd name="T61" fmla="*/ 26 h 351"/>
                  <a:gd name="T62" fmla="*/ 446 w 530"/>
                  <a:gd name="T63" fmla="*/ 19 h 351"/>
                  <a:gd name="T64" fmla="*/ 418 w 530"/>
                  <a:gd name="T65" fmla="*/ 12 h 351"/>
                  <a:gd name="T66" fmla="*/ 386 w 530"/>
                  <a:gd name="T67" fmla="*/ 7 h 351"/>
                  <a:gd name="T68" fmla="*/ 354 w 530"/>
                  <a:gd name="T69" fmla="*/ 4 h 351"/>
                  <a:gd name="T70" fmla="*/ 320 w 530"/>
                  <a:gd name="T71" fmla="*/ 1 h 351"/>
                  <a:gd name="T72" fmla="*/ 283 w 530"/>
                  <a:gd name="T73" fmla="*/ 0 h 351"/>
                  <a:gd name="T74" fmla="*/ 247 w 530"/>
                  <a:gd name="T75" fmla="*/ 0 h 351"/>
                  <a:gd name="T76" fmla="*/ 210 w 530"/>
                  <a:gd name="T77" fmla="*/ 1 h 351"/>
                  <a:gd name="T78" fmla="*/ 176 w 530"/>
                  <a:gd name="T79" fmla="*/ 4 h 351"/>
                  <a:gd name="T80" fmla="*/ 144 w 530"/>
                  <a:gd name="T81" fmla="*/ 7 h 351"/>
                  <a:gd name="T82" fmla="*/ 112 w 530"/>
                  <a:gd name="T83" fmla="*/ 12 h 351"/>
                  <a:gd name="T84" fmla="*/ 83 w 530"/>
                  <a:gd name="T85" fmla="*/ 19 h 351"/>
                  <a:gd name="T86" fmla="*/ 59 w 530"/>
                  <a:gd name="T87" fmla="*/ 26 h 351"/>
                  <a:gd name="T88" fmla="*/ 39 w 530"/>
                  <a:gd name="T89" fmla="*/ 35 h 351"/>
                  <a:gd name="T90" fmla="*/ 22 w 530"/>
                  <a:gd name="T91" fmla="*/ 44 h 351"/>
                  <a:gd name="T92" fmla="*/ 10 w 530"/>
                  <a:gd name="T93" fmla="*/ 53 h 351"/>
                  <a:gd name="T94" fmla="*/ 2 w 530"/>
                  <a:gd name="T95" fmla="*/ 63 h 351"/>
                  <a:gd name="T96" fmla="*/ 0 w 530"/>
                  <a:gd name="T97" fmla="*/ 74 h 35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30"/>
                  <a:gd name="T148" fmla="*/ 0 h 351"/>
                  <a:gd name="T149" fmla="*/ 530 w 530"/>
                  <a:gd name="T150" fmla="*/ 351 h 35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30" h="351">
                    <a:moveTo>
                      <a:pt x="0" y="74"/>
                    </a:moveTo>
                    <a:lnTo>
                      <a:pt x="0" y="277"/>
                    </a:lnTo>
                    <a:lnTo>
                      <a:pt x="2" y="288"/>
                    </a:lnTo>
                    <a:lnTo>
                      <a:pt x="10" y="298"/>
                    </a:lnTo>
                    <a:lnTo>
                      <a:pt x="22" y="307"/>
                    </a:lnTo>
                    <a:lnTo>
                      <a:pt x="39" y="316"/>
                    </a:lnTo>
                    <a:lnTo>
                      <a:pt x="59" y="324"/>
                    </a:lnTo>
                    <a:lnTo>
                      <a:pt x="83" y="332"/>
                    </a:lnTo>
                    <a:lnTo>
                      <a:pt x="112" y="339"/>
                    </a:lnTo>
                    <a:lnTo>
                      <a:pt x="144" y="344"/>
                    </a:lnTo>
                    <a:lnTo>
                      <a:pt x="176" y="347"/>
                    </a:lnTo>
                    <a:lnTo>
                      <a:pt x="210" y="350"/>
                    </a:lnTo>
                    <a:lnTo>
                      <a:pt x="247" y="351"/>
                    </a:lnTo>
                    <a:lnTo>
                      <a:pt x="283" y="351"/>
                    </a:lnTo>
                    <a:lnTo>
                      <a:pt x="320" y="350"/>
                    </a:lnTo>
                    <a:lnTo>
                      <a:pt x="354" y="347"/>
                    </a:lnTo>
                    <a:lnTo>
                      <a:pt x="386" y="344"/>
                    </a:lnTo>
                    <a:lnTo>
                      <a:pt x="418" y="339"/>
                    </a:lnTo>
                    <a:lnTo>
                      <a:pt x="446" y="332"/>
                    </a:lnTo>
                    <a:lnTo>
                      <a:pt x="470" y="324"/>
                    </a:lnTo>
                    <a:lnTo>
                      <a:pt x="491" y="316"/>
                    </a:lnTo>
                    <a:lnTo>
                      <a:pt x="508" y="307"/>
                    </a:lnTo>
                    <a:lnTo>
                      <a:pt x="519" y="298"/>
                    </a:lnTo>
                    <a:lnTo>
                      <a:pt x="527" y="288"/>
                    </a:lnTo>
                    <a:lnTo>
                      <a:pt x="530" y="277"/>
                    </a:lnTo>
                    <a:lnTo>
                      <a:pt x="530" y="74"/>
                    </a:lnTo>
                    <a:lnTo>
                      <a:pt x="527" y="63"/>
                    </a:lnTo>
                    <a:lnTo>
                      <a:pt x="519" y="53"/>
                    </a:lnTo>
                    <a:lnTo>
                      <a:pt x="508" y="44"/>
                    </a:lnTo>
                    <a:lnTo>
                      <a:pt x="491" y="35"/>
                    </a:lnTo>
                    <a:lnTo>
                      <a:pt x="470" y="26"/>
                    </a:lnTo>
                    <a:lnTo>
                      <a:pt x="446" y="19"/>
                    </a:lnTo>
                    <a:lnTo>
                      <a:pt x="418" y="12"/>
                    </a:lnTo>
                    <a:lnTo>
                      <a:pt x="386" y="7"/>
                    </a:lnTo>
                    <a:lnTo>
                      <a:pt x="354" y="4"/>
                    </a:lnTo>
                    <a:lnTo>
                      <a:pt x="320" y="1"/>
                    </a:lnTo>
                    <a:lnTo>
                      <a:pt x="283" y="0"/>
                    </a:lnTo>
                    <a:lnTo>
                      <a:pt x="247" y="0"/>
                    </a:lnTo>
                    <a:lnTo>
                      <a:pt x="210" y="1"/>
                    </a:lnTo>
                    <a:lnTo>
                      <a:pt x="176" y="4"/>
                    </a:lnTo>
                    <a:lnTo>
                      <a:pt x="144" y="7"/>
                    </a:lnTo>
                    <a:lnTo>
                      <a:pt x="112" y="12"/>
                    </a:lnTo>
                    <a:lnTo>
                      <a:pt x="83" y="19"/>
                    </a:lnTo>
                    <a:lnTo>
                      <a:pt x="59" y="26"/>
                    </a:lnTo>
                    <a:lnTo>
                      <a:pt x="39" y="35"/>
                    </a:lnTo>
                    <a:lnTo>
                      <a:pt x="22" y="44"/>
                    </a:lnTo>
                    <a:lnTo>
                      <a:pt x="10" y="53"/>
                    </a:lnTo>
                    <a:lnTo>
                      <a:pt x="2" y="63"/>
                    </a:lnTo>
                    <a:lnTo>
                      <a:pt x="0" y="74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217"/>
            <p:cNvGrpSpPr>
              <a:grpSpLocks/>
            </p:cNvGrpSpPr>
            <p:nvPr/>
          </p:nvGrpSpPr>
          <p:grpSpPr bwMode="auto">
            <a:xfrm>
              <a:off x="3980" y="1378"/>
              <a:ext cx="529" cy="148"/>
              <a:chOff x="3980" y="1378"/>
              <a:chExt cx="529" cy="148"/>
            </a:xfrm>
          </p:grpSpPr>
          <p:sp>
            <p:nvSpPr>
              <p:cNvPr id="28731" name="Freeform 218"/>
              <p:cNvSpPr>
                <a:spLocks/>
              </p:cNvSpPr>
              <p:nvPr/>
            </p:nvSpPr>
            <p:spPr bwMode="auto">
              <a:xfrm>
                <a:off x="3980" y="1378"/>
                <a:ext cx="529" cy="148"/>
              </a:xfrm>
              <a:custGeom>
                <a:avLst/>
                <a:gdLst>
                  <a:gd name="T0" fmla="*/ 529 w 529"/>
                  <a:gd name="T1" fmla="*/ 74 h 148"/>
                  <a:gd name="T2" fmla="*/ 526 w 529"/>
                  <a:gd name="T3" fmla="*/ 84 h 148"/>
                  <a:gd name="T4" fmla="*/ 518 w 529"/>
                  <a:gd name="T5" fmla="*/ 94 h 148"/>
                  <a:gd name="T6" fmla="*/ 506 w 529"/>
                  <a:gd name="T7" fmla="*/ 104 h 148"/>
                  <a:gd name="T8" fmla="*/ 489 w 529"/>
                  <a:gd name="T9" fmla="*/ 113 h 148"/>
                  <a:gd name="T10" fmla="*/ 467 w 529"/>
                  <a:gd name="T11" fmla="*/ 121 h 148"/>
                  <a:gd name="T12" fmla="*/ 441 w 529"/>
                  <a:gd name="T13" fmla="*/ 129 h 148"/>
                  <a:gd name="T14" fmla="*/ 412 w 529"/>
                  <a:gd name="T15" fmla="*/ 136 h 148"/>
                  <a:gd name="T16" fmla="*/ 380 w 529"/>
                  <a:gd name="T17" fmla="*/ 141 h 148"/>
                  <a:gd name="T18" fmla="*/ 345 w 529"/>
                  <a:gd name="T19" fmla="*/ 145 h 148"/>
                  <a:gd name="T20" fmla="*/ 311 w 529"/>
                  <a:gd name="T21" fmla="*/ 147 h 148"/>
                  <a:gd name="T22" fmla="*/ 273 w 529"/>
                  <a:gd name="T23" fmla="*/ 148 h 148"/>
                  <a:gd name="T24" fmla="*/ 236 w 529"/>
                  <a:gd name="T25" fmla="*/ 147 h 148"/>
                  <a:gd name="T26" fmla="*/ 199 w 529"/>
                  <a:gd name="T27" fmla="*/ 146 h 148"/>
                  <a:gd name="T28" fmla="*/ 164 w 529"/>
                  <a:gd name="T29" fmla="*/ 143 h 148"/>
                  <a:gd name="T30" fmla="*/ 132 w 529"/>
                  <a:gd name="T31" fmla="*/ 139 h 148"/>
                  <a:gd name="T32" fmla="*/ 100 w 529"/>
                  <a:gd name="T33" fmla="*/ 133 h 148"/>
                  <a:gd name="T34" fmla="*/ 74 w 529"/>
                  <a:gd name="T35" fmla="*/ 125 h 148"/>
                  <a:gd name="T36" fmla="*/ 49 w 529"/>
                  <a:gd name="T37" fmla="*/ 118 h 148"/>
                  <a:gd name="T38" fmla="*/ 30 w 529"/>
                  <a:gd name="T39" fmla="*/ 109 h 148"/>
                  <a:gd name="T40" fmla="*/ 16 w 529"/>
                  <a:gd name="T41" fmla="*/ 99 h 148"/>
                  <a:gd name="T42" fmla="*/ 6 w 529"/>
                  <a:gd name="T43" fmla="*/ 89 h 148"/>
                  <a:gd name="T44" fmla="*/ 0 w 529"/>
                  <a:gd name="T45" fmla="*/ 79 h 148"/>
                  <a:gd name="T46" fmla="*/ 0 w 529"/>
                  <a:gd name="T47" fmla="*/ 68 h 148"/>
                  <a:gd name="T48" fmla="*/ 6 w 529"/>
                  <a:gd name="T49" fmla="*/ 58 h 148"/>
                  <a:gd name="T50" fmla="*/ 16 w 529"/>
                  <a:gd name="T51" fmla="*/ 48 h 148"/>
                  <a:gd name="T52" fmla="*/ 30 w 529"/>
                  <a:gd name="T53" fmla="*/ 38 h 148"/>
                  <a:gd name="T54" fmla="*/ 49 w 529"/>
                  <a:gd name="T55" fmla="*/ 30 h 148"/>
                  <a:gd name="T56" fmla="*/ 74 w 529"/>
                  <a:gd name="T57" fmla="*/ 21 h 148"/>
                  <a:gd name="T58" fmla="*/ 100 w 529"/>
                  <a:gd name="T59" fmla="*/ 14 h 148"/>
                  <a:gd name="T60" fmla="*/ 132 w 529"/>
                  <a:gd name="T61" fmla="*/ 9 h 148"/>
                  <a:gd name="T62" fmla="*/ 164 w 529"/>
                  <a:gd name="T63" fmla="*/ 5 h 148"/>
                  <a:gd name="T64" fmla="*/ 199 w 529"/>
                  <a:gd name="T65" fmla="*/ 2 h 148"/>
                  <a:gd name="T66" fmla="*/ 236 w 529"/>
                  <a:gd name="T67" fmla="*/ 0 h 148"/>
                  <a:gd name="T68" fmla="*/ 273 w 529"/>
                  <a:gd name="T69" fmla="*/ 0 h 148"/>
                  <a:gd name="T70" fmla="*/ 311 w 529"/>
                  <a:gd name="T71" fmla="*/ 1 h 148"/>
                  <a:gd name="T72" fmla="*/ 345 w 529"/>
                  <a:gd name="T73" fmla="*/ 3 h 148"/>
                  <a:gd name="T74" fmla="*/ 380 w 529"/>
                  <a:gd name="T75" fmla="*/ 6 h 148"/>
                  <a:gd name="T76" fmla="*/ 412 w 529"/>
                  <a:gd name="T77" fmla="*/ 11 h 148"/>
                  <a:gd name="T78" fmla="*/ 441 w 529"/>
                  <a:gd name="T79" fmla="*/ 18 h 148"/>
                  <a:gd name="T80" fmla="*/ 467 w 529"/>
                  <a:gd name="T81" fmla="*/ 25 h 148"/>
                  <a:gd name="T82" fmla="*/ 489 w 529"/>
                  <a:gd name="T83" fmla="*/ 34 h 148"/>
                  <a:gd name="T84" fmla="*/ 506 w 529"/>
                  <a:gd name="T85" fmla="*/ 43 h 148"/>
                  <a:gd name="T86" fmla="*/ 518 w 529"/>
                  <a:gd name="T87" fmla="*/ 53 h 148"/>
                  <a:gd name="T88" fmla="*/ 526 w 529"/>
                  <a:gd name="T89" fmla="*/ 63 h 148"/>
                  <a:gd name="T90" fmla="*/ 529 w 529"/>
                  <a:gd name="T91" fmla="*/ 74 h 1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29"/>
                  <a:gd name="T139" fmla="*/ 0 h 148"/>
                  <a:gd name="T140" fmla="*/ 529 w 529"/>
                  <a:gd name="T141" fmla="*/ 148 h 1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29" h="148">
                    <a:moveTo>
                      <a:pt x="529" y="74"/>
                    </a:moveTo>
                    <a:lnTo>
                      <a:pt x="526" y="84"/>
                    </a:lnTo>
                    <a:lnTo>
                      <a:pt x="518" y="94"/>
                    </a:lnTo>
                    <a:lnTo>
                      <a:pt x="506" y="104"/>
                    </a:lnTo>
                    <a:lnTo>
                      <a:pt x="489" y="113"/>
                    </a:lnTo>
                    <a:lnTo>
                      <a:pt x="467" y="121"/>
                    </a:lnTo>
                    <a:lnTo>
                      <a:pt x="441" y="129"/>
                    </a:lnTo>
                    <a:lnTo>
                      <a:pt x="412" y="136"/>
                    </a:lnTo>
                    <a:lnTo>
                      <a:pt x="380" y="141"/>
                    </a:lnTo>
                    <a:lnTo>
                      <a:pt x="345" y="145"/>
                    </a:lnTo>
                    <a:lnTo>
                      <a:pt x="311" y="147"/>
                    </a:lnTo>
                    <a:lnTo>
                      <a:pt x="273" y="148"/>
                    </a:lnTo>
                    <a:lnTo>
                      <a:pt x="236" y="147"/>
                    </a:lnTo>
                    <a:lnTo>
                      <a:pt x="199" y="146"/>
                    </a:lnTo>
                    <a:lnTo>
                      <a:pt x="164" y="143"/>
                    </a:lnTo>
                    <a:lnTo>
                      <a:pt x="132" y="139"/>
                    </a:lnTo>
                    <a:lnTo>
                      <a:pt x="100" y="133"/>
                    </a:lnTo>
                    <a:lnTo>
                      <a:pt x="74" y="125"/>
                    </a:lnTo>
                    <a:lnTo>
                      <a:pt x="49" y="118"/>
                    </a:lnTo>
                    <a:lnTo>
                      <a:pt x="30" y="109"/>
                    </a:lnTo>
                    <a:lnTo>
                      <a:pt x="16" y="99"/>
                    </a:lnTo>
                    <a:lnTo>
                      <a:pt x="6" y="89"/>
                    </a:lnTo>
                    <a:lnTo>
                      <a:pt x="0" y="79"/>
                    </a:lnTo>
                    <a:lnTo>
                      <a:pt x="0" y="68"/>
                    </a:lnTo>
                    <a:lnTo>
                      <a:pt x="6" y="58"/>
                    </a:lnTo>
                    <a:lnTo>
                      <a:pt x="16" y="48"/>
                    </a:lnTo>
                    <a:lnTo>
                      <a:pt x="30" y="38"/>
                    </a:lnTo>
                    <a:lnTo>
                      <a:pt x="49" y="30"/>
                    </a:lnTo>
                    <a:lnTo>
                      <a:pt x="74" y="21"/>
                    </a:lnTo>
                    <a:lnTo>
                      <a:pt x="100" y="14"/>
                    </a:lnTo>
                    <a:lnTo>
                      <a:pt x="132" y="9"/>
                    </a:lnTo>
                    <a:lnTo>
                      <a:pt x="164" y="5"/>
                    </a:lnTo>
                    <a:lnTo>
                      <a:pt x="199" y="2"/>
                    </a:lnTo>
                    <a:lnTo>
                      <a:pt x="236" y="0"/>
                    </a:lnTo>
                    <a:lnTo>
                      <a:pt x="273" y="0"/>
                    </a:lnTo>
                    <a:lnTo>
                      <a:pt x="311" y="1"/>
                    </a:lnTo>
                    <a:lnTo>
                      <a:pt x="345" y="3"/>
                    </a:lnTo>
                    <a:lnTo>
                      <a:pt x="380" y="6"/>
                    </a:lnTo>
                    <a:lnTo>
                      <a:pt x="412" y="11"/>
                    </a:lnTo>
                    <a:lnTo>
                      <a:pt x="441" y="18"/>
                    </a:lnTo>
                    <a:lnTo>
                      <a:pt x="467" y="25"/>
                    </a:lnTo>
                    <a:lnTo>
                      <a:pt x="489" y="34"/>
                    </a:lnTo>
                    <a:lnTo>
                      <a:pt x="506" y="43"/>
                    </a:lnTo>
                    <a:lnTo>
                      <a:pt x="518" y="53"/>
                    </a:lnTo>
                    <a:lnTo>
                      <a:pt x="526" y="63"/>
                    </a:lnTo>
                    <a:lnTo>
                      <a:pt x="529" y="74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2" name="Freeform 219"/>
              <p:cNvSpPr>
                <a:spLocks/>
              </p:cNvSpPr>
              <p:nvPr/>
            </p:nvSpPr>
            <p:spPr bwMode="auto">
              <a:xfrm>
                <a:off x="3980" y="1378"/>
                <a:ext cx="529" cy="148"/>
              </a:xfrm>
              <a:custGeom>
                <a:avLst/>
                <a:gdLst>
                  <a:gd name="T0" fmla="*/ 529 w 529"/>
                  <a:gd name="T1" fmla="*/ 74 h 148"/>
                  <a:gd name="T2" fmla="*/ 526 w 529"/>
                  <a:gd name="T3" fmla="*/ 84 h 148"/>
                  <a:gd name="T4" fmla="*/ 518 w 529"/>
                  <a:gd name="T5" fmla="*/ 94 h 148"/>
                  <a:gd name="T6" fmla="*/ 506 w 529"/>
                  <a:gd name="T7" fmla="*/ 104 h 148"/>
                  <a:gd name="T8" fmla="*/ 489 w 529"/>
                  <a:gd name="T9" fmla="*/ 113 h 148"/>
                  <a:gd name="T10" fmla="*/ 467 w 529"/>
                  <a:gd name="T11" fmla="*/ 121 h 148"/>
                  <a:gd name="T12" fmla="*/ 441 w 529"/>
                  <a:gd name="T13" fmla="*/ 129 h 148"/>
                  <a:gd name="T14" fmla="*/ 412 w 529"/>
                  <a:gd name="T15" fmla="*/ 136 h 148"/>
                  <a:gd name="T16" fmla="*/ 380 w 529"/>
                  <a:gd name="T17" fmla="*/ 141 h 148"/>
                  <a:gd name="T18" fmla="*/ 345 w 529"/>
                  <a:gd name="T19" fmla="*/ 145 h 148"/>
                  <a:gd name="T20" fmla="*/ 311 w 529"/>
                  <a:gd name="T21" fmla="*/ 147 h 148"/>
                  <a:gd name="T22" fmla="*/ 273 w 529"/>
                  <a:gd name="T23" fmla="*/ 148 h 148"/>
                  <a:gd name="T24" fmla="*/ 236 w 529"/>
                  <a:gd name="T25" fmla="*/ 147 h 148"/>
                  <a:gd name="T26" fmla="*/ 199 w 529"/>
                  <a:gd name="T27" fmla="*/ 146 h 148"/>
                  <a:gd name="T28" fmla="*/ 164 w 529"/>
                  <a:gd name="T29" fmla="*/ 143 h 148"/>
                  <a:gd name="T30" fmla="*/ 132 w 529"/>
                  <a:gd name="T31" fmla="*/ 139 h 148"/>
                  <a:gd name="T32" fmla="*/ 100 w 529"/>
                  <a:gd name="T33" fmla="*/ 133 h 148"/>
                  <a:gd name="T34" fmla="*/ 74 w 529"/>
                  <a:gd name="T35" fmla="*/ 125 h 148"/>
                  <a:gd name="T36" fmla="*/ 49 w 529"/>
                  <a:gd name="T37" fmla="*/ 118 h 148"/>
                  <a:gd name="T38" fmla="*/ 30 w 529"/>
                  <a:gd name="T39" fmla="*/ 109 h 148"/>
                  <a:gd name="T40" fmla="*/ 16 w 529"/>
                  <a:gd name="T41" fmla="*/ 99 h 148"/>
                  <a:gd name="T42" fmla="*/ 6 w 529"/>
                  <a:gd name="T43" fmla="*/ 89 h 148"/>
                  <a:gd name="T44" fmla="*/ 0 w 529"/>
                  <a:gd name="T45" fmla="*/ 79 h 148"/>
                  <a:gd name="T46" fmla="*/ 0 w 529"/>
                  <a:gd name="T47" fmla="*/ 68 h 148"/>
                  <a:gd name="T48" fmla="*/ 6 w 529"/>
                  <a:gd name="T49" fmla="*/ 58 h 148"/>
                  <a:gd name="T50" fmla="*/ 16 w 529"/>
                  <a:gd name="T51" fmla="*/ 48 h 148"/>
                  <a:gd name="T52" fmla="*/ 30 w 529"/>
                  <a:gd name="T53" fmla="*/ 38 h 148"/>
                  <a:gd name="T54" fmla="*/ 49 w 529"/>
                  <a:gd name="T55" fmla="*/ 30 h 148"/>
                  <a:gd name="T56" fmla="*/ 74 w 529"/>
                  <a:gd name="T57" fmla="*/ 21 h 148"/>
                  <a:gd name="T58" fmla="*/ 100 w 529"/>
                  <a:gd name="T59" fmla="*/ 14 h 148"/>
                  <a:gd name="T60" fmla="*/ 132 w 529"/>
                  <a:gd name="T61" fmla="*/ 9 h 148"/>
                  <a:gd name="T62" fmla="*/ 164 w 529"/>
                  <a:gd name="T63" fmla="*/ 5 h 148"/>
                  <a:gd name="T64" fmla="*/ 199 w 529"/>
                  <a:gd name="T65" fmla="*/ 2 h 148"/>
                  <a:gd name="T66" fmla="*/ 236 w 529"/>
                  <a:gd name="T67" fmla="*/ 0 h 148"/>
                  <a:gd name="T68" fmla="*/ 273 w 529"/>
                  <a:gd name="T69" fmla="*/ 0 h 148"/>
                  <a:gd name="T70" fmla="*/ 311 w 529"/>
                  <a:gd name="T71" fmla="*/ 1 h 148"/>
                  <a:gd name="T72" fmla="*/ 345 w 529"/>
                  <a:gd name="T73" fmla="*/ 3 h 148"/>
                  <a:gd name="T74" fmla="*/ 380 w 529"/>
                  <a:gd name="T75" fmla="*/ 6 h 148"/>
                  <a:gd name="T76" fmla="*/ 412 w 529"/>
                  <a:gd name="T77" fmla="*/ 11 h 148"/>
                  <a:gd name="T78" fmla="*/ 441 w 529"/>
                  <a:gd name="T79" fmla="*/ 18 h 148"/>
                  <a:gd name="T80" fmla="*/ 467 w 529"/>
                  <a:gd name="T81" fmla="*/ 25 h 148"/>
                  <a:gd name="T82" fmla="*/ 489 w 529"/>
                  <a:gd name="T83" fmla="*/ 34 h 148"/>
                  <a:gd name="T84" fmla="*/ 506 w 529"/>
                  <a:gd name="T85" fmla="*/ 43 h 148"/>
                  <a:gd name="T86" fmla="*/ 518 w 529"/>
                  <a:gd name="T87" fmla="*/ 53 h 148"/>
                  <a:gd name="T88" fmla="*/ 526 w 529"/>
                  <a:gd name="T89" fmla="*/ 63 h 148"/>
                  <a:gd name="T90" fmla="*/ 529 w 529"/>
                  <a:gd name="T91" fmla="*/ 74 h 1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29"/>
                  <a:gd name="T139" fmla="*/ 0 h 148"/>
                  <a:gd name="T140" fmla="*/ 529 w 529"/>
                  <a:gd name="T141" fmla="*/ 148 h 1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29" h="148">
                    <a:moveTo>
                      <a:pt x="529" y="74"/>
                    </a:moveTo>
                    <a:lnTo>
                      <a:pt x="526" y="84"/>
                    </a:lnTo>
                    <a:lnTo>
                      <a:pt x="518" y="94"/>
                    </a:lnTo>
                    <a:lnTo>
                      <a:pt x="506" y="104"/>
                    </a:lnTo>
                    <a:lnTo>
                      <a:pt x="489" y="113"/>
                    </a:lnTo>
                    <a:lnTo>
                      <a:pt x="467" y="121"/>
                    </a:lnTo>
                    <a:lnTo>
                      <a:pt x="441" y="129"/>
                    </a:lnTo>
                    <a:lnTo>
                      <a:pt x="412" y="136"/>
                    </a:lnTo>
                    <a:lnTo>
                      <a:pt x="380" y="141"/>
                    </a:lnTo>
                    <a:lnTo>
                      <a:pt x="345" y="145"/>
                    </a:lnTo>
                    <a:lnTo>
                      <a:pt x="311" y="147"/>
                    </a:lnTo>
                    <a:lnTo>
                      <a:pt x="273" y="148"/>
                    </a:lnTo>
                    <a:lnTo>
                      <a:pt x="236" y="147"/>
                    </a:lnTo>
                    <a:lnTo>
                      <a:pt x="199" y="146"/>
                    </a:lnTo>
                    <a:lnTo>
                      <a:pt x="164" y="143"/>
                    </a:lnTo>
                    <a:lnTo>
                      <a:pt x="132" y="139"/>
                    </a:lnTo>
                    <a:lnTo>
                      <a:pt x="100" y="133"/>
                    </a:lnTo>
                    <a:lnTo>
                      <a:pt x="74" y="125"/>
                    </a:lnTo>
                    <a:lnTo>
                      <a:pt x="49" y="118"/>
                    </a:lnTo>
                    <a:lnTo>
                      <a:pt x="30" y="109"/>
                    </a:lnTo>
                    <a:lnTo>
                      <a:pt x="16" y="99"/>
                    </a:lnTo>
                    <a:lnTo>
                      <a:pt x="6" y="89"/>
                    </a:lnTo>
                    <a:lnTo>
                      <a:pt x="0" y="79"/>
                    </a:lnTo>
                    <a:lnTo>
                      <a:pt x="0" y="68"/>
                    </a:lnTo>
                    <a:lnTo>
                      <a:pt x="6" y="58"/>
                    </a:lnTo>
                    <a:lnTo>
                      <a:pt x="16" y="48"/>
                    </a:lnTo>
                    <a:lnTo>
                      <a:pt x="30" y="38"/>
                    </a:lnTo>
                    <a:lnTo>
                      <a:pt x="49" y="30"/>
                    </a:lnTo>
                    <a:lnTo>
                      <a:pt x="74" y="21"/>
                    </a:lnTo>
                    <a:lnTo>
                      <a:pt x="100" y="14"/>
                    </a:lnTo>
                    <a:lnTo>
                      <a:pt x="132" y="9"/>
                    </a:lnTo>
                    <a:lnTo>
                      <a:pt x="164" y="5"/>
                    </a:lnTo>
                    <a:lnTo>
                      <a:pt x="199" y="2"/>
                    </a:lnTo>
                    <a:lnTo>
                      <a:pt x="236" y="0"/>
                    </a:lnTo>
                    <a:lnTo>
                      <a:pt x="273" y="0"/>
                    </a:lnTo>
                    <a:lnTo>
                      <a:pt x="311" y="1"/>
                    </a:lnTo>
                    <a:lnTo>
                      <a:pt x="345" y="3"/>
                    </a:lnTo>
                    <a:lnTo>
                      <a:pt x="380" y="6"/>
                    </a:lnTo>
                    <a:lnTo>
                      <a:pt x="412" y="11"/>
                    </a:lnTo>
                    <a:lnTo>
                      <a:pt x="441" y="18"/>
                    </a:lnTo>
                    <a:lnTo>
                      <a:pt x="467" y="25"/>
                    </a:lnTo>
                    <a:lnTo>
                      <a:pt x="489" y="34"/>
                    </a:lnTo>
                    <a:lnTo>
                      <a:pt x="506" y="43"/>
                    </a:lnTo>
                    <a:lnTo>
                      <a:pt x="518" y="53"/>
                    </a:lnTo>
                    <a:lnTo>
                      <a:pt x="526" y="63"/>
                    </a:lnTo>
                    <a:lnTo>
                      <a:pt x="529" y="74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15" name="Freeform 220"/>
            <p:cNvSpPr>
              <a:spLocks noEditPoints="1"/>
            </p:cNvSpPr>
            <p:nvPr/>
          </p:nvSpPr>
          <p:spPr bwMode="auto">
            <a:xfrm>
              <a:off x="4101" y="1391"/>
              <a:ext cx="278" cy="117"/>
            </a:xfrm>
            <a:custGeom>
              <a:avLst/>
              <a:gdLst>
                <a:gd name="T0" fmla="*/ 51 w 278"/>
                <a:gd name="T1" fmla="*/ 66 h 117"/>
                <a:gd name="T2" fmla="*/ 213 w 278"/>
                <a:gd name="T3" fmla="*/ 66 h 117"/>
                <a:gd name="T4" fmla="*/ 111 w 278"/>
                <a:gd name="T5" fmla="*/ 100 h 117"/>
                <a:gd name="T6" fmla="*/ 51 w 278"/>
                <a:gd name="T7" fmla="*/ 66 h 117"/>
                <a:gd name="T8" fmla="*/ 228 w 278"/>
                <a:gd name="T9" fmla="*/ 51 h 117"/>
                <a:gd name="T10" fmla="*/ 65 w 278"/>
                <a:gd name="T11" fmla="*/ 51 h 117"/>
                <a:gd name="T12" fmla="*/ 169 w 278"/>
                <a:gd name="T13" fmla="*/ 18 h 117"/>
                <a:gd name="T14" fmla="*/ 228 w 278"/>
                <a:gd name="T15" fmla="*/ 51 h 117"/>
                <a:gd name="T16" fmla="*/ 106 w 278"/>
                <a:gd name="T17" fmla="*/ 117 h 117"/>
                <a:gd name="T18" fmla="*/ 278 w 278"/>
                <a:gd name="T19" fmla="*/ 60 h 117"/>
                <a:gd name="T20" fmla="*/ 172 w 278"/>
                <a:gd name="T21" fmla="*/ 0 h 117"/>
                <a:gd name="T22" fmla="*/ 0 w 278"/>
                <a:gd name="T23" fmla="*/ 57 h 117"/>
                <a:gd name="T24" fmla="*/ 106 w 278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8"/>
                <a:gd name="T40" fmla="*/ 0 h 117"/>
                <a:gd name="T41" fmla="*/ 278 w 278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8" h="117">
                  <a:moveTo>
                    <a:pt x="51" y="66"/>
                  </a:moveTo>
                  <a:lnTo>
                    <a:pt x="213" y="66"/>
                  </a:lnTo>
                  <a:lnTo>
                    <a:pt x="111" y="100"/>
                  </a:lnTo>
                  <a:lnTo>
                    <a:pt x="51" y="66"/>
                  </a:lnTo>
                  <a:close/>
                  <a:moveTo>
                    <a:pt x="228" y="51"/>
                  </a:moveTo>
                  <a:lnTo>
                    <a:pt x="65" y="51"/>
                  </a:lnTo>
                  <a:lnTo>
                    <a:pt x="169" y="18"/>
                  </a:lnTo>
                  <a:lnTo>
                    <a:pt x="228" y="51"/>
                  </a:lnTo>
                  <a:close/>
                  <a:moveTo>
                    <a:pt x="106" y="117"/>
                  </a:moveTo>
                  <a:lnTo>
                    <a:pt x="278" y="60"/>
                  </a:lnTo>
                  <a:lnTo>
                    <a:pt x="172" y="0"/>
                  </a:lnTo>
                  <a:lnTo>
                    <a:pt x="0" y="57"/>
                  </a:lnTo>
                  <a:lnTo>
                    <a:pt x="106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6" name="Freeform 221"/>
            <p:cNvSpPr>
              <a:spLocks noEditPoints="1"/>
            </p:cNvSpPr>
            <p:nvPr/>
          </p:nvSpPr>
          <p:spPr bwMode="auto">
            <a:xfrm>
              <a:off x="4108" y="1395"/>
              <a:ext cx="279" cy="117"/>
            </a:xfrm>
            <a:custGeom>
              <a:avLst/>
              <a:gdLst>
                <a:gd name="T0" fmla="*/ 51 w 279"/>
                <a:gd name="T1" fmla="*/ 66 h 117"/>
                <a:gd name="T2" fmla="*/ 214 w 279"/>
                <a:gd name="T3" fmla="*/ 66 h 117"/>
                <a:gd name="T4" fmla="*/ 110 w 279"/>
                <a:gd name="T5" fmla="*/ 100 h 117"/>
                <a:gd name="T6" fmla="*/ 51 w 279"/>
                <a:gd name="T7" fmla="*/ 66 h 117"/>
                <a:gd name="T8" fmla="*/ 227 w 279"/>
                <a:gd name="T9" fmla="*/ 52 h 117"/>
                <a:gd name="T10" fmla="*/ 65 w 279"/>
                <a:gd name="T11" fmla="*/ 52 h 117"/>
                <a:gd name="T12" fmla="*/ 168 w 279"/>
                <a:gd name="T13" fmla="*/ 18 h 117"/>
                <a:gd name="T14" fmla="*/ 227 w 279"/>
                <a:gd name="T15" fmla="*/ 52 h 117"/>
                <a:gd name="T16" fmla="*/ 106 w 279"/>
                <a:gd name="T17" fmla="*/ 117 h 117"/>
                <a:gd name="T18" fmla="*/ 279 w 279"/>
                <a:gd name="T19" fmla="*/ 61 h 117"/>
                <a:gd name="T20" fmla="*/ 173 w 279"/>
                <a:gd name="T21" fmla="*/ 0 h 117"/>
                <a:gd name="T22" fmla="*/ 0 w 279"/>
                <a:gd name="T23" fmla="*/ 57 h 117"/>
                <a:gd name="T24" fmla="*/ 106 w 279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9"/>
                <a:gd name="T40" fmla="*/ 0 h 117"/>
                <a:gd name="T41" fmla="*/ 279 w 279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9" h="117">
                  <a:moveTo>
                    <a:pt x="51" y="66"/>
                  </a:moveTo>
                  <a:lnTo>
                    <a:pt x="214" y="66"/>
                  </a:lnTo>
                  <a:lnTo>
                    <a:pt x="110" y="100"/>
                  </a:lnTo>
                  <a:lnTo>
                    <a:pt x="51" y="66"/>
                  </a:lnTo>
                  <a:close/>
                  <a:moveTo>
                    <a:pt x="227" y="52"/>
                  </a:moveTo>
                  <a:lnTo>
                    <a:pt x="65" y="52"/>
                  </a:lnTo>
                  <a:lnTo>
                    <a:pt x="168" y="18"/>
                  </a:lnTo>
                  <a:lnTo>
                    <a:pt x="227" y="52"/>
                  </a:lnTo>
                  <a:close/>
                  <a:moveTo>
                    <a:pt x="106" y="117"/>
                  </a:moveTo>
                  <a:lnTo>
                    <a:pt x="279" y="61"/>
                  </a:lnTo>
                  <a:lnTo>
                    <a:pt x="173" y="0"/>
                  </a:lnTo>
                  <a:lnTo>
                    <a:pt x="0" y="57"/>
                  </a:lnTo>
                  <a:lnTo>
                    <a:pt x="106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7" name="Freeform 222"/>
            <p:cNvSpPr>
              <a:spLocks noEditPoints="1"/>
            </p:cNvSpPr>
            <p:nvPr/>
          </p:nvSpPr>
          <p:spPr bwMode="auto">
            <a:xfrm>
              <a:off x="4159" y="1584"/>
              <a:ext cx="183" cy="94"/>
            </a:xfrm>
            <a:custGeom>
              <a:avLst/>
              <a:gdLst>
                <a:gd name="T0" fmla="*/ 69 w 183"/>
                <a:gd name="T1" fmla="*/ 54 h 94"/>
                <a:gd name="T2" fmla="*/ 88 w 183"/>
                <a:gd name="T3" fmla="*/ 54 h 94"/>
                <a:gd name="T4" fmla="*/ 128 w 183"/>
                <a:gd name="T5" fmla="*/ 94 h 94"/>
                <a:gd name="T6" fmla="*/ 183 w 183"/>
                <a:gd name="T7" fmla="*/ 94 h 94"/>
                <a:gd name="T8" fmla="*/ 183 w 183"/>
                <a:gd name="T9" fmla="*/ 78 h 94"/>
                <a:gd name="T10" fmla="*/ 160 w 183"/>
                <a:gd name="T11" fmla="*/ 78 h 94"/>
                <a:gd name="T12" fmla="*/ 132 w 183"/>
                <a:gd name="T13" fmla="*/ 50 h 94"/>
                <a:gd name="T14" fmla="*/ 136 w 183"/>
                <a:gd name="T15" fmla="*/ 48 h 94"/>
                <a:gd name="T16" fmla="*/ 145 w 183"/>
                <a:gd name="T17" fmla="*/ 45 h 94"/>
                <a:gd name="T18" fmla="*/ 153 w 183"/>
                <a:gd name="T19" fmla="*/ 41 h 94"/>
                <a:gd name="T20" fmla="*/ 157 w 183"/>
                <a:gd name="T21" fmla="*/ 37 h 94"/>
                <a:gd name="T22" fmla="*/ 161 w 183"/>
                <a:gd name="T23" fmla="*/ 32 h 94"/>
                <a:gd name="T24" fmla="*/ 162 w 183"/>
                <a:gd name="T25" fmla="*/ 27 h 94"/>
                <a:gd name="T26" fmla="*/ 161 w 183"/>
                <a:gd name="T27" fmla="*/ 24 h 94"/>
                <a:gd name="T28" fmla="*/ 160 w 183"/>
                <a:gd name="T29" fmla="*/ 18 h 94"/>
                <a:gd name="T30" fmla="*/ 154 w 183"/>
                <a:gd name="T31" fmla="*/ 13 h 94"/>
                <a:gd name="T32" fmla="*/ 148 w 183"/>
                <a:gd name="T33" fmla="*/ 8 h 94"/>
                <a:gd name="T34" fmla="*/ 145 w 183"/>
                <a:gd name="T35" fmla="*/ 6 h 94"/>
                <a:gd name="T36" fmla="*/ 137 w 183"/>
                <a:gd name="T37" fmla="*/ 3 h 94"/>
                <a:gd name="T38" fmla="*/ 128 w 183"/>
                <a:gd name="T39" fmla="*/ 1 h 94"/>
                <a:gd name="T40" fmla="*/ 118 w 183"/>
                <a:gd name="T41" fmla="*/ 0 h 94"/>
                <a:gd name="T42" fmla="*/ 105 w 183"/>
                <a:gd name="T43" fmla="*/ 0 h 94"/>
                <a:gd name="T44" fmla="*/ 0 w 183"/>
                <a:gd name="T45" fmla="*/ 0 h 94"/>
                <a:gd name="T46" fmla="*/ 0 w 183"/>
                <a:gd name="T47" fmla="*/ 16 h 94"/>
                <a:gd name="T48" fmla="*/ 24 w 183"/>
                <a:gd name="T49" fmla="*/ 16 h 94"/>
                <a:gd name="T50" fmla="*/ 24 w 183"/>
                <a:gd name="T51" fmla="*/ 78 h 94"/>
                <a:gd name="T52" fmla="*/ 0 w 183"/>
                <a:gd name="T53" fmla="*/ 78 h 94"/>
                <a:gd name="T54" fmla="*/ 0 w 183"/>
                <a:gd name="T55" fmla="*/ 94 h 94"/>
                <a:gd name="T56" fmla="*/ 92 w 183"/>
                <a:gd name="T57" fmla="*/ 94 h 94"/>
                <a:gd name="T58" fmla="*/ 92 w 183"/>
                <a:gd name="T59" fmla="*/ 78 h 94"/>
                <a:gd name="T60" fmla="*/ 69 w 183"/>
                <a:gd name="T61" fmla="*/ 78 h 94"/>
                <a:gd name="T62" fmla="*/ 69 w 183"/>
                <a:gd name="T63" fmla="*/ 54 h 94"/>
                <a:gd name="T64" fmla="*/ 69 w 183"/>
                <a:gd name="T65" fmla="*/ 16 h 94"/>
                <a:gd name="T66" fmla="*/ 88 w 183"/>
                <a:gd name="T67" fmla="*/ 16 h 94"/>
                <a:gd name="T68" fmla="*/ 99 w 183"/>
                <a:gd name="T69" fmla="*/ 16 h 94"/>
                <a:gd name="T70" fmla="*/ 107 w 183"/>
                <a:gd name="T71" fmla="*/ 18 h 94"/>
                <a:gd name="T72" fmla="*/ 112 w 183"/>
                <a:gd name="T73" fmla="*/ 22 h 94"/>
                <a:gd name="T74" fmla="*/ 115 w 183"/>
                <a:gd name="T75" fmla="*/ 27 h 94"/>
                <a:gd name="T76" fmla="*/ 115 w 183"/>
                <a:gd name="T77" fmla="*/ 28 h 94"/>
                <a:gd name="T78" fmla="*/ 112 w 183"/>
                <a:gd name="T79" fmla="*/ 32 h 94"/>
                <a:gd name="T80" fmla="*/ 105 w 183"/>
                <a:gd name="T81" fmla="*/ 35 h 94"/>
                <a:gd name="T82" fmla="*/ 97 w 183"/>
                <a:gd name="T83" fmla="*/ 37 h 94"/>
                <a:gd name="T84" fmla="*/ 85 w 183"/>
                <a:gd name="T85" fmla="*/ 38 h 94"/>
                <a:gd name="T86" fmla="*/ 69 w 183"/>
                <a:gd name="T87" fmla="*/ 38 h 94"/>
                <a:gd name="T88" fmla="*/ 69 w 183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3"/>
                <a:gd name="T136" fmla="*/ 0 h 94"/>
                <a:gd name="T137" fmla="*/ 183 w 183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3" h="94">
                  <a:moveTo>
                    <a:pt x="69" y="54"/>
                  </a:moveTo>
                  <a:lnTo>
                    <a:pt x="88" y="54"/>
                  </a:lnTo>
                  <a:lnTo>
                    <a:pt x="128" y="94"/>
                  </a:lnTo>
                  <a:lnTo>
                    <a:pt x="183" y="94"/>
                  </a:lnTo>
                  <a:lnTo>
                    <a:pt x="183" y="78"/>
                  </a:lnTo>
                  <a:lnTo>
                    <a:pt x="160" y="78"/>
                  </a:lnTo>
                  <a:lnTo>
                    <a:pt x="132" y="50"/>
                  </a:lnTo>
                  <a:lnTo>
                    <a:pt x="136" y="48"/>
                  </a:lnTo>
                  <a:lnTo>
                    <a:pt x="145" y="45"/>
                  </a:lnTo>
                  <a:lnTo>
                    <a:pt x="153" y="41"/>
                  </a:lnTo>
                  <a:lnTo>
                    <a:pt x="157" y="37"/>
                  </a:lnTo>
                  <a:lnTo>
                    <a:pt x="161" y="32"/>
                  </a:lnTo>
                  <a:lnTo>
                    <a:pt x="162" y="27"/>
                  </a:lnTo>
                  <a:lnTo>
                    <a:pt x="161" y="24"/>
                  </a:lnTo>
                  <a:lnTo>
                    <a:pt x="160" y="18"/>
                  </a:lnTo>
                  <a:lnTo>
                    <a:pt x="154" y="13"/>
                  </a:lnTo>
                  <a:lnTo>
                    <a:pt x="148" y="8"/>
                  </a:lnTo>
                  <a:lnTo>
                    <a:pt x="145" y="6"/>
                  </a:lnTo>
                  <a:lnTo>
                    <a:pt x="137" y="3"/>
                  </a:lnTo>
                  <a:lnTo>
                    <a:pt x="128" y="1"/>
                  </a:lnTo>
                  <a:lnTo>
                    <a:pt x="118" y="0"/>
                  </a:lnTo>
                  <a:lnTo>
                    <a:pt x="105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94"/>
                  </a:lnTo>
                  <a:lnTo>
                    <a:pt x="92" y="94"/>
                  </a:lnTo>
                  <a:lnTo>
                    <a:pt x="92" y="78"/>
                  </a:lnTo>
                  <a:lnTo>
                    <a:pt x="69" y="78"/>
                  </a:lnTo>
                  <a:lnTo>
                    <a:pt x="69" y="54"/>
                  </a:lnTo>
                  <a:close/>
                  <a:moveTo>
                    <a:pt x="69" y="16"/>
                  </a:moveTo>
                  <a:lnTo>
                    <a:pt x="88" y="16"/>
                  </a:lnTo>
                  <a:lnTo>
                    <a:pt x="99" y="16"/>
                  </a:lnTo>
                  <a:lnTo>
                    <a:pt x="107" y="18"/>
                  </a:lnTo>
                  <a:lnTo>
                    <a:pt x="112" y="22"/>
                  </a:lnTo>
                  <a:lnTo>
                    <a:pt x="115" y="27"/>
                  </a:lnTo>
                  <a:lnTo>
                    <a:pt x="115" y="28"/>
                  </a:lnTo>
                  <a:lnTo>
                    <a:pt x="112" y="32"/>
                  </a:lnTo>
                  <a:lnTo>
                    <a:pt x="105" y="35"/>
                  </a:lnTo>
                  <a:lnTo>
                    <a:pt x="97" y="37"/>
                  </a:lnTo>
                  <a:lnTo>
                    <a:pt x="85" y="38"/>
                  </a:lnTo>
                  <a:lnTo>
                    <a:pt x="69" y="38"/>
                  </a:lnTo>
                  <a:lnTo>
                    <a:pt x="69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Freeform 223"/>
            <p:cNvSpPr>
              <a:spLocks noEditPoints="1"/>
            </p:cNvSpPr>
            <p:nvPr/>
          </p:nvSpPr>
          <p:spPr bwMode="auto">
            <a:xfrm>
              <a:off x="4146" y="1575"/>
              <a:ext cx="183" cy="93"/>
            </a:xfrm>
            <a:custGeom>
              <a:avLst/>
              <a:gdLst>
                <a:gd name="T0" fmla="*/ 69 w 183"/>
                <a:gd name="T1" fmla="*/ 52 h 93"/>
                <a:gd name="T2" fmla="*/ 90 w 183"/>
                <a:gd name="T3" fmla="*/ 52 h 93"/>
                <a:gd name="T4" fmla="*/ 130 w 183"/>
                <a:gd name="T5" fmla="*/ 93 h 93"/>
                <a:gd name="T6" fmla="*/ 183 w 183"/>
                <a:gd name="T7" fmla="*/ 93 h 93"/>
                <a:gd name="T8" fmla="*/ 183 w 183"/>
                <a:gd name="T9" fmla="*/ 78 h 93"/>
                <a:gd name="T10" fmla="*/ 160 w 183"/>
                <a:gd name="T11" fmla="*/ 78 h 93"/>
                <a:gd name="T12" fmla="*/ 131 w 183"/>
                <a:gd name="T13" fmla="*/ 49 h 93"/>
                <a:gd name="T14" fmla="*/ 138 w 183"/>
                <a:gd name="T15" fmla="*/ 48 h 93"/>
                <a:gd name="T16" fmla="*/ 147 w 183"/>
                <a:gd name="T17" fmla="*/ 44 h 93"/>
                <a:gd name="T18" fmla="*/ 154 w 183"/>
                <a:gd name="T19" fmla="*/ 41 h 93"/>
                <a:gd name="T20" fmla="*/ 158 w 183"/>
                <a:gd name="T21" fmla="*/ 36 h 93"/>
                <a:gd name="T22" fmla="*/ 160 w 183"/>
                <a:gd name="T23" fmla="*/ 32 h 93"/>
                <a:gd name="T24" fmla="*/ 163 w 183"/>
                <a:gd name="T25" fmla="*/ 26 h 93"/>
                <a:gd name="T26" fmla="*/ 163 w 183"/>
                <a:gd name="T27" fmla="*/ 23 h 93"/>
                <a:gd name="T28" fmla="*/ 159 w 183"/>
                <a:gd name="T29" fmla="*/ 17 h 93"/>
                <a:gd name="T30" fmla="*/ 156 w 183"/>
                <a:gd name="T31" fmla="*/ 12 h 93"/>
                <a:gd name="T32" fmla="*/ 149 w 183"/>
                <a:gd name="T33" fmla="*/ 7 h 93"/>
                <a:gd name="T34" fmla="*/ 146 w 183"/>
                <a:gd name="T35" fmla="*/ 7 h 93"/>
                <a:gd name="T36" fmla="*/ 139 w 183"/>
                <a:gd name="T37" fmla="*/ 4 h 93"/>
                <a:gd name="T38" fmla="*/ 129 w 183"/>
                <a:gd name="T39" fmla="*/ 2 h 93"/>
                <a:gd name="T40" fmla="*/ 118 w 183"/>
                <a:gd name="T41" fmla="*/ 1 h 93"/>
                <a:gd name="T42" fmla="*/ 106 w 183"/>
                <a:gd name="T43" fmla="*/ 0 h 93"/>
                <a:gd name="T44" fmla="*/ 0 w 183"/>
                <a:gd name="T45" fmla="*/ 0 h 93"/>
                <a:gd name="T46" fmla="*/ 0 w 183"/>
                <a:gd name="T47" fmla="*/ 15 h 93"/>
                <a:gd name="T48" fmla="*/ 24 w 183"/>
                <a:gd name="T49" fmla="*/ 15 h 93"/>
                <a:gd name="T50" fmla="*/ 24 w 183"/>
                <a:gd name="T51" fmla="*/ 78 h 93"/>
                <a:gd name="T52" fmla="*/ 0 w 183"/>
                <a:gd name="T53" fmla="*/ 78 h 93"/>
                <a:gd name="T54" fmla="*/ 0 w 183"/>
                <a:gd name="T55" fmla="*/ 93 h 93"/>
                <a:gd name="T56" fmla="*/ 91 w 183"/>
                <a:gd name="T57" fmla="*/ 93 h 93"/>
                <a:gd name="T58" fmla="*/ 91 w 183"/>
                <a:gd name="T59" fmla="*/ 78 h 93"/>
                <a:gd name="T60" fmla="*/ 69 w 183"/>
                <a:gd name="T61" fmla="*/ 78 h 93"/>
                <a:gd name="T62" fmla="*/ 69 w 183"/>
                <a:gd name="T63" fmla="*/ 52 h 93"/>
                <a:gd name="T64" fmla="*/ 69 w 183"/>
                <a:gd name="T65" fmla="*/ 15 h 93"/>
                <a:gd name="T66" fmla="*/ 90 w 183"/>
                <a:gd name="T67" fmla="*/ 15 h 93"/>
                <a:gd name="T68" fmla="*/ 99 w 183"/>
                <a:gd name="T69" fmla="*/ 16 h 93"/>
                <a:gd name="T70" fmla="*/ 108 w 183"/>
                <a:gd name="T71" fmla="*/ 18 h 93"/>
                <a:gd name="T72" fmla="*/ 112 w 183"/>
                <a:gd name="T73" fmla="*/ 21 h 93"/>
                <a:gd name="T74" fmla="*/ 115 w 183"/>
                <a:gd name="T75" fmla="*/ 26 h 93"/>
                <a:gd name="T76" fmla="*/ 115 w 183"/>
                <a:gd name="T77" fmla="*/ 27 h 93"/>
                <a:gd name="T78" fmla="*/ 112 w 183"/>
                <a:gd name="T79" fmla="*/ 33 h 93"/>
                <a:gd name="T80" fmla="*/ 107 w 183"/>
                <a:gd name="T81" fmla="*/ 36 h 93"/>
                <a:gd name="T82" fmla="*/ 98 w 183"/>
                <a:gd name="T83" fmla="*/ 37 h 93"/>
                <a:gd name="T84" fmla="*/ 86 w 183"/>
                <a:gd name="T85" fmla="*/ 37 h 93"/>
                <a:gd name="T86" fmla="*/ 69 w 183"/>
                <a:gd name="T87" fmla="*/ 37 h 93"/>
                <a:gd name="T88" fmla="*/ 69 w 183"/>
                <a:gd name="T89" fmla="*/ 15 h 9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3"/>
                <a:gd name="T136" fmla="*/ 0 h 93"/>
                <a:gd name="T137" fmla="*/ 183 w 183"/>
                <a:gd name="T138" fmla="*/ 93 h 9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3" h="93">
                  <a:moveTo>
                    <a:pt x="69" y="52"/>
                  </a:moveTo>
                  <a:lnTo>
                    <a:pt x="90" y="52"/>
                  </a:lnTo>
                  <a:lnTo>
                    <a:pt x="130" y="93"/>
                  </a:lnTo>
                  <a:lnTo>
                    <a:pt x="183" y="93"/>
                  </a:lnTo>
                  <a:lnTo>
                    <a:pt x="183" y="78"/>
                  </a:lnTo>
                  <a:lnTo>
                    <a:pt x="160" y="78"/>
                  </a:lnTo>
                  <a:lnTo>
                    <a:pt x="131" y="49"/>
                  </a:lnTo>
                  <a:lnTo>
                    <a:pt x="138" y="48"/>
                  </a:lnTo>
                  <a:lnTo>
                    <a:pt x="147" y="44"/>
                  </a:lnTo>
                  <a:lnTo>
                    <a:pt x="154" y="41"/>
                  </a:lnTo>
                  <a:lnTo>
                    <a:pt x="158" y="36"/>
                  </a:lnTo>
                  <a:lnTo>
                    <a:pt x="160" y="32"/>
                  </a:lnTo>
                  <a:lnTo>
                    <a:pt x="163" y="26"/>
                  </a:lnTo>
                  <a:lnTo>
                    <a:pt x="163" y="23"/>
                  </a:lnTo>
                  <a:lnTo>
                    <a:pt x="159" y="17"/>
                  </a:lnTo>
                  <a:lnTo>
                    <a:pt x="156" y="12"/>
                  </a:lnTo>
                  <a:lnTo>
                    <a:pt x="149" y="7"/>
                  </a:lnTo>
                  <a:lnTo>
                    <a:pt x="146" y="7"/>
                  </a:lnTo>
                  <a:lnTo>
                    <a:pt x="139" y="4"/>
                  </a:lnTo>
                  <a:lnTo>
                    <a:pt x="129" y="2"/>
                  </a:lnTo>
                  <a:lnTo>
                    <a:pt x="118" y="1"/>
                  </a:lnTo>
                  <a:lnTo>
                    <a:pt x="106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24" y="15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93"/>
                  </a:lnTo>
                  <a:lnTo>
                    <a:pt x="91" y="93"/>
                  </a:lnTo>
                  <a:lnTo>
                    <a:pt x="91" y="78"/>
                  </a:lnTo>
                  <a:lnTo>
                    <a:pt x="69" y="78"/>
                  </a:lnTo>
                  <a:lnTo>
                    <a:pt x="69" y="52"/>
                  </a:lnTo>
                  <a:close/>
                  <a:moveTo>
                    <a:pt x="69" y="15"/>
                  </a:moveTo>
                  <a:lnTo>
                    <a:pt x="90" y="15"/>
                  </a:lnTo>
                  <a:lnTo>
                    <a:pt x="99" y="16"/>
                  </a:lnTo>
                  <a:lnTo>
                    <a:pt x="108" y="18"/>
                  </a:lnTo>
                  <a:lnTo>
                    <a:pt x="112" y="21"/>
                  </a:lnTo>
                  <a:lnTo>
                    <a:pt x="115" y="26"/>
                  </a:lnTo>
                  <a:lnTo>
                    <a:pt x="115" y="27"/>
                  </a:lnTo>
                  <a:lnTo>
                    <a:pt x="112" y="33"/>
                  </a:lnTo>
                  <a:lnTo>
                    <a:pt x="107" y="36"/>
                  </a:lnTo>
                  <a:lnTo>
                    <a:pt x="98" y="37"/>
                  </a:lnTo>
                  <a:lnTo>
                    <a:pt x="86" y="37"/>
                  </a:lnTo>
                  <a:lnTo>
                    <a:pt x="69" y="37"/>
                  </a:lnTo>
                  <a:lnTo>
                    <a:pt x="69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19" name="Group 224"/>
            <p:cNvGrpSpPr>
              <a:grpSpLocks/>
            </p:cNvGrpSpPr>
            <p:nvPr/>
          </p:nvGrpSpPr>
          <p:grpSpPr bwMode="auto">
            <a:xfrm>
              <a:off x="3979" y="1378"/>
              <a:ext cx="530" cy="351"/>
              <a:chOff x="3979" y="1378"/>
              <a:chExt cx="530" cy="351"/>
            </a:xfrm>
          </p:grpSpPr>
          <p:sp>
            <p:nvSpPr>
              <p:cNvPr id="28727" name="Freeform 225"/>
              <p:cNvSpPr>
                <a:spLocks noEditPoints="1"/>
              </p:cNvSpPr>
              <p:nvPr/>
            </p:nvSpPr>
            <p:spPr bwMode="auto">
              <a:xfrm>
                <a:off x="3979" y="1378"/>
                <a:ext cx="530" cy="351"/>
              </a:xfrm>
              <a:custGeom>
                <a:avLst/>
                <a:gdLst>
                  <a:gd name="T0" fmla="*/ 530 w 530"/>
                  <a:gd name="T1" fmla="*/ 74 h 351"/>
                  <a:gd name="T2" fmla="*/ 519 w 530"/>
                  <a:gd name="T3" fmla="*/ 94 h 351"/>
                  <a:gd name="T4" fmla="*/ 491 w 530"/>
                  <a:gd name="T5" fmla="*/ 113 h 351"/>
                  <a:gd name="T6" fmla="*/ 446 w 530"/>
                  <a:gd name="T7" fmla="*/ 128 h 351"/>
                  <a:gd name="T8" fmla="*/ 386 w 530"/>
                  <a:gd name="T9" fmla="*/ 140 h 351"/>
                  <a:gd name="T10" fmla="*/ 320 w 530"/>
                  <a:gd name="T11" fmla="*/ 147 h 351"/>
                  <a:gd name="T12" fmla="*/ 247 w 530"/>
                  <a:gd name="T13" fmla="*/ 147 h 351"/>
                  <a:gd name="T14" fmla="*/ 177 w 530"/>
                  <a:gd name="T15" fmla="*/ 144 h 351"/>
                  <a:gd name="T16" fmla="*/ 112 w 530"/>
                  <a:gd name="T17" fmla="*/ 135 h 351"/>
                  <a:gd name="T18" fmla="*/ 112 w 530"/>
                  <a:gd name="T19" fmla="*/ 135 h 351"/>
                  <a:gd name="T20" fmla="*/ 177 w 530"/>
                  <a:gd name="T21" fmla="*/ 144 h 351"/>
                  <a:gd name="T22" fmla="*/ 247 w 530"/>
                  <a:gd name="T23" fmla="*/ 147 h 351"/>
                  <a:gd name="T24" fmla="*/ 320 w 530"/>
                  <a:gd name="T25" fmla="*/ 147 h 351"/>
                  <a:gd name="T26" fmla="*/ 386 w 530"/>
                  <a:gd name="T27" fmla="*/ 140 h 351"/>
                  <a:gd name="T28" fmla="*/ 446 w 530"/>
                  <a:gd name="T29" fmla="*/ 128 h 351"/>
                  <a:gd name="T30" fmla="*/ 491 w 530"/>
                  <a:gd name="T31" fmla="*/ 113 h 351"/>
                  <a:gd name="T32" fmla="*/ 519 w 530"/>
                  <a:gd name="T33" fmla="*/ 94 h 351"/>
                  <a:gd name="T34" fmla="*/ 530 w 530"/>
                  <a:gd name="T35" fmla="*/ 74 h 351"/>
                  <a:gd name="T36" fmla="*/ 2 w 530"/>
                  <a:gd name="T37" fmla="*/ 84 h 351"/>
                  <a:gd name="T38" fmla="*/ 22 w 530"/>
                  <a:gd name="T39" fmla="*/ 104 h 351"/>
                  <a:gd name="T40" fmla="*/ 59 w 530"/>
                  <a:gd name="T41" fmla="*/ 120 h 351"/>
                  <a:gd name="T42" fmla="*/ 59 w 530"/>
                  <a:gd name="T43" fmla="*/ 120 h 351"/>
                  <a:gd name="T44" fmla="*/ 22 w 530"/>
                  <a:gd name="T45" fmla="*/ 104 h 351"/>
                  <a:gd name="T46" fmla="*/ 2 w 530"/>
                  <a:gd name="T47" fmla="*/ 84 h 351"/>
                  <a:gd name="T48" fmla="*/ 0 w 530"/>
                  <a:gd name="T49" fmla="*/ 74 h 351"/>
                  <a:gd name="T50" fmla="*/ 2 w 530"/>
                  <a:gd name="T51" fmla="*/ 288 h 351"/>
                  <a:gd name="T52" fmla="*/ 22 w 530"/>
                  <a:gd name="T53" fmla="*/ 307 h 351"/>
                  <a:gd name="T54" fmla="*/ 59 w 530"/>
                  <a:gd name="T55" fmla="*/ 324 h 351"/>
                  <a:gd name="T56" fmla="*/ 112 w 530"/>
                  <a:gd name="T57" fmla="*/ 339 h 351"/>
                  <a:gd name="T58" fmla="*/ 176 w 530"/>
                  <a:gd name="T59" fmla="*/ 347 h 351"/>
                  <a:gd name="T60" fmla="*/ 247 w 530"/>
                  <a:gd name="T61" fmla="*/ 351 h 351"/>
                  <a:gd name="T62" fmla="*/ 320 w 530"/>
                  <a:gd name="T63" fmla="*/ 350 h 351"/>
                  <a:gd name="T64" fmla="*/ 386 w 530"/>
                  <a:gd name="T65" fmla="*/ 344 h 351"/>
                  <a:gd name="T66" fmla="*/ 446 w 530"/>
                  <a:gd name="T67" fmla="*/ 332 h 351"/>
                  <a:gd name="T68" fmla="*/ 491 w 530"/>
                  <a:gd name="T69" fmla="*/ 316 h 351"/>
                  <a:gd name="T70" fmla="*/ 519 w 530"/>
                  <a:gd name="T71" fmla="*/ 298 h 351"/>
                  <a:gd name="T72" fmla="*/ 530 w 530"/>
                  <a:gd name="T73" fmla="*/ 277 h 351"/>
                  <a:gd name="T74" fmla="*/ 527 w 530"/>
                  <a:gd name="T75" fmla="*/ 63 h 351"/>
                  <a:gd name="T76" fmla="*/ 508 w 530"/>
                  <a:gd name="T77" fmla="*/ 44 h 351"/>
                  <a:gd name="T78" fmla="*/ 470 w 530"/>
                  <a:gd name="T79" fmla="*/ 26 h 351"/>
                  <a:gd name="T80" fmla="*/ 418 w 530"/>
                  <a:gd name="T81" fmla="*/ 12 h 351"/>
                  <a:gd name="T82" fmla="*/ 354 w 530"/>
                  <a:gd name="T83" fmla="*/ 4 h 351"/>
                  <a:gd name="T84" fmla="*/ 283 w 530"/>
                  <a:gd name="T85" fmla="*/ 0 h 351"/>
                  <a:gd name="T86" fmla="*/ 210 w 530"/>
                  <a:gd name="T87" fmla="*/ 1 h 351"/>
                  <a:gd name="T88" fmla="*/ 144 w 530"/>
                  <a:gd name="T89" fmla="*/ 7 h 351"/>
                  <a:gd name="T90" fmla="*/ 83 w 530"/>
                  <a:gd name="T91" fmla="*/ 19 h 351"/>
                  <a:gd name="T92" fmla="*/ 39 w 530"/>
                  <a:gd name="T93" fmla="*/ 35 h 351"/>
                  <a:gd name="T94" fmla="*/ 10 w 530"/>
                  <a:gd name="T95" fmla="*/ 53 h 351"/>
                  <a:gd name="T96" fmla="*/ 0 w 530"/>
                  <a:gd name="T97" fmla="*/ 74 h 35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30"/>
                  <a:gd name="T148" fmla="*/ 0 h 351"/>
                  <a:gd name="T149" fmla="*/ 530 w 530"/>
                  <a:gd name="T150" fmla="*/ 351 h 35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30" h="351">
                    <a:moveTo>
                      <a:pt x="530" y="74"/>
                    </a:moveTo>
                    <a:lnTo>
                      <a:pt x="530" y="74"/>
                    </a:lnTo>
                    <a:lnTo>
                      <a:pt x="527" y="84"/>
                    </a:lnTo>
                    <a:lnTo>
                      <a:pt x="519" y="94"/>
                    </a:lnTo>
                    <a:lnTo>
                      <a:pt x="508" y="103"/>
                    </a:lnTo>
                    <a:lnTo>
                      <a:pt x="491" y="113"/>
                    </a:lnTo>
                    <a:lnTo>
                      <a:pt x="470" y="120"/>
                    </a:lnTo>
                    <a:lnTo>
                      <a:pt x="446" y="128"/>
                    </a:lnTo>
                    <a:lnTo>
                      <a:pt x="418" y="135"/>
                    </a:lnTo>
                    <a:lnTo>
                      <a:pt x="386" y="140"/>
                    </a:lnTo>
                    <a:lnTo>
                      <a:pt x="354" y="144"/>
                    </a:lnTo>
                    <a:lnTo>
                      <a:pt x="320" y="147"/>
                    </a:lnTo>
                    <a:lnTo>
                      <a:pt x="283" y="147"/>
                    </a:lnTo>
                    <a:lnTo>
                      <a:pt x="247" y="147"/>
                    </a:lnTo>
                    <a:lnTo>
                      <a:pt x="212" y="147"/>
                    </a:lnTo>
                    <a:lnTo>
                      <a:pt x="177" y="144"/>
                    </a:lnTo>
                    <a:lnTo>
                      <a:pt x="144" y="140"/>
                    </a:lnTo>
                    <a:lnTo>
                      <a:pt x="112" y="135"/>
                    </a:lnTo>
                    <a:lnTo>
                      <a:pt x="83" y="129"/>
                    </a:lnTo>
                    <a:lnTo>
                      <a:pt x="112" y="135"/>
                    </a:lnTo>
                    <a:lnTo>
                      <a:pt x="144" y="140"/>
                    </a:lnTo>
                    <a:lnTo>
                      <a:pt x="177" y="144"/>
                    </a:lnTo>
                    <a:lnTo>
                      <a:pt x="212" y="147"/>
                    </a:lnTo>
                    <a:lnTo>
                      <a:pt x="247" y="147"/>
                    </a:lnTo>
                    <a:lnTo>
                      <a:pt x="283" y="147"/>
                    </a:lnTo>
                    <a:lnTo>
                      <a:pt x="320" y="147"/>
                    </a:lnTo>
                    <a:lnTo>
                      <a:pt x="354" y="144"/>
                    </a:lnTo>
                    <a:lnTo>
                      <a:pt x="386" y="140"/>
                    </a:lnTo>
                    <a:lnTo>
                      <a:pt x="418" y="135"/>
                    </a:lnTo>
                    <a:lnTo>
                      <a:pt x="446" y="128"/>
                    </a:lnTo>
                    <a:lnTo>
                      <a:pt x="470" y="120"/>
                    </a:lnTo>
                    <a:lnTo>
                      <a:pt x="491" y="113"/>
                    </a:lnTo>
                    <a:lnTo>
                      <a:pt x="508" y="103"/>
                    </a:lnTo>
                    <a:lnTo>
                      <a:pt x="519" y="94"/>
                    </a:lnTo>
                    <a:lnTo>
                      <a:pt x="527" y="84"/>
                    </a:lnTo>
                    <a:lnTo>
                      <a:pt x="530" y="74"/>
                    </a:lnTo>
                    <a:close/>
                    <a:moveTo>
                      <a:pt x="0" y="74"/>
                    </a:moveTo>
                    <a:lnTo>
                      <a:pt x="2" y="84"/>
                    </a:lnTo>
                    <a:lnTo>
                      <a:pt x="10" y="94"/>
                    </a:lnTo>
                    <a:lnTo>
                      <a:pt x="22" y="104"/>
                    </a:lnTo>
                    <a:lnTo>
                      <a:pt x="39" y="113"/>
                    </a:lnTo>
                    <a:lnTo>
                      <a:pt x="59" y="120"/>
                    </a:lnTo>
                    <a:lnTo>
                      <a:pt x="83" y="129"/>
                    </a:lnTo>
                    <a:lnTo>
                      <a:pt x="59" y="120"/>
                    </a:lnTo>
                    <a:lnTo>
                      <a:pt x="39" y="113"/>
                    </a:lnTo>
                    <a:lnTo>
                      <a:pt x="22" y="104"/>
                    </a:lnTo>
                    <a:lnTo>
                      <a:pt x="10" y="94"/>
                    </a:lnTo>
                    <a:lnTo>
                      <a:pt x="2" y="84"/>
                    </a:lnTo>
                    <a:lnTo>
                      <a:pt x="0" y="74"/>
                    </a:lnTo>
                    <a:close/>
                    <a:moveTo>
                      <a:pt x="0" y="74"/>
                    </a:moveTo>
                    <a:lnTo>
                      <a:pt x="0" y="277"/>
                    </a:lnTo>
                    <a:lnTo>
                      <a:pt x="2" y="288"/>
                    </a:lnTo>
                    <a:lnTo>
                      <a:pt x="10" y="298"/>
                    </a:lnTo>
                    <a:lnTo>
                      <a:pt x="22" y="307"/>
                    </a:lnTo>
                    <a:lnTo>
                      <a:pt x="39" y="316"/>
                    </a:lnTo>
                    <a:lnTo>
                      <a:pt x="59" y="324"/>
                    </a:lnTo>
                    <a:lnTo>
                      <a:pt x="83" y="332"/>
                    </a:lnTo>
                    <a:lnTo>
                      <a:pt x="112" y="339"/>
                    </a:lnTo>
                    <a:lnTo>
                      <a:pt x="144" y="344"/>
                    </a:lnTo>
                    <a:lnTo>
                      <a:pt x="176" y="347"/>
                    </a:lnTo>
                    <a:lnTo>
                      <a:pt x="210" y="350"/>
                    </a:lnTo>
                    <a:lnTo>
                      <a:pt x="247" y="351"/>
                    </a:lnTo>
                    <a:lnTo>
                      <a:pt x="283" y="351"/>
                    </a:lnTo>
                    <a:lnTo>
                      <a:pt x="320" y="350"/>
                    </a:lnTo>
                    <a:lnTo>
                      <a:pt x="354" y="347"/>
                    </a:lnTo>
                    <a:lnTo>
                      <a:pt x="386" y="344"/>
                    </a:lnTo>
                    <a:lnTo>
                      <a:pt x="418" y="339"/>
                    </a:lnTo>
                    <a:lnTo>
                      <a:pt x="446" y="332"/>
                    </a:lnTo>
                    <a:lnTo>
                      <a:pt x="470" y="324"/>
                    </a:lnTo>
                    <a:lnTo>
                      <a:pt x="491" y="316"/>
                    </a:lnTo>
                    <a:lnTo>
                      <a:pt x="508" y="307"/>
                    </a:lnTo>
                    <a:lnTo>
                      <a:pt x="519" y="298"/>
                    </a:lnTo>
                    <a:lnTo>
                      <a:pt x="527" y="288"/>
                    </a:lnTo>
                    <a:lnTo>
                      <a:pt x="530" y="277"/>
                    </a:lnTo>
                    <a:lnTo>
                      <a:pt x="530" y="74"/>
                    </a:lnTo>
                    <a:lnTo>
                      <a:pt x="527" y="63"/>
                    </a:lnTo>
                    <a:lnTo>
                      <a:pt x="519" y="53"/>
                    </a:lnTo>
                    <a:lnTo>
                      <a:pt x="508" y="44"/>
                    </a:lnTo>
                    <a:lnTo>
                      <a:pt x="491" y="35"/>
                    </a:lnTo>
                    <a:lnTo>
                      <a:pt x="470" y="26"/>
                    </a:lnTo>
                    <a:lnTo>
                      <a:pt x="446" y="19"/>
                    </a:lnTo>
                    <a:lnTo>
                      <a:pt x="418" y="12"/>
                    </a:lnTo>
                    <a:lnTo>
                      <a:pt x="386" y="7"/>
                    </a:lnTo>
                    <a:lnTo>
                      <a:pt x="354" y="4"/>
                    </a:lnTo>
                    <a:lnTo>
                      <a:pt x="320" y="1"/>
                    </a:lnTo>
                    <a:lnTo>
                      <a:pt x="283" y="0"/>
                    </a:lnTo>
                    <a:lnTo>
                      <a:pt x="247" y="0"/>
                    </a:lnTo>
                    <a:lnTo>
                      <a:pt x="210" y="1"/>
                    </a:lnTo>
                    <a:lnTo>
                      <a:pt x="176" y="4"/>
                    </a:lnTo>
                    <a:lnTo>
                      <a:pt x="144" y="7"/>
                    </a:lnTo>
                    <a:lnTo>
                      <a:pt x="112" y="12"/>
                    </a:lnTo>
                    <a:lnTo>
                      <a:pt x="83" y="19"/>
                    </a:lnTo>
                    <a:lnTo>
                      <a:pt x="59" y="26"/>
                    </a:lnTo>
                    <a:lnTo>
                      <a:pt x="39" y="35"/>
                    </a:lnTo>
                    <a:lnTo>
                      <a:pt x="22" y="44"/>
                    </a:lnTo>
                    <a:lnTo>
                      <a:pt x="10" y="53"/>
                    </a:lnTo>
                    <a:lnTo>
                      <a:pt x="2" y="63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8E8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8" name="Freeform 226"/>
              <p:cNvSpPr>
                <a:spLocks/>
              </p:cNvSpPr>
              <p:nvPr/>
            </p:nvSpPr>
            <p:spPr bwMode="auto">
              <a:xfrm>
                <a:off x="4062" y="1452"/>
                <a:ext cx="447" cy="73"/>
              </a:xfrm>
              <a:custGeom>
                <a:avLst/>
                <a:gdLst>
                  <a:gd name="T0" fmla="*/ 447 w 447"/>
                  <a:gd name="T1" fmla="*/ 0 h 73"/>
                  <a:gd name="T2" fmla="*/ 447 w 447"/>
                  <a:gd name="T3" fmla="*/ 0 h 73"/>
                  <a:gd name="T4" fmla="*/ 444 w 447"/>
                  <a:gd name="T5" fmla="*/ 10 h 73"/>
                  <a:gd name="T6" fmla="*/ 436 w 447"/>
                  <a:gd name="T7" fmla="*/ 20 h 73"/>
                  <a:gd name="T8" fmla="*/ 425 w 447"/>
                  <a:gd name="T9" fmla="*/ 29 h 73"/>
                  <a:gd name="T10" fmla="*/ 408 w 447"/>
                  <a:gd name="T11" fmla="*/ 39 h 73"/>
                  <a:gd name="T12" fmla="*/ 387 w 447"/>
                  <a:gd name="T13" fmla="*/ 46 h 73"/>
                  <a:gd name="T14" fmla="*/ 363 w 447"/>
                  <a:gd name="T15" fmla="*/ 54 h 73"/>
                  <a:gd name="T16" fmla="*/ 335 w 447"/>
                  <a:gd name="T17" fmla="*/ 61 h 73"/>
                  <a:gd name="T18" fmla="*/ 303 w 447"/>
                  <a:gd name="T19" fmla="*/ 66 h 73"/>
                  <a:gd name="T20" fmla="*/ 271 w 447"/>
                  <a:gd name="T21" fmla="*/ 70 h 73"/>
                  <a:gd name="T22" fmla="*/ 237 w 447"/>
                  <a:gd name="T23" fmla="*/ 73 h 73"/>
                  <a:gd name="T24" fmla="*/ 200 w 447"/>
                  <a:gd name="T25" fmla="*/ 73 h 73"/>
                  <a:gd name="T26" fmla="*/ 164 w 447"/>
                  <a:gd name="T27" fmla="*/ 73 h 73"/>
                  <a:gd name="T28" fmla="*/ 129 w 447"/>
                  <a:gd name="T29" fmla="*/ 73 h 73"/>
                  <a:gd name="T30" fmla="*/ 94 w 447"/>
                  <a:gd name="T31" fmla="*/ 70 h 73"/>
                  <a:gd name="T32" fmla="*/ 61 w 447"/>
                  <a:gd name="T33" fmla="*/ 66 h 73"/>
                  <a:gd name="T34" fmla="*/ 29 w 447"/>
                  <a:gd name="T35" fmla="*/ 61 h 73"/>
                  <a:gd name="T36" fmla="*/ 0 w 447"/>
                  <a:gd name="T37" fmla="*/ 55 h 73"/>
                  <a:gd name="T38" fmla="*/ 29 w 447"/>
                  <a:gd name="T39" fmla="*/ 61 h 73"/>
                  <a:gd name="T40" fmla="*/ 61 w 447"/>
                  <a:gd name="T41" fmla="*/ 66 h 73"/>
                  <a:gd name="T42" fmla="*/ 94 w 447"/>
                  <a:gd name="T43" fmla="*/ 70 h 73"/>
                  <a:gd name="T44" fmla="*/ 129 w 447"/>
                  <a:gd name="T45" fmla="*/ 73 h 73"/>
                  <a:gd name="T46" fmla="*/ 164 w 447"/>
                  <a:gd name="T47" fmla="*/ 73 h 73"/>
                  <a:gd name="T48" fmla="*/ 200 w 447"/>
                  <a:gd name="T49" fmla="*/ 73 h 73"/>
                  <a:gd name="T50" fmla="*/ 237 w 447"/>
                  <a:gd name="T51" fmla="*/ 73 h 73"/>
                  <a:gd name="T52" fmla="*/ 271 w 447"/>
                  <a:gd name="T53" fmla="*/ 70 h 73"/>
                  <a:gd name="T54" fmla="*/ 303 w 447"/>
                  <a:gd name="T55" fmla="*/ 66 h 73"/>
                  <a:gd name="T56" fmla="*/ 335 w 447"/>
                  <a:gd name="T57" fmla="*/ 61 h 73"/>
                  <a:gd name="T58" fmla="*/ 363 w 447"/>
                  <a:gd name="T59" fmla="*/ 54 h 73"/>
                  <a:gd name="T60" fmla="*/ 387 w 447"/>
                  <a:gd name="T61" fmla="*/ 46 h 73"/>
                  <a:gd name="T62" fmla="*/ 408 w 447"/>
                  <a:gd name="T63" fmla="*/ 39 h 73"/>
                  <a:gd name="T64" fmla="*/ 425 w 447"/>
                  <a:gd name="T65" fmla="*/ 29 h 73"/>
                  <a:gd name="T66" fmla="*/ 436 w 447"/>
                  <a:gd name="T67" fmla="*/ 20 h 73"/>
                  <a:gd name="T68" fmla="*/ 444 w 447"/>
                  <a:gd name="T69" fmla="*/ 10 h 73"/>
                  <a:gd name="T70" fmla="*/ 447 w 447"/>
                  <a:gd name="T71" fmla="*/ 0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47"/>
                  <a:gd name="T109" fmla="*/ 0 h 73"/>
                  <a:gd name="T110" fmla="*/ 447 w 447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47" h="73">
                    <a:moveTo>
                      <a:pt x="447" y="0"/>
                    </a:moveTo>
                    <a:lnTo>
                      <a:pt x="447" y="0"/>
                    </a:lnTo>
                    <a:lnTo>
                      <a:pt x="444" y="10"/>
                    </a:lnTo>
                    <a:lnTo>
                      <a:pt x="436" y="20"/>
                    </a:lnTo>
                    <a:lnTo>
                      <a:pt x="425" y="29"/>
                    </a:lnTo>
                    <a:lnTo>
                      <a:pt x="408" y="39"/>
                    </a:lnTo>
                    <a:lnTo>
                      <a:pt x="387" y="46"/>
                    </a:lnTo>
                    <a:lnTo>
                      <a:pt x="363" y="54"/>
                    </a:lnTo>
                    <a:lnTo>
                      <a:pt x="335" y="61"/>
                    </a:lnTo>
                    <a:lnTo>
                      <a:pt x="303" y="66"/>
                    </a:lnTo>
                    <a:lnTo>
                      <a:pt x="271" y="70"/>
                    </a:lnTo>
                    <a:lnTo>
                      <a:pt x="237" y="73"/>
                    </a:lnTo>
                    <a:lnTo>
                      <a:pt x="200" y="73"/>
                    </a:lnTo>
                    <a:lnTo>
                      <a:pt x="164" y="73"/>
                    </a:lnTo>
                    <a:lnTo>
                      <a:pt x="129" y="73"/>
                    </a:lnTo>
                    <a:lnTo>
                      <a:pt x="94" y="70"/>
                    </a:lnTo>
                    <a:lnTo>
                      <a:pt x="61" y="66"/>
                    </a:lnTo>
                    <a:lnTo>
                      <a:pt x="29" y="61"/>
                    </a:lnTo>
                    <a:lnTo>
                      <a:pt x="0" y="55"/>
                    </a:lnTo>
                    <a:lnTo>
                      <a:pt x="29" y="61"/>
                    </a:lnTo>
                    <a:lnTo>
                      <a:pt x="61" y="66"/>
                    </a:lnTo>
                    <a:lnTo>
                      <a:pt x="94" y="70"/>
                    </a:lnTo>
                    <a:lnTo>
                      <a:pt x="129" y="73"/>
                    </a:lnTo>
                    <a:lnTo>
                      <a:pt x="164" y="73"/>
                    </a:lnTo>
                    <a:lnTo>
                      <a:pt x="200" y="73"/>
                    </a:lnTo>
                    <a:lnTo>
                      <a:pt x="237" y="73"/>
                    </a:lnTo>
                    <a:lnTo>
                      <a:pt x="271" y="70"/>
                    </a:lnTo>
                    <a:lnTo>
                      <a:pt x="303" y="66"/>
                    </a:lnTo>
                    <a:lnTo>
                      <a:pt x="335" y="61"/>
                    </a:lnTo>
                    <a:lnTo>
                      <a:pt x="363" y="54"/>
                    </a:lnTo>
                    <a:lnTo>
                      <a:pt x="387" y="46"/>
                    </a:lnTo>
                    <a:lnTo>
                      <a:pt x="408" y="39"/>
                    </a:lnTo>
                    <a:lnTo>
                      <a:pt x="425" y="29"/>
                    </a:lnTo>
                    <a:lnTo>
                      <a:pt x="436" y="20"/>
                    </a:lnTo>
                    <a:lnTo>
                      <a:pt x="444" y="10"/>
                    </a:lnTo>
                    <a:lnTo>
                      <a:pt x="447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9" name="Freeform 227"/>
              <p:cNvSpPr>
                <a:spLocks/>
              </p:cNvSpPr>
              <p:nvPr/>
            </p:nvSpPr>
            <p:spPr bwMode="auto">
              <a:xfrm>
                <a:off x="3979" y="1452"/>
                <a:ext cx="83" cy="55"/>
              </a:xfrm>
              <a:custGeom>
                <a:avLst/>
                <a:gdLst>
                  <a:gd name="T0" fmla="*/ 0 w 83"/>
                  <a:gd name="T1" fmla="*/ 0 h 55"/>
                  <a:gd name="T2" fmla="*/ 2 w 83"/>
                  <a:gd name="T3" fmla="*/ 10 h 55"/>
                  <a:gd name="T4" fmla="*/ 10 w 83"/>
                  <a:gd name="T5" fmla="*/ 20 h 55"/>
                  <a:gd name="T6" fmla="*/ 22 w 83"/>
                  <a:gd name="T7" fmla="*/ 30 h 55"/>
                  <a:gd name="T8" fmla="*/ 39 w 83"/>
                  <a:gd name="T9" fmla="*/ 39 h 55"/>
                  <a:gd name="T10" fmla="*/ 59 w 83"/>
                  <a:gd name="T11" fmla="*/ 46 h 55"/>
                  <a:gd name="T12" fmla="*/ 83 w 83"/>
                  <a:gd name="T13" fmla="*/ 55 h 55"/>
                  <a:gd name="T14" fmla="*/ 59 w 83"/>
                  <a:gd name="T15" fmla="*/ 46 h 55"/>
                  <a:gd name="T16" fmla="*/ 39 w 83"/>
                  <a:gd name="T17" fmla="*/ 39 h 55"/>
                  <a:gd name="T18" fmla="*/ 22 w 83"/>
                  <a:gd name="T19" fmla="*/ 30 h 55"/>
                  <a:gd name="T20" fmla="*/ 10 w 83"/>
                  <a:gd name="T21" fmla="*/ 20 h 55"/>
                  <a:gd name="T22" fmla="*/ 2 w 83"/>
                  <a:gd name="T23" fmla="*/ 10 h 55"/>
                  <a:gd name="T24" fmla="*/ 0 w 83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3"/>
                  <a:gd name="T40" fmla="*/ 0 h 55"/>
                  <a:gd name="T41" fmla="*/ 83 w 83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3" h="55">
                    <a:moveTo>
                      <a:pt x="0" y="0"/>
                    </a:moveTo>
                    <a:lnTo>
                      <a:pt x="2" y="10"/>
                    </a:lnTo>
                    <a:lnTo>
                      <a:pt x="10" y="20"/>
                    </a:lnTo>
                    <a:lnTo>
                      <a:pt x="22" y="30"/>
                    </a:lnTo>
                    <a:lnTo>
                      <a:pt x="39" y="39"/>
                    </a:lnTo>
                    <a:lnTo>
                      <a:pt x="59" y="46"/>
                    </a:lnTo>
                    <a:lnTo>
                      <a:pt x="83" y="55"/>
                    </a:lnTo>
                    <a:lnTo>
                      <a:pt x="59" y="46"/>
                    </a:lnTo>
                    <a:lnTo>
                      <a:pt x="39" y="39"/>
                    </a:lnTo>
                    <a:lnTo>
                      <a:pt x="22" y="30"/>
                    </a:lnTo>
                    <a:lnTo>
                      <a:pt x="10" y="20"/>
                    </a:lnTo>
                    <a:lnTo>
                      <a:pt x="2" y="10"/>
                    </a:lnTo>
                    <a:lnTo>
                      <a:pt x="0" y="0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0" name="Freeform 228"/>
              <p:cNvSpPr>
                <a:spLocks/>
              </p:cNvSpPr>
              <p:nvPr/>
            </p:nvSpPr>
            <p:spPr bwMode="auto">
              <a:xfrm>
                <a:off x="3979" y="1378"/>
                <a:ext cx="530" cy="351"/>
              </a:xfrm>
              <a:custGeom>
                <a:avLst/>
                <a:gdLst>
                  <a:gd name="T0" fmla="*/ 0 w 530"/>
                  <a:gd name="T1" fmla="*/ 74 h 351"/>
                  <a:gd name="T2" fmla="*/ 0 w 530"/>
                  <a:gd name="T3" fmla="*/ 277 h 351"/>
                  <a:gd name="T4" fmla="*/ 2 w 530"/>
                  <a:gd name="T5" fmla="*/ 288 h 351"/>
                  <a:gd name="T6" fmla="*/ 10 w 530"/>
                  <a:gd name="T7" fmla="*/ 298 h 351"/>
                  <a:gd name="T8" fmla="*/ 22 w 530"/>
                  <a:gd name="T9" fmla="*/ 307 h 351"/>
                  <a:gd name="T10" fmla="*/ 39 w 530"/>
                  <a:gd name="T11" fmla="*/ 316 h 351"/>
                  <a:gd name="T12" fmla="*/ 59 w 530"/>
                  <a:gd name="T13" fmla="*/ 324 h 351"/>
                  <a:gd name="T14" fmla="*/ 83 w 530"/>
                  <a:gd name="T15" fmla="*/ 332 h 351"/>
                  <a:gd name="T16" fmla="*/ 112 w 530"/>
                  <a:gd name="T17" fmla="*/ 339 h 351"/>
                  <a:gd name="T18" fmla="*/ 144 w 530"/>
                  <a:gd name="T19" fmla="*/ 344 h 351"/>
                  <a:gd name="T20" fmla="*/ 176 w 530"/>
                  <a:gd name="T21" fmla="*/ 347 h 351"/>
                  <a:gd name="T22" fmla="*/ 210 w 530"/>
                  <a:gd name="T23" fmla="*/ 350 h 351"/>
                  <a:gd name="T24" fmla="*/ 247 w 530"/>
                  <a:gd name="T25" fmla="*/ 351 h 351"/>
                  <a:gd name="T26" fmla="*/ 283 w 530"/>
                  <a:gd name="T27" fmla="*/ 351 h 351"/>
                  <a:gd name="T28" fmla="*/ 320 w 530"/>
                  <a:gd name="T29" fmla="*/ 350 h 351"/>
                  <a:gd name="T30" fmla="*/ 354 w 530"/>
                  <a:gd name="T31" fmla="*/ 347 h 351"/>
                  <a:gd name="T32" fmla="*/ 386 w 530"/>
                  <a:gd name="T33" fmla="*/ 344 h 351"/>
                  <a:gd name="T34" fmla="*/ 418 w 530"/>
                  <a:gd name="T35" fmla="*/ 339 h 351"/>
                  <a:gd name="T36" fmla="*/ 446 w 530"/>
                  <a:gd name="T37" fmla="*/ 332 h 351"/>
                  <a:gd name="T38" fmla="*/ 470 w 530"/>
                  <a:gd name="T39" fmla="*/ 324 h 351"/>
                  <a:gd name="T40" fmla="*/ 491 w 530"/>
                  <a:gd name="T41" fmla="*/ 316 h 351"/>
                  <a:gd name="T42" fmla="*/ 508 w 530"/>
                  <a:gd name="T43" fmla="*/ 307 h 351"/>
                  <a:gd name="T44" fmla="*/ 519 w 530"/>
                  <a:gd name="T45" fmla="*/ 298 h 351"/>
                  <a:gd name="T46" fmla="*/ 527 w 530"/>
                  <a:gd name="T47" fmla="*/ 288 h 351"/>
                  <a:gd name="T48" fmla="*/ 530 w 530"/>
                  <a:gd name="T49" fmla="*/ 277 h 351"/>
                  <a:gd name="T50" fmla="*/ 530 w 530"/>
                  <a:gd name="T51" fmla="*/ 74 h 351"/>
                  <a:gd name="T52" fmla="*/ 527 w 530"/>
                  <a:gd name="T53" fmla="*/ 63 h 351"/>
                  <a:gd name="T54" fmla="*/ 519 w 530"/>
                  <a:gd name="T55" fmla="*/ 53 h 351"/>
                  <a:gd name="T56" fmla="*/ 508 w 530"/>
                  <a:gd name="T57" fmla="*/ 44 h 351"/>
                  <a:gd name="T58" fmla="*/ 491 w 530"/>
                  <a:gd name="T59" fmla="*/ 35 h 351"/>
                  <a:gd name="T60" fmla="*/ 470 w 530"/>
                  <a:gd name="T61" fmla="*/ 26 h 351"/>
                  <a:gd name="T62" fmla="*/ 446 w 530"/>
                  <a:gd name="T63" fmla="*/ 19 h 351"/>
                  <a:gd name="T64" fmla="*/ 418 w 530"/>
                  <a:gd name="T65" fmla="*/ 12 h 351"/>
                  <a:gd name="T66" fmla="*/ 386 w 530"/>
                  <a:gd name="T67" fmla="*/ 7 h 351"/>
                  <a:gd name="T68" fmla="*/ 354 w 530"/>
                  <a:gd name="T69" fmla="*/ 4 h 351"/>
                  <a:gd name="T70" fmla="*/ 320 w 530"/>
                  <a:gd name="T71" fmla="*/ 1 h 351"/>
                  <a:gd name="T72" fmla="*/ 283 w 530"/>
                  <a:gd name="T73" fmla="*/ 0 h 351"/>
                  <a:gd name="T74" fmla="*/ 247 w 530"/>
                  <a:gd name="T75" fmla="*/ 0 h 351"/>
                  <a:gd name="T76" fmla="*/ 210 w 530"/>
                  <a:gd name="T77" fmla="*/ 1 h 351"/>
                  <a:gd name="T78" fmla="*/ 176 w 530"/>
                  <a:gd name="T79" fmla="*/ 4 h 351"/>
                  <a:gd name="T80" fmla="*/ 144 w 530"/>
                  <a:gd name="T81" fmla="*/ 7 h 351"/>
                  <a:gd name="T82" fmla="*/ 112 w 530"/>
                  <a:gd name="T83" fmla="*/ 12 h 351"/>
                  <a:gd name="T84" fmla="*/ 83 w 530"/>
                  <a:gd name="T85" fmla="*/ 19 h 351"/>
                  <a:gd name="T86" fmla="*/ 59 w 530"/>
                  <a:gd name="T87" fmla="*/ 26 h 351"/>
                  <a:gd name="T88" fmla="*/ 39 w 530"/>
                  <a:gd name="T89" fmla="*/ 35 h 351"/>
                  <a:gd name="T90" fmla="*/ 22 w 530"/>
                  <a:gd name="T91" fmla="*/ 44 h 351"/>
                  <a:gd name="T92" fmla="*/ 10 w 530"/>
                  <a:gd name="T93" fmla="*/ 53 h 351"/>
                  <a:gd name="T94" fmla="*/ 2 w 530"/>
                  <a:gd name="T95" fmla="*/ 63 h 351"/>
                  <a:gd name="T96" fmla="*/ 0 w 530"/>
                  <a:gd name="T97" fmla="*/ 74 h 35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30"/>
                  <a:gd name="T148" fmla="*/ 0 h 351"/>
                  <a:gd name="T149" fmla="*/ 530 w 530"/>
                  <a:gd name="T150" fmla="*/ 351 h 35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30" h="351">
                    <a:moveTo>
                      <a:pt x="0" y="74"/>
                    </a:moveTo>
                    <a:lnTo>
                      <a:pt x="0" y="277"/>
                    </a:lnTo>
                    <a:lnTo>
                      <a:pt x="2" y="288"/>
                    </a:lnTo>
                    <a:lnTo>
                      <a:pt x="10" y="298"/>
                    </a:lnTo>
                    <a:lnTo>
                      <a:pt x="22" y="307"/>
                    </a:lnTo>
                    <a:lnTo>
                      <a:pt x="39" y="316"/>
                    </a:lnTo>
                    <a:lnTo>
                      <a:pt x="59" y="324"/>
                    </a:lnTo>
                    <a:lnTo>
                      <a:pt x="83" y="332"/>
                    </a:lnTo>
                    <a:lnTo>
                      <a:pt x="112" y="339"/>
                    </a:lnTo>
                    <a:lnTo>
                      <a:pt x="144" y="344"/>
                    </a:lnTo>
                    <a:lnTo>
                      <a:pt x="176" y="347"/>
                    </a:lnTo>
                    <a:lnTo>
                      <a:pt x="210" y="350"/>
                    </a:lnTo>
                    <a:lnTo>
                      <a:pt x="247" y="351"/>
                    </a:lnTo>
                    <a:lnTo>
                      <a:pt x="283" y="351"/>
                    </a:lnTo>
                    <a:lnTo>
                      <a:pt x="320" y="350"/>
                    </a:lnTo>
                    <a:lnTo>
                      <a:pt x="354" y="347"/>
                    </a:lnTo>
                    <a:lnTo>
                      <a:pt x="386" y="344"/>
                    </a:lnTo>
                    <a:lnTo>
                      <a:pt x="418" y="339"/>
                    </a:lnTo>
                    <a:lnTo>
                      <a:pt x="446" y="332"/>
                    </a:lnTo>
                    <a:lnTo>
                      <a:pt x="470" y="324"/>
                    </a:lnTo>
                    <a:lnTo>
                      <a:pt x="491" y="316"/>
                    </a:lnTo>
                    <a:lnTo>
                      <a:pt x="508" y="307"/>
                    </a:lnTo>
                    <a:lnTo>
                      <a:pt x="519" y="298"/>
                    </a:lnTo>
                    <a:lnTo>
                      <a:pt x="527" y="288"/>
                    </a:lnTo>
                    <a:lnTo>
                      <a:pt x="530" y="277"/>
                    </a:lnTo>
                    <a:lnTo>
                      <a:pt x="530" y="74"/>
                    </a:lnTo>
                    <a:lnTo>
                      <a:pt x="527" y="63"/>
                    </a:lnTo>
                    <a:lnTo>
                      <a:pt x="519" y="53"/>
                    </a:lnTo>
                    <a:lnTo>
                      <a:pt x="508" y="44"/>
                    </a:lnTo>
                    <a:lnTo>
                      <a:pt x="491" y="35"/>
                    </a:lnTo>
                    <a:lnTo>
                      <a:pt x="470" y="26"/>
                    </a:lnTo>
                    <a:lnTo>
                      <a:pt x="446" y="19"/>
                    </a:lnTo>
                    <a:lnTo>
                      <a:pt x="418" y="12"/>
                    </a:lnTo>
                    <a:lnTo>
                      <a:pt x="386" y="7"/>
                    </a:lnTo>
                    <a:lnTo>
                      <a:pt x="354" y="4"/>
                    </a:lnTo>
                    <a:lnTo>
                      <a:pt x="320" y="1"/>
                    </a:lnTo>
                    <a:lnTo>
                      <a:pt x="283" y="0"/>
                    </a:lnTo>
                    <a:lnTo>
                      <a:pt x="247" y="0"/>
                    </a:lnTo>
                    <a:lnTo>
                      <a:pt x="210" y="1"/>
                    </a:lnTo>
                    <a:lnTo>
                      <a:pt x="176" y="4"/>
                    </a:lnTo>
                    <a:lnTo>
                      <a:pt x="144" y="7"/>
                    </a:lnTo>
                    <a:lnTo>
                      <a:pt x="112" y="12"/>
                    </a:lnTo>
                    <a:lnTo>
                      <a:pt x="83" y="19"/>
                    </a:lnTo>
                    <a:lnTo>
                      <a:pt x="59" y="26"/>
                    </a:lnTo>
                    <a:lnTo>
                      <a:pt x="39" y="35"/>
                    </a:lnTo>
                    <a:lnTo>
                      <a:pt x="22" y="44"/>
                    </a:lnTo>
                    <a:lnTo>
                      <a:pt x="10" y="53"/>
                    </a:lnTo>
                    <a:lnTo>
                      <a:pt x="2" y="63"/>
                    </a:lnTo>
                    <a:lnTo>
                      <a:pt x="0" y="74"/>
                    </a:lnTo>
                  </a:path>
                </a:pathLst>
              </a:custGeom>
              <a:noFill/>
              <a:ln w="7938" cap="rnd">
                <a:solidFill>
                  <a:srgbClr val="23CB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0" name="Group 229"/>
            <p:cNvGrpSpPr>
              <a:grpSpLocks/>
            </p:cNvGrpSpPr>
            <p:nvPr/>
          </p:nvGrpSpPr>
          <p:grpSpPr bwMode="auto">
            <a:xfrm>
              <a:off x="3980" y="1378"/>
              <a:ext cx="529" cy="148"/>
              <a:chOff x="3980" y="1378"/>
              <a:chExt cx="529" cy="148"/>
            </a:xfrm>
          </p:grpSpPr>
          <p:sp>
            <p:nvSpPr>
              <p:cNvPr id="28725" name="Freeform 230"/>
              <p:cNvSpPr>
                <a:spLocks/>
              </p:cNvSpPr>
              <p:nvPr/>
            </p:nvSpPr>
            <p:spPr bwMode="auto">
              <a:xfrm>
                <a:off x="3980" y="1378"/>
                <a:ext cx="529" cy="148"/>
              </a:xfrm>
              <a:custGeom>
                <a:avLst/>
                <a:gdLst>
                  <a:gd name="T0" fmla="*/ 529 w 529"/>
                  <a:gd name="T1" fmla="*/ 74 h 148"/>
                  <a:gd name="T2" fmla="*/ 526 w 529"/>
                  <a:gd name="T3" fmla="*/ 84 h 148"/>
                  <a:gd name="T4" fmla="*/ 518 w 529"/>
                  <a:gd name="T5" fmla="*/ 94 h 148"/>
                  <a:gd name="T6" fmla="*/ 506 w 529"/>
                  <a:gd name="T7" fmla="*/ 104 h 148"/>
                  <a:gd name="T8" fmla="*/ 489 w 529"/>
                  <a:gd name="T9" fmla="*/ 113 h 148"/>
                  <a:gd name="T10" fmla="*/ 467 w 529"/>
                  <a:gd name="T11" fmla="*/ 121 h 148"/>
                  <a:gd name="T12" fmla="*/ 441 w 529"/>
                  <a:gd name="T13" fmla="*/ 129 h 148"/>
                  <a:gd name="T14" fmla="*/ 412 w 529"/>
                  <a:gd name="T15" fmla="*/ 136 h 148"/>
                  <a:gd name="T16" fmla="*/ 380 w 529"/>
                  <a:gd name="T17" fmla="*/ 141 h 148"/>
                  <a:gd name="T18" fmla="*/ 345 w 529"/>
                  <a:gd name="T19" fmla="*/ 145 h 148"/>
                  <a:gd name="T20" fmla="*/ 311 w 529"/>
                  <a:gd name="T21" fmla="*/ 147 h 148"/>
                  <a:gd name="T22" fmla="*/ 273 w 529"/>
                  <a:gd name="T23" fmla="*/ 148 h 148"/>
                  <a:gd name="T24" fmla="*/ 236 w 529"/>
                  <a:gd name="T25" fmla="*/ 147 h 148"/>
                  <a:gd name="T26" fmla="*/ 199 w 529"/>
                  <a:gd name="T27" fmla="*/ 146 h 148"/>
                  <a:gd name="T28" fmla="*/ 164 w 529"/>
                  <a:gd name="T29" fmla="*/ 143 h 148"/>
                  <a:gd name="T30" fmla="*/ 132 w 529"/>
                  <a:gd name="T31" fmla="*/ 139 h 148"/>
                  <a:gd name="T32" fmla="*/ 100 w 529"/>
                  <a:gd name="T33" fmla="*/ 133 h 148"/>
                  <a:gd name="T34" fmla="*/ 74 w 529"/>
                  <a:gd name="T35" fmla="*/ 125 h 148"/>
                  <a:gd name="T36" fmla="*/ 49 w 529"/>
                  <a:gd name="T37" fmla="*/ 118 h 148"/>
                  <a:gd name="T38" fmla="*/ 30 w 529"/>
                  <a:gd name="T39" fmla="*/ 109 h 148"/>
                  <a:gd name="T40" fmla="*/ 16 w 529"/>
                  <a:gd name="T41" fmla="*/ 99 h 148"/>
                  <a:gd name="T42" fmla="*/ 6 w 529"/>
                  <a:gd name="T43" fmla="*/ 89 h 148"/>
                  <a:gd name="T44" fmla="*/ 0 w 529"/>
                  <a:gd name="T45" fmla="*/ 79 h 148"/>
                  <a:gd name="T46" fmla="*/ 0 w 529"/>
                  <a:gd name="T47" fmla="*/ 68 h 148"/>
                  <a:gd name="T48" fmla="*/ 6 w 529"/>
                  <a:gd name="T49" fmla="*/ 58 h 148"/>
                  <a:gd name="T50" fmla="*/ 16 w 529"/>
                  <a:gd name="T51" fmla="*/ 48 h 148"/>
                  <a:gd name="T52" fmla="*/ 30 w 529"/>
                  <a:gd name="T53" fmla="*/ 38 h 148"/>
                  <a:gd name="T54" fmla="*/ 49 w 529"/>
                  <a:gd name="T55" fmla="*/ 30 h 148"/>
                  <a:gd name="T56" fmla="*/ 74 w 529"/>
                  <a:gd name="T57" fmla="*/ 21 h 148"/>
                  <a:gd name="T58" fmla="*/ 100 w 529"/>
                  <a:gd name="T59" fmla="*/ 14 h 148"/>
                  <a:gd name="T60" fmla="*/ 132 w 529"/>
                  <a:gd name="T61" fmla="*/ 9 h 148"/>
                  <a:gd name="T62" fmla="*/ 164 w 529"/>
                  <a:gd name="T63" fmla="*/ 5 h 148"/>
                  <a:gd name="T64" fmla="*/ 199 w 529"/>
                  <a:gd name="T65" fmla="*/ 2 h 148"/>
                  <a:gd name="T66" fmla="*/ 236 w 529"/>
                  <a:gd name="T67" fmla="*/ 0 h 148"/>
                  <a:gd name="T68" fmla="*/ 273 w 529"/>
                  <a:gd name="T69" fmla="*/ 0 h 148"/>
                  <a:gd name="T70" fmla="*/ 311 w 529"/>
                  <a:gd name="T71" fmla="*/ 1 h 148"/>
                  <a:gd name="T72" fmla="*/ 345 w 529"/>
                  <a:gd name="T73" fmla="*/ 3 h 148"/>
                  <a:gd name="T74" fmla="*/ 380 w 529"/>
                  <a:gd name="T75" fmla="*/ 6 h 148"/>
                  <a:gd name="T76" fmla="*/ 412 w 529"/>
                  <a:gd name="T77" fmla="*/ 11 h 148"/>
                  <a:gd name="T78" fmla="*/ 441 w 529"/>
                  <a:gd name="T79" fmla="*/ 18 h 148"/>
                  <a:gd name="T80" fmla="*/ 467 w 529"/>
                  <a:gd name="T81" fmla="*/ 25 h 148"/>
                  <a:gd name="T82" fmla="*/ 489 w 529"/>
                  <a:gd name="T83" fmla="*/ 34 h 148"/>
                  <a:gd name="T84" fmla="*/ 506 w 529"/>
                  <a:gd name="T85" fmla="*/ 43 h 148"/>
                  <a:gd name="T86" fmla="*/ 518 w 529"/>
                  <a:gd name="T87" fmla="*/ 53 h 148"/>
                  <a:gd name="T88" fmla="*/ 526 w 529"/>
                  <a:gd name="T89" fmla="*/ 63 h 148"/>
                  <a:gd name="T90" fmla="*/ 529 w 529"/>
                  <a:gd name="T91" fmla="*/ 74 h 1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29"/>
                  <a:gd name="T139" fmla="*/ 0 h 148"/>
                  <a:gd name="T140" fmla="*/ 529 w 529"/>
                  <a:gd name="T141" fmla="*/ 148 h 1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29" h="148">
                    <a:moveTo>
                      <a:pt x="529" y="74"/>
                    </a:moveTo>
                    <a:lnTo>
                      <a:pt x="526" y="84"/>
                    </a:lnTo>
                    <a:lnTo>
                      <a:pt x="518" y="94"/>
                    </a:lnTo>
                    <a:lnTo>
                      <a:pt x="506" y="104"/>
                    </a:lnTo>
                    <a:lnTo>
                      <a:pt x="489" y="113"/>
                    </a:lnTo>
                    <a:lnTo>
                      <a:pt x="467" y="121"/>
                    </a:lnTo>
                    <a:lnTo>
                      <a:pt x="441" y="129"/>
                    </a:lnTo>
                    <a:lnTo>
                      <a:pt x="412" y="136"/>
                    </a:lnTo>
                    <a:lnTo>
                      <a:pt x="380" y="141"/>
                    </a:lnTo>
                    <a:lnTo>
                      <a:pt x="345" y="145"/>
                    </a:lnTo>
                    <a:lnTo>
                      <a:pt x="311" y="147"/>
                    </a:lnTo>
                    <a:lnTo>
                      <a:pt x="273" y="148"/>
                    </a:lnTo>
                    <a:lnTo>
                      <a:pt x="236" y="147"/>
                    </a:lnTo>
                    <a:lnTo>
                      <a:pt x="199" y="146"/>
                    </a:lnTo>
                    <a:lnTo>
                      <a:pt x="164" y="143"/>
                    </a:lnTo>
                    <a:lnTo>
                      <a:pt x="132" y="139"/>
                    </a:lnTo>
                    <a:lnTo>
                      <a:pt x="100" y="133"/>
                    </a:lnTo>
                    <a:lnTo>
                      <a:pt x="74" y="125"/>
                    </a:lnTo>
                    <a:lnTo>
                      <a:pt x="49" y="118"/>
                    </a:lnTo>
                    <a:lnTo>
                      <a:pt x="30" y="109"/>
                    </a:lnTo>
                    <a:lnTo>
                      <a:pt x="16" y="99"/>
                    </a:lnTo>
                    <a:lnTo>
                      <a:pt x="6" y="89"/>
                    </a:lnTo>
                    <a:lnTo>
                      <a:pt x="0" y="79"/>
                    </a:lnTo>
                    <a:lnTo>
                      <a:pt x="0" y="68"/>
                    </a:lnTo>
                    <a:lnTo>
                      <a:pt x="6" y="58"/>
                    </a:lnTo>
                    <a:lnTo>
                      <a:pt x="16" y="48"/>
                    </a:lnTo>
                    <a:lnTo>
                      <a:pt x="30" y="38"/>
                    </a:lnTo>
                    <a:lnTo>
                      <a:pt x="49" y="30"/>
                    </a:lnTo>
                    <a:lnTo>
                      <a:pt x="74" y="21"/>
                    </a:lnTo>
                    <a:lnTo>
                      <a:pt x="100" y="14"/>
                    </a:lnTo>
                    <a:lnTo>
                      <a:pt x="132" y="9"/>
                    </a:lnTo>
                    <a:lnTo>
                      <a:pt x="164" y="5"/>
                    </a:lnTo>
                    <a:lnTo>
                      <a:pt x="199" y="2"/>
                    </a:lnTo>
                    <a:lnTo>
                      <a:pt x="236" y="0"/>
                    </a:lnTo>
                    <a:lnTo>
                      <a:pt x="273" y="0"/>
                    </a:lnTo>
                    <a:lnTo>
                      <a:pt x="311" y="1"/>
                    </a:lnTo>
                    <a:lnTo>
                      <a:pt x="345" y="3"/>
                    </a:lnTo>
                    <a:lnTo>
                      <a:pt x="380" y="6"/>
                    </a:lnTo>
                    <a:lnTo>
                      <a:pt x="412" y="11"/>
                    </a:lnTo>
                    <a:lnTo>
                      <a:pt x="441" y="18"/>
                    </a:lnTo>
                    <a:lnTo>
                      <a:pt x="467" y="25"/>
                    </a:lnTo>
                    <a:lnTo>
                      <a:pt x="489" y="34"/>
                    </a:lnTo>
                    <a:lnTo>
                      <a:pt x="506" y="43"/>
                    </a:lnTo>
                    <a:lnTo>
                      <a:pt x="518" y="53"/>
                    </a:lnTo>
                    <a:lnTo>
                      <a:pt x="526" y="63"/>
                    </a:lnTo>
                    <a:lnTo>
                      <a:pt x="529" y="74"/>
                    </a:lnTo>
                    <a:close/>
                  </a:path>
                </a:pathLst>
              </a:custGeom>
              <a:solidFill>
                <a:srgbClr val="BBB4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6" name="Freeform 231"/>
              <p:cNvSpPr>
                <a:spLocks/>
              </p:cNvSpPr>
              <p:nvPr/>
            </p:nvSpPr>
            <p:spPr bwMode="auto">
              <a:xfrm>
                <a:off x="3980" y="1378"/>
                <a:ext cx="529" cy="148"/>
              </a:xfrm>
              <a:custGeom>
                <a:avLst/>
                <a:gdLst>
                  <a:gd name="T0" fmla="*/ 529 w 529"/>
                  <a:gd name="T1" fmla="*/ 74 h 148"/>
                  <a:gd name="T2" fmla="*/ 526 w 529"/>
                  <a:gd name="T3" fmla="*/ 84 h 148"/>
                  <a:gd name="T4" fmla="*/ 518 w 529"/>
                  <a:gd name="T5" fmla="*/ 94 h 148"/>
                  <a:gd name="T6" fmla="*/ 506 w 529"/>
                  <a:gd name="T7" fmla="*/ 104 h 148"/>
                  <a:gd name="T8" fmla="*/ 489 w 529"/>
                  <a:gd name="T9" fmla="*/ 113 h 148"/>
                  <a:gd name="T10" fmla="*/ 467 w 529"/>
                  <a:gd name="T11" fmla="*/ 121 h 148"/>
                  <a:gd name="T12" fmla="*/ 441 w 529"/>
                  <a:gd name="T13" fmla="*/ 129 h 148"/>
                  <a:gd name="T14" fmla="*/ 412 w 529"/>
                  <a:gd name="T15" fmla="*/ 136 h 148"/>
                  <a:gd name="T16" fmla="*/ 380 w 529"/>
                  <a:gd name="T17" fmla="*/ 141 h 148"/>
                  <a:gd name="T18" fmla="*/ 345 w 529"/>
                  <a:gd name="T19" fmla="*/ 145 h 148"/>
                  <a:gd name="T20" fmla="*/ 311 w 529"/>
                  <a:gd name="T21" fmla="*/ 147 h 148"/>
                  <a:gd name="T22" fmla="*/ 273 w 529"/>
                  <a:gd name="T23" fmla="*/ 148 h 148"/>
                  <a:gd name="T24" fmla="*/ 236 w 529"/>
                  <a:gd name="T25" fmla="*/ 147 h 148"/>
                  <a:gd name="T26" fmla="*/ 199 w 529"/>
                  <a:gd name="T27" fmla="*/ 146 h 148"/>
                  <a:gd name="T28" fmla="*/ 164 w 529"/>
                  <a:gd name="T29" fmla="*/ 143 h 148"/>
                  <a:gd name="T30" fmla="*/ 132 w 529"/>
                  <a:gd name="T31" fmla="*/ 139 h 148"/>
                  <a:gd name="T32" fmla="*/ 100 w 529"/>
                  <a:gd name="T33" fmla="*/ 133 h 148"/>
                  <a:gd name="T34" fmla="*/ 74 w 529"/>
                  <a:gd name="T35" fmla="*/ 125 h 148"/>
                  <a:gd name="T36" fmla="*/ 49 w 529"/>
                  <a:gd name="T37" fmla="*/ 118 h 148"/>
                  <a:gd name="T38" fmla="*/ 30 w 529"/>
                  <a:gd name="T39" fmla="*/ 109 h 148"/>
                  <a:gd name="T40" fmla="*/ 16 w 529"/>
                  <a:gd name="T41" fmla="*/ 99 h 148"/>
                  <a:gd name="T42" fmla="*/ 6 w 529"/>
                  <a:gd name="T43" fmla="*/ 89 h 148"/>
                  <a:gd name="T44" fmla="*/ 0 w 529"/>
                  <a:gd name="T45" fmla="*/ 79 h 148"/>
                  <a:gd name="T46" fmla="*/ 0 w 529"/>
                  <a:gd name="T47" fmla="*/ 68 h 148"/>
                  <a:gd name="T48" fmla="*/ 6 w 529"/>
                  <a:gd name="T49" fmla="*/ 58 h 148"/>
                  <a:gd name="T50" fmla="*/ 16 w 529"/>
                  <a:gd name="T51" fmla="*/ 48 h 148"/>
                  <a:gd name="T52" fmla="*/ 30 w 529"/>
                  <a:gd name="T53" fmla="*/ 38 h 148"/>
                  <a:gd name="T54" fmla="*/ 49 w 529"/>
                  <a:gd name="T55" fmla="*/ 30 h 148"/>
                  <a:gd name="T56" fmla="*/ 74 w 529"/>
                  <a:gd name="T57" fmla="*/ 21 h 148"/>
                  <a:gd name="T58" fmla="*/ 100 w 529"/>
                  <a:gd name="T59" fmla="*/ 14 h 148"/>
                  <a:gd name="T60" fmla="*/ 132 w 529"/>
                  <a:gd name="T61" fmla="*/ 9 h 148"/>
                  <a:gd name="T62" fmla="*/ 164 w 529"/>
                  <a:gd name="T63" fmla="*/ 5 h 148"/>
                  <a:gd name="T64" fmla="*/ 199 w 529"/>
                  <a:gd name="T65" fmla="*/ 2 h 148"/>
                  <a:gd name="T66" fmla="*/ 236 w 529"/>
                  <a:gd name="T67" fmla="*/ 0 h 148"/>
                  <a:gd name="T68" fmla="*/ 273 w 529"/>
                  <a:gd name="T69" fmla="*/ 0 h 148"/>
                  <a:gd name="T70" fmla="*/ 311 w 529"/>
                  <a:gd name="T71" fmla="*/ 1 h 148"/>
                  <a:gd name="T72" fmla="*/ 345 w 529"/>
                  <a:gd name="T73" fmla="*/ 3 h 148"/>
                  <a:gd name="T74" fmla="*/ 380 w 529"/>
                  <a:gd name="T75" fmla="*/ 6 h 148"/>
                  <a:gd name="T76" fmla="*/ 412 w 529"/>
                  <a:gd name="T77" fmla="*/ 11 h 148"/>
                  <a:gd name="T78" fmla="*/ 441 w 529"/>
                  <a:gd name="T79" fmla="*/ 18 h 148"/>
                  <a:gd name="T80" fmla="*/ 467 w 529"/>
                  <a:gd name="T81" fmla="*/ 25 h 148"/>
                  <a:gd name="T82" fmla="*/ 489 w 529"/>
                  <a:gd name="T83" fmla="*/ 34 h 148"/>
                  <a:gd name="T84" fmla="*/ 506 w 529"/>
                  <a:gd name="T85" fmla="*/ 43 h 148"/>
                  <a:gd name="T86" fmla="*/ 518 w 529"/>
                  <a:gd name="T87" fmla="*/ 53 h 148"/>
                  <a:gd name="T88" fmla="*/ 526 w 529"/>
                  <a:gd name="T89" fmla="*/ 63 h 148"/>
                  <a:gd name="T90" fmla="*/ 529 w 529"/>
                  <a:gd name="T91" fmla="*/ 74 h 1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29"/>
                  <a:gd name="T139" fmla="*/ 0 h 148"/>
                  <a:gd name="T140" fmla="*/ 529 w 529"/>
                  <a:gd name="T141" fmla="*/ 148 h 1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29" h="148">
                    <a:moveTo>
                      <a:pt x="529" y="74"/>
                    </a:moveTo>
                    <a:lnTo>
                      <a:pt x="526" y="84"/>
                    </a:lnTo>
                    <a:lnTo>
                      <a:pt x="518" y="94"/>
                    </a:lnTo>
                    <a:lnTo>
                      <a:pt x="506" y="104"/>
                    </a:lnTo>
                    <a:lnTo>
                      <a:pt x="489" y="113"/>
                    </a:lnTo>
                    <a:lnTo>
                      <a:pt x="467" y="121"/>
                    </a:lnTo>
                    <a:lnTo>
                      <a:pt x="441" y="129"/>
                    </a:lnTo>
                    <a:lnTo>
                      <a:pt x="412" y="136"/>
                    </a:lnTo>
                    <a:lnTo>
                      <a:pt x="380" y="141"/>
                    </a:lnTo>
                    <a:lnTo>
                      <a:pt x="345" y="145"/>
                    </a:lnTo>
                    <a:lnTo>
                      <a:pt x="311" y="147"/>
                    </a:lnTo>
                    <a:lnTo>
                      <a:pt x="273" y="148"/>
                    </a:lnTo>
                    <a:lnTo>
                      <a:pt x="236" y="147"/>
                    </a:lnTo>
                    <a:lnTo>
                      <a:pt x="199" y="146"/>
                    </a:lnTo>
                    <a:lnTo>
                      <a:pt x="164" y="143"/>
                    </a:lnTo>
                    <a:lnTo>
                      <a:pt x="132" y="139"/>
                    </a:lnTo>
                    <a:lnTo>
                      <a:pt x="100" y="133"/>
                    </a:lnTo>
                    <a:lnTo>
                      <a:pt x="74" y="125"/>
                    </a:lnTo>
                    <a:lnTo>
                      <a:pt x="49" y="118"/>
                    </a:lnTo>
                    <a:lnTo>
                      <a:pt x="30" y="109"/>
                    </a:lnTo>
                    <a:lnTo>
                      <a:pt x="16" y="99"/>
                    </a:lnTo>
                    <a:lnTo>
                      <a:pt x="6" y="89"/>
                    </a:lnTo>
                    <a:lnTo>
                      <a:pt x="0" y="79"/>
                    </a:lnTo>
                    <a:lnTo>
                      <a:pt x="0" y="68"/>
                    </a:lnTo>
                    <a:lnTo>
                      <a:pt x="6" y="58"/>
                    </a:lnTo>
                    <a:lnTo>
                      <a:pt x="16" y="48"/>
                    </a:lnTo>
                    <a:lnTo>
                      <a:pt x="30" y="38"/>
                    </a:lnTo>
                    <a:lnTo>
                      <a:pt x="49" y="30"/>
                    </a:lnTo>
                    <a:lnTo>
                      <a:pt x="74" y="21"/>
                    </a:lnTo>
                    <a:lnTo>
                      <a:pt x="100" y="14"/>
                    </a:lnTo>
                    <a:lnTo>
                      <a:pt x="132" y="9"/>
                    </a:lnTo>
                    <a:lnTo>
                      <a:pt x="164" y="5"/>
                    </a:lnTo>
                    <a:lnTo>
                      <a:pt x="199" y="2"/>
                    </a:lnTo>
                    <a:lnTo>
                      <a:pt x="236" y="0"/>
                    </a:lnTo>
                    <a:lnTo>
                      <a:pt x="273" y="0"/>
                    </a:lnTo>
                    <a:lnTo>
                      <a:pt x="311" y="1"/>
                    </a:lnTo>
                    <a:lnTo>
                      <a:pt x="345" y="3"/>
                    </a:lnTo>
                    <a:lnTo>
                      <a:pt x="380" y="6"/>
                    </a:lnTo>
                    <a:lnTo>
                      <a:pt x="412" y="11"/>
                    </a:lnTo>
                    <a:lnTo>
                      <a:pt x="441" y="18"/>
                    </a:lnTo>
                    <a:lnTo>
                      <a:pt x="467" y="25"/>
                    </a:lnTo>
                    <a:lnTo>
                      <a:pt x="489" y="34"/>
                    </a:lnTo>
                    <a:lnTo>
                      <a:pt x="506" y="43"/>
                    </a:lnTo>
                    <a:lnTo>
                      <a:pt x="518" y="53"/>
                    </a:lnTo>
                    <a:lnTo>
                      <a:pt x="526" y="63"/>
                    </a:lnTo>
                    <a:lnTo>
                      <a:pt x="529" y="74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4D6E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21" name="Freeform 232"/>
            <p:cNvSpPr>
              <a:spLocks noEditPoints="1"/>
            </p:cNvSpPr>
            <p:nvPr/>
          </p:nvSpPr>
          <p:spPr bwMode="auto">
            <a:xfrm>
              <a:off x="4101" y="1391"/>
              <a:ext cx="278" cy="117"/>
            </a:xfrm>
            <a:custGeom>
              <a:avLst/>
              <a:gdLst>
                <a:gd name="T0" fmla="*/ 51 w 278"/>
                <a:gd name="T1" fmla="*/ 66 h 117"/>
                <a:gd name="T2" fmla="*/ 213 w 278"/>
                <a:gd name="T3" fmla="*/ 66 h 117"/>
                <a:gd name="T4" fmla="*/ 111 w 278"/>
                <a:gd name="T5" fmla="*/ 100 h 117"/>
                <a:gd name="T6" fmla="*/ 51 w 278"/>
                <a:gd name="T7" fmla="*/ 66 h 117"/>
                <a:gd name="T8" fmla="*/ 228 w 278"/>
                <a:gd name="T9" fmla="*/ 51 h 117"/>
                <a:gd name="T10" fmla="*/ 65 w 278"/>
                <a:gd name="T11" fmla="*/ 51 h 117"/>
                <a:gd name="T12" fmla="*/ 169 w 278"/>
                <a:gd name="T13" fmla="*/ 18 h 117"/>
                <a:gd name="T14" fmla="*/ 228 w 278"/>
                <a:gd name="T15" fmla="*/ 51 h 117"/>
                <a:gd name="T16" fmla="*/ 106 w 278"/>
                <a:gd name="T17" fmla="*/ 117 h 117"/>
                <a:gd name="T18" fmla="*/ 278 w 278"/>
                <a:gd name="T19" fmla="*/ 60 h 117"/>
                <a:gd name="T20" fmla="*/ 172 w 278"/>
                <a:gd name="T21" fmla="*/ 0 h 117"/>
                <a:gd name="T22" fmla="*/ 0 w 278"/>
                <a:gd name="T23" fmla="*/ 57 h 117"/>
                <a:gd name="T24" fmla="*/ 106 w 278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8"/>
                <a:gd name="T40" fmla="*/ 0 h 117"/>
                <a:gd name="T41" fmla="*/ 278 w 278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8" h="117">
                  <a:moveTo>
                    <a:pt x="51" y="66"/>
                  </a:moveTo>
                  <a:lnTo>
                    <a:pt x="213" y="66"/>
                  </a:lnTo>
                  <a:lnTo>
                    <a:pt x="111" y="100"/>
                  </a:lnTo>
                  <a:lnTo>
                    <a:pt x="51" y="66"/>
                  </a:lnTo>
                  <a:close/>
                  <a:moveTo>
                    <a:pt x="228" y="51"/>
                  </a:moveTo>
                  <a:lnTo>
                    <a:pt x="65" y="51"/>
                  </a:lnTo>
                  <a:lnTo>
                    <a:pt x="169" y="18"/>
                  </a:lnTo>
                  <a:lnTo>
                    <a:pt x="228" y="51"/>
                  </a:lnTo>
                  <a:close/>
                  <a:moveTo>
                    <a:pt x="106" y="117"/>
                  </a:moveTo>
                  <a:lnTo>
                    <a:pt x="278" y="60"/>
                  </a:lnTo>
                  <a:lnTo>
                    <a:pt x="172" y="0"/>
                  </a:lnTo>
                  <a:lnTo>
                    <a:pt x="0" y="57"/>
                  </a:lnTo>
                  <a:lnTo>
                    <a:pt x="106" y="1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2" name="Freeform 233"/>
            <p:cNvSpPr>
              <a:spLocks noEditPoints="1"/>
            </p:cNvSpPr>
            <p:nvPr/>
          </p:nvSpPr>
          <p:spPr bwMode="auto">
            <a:xfrm>
              <a:off x="4108" y="1395"/>
              <a:ext cx="279" cy="117"/>
            </a:xfrm>
            <a:custGeom>
              <a:avLst/>
              <a:gdLst>
                <a:gd name="T0" fmla="*/ 51 w 279"/>
                <a:gd name="T1" fmla="*/ 66 h 117"/>
                <a:gd name="T2" fmla="*/ 214 w 279"/>
                <a:gd name="T3" fmla="*/ 66 h 117"/>
                <a:gd name="T4" fmla="*/ 110 w 279"/>
                <a:gd name="T5" fmla="*/ 100 h 117"/>
                <a:gd name="T6" fmla="*/ 51 w 279"/>
                <a:gd name="T7" fmla="*/ 66 h 117"/>
                <a:gd name="T8" fmla="*/ 227 w 279"/>
                <a:gd name="T9" fmla="*/ 52 h 117"/>
                <a:gd name="T10" fmla="*/ 65 w 279"/>
                <a:gd name="T11" fmla="*/ 52 h 117"/>
                <a:gd name="T12" fmla="*/ 168 w 279"/>
                <a:gd name="T13" fmla="*/ 18 h 117"/>
                <a:gd name="T14" fmla="*/ 227 w 279"/>
                <a:gd name="T15" fmla="*/ 52 h 117"/>
                <a:gd name="T16" fmla="*/ 106 w 279"/>
                <a:gd name="T17" fmla="*/ 117 h 117"/>
                <a:gd name="T18" fmla="*/ 279 w 279"/>
                <a:gd name="T19" fmla="*/ 61 h 117"/>
                <a:gd name="T20" fmla="*/ 173 w 279"/>
                <a:gd name="T21" fmla="*/ 0 h 117"/>
                <a:gd name="T22" fmla="*/ 0 w 279"/>
                <a:gd name="T23" fmla="*/ 57 h 117"/>
                <a:gd name="T24" fmla="*/ 106 w 279"/>
                <a:gd name="T25" fmla="*/ 11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9"/>
                <a:gd name="T40" fmla="*/ 0 h 117"/>
                <a:gd name="T41" fmla="*/ 279 w 279"/>
                <a:gd name="T42" fmla="*/ 117 h 1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9" h="117">
                  <a:moveTo>
                    <a:pt x="51" y="66"/>
                  </a:moveTo>
                  <a:lnTo>
                    <a:pt x="214" y="66"/>
                  </a:lnTo>
                  <a:lnTo>
                    <a:pt x="110" y="100"/>
                  </a:lnTo>
                  <a:lnTo>
                    <a:pt x="51" y="66"/>
                  </a:lnTo>
                  <a:close/>
                  <a:moveTo>
                    <a:pt x="227" y="52"/>
                  </a:moveTo>
                  <a:lnTo>
                    <a:pt x="65" y="52"/>
                  </a:lnTo>
                  <a:lnTo>
                    <a:pt x="168" y="18"/>
                  </a:lnTo>
                  <a:lnTo>
                    <a:pt x="227" y="52"/>
                  </a:lnTo>
                  <a:close/>
                  <a:moveTo>
                    <a:pt x="106" y="117"/>
                  </a:moveTo>
                  <a:lnTo>
                    <a:pt x="279" y="61"/>
                  </a:lnTo>
                  <a:lnTo>
                    <a:pt x="173" y="0"/>
                  </a:lnTo>
                  <a:lnTo>
                    <a:pt x="0" y="57"/>
                  </a:lnTo>
                  <a:lnTo>
                    <a:pt x="106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3" name="Freeform 234"/>
            <p:cNvSpPr>
              <a:spLocks noEditPoints="1"/>
            </p:cNvSpPr>
            <p:nvPr/>
          </p:nvSpPr>
          <p:spPr bwMode="auto">
            <a:xfrm>
              <a:off x="4159" y="1584"/>
              <a:ext cx="183" cy="94"/>
            </a:xfrm>
            <a:custGeom>
              <a:avLst/>
              <a:gdLst>
                <a:gd name="T0" fmla="*/ 69 w 183"/>
                <a:gd name="T1" fmla="*/ 54 h 94"/>
                <a:gd name="T2" fmla="*/ 88 w 183"/>
                <a:gd name="T3" fmla="*/ 54 h 94"/>
                <a:gd name="T4" fmla="*/ 128 w 183"/>
                <a:gd name="T5" fmla="*/ 94 h 94"/>
                <a:gd name="T6" fmla="*/ 183 w 183"/>
                <a:gd name="T7" fmla="*/ 94 h 94"/>
                <a:gd name="T8" fmla="*/ 183 w 183"/>
                <a:gd name="T9" fmla="*/ 78 h 94"/>
                <a:gd name="T10" fmla="*/ 160 w 183"/>
                <a:gd name="T11" fmla="*/ 78 h 94"/>
                <a:gd name="T12" fmla="*/ 132 w 183"/>
                <a:gd name="T13" fmla="*/ 50 h 94"/>
                <a:gd name="T14" fmla="*/ 136 w 183"/>
                <a:gd name="T15" fmla="*/ 48 h 94"/>
                <a:gd name="T16" fmla="*/ 145 w 183"/>
                <a:gd name="T17" fmla="*/ 45 h 94"/>
                <a:gd name="T18" fmla="*/ 153 w 183"/>
                <a:gd name="T19" fmla="*/ 41 h 94"/>
                <a:gd name="T20" fmla="*/ 157 w 183"/>
                <a:gd name="T21" fmla="*/ 37 h 94"/>
                <a:gd name="T22" fmla="*/ 161 w 183"/>
                <a:gd name="T23" fmla="*/ 32 h 94"/>
                <a:gd name="T24" fmla="*/ 162 w 183"/>
                <a:gd name="T25" fmla="*/ 27 h 94"/>
                <a:gd name="T26" fmla="*/ 161 w 183"/>
                <a:gd name="T27" fmla="*/ 24 h 94"/>
                <a:gd name="T28" fmla="*/ 160 w 183"/>
                <a:gd name="T29" fmla="*/ 18 h 94"/>
                <a:gd name="T30" fmla="*/ 154 w 183"/>
                <a:gd name="T31" fmla="*/ 13 h 94"/>
                <a:gd name="T32" fmla="*/ 148 w 183"/>
                <a:gd name="T33" fmla="*/ 8 h 94"/>
                <a:gd name="T34" fmla="*/ 145 w 183"/>
                <a:gd name="T35" fmla="*/ 6 h 94"/>
                <a:gd name="T36" fmla="*/ 137 w 183"/>
                <a:gd name="T37" fmla="*/ 3 h 94"/>
                <a:gd name="T38" fmla="*/ 128 w 183"/>
                <a:gd name="T39" fmla="*/ 1 h 94"/>
                <a:gd name="T40" fmla="*/ 118 w 183"/>
                <a:gd name="T41" fmla="*/ 0 h 94"/>
                <a:gd name="T42" fmla="*/ 105 w 183"/>
                <a:gd name="T43" fmla="*/ 0 h 94"/>
                <a:gd name="T44" fmla="*/ 0 w 183"/>
                <a:gd name="T45" fmla="*/ 0 h 94"/>
                <a:gd name="T46" fmla="*/ 0 w 183"/>
                <a:gd name="T47" fmla="*/ 16 h 94"/>
                <a:gd name="T48" fmla="*/ 24 w 183"/>
                <a:gd name="T49" fmla="*/ 16 h 94"/>
                <a:gd name="T50" fmla="*/ 24 w 183"/>
                <a:gd name="T51" fmla="*/ 78 h 94"/>
                <a:gd name="T52" fmla="*/ 0 w 183"/>
                <a:gd name="T53" fmla="*/ 78 h 94"/>
                <a:gd name="T54" fmla="*/ 0 w 183"/>
                <a:gd name="T55" fmla="*/ 94 h 94"/>
                <a:gd name="T56" fmla="*/ 92 w 183"/>
                <a:gd name="T57" fmla="*/ 94 h 94"/>
                <a:gd name="T58" fmla="*/ 92 w 183"/>
                <a:gd name="T59" fmla="*/ 78 h 94"/>
                <a:gd name="T60" fmla="*/ 69 w 183"/>
                <a:gd name="T61" fmla="*/ 78 h 94"/>
                <a:gd name="T62" fmla="*/ 69 w 183"/>
                <a:gd name="T63" fmla="*/ 54 h 94"/>
                <a:gd name="T64" fmla="*/ 69 w 183"/>
                <a:gd name="T65" fmla="*/ 16 h 94"/>
                <a:gd name="T66" fmla="*/ 88 w 183"/>
                <a:gd name="T67" fmla="*/ 16 h 94"/>
                <a:gd name="T68" fmla="*/ 99 w 183"/>
                <a:gd name="T69" fmla="*/ 16 h 94"/>
                <a:gd name="T70" fmla="*/ 107 w 183"/>
                <a:gd name="T71" fmla="*/ 18 h 94"/>
                <a:gd name="T72" fmla="*/ 112 w 183"/>
                <a:gd name="T73" fmla="*/ 22 h 94"/>
                <a:gd name="T74" fmla="*/ 115 w 183"/>
                <a:gd name="T75" fmla="*/ 27 h 94"/>
                <a:gd name="T76" fmla="*/ 115 w 183"/>
                <a:gd name="T77" fmla="*/ 28 h 94"/>
                <a:gd name="T78" fmla="*/ 112 w 183"/>
                <a:gd name="T79" fmla="*/ 32 h 94"/>
                <a:gd name="T80" fmla="*/ 105 w 183"/>
                <a:gd name="T81" fmla="*/ 35 h 94"/>
                <a:gd name="T82" fmla="*/ 97 w 183"/>
                <a:gd name="T83" fmla="*/ 37 h 94"/>
                <a:gd name="T84" fmla="*/ 85 w 183"/>
                <a:gd name="T85" fmla="*/ 38 h 94"/>
                <a:gd name="T86" fmla="*/ 69 w 183"/>
                <a:gd name="T87" fmla="*/ 38 h 94"/>
                <a:gd name="T88" fmla="*/ 69 w 183"/>
                <a:gd name="T89" fmla="*/ 16 h 9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3"/>
                <a:gd name="T136" fmla="*/ 0 h 94"/>
                <a:gd name="T137" fmla="*/ 183 w 183"/>
                <a:gd name="T138" fmla="*/ 94 h 9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3" h="94">
                  <a:moveTo>
                    <a:pt x="69" y="54"/>
                  </a:moveTo>
                  <a:lnTo>
                    <a:pt x="88" y="54"/>
                  </a:lnTo>
                  <a:lnTo>
                    <a:pt x="128" y="94"/>
                  </a:lnTo>
                  <a:lnTo>
                    <a:pt x="183" y="94"/>
                  </a:lnTo>
                  <a:lnTo>
                    <a:pt x="183" y="78"/>
                  </a:lnTo>
                  <a:lnTo>
                    <a:pt x="160" y="78"/>
                  </a:lnTo>
                  <a:lnTo>
                    <a:pt x="132" y="50"/>
                  </a:lnTo>
                  <a:lnTo>
                    <a:pt x="136" y="48"/>
                  </a:lnTo>
                  <a:lnTo>
                    <a:pt x="145" y="45"/>
                  </a:lnTo>
                  <a:lnTo>
                    <a:pt x="153" y="41"/>
                  </a:lnTo>
                  <a:lnTo>
                    <a:pt x="157" y="37"/>
                  </a:lnTo>
                  <a:lnTo>
                    <a:pt x="161" y="32"/>
                  </a:lnTo>
                  <a:lnTo>
                    <a:pt x="162" y="27"/>
                  </a:lnTo>
                  <a:lnTo>
                    <a:pt x="161" y="24"/>
                  </a:lnTo>
                  <a:lnTo>
                    <a:pt x="160" y="18"/>
                  </a:lnTo>
                  <a:lnTo>
                    <a:pt x="154" y="13"/>
                  </a:lnTo>
                  <a:lnTo>
                    <a:pt x="148" y="8"/>
                  </a:lnTo>
                  <a:lnTo>
                    <a:pt x="145" y="6"/>
                  </a:lnTo>
                  <a:lnTo>
                    <a:pt x="137" y="3"/>
                  </a:lnTo>
                  <a:lnTo>
                    <a:pt x="128" y="1"/>
                  </a:lnTo>
                  <a:lnTo>
                    <a:pt x="118" y="0"/>
                  </a:lnTo>
                  <a:lnTo>
                    <a:pt x="105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94"/>
                  </a:lnTo>
                  <a:lnTo>
                    <a:pt x="92" y="94"/>
                  </a:lnTo>
                  <a:lnTo>
                    <a:pt x="92" y="78"/>
                  </a:lnTo>
                  <a:lnTo>
                    <a:pt x="69" y="78"/>
                  </a:lnTo>
                  <a:lnTo>
                    <a:pt x="69" y="54"/>
                  </a:lnTo>
                  <a:close/>
                  <a:moveTo>
                    <a:pt x="69" y="16"/>
                  </a:moveTo>
                  <a:lnTo>
                    <a:pt x="88" y="16"/>
                  </a:lnTo>
                  <a:lnTo>
                    <a:pt x="99" y="16"/>
                  </a:lnTo>
                  <a:lnTo>
                    <a:pt x="107" y="18"/>
                  </a:lnTo>
                  <a:lnTo>
                    <a:pt x="112" y="22"/>
                  </a:lnTo>
                  <a:lnTo>
                    <a:pt x="115" y="27"/>
                  </a:lnTo>
                  <a:lnTo>
                    <a:pt x="115" y="28"/>
                  </a:lnTo>
                  <a:lnTo>
                    <a:pt x="112" y="32"/>
                  </a:lnTo>
                  <a:lnTo>
                    <a:pt x="105" y="35"/>
                  </a:lnTo>
                  <a:lnTo>
                    <a:pt x="97" y="37"/>
                  </a:lnTo>
                  <a:lnTo>
                    <a:pt x="85" y="38"/>
                  </a:lnTo>
                  <a:lnTo>
                    <a:pt x="69" y="38"/>
                  </a:lnTo>
                  <a:lnTo>
                    <a:pt x="69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4" name="Freeform 235"/>
            <p:cNvSpPr>
              <a:spLocks noEditPoints="1"/>
            </p:cNvSpPr>
            <p:nvPr/>
          </p:nvSpPr>
          <p:spPr bwMode="auto">
            <a:xfrm>
              <a:off x="4146" y="1575"/>
              <a:ext cx="183" cy="93"/>
            </a:xfrm>
            <a:custGeom>
              <a:avLst/>
              <a:gdLst>
                <a:gd name="T0" fmla="*/ 69 w 183"/>
                <a:gd name="T1" fmla="*/ 52 h 93"/>
                <a:gd name="T2" fmla="*/ 90 w 183"/>
                <a:gd name="T3" fmla="*/ 52 h 93"/>
                <a:gd name="T4" fmla="*/ 130 w 183"/>
                <a:gd name="T5" fmla="*/ 93 h 93"/>
                <a:gd name="T6" fmla="*/ 183 w 183"/>
                <a:gd name="T7" fmla="*/ 93 h 93"/>
                <a:gd name="T8" fmla="*/ 183 w 183"/>
                <a:gd name="T9" fmla="*/ 78 h 93"/>
                <a:gd name="T10" fmla="*/ 160 w 183"/>
                <a:gd name="T11" fmla="*/ 78 h 93"/>
                <a:gd name="T12" fmla="*/ 131 w 183"/>
                <a:gd name="T13" fmla="*/ 49 h 93"/>
                <a:gd name="T14" fmla="*/ 138 w 183"/>
                <a:gd name="T15" fmla="*/ 48 h 93"/>
                <a:gd name="T16" fmla="*/ 147 w 183"/>
                <a:gd name="T17" fmla="*/ 44 h 93"/>
                <a:gd name="T18" fmla="*/ 154 w 183"/>
                <a:gd name="T19" fmla="*/ 41 h 93"/>
                <a:gd name="T20" fmla="*/ 158 w 183"/>
                <a:gd name="T21" fmla="*/ 36 h 93"/>
                <a:gd name="T22" fmla="*/ 160 w 183"/>
                <a:gd name="T23" fmla="*/ 32 h 93"/>
                <a:gd name="T24" fmla="*/ 163 w 183"/>
                <a:gd name="T25" fmla="*/ 26 h 93"/>
                <a:gd name="T26" fmla="*/ 163 w 183"/>
                <a:gd name="T27" fmla="*/ 23 h 93"/>
                <a:gd name="T28" fmla="*/ 159 w 183"/>
                <a:gd name="T29" fmla="*/ 17 h 93"/>
                <a:gd name="T30" fmla="*/ 156 w 183"/>
                <a:gd name="T31" fmla="*/ 12 h 93"/>
                <a:gd name="T32" fmla="*/ 149 w 183"/>
                <a:gd name="T33" fmla="*/ 7 h 93"/>
                <a:gd name="T34" fmla="*/ 146 w 183"/>
                <a:gd name="T35" fmla="*/ 7 h 93"/>
                <a:gd name="T36" fmla="*/ 139 w 183"/>
                <a:gd name="T37" fmla="*/ 4 h 93"/>
                <a:gd name="T38" fmla="*/ 129 w 183"/>
                <a:gd name="T39" fmla="*/ 2 h 93"/>
                <a:gd name="T40" fmla="*/ 118 w 183"/>
                <a:gd name="T41" fmla="*/ 1 h 93"/>
                <a:gd name="T42" fmla="*/ 106 w 183"/>
                <a:gd name="T43" fmla="*/ 0 h 93"/>
                <a:gd name="T44" fmla="*/ 0 w 183"/>
                <a:gd name="T45" fmla="*/ 0 h 93"/>
                <a:gd name="T46" fmla="*/ 0 w 183"/>
                <a:gd name="T47" fmla="*/ 15 h 93"/>
                <a:gd name="T48" fmla="*/ 24 w 183"/>
                <a:gd name="T49" fmla="*/ 15 h 93"/>
                <a:gd name="T50" fmla="*/ 24 w 183"/>
                <a:gd name="T51" fmla="*/ 78 h 93"/>
                <a:gd name="T52" fmla="*/ 0 w 183"/>
                <a:gd name="T53" fmla="*/ 78 h 93"/>
                <a:gd name="T54" fmla="*/ 0 w 183"/>
                <a:gd name="T55" fmla="*/ 93 h 93"/>
                <a:gd name="T56" fmla="*/ 91 w 183"/>
                <a:gd name="T57" fmla="*/ 93 h 93"/>
                <a:gd name="T58" fmla="*/ 91 w 183"/>
                <a:gd name="T59" fmla="*/ 78 h 93"/>
                <a:gd name="T60" fmla="*/ 69 w 183"/>
                <a:gd name="T61" fmla="*/ 78 h 93"/>
                <a:gd name="T62" fmla="*/ 69 w 183"/>
                <a:gd name="T63" fmla="*/ 52 h 93"/>
                <a:gd name="T64" fmla="*/ 69 w 183"/>
                <a:gd name="T65" fmla="*/ 15 h 93"/>
                <a:gd name="T66" fmla="*/ 90 w 183"/>
                <a:gd name="T67" fmla="*/ 15 h 93"/>
                <a:gd name="T68" fmla="*/ 99 w 183"/>
                <a:gd name="T69" fmla="*/ 16 h 93"/>
                <a:gd name="T70" fmla="*/ 108 w 183"/>
                <a:gd name="T71" fmla="*/ 18 h 93"/>
                <a:gd name="T72" fmla="*/ 112 w 183"/>
                <a:gd name="T73" fmla="*/ 21 h 93"/>
                <a:gd name="T74" fmla="*/ 115 w 183"/>
                <a:gd name="T75" fmla="*/ 26 h 93"/>
                <a:gd name="T76" fmla="*/ 115 w 183"/>
                <a:gd name="T77" fmla="*/ 27 h 93"/>
                <a:gd name="T78" fmla="*/ 112 w 183"/>
                <a:gd name="T79" fmla="*/ 33 h 93"/>
                <a:gd name="T80" fmla="*/ 107 w 183"/>
                <a:gd name="T81" fmla="*/ 36 h 93"/>
                <a:gd name="T82" fmla="*/ 98 w 183"/>
                <a:gd name="T83" fmla="*/ 37 h 93"/>
                <a:gd name="T84" fmla="*/ 86 w 183"/>
                <a:gd name="T85" fmla="*/ 37 h 93"/>
                <a:gd name="T86" fmla="*/ 69 w 183"/>
                <a:gd name="T87" fmla="*/ 37 h 93"/>
                <a:gd name="T88" fmla="*/ 69 w 183"/>
                <a:gd name="T89" fmla="*/ 15 h 9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3"/>
                <a:gd name="T136" fmla="*/ 0 h 93"/>
                <a:gd name="T137" fmla="*/ 183 w 183"/>
                <a:gd name="T138" fmla="*/ 93 h 9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3" h="93">
                  <a:moveTo>
                    <a:pt x="69" y="52"/>
                  </a:moveTo>
                  <a:lnTo>
                    <a:pt x="90" y="52"/>
                  </a:lnTo>
                  <a:lnTo>
                    <a:pt x="130" y="93"/>
                  </a:lnTo>
                  <a:lnTo>
                    <a:pt x="183" y="93"/>
                  </a:lnTo>
                  <a:lnTo>
                    <a:pt x="183" y="78"/>
                  </a:lnTo>
                  <a:lnTo>
                    <a:pt x="160" y="78"/>
                  </a:lnTo>
                  <a:lnTo>
                    <a:pt x="131" y="49"/>
                  </a:lnTo>
                  <a:lnTo>
                    <a:pt x="138" y="48"/>
                  </a:lnTo>
                  <a:lnTo>
                    <a:pt x="147" y="44"/>
                  </a:lnTo>
                  <a:lnTo>
                    <a:pt x="154" y="41"/>
                  </a:lnTo>
                  <a:lnTo>
                    <a:pt x="158" y="36"/>
                  </a:lnTo>
                  <a:lnTo>
                    <a:pt x="160" y="32"/>
                  </a:lnTo>
                  <a:lnTo>
                    <a:pt x="163" y="26"/>
                  </a:lnTo>
                  <a:lnTo>
                    <a:pt x="163" y="23"/>
                  </a:lnTo>
                  <a:lnTo>
                    <a:pt x="159" y="17"/>
                  </a:lnTo>
                  <a:lnTo>
                    <a:pt x="156" y="12"/>
                  </a:lnTo>
                  <a:lnTo>
                    <a:pt x="149" y="7"/>
                  </a:lnTo>
                  <a:lnTo>
                    <a:pt x="146" y="7"/>
                  </a:lnTo>
                  <a:lnTo>
                    <a:pt x="139" y="4"/>
                  </a:lnTo>
                  <a:lnTo>
                    <a:pt x="129" y="2"/>
                  </a:lnTo>
                  <a:lnTo>
                    <a:pt x="118" y="1"/>
                  </a:lnTo>
                  <a:lnTo>
                    <a:pt x="106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24" y="15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93"/>
                  </a:lnTo>
                  <a:lnTo>
                    <a:pt x="91" y="93"/>
                  </a:lnTo>
                  <a:lnTo>
                    <a:pt x="91" y="78"/>
                  </a:lnTo>
                  <a:lnTo>
                    <a:pt x="69" y="78"/>
                  </a:lnTo>
                  <a:lnTo>
                    <a:pt x="69" y="52"/>
                  </a:lnTo>
                  <a:close/>
                  <a:moveTo>
                    <a:pt x="69" y="15"/>
                  </a:moveTo>
                  <a:lnTo>
                    <a:pt x="90" y="15"/>
                  </a:lnTo>
                  <a:lnTo>
                    <a:pt x="99" y="16"/>
                  </a:lnTo>
                  <a:lnTo>
                    <a:pt x="108" y="18"/>
                  </a:lnTo>
                  <a:lnTo>
                    <a:pt x="112" y="21"/>
                  </a:lnTo>
                  <a:lnTo>
                    <a:pt x="115" y="26"/>
                  </a:lnTo>
                  <a:lnTo>
                    <a:pt x="115" y="27"/>
                  </a:lnTo>
                  <a:lnTo>
                    <a:pt x="112" y="33"/>
                  </a:lnTo>
                  <a:lnTo>
                    <a:pt x="107" y="36"/>
                  </a:lnTo>
                  <a:lnTo>
                    <a:pt x="98" y="37"/>
                  </a:lnTo>
                  <a:lnTo>
                    <a:pt x="86" y="37"/>
                  </a:lnTo>
                  <a:lnTo>
                    <a:pt x="69" y="37"/>
                  </a:lnTo>
                  <a:lnTo>
                    <a:pt x="69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84" name="Line 236"/>
          <p:cNvSpPr>
            <a:spLocks noChangeShapeType="1"/>
          </p:cNvSpPr>
          <p:nvPr/>
        </p:nvSpPr>
        <p:spPr bwMode="auto">
          <a:xfrm>
            <a:off x="2132012" y="2351882"/>
            <a:ext cx="1962150" cy="1587"/>
          </a:xfrm>
          <a:prstGeom prst="line">
            <a:avLst/>
          </a:prstGeom>
          <a:noFill/>
          <a:ln w="44450" cap="rnd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5" name="Line 237"/>
          <p:cNvSpPr>
            <a:spLocks noChangeShapeType="1"/>
          </p:cNvSpPr>
          <p:nvPr/>
        </p:nvSpPr>
        <p:spPr bwMode="auto">
          <a:xfrm>
            <a:off x="4906962" y="2362994"/>
            <a:ext cx="1982788" cy="0"/>
          </a:xfrm>
          <a:prstGeom prst="line">
            <a:avLst/>
          </a:prstGeom>
          <a:noFill/>
          <a:ln w="44450" cap="rnd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238"/>
          <p:cNvSpPr>
            <a:spLocks noChangeShapeType="1"/>
          </p:cNvSpPr>
          <p:nvPr/>
        </p:nvSpPr>
        <p:spPr bwMode="auto">
          <a:xfrm flipH="1">
            <a:off x="412750" y="2353469"/>
            <a:ext cx="887412" cy="1588"/>
          </a:xfrm>
          <a:prstGeom prst="line">
            <a:avLst/>
          </a:prstGeom>
          <a:noFill/>
          <a:ln w="44450" cap="rnd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239"/>
          <p:cNvSpPr>
            <a:spLocks noChangeShapeType="1"/>
          </p:cNvSpPr>
          <p:nvPr/>
        </p:nvSpPr>
        <p:spPr bwMode="auto">
          <a:xfrm>
            <a:off x="7715250" y="2362994"/>
            <a:ext cx="1181100" cy="1588"/>
          </a:xfrm>
          <a:prstGeom prst="line">
            <a:avLst/>
          </a:prstGeom>
          <a:noFill/>
          <a:ln w="44450" cap="rnd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088" name="Rectangle 240"/>
          <p:cNvSpPr>
            <a:spLocks noChangeArrowheads="1"/>
          </p:cNvSpPr>
          <p:nvPr/>
        </p:nvSpPr>
        <p:spPr bwMode="auto">
          <a:xfrm>
            <a:off x="2143125" y="2331244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89" name="Rectangle 241"/>
          <p:cNvSpPr>
            <a:spLocks noChangeArrowheads="1"/>
          </p:cNvSpPr>
          <p:nvPr/>
        </p:nvSpPr>
        <p:spPr bwMode="auto">
          <a:xfrm>
            <a:off x="990600" y="2277269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S1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0" name="Rectangle 242"/>
          <p:cNvSpPr>
            <a:spLocks noChangeArrowheads="1"/>
          </p:cNvSpPr>
          <p:nvPr/>
        </p:nvSpPr>
        <p:spPr bwMode="auto">
          <a:xfrm>
            <a:off x="3827462" y="2275682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1" name="Rectangle 243"/>
          <p:cNvSpPr>
            <a:spLocks noChangeArrowheads="1"/>
          </p:cNvSpPr>
          <p:nvPr/>
        </p:nvSpPr>
        <p:spPr bwMode="auto">
          <a:xfrm>
            <a:off x="4989512" y="2280444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S1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2" name="Rectangle 244"/>
          <p:cNvSpPr>
            <a:spLocks noChangeArrowheads="1"/>
          </p:cNvSpPr>
          <p:nvPr/>
        </p:nvSpPr>
        <p:spPr bwMode="auto">
          <a:xfrm>
            <a:off x="7759700" y="2275682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3" name="Rectangle 245"/>
          <p:cNvSpPr>
            <a:spLocks noChangeArrowheads="1"/>
          </p:cNvSpPr>
          <p:nvPr/>
        </p:nvSpPr>
        <p:spPr bwMode="auto">
          <a:xfrm>
            <a:off x="6483350" y="2275682"/>
            <a:ext cx="244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S1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4" name="Rectangle 246"/>
          <p:cNvSpPr>
            <a:spLocks noChangeArrowheads="1"/>
          </p:cNvSpPr>
          <p:nvPr/>
        </p:nvSpPr>
        <p:spPr bwMode="auto">
          <a:xfrm>
            <a:off x="2598737" y="1931194"/>
            <a:ext cx="652463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2.0.0.0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5" name="Rectangle 247"/>
          <p:cNvSpPr>
            <a:spLocks noChangeArrowheads="1"/>
          </p:cNvSpPr>
          <p:nvPr/>
        </p:nvSpPr>
        <p:spPr bwMode="auto">
          <a:xfrm>
            <a:off x="7854950" y="1931194"/>
            <a:ext cx="652462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4.0.0.0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6" name="Rectangle 248"/>
          <p:cNvSpPr>
            <a:spLocks noChangeArrowheads="1"/>
          </p:cNvSpPr>
          <p:nvPr/>
        </p:nvSpPr>
        <p:spPr bwMode="auto">
          <a:xfrm>
            <a:off x="515937" y="1931194"/>
            <a:ext cx="652463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1.0.0.0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79097" name="Rectangle 249"/>
          <p:cNvSpPr>
            <a:spLocks noChangeArrowheads="1"/>
          </p:cNvSpPr>
          <p:nvPr/>
        </p:nvSpPr>
        <p:spPr bwMode="auto">
          <a:xfrm>
            <a:off x="5589587" y="1950244"/>
            <a:ext cx="652463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60000"/>
              </a:lnSpc>
              <a:defRPr/>
            </a:pPr>
            <a:r>
              <a:rPr lang="en-US" altLang="zh-CN" sz="1600">
                <a:latin typeface="Batang" pitchFamily="18" charset="-127"/>
                <a:ea typeface="宋体" pitchFamily="2" charset="-122"/>
              </a:rPr>
              <a:t>3.0.0.0</a:t>
            </a:r>
            <a:endParaRPr lang="en-US" altLang="zh-CN" sz="160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28698" name="Text Box 250"/>
          <p:cNvSpPr txBox="1">
            <a:spLocks noChangeArrowheads="1"/>
          </p:cNvSpPr>
          <p:nvPr/>
        </p:nvSpPr>
        <p:spPr bwMode="auto">
          <a:xfrm>
            <a:off x="1379537" y="2616994"/>
            <a:ext cx="685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/>
              <a:t>RA</a:t>
            </a:r>
          </a:p>
        </p:txBody>
      </p:sp>
      <p:sp>
        <p:nvSpPr>
          <p:cNvPr id="28699" name="Text Box 251"/>
          <p:cNvSpPr txBox="1">
            <a:spLocks noChangeArrowheads="1"/>
          </p:cNvSpPr>
          <p:nvPr/>
        </p:nvSpPr>
        <p:spPr bwMode="auto">
          <a:xfrm>
            <a:off x="4259262" y="2616994"/>
            <a:ext cx="685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/>
              <a:t>R</a:t>
            </a:r>
            <a:r>
              <a:rPr lang="en-US" altLang="zh-CN" sz="1600" b="0"/>
              <a:t>B</a:t>
            </a:r>
            <a:endParaRPr lang="en-US" altLang="zh-CN" sz="1600"/>
          </a:p>
        </p:txBody>
      </p:sp>
      <p:sp>
        <p:nvSpPr>
          <p:cNvPr id="28700" name="Text Box 252"/>
          <p:cNvSpPr txBox="1">
            <a:spLocks noChangeArrowheads="1"/>
          </p:cNvSpPr>
          <p:nvPr/>
        </p:nvSpPr>
        <p:spPr bwMode="auto">
          <a:xfrm>
            <a:off x="6958012" y="2540794"/>
            <a:ext cx="685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60000"/>
              </a:lnSpc>
              <a:spcBef>
                <a:spcPct val="50000"/>
              </a:spcBef>
            </a:pPr>
            <a:r>
              <a:rPr lang="en-US" altLang="zh-CN" sz="1600"/>
              <a:t>RC</a:t>
            </a:r>
          </a:p>
        </p:txBody>
      </p:sp>
      <p:grpSp>
        <p:nvGrpSpPr>
          <p:cNvPr id="20" name="Group 253"/>
          <p:cNvGrpSpPr>
            <a:grpSpLocks/>
          </p:cNvGrpSpPr>
          <p:nvPr/>
        </p:nvGrpSpPr>
        <p:grpSpPr bwMode="auto">
          <a:xfrm>
            <a:off x="542925" y="4450557"/>
            <a:ext cx="8229600" cy="1092200"/>
            <a:chOff x="336" y="2976"/>
            <a:chExt cx="5184" cy="688"/>
          </a:xfrm>
        </p:grpSpPr>
        <p:sp>
          <p:nvSpPr>
            <p:cNvPr id="28709" name="Text Box 254"/>
            <p:cNvSpPr txBox="1">
              <a:spLocks noChangeArrowheads="1"/>
            </p:cNvSpPr>
            <p:nvPr/>
          </p:nvSpPr>
          <p:spPr bwMode="auto">
            <a:xfrm>
              <a:off x="336" y="3024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>
                  <a:solidFill>
                    <a:srgbClr val="FF0000"/>
                  </a:solidFill>
                </a:rPr>
                <a:t>3.0.0.0	S0     1</a:t>
              </a:r>
            </a:p>
          </p:txBody>
        </p:sp>
        <p:sp>
          <p:nvSpPr>
            <p:cNvPr id="28710" name="Text Box 255"/>
            <p:cNvSpPr txBox="1">
              <a:spLocks noChangeArrowheads="1"/>
            </p:cNvSpPr>
            <p:nvPr/>
          </p:nvSpPr>
          <p:spPr bwMode="auto">
            <a:xfrm>
              <a:off x="2304" y="3024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</a:rPr>
                <a:t>1.0.0.0	S0     1</a:t>
              </a:r>
            </a:p>
          </p:txBody>
        </p:sp>
        <p:sp>
          <p:nvSpPr>
            <p:cNvPr id="28711" name="Text Box 256"/>
            <p:cNvSpPr txBox="1">
              <a:spLocks noChangeArrowheads="1"/>
            </p:cNvSpPr>
            <p:nvPr/>
          </p:nvSpPr>
          <p:spPr bwMode="auto">
            <a:xfrm>
              <a:off x="4272" y="2976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>
                  <a:solidFill>
                    <a:srgbClr val="FF0000"/>
                  </a:solidFill>
                </a:rPr>
                <a:t>2.0.0.0	S1     1</a:t>
              </a:r>
            </a:p>
          </p:txBody>
        </p:sp>
        <p:sp>
          <p:nvSpPr>
            <p:cNvPr id="28712" name="Text Box 257"/>
            <p:cNvSpPr txBox="1">
              <a:spLocks noChangeArrowheads="1"/>
            </p:cNvSpPr>
            <p:nvPr/>
          </p:nvSpPr>
          <p:spPr bwMode="auto">
            <a:xfrm>
              <a:off x="2304" y="3360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</a:rPr>
                <a:t>4.0.0.0	S1     1</a:t>
              </a:r>
            </a:p>
          </p:txBody>
        </p:sp>
      </p:grpSp>
      <p:grpSp>
        <p:nvGrpSpPr>
          <p:cNvPr id="28702" name="Group 258"/>
          <p:cNvGrpSpPr>
            <a:grpSpLocks/>
          </p:cNvGrpSpPr>
          <p:nvPr/>
        </p:nvGrpSpPr>
        <p:grpSpPr bwMode="auto">
          <a:xfrm>
            <a:off x="2638425" y="3836194"/>
            <a:ext cx="3886200" cy="381000"/>
            <a:chOff x="1632" y="2544"/>
            <a:chExt cx="2448" cy="240"/>
          </a:xfrm>
        </p:grpSpPr>
        <p:sp>
          <p:nvSpPr>
            <p:cNvPr id="28707" name="AutoShape 259"/>
            <p:cNvSpPr>
              <a:spLocks noChangeArrowheads="1"/>
            </p:cNvSpPr>
            <p:nvPr/>
          </p:nvSpPr>
          <p:spPr bwMode="auto">
            <a:xfrm>
              <a:off x="1632" y="2544"/>
              <a:ext cx="480" cy="240"/>
            </a:xfrm>
            <a:prstGeom prst="leftRightArrow">
              <a:avLst>
                <a:gd name="adj1" fmla="val 50000"/>
                <a:gd name="adj2" fmla="val 40000"/>
              </a:avLst>
            </a:prstGeom>
            <a:solidFill>
              <a:srgbClr val="FF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08" name="AutoShape 260"/>
            <p:cNvSpPr>
              <a:spLocks noChangeArrowheads="1"/>
            </p:cNvSpPr>
            <p:nvPr/>
          </p:nvSpPr>
          <p:spPr bwMode="auto">
            <a:xfrm>
              <a:off x="3600" y="2544"/>
              <a:ext cx="480" cy="240"/>
            </a:xfrm>
            <a:prstGeom prst="leftRightArrow">
              <a:avLst>
                <a:gd name="adj1" fmla="val 50000"/>
                <a:gd name="adj2" fmla="val 40000"/>
              </a:avLst>
            </a:prstGeom>
            <a:solidFill>
              <a:srgbClr val="FF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Group 261"/>
          <p:cNvGrpSpPr>
            <a:grpSpLocks/>
          </p:cNvGrpSpPr>
          <p:nvPr/>
        </p:nvGrpSpPr>
        <p:grpSpPr bwMode="auto">
          <a:xfrm>
            <a:off x="542925" y="4925219"/>
            <a:ext cx="8229600" cy="558800"/>
            <a:chOff x="336" y="3264"/>
            <a:chExt cx="5184" cy="352"/>
          </a:xfrm>
        </p:grpSpPr>
        <p:sp>
          <p:nvSpPr>
            <p:cNvPr id="28705" name="Text Box 262"/>
            <p:cNvSpPr txBox="1">
              <a:spLocks noChangeArrowheads="1"/>
            </p:cNvSpPr>
            <p:nvPr/>
          </p:nvSpPr>
          <p:spPr bwMode="auto">
            <a:xfrm>
              <a:off x="336" y="3312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>
                  <a:solidFill>
                    <a:srgbClr val="FF33CC"/>
                  </a:solidFill>
                </a:rPr>
                <a:t>4.0.0.0	S0     2</a:t>
              </a:r>
            </a:p>
          </p:txBody>
        </p:sp>
        <p:sp>
          <p:nvSpPr>
            <p:cNvPr id="28706" name="Text Box 263"/>
            <p:cNvSpPr txBox="1">
              <a:spLocks noChangeArrowheads="1"/>
            </p:cNvSpPr>
            <p:nvPr/>
          </p:nvSpPr>
          <p:spPr bwMode="auto">
            <a:xfrm>
              <a:off x="4272" y="3264"/>
              <a:ext cx="12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0" hangingPunct="0">
                <a:lnSpc>
                  <a:spcPct val="160000"/>
                </a:lnSpc>
                <a:spcBef>
                  <a:spcPct val="50000"/>
                </a:spcBef>
              </a:pPr>
              <a:r>
                <a:rPr lang="en-US" altLang="zh-CN" sz="1600">
                  <a:solidFill>
                    <a:srgbClr val="FF33CC"/>
                  </a:solidFill>
                </a:rPr>
                <a:t>1.0.0.0	S1    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7182068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6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buClr>
                <a:schemeClr val="accent1"/>
              </a:buClr>
            </a:pP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DV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算法分析实验组网图</a:t>
            </a:r>
          </a:p>
        </p:txBody>
      </p:sp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6659563" y="5033485"/>
            <a:ext cx="20002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/>
            <a:r>
              <a:rPr lang="en-US" altLang="zh-CN" sz="1800">
                <a:latin typeface="Times New Roman" pitchFamily="18" charset="0"/>
              </a:rPr>
              <a:t>Ip:192.168.3.11/24</a:t>
            </a:r>
          </a:p>
          <a:p>
            <a:pPr algn="just" eaLnBrk="0" hangingPunct="0"/>
            <a:r>
              <a:rPr lang="en-US" altLang="zh-CN" sz="1800">
                <a:latin typeface="Times New Roman" pitchFamily="18" charset="0"/>
              </a:rPr>
              <a:t>Gw:192.168.3.2</a:t>
            </a:r>
          </a:p>
        </p:txBody>
      </p:sp>
      <p:grpSp>
        <p:nvGrpSpPr>
          <p:cNvPr id="32771" name="Group 5"/>
          <p:cNvGrpSpPr>
            <a:grpSpLocks/>
          </p:cNvGrpSpPr>
          <p:nvPr/>
        </p:nvGrpSpPr>
        <p:grpSpPr bwMode="auto">
          <a:xfrm>
            <a:off x="533400" y="1694972"/>
            <a:ext cx="8056563" cy="4419600"/>
            <a:chOff x="336" y="1152"/>
            <a:chExt cx="5075" cy="2784"/>
          </a:xfrm>
        </p:grpSpPr>
        <p:sp>
          <p:nvSpPr>
            <p:cNvPr id="32774" name="Text Box 6"/>
            <p:cNvSpPr txBox="1">
              <a:spLocks noChangeArrowheads="1"/>
            </p:cNvSpPr>
            <p:nvPr/>
          </p:nvSpPr>
          <p:spPr bwMode="auto">
            <a:xfrm>
              <a:off x="336" y="1952"/>
              <a:ext cx="11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Loop1: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192.168.1.1/24</a:t>
              </a:r>
            </a:p>
          </p:txBody>
        </p:sp>
        <p:sp>
          <p:nvSpPr>
            <p:cNvPr id="32775" name="Text Box 7"/>
            <p:cNvSpPr txBox="1">
              <a:spLocks noChangeArrowheads="1"/>
            </p:cNvSpPr>
            <p:nvPr/>
          </p:nvSpPr>
          <p:spPr bwMode="auto">
            <a:xfrm>
              <a:off x="4512" y="2016"/>
              <a:ext cx="3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S2</a:t>
              </a:r>
            </a:p>
          </p:txBody>
        </p:sp>
        <p:sp>
          <p:nvSpPr>
            <p:cNvPr id="32776" name="Text Box 8"/>
            <p:cNvSpPr txBox="1">
              <a:spLocks noChangeArrowheads="1"/>
            </p:cNvSpPr>
            <p:nvPr/>
          </p:nvSpPr>
          <p:spPr bwMode="auto">
            <a:xfrm>
              <a:off x="2577" y="1440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R1</a:t>
              </a:r>
            </a:p>
          </p:txBody>
        </p:sp>
        <p:sp>
          <p:nvSpPr>
            <p:cNvPr id="32777" name="Text Box 9"/>
            <p:cNvSpPr txBox="1">
              <a:spLocks noChangeArrowheads="1"/>
            </p:cNvSpPr>
            <p:nvPr/>
          </p:nvSpPr>
          <p:spPr bwMode="auto">
            <a:xfrm>
              <a:off x="3558" y="1920"/>
              <a:ext cx="6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E0/13</a:t>
              </a:r>
            </a:p>
          </p:txBody>
        </p:sp>
        <p:sp>
          <p:nvSpPr>
            <p:cNvPr id="32778" name="Text Box 10"/>
            <p:cNvSpPr txBox="1">
              <a:spLocks noChangeArrowheads="1"/>
            </p:cNvSpPr>
            <p:nvPr/>
          </p:nvSpPr>
          <p:spPr bwMode="auto">
            <a:xfrm>
              <a:off x="3558" y="2304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</a:t>
              </a:r>
            </a:p>
          </p:txBody>
        </p:sp>
        <p:sp>
          <p:nvSpPr>
            <p:cNvPr id="32779" name="Text Box 11"/>
            <p:cNvSpPr txBox="1">
              <a:spLocks noChangeArrowheads="1"/>
            </p:cNvSpPr>
            <p:nvPr/>
          </p:nvSpPr>
          <p:spPr bwMode="auto">
            <a:xfrm>
              <a:off x="4430" y="2304"/>
              <a:ext cx="4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</a:t>
              </a:r>
            </a:p>
          </p:txBody>
        </p:sp>
        <p:sp>
          <p:nvSpPr>
            <p:cNvPr id="32780" name="Text Box 12"/>
            <p:cNvSpPr txBox="1">
              <a:spLocks noChangeArrowheads="1"/>
            </p:cNvSpPr>
            <p:nvPr/>
          </p:nvSpPr>
          <p:spPr bwMode="auto">
            <a:xfrm>
              <a:off x="1160" y="2304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</a:t>
              </a:r>
            </a:p>
          </p:txBody>
        </p:sp>
        <p:sp>
          <p:nvSpPr>
            <p:cNvPr id="32781" name="Text Box 13"/>
            <p:cNvSpPr txBox="1">
              <a:spLocks noChangeArrowheads="1"/>
            </p:cNvSpPr>
            <p:nvPr/>
          </p:nvSpPr>
          <p:spPr bwMode="auto">
            <a:xfrm>
              <a:off x="1705" y="2304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</a:t>
              </a:r>
            </a:p>
          </p:txBody>
        </p:sp>
        <p:sp>
          <p:nvSpPr>
            <p:cNvPr id="32782" name="Text Box 14"/>
            <p:cNvSpPr txBox="1">
              <a:spLocks noChangeArrowheads="1"/>
            </p:cNvSpPr>
            <p:nvPr/>
          </p:nvSpPr>
          <p:spPr bwMode="auto">
            <a:xfrm>
              <a:off x="1378" y="1728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E0/13</a:t>
              </a:r>
            </a:p>
          </p:txBody>
        </p:sp>
        <p:sp>
          <p:nvSpPr>
            <p:cNvPr id="32783" name="Text Box 15"/>
            <p:cNvSpPr txBox="1">
              <a:spLocks noChangeArrowheads="1"/>
            </p:cNvSpPr>
            <p:nvPr/>
          </p:nvSpPr>
          <p:spPr bwMode="auto">
            <a:xfrm>
              <a:off x="3013" y="1344"/>
              <a:ext cx="1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E1:192.168.3.1/24</a:t>
              </a:r>
            </a:p>
          </p:txBody>
        </p:sp>
        <p:sp>
          <p:nvSpPr>
            <p:cNvPr id="32784" name="Text Box 16"/>
            <p:cNvSpPr txBox="1">
              <a:spLocks noChangeArrowheads="1"/>
            </p:cNvSpPr>
            <p:nvPr/>
          </p:nvSpPr>
          <p:spPr bwMode="auto">
            <a:xfrm>
              <a:off x="1376" y="1344"/>
              <a:ext cx="1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E0:192.168.2.2/24</a:t>
              </a:r>
            </a:p>
          </p:txBody>
        </p:sp>
        <p:sp>
          <p:nvSpPr>
            <p:cNvPr id="32785" name="Text Box 17"/>
            <p:cNvSpPr txBox="1">
              <a:spLocks noChangeArrowheads="1"/>
            </p:cNvSpPr>
            <p:nvPr/>
          </p:nvSpPr>
          <p:spPr bwMode="auto">
            <a:xfrm>
              <a:off x="1923" y="1824"/>
              <a:ext cx="14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Vlan1:192.168.2.1/24</a:t>
              </a:r>
            </a:p>
          </p:txBody>
        </p:sp>
        <p:sp>
          <p:nvSpPr>
            <p:cNvPr id="32786" name="Text Box 18"/>
            <p:cNvSpPr txBox="1">
              <a:spLocks noChangeArrowheads="1"/>
            </p:cNvSpPr>
            <p:nvPr/>
          </p:nvSpPr>
          <p:spPr bwMode="auto">
            <a:xfrm>
              <a:off x="3936" y="1728"/>
              <a:ext cx="14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Vlan1:192.168.3.2/24</a:t>
              </a:r>
            </a:p>
          </p:txBody>
        </p:sp>
        <p:pic>
          <p:nvPicPr>
            <p:cNvPr id="32787" name="Picture 19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" y="2688"/>
              <a:ext cx="425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8" name="Line 20"/>
            <p:cNvSpPr>
              <a:spLocks noChangeShapeType="1"/>
            </p:cNvSpPr>
            <p:nvPr/>
          </p:nvSpPr>
          <p:spPr bwMode="auto">
            <a:xfrm flipV="1">
              <a:off x="1487" y="1344"/>
              <a:ext cx="109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9" name="Line 21"/>
            <p:cNvSpPr>
              <a:spLocks noChangeShapeType="1"/>
            </p:cNvSpPr>
            <p:nvPr/>
          </p:nvSpPr>
          <p:spPr bwMode="auto">
            <a:xfrm>
              <a:off x="2904" y="1344"/>
              <a:ext cx="1199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2790" name="Picture 22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" y="2688"/>
              <a:ext cx="425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91" name="Picture 23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0" y="2784"/>
              <a:ext cx="425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92" name="Line 24"/>
            <p:cNvSpPr>
              <a:spLocks noChangeShapeType="1"/>
            </p:cNvSpPr>
            <p:nvPr/>
          </p:nvSpPr>
          <p:spPr bwMode="auto">
            <a:xfrm flipH="1">
              <a:off x="1160" y="2304"/>
              <a:ext cx="327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Line 25"/>
            <p:cNvSpPr>
              <a:spLocks noChangeShapeType="1"/>
            </p:cNvSpPr>
            <p:nvPr/>
          </p:nvSpPr>
          <p:spPr bwMode="auto">
            <a:xfrm>
              <a:off x="1596" y="2208"/>
              <a:ext cx="545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26"/>
            <p:cNvSpPr>
              <a:spLocks noChangeShapeType="1"/>
            </p:cNvSpPr>
            <p:nvPr/>
          </p:nvSpPr>
          <p:spPr bwMode="auto">
            <a:xfrm flipH="1">
              <a:off x="3449" y="2208"/>
              <a:ext cx="65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27"/>
            <p:cNvSpPr>
              <a:spLocks noChangeShapeType="1"/>
            </p:cNvSpPr>
            <p:nvPr/>
          </p:nvSpPr>
          <p:spPr bwMode="auto">
            <a:xfrm>
              <a:off x="4321" y="2112"/>
              <a:ext cx="327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96" name="Group 28"/>
            <p:cNvGrpSpPr>
              <a:grpSpLocks/>
            </p:cNvGrpSpPr>
            <p:nvPr/>
          </p:nvGrpSpPr>
          <p:grpSpPr bwMode="auto">
            <a:xfrm>
              <a:off x="3885" y="2016"/>
              <a:ext cx="650" cy="306"/>
              <a:chOff x="820" y="1552"/>
              <a:chExt cx="671" cy="422"/>
            </a:xfrm>
          </p:grpSpPr>
          <p:sp>
            <p:nvSpPr>
              <p:cNvPr id="32822" name="Freeform 29"/>
              <p:cNvSpPr>
                <a:spLocks/>
              </p:cNvSpPr>
              <p:nvPr/>
            </p:nvSpPr>
            <p:spPr bwMode="auto">
              <a:xfrm>
                <a:off x="820" y="1552"/>
                <a:ext cx="671" cy="422"/>
              </a:xfrm>
              <a:custGeom>
                <a:avLst/>
                <a:gdLst>
                  <a:gd name="T0" fmla="*/ 495 w 671"/>
                  <a:gd name="T1" fmla="*/ 422 h 422"/>
                  <a:gd name="T2" fmla="*/ 671 w 671"/>
                  <a:gd name="T3" fmla="*/ 247 h 422"/>
                  <a:gd name="T4" fmla="*/ 671 w 671"/>
                  <a:gd name="T5" fmla="*/ 0 h 422"/>
                  <a:gd name="T6" fmla="*/ 175 w 671"/>
                  <a:gd name="T7" fmla="*/ 0 h 422"/>
                  <a:gd name="T8" fmla="*/ 0 w 671"/>
                  <a:gd name="T9" fmla="*/ 175 h 422"/>
                  <a:gd name="T10" fmla="*/ 0 w 671"/>
                  <a:gd name="T11" fmla="*/ 422 h 422"/>
                  <a:gd name="T12" fmla="*/ 495 w 671"/>
                  <a:gd name="T13" fmla="*/ 422 h 4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71"/>
                  <a:gd name="T22" fmla="*/ 0 h 422"/>
                  <a:gd name="T23" fmla="*/ 671 w 671"/>
                  <a:gd name="T24" fmla="*/ 422 h 4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71" h="422">
                    <a:moveTo>
                      <a:pt x="495" y="422"/>
                    </a:moveTo>
                    <a:lnTo>
                      <a:pt x="671" y="247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lnTo>
                      <a:pt x="0" y="422"/>
                    </a:lnTo>
                    <a:lnTo>
                      <a:pt x="495" y="422"/>
                    </a:lnTo>
                    <a:close/>
                  </a:path>
                </a:pathLst>
              </a:custGeom>
              <a:solidFill>
                <a:srgbClr val="6D619E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3" name="Rectangle 30"/>
              <p:cNvSpPr>
                <a:spLocks noChangeArrowheads="1"/>
              </p:cNvSpPr>
              <p:nvPr/>
            </p:nvSpPr>
            <p:spPr bwMode="auto">
              <a:xfrm>
                <a:off x="820" y="1727"/>
                <a:ext cx="495" cy="247"/>
              </a:xfrm>
              <a:prstGeom prst="rect">
                <a:avLst/>
              </a:prstGeom>
              <a:solidFill>
                <a:srgbClr val="8E85B7"/>
              </a:solidFill>
              <a:ln w="9525">
                <a:solidFill>
                  <a:srgbClr val="23CB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4" name="Freeform 31"/>
              <p:cNvSpPr>
                <a:spLocks/>
              </p:cNvSpPr>
              <p:nvPr/>
            </p:nvSpPr>
            <p:spPr bwMode="auto">
              <a:xfrm>
                <a:off x="820" y="1552"/>
                <a:ext cx="671" cy="175"/>
              </a:xfrm>
              <a:custGeom>
                <a:avLst/>
                <a:gdLst>
                  <a:gd name="T0" fmla="*/ 0 w 671"/>
                  <a:gd name="T1" fmla="*/ 175 h 175"/>
                  <a:gd name="T2" fmla="*/ 495 w 671"/>
                  <a:gd name="T3" fmla="*/ 175 h 175"/>
                  <a:gd name="T4" fmla="*/ 671 w 671"/>
                  <a:gd name="T5" fmla="*/ 0 h 175"/>
                  <a:gd name="T6" fmla="*/ 175 w 671"/>
                  <a:gd name="T7" fmla="*/ 0 h 175"/>
                  <a:gd name="T8" fmla="*/ 0 w 671"/>
                  <a:gd name="T9" fmla="*/ 175 h 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75"/>
                  <a:gd name="T17" fmla="*/ 671 w 671"/>
                  <a:gd name="T18" fmla="*/ 175 h 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75">
                    <a:moveTo>
                      <a:pt x="0" y="175"/>
                    </a:moveTo>
                    <a:lnTo>
                      <a:pt x="495" y="175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rgbClr val="BBB4D6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5" name="Freeform 32"/>
              <p:cNvSpPr>
                <a:spLocks noEditPoints="1"/>
              </p:cNvSpPr>
              <p:nvPr/>
            </p:nvSpPr>
            <p:spPr bwMode="auto">
              <a:xfrm>
                <a:off x="1003" y="1584"/>
                <a:ext cx="291" cy="102"/>
              </a:xfrm>
              <a:custGeom>
                <a:avLst/>
                <a:gdLst>
                  <a:gd name="T0" fmla="*/ 146 w 291"/>
                  <a:gd name="T1" fmla="*/ 41 h 102"/>
                  <a:gd name="T2" fmla="*/ 115 w 291"/>
                  <a:gd name="T3" fmla="*/ 18 h 102"/>
                  <a:gd name="T4" fmla="*/ 203 w 291"/>
                  <a:gd name="T5" fmla="*/ 18 h 102"/>
                  <a:gd name="T6" fmla="*/ 146 w 291"/>
                  <a:gd name="T7" fmla="*/ 41 h 102"/>
                  <a:gd name="T8" fmla="*/ 144 w 291"/>
                  <a:gd name="T9" fmla="*/ 62 h 102"/>
                  <a:gd name="T10" fmla="*/ 174 w 291"/>
                  <a:gd name="T11" fmla="*/ 85 h 102"/>
                  <a:gd name="T12" fmla="*/ 86 w 291"/>
                  <a:gd name="T13" fmla="*/ 85 h 102"/>
                  <a:gd name="T14" fmla="*/ 144 w 291"/>
                  <a:gd name="T15" fmla="*/ 62 h 102"/>
                  <a:gd name="T16" fmla="*/ 0 w 291"/>
                  <a:gd name="T17" fmla="*/ 102 h 102"/>
                  <a:gd name="T18" fmla="*/ 225 w 291"/>
                  <a:gd name="T19" fmla="*/ 102 h 102"/>
                  <a:gd name="T20" fmla="*/ 162 w 291"/>
                  <a:gd name="T21" fmla="*/ 53 h 102"/>
                  <a:gd name="T22" fmla="*/ 291 w 291"/>
                  <a:gd name="T23" fmla="*/ 0 h 102"/>
                  <a:gd name="T24" fmla="*/ 64 w 291"/>
                  <a:gd name="T25" fmla="*/ 0 h 102"/>
                  <a:gd name="T26" fmla="*/ 128 w 291"/>
                  <a:gd name="T27" fmla="*/ 50 h 102"/>
                  <a:gd name="T28" fmla="*/ 0 w 291"/>
                  <a:gd name="T29" fmla="*/ 102 h 1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2"/>
                  <a:gd name="T47" fmla="*/ 291 w 291"/>
                  <a:gd name="T48" fmla="*/ 102 h 1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2">
                    <a:moveTo>
                      <a:pt x="146" y="41"/>
                    </a:moveTo>
                    <a:lnTo>
                      <a:pt x="115" y="18"/>
                    </a:lnTo>
                    <a:lnTo>
                      <a:pt x="203" y="18"/>
                    </a:lnTo>
                    <a:lnTo>
                      <a:pt x="146" y="41"/>
                    </a:lnTo>
                    <a:close/>
                    <a:moveTo>
                      <a:pt x="144" y="62"/>
                    </a:moveTo>
                    <a:lnTo>
                      <a:pt x="174" y="85"/>
                    </a:lnTo>
                    <a:lnTo>
                      <a:pt x="86" y="85"/>
                    </a:lnTo>
                    <a:lnTo>
                      <a:pt x="144" y="62"/>
                    </a:lnTo>
                    <a:close/>
                    <a:moveTo>
                      <a:pt x="0" y="102"/>
                    </a:moveTo>
                    <a:lnTo>
                      <a:pt x="225" y="102"/>
                    </a:lnTo>
                    <a:lnTo>
                      <a:pt x="162" y="53"/>
                    </a:lnTo>
                    <a:lnTo>
                      <a:pt x="291" y="0"/>
                    </a:lnTo>
                    <a:lnTo>
                      <a:pt x="64" y="0"/>
                    </a:lnTo>
                    <a:lnTo>
                      <a:pt x="128" y="5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6" name="Freeform 33"/>
              <p:cNvSpPr>
                <a:spLocks noEditPoints="1"/>
              </p:cNvSpPr>
              <p:nvPr/>
            </p:nvSpPr>
            <p:spPr bwMode="auto">
              <a:xfrm>
                <a:off x="1017" y="1593"/>
                <a:ext cx="291" cy="101"/>
              </a:xfrm>
              <a:custGeom>
                <a:avLst/>
                <a:gdLst>
                  <a:gd name="T0" fmla="*/ 147 w 291"/>
                  <a:gd name="T1" fmla="*/ 41 h 101"/>
                  <a:gd name="T2" fmla="*/ 117 w 291"/>
                  <a:gd name="T3" fmla="*/ 17 h 101"/>
                  <a:gd name="T4" fmla="*/ 205 w 291"/>
                  <a:gd name="T5" fmla="*/ 17 h 101"/>
                  <a:gd name="T6" fmla="*/ 147 w 291"/>
                  <a:gd name="T7" fmla="*/ 41 h 101"/>
                  <a:gd name="T8" fmla="*/ 144 w 291"/>
                  <a:gd name="T9" fmla="*/ 60 h 101"/>
                  <a:gd name="T10" fmla="*/ 176 w 291"/>
                  <a:gd name="T11" fmla="*/ 84 h 101"/>
                  <a:gd name="T12" fmla="*/ 87 w 291"/>
                  <a:gd name="T13" fmla="*/ 84 h 101"/>
                  <a:gd name="T14" fmla="*/ 144 w 291"/>
                  <a:gd name="T15" fmla="*/ 60 h 101"/>
                  <a:gd name="T16" fmla="*/ 0 w 291"/>
                  <a:gd name="T17" fmla="*/ 101 h 101"/>
                  <a:gd name="T18" fmla="*/ 227 w 291"/>
                  <a:gd name="T19" fmla="*/ 101 h 101"/>
                  <a:gd name="T20" fmla="*/ 163 w 291"/>
                  <a:gd name="T21" fmla="*/ 53 h 101"/>
                  <a:gd name="T22" fmla="*/ 291 w 291"/>
                  <a:gd name="T23" fmla="*/ 0 h 101"/>
                  <a:gd name="T24" fmla="*/ 66 w 291"/>
                  <a:gd name="T25" fmla="*/ 0 h 101"/>
                  <a:gd name="T26" fmla="*/ 129 w 291"/>
                  <a:gd name="T27" fmla="*/ 48 h 101"/>
                  <a:gd name="T28" fmla="*/ 0 w 291"/>
                  <a:gd name="T29" fmla="*/ 101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1"/>
                  <a:gd name="T47" fmla="*/ 291 w 291"/>
                  <a:gd name="T48" fmla="*/ 101 h 10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1">
                    <a:moveTo>
                      <a:pt x="147" y="41"/>
                    </a:moveTo>
                    <a:lnTo>
                      <a:pt x="117" y="17"/>
                    </a:lnTo>
                    <a:lnTo>
                      <a:pt x="205" y="17"/>
                    </a:lnTo>
                    <a:lnTo>
                      <a:pt x="147" y="41"/>
                    </a:lnTo>
                    <a:close/>
                    <a:moveTo>
                      <a:pt x="144" y="60"/>
                    </a:moveTo>
                    <a:lnTo>
                      <a:pt x="176" y="84"/>
                    </a:lnTo>
                    <a:lnTo>
                      <a:pt x="87" y="84"/>
                    </a:lnTo>
                    <a:lnTo>
                      <a:pt x="144" y="60"/>
                    </a:lnTo>
                    <a:close/>
                    <a:moveTo>
                      <a:pt x="0" y="101"/>
                    </a:moveTo>
                    <a:lnTo>
                      <a:pt x="227" y="101"/>
                    </a:lnTo>
                    <a:lnTo>
                      <a:pt x="163" y="53"/>
                    </a:lnTo>
                    <a:lnTo>
                      <a:pt x="291" y="0"/>
                    </a:lnTo>
                    <a:lnTo>
                      <a:pt x="66" y="0"/>
                    </a:lnTo>
                    <a:lnTo>
                      <a:pt x="129" y="48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7" name="Freeform 34"/>
              <p:cNvSpPr>
                <a:spLocks/>
              </p:cNvSpPr>
              <p:nvPr/>
            </p:nvSpPr>
            <p:spPr bwMode="auto">
              <a:xfrm>
                <a:off x="1015" y="1803"/>
                <a:ext cx="149" cy="115"/>
              </a:xfrm>
              <a:custGeom>
                <a:avLst/>
                <a:gdLst>
                  <a:gd name="T0" fmla="*/ 106 w 149"/>
                  <a:gd name="T1" fmla="*/ 112 h 115"/>
                  <a:gd name="T2" fmla="*/ 83 w 149"/>
                  <a:gd name="T3" fmla="*/ 115 h 115"/>
                  <a:gd name="T4" fmla="*/ 58 w 149"/>
                  <a:gd name="T5" fmla="*/ 112 h 115"/>
                  <a:gd name="T6" fmla="*/ 39 w 149"/>
                  <a:gd name="T7" fmla="*/ 104 h 115"/>
                  <a:gd name="T8" fmla="*/ 1 w 149"/>
                  <a:gd name="T9" fmla="*/ 113 h 115"/>
                  <a:gd name="T10" fmla="*/ 39 w 149"/>
                  <a:gd name="T11" fmla="*/ 75 h 115"/>
                  <a:gd name="T12" fmla="*/ 46 w 149"/>
                  <a:gd name="T13" fmla="*/ 88 h 115"/>
                  <a:gd name="T14" fmla="*/ 60 w 149"/>
                  <a:gd name="T15" fmla="*/ 94 h 115"/>
                  <a:gd name="T16" fmla="*/ 86 w 149"/>
                  <a:gd name="T17" fmla="*/ 94 h 115"/>
                  <a:gd name="T18" fmla="*/ 97 w 149"/>
                  <a:gd name="T19" fmla="*/ 86 h 115"/>
                  <a:gd name="T20" fmla="*/ 94 w 149"/>
                  <a:gd name="T21" fmla="*/ 77 h 115"/>
                  <a:gd name="T22" fmla="*/ 82 w 149"/>
                  <a:gd name="T23" fmla="*/ 71 h 115"/>
                  <a:gd name="T24" fmla="*/ 65 w 149"/>
                  <a:gd name="T25" fmla="*/ 66 h 115"/>
                  <a:gd name="T26" fmla="*/ 36 w 149"/>
                  <a:gd name="T27" fmla="*/ 59 h 115"/>
                  <a:gd name="T28" fmla="*/ 17 w 149"/>
                  <a:gd name="T29" fmla="*/ 52 h 115"/>
                  <a:gd name="T30" fmla="*/ 6 w 149"/>
                  <a:gd name="T31" fmla="*/ 46 h 115"/>
                  <a:gd name="T32" fmla="*/ 0 w 149"/>
                  <a:gd name="T33" fmla="*/ 32 h 115"/>
                  <a:gd name="T34" fmla="*/ 1 w 149"/>
                  <a:gd name="T35" fmla="*/ 24 h 115"/>
                  <a:gd name="T36" fmla="*/ 11 w 149"/>
                  <a:gd name="T37" fmla="*/ 12 h 115"/>
                  <a:gd name="T38" fmla="*/ 29 w 149"/>
                  <a:gd name="T39" fmla="*/ 5 h 115"/>
                  <a:gd name="T40" fmla="*/ 53 w 149"/>
                  <a:gd name="T41" fmla="*/ 0 h 115"/>
                  <a:gd name="T42" fmla="*/ 73 w 149"/>
                  <a:gd name="T43" fmla="*/ 1 h 115"/>
                  <a:gd name="T44" fmla="*/ 94 w 149"/>
                  <a:gd name="T45" fmla="*/ 7 h 115"/>
                  <a:gd name="T46" fmla="*/ 100 w 149"/>
                  <a:gd name="T47" fmla="*/ 1 h 115"/>
                  <a:gd name="T48" fmla="*/ 137 w 149"/>
                  <a:gd name="T49" fmla="*/ 35 h 115"/>
                  <a:gd name="T50" fmla="*/ 97 w 149"/>
                  <a:gd name="T51" fmla="*/ 29 h 115"/>
                  <a:gd name="T52" fmla="*/ 89 w 149"/>
                  <a:gd name="T53" fmla="*/ 23 h 115"/>
                  <a:gd name="T54" fmla="*/ 68 w 149"/>
                  <a:gd name="T55" fmla="*/ 19 h 115"/>
                  <a:gd name="T56" fmla="*/ 52 w 149"/>
                  <a:gd name="T57" fmla="*/ 22 h 115"/>
                  <a:gd name="T58" fmla="*/ 46 w 149"/>
                  <a:gd name="T59" fmla="*/ 28 h 115"/>
                  <a:gd name="T60" fmla="*/ 51 w 149"/>
                  <a:gd name="T61" fmla="*/ 35 h 115"/>
                  <a:gd name="T62" fmla="*/ 71 w 149"/>
                  <a:gd name="T63" fmla="*/ 41 h 115"/>
                  <a:gd name="T64" fmla="*/ 97 w 149"/>
                  <a:gd name="T65" fmla="*/ 47 h 115"/>
                  <a:gd name="T66" fmla="*/ 119 w 149"/>
                  <a:gd name="T67" fmla="*/ 53 h 115"/>
                  <a:gd name="T68" fmla="*/ 131 w 149"/>
                  <a:gd name="T69" fmla="*/ 58 h 115"/>
                  <a:gd name="T70" fmla="*/ 140 w 149"/>
                  <a:gd name="T71" fmla="*/ 65 h 115"/>
                  <a:gd name="T72" fmla="*/ 148 w 149"/>
                  <a:gd name="T73" fmla="*/ 77 h 115"/>
                  <a:gd name="T74" fmla="*/ 148 w 149"/>
                  <a:gd name="T75" fmla="*/ 89 h 115"/>
                  <a:gd name="T76" fmla="*/ 138 w 149"/>
                  <a:gd name="T77" fmla="*/ 101 h 115"/>
                  <a:gd name="T78" fmla="*/ 129 w 149"/>
                  <a:gd name="T79" fmla="*/ 106 h 11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5"/>
                  <a:gd name="T122" fmla="*/ 149 w 149"/>
                  <a:gd name="T123" fmla="*/ 115 h 11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5">
                    <a:moveTo>
                      <a:pt x="119" y="110"/>
                    </a:moveTo>
                    <a:lnTo>
                      <a:pt x="106" y="112"/>
                    </a:lnTo>
                    <a:lnTo>
                      <a:pt x="93" y="115"/>
                    </a:lnTo>
                    <a:lnTo>
                      <a:pt x="83" y="115"/>
                    </a:lnTo>
                    <a:lnTo>
                      <a:pt x="70" y="113"/>
                    </a:lnTo>
                    <a:lnTo>
                      <a:pt x="58" y="112"/>
                    </a:lnTo>
                    <a:lnTo>
                      <a:pt x="47" y="109"/>
                    </a:lnTo>
                    <a:lnTo>
                      <a:pt x="39" y="104"/>
                    </a:lnTo>
                    <a:lnTo>
                      <a:pt x="39" y="113"/>
                    </a:lnTo>
                    <a:lnTo>
                      <a:pt x="1" y="113"/>
                    </a:lnTo>
                    <a:lnTo>
                      <a:pt x="1" y="75"/>
                    </a:lnTo>
                    <a:lnTo>
                      <a:pt x="39" y="75"/>
                    </a:lnTo>
                    <a:lnTo>
                      <a:pt x="41" y="82"/>
                    </a:lnTo>
                    <a:lnTo>
                      <a:pt x="46" y="88"/>
                    </a:lnTo>
                    <a:lnTo>
                      <a:pt x="49" y="90"/>
                    </a:lnTo>
                    <a:lnTo>
                      <a:pt x="60" y="94"/>
                    </a:lnTo>
                    <a:lnTo>
                      <a:pt x="73" y="95"/>
                    </a:lnTo>
                    <a:lnTo>
                      <a:pt x="86" y="94"/>
                    </a:lnTo>
                    <a:lnTo>
                      <a:pt x="91" y="92"/>
                    </a:lnTo>
                    <a:lnTo>
                      <a:pt x="97" y="86"/>
                    </a:lnTo>
                    <a:lnTo>
                      <a:pt x="97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8"/>
                    </a:lnTo>
                    <a:lnTo>
                      <a:pt x="65" y="66"/>
                    </a:lnTo>
                    <a:lnTo>
                      <a:pt x="49" y="63"/>
                    </a:lnTo>
                    <a:lnTo>
                      <a:pt x="36" y="59"/>
                    </a:lnTo>
                    <a:lnTo>
                      <a:pt x="25" y="55"/>
                    </a:lnTo>
                    <a:lnTo>
                      <a:pt x="17" y="52"/>
                    </a:lnTo>
                    <a:lnTo>
                      <a:pt x="13" y="51"/>
                    </a:lnTo>
                    <a:lnTo>
                      <a:pt x="6" y="46"/>
                    </a:lnTo>
                    <a:lnTo>
                      <a:pt x="1" y="40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5"/>
                    </a:lnTo>
                    <a:lnTo>
                      <a:pt x="41" y="1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73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1"/>
                    </a:lnTo>
                    <a:lnTo>
                      <a:pt x="100" y="1"/>
                    </a:lnTo>
                    <a:lnTo>
                      <a:pt x="137" y="1"/>
                    </a:lnTo>
                    <a:lnTo>
                      <a:pt x="137" y="35"/>
                    </a:lnTo>
                    <a:lnTo>
                      <a:pt x="100" y="35"/>
                    </a:lnTo>
                    <a:lnTo>
                      <a:pt x="97" y="29"/>
                    </a:lnTo>
                    <a:lnTo>
                      <a:pt x="89" y="23"/>
                    </a:lnTo>
                    <a:lnTo>
                      <a:pt x="77" y="19"/>
                    </a:lnTo>
                    <a:lnTo>
                      <a:pt x="68" y="19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6" y="26"/>
                    </a:lnTo>
                    <a:lnTo>
                      <a:pt x="46" y="28"/>
                    </a:lnTo>
                    <a:lnTo>
                      <a:pt x="51" y="34"/>
                    </a:lnTo>
                    <a:lnTo>
                      <a:pt x="51" y="35"/>
                    </a:lnTo>
                    <a:lnTo>
                      <a:pt x="58" y="37"/>
                    </a:lnTo>
                    <a:lnTo>
                      <a:pt x="71" y="41"/>
                    </a:lnTo>
                    <a:lnTo>
                      <a:pt x="82" y="43"/>
                    </a:lnTo>
                    <a:lnTo>
                      <a:pt x="97" y="47"/>
                    </a:lnTo>
                    <a:lnTo>
                      <a:pt x="109" y="49"/>
                    </a:lnTo>
                    <a:lnTo>
                      <a:pt x="119" y="53"/>
                    </a:lnTo>
                    <a:lnTo>
                      <a:pt x="120" y="53"/>
                    </a:lnTo>
                    <a:lnTo>
                      <a:pt x="131" y="58"/>
                    </a:lnTo>
                    <a:lnTo>
                      <a:pt x="138" y="63"/>
                    </a:lnTo>
                    <a:lnTo>
                      <a:pt x="140" y="65"/>
                    </a:lnTo>
                    <a:lnTo>
                      <a:pt x="145" y="71"/>
                    </a:lnTo>
                    <a:lnTo>
                      <a:pt x="148" y="77"/>
                    </a:lnTo>
                    <a:lnTo>
                      <a:pt x="149" y="81"/>
                    </a:lnTo>
                    <a:lnTo>
                      <a:pt x="148" y="89"/>
                    </a:lnTo>
                    <a:lnTo>
                      <a:pt x="144" y="95"/>
                    </a:lnTo>
                    <a:lnTo>
                      <a:pt x="138" y="101"/>
                    </a:lnTo>
                    <a:lnTo>
                      <a:pt x="131" y="106"/>
                    </a:lnTo>
                    <a:lnTo>
                      <a:pt x="129" y="106"/>
                    </a:lnTo>
                    <a:lnTo>
                      <a:pt x="11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8" name="Freeform 35"/>
              <p:cNvSpPr>
                <a:spLocks/>
              </p:cNvSpPr>
              <p:nvPr/>
            </p:nvSpPr>
            <p:spPr bwMode="auto">
              <a:xfrm>
                <a:off x="1003" y="1796"/>
                <a:ext cx="149" cy="114"/>
              </a:xfrm>
              <a:custGeom>
                <a:avLst/>
                <a:gdLst>
                  <a:gd name="T0" fmla="*/ 108 w 149"/>
                  <a:gd name="T1" fmla="*/ 112 h 114"/>
                  <a:gd name="T2" fmla="*/ 85 w 149"/>
                  <a:gd name="T3" fmla="*/ 114 h 114"/>
                  <a:gd name="T4" fmla="*/ 58 w 149"/>
                  <a:gd name="T5" fmla="*/ 111 h 114"/>
                  <a:gd name="T6" fmla="*/ 40 w 149"/>
                  <a:gd name="T7" fmla="*/ 104 h 114"/>
                  <a:gd name="T8" fmla="*/ 2 w 149"/>
                  <a:gd name="T9" fmla="*/ 113 h 114"/>
                  <a:gd name="T10" fmla="*/ 40 w 149"/>
                  <a:gd name="T11" fmla="*/ 75 h 114"/>
                  <a:gd name="T12" fmla="*/ 47 w 149"/>
                  <a:gd name="T13" fmla="*/ 88 h 114"/>
                  <a:gd name="T14" fmla="*/ 61 w 149"/>
                  <a:gd name="T15" fmla="*/ 94 h 114"/>
                  <a:gd name="T16" fmla="*/ 86 w 149"/>
                  <a:gd name="T17" fmla="*/ 93 h 114"/>
                  <a:gd name="T18" fmla="*/ 97 w 149"/>
                  <a:gd name="T19" fmla="*/ 85 h 114"/>
                  <a:gd name="T20" fmla="*/ 94 w 149"/>
                  <a:gd name="T21" fmla="*/ 77 h 114"/>
                  <a:gd name="T22" fmla="*/ 82 w 149"/>
                  <a:gd name="T23" fmla="*/ 71 h 114"/>
                  <a:gd name="T24" fmla="*/ 66 w 149"/>
                  <a:gd name="T25" fmla="*/ 66 h 114"/>
                  <a:gd name="T26" fmla="*/ 37 w 149"/>
                  <a:gd name="T27" fmla="*/ 59 h 114"/>
                  <a:gd name="T28" fmla="*/ 18 w 149"/>
                  <a:gd name="T29" fmla="*/ 52 h 114"/>
                  <a:gd name="T30" fmla="*/ 6 w 149"/>
                  <a:gd name="T31" fmla="*/ 44 h 114"/>
                  <a:gd name="T32" fmla="*/ 0 w 149"/>
                  <a:gd name="T33" fmla="*/ 31 h 114"/>
                  <a:gd name="T34" fmla="*/ 1 w 149"/>
                  <a:gd name="T35" fmla="*/ 23 h 114"/>
                  <a:gd name="T36" fmla="*/ 11 w 149"/>
                  <a:gd name="T37" fmla="*/ 12 h 114"/>
                  <a:gd name="T38" fmla="*/ 29 w 149"/>
                  <a:gd name="T39" fmla="*/ 3 h 114"/>
                  <a:gd name="T40" fmla="*/ 54 w 149"/>
                  <a:gd name="T41" fmla="*/ 0 h 114"/>
                  <a:gd name="T42" fmla="*/ 72 w 149"/>
                  <a:gd name="T43" fmla="*/ 1 h 114"/>
                  <a:gd name="T44" fmla="*/ 94 w 149"/>
                  <a:gd name="T45" fmla="*/ 7 h 114"/>
                  <a:gd name="T46" fmla="*/ 100 w 149"/>
                  <a:gd name="T47" fmla="*/ 1 h 114"/>
                  <a:gd name="T48" fmla="*/ 138 w 149"/>
                  <a:gd name="T49" fmla="*/ 35 h 114"/>
                  <a:gd name="T50" fmla="*/ 97 w 149"/>
                  <a:gd name="T51" fmla="*/ 27 h 114"/>
                  <a:gd name="T52" fmla="*/ 89 w 149"/>
                  <a:gd name="T53" fmla="*/ 23 h 114"/>
                  <a:gd name="T54" fmla="*/ 69 w 149"/>
                  <a:gd name="T55" fmla="*/ 18 h 114"/>
                  <a:gd name="T56" fmla="*/ 53 w 149"/>
                  <a:gd name="T57" fmla="*/ 20 h 114"/>
                  <a:gd name="T58" fmla="*/ 47 w 149"/>
                  <a:gd name="T59" fmla="*/ 27 h 114"/>
                  <a:gd name="T60" fmla="*/ 52 w 149"/>
                  <a:gd name="T61" fmla="*/ 33 h 114"/>
                  <a:gd name="T62" fmla="*/ 71 w 149"/>
                  <a:gd name="T63" fmla="*/ 39 h 114"/>
                  <a:gd name="T64" fmla="*/ 97 w 149"/>
                  <a:gd name="T65" fmla="*/ 46 h 114"/>
                  <a:gd name="T66" fmla="*/ 120 w 149"/>
                  <a:gd name="T67" fmla="*/ 53 h 114"/>
                  <a:gd name="T68" fmla="*/ 131 w 149"/>
                  <a:gd name="T69" fmla="*/ 56 h 114"/>
                  <a:gd name="T70" fmla="*/ 141 w 149"/>
                  <a:gd name="T71" fmla="*/ 64 h 114"/>
                  <a:gd name="T72" fmla="*/ 149 w 149"/>
                  <a:gd name="T73" fmla="*/ 77 h 114"/>
                  <a:gd name="T74" fmla="*/ 148 w 149"/>
                  <a:gd name="T75" fmla="*/ 88 h 114"/>
                  <a:gd name="T76" fmla="*/ 139 w 149"/>
                  <a:gd name="T77" fmla="*/ 100 h 114"/>
                  <a:gd name="T78" fmla="*/ 129 w 149"/>
                  <a:gd name="T79" fmla="*/ 106 h 11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4"/>
                  <a:gd name="T122" fmla="*/ 149 w 149"/>
                  <a:gd name="T123" fmla="*/ 114 h 11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4">
                    <a:moveTo>
                      <a:pt x="118" y="110"/>
                    </a:moveTo>
                    <a:lnTo>
                      <a:pt x="108" y="112"/>
                    </a:lnTo>
                    <a:lnTo>
                      <a:pt x="94" y="113"/>
                    </a:lnTo>
                    <a:lnTo>
                      <a:pt x="85" y="114"/>
                    </a:lnTo>
                    <a:lnTo>
                      <a:pt x="70" y="113"/>
                    </a:lnTo>
                    <a:lnTo>
                      <a:pt x="58" y="111"/>
                    </a:lnTo>
                    <a:lnTo>
                      <a:pt x="48" y="107"/>
                    </a:lnTo>
                    <a:lnTo>
                      <a:pt x="40" y="104"/>
                    </a:lnTo>
                    <a:lnTo>
                      <a:pt x="40" y="113"/>
                    </a:lnTo>
                    <a:lnTo>
                      <a:pt x="2" y="113"/>
                    </a:lnTo>
                    <a:lnTo>
                      <a:pt x="2" y="75"/>
                    </a:lnTo>
                    <a:lnTo>
                      <a:pt x="40" y="75"/>
                    </a:lnTo>
                    <a:lnTo>
                      <a:pt x="41" y="82"/>
                    </a:lnTo>
                    <a:lnTo>
                      <a:pt x="47" y="88"/>
                    </a:lnTo>
                    <a:lnTo>
                      <a:pt x="51" y="90"/>
                    </a:lnTo>
                    <a:lnTo>
                      <a:pt x="61" y="94"/>
                    </a:lnTo>
                    <a:lnTo>
                      <a:pt x="74" y="95"/>
                    </a:lnTo>
                    <a:lnTo>
                      <a:pt x="86" y="93"/>
                    </a:lnTo>
                    <a:lnTo>
                      <a:pt x="91" y="91"/>
                    </a:lnTo>
                    <a:lnTo>
                      <a:pt x="97" y="85"/>
                    </a:lnTo>
                    <a:lnTo>
                      <a:pt x="98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7"/>
                    </a:lnTo>
                    <a:lnTo>
                      <a:pt x="66" y="66"/>
                    </a:lnTo>
                    <a:lnTo>
                      <a:pt x="51" y="62"/>
                    </a:lnTo>
                    <a:lnTo>
                      <a:pt x="37" y="59"/>
                    </a:lnTo>
                    <a:lnTo>
                      <a:pt x="26" y="55"/>
                    </a:lnTo>
                    <a:lnTo>
                      <a:pt x="18" y="52"/>
                    </a:lnTo>
                    <a:lnTo>
                      <a:pt x="14" y="49"/>
                    </a:lnTo>
                    <a:lnTo>
                      <a:pt x="6" y="44"/>
                    </a:lnTo>
                    <a:lnTo>
                      <a:pt x="2" y="38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1" y="23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3"/>
                    </a:lnTo>
                    <a:lnTo>
                      <a:pt x="41" y="1"/>
                    </a:lnTo>
                    <a:lnTo>
                      <a:pt x="54" y="0"/>
                    </a:lnTo>
                    <a:lnTo>
                      <a:pt x="59" y="0"/>
                    </a:lnTo>
                    <a:lnTo>
                      <a:pt x="72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0"/>
                    </a:lnTo>
                    <a:lnTo>
                      <a:pt x="100" y="1"/>
                    </a:lnTo>
                    <a:lnTo>
                      <a:pt x="138" y="1"/>
                    </a:lnTo>
                    <a:lnTo>
                      <a:pt x="138" y="35"/>
                    </a:lnTo>
                    <a:lnTo>
                      <a:pt x="100" y="35"/>
                    </a:lnTo>
                    <a:lnTo>
                      <a:pt x="97" y="27"/>
                    </a:lnTo>
                    <a:lnTo>
                      <a:pt x="89" y="23"/>
                    </a:lnTo>
                    <a:lnTo>
                      <a:pt x="78" y="19"/>
                    </a:lnTo>
                    <a:lnTo>
                      <a:pt x="69" y="18"/>
                    </a:lnTo>
                    <a:lnTo>
                      <a:pt x="55" y="20"/>
                    </a:lnTo>
                    <a:lnTo>
                      <a:pt x="53" y="20"/>
                    </a:lnTo>
                    <a:lnTo>
                      <a:pt x="47" y="26"/>
                    </a:lnTo>
                    <a:lnTo>
                      <a:pt x="47" y="27"/>
                    </a:lnTo>
                    <a:lnTo>
                      <a:pt x="51" y="33"/>
                    </a:lnTo>
                    <a:lnTo>
                      <a:pt x="52" y="33"/>
                    </a:lnTo>
                    <a:lnTo>
                      <a:pt x="59" y="37"/>
                    </a:lnTo>
                    <a:lnTo>
                      <a:pt x="71" y="39"/>
                    </a:lnTo>
                    <a:lnTo>
                      <a:pt x="82" y="43"/>
                    </a:lnTo>
                    <a:lnTo>
                      <a:pt x="97" y="46"/>
                    </a:lnTo>
                    <a:lnTo>
                      <a:pt x="110" y="49"/>
                    </a:lnTo>
                    <a:lnTo>
                      <a:pt x="120" y="53"/>
                    </a:lnTo>
                    <a:lnTo>
                      <a:pt x="121" y="53"/>
                    </a:lnTo>
                    <a:lnTo>
                      <a:pt x="131" y="56"/>
                    </a:lnTo>
                    <a:lnTo>
                      <a:pt x="139" y="62"/>
                    </a:lnTo>
                    <a:lnTo>
                      <a:pt x="141" y="64"/>
                    </a:lnTo>
                    <a:lnTo>
                      <a:pt x="146" y="70"/>
                    </a:lnTo>
                    <a:lnTo>
                      <a:pt x="149" y="77"/>
                    </a:lnTo>
                    <a:lnTo>
                      <a:pt x="149" y="81"/>
                    </a:lnTo>
                    <a:lnTo>
                      <a:pt x="148" y="88"/>
                    </a:lnTo>
                    <a:lnTo>
                      <a:pt x="144" y="95"/>
                    </a:lnTo>
                    <a:lnTo>
                      <a:pt x="139" y="100"/>
                    </a:lnTo>
                    <a:lnTo>
                      <a:pt x="131" y="105"/>
                    </a:lnTo>
                    <a:lnTo>
                      <a:pt x="129" y="106"/>
                    </a:lnTo>
                    <a:lnTo>
                      <a:pt x="118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97" name="Group 36"/>
            <p:cNvGrpSpPr>
              <a:grpSpLocks/>
            </p:cNvGrpSpPr>
            <p:nvPr/>
          </p:nvGrpSpPr>
          <p:grpSpPr bwMode="auto">
            <a:xfrm>
              <a:off x="2468" y="1152"/>
              <a:ext cx="563" cy="308"/>
              <a:chOff x="940" y="956"/>
              <a:chExt cx="464" cy="364"/>
            </a:xfrm>
          </p:grpSpPr>
          <p:sp>
            <p:nvSpPr>
              <p:cNvPr id="32816" name="Freeform 37"/>
              <p:cNvSpPr>
                <a:spLocks noEditPoints="1"/>
              </p:cNvSpPr>
              <p:nvPr/>
            </p:nvSpPr>
            <p:spPr bwMode="auto">
              <a:xfrm>
                <a:off x="940" y="956"/>
                <a:ext cx="464" cy="364"/>
              </a:xfrm>
              <a:custGeom>
                <a:avLst/>
                <a:gdLst>
                  <a:gd name="T0" fmla="*/ 464 w 464"/>
                  <a:gd name="T1" fmla="*/ 77 h 364"/>
                  <a:gd name="T2" fmla="*/ 455 w 464"/>
                  <a:gd name="T3" fmla="*/ 98 h 364"/>
                  <a:gd name="T4" fmla="*/ 430 w 464"/>
                  <a:gd name="T5" fmla="*/ 117 h 364"/>
                  <a:gd name="T6" fmla="*/ 391 w 464"/>
                  <a:gd name="T7" fmla="*/ 133 h 364"/>
                  <a:gd name="T8" fmla="*/ 338 w 464"/>
                  <a:gd name="T9" fmla="*/ 145 h 364"/>
                  <a:gd name="T10" fmla="*/ 280 w 464"/>
                  <a:gd name="T11" fmla="*/ 152 h 364"/>
                  <a:gd name="T12" fmla="*/ 216 w 464"/>
                  <a:gd name="T13" fmla="*/ 153 h 364"/>
                  <a:gd name="T14" fmla="*/ 155 w 464"/>
                  <a:gd name="T15" fmla="*/ 149 h 364"/>
                  <a:gd name="T16" fmla="*/ 98 w 464"/>
                  <a:gd name="T17" fmla="*/ 140 h 364"/>
                  <a:gd name="T18" fmla="*/ 98 w 464"/>
                  <a:gd name="T19" fmla="*/ 140 h 364"/>
                  <a:gd name="T20" fmla="*/ 155 w 464"/>
                  <a:gd name="T21" fmla="*/ 149 h 364"/>
                  <a:gd name="T22" fmla="*/ 216 w 464"/>
                  <a:gd name="T23" fmla="*/ 153 h 364"/>
                  <a:gd name="T24" fmla="*/ 280 w 464"/>
                  <a:gd name="T25" fmla="*/ 152 h 364"/>
                  <a:gd name="T26" fmla="*/ 338 w 464"/>
                  <a:gd name="T27" fmla="*/ 145 h 364"/>
                  <a:gd name="T28" fmla="*/ 391 w 464"/>
                  <a:gd name="T29" fmla="*/ 133 h 364"/>
                  <a:gd name="T30" fmla="*/ 430 w 464"/>
                  <a:gd name="T31" fmla="*/ 117 h 364"/>
                  <a:gd name="T32" fmla="*/ 455 w 464"/>
                  <a:gd name="T33" fmla="*/ 98 h 364"/>
                  <a:gd name="T34" fmla="*/ 464 w 464"/>
                  <a:gd name="T35" fmla="*/ 77 h 364"/>
                  <a:gd name="T36" fmla="*/ 0 w 464"/>
                  <a:gd name="T37" fmla="*/ 77 h 364"/>
                  <a:gd name="T38" fmla="*/ 9 w 464"/>
                  <a:gd name="T39" fmla="*/ 98 h 364"/>
                  <a:gd name="T40" fmla="*/ 34 w 464"/>
                  <a:gd name="T41" fmla="*/ 117 h 364"/>
                  <a:gd name="T42" fmla="*/ 73 w 464"/>
                  <a:gd name="T43" fmla="*/ 134 h 364"/>
                  <a:gd name="T44" fmla="*/ 34 w 464"/>
                  <a:gd name="T45" fmla="*/ 117 h 364"/>
                  <a:gd name="T46" fmla="*/ 9 w 464"/>
                  <a:gd name="T47" fmla="*/ 98 h 364"/>
                  <a:gd name="T48" fmla="*/ 0 w 464"/>
                  <a:gd name="T49" fmla="*/ 77 h 364"/>
                  <a:gd name="T50" fmla="*/ 0 w 464"/>
                  <a:gd name="T51" fmla="*/ 77 h 364"/>
                  <a:gd name="T52" fmla="*/ 2 w 464"/>
                  <a:gd name="T53" fmla="*/ 298 h 364"/>
                  <a:gd name="T54" fmla="*/ 19 w 464"/>
                  <a:gd name="T55" fmla="*/ 318 h 364"/>
                  <a:gd name="T56" fmla="*/ 52 w 464"/>
                  <a:gd name="T57" fmla="*/ 336 h 364"/>
                  <a:gd name="T58" fmla="*/ 98 w 464"/>
                  <a:gd name="T59" fmla="*/ 351 h 364"/>
                  <a:gd name="T60" fmla="*/ 154 w 464"/>
                  <a:gd name="T61" fmla="*/ 360 h 364"/>
                  <a:gd name="T62" fmla="*/ 216 w 464"/>
                  <a:gd name="T63" fmla="*/ 364 h 364"/>
                  <a:gd name="T64" fmla="*/ 280 w 464"/>
                  <a:gd name="T65" fmla="*/ 363 h 364"/>
                  <a:gd name="T66" fmla="*/ 338 w 464"/>
                  <a:gd name="T67" fmla="*/ 356 h 364"/>
                  <a:gd name="T68" fmla="*/ 391 w 464"/>
                  <a:gd name="T69" fmla="*/ 344 h 364"/>
                  <a:gd name="T70" fmla="*/ 430 w 464"/>
                  <a:gd name="T71" fmla="*/ 327 h 364"/>
                  <a:gd name="T72" fmla="*/ 455 w 464"/>
                  <a:gd name="T73" fmla="*/ 309 h 364"/>
                  <a:gd name="T74" fmla="*/ 464 w 464"/>
                  <a:gd name="T75" fmla="*/ 287 h 364"/>
                  <a:gd name="T76" fmla="*/ 462 w 464"/>
                  <a:gd name="T77" fmla="*/ 66 h 364"/>
                  <a:gd name="T78" fmla="*/ 445 w 464"/>
                  <a:gd name="T79" fmla="*/ 46 h 364"/>
                  <a:gd name="T80" fmla="*/ 412 w 464"/>
                  <a:gd name="T81" fmla="*/ 27 h 364"/>
                  <a:gd name="T82" fmla="*/ 366 w 464"/>
                  <a:gd name="T83" fmla="*/ 13 h 364"/>
                  <a:gd name="T84" fmla="*/ 310 w 464"/>
                  <a:gd name="T85" fmla="*/ 4 h 364"/>
                  <a:gd name="T86" fmla="*/ 248 w 464"/>
                  <a:gd name="T87" fmla="*/ 0 h 364"/>
                  <a:gd name="T88" fmla="*/ 184 w 464"/>
                  <a:gd name="T89" fmla="*/ 1 h 364"/>
                  <a:gd name="T90" fmla="*/ 126 w 464"/>
                  <a:gd name="T91" fmla="*/ 8 h 364"/>
                  <a:gd name="T92" fmla="*/ 73 w 464"/>
                  <a:gd name="T93" fmla="*/ 20 h 364"/>
                  <a:gd name="T94" fmla="*/ 34 w 464"/>
                  <a:gd name="T95" fmla="*/ 37 h 364"/>
                  <a:gd name="T96" fmla="*/ 9 w 464"/>
                  <a:gd name="T97" fmla="*/ 55 h 364"/>
                  <a:gd name="T98" fmla="*/ 0 w 464"/>
                  <a:gd name="T99" fmla="*/ 77 h 36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64"/>
                  <a:gd name="T151" fmla="*/ 0 h 364"/>
                  <a:gd name="T152" fmla="*/ 464 w 464"/>
                  <a:gd name="T153" fmla="*/ 364 h 36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64" h="364">
                    <a:moveTo>
                      <a:pt x="464" y="77"/>
                    </a:moveTo>
                    <a:lnTo>
                      <a:pt x="464" y="77"/>
                    </a:lnTo>
                    <a:lnTo>
                      <a:pt x="462" y="87"/>
                    </a:lnTo>
                    <a:lnTo>
                      <a:pt x="455" y="98"/>
                    </a:lnTo>
                    <a:lnTo>
                      <a:pt x="445" y="107"/>
                    </a:lnTo>
                    <a:lnTo>
                      <a:pt x="430" y="117"/>
                    </a:lnTo>
                    <a:lnTo>
                      <a:pt x="412" y="125"/>
                    </a:lnTo>
                    <a:lnTo>
                      <a:pt x="391" y="133"/>
                    </a:lnTo>
                    <a:lnTo>
                      <a:pt x="366" y="140"/>
                    </a:lnTo>
                    <a:lnTo>
                      <a:pt x="338" y="145"/>
                    </a:lnTo>
                    <a:lnTo>
                      <a:pt x="310" y="149"/>
                    </a:lnTo>
                    <a:lnTo>
                      <a:pt x="280" y="152"/>
                    </a:lnTo>
                    <a:lnTo>
                      <a:pt x="248" y="153"/>
                    </a:lnTo>
                    <a:lnTo>
                      <a:pt x="216" y="153"/>
                    </a:lnTo>
                    <a:lnTo>
                      <a:pt x="186" y="152"/>
                    </a:lnTo>
                    <a:lnTo>
                      <a:pt x="155" y="149"/>
                    </a:lnTo>
                    <a:lnTo>
                      <a:pt x="126" y="145"/>
                    </a:lnTo>
                    <a:lnTo>
                      <a:pt x="98" y="140"/>
                    </a:lnTo>
                    <a:lnTo>
                      <a:pt x="73" y="134"/>
                    </a:lnTo>
                    <a:lnTo>
                      <a:pt x="98" y="140"/>
                    </a:lnTo>
                    <a:lnTo>
                      <a:pt x="126" y="145"/>
                    </a:lnTo>
                    <a:lnTo>
                      <a:pt x="155" y="149"/>
                    </a:lnTo>
                    <a:lnTo>
                      <a:pt x="186" y="152"/>
                    </a:lnTo>
                    <a:lnTo>
                      <a:pt x="216" y="153"/>
                    </a:lnTo>
                    <a:lnTo>
                      <a:pt x="248" y="153"/>
                    </a:lnTo>
                    <a:lnTo>
                      <a:pt x="280" y="152"/>
                    </a:lnTo>
                    <a:lnTo>
                      <a:pt x="310" y="149"/>
                    </a:lnTo>
                    <a:lnTo>
                      <a:pt x="338" y="145"/>
                    </a:lnTo>
                    <a:lnTo>
                      <a:pt x="366" y="140"/>
                    </a:lnTo>
                    <a:lnTo>
                      <a:pt x="391" y="133"/>
                    </a:lnTo>
                    <a:lnTo>
                      <a:pt x="412" y="125"/>
                    </a:lnTo>
                    <a:lnTo>
                      <a:pt x="430" y="117"/>
                    </a:lnTo>
                    <a:lnTo>
                      <a:pt x="445" y="107"/>
                    </a:lnTo>
                    <a:lnTo>
                      <a:pt x="455" y="98"/>
                    </a:lnTo>
                    <a:lnTo>
                      <a:pt x="462" y="87"/>
                    </a:lnTo>
                    <a:lnTo>
                      <a:pt x="464" y="77"/>
                    </a:lnTo>
                    <a:close/>
                    <a:moveTo>
                      <a:pt x="0" y="77"/>
                    </a:moveTo>
                    <a:lnTo>
                      <a:pt x="2" y="87"/>
                    </a:lnTo>
                    <a:lnTo>
                      <a:pt x="9" y="98"/>
                    </a:lnTo>
                    <a:lnTo>
                      <a:pt x="19" y="108"/>
                    </a:lnTo>
                    <a:lnTo>
                      <a:pt x="34" y="117"/>
                    </a:lnTo>
                    <a:lnTo>
                      <a:pt x="52" y="125"/>
                    </a:lnTo>
                    <a:lnTo>
                      <a:pt x="73" y="134"/>
                    </a:lnTo>
                    <a:lnTo>
                      <a:pt x="52" y="125"/>
                    </a:lnTo>
                    <a:lnTo>
                      <a:pt x="34" y="117"/>
                    </a:lnTo>
                    <a:lnTo>
                      <a:pt x="19" y="108"/>
                    </a:lnTo>
                    <a:lnTo>
                      <a:pt x="9" y="98"/>
                    </a:lnTo>
                    <a:lnTo>
                      <a:pt x="2" y="87"/>
                    </a:lnTo>
                    <a:lnTo>
                      <a:pt x="0" y="77"/>
                    </a:lnTo>
                    <a:close/>
                    <a:moveTo>
                      <a:pt x="0" y="77"/>
                    </a:moveTo>
                    <a:lnTo>
                      <a:pt x="0" y="287"/>
                    </a:lnTo>
                    <a:lnTo>
                      <a:pt x="2" y="298"/>
                    </a:lnTo>
                    <a:lnTo>
                      <a:pt x="9" y="309"/>
                    </a:lnTo>
                    <a:lnTo>
                      <a:pt x="19" y="318"/>
                    </a:lnTo>
                    <a:lnTo>
                      <a:pt x="34" y="327"/>
                    </a:lnTo>
                    <a:lnTo>
                      <a:pt x="52" y="336"/>
                    </a:lnTo>
                    <a:lnTo>
                      <a:pt x="73" y="344"/>
                    </a:lnTo>
                    <a:lnTo>
                      <a:pt x="98" y="351"/>
                    </a:lnTo>
                    <a:lnTo>
                      <a:pt x="126" y="356"/>
                    </a:lnTo>
                    <a:lnTo>
                      <a:pt x="154" y="360"/>
                    </a:lnTo>
                    <a:lnTo>
                      <a:pt x="184" y="363"/>
                    </a:lnTo>
                    <a:lnTo>
                      <a:pt x="216" y="364"/>
                    </a:lnTo>
                    <a:lnTo>
                      <a:pt x="248" y="364"/>
                    </a:lnTo>
                    <a:lnTo>
                      <a:pt x="280" y="363"/>
                    </a:lnTo>
                    <a:lnTo>
                      <a:pt x="310" y="360"/>
                    </a:lnTo>
                    <a:lnTo>
                      <a:pt x="338" y="356"/>
                    </a:lnTo>
                    <a:lnTo>
                      <a:pt x="366" y="351"/>
                    </a:lnTo>
                    <a:lnTo>
                      <a:pt x="391" y="344"/>
                    </a:lnTo>
                    <a:lnTo>
                      <a:pt x="412" y="336"/>
                    </a:lnTo>
                    <a:lnTo>
                      <a:pt x="430" y="327"/>
                    </a:lnTo>
                    <a:lnTo>
                      <a:pt x="445" y="318"/>
                    </a:lnTo>
                    <a:lnTo>
                      <a:pt x="455" y="309"/>
                    </a:lnTo>
                    <a:lnTo>
                      <a:pt x="462" y="298"/>
                    </a:lnTo>
                    <a:lnTo>
                      <a:pt x="464" y="287"/>
                    </a:lnTo>
                    <a:lnTo>
                      <a:pt x="464" y="77"/>
                    </a:lnTo>
                    <a:lnTo>
                      <a:pt x="462" y="66"/>
                    </a:lnTo>
                    <a:lnTo>
                      <a:pt x="455" y="55"/>
                    </a:lnTo>
                    <a:lnTo>
                      <a:pt x="445" y="46"/>
                    </a:lnTo>
                    <a:lnTo>
                      <a:pt x="430" y="37"/>
                    </a:lnTo>
                    <a:lnTo>
                      <a:pt x="412" y="27"/>
                    </a:lnTo>
                    <a:lnTo>
                      <a:pt x="391" y="20"/>
                    </a:lnTo>
                    <a:lnTo>
                      <a:pt x="366" y="13"/>
                    </a:lnTo>
                    <a:lnTo>
                      <a:pt x="338" y="8"/>
                    </a:lnTo>
                    <a:lnTo>
                      <a:pt x="310" y="4"/>
                    </a:lnTo>
                    <a:lnTo>
                      <a:pt x="280" y="1"/>
                    </a:lnTo>
                    <a:lnTo>
                      <a:pt x="248" y="0"/>
                    </a:lnTo>
                    <a:lnTo>
                      <a:pt x="216" y="0"/>
                    </a:lnTo>
                    <a:lnTo>
                      <a:pt x="184" y="1"/>
                    </a:lnTo>
                    <a:lnTo>
                      <a:pt x="154" y="4"/>
                    </a:lnTo>
                    <a:lnTo>
                      <a:pt x="126" y="8"/>
                    </a:lnTo>
                    <a:lnTo>
                      <a:pt x="98" y="13"/>
                    </a:lnTo>
                    <a:lnTo>
                      <a:pt x="73" y="20"/>
                    </a:lnTo>
                    <a:lnTo>
                      <a:pt x="52" y="27"/>
                    </a:lnTo>
                    <a:lnTo>
                      <a:pt x="34" y="37"/>
                    </a:lnTo>
                    <a:lnTo>
                      <a:pt x="19" y="46"/>
                    </a:lnTo>
                    <a:lnTo>
                      <a:pt x="9" y="55"/>
                    </a:lnTo>
                    <a:lnTo>
                      <a:pt x="2" y="66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8E85B7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7" name="Freeform 38"/>
              <p:cNvSpPr>
                <a:spLocks/>
              </p:cNvSpPr>
              <p:nvPr/>
            </p:nvSpPr>
            <p:spPr bwMode="auto">
              <a:xfrm>
                <a:off x="941" y="956"/>
                <a:ext cx="463" cy="154"/>
              </a:xfrm>
              <a:custGeom>
                <a:avLst/>
                <a:gdLst>
                  <a:gd name="T0" fmla="*/ 463 w 463"/>
                  <a:gd name="T1" fmla="*/ 77 h 154"/>
                  <a:gd name="T2" fmla="*/ 461 w 463"/>
                  <a:gd name="T3" fmla="*/ 87 h 154"/>
                  <a:gd name="T4" fmla="*/ 454 w 463"/>
                  <a:gd name="T5" fmla="*/ 98 h 154"/>
                  <a:gd name="T6" fmla="*/ 443 w 463"/>
                  <a:gd name="T7" fmla="*/ 108 h 154"/>
                  <a:gd name="T8" fmla="*/ 428 w 463"/>
                  <a:gd name="T9" fmla="*/ 117 h 154"/>
                  <a:gd name="T10" fmla="*/ 409 w 463"/>
                  <a:gd name="T11" fmla="*/ 126 h 154"/>
                  <a:gd name="T12" fmla="*/ 386 w 463"/>
                  <a:gd name="T13" fmla="*/ 134 h 154"/>
                  <a:gd name="T14" fmla="*/ 361 w 463"/>
                  <a:gd name="T15" fmla="*/ 141 h 154"/>
                  <a:gd name="T16" fmla="*/ 333 w 463"/>
                  <a:gd name="T17" fmla="*/ 146 h 154"/>
                  <a:gd name="T18" fmla="*/ 302 w 463"/>
                  <a:gd name="T19" fmla="*/ 150 h 154"/>
                  <a:gd name="T20" fmla="*/ 272 w 463"/>
                  <a:gd name="T21" fmla="*/ 152 h 154"/>
                  <a:gd name="T22" fmla="*/ 239 w 463"/>
                  <a:gd name="T23" fmla="*/ 154 h 154"/>
                  <a:gd name="T24" fmla="*/ 207 w 463"/>
                  <a:gd name="T25" fmla="*/ 153 h 154"/>
                  <a:gd name="T26" fmla="*/ 174 w 463"/>
                  <a:gd name="T27" fmla="*/ 151 h 154"/>
                  <a:gd name="T28" fmla="*/ 144 w 463"/>
                  <a:gd name="T29" fmla="*/ 148 h 154"/>
                  <a:gd name="T30" fmla="*/ 116 w 463"/>
                  <a:gd name="T31" fmla="*/ 144 h 154"/>
                  <a:gd name="T32" fmla="*/ 88 w 463"/>
                  <a:gd name="T33" fmla="*/ 138 h 154"/>
                  <a:gd name="T34" fmla="*/ 65 w 463"/>
                  <a:gd name="T35" fmla="*/ 130 h 154"/>
                  <a:gd name="T36" fmla="*/ 43 w 463"/>
                  <a:gd name="T37" fmla="*/ 122 h 154"/>
                  <a:gd name="T38" fmla="*/ 26 w 463"/>
                  <a:gd name="T39" fmla="*/ 113 h 154"/>
                  <a:gd name="T40" fmla="*/ 14 w 463"/>
                  <a:gd name="T41" fmla="*/ 103 h 154"/>
                  <a:gd name="T42" fmla="*/ 5 w 463"/>
                  <a:gd name="T43" fmla="*/ 92 h 154"/>
                  <a:gd name="T44" fmla="*/ 0 w 463"/>
                  <a:gd name="T45" fmla="*/ 82 h 154"/>
                  <a:gd name="T46" fmla="*/ 0 w 463"/>
                  <a:gd name="T47" fmla="*/ 71 h 154"/>
                  <a:gd name="T48" fmla="*/ 5 w 463"/>
                  <a:gd name="T49" fmla="*/ 60 h 154"/>
                  <a:gd name="T50" fmla="*/ 14 w 463"/>
                  <a:gd name="T51" fmla="*/ 50 h 154"/>
                  <a:gd name="T52" fmla="*/ 26 w 463"/>
                  <a:gd name="T53" fmla="*/ 40 h 154"/>
                  <a:gd name="T54" fmla="*/ 43 w 463"/>
                  <a:gd name="T55" fmla="*/ 31 h 154"/>
                  <a:gd name="T56" fmla="*/ 65 w 463"/>
                  <a:gd name="T57" fmla="*/ 22 h 154"/>
                  <a:gd name="T58" fmla="*/ 88 w 463"/>
                  <a:gd name="T59" fmla="*/ 15 h 154"/>
                  <a:gd name="T60" fmla="*/ 116 w 463"/>
                  <a:gd name="T61" fmla="*/ 10 h 154"/>
                  <a:gd name="T62" fmla="*/ 144 w 463"/>
                  <a:gd name="T63" fmla="*/ 5 h 154"/>
                  <a:gd name="T64" fmla="*/ 174 w 463"/>
                  <a:gd name="T65" fmla="*/ 2 h 154"/>
                  <a:gd name="T66" fmla="*/ 207 w 463"/>
                  <a:gd name="T67" fmla="*/ 0 h 154"/>
                  <a:gd name="T68" fmla="*/ 239 w 463"/>
                  <a:gd name="T69" fmla="*/ 0 h 154"/>
                  <a:gd name="T70" fmla="*/ 272 w 463"/>
                  <a:gd name="T71" fmla="*/ 1 h 154"/>
                  <a:gd name="T72" fmla="*/ 302 w 463"/>
                  <a:gd name="T73" fmla="*/ 3 h 154"/>
                  <a:gd name="T74" fmla="*/ 333 w 463"/>
                  <a:gd name="T75" fmla="*/ 7 h 154"/>
                  <a:gd name="T76" fmla="*/ 361 w 463"/>
                  <a:gd name="T77" fmla="*/ 12 h 154"/>
                  <a:gd name="T78" fmla="*/ 386 w 463"/>
                  <a:gd name="T79" fmla="*/ 19 h 154"/>
                  <a:gd name="T80" fmla="*/ 409 w 463"/>
                  <a:gd name="T81" fmla="*/ 26 h 154"/>
                  <a:gd name="T82" fmla="*/ 428 w 463"/>
                  <a:gd name="T83" fmla="*/ 36 h 154"/>
                  <a:gd name="T84" fmla="*/ 443 w 463"/>
                  <a:gd name="T85" fmla="*/ 45 h 154"/>
                  <a:gd name="T86" fmla="*/ 454 w 463"/>
                  <a:gd name="T87" fmla="*/ 55 h 154"/>
                  <a:gd name="T88" fmla="*/ 461 w 463"/>
                  <a:gd name="T89" fmla="*/ 66 h 154"/>
                  <a:gd name="T90" fmla="*/ 463 w 463"/>
                  <a:gd name="T91" fmla="*/ 77 h 15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63"/>
                  <a:gd name="T139" fmla="*/ 0 h 154"/>
                  <a:gd name="T140" fmla="*/ 463 w 463"/>
                  <a:gd name="T141" fmla="*/ 154 h 15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63" h="154">
                    <a:moveTo>
                      <a:pt x="463" y="77"/>
                    </a:moveTo>
                    <a:lnTo>
                      <a:pt x="461" y="87"/>
                    </a:lnTo>
                    <a:lnTo>
                      <a:pt x="454" y="98"/>
                    </a:lnTo>
                    <a:lnTo>
                      <a:pt x="443" y="108"/>
                    </a:lnTo>
                    <a:lnTo>
                      <a:pt x="428" y="117"/>
                    </a:lnTo>
                    <a:lnTo>
                      <a:pt x="409" y="126"/>
                    </a:lnTo>
                    <a:lnTo>
                      <a:pt x="386" y="134"/>
                    </a:lnTo>
                    <a:lnTo>
                      <a:pt x="361" y="141"/>
                    </a:lnTo>
                    <a:lnTo>
                      <a:pt x="333" y="146"/>
                    </a:lnTo>
                    <a:lnTo>
                      <a:pt x="302" y="150"/>
                    </a:lnTo>
                    <a:lnTo>
                      <a:pt x="272" y="152"/>
                    </a:lnTo>
                    <a:lnTo>
                      <a:pt x="239" y="154"/>
                    </a:lnTo>
                    <a:lnTo>
                      <a:pt x="207" y="153"/>
                    </a:lnTo>
                    <a:lnTo>
                      <a:pt x="174" y="151"/>
                    </a:lnTo>
                    <a:lnTo>
                      <a:pt x="144" y="148"/>
                    </a:lnTo>
                    <a:lnTo>
                      <a:pt x="116" y="144"/>
                    </a:lnTo>
                    <a:lnTo>
                      <a:pt x="88" y="138"/>
                    </a:lnTo>
                    <a:lnTo>
                      <a:pt x="65" y="130"/>
                    </a:lnTo>
                    <a:lnTo>
                      <a:pt x="43" y="122"/>
                    </a:lnTo>
                    <a:lnTo>
                      <a:pt x="26" y="113"/>
                    </a:lnTo>
                    <a:lnTo>
                      <a:pt x="14" y="103"/>
                    </a:lnTo>
                    <a:lnTo>
                      <a:pt x="5" y="92"/>
                    </a:lnTo>
                    <a:lnTo>
                      <a:pt x="0" y="82"/>
                    </a:lnTo>
                    <a:lnTo>
                      <a:pt x="0" y="71"/>
                    </a:lnTo>
                    <a:lnTo>
                      <a:pt x="5" y="60"/>
                    </a:lnTo>
                    <a:lnTo>
                      <a:pt x="14" y="50"/>
                    </a:lnTo>
                    <a:lnTo>
                      <a:pt x="26" y="40"/>
                    </a:lnTo>
                    <a:lnTo>
                      <a:pt x="43" y="31"/>
                    </a:lnTo>
                    <a:lnTo>
                      <a:pt x="65" y="22"/>
                    </a:lnTo>
                    <a:lnTo>
                      <a:pt x="88" y="15"/>
                    </a:lnTo>
                    <a:lnTo>
                      <a:pt x="116" y="10"/>
                    </a:lnTo>
                    <a:lnTo>
                      <a:pt x="144" y="5"/>
                    </a:lnTo>
                    <a:lnTo>
                      <a:pt x="174" y="2"/>
                    </a:lnTo>
                    <a:lnTo>
                      <a:pt x="207" y="0"/>
                    </a:lnTo>
                    <a:lnTo>
                      <a:pt x="239" y="0"/>
                    </a:lnTo>
                    <a:lnTo>
                      <a:pt x="272" y="1"/>
                    </a:lnTo>
                    <a:lnTo>
                      <a:pt x="302" y="3"/>
                    </a:lnTo>
                    <a:lnTo>
                      <a:pt x="333" y="7"/>
                    </a:lnTo>
                    <a:lnTo>
                      <a:pt x="361" y="12"/>
                    </a:lnTo>
                    <a:lnTo>
                      <a:pt x="386" y="19"/>
                    </a:lnTo>
                    <a:lnTo>
                      <a:pt x="409" y="26"/>
                    </a:lnTo>
                    <a:lnTo>
                      <a:pt x="428" y="36"/>
                    </a:lnTo>
                    <a:lnTo>
                      <a:pt x="443" y="45"/>
                    </a:lnTo>
                    <a:lnTo>
                      <a:pt x="454" y="55"/>
                    </a:lnTo>
                    <a:lnTo>
                      <a:pt x="461" y="66"/>
                    </a:lnTo>
                    <a:lnTo>
                      <a:pt x="463" y="77"/>
                    </a:lnTo>
                    <a:close/>
                  </a:path>
                </a:pathLst>
              </a:custGeom>
              <a:solidFill>
                <a:srgbClr val="BBB4D6"/>
              </a:solidFill>
              <a:ln w="6350">
                <a:solidFill>
                  <a:srgbClr val="04D6E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8" name="Freeform 39"/>
              <p:cNvSpPr>
                <a:spLocks noEditPoints="1"/>
              </p:cNvSpPr>
              <p:nvPr/>
            </p:nvSpPr>
            <p:spPr bwMode="auto">
              <a:xfrm>
                <a:off x="1047" y="970"/>
                <a:ext cx="244" cy="121"/>
              </a:xfrm>
              <a:custGeom>
                <a:avLst/>
                <a:gdLst>
                  <a:gd name="T0" fmla="*/ 45 w 244"/>
                  <a:gd name="T1" fmla="*/ 68 h 121"/>
                  <a:gd name="T2" fmla="*/ 187 w 244"/>
                  <a:gd name="T3" fmla="*/ 68 h 121"/>
                  <a:gd name="T4" fmla="*/ 97 w 244"/>
                  <a:gd name="T5" fmla="*/ 103 h 121"/>
                  <a:gd name="T6" fmla="*/ 45 w 244"/>
                  <a:gd name="T7" fmla="*/ 68 h 121"/>
                  <a:gd name="T8" fmla="*/ 200 w 244"/>
                  <a:gd name="T9" fmla="*/ 53 h 121"/>
                  <a:gd name="T10" fmla="*/ 57 w 244"/>
                  <a:gd name="T11" fmla="*/ 53 h 121"/>
                  <a:gd name="T12" fmla="*/ 148 w 244"/>
                  <a:gd name="T13" fmla="*/ 18 h 121"/>
                  <a:gd name="T14" fmla="*/ 200 w 244"/>
                  <a:gd name="T15" fmla="*/ 53 h 121"/>
                  <a:gd name="T16" fmla="*/ 93 w 244"/>
                  <a:gd name="T17" fmla="*/ 121 h 121"/>
                  <a:gd name="T18" fmla="*/ 244 w 244"/>
                  <a:gd name="T19" fmla="*/ 62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5" y="68"/>
                    </a:moveTo>
                    <a:lnTo>
                      <a:pt x="187" y="68"/>
                    </a:lnTo>
                    <a:lnTo>
                      <a:pt x="97" y="103"/>
                    </a:lnTo>
                    <a:lnTo>
                      <a:pt x="45" y="68"/>
                    </a:lnTo>
                    <a:close/>
                    <a:moveTo>
                      <a:pt x="200" y="53"/>
                    </a:moveTo>
                    <a:lnTo>
                      <a:pt x="57" y="53"/>
                    </a:lnTo>
                    <a:lnTo>
                      <a:pt x="148" y="18"/>
                    </a:lnTo>
                    <a:lnTo>
                      <a:pt x="200" y="53"/>
                    </a:lnTo>
                    <a:close/>
                    <a:moveTo>
                      <a:pt x="93" y="121"/>
                    </a:moveTo>
                    <a:lnTo>
                      <a:pt x="244" y="62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9" name="Freeform 40"/>
              <p:cNvSpPr>
                <a:spLocks noEditPoints="1"/>
              </p:cNvSpPr>
              <p:nvPr/>
            </p:nvSpPr>
            <p:spPr bwMode="auto">
              <a:xfrm>
                <a:off x="1053" y="974"/>
                <a:ext cx="244" cy="121"/>
              </a:xfrm>
              <a:custGeom>
                <a:avLst/>
                <a:gdLst>
                  <a:gd name="T0" fmla="*/ 44 w 244"/>
                  <a:gd name="T1" fmla="*/ 68 h 121"/>
                  <a:gd name="T2" fmla="*/ 187 w 244"/>
                  <a:gd name="T3" fmla="*/ 68 h 121"/>
                  <a:gd name="T4" fmla="*/ 96 w 244"/>
                  <a:gd name="T5" fmla="*/ 103 h 121"/>
                  <a:gd name="T6" fmla="*/ 44 w 244"/>
                  <a:gd name="T7" fmla="*/ 68 h 121"/>
                  <a:gd name="T8" fmla="*/ 199 w 244"/>
                  <a:gd name="T9" fmla="*/ 54 h 121"/>
                  <a:gd name="T10" fmla="*/ 57 w 244"/>
                  <a:gd name="T11" fmla="*/ 54 h 121"/>
                  <a:gd name="T12" fmla="*/ 147 w 244"/>
                  <a:gd name="T13" fmla="*/ 19 h 121"/>
                  <a:gd name="T14" fmla="*/ 199 w 244"/>
                  <a:gd name="T15" fmla="*/ 54 h 121"/>
                  <a:gd name="T16" fmla="*/ 93 w 244"/>
                  <a:gd name="T17" fmla="*/ 121 h 121"/>
                  <a:gd name="T18" fmla="*/ 244 w 244"/>
                  <a:gd name="T19" fmla="*/ 63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4" y="68"/>
                    </a:moveTo>
                    <a:lnTo>
                      <a:pt x="187" y="68"/>
                    </a:lnTo>
                    <a:lnTo>
                      <a:pt x="96" y="103"/>
                    </a:lnTo>
                    <a:lnTo>
                      <a:pt x="44" y="68"/>
                    </a:lnTo>
                    <a:close/>
                    <a:moveTo>
                      <a:pt x="199" y="54"/>
                    </a:moveTo>
                    <a:lnTo>
                      <a:pt x="57" y="54"/>
                    </a:lnTo>
                    <a:lnTo>
                      <a:pt x="147" y="19"/>
                    </a:lnTo>
                    <a:lnTo>
                      <a:pt x="199" y="54"/>
                    </a:lnTo>
                    <a:close/>
                    <a:moveTo>
                      <a:pt x="93" y="121"/>
                    </a:moveTo>
                    <a:lnTo>
                      <a:pt x="244" y="63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0" name="Freeform 41"/>
              <p:cNvSpPr>
                <a:spLocks noEditPoints="1"/>
              </p:cNvSpPr>
              <p:nvPr/>
            </p:nvSpPr>
            <p:spPr bwMode="auto">
              <a:xfrm>
                <a:off x="1097" y="1170"/>
                <a:ext cx="161" cy="97"/>
              </a:xfrm>
              <a:custGeom>
                <a:avLst/>
                <a:gdLst>
                  <a:gd name="T0" fmla="*/ 61 w 161"/>
                  <a:gd name="T1" fmla="*/ 55 h 97"/>
                  <a:gd name="T2" fmla="*/ 78 w 161"/>
                  <a:gd name="T3" fmla="*/ 55 h 97"/>
                  <a:gd name="T4" fmla="*/ 113 w 161"/>
                  <a:gd name="T5" fmla="*/ 97 h 97"/>
                  <a:gd name="T6" fmla="*/ 161 w 161"/>
                  <a:gd name="T7" fmla="*/ 97 h 97"/>
                  <a:gd name="T8" fmla="*/ 161 w 161"/>
                  <a:gd name="T9" fmla="*/ 80 h 97"/>
                  <a:gd name="T10" fmla="*/ 141 w 161"/>
                  <a:gd name="T11" fmla="*/ 80 h 97"/>
                  <a:gd name="T12" fmla="*/ 116 w 161"/>
                  <a:gd name="T13" fmla="*/ 51 h 97"/>
                  <a:gd name="T14" fmla="*/ 120 w 161"/>
                  <a:gd name="T15" fmla="*/ 49 h 97"/>
                  <a:gd name="T16" fmla="*/ 128 w 161"/>
                  <a:gd name="T17" fmla="*/ 46 h 97"/>
                  <a:gd name="T18" fmla="*/ 135 w 161"/>
                  <a:gd name="T19" fmla="*/ 42 h 97"/>
                  <a:gd name="T20" fmla="*/ 138 w 161"/>
                  <a:gd name="T21" fmla="*/ 38 h 97"/>
                  <a:gd name="T22" fmla="*/ 142 w 161"/>
                  <a:gd name="T23" fmla="*/ 33 h 97"/>
                  <a:gd name="T24" fmla="*/ 143 w 161"/>
                  <a:gd name="T25" fmla="*/ 27 h 97"/>
                  <a:gd name="T26" fmla="*/ 142 w 161"/>
                  <a:gd name="T27" fmla="*/ 24 h 97"/>
                  <a:gd name="T28" fmla="*/ 141 w 161"/>
                  <a:gd name="T29" fmla="*/ 18 h 97"/>
                  <a:gd name="T30" fmla="*/ 136 w 161"/>
                  <a:gd name="T31" fmla="*/ 13 h 97"/>
                  <a:gd name="T32" fmla="*/ 130 w 161"/>
                  <a:gd name="T33" fmla="*/ 8 h 97"/>
                  <a:gd name="T34" fmla="*/ 128 w 161"/>
                  <a:gd name="T35" fmla="*/ 6 h 97"/>
                  <a:gd name="T36" fmla="*/ 121 w 161"/>
                  <a:gd name="T37" fmla="*/ 3 h 97"/>
                  <a:gd name="T38" fmla="*/ 113 w 161"/>
                  <a:gd name="T39" fmla="*/ 1 h 97"/>
                  <a:gd name="T40" fmla="*/ 104 w 161"/>
                  <a:gd name="T41" fmla="*/ 0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0 h 97"/>
                  <a:gd name="T52" fmla="*/ 0 w 161"/>
                  <a:gd name="T53" fmla="*/ 80 h 97"/>
                  <a:gd name="T54" fmla="*/ 0 w 161"/>
                  <a:gd name="T55" fmla="*/ 97 h 97"/>
                  <a:gd name="T56" fmla="*/ 81 w 161"/>
                  <a:gd name="T57" fmla="*/ 97 h 97"/>
                  <a:gd name="T58" fmla="*/ 81 w 161"/>
                  <a:gd name="T59" fmla="*/ 80 h 97"/>
                  <a:gd name="T60" fmla="*/ 61 w 161"/>
                  <a:gd name="T61" fmla="*/ 80 h 97"/>
                  <a:gd name="T62" fmla="*/ 61 w 161"/>
                  <a:gd name="T63" fmla="*/ 55 h 97"/>
                  <a:gd name="T64" fmla="*/ 61 w 161"/>
                  <a:gd name="T65" fmla="*/ 16 h 97"/>
                  <a:gd name="T66" fmla="*/ 78 w 161"/>
                  <a:gd name="T67" fmla="*/ 16 h 97"/>
                  <a:gd name="T68" fmla="*/ 87 w 161"/>
                  <a:gd name="T69" fmla="*/ 16 h 97"/>
                  <a:gd name="T70" fmla="*/ 94 w 161"/>
                  <a:gd name="T71" fmla="*/ 18 h 97"/>
                  <a:gd name="T72" fmla="*/ 99 w 161"/>
                  <a:gd name="T73" fmla="*/ 22 h 97"/>
                  <a:gd name="T74" fmla="*/ 101 w 161"/>
                  <a:gd name="T75" fmla="*/ 28 h 97"/>
                  <a:gd name="T76" fmla="*/ 101 w 161"/>
                  <a:gd name="T77" fmla="*/ 29 h 97"/>
                  <a:gd name="T78" fmla="*/ 99 w 161"/>
                  <a:gd name="T79" fmla="*/ 33 h 97"/>
                  <a:gd name="T80" fmla="*/ 93 w 161"/>
                  <a:gd name="T81" fmla="*/ 36 h 97"/>
                  <a:gd name="T82" fmla="*/ 86 w 161"/>
                  <a:gd name="T83" fmla="*/ 38 h 97"/>
                  <a:gd name="T84" fmla="*/ 75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5"/>
                    </a:moveTo>
                    <a:lnTo>
                      <a:pt x="78" y="55"/>
                    </a:lnTo>
                    <a:lnTo>
                      <a:pt x="113" y="97"/>
                    </a:lnTo>
                    <a:lnTo>
                      <a:pt x="161" y="97"/>
                    </a:lnTo>
                    <a:lnTo>
                      <a:pt x="161" y="80"/>
                    </a:lnTo>
                    <a:lnTo>
                      <a:pt x="141" y="80"/>
                    </a:lnTo>
                    <a:lnTo>
                      <a:pt x="116" y="51"/>
                    </a:lnTo>
                    <a:lnTo>
                      <a:pt x="120" y="49"/>
                    </a:lnTo>
                    <a:lnTo>
                      <a:pt x="128" y="46"/>
                    </a:lnTo>
                    <a:lnTo>
                      <a:pt x="135" y="42"/>
                    </a:lnTo>
                    <a:lnTo>
                      <a:pt x="138" y="38"/>
                    </a:lnTo>
                    <a:lnTo>
                      <a:pt x="142" y="33"/>
                    </a:lnTo>
                    <a:lnTo>
                      <a:pt x="143" y="27"/>
                    </a:lnTo>
                    <a:lnTo>
                      <a:pt x="142" y="24"/>
                    </a:lnTo>
                    <a:lnTo>
                      <a:pt x="141" y="18"/>
                    </a:lnTo>
                    <a:lnTo>
                      <a:pt x="136" y="13"/>
                    </a:lnTo>
                    <a:lnTo>
                      <a:pt x="130" y="8"/>
                    </a:lnTo>
                    <a:lnTo>
                      <a:pt x="128" y="6"/>
                    </a:lnTo>
                    <a:lnTo>
                      <a:pt x="121" y="3"/>
                    </a:lnTo>
                    <a:lnTo>
                      <a:pt x="113" y="1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0"/>
                    </a:lnTo>
                    <a:lnTo>
                      <a:pt x="0" y="80"/>
                    </a:lnTo>
                    <a:lnTo>
                      <a:pt x="0" y="97"/>
                    </a:lnTo>
                    <a:lnTo>
                      <a:pt x="81" y="97"/>
                    </a:lnTo>
                    <a:lnTo>
                      <a:pt x="81" y="80"/>
                    </a:lnTo>
                    <a:lnTo>
                      <a:pt x="61" y="80"/>
                    </a:lnTo>
                    <a:lnTo>
                      <a:pt x="61" y="55"/>
                    </a:lnTo>
                    <a:close/>
                    <a:moveTo>
                      <a:pt x="61" y="16"/>
                    </a:moveTo>
                    <a:lnTo>
                      <a:pt x="78" y="16"/>
                    </a:lnTo>
                    <a:lnTo>
                      <a:pt x="87" y="16"/>
                    </a:lnTo>
                    <a:lnTo>
                      <a:pt x="94" y="18"/>
                    </a:lnTo>
                    <a:lnTo>
                      <a:pt x="99" y="22"/>
                    </a:lnTo>
                    <a:lnTo>
                      <a:pt x="101" y="28"/>
                    </a:lnTo>
                    <a:lnTo>
                      <a:pt x="101" y="29"/>
                    </a:lnTo>
                    <a:lnTo>
                      <a:pt x="99" y="33"/>
                    </a:lnTo>
                    <a:lnTo>
                      <a:pt x="93" y="36"/>
                    </a:lnTo>
                    <a:lnTo>
                      <a:pt x="86" y="38"/>
                    </a:lnTo>
                    <a:lnTo>
                      <a:pt x="75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1" name="Freeform 42"/>
              <p:cNvSpPr>
                <a:spLocks noEditPoints="1"/>
              </p:cNvSpPr>
              <p:nvPr/>
            </p:nvSpPr>
            <p:spPr bwMode="auto">
              <a:xfrm>
                <a:off x="1086" y="1160"/>
                <a:ext cx="161" cy="97"/>
              </a:xfrm>
              <a:custGeom>
                <a:avLst/>
                <a:gdLst>
                  <a:gd name="T0" fmla="*/ 61 w 161"/>
                  <a:gd name="T1" fmla="*/ 54 h 97"/>
                  <a:gd name="T2" fmla="*/ 79 w 161"/>
                  <a:gd name="T3" fmla="*/ 54 h 97"/>
                  <a:gd name="T4" fmla="*/ 114 w 161"/>
                  <a:gd name="T5" fmla="*/ 97 h 97"/>
                  <a:gd name="T6" fmla="*/ 161 w 161"/>
                  <a:gd name="T7" fmla="*/ 97 h 97"/>
                  <a:gd name="T8" fmla="*/ 161 w 161"/>
                  <a:gd name="T9" fmla="*/ 81 h 97"/>
                  <a:gd name="T10" fmla="*/ 141 w 161"/>
                  <a:gd name="T11" fmla="*/ 81 h 97"/>
                  <a:gd name="T12" fmla="*/ 115 w 161"/>
                  <a:gd name="T13" fmla="*/ 51 h 97"/>
                  <a:gd name="T14" fmla="*/ 121 w 161"/>
                  <a:gd name="T15" fmla="*/ 50 h 97"/>
                  <a:gd name="T16" fmla="*/ 129 w 161"/>
                  <a:gd name="T17" fmla="*/ 46 h 97"/>
                  <a:gd name="T18" fmla="*/ 135 w 161"/>
                  <a:gd name="T19" fmla="*/ 43 h 97"/>
                  <a:gd name="T20" fmla="*/ 139 w 161"/>
                  <a:gd name="T21" fmla="*/ 38 h 97"/>
                  <a:gd name="T22" fmla="*/ 141 w 161"/>
                  <a:gd name="T23" fmla="*/ 33 h 97"/>
                  <a:gd name="T24" fmla="*/ 143 w 161"/>
                  <a:gd name="T25" fmla="*/ 27 h 97"/>
                  <a:gd name="T26" fmla="*/ 143 w 161"/>
                  <a:gd name="T27" fmla="*/ 24 h 97"/>
                  <a:gd name="T28" fmla="*/ 140 w 161"/>
                  <a:gd name="T29" fmla="*/ 18 h 97"/>
                  <a:gd name="T30" fmla="*/ 137 w 161"/>
                  <a:gd name="T31" fmla="*/ 13 h 97"/>
                  <a:gd name="T32" fmla="*/ 131 w 161"/>
                  <a:gd name="T33" fmla="*/ 8 h 97"/>
                  <a:gd name="T34" fmla="*/ 128 w 161"/>
                  <a:gd name="T35" fmla="*/ 7 h 97"/>
                  <a:gd name="T36" fmla="*/ 122 w 161"/>
                  <a:gd name="T37" fmla="*/ 4 h 97"/>
                  <a:gd name="T38" fmla="*/ 113 w 161"/>
                  <a:gd name="T39" fmla="*/ 2 h 97"/>
                  <a:gd name="T40" fmla="*/ 104 w 161"/>
                  <a:gd name="T41" fmla="*/ 1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1 h 97"/>
                  <a:gd name="T52" fmla="*/ 0 w 161"/>
                  <a:gd name="T53" fmla="*/ 81 h 97"/>
                  <a:gd name="T54" fmla="*/ 0 w 161"/>
                  <a:gd name="T55" fmla="*/ 97 h 97"/>
                  <a:gd name="T56" fmla="*/ 80 w 161"/>
                  <a:gd name="T57" fmla="*/ 97 h 97"/>
                  <a:gd name="T58" fmla="*/ 80 w 161"/>
                  <a:gd name="T59" fmla="*/ 81 h 97"/>
                  <a:gd name="T60" fmla="*/ 61 w 161"/>
                  <a:gd name="T61" fmla="*/ 81 h 97"/>
                  <a:gd name="T62" fmla="*/ 61 w 161"/>
                  <a:gd name="T63" fmla="*/ 54 h 97"/>
                  <a:gd name="T64" fmla="*/ 61 w 161"/>
                  <a:gd name="T65" fmla="*/ 16 h 97"/>
                  <a:gd name="T66" fmla="*/ 79 w 161"/>
                  <a:gd name="T67" fmla="*/ 16 h 97"/>
                  <a:gd name="T68" fmla="*/ 87 w 161"/>
                  <a:gd name="T69" fmla="*/ 17 h 97"/>
                  <a:gd name="T70" fmla="*/ 95 w 161"/>
                  <a:gd name="T71" fmla="*/ 19 h 97"/>
                  <a:gd name="T72" fmla="*/ 98 w 161"/>
                  <a:gd name="T73" fmla="*/ 22 h 97"/>
                  <a:gd name="T74" fmla="*/ 101 w 161"/>
                  <a:gd name="T75" fmla="*/ 27 h 97"/>
                  <a:gd name="T76" fmla="*/ 101 w 161"/>
                  <a:gd name="T77" fmla="*/ 28 h 97"/>
                  <a:gd name="T78" fmla="*/ 98 w 161"/>
                  <a:gd name="T79" fmla="*/ 34 h 97"/>
                  <a:gd name="T80" fmla="*/ 94 w 161"/>
                  <a:gd name="T81" fmla="*/ 37 h 97"/>
                  <a:gd name="T82" fmla="*/ 86 w 161"/>
                  <a:gd name="T83" fmla="*/ 39 h 97"/>
                  <a:gd name="T84" fmla="*/ 76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4"/>
                    </a:moveTo>
                    <a:lnTo>
                      <a:pt x="79" y="54"/>
                    </a:lnTo>
                    <a:lnTo>
                      <a:pt x="114" y="97"/>
                    </a:lnTo>
                    <a:lnTo>
                      <a:pt x="161" y="97"/>
                    </a:lnTo>
                    <a:lnTo>
                      <a:pt x="161" y="81"/>
                    </a:lnTo>
                    <a:lnTo>
                      <a:pt x="141" y="81"/>
                    </a:lnTo>
                    <a:lnTo>
                      <a:pt x="115" y="51"/>
                    </a:lnTo>
                    <a:lnTo>
                      <a:pt x="121" y="50"/>
                    </a:lnTo>
                    <a:lnTo>
                      <a:pt x="129" y="46"/>
                    </a:lnTo>
                    <a:lnTo>
                      <a:pt x="135" y="43"/>
                    </a:lnTo>
                    <a:lnTo>
                      <a:pt x="139" y="38"/>
                    </a:lnTo>
                    <a:lnTo>
                      <a:pt x="141" y="33"/>
                    </a:lnTo>
                    <a:lnTo>
                      <a:pt x="143" y="27"/>
                    </a:lnTo>
                    <a:lnTo>
                      <a:pt x="143" y="24"/>
                    </a:lnTo>
                    <a:lnTo>
                      <a:pt x="140" y="18"/>
                    </a:lnTo>
                    <a:lnTo>
                      <a:pt x="137" y="13"/>
                    </a:lnTo>
                    <a:lnTo>
                      <a:pt x="131" y="8"/>
                    </a:lnTo>
                    <a:lnTo>
                      <a:pt x="128" y="7"/>
                    </a:lnTo>
                    <a:lnTo>
                      <a:pt x="122" y="4"/>
                    </a:lnTo>
                    <a:lnTo>
                      <a:pt x="113" y="2"/>
                    </a:lnTo>
                    <a:lnTo>
                      <a:pt x="104" y="1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1"/>
                    </a:lnTo>
                    <a:lnTo>
                      <a:pt x="0" y="81"/>
                    </a:lnTo>
                    <a:lnTo>
                      <a:pt x="0" y="97"/>
                    </a:lnTo>
                    <a:lnTo>
                      <a:pt x="80" y="97"/>
                    </a:lnTo>
                    <a:lnTo>
                      <a:pt x="80" y="81"/>
                    </a:lnTo>
                    <a:lnTo>
                      <a:pt x="61" y="81"/>
                    </a:lnTo>
                    <a:lnTo>
                      <a:pt x="61" y="54"/>
                    </a:lnTo>
                    <a:close/>
                    <a:moveTo>
                      <a:pt x="61" y="16"/>
                    </a:moveTo>
                    <a:lnTo>
                      <a:pt x="79" y="16"/>
                    </a:lnTo>
                    <a:lnTo>
                      <a:pt x="87" y="17"/>
                    </a:lnTo>
                    <a:lnTo>
                      <a:pt x="95" y="19"/>
                    </a:lnTo>
                    <a:lnTo>
                      <a:pt x="98" y="22"/>
                    </a:lnTo>
                    <a:lnTo>
                      <a:pt x="101" y="27"/>
                    </a:lnTo>
                    <a:lnTo>
                      <a:pt x="101" y="28"/>
                    </a:lnTo>
                    <a:lnTo>
                      <a:pt x="98" y="34"/>
                    </a:lnTo>
                    <a:lnTo>
                      <a:pt x="94" y="37"/>
                    </a:lnTo>
                    <a:lnTo>
                      <a:pt x="86" y="39"/>
                    </a:lnTo>
                    <a:lnTo>
                      <a:pt x="76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98" name="Group 43"/>
            <p:cNvGrpSpPr>
              <a:grpSpLocks/>
            </p:cNvGrpSpPr>
            <p:nvPr/>
          </p:nvGrpSpPr>
          <p:grpSpPr bwMode="auto">
            <a:xfrm>
              <a:off x="1269" y="2016"/>
              <a:ext cx="650" cy="306"/>
              <a:chOff x="820" y="1552"/>
              <a:chExt cx="671" cy="422"/>
            </a:xfrm>
          </p:grpSpPr>
          <p:sp>
            <p:nvSpPr>
              <p:cNvPr id="32809" name="Freeform 44"/>
              <p:cNvSpPr>
                <a:spLocks/>
              </p:cNvSpPr>
              <p:nvPr/>
            </p:nvSpPr>
            <p:spPr bwMode="auto">
              <a:xfrm>
                <a:off x="820" y="1552"/>
                <a:ext cx="671" cy="422"/>
              </a:xfrm>
              <a:custGeom>
                <a:avLst/>
                <a:gdLst>
                  <a:gd name="T0" fmla="*/ 495 w 671"/>
                  <a:gd name="T1" fmla="*/ 422 h 422"/>
                  <a:gd name="T2" fmla="*/ 671 w 671"/>
                  <a:gd name="T3" fmla="*/ 247 h 422"/>
                  <a:gd name="T4" fmla="*/ 671 w 671"/>
                  <a:gd name="T5" fmla="*/ 0 h 422"/>
                  <a:gd name="T6" fmla="*/ 175 w 671"/>
                  <a:gd name="T7" fmla="*/ 0 h 422"/>
                  <a:gd name="T8" fmla="*/ 0 w 671"/>
                  <a:gd name="T9" fmla="*/ 175 h 422"/>
                  <a:gd name="T10" fmla="*/ 0 w 671"/>
                  <a:gd name="T11" fmla="*/ 422 h 422"/>
                  <a:gd name="T12" fmla="*/ 495 w 671"/>
                  <a:gd name="T13" fmla="*/ 422 h 4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71"/>
                  <a:gd name="T22" fmla="*/ 0 h 422"/>
                  <a:gd name="T23" fmla="*/ 671 w 671"/>
                  <a:gd name="T24" fmla="*/ 422 h 4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71" h="422">
                    <a:moveTo>
                      <a:pt x="495" y="422"/>
                    </a:moveTo>
                    <a:lnTo>
                      <a:pt x="671" y="247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lnTo>
                      <a:pt x="0" y="422"/>
                    </a:lnTo>
                    <a:lnTo>
                      <a:pt x="495" y="422"/>
                    </a:lnTo>
                    <a:close/>
                  </a:path>
                </a:pathLst>
              </a:custGeom>
              <a:solidFill>
                <a:srgbClr val="6D619E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0" name="Rectangle 45"/>
              <p:cNvSpPr>
                <a:spLocks noChangeArrowheads="1"/>
              </p:cNvSpPr>
              <p:nvPr/>
            </p:nvSpPr>
            <p:spPr bwMode="auto">
              <a:xfrm>
                <a:off x="820" y="1727"/>
                <a:ext cx="495" cy="247"/>
              </a:xfrm>
              <a:prstGeom prst="rect">
                <a:avLst/>
              </a:prstGeom>
              <a:solidFill>
                <a:srgbClr val="8E85B7"/>
              </a:solidFill>
              <a:ln w="9525">
                <a:solidFill>
                  <a:srgbClr val="23CB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1" name="Freeform 46"/>
              <p:cNvSpPr>
                <a:spLocks/>
              </p:cNvSpPr>
              <p:nvPr/>
            </p:nvSpPr>
            <p:spPr bwMode="auto">
              <a:xfrm>
                <a:off x="820" y="1552"/>
                <a:ext cx="671" cy="175"/>
              </a:xfrm>
              <a:custGeom>
                <a:avLst/>
                <a:gdLst>
                  <a:gd name="T0" fmla="*/ 0 w 671"/>
                  <a:gd name="T1" fmla="*/ 175 h 175"/>
                  <a:gd name="T2" fmla="*/ 495 w 671"/>
                  <a:gd name="T3" fmla="*/ 175 h 175"/>
                  <a:gd name="T4" fmla="*/ 671 w 671"/>
                  <a:gd name="T5" fmla="*/ 0 h 175"/>
                  <a:gd name="T6" fmla="*/ 175 w 671"/>
                  <a:gd name="T7" fmla="*/ 0 h 175"/>
                  <a:gd name="T8" fmla="*/ 0 w 671"/>
                  <a:gd name="T9" fmla="*/ 175 h 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75"/>
                  <a:gd name="T17" fmla="*/ 671 w 671"/>
                  <a:gd name="T18" fmla="*/ 175 h 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75">
                    <a:moveTo>
                      <a:pt x="0" y="175"/>
                    </a:moveTo>
                    <a:lnTo>
                      <a:pt x="495" y="175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rgbClr val="BBB4D6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2" name="Freeform 47"/>
              <p:cNvSpPr>
                <a:spLocks noEditPoints="1"/>
              </p:cNvSpPr>
              <p:nvPr/>
            </p:nvSpPr>
            <p:spPr bwMode="auto">
              <a:xfrm>
                <a:off x="1003" y="1584"/>
                <a:ext cx="291" cy="102"/>
              </a:xfrm>
              <a:custGeom>
                <a:avLst/>
                <a:gdLst>
                  <a:gd name="T0" fmla="*/ 146 w 291"/>
                  <a:gd name="T1" fmla="*/ 41 h 102"/>
                  <a:gd name="T2" fmla="*/ 115 w 291"/>
                  <a:gd name="T3" fmla="*/ 18 h 102"/>
                  <a:gd name="T4" fmla="*/ 203 w 291"/>
                  <a:gd name="T5" fmla="*/ 18 h 102"/>
                  <a:gd name="T6" fmla="*/ 146 w 291"/>
                  <a:gd name="T7" fmla="*/ 41 h 102"/>
                  <a:gd name="T8" fmla="*/ 144 w 291"/>
                  <a:gd name="T9" fmla="*/ 62 h 102"/>
                  <a:gd name="T10" fmla="*/ 174 w 291"/>
                  <a:gd name="T11" fmla="*/ 85 h 102"/>
                  <a:gd name="T12" fmla="*/ 86 w 291"/>
                  <a:gd name="T13" fmla="*/ 85 h 102"/>
                  <a:gd name="T14" fmla="*/ 144 w 291"/>
                  <a:gd name="T15" fmla="*/ 62 h 102"/>
                  <a:gd name="T16" fmla="*/ 0 w 291"/>
                  <a:gd name="T17" fmla="*/ 102 h 102"/>
                  <a:gd name="T18" fmla="*/ 225 w 291"/>
                  <a:gd name="T19" fmla="*/ 102 h 102"/>
                  <a:gd name="T20" fmla="*/ 162 w 291"/>
                  <a:gd name="T21" fmla="*/ 53 h 102"/>
                  <a:gd name="T22" fmla="*/ 291 w 291"/>
                  <a:gd name="T23" fmla="*/ 0 h 102"/>
                  <a:gd name="T24" fmla="*/ 64 w 291"/>
                  <a:gd name="T25" fmla="*/ 0 h 102"/>
                  <a:gd name="T26" fmla="*/ 128 w 291"/>
                  <a:gd name="T27" fmla="*/ 50 h 102"/>
                  <a:gd name="T28" fmla="*/ 0 w 291"/>
                  <a:gd name="T29" fmla="*/ 102 h 1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2"/>
                  <a:gd name="T47" fmla="*/ 291 w 291"/>
                  <a:gd name="T48" fmla="*/ 102 h 1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2">
                    <a:moveTo>
                      <a:pt x="146" y="41"/>
                    </a:moveTo>
                    <a:lnTo>
                      <a:pt x="115" y="18"/>
                    </a:lnTo>
                    <a:lnTo>
                      <a:pt x="203" y="18"/>
                    </a:lnTo>
                    <a:lnTo>
                      <a:pt x="146" y="41"/>
                    </a:lnTo>
                    <a:close/>
                    <a:moveTo>
                      <a:pt x="144" y="62"/>
                    </a:moveTo>
                    <a:lnTo>
                      <a:pt x="174" y="85"/>
                    </a:lnTo>
                    <a:lnTo>
                      <a:pt x="86" y="85"/>
                    </a:lnTo>
                    <a:lnTo>
                      <a:pt x="144" y="62"/>
                    </a:lnTo>
                    <a:close/>
                    <a:moveTo>
                      <a:pt x="0" y="102"/>
                    </a:moveTo>
                    <a:lnTo>
                      <a:pt x="225" y="102"/>
                    </a:lnTo>
                    <a:lnTo>
                      <a:pt x="162" y="53"/>
                    </a:lnTo>
                    <a:lnTo>
                      <a:pt x="291" y="0"/>
                    </a:lnTo>
                    <a:lnTo>
                      <a:pt x="64" y="0"/>
                    </a:lnTo>
                    <a:lnTo>
                      <a:pt x="128" y="5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3" name="Freeform 48"/>
              <p:cNvSpPr>
                <a:spLocks noEditPoints="1"/>
              </p:cNvSpPr>
              <p:nvPr/>
            </p:nvSpPr>
            <p:spPr bwMode="auto">
              <a:xfrm>
                <a:off x="1017" y="1593"/>
                <a:ext cx="291" cy="101"/>
              </a:xfrm>
              <a:custGeom>
                <a:avLst/>
                <a:gdLst>
                  <a:gd name="T0" fmla="*/ 147 w 291"/>
                  <a:gd name="T1" fmla="*/ 41 h 101"/>
                  <a:gd name="T2" fmla="*/ 117 w 291"/>
                  <a:gd name="T3" fmla="*/ 17 h 101"/>
                  <a:gd name="T4" fmla="*/ 205 w 291"/>
                  <a:gd name="T5" fmla="*/ 17 h 101"/>
                  <a:gd name="T6" fmla="*/ 147 w 291"/>
                  <a:gd name="T7" fmla="*/ 41 h 101"/>
                  <a:gd name="T8" fmla="*/ 144 w 291"/>
                  <a:gd name="T9" fmla="*/ 60 h 101"/>
                  <a:gd name="T10" fmla="*/ 176 w 291"/>
                  <a:gd name="T11" fmla="*/ 84 h 101"/>
                  <a:gd name="T12" fmla="*/ 87 w 291"/>
                  <a:gd name="T13" fmla="*/ 84 h 101"/>
                  <a:gd name="T14" fmla="*/ 144 w 291"/>
                  <a:gd name="T15" fmla="*/ 60 h 101"/>
                  <a:gd name="T16" fmla="*/ 0 w 291"/>
                  <a:gd name="T17" fmla="*/ 101 h 101"/>
                  <a:gd name="T18" fmla="*/ 227 w 291"/>
                  <a:gd name="T19" fmla="*/ 101 h 101"/>
                  <a:gd name="T20" fmla="*/ 163 w 291"/>
                  <a:gd name="T21" fmla="*/ 53 h 101"/>
                  <a:gd name="T22" fmla="*/ 291 w 291"/>
                  <a:gd name="T23" fmla="*/ 0 h 101"/>
                  <a:gd name="T24" fmla="*/ 66 w 291"/>
                  <a:gd name="T25" fmla="*/ 0 h 101"/>
                  <a:gd name="T26" fmla="*/ 129 w 291"/>
                  <a:gd name="T27" fmla="*/ 48 h 101"/>
                  <a:gd name="T28" fmla="*/ 0 w 291"/>
                  <a:gd name="T29" fmla="*/ 101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1"/>
                  <a:gd name="T47" fmla="*/ 291 w 291"/>
                  <a:gd name="T48" fmla="*/ 101 h 10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1">
                    <a:moveTo>
                      <a:pt x="147" y="41"/>
                    </a:moveTo>
                    <a:lnTo>
                      <a:pt x="117" y="17"/>
                    </a:lnTo>
                    <a:lnTo>
                      <a:pt x="205" y="17"/>
                    </a:lnTo>
                    <a:lnTo>
                      <a:pt x="147" y="41"/>
                    </a:lnTo>
                    <a:close/>
                    <a:moveTo>
                      <a:pt x="144" y="60"/>
                    </a:moveTo>
                    <a:lnTo>
                      <a:pt x="176" y="84"/>
                    </a:lnTo>
                    <a:lnTo>
                      <a:pt x="87" y="84"/>
                    </a:lnTo>
                    <a:lnTo>
                      <a:pt x="144" y="60"/>
                    </a:lnTo>
                    <a:close/>
                    <a:moveTo>
                      <a:pt x="0" y="101"/>
                    </a:moveTo>
                    <a:lnTo>
                      <a:pt x="227" y="101"/>
                    </a:lnTo>
                    <a:lnTo>
                      <a:pt x="163" y="53"/>
                    </a:lnTo>
                    <a:lnTo>
                      <a:pt x="291" y="0"/>
                    </a:lnTo>
                    <a:lnTo>
                      <a:pt x="66" y="0"/>
                    </a:lnTo>
                    <a:lnTo>
                      <a:pt x="129" y="48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4" name="Freeform 49"/>
              <p:cNvSpPr>
                <a:spLocks/>
              </p:cNvSpPr>
              <p:nvPr/>
            </p:nvSpPr>
            <p:spPr bwMode="auto">
              <a:xfrm>
                <a:off x="1015" y="1803"/>
                <a:ext cx="149" cy="115"/>
              </a:xfrm>
              <a:custGeom>
                <a:avLst/>
                <a:gdLst>
                  <a:gd name="T0" fmla="*/ 106 w 149"/>
                  <a:gd name="T1" fmla="*/ 112 h 115"/>
                  <a:gd name="T2" fmla="*/ 83 w 149"/>
                  <a:gd name="T3" fmla="*/ 115 h 115"/>
                  <a:gd name="T4" fmla="*/ 58 w 149"/>
                  <a:gd name="T5" fmla="*/ 112 h 115"/>
                  <a:gd name="T6" fmla="*/ 39 w 149"/>
                  <a:gd name="T7" fmla="*/ 104 h 115"/>
                  <a:gd name="T8" fmla="*/ 1 w 149"/>
                  <a:gd name="T9" fmla="*/ 113 h 115"/>
                  <a:gd name="T10" fmla="*/ 39 w 149"/>
                  <a:gd name="T11" fmla="*/ 75 h 115"/>
                  <a:gd name="T12" fmla="*/ 46 w 149"/>
                  <a:gd name="T13" fmla="*/ 88 h 115"/>
                  <a:gd name="T14" fmla="*/ 60 w 149"/>
                  <a:gd name="T15" fmla="*/ 94 h 115"/>
                  <a:gd name="T16" fmla="*/ 86 w 149"/>
                  <a:gd name="T17" fmla="*/ 94 h 115"/>
                  <a:gd name="T18" fmla="*/ 97 w 149"/>
                  <a:gd name="T19" fmla="*/ 86 h 115"/>
                  <a:gd name="T20" fmla="*/ 94 w 149"/>
                  <a:gd name="T21" fmla="*/ 77 h 115"/>
                  <a:gd name="T22" fmla="*/ 82 w 149"/>
                  <a:gd name="T23" fmla="*/ 71 h 115"/>
                  <a:gd name="T24" fmla="*/ 65 w 149"/>
                  <a:gd name="T25" fmla="*/ 66 h 115"/>
                  <a:gd name="T26" fmla="*/ 36 w 149"/>
                  <a:gd name="T27" fmla="*/ 59 h 115"/>
                  <a:gd name="T28" fmla="*/ 17 w 149"/>
                  <a:gd name="T29" fmla="*/ 52 h 115"/>
                  <a:gd name="T30" fmla="*/ 6 w 149"/>
                  <a:gd name="T31" fmla="*/ 46 h 115"/>
                  <a:gd name="T32" fmla="*/ 0 w 149"/>
                  <a:gd name="T33" fmla="*/ 32 h 115"/>
                  <a:gd name="T34" fmla="*/ 1 w 149"/>
                  <a:gd name="T35" fmla="*/ 24 h 115"/>
                  <a:gd name="T36" fmla="*/ 11 w 149"/>
                  <a:gd name="T37" fmla="*/ 12 h 115"/>
                  <a:gd name="T38" fmla="*/ 29 w 149"/>
                  <a:gd name="T39" fmla="*/ 5 h 115"/>
                  <a:gd name="T40" fmla="*/ 53 w 149"/>
                  <a:gd name="T41" fmla="*/ 0 h 115"/>
                  <a:gd name="T42" fmla="*/ 73 w 149"/>
                  <a:gd name="T43" fmla="*/ 1 h 115"/>
                  <a:gd name="T44" fmla="*/ 94 w 149"/>
                  <a:gd name="T45" fmla="*/ 7 h 115"/>
                  <a:gd name="T46" fmla="*/ 100 w 149"/>
                  <a:gd name="T47" fmla="*/ 1 h 115"/>
                  <a:gd name="T48" fmla="*/ 137 w 149"/>
                  <a:gd name="T49" fmla="*/ 35 h 115"/>
                  <a:gd name="T50" fmla="*/ 97 w 149"/>
                  <a:gd name="T51" fmla="*/ 29 h 115"/>
                  <a:gd name="T52" fmla="*/ 89 w 149"/>
                  <a:gd name="T53" fmla="*/ 23 h 115"/>
                  <a:gd name="T54" fmla="*/ 68 w 149"/>
                  <a:gd name="T55" fmla="*/ 19 h 115"/>
                  <a:gd name="T56" fmla="*/ 52 w 149"/>
                  <a:gd name="T57" fmla="*/ 22 h 115"/>
                  <a:gd name="T58" fmla="*/ 46 w 149"/>
                  <a:gd name="T59" fmla="*/ 28 h 115"/>
                  <a:gd name="T60" fmla="*/ 51 w 149"/>
                  <a:gd name="T61" fmla="*/ 35 h 115"/>
                  <a:gd name="T62" fmla="*/ 71 w 149"/>
                  <a:gd name="T63" fmla="*/ 41 h 115"/>
                  <a:gd name="T64" fmla="*/ 97 w 149"/>
                  <a:gd name="T65" fmla="*/ 47 h 115"/>
                  <a:gd name="T66" fmla="*/ 119 w 149"/>
                  <a:gd name="T67" fmla="*/ 53 h 115"/>
                  <a:gd name="T68" fmla="*/ 131 w 149"/>
                  <a:gd name="T69" fmla="*/ 58 h 115"/>
                  <a:gd name="T70" fmla="*/ 140 w 149"/>
                  <a:gd name="T71" fmla="*/ 65 h 115"/>
                  <a:gd name="T72" fmla="*/ 148 w 149"/>
                  <a:gd name="T73" fmla="*/ 77 h 115"/>
                  <a:gd name="T74" fmla="*/ 148 w 149"/>
                  <a:gd name="T75" fmla="*/ 89 h 115"/>
                  <a:gd name="T76" fmla="*/ 138 w 149"/>
                  <a:gd name="T77" fmla="*/ 101 h 115"/>
                  <a:gd name="T78" fmla="*/ 129 w 149"/>
                  <a:gd name="T79" fmla="*/ 106 h 11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5"/>
                  <a:gd name="T122" fmla="*/ 149 w 149"/>
                  <a:gd name="T123" fmla="*/ 115 h 11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5">
                    <a:moveTo>
                      <a:pt x="119" y="110"/>
                    </a:moveTo>
                    <a:lnTo>
                      <a:pt x="106" y="112"/>
                    </a:lnTo>
                    <a:lnTo>
                      <a:pt x="93" y="115"/>
                    </a:lnTo>
                    <a:lnTo>
                      <a:pt x="83" y="115"/>
                    </a:lnTo>
                    <a:lnTo>
                      <a:pt x="70" y="113"/>
                    </a:lnTo>
                    <a:lnTo>
                      <a:pt x="58" y="112"/>
                    </a:lnTo>
                    <a:lnTo>
                      <a:pt x="47" y="109"/>
                    </a:lnTo>
                    <a:lnTo>
                      <a:pt x="39" y="104"/>
                    </a:lnTo>
                    <a:lnTo>
                      <a:pt x="39" y="113"/>
                    </a:lnTo>
                    <a:lnTo>
                      <a:pt x="1" y="113"/>
                    </a:lnTo>
                    <a:lnTo>
                      <a:pt x="1" y="75"/>
                    </a:lnTo>
                    <a:lnTo>
                      <a:pt x="39" y="75"/>
                    </a:lnTo>
                    <a:lnTo>
                      <a:pt x="41" y="82"/>
                    </a:lnTo>
                    <a:lnTo>
                      <a:pt x="46" y="88"/>
                    </a:lnTo>
                    <a:lnTo>
                      <a:pt x="49" y="90"/>
                    </a:lnTo>
                    <a:lnTo>
                      <a:pt x="60" y="94"/>
                    </a:lnTo>
                    <a:lnTo>
                      <a:pt x="73" y="95"/>
                    </a:lnTo>
                    <a:lnTo>
                      <a:pt x="86" y="94"/>
                    </a:lnTo>
                    <a:lnTo>
                      <a:pt x="91" y="92"/>
                    </a:lnTo>
                    <a:lnTo>
                      <a:pt x="97" y="86"/>
                    </a:lnTo>
                    <a:lnTo>
                      <a:pt x="97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8"/>
                    </a:lnTo>
                    <a:lnTo>
                      <a:pt x="65" y="66"/>
                    </a:lnTo>
                    <a:lnTo>
                      <a:pt x="49" y="63"/>
                    </a:lnTo>
                    <a:lnTo>
                      <a:pt x="36" y="59"/>
                    </a:lnTo>
                    <a:lnTo>
                      <a:pt x="25" y="55"/>
                    </a:lnTo>
                    <a:lnTo>
                      <a:pt x="17" y="52"/>
                    </a:lnTo>
                    <a:lnTo>
                      <a:pt x="13" y="51"/>
                    </a:lnTo>
                    <a:lnTo>
                      <a:pt x="6" y="46"/>
                    </a:lnTo>
                    <a:lnTo>
                      <a:pt x="1" y="40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5"/>
                    </a:lnTo>
                    <a:lnTo>
                      <a:pt x="41" y="1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73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1"/>
                    </a:lnTo>
                    <a:lnTo>
                      <a:pt x="100" y="1"/>
                    </a:lnTo>
                    <a:lnTo>
                      <a:pt x="137" y="1"/>
                    </a:lnTo>
                    <a:lnTo>
                      <a:pt x="137" y="35"/>
                    </a:lnTo>
                    <a:lnTo>
                      <a:pt x="100" y="35"/>
                    </a:lnTo>
                    <a:lnTo>
                      <a:pt x="97" y="29"/>
                    </a:lnTo>
                    <a:lnTo>
                      <a:pt x="89" y="23"/>
                    </a:lnTo>
                    <a:lnTo>
                      <a:pt x="77" y="19"/>
                    </a:lnTo>
                    <a:lnTo>
                      <a:pt x="68" y="19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6" y="26"/>
                    </a:lnTo>
                    <a:lnTo>
                      <a:pt x="46" y="28"/>
                    </a:lnTo>
                    <a:lnTo>
                      <a:pt x="51" y="34"/>
                    </a:lnTo>
                    <a:lnTo>
                      <a:pt x="51" y="35"/>
                    </a:lnTo>
                    <a:lnTo>
                      <a:pt x="58" y="37"/>
                    </a:lnTo>
                    <a:lnTo>
                      <a:pt x="71" y="41"/>
                    </a:lnTo>
                    <a:lnTo>
                      <a:pt x="82" y="43"/>
                    </a:lnTo>
                    <a:lnTo>
                      <a:pt x="97" y="47"/>
                    </a:lnTo>
                    <a:lnTo>
                      <a:pt x="109" y="49"/>
                    </a:lnTo>
                    <a:lnTo>
                      <a:pt x="119" y="53"/>
                    </a:lnTo>
                    <a:lnTo>
                      <a:pt x="120" y="53"/>
                    </a:lnTo>
                    <a:lnTo>
                      <a:pt x="131" y="58"/>
                    </a:lnTo>
                    <a:lnTo>
                      <a:pt x="138" y="63"/>
                    </a:lnTo>
                    <a:lnTo>
                      <a:pt x="140" y="65"/>
                    </a:lnTo>
                    <a:lnTo>
                      <a:pt x="145" y="71"/>
                    </a:lnTo>
                    <a:lnTo>
                      <a:pt x="148" y="77"/>
                    </a:lnTo>
                    <a:lnTo>
                      <a:pt x="149" y="81"/>
                    </a:lnTo>
                    <a:lnTo>
                      <a:pt x="148" y="89"/>
                    </a:lnTo>
                    <a:lnTo>
                      <a:pt x="144" y="95"/>
                    </a:lnTo>
                    <a:lnTo>
                      <a:pt x="138" y="101"/>
                    </a:lnTo>
                    <a:lnTo>
                      <a:pt x="131" y="106"/>
                    </a:lnTo>
                    <a:lnTo>
                      <a:pt x="129" y="106"/>
                    </a:lnTo>
                    <a:lnTo>
                      <a:pt x="11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5" name="Freeform 50"/>
              <p:cNvSpPr>
                <a:spLocks/>
              </p:cNvSpPr>
              <p:nvPr/>
            </p:nvSpPr>
            <p:spPr bwMode="auto">
              <a:xfrm>
                <a:off x="1003" y="1796"/>
                <a:ext cx="149" cy="114"/>
              </a:xfrm>
              <a:custGeom>
                <a:avLst/>
                <a:gdLst>
                  <a:gd name="T0" fmla="*/ 108 w 149"/>
                  <a:gd name="T1" fmla="*/ 112 h 114"/>
                  <a:gd name="T2" fmla="*/ 85 w 149"/>
                  <a:gd name="T3" fmla="*/ 114 h 114"/>
                  <a:gd name="T4" fmla="*/ 58 w 149"/>
                  <a:gd name="T5" fmla="*/ 111 h 114"/>
                  <a:gd name="T6" fmla="*/ 40 w 149"/>
                  <a:gd name="T7" fmla="*/ 104 h 114"/>
                  <a:gd name="T8" fmla="*/ 2 w 149"/>
                  <a:gd name="T9" fmla="*/ 113 h 114"/>
                  <a:gd name="T10" fmla="*/ 40 w 149"/>
                  <a:gd name="T11" fmla="*/ 75 h 114"/>
                  <a:gd name="T12" fmla="*/ 47 w 149"/>
                  <a:gd name="T13" fmla="*/ 88 h 114"/>
                  <a:gd name="T14" fmla="*/ 61 w 149"/>
                  <a:gd name="T15" fmla="*/ 94 h 114"/>
                  <a:gd name="T16" fmla="*/ 86 w 149"/>
                  <a:gd name="T17" fmla="*/ 93 h 114"/>
                  <a:gd name="T18" fmla="*/ 97 w 149"/>
                  <a:gd name="T19" fmla="*/ 85 h 114"/>
                  <a:gd name="T20" fmla="*/ 94 w 149"/>
                  <a:gd name="T21" fmla="*/ 77 h 114"/>
                  <a:gd name="T22" fmla="*/ 82 w 149"/>
                  <a:gd name="T23" fmla="*/ 71 h 114"/>
                  <a:gd name="T24" fmla="*/ 66 w 149"/>
                  <a:gd name="T25" fmla="*/ 66 h 114"/>
                  <a:gd name="T26" fmla="*/ 37 w 149"/>
                  <a:gd name="T27" fmla="*/ 59 h 114"/>
                  <a:gd name="T28" fmla="*/ 18 w 149"/>
                  <a:gd name="T29" fmla="*/ 52 h 114"/>
                  <a:gd name="T30" fmla="*/ 6 w 149"/>
                  <a:gd name="T31" fmla="*/ 44 h 114"/>
                  <a:gd name="T32" fmla="*/ 0 w 149"/>
                  <a:gd name="T33" fmla="*/ 31 h 114"/>
                  <a:gd name="T34" fmla="*/ 1 w 149"/>
                  <a:gd name="T35" fmla="*/ 23 h 114"/>
                  <a:gd name="T36" fmla="*/ 11 w 149"/>
                  <a:gd name="T37" fmla="*/ 12 h 114"/>
                  <a:gd name="T38" fmla="*/ 29 w 149"/>
                  <a:gd name="T39" fmla="*/ 3 h 114"/>
                  <a:gd name="T40" fmla="*/ 54 w 149"/>
                  <a:gd name="T41" fmla="*/ 0 h 114"/>
                  <a:gd name="T42" fmla="*/ 72 w 149"/>
                  <a:gd name="T43" fmla="*/ 1 h 114"/>
                  <a:gd name="T44" fmla="*/ 94 w 149"/>
                  <a:gd name="T45" fmla="*/ 7 h 114"/>
                  <a:gd name="T46" fmla="*/ 100 w 149"/>
                  <a:gd name="T47" fmla="*/ 1 h 114"/>
                  <a:gd name="T48" fmla="*/ 138 w 149"/>
                  <a:gd name="T49" fmla="*/ 35 h 114"/>
                  <a:gd name="T50" fmla="*/ 97 w 149"/>
                  <a:gd name="T51" fmla="*/ 27 h 114"/>
                  <a:gd name="T52" fmla="*/ 89 w 149"/>
                  <a:gd name="T53" fmla="*/ 23 h 114"/>
                  <a:gd name="T54" fmla="*/ 69 w 149"/>
                  <a:gd name="T55" fmla="*/ 18 h 114"/>
                  <a:gd name="T56" fmla="*/ 53 w 149"/>
                  <a:gd name="T57" fmla="*/ 20 h 114"/>
                  <a:gd name="T58" fmla="*/ 47 w 149"/>
                  <a:gd name="T59" fmla="*/ 27 h 114"/>
                  <a:gd name="T60" fmla="*/ 52 w 149"/>
                  <a:gd name="T61" fmla="*/ 33 h 114"/>
                  <a:gd name="T62" fmla="*/ 71 w 149"/>
                  <a:gd name="T63" fmla="*/ 39 h 114"/>
                  <a:gd name="T64" fmla="*/ 97 w 149"/>
                  <a:gd name="T65" fmla="*/ 46 h 114"/>
                  <a:gd name="T66" fmla="*/ 120 w 149"/>
                  <a:gd name="T67" fmla="*/ 53 h 114"/>
                  <a:gd name="T68" fmla="*/ 131 w 149"/>
                  <a:gd name="T69" fmla="*/ 56 h 114"/>
                  <a:gd name="T70" fmla="*/ 141 w 149"/>
                  <a:gd name="T71" fmla="*/ 64 h 114"/>
                  <a:gd name="T72" fmla="*/ 149 w 149"/>
                  <a:gd name="T73" fmla="*/ 77 h 114"/>
                  <a:gd name="T74" fmla="*/ 148 w 149"/>
                  <a:gd name="T75" fmla="*/ 88 h 114"/>
                  <a:gd name="T76" fmla="*/ 139 w 149"/>
                  <a:gd name="T77" fmla="*/ 100 h 114"/>
                  <a:gd name="T78" fmla="*/ 129 w 149"/>
                  <a:gd name="T79" fmla="*/ 106 h 11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4"/>
                  <a:gd name="T122" fmla="*/ 149 w 149"/>
                  <a:gd name="T123" fmla="*/ 114 h 11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4">
                    <a:moveTo>
                      <a:pt x="118" y="110"/>
                    </a:moveTo>
                    <a:lnTo>
                      <a:pt x="108" y="112"/>
                    </a:lnTo>
                    <a:lnTo>
                      <a:pt x="94" y="113"/>
                    </a:lnTo>
                    <a:lnTo>
                      <a:pt x="85" y="114"/>
                    </a:lnTo>
                    <a:lnTo>
                      <a:pt x="70" y="113"/>
                    </a:lnTo>
                    <a:lnTo>
                      <a:pt x="58" y="111"/>
                    </a:lnTo>
                    <a:lnTo>
                      <a:pt x="48" y="107"/>
                    </a:lnTo>
                    <a:lnTo>
                      <a:pt x="40" y="104"/>
                    </a:lnTo>
                    <a:lnTo>
                      <a:pt x="40" y="113"/>
                    </a:lnTo>
                    <a:lnTo>
                      <a:pt x="2" y="113"/>
                    </a:lnTo>
                    <a:lnTo>
                      <a:pt x="2" y="75"/>
                    </a:lnTo>
                    <a:lnTo>
                      <a:pt x="40" y="75"/>
                    </a:lnTo>
                    <a:lnTo>
                      <a:pt x="41" y="82"/>
                    </a:lnTo>
                    <a:lnTo>
                      <a:pt x="47" y="88"/>
                    </a:lnTo>
                    <a:lnTo>
                      <a:pt x="51" y="90"/>
                    </a:lnTo>
                    <a:lnTo>
                      <a:pt x="61" y="94"/>
                    </a:lnTo>
                    <a:lnTo>
                      <a:pt x="74" y="95"/>
                    </a:lnTo>
                    <a:lnTo>
                      <a:pt x="86" y="93"/>
                    </a:lnTo>
                    <a:lnTo>
                      <a:pt x="91" y="91"/>
                    </a:lnTo>
                    <a:lnTo>
                      <a:pt x="97" y="85"/>
                    </a:lnTo>
                    <a:lnTo>
                      <a:pt x="98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7"/>
                    </a:lnTo>
                    <a:lnTo>
                      <a:pt x="66" y="66"/>
                    </a:lnTo>
                    <a:lnTo>
                      <a:pt x="51" y="62"/>
                    </a:lnTo>
                    <a:lnTo>
                      <a:pt x="37" y="59"/>
                    </a:lnTo>
                    <a:lnTo>
                      <a:pt x="26" y="55"/>
                    </a:lnTo>
                    <a:lnTo>
                      <a:pt x="18" y="52"/>
                    </a:lnTo>
                    <a:lnTo>
                      <a:pt x="14" y="49"/>
                    </a:lnTo>
                    <a:lnTo>
                      <a:pt x="6" y="44"/>
                    </a:lnTo>
                    <a:lnTo>
                      <a:pt x="2" y="38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1" y="23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3"/>
                    </a:lnTo>
                    <a:lnTo>
                      <a:pt x="41" y="1"/>
                    </a:lnTo>
                    <a:lnTo>
                      <a:pt x="54" y="0"/>
                    </a:lnTo>
                    <a:lnTo>
                      <a:pt x="59" y="0"/>
                    </a:lnTo>
                    <a:lnTo>
                      <a:pt x="72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0"/>
                    </a:lnTo>
                    <a:lnTo>
                      <a:pt x="100" y="1"/>
                    </a:lnTo>
                    <a:lnTo>
                      <a:pt x="138" y="1"/>
                    </a:lnTo>
                    <a:lnTo>
                      <a:pt x="138" y="35"/>
                    </a:lnTo>
                    <a:lnTo>
                      <a:pt x="100" y="35"/>
                    </a:lnTo>
                    <a:lnTo>
                      <a:pt x="97" y="27"/>
                    </a:lnTo>
                    <a:lnTo>
                      <a:pt x="89" y="23"/>
                    </a:lnTo>
                    <a:lnTo>
                      <a:pt x="78" y="19"/>
                    </a:lnTo>
                    <a:lnTo>
                      <a:pt x="69" y="18"/>
                    </a:lnTo>
                    <a:lnTo>
                      <a:pt x="55" y="20"/>
                    </a:lnTo>
                    <a:lnTo>
                      <a:pt x="53" y="20"/>
                    </a:lnTo>
                    <a:lnTo>
                      <a:pt x="47" y="26"/>
                    </a:lnTo>
                    <a:lnTo>
                      <a:pt x="47" y="27"/>
                    </a:lnTo>
                    <a:lnTo>
                      <a:pt x="51" y="33"/>
                    </a:lnTo>
                    <a:lnTo>
                      <a:pt x="52" y="33"/>
                    </a:lnTo>
                    <a:lnTo>
                      <a:pt x="59" y="37"/>
                    </a:lnTo>
                    <a:lnTo>
                      <a:pt x="71" y="39"/>
                    </a:lnTo>
                    <a:lnTo>
                      <a:pt x="82" y="43"/>
                    </a:lnTo>
                    <a:lnTo>
                      <a:pt x="97" y="46"/>
                    </a:lnTo>
                    <a:lnTo>
                      <a:pt x="110" y="49"/>
                    </a:lnTo>
                    <a:lnTo>
                      <a:pt x="120" y="53"/>
                    </a:lnTo>
                    <a:lnTo>
                      <a:pt x="121" y="53"/>
                    </a:lnTo>
                    <a:lnTo>
                      <a:pt x="131" y="56"/>
                    </a:lnTo>
                    <a:lnTo>
                      <a:pt x="139" y="62"/>
                    </a:lnTo>
                    <a:lnTo>
                      <a:pt x="141" y="64"/>
                    </a:lnTo>
                    <a:lnTo>
                      <a:pt x="146" y="70"/>
                    </a:lnTo>
                    <a:lnTo>
                      <a:pt x="149" y="77"/>
                    </a:lnTo>
                    <a:lnTo>
                      <a:pt x="149" y="81"/>
                    </a:lnTo>
                    <a:lnTo>
                      <a:pt x="148" y="88"/>
                    </a:lnTo>
                    <a:lnTo>
                      <a:pt x="144" y="95"/>
                    </a:lnTo>
                    <a:lnTo>
                      <a:pt x="139" y="100"/>
                    </a:lnTo>
                    <a:lnTo>
                      <a:pt x="131" y="105"/>
                    </a:lnTo>
                    <a:lnTo>
                      <a:pt x="129" y="106"/>
                    </a:lnTo>
                    <a:lnTo>
                      <a:pt x="118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32799" name="Picture 51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1" y="2784"/>
              <a:ext cx="425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0" name="Text Box 52"/>
            <p:cNvSpPr txBox="1">
              <a:spLocks noChangeArrowheads="1"/>
            </p:cNvSpPr>
            <p:nvPr/>
          </p:nvSpPr>
          <p:spPr bwMode="auto">
            <a:xfrm>
              <a:off x="432" y="3168"/>
              <a:ext cx="1273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Ip:192.168.2.10/24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32801" name="Text Box 53"/>
            <p:cNvSpPr txBox="1">
              <a:spLocks noChangeArrowheads="1"/>
            </p:cNvSpPr>
            <p:nvPr/>
          </p:nvSpPr>
          <p:spPr bwMode="auto">
            <a:xfrm>
              <a:off x="1680" y="3168"/>
              <a:ext cx="124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Ip:192.168.2.11/24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32802" name="Text Box 54"/>
            <p:cNvSpPr txBox="1">
              <a:spLocks noChangeArrowheads="1"/>
            </p:cNvSpPr>
            <p:nvPr/>
          </p:nvSpPr>
          <p:spPr bwMode="auto">
            <a:xfrm>
              <a:off x="2904" y="3264"/>
              <a:ext cx="1320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Ip:192.168.3.10/24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Gw:192.168.3.2</a:t>
              </a:r>
            </a:p>
          </p:txBody>
        </p:sp>
        <p:sp>
          <p:nvSpPr>
            <p:cNvPr id="32803" name="Text Box 55"/>
            <p:cNvSpPr txBox="1">
              <a:spLocks noChangeArrowheads="1"/>
            </p:cNvSpPr>
            <p:nvPr/>
          </p:nvSpPr>
          <p:spPr bwMode="auto">
            <a:xfrm>
              <a:off x="504" y="3648"/>
              <a:ext cx="46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zh-CN" altLang="en-US" sz="1800">
                  <a:latin typeface="Times New Roman" pitchFamily="18" charset="0"/>
                </a:rPr>
                <a:t>注：交换机</a:t>
              </a:r>
              <a:r>
                <a:rPr lang="en-US" altLang="zh-CN" sz="1800">
                  <a:latin typeface="Times New Roman" pitchFamily="18" charset="0"/>
                </a:rPr>
                <a:t>S1</a:t>
              </a:r>
              <a:r>
                <a:rPr lang="zh-CN" altLang="en-US" sz="1800">
                  <a:latin typeface="Times New Roman" pitchFamily="18" charset="0"/>
                </a:rPr>
                <a:t>和</a:t>
              </a:r>
              <a:r>
                <a:rPr lang="en-US" altLang="zh-CN" sz="1800">
                  <a:latin typeface="Times New Roman" pitchFamily="18" charset="0"/>
                </a:rPr>
                <a:t>S2</a:t>
              </a:r>
              <a:r>
                <a:rPr lang="zh-CN" altLang="en-US" sz="1800">
                  <a:latin typeface="Times New Roman" pitchFamily="18" charset="0"/>
                </a:rPr>
                <a:t>各端口都在</a:t>
              </a:r>
              <a:r>
                <a:rPr lang="en-US" altLang="zh-CN" sz="1800">
                  <a:latin typeface="Times New Roman" pitchFamily="18" charset="0"/>
                </a:rPr>
                <a:t>vlan1 </a:t>
              </a:r>
              <a:r>
                <a:rPr lang="zh-CN" altLang="en-US" sz="1800">
                  <a:latin typeface="Times New Roman" pitchFamily="18" charset="0"/>
                </a:rPr>
                <a:t>中。</a:t>
              </a:r>
            </a:p>
          </p:txBody>
        </p:sp>
        <p:sp>
          <p:nvSpPr>
            <p:cNvPr id="32804" name="Text Box 56"/>
            <p:cNvSpPr txBox="1">
              <a:spLocks noChangeArrowheads="1"/>
            </p:cNvSpPr>
            <p:nvPr/>
          </p:nvSpPr>
          <p:spPr bwMode="auto">
            <a:xfrm>
              <a:off x="1851" y="2051"/>
              <a:ext cx="3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S1</a:t>
              </a:r>
            </a:p>
          </p:txBody>
        </p:sp>
        <p:sp>
          <p:nvSpPr>
            <p:cNvPr id="32805" name="Text Box 57"/>
            <p:cNvSpPr txBox="1">
              <a:spLocks noChangeArrowheads="1"/>
            </p:cNvSpPr>
            <p:nvPr/>
          </p:nvSpPr>
          <p:spPr bwMode="auto">
            <a:xfrm>
              <a:off x="628" y="2746"/>
              <a:ext cx="445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PCA</a:t>
              </a:r>
            </a:p>
          </p:txBody>
        </p:sp>
        <p:sp>
          <p:nvSpPr>
            <p:cNvPr id="32806" name="Text Box 58"/>
            <p:cNvSpPr txBox="1">
              <a:spLocks noChangeArrowheads="1"/>
            </p:cNvSpPr>
            <p:nvPr/>
          </p:nvSpPr>
          <p:spPr bwMode="auto">
            <a:xfrm>
              <a:off x="1740" y="2746"/>
              <a:ext cx="445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PCB</a:t>
              </a:r>
            </a:p>
          </p:txBody>
        </p:sp>
        <p:sp>
          <p:nvSpPr>
            <p:cNvPr id="32807" name="Text Box 59"/>
            <p:cNvSpPr txBox="1">
              <a:spLocks noChangeArrowheads="1"/>
            </p:cNvSpPr>
            <p:nvPr/>
          </p:nvSpPr>
          <p:spPr bwMode="auto">
            <a:xfrm>
              <a:off x="2880" y="2845"/>
              <a:ext cx="52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PCC</a:t>
              </a:r>
            </a:p>
          </p:txBody>
        </p:sp>
        <p:sp>
          <p:nvSpPr>
            <p:cNvPr id="32808" name="Text Box 60"/>
            <p:cNvSpPr txBox="1">
              <a:spLocks noChangeArrowheads="1"/>
            </p:cNvSpPr>
            <p:nvPr/>
          </p:nvSpPr>
          <p:spPr bwMode="auto">
            <a:xfrm>
              <a:off x="4080" y="2845"/>
              <a:ext cx="550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PCD</a:t>
              </a:r>
            </a:p>
          </p:txBody>
        </p:sp>
      </p:grpSp>
      <p:sp>
        <p:nvSpPr>
          <p:cNvPr id="32773" name="Rectangle 63"/>
          <p:cNvSpPr>
            <a:spLocks noChangeArrowheads="1"/>
          </p:cNvSpPr>
          <p:nvPr/>
        </p:nvSpPr>
        <p:spPr bwMode="auto">
          <a:xfrm>
            <a:off x="800100" y="2129947"/>
            <a:ext cx="8064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ctr"/>
          <a:lstStyle/>
          <a:p>
            <a:pPr algn="l">
              <a:lnSpc>
                <a:spcPct val="90000"/>
              </a:lnSpc>
            </a:pPr>
            <a:endParaRPr lang="zh-CN" altLang="en-US" sz="4000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65909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956" y="332656"/>
            <a:ext cx="8064500" cy="923925"/>
          </a:xfrm>
        </p:spPr>
        <p:txBody>
          <a:bodyPr/>
          <a:lstStyle/>
          <a:p>
            <a:pPr eaLnBrk="1" hangingPunct="1"/>
            <a:r>
              <a:rPr lang="en-US" altLang="zh-CN" sz="3600" dirty="0" smtClean="0">
                <a:ea typeface="宋体" pitchFamily="2" charset="-122"/>
              </a:rPr>
              <a:t>DV</a:t>
            </a:r>
            <a:r>
              <a:rPr lang="zh-CN" altLang="en-US" sz="3600" dirty="0" smtClean="0">
                <a:ea typeface="宋体" pitchFamily="2" charset="-122"/>
              </a:rPr>
              <a:t>算法分析实验</a:t>
            </a:r>
            <a:r>
              <a:rPr lang="zh-CN" altLang="en-US" sz="3600" dirty="0" smtClean="0"/>
              <a:t>关键实验步骤说明</a:t>
            </a:r>
            <a:endParaRPr lang="zh-CN" altLang="en-US" sz="4400" dirty="0" smtClean="0">
              <a:ea typeface="宋体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313"/>
            <a:ext cx="8208144" cy="4897437"/>
          </a:xfrm>
        </p:spPr>
        <p:txBody>
          <a:bodyPr/>
          <a:lstStyle/>
          <a:p>
            <a:pPr marL="971550" lvl="1" indent="-51435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 smtClean="0"/>
              <a:t>按组网图连接好各设备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配置各设备的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地址，配置计算机的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地址和默认网关。各路由器和交换机分别配置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协议。</a:t>
            </a:r>
          </a:p>
          <a:p>
            <a:pPr marL="971550" lvl="1" indent="-51435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 smtClean="0"/>
              <a:t>在各台计算机上运行</a:t>
            </a:r>
            <a:r>
              <a:rPr lang="en-US" altLang="zh-CN" sz="2800" dirty="0" err="1" smtClean="0"/>
              <a:t>Wireshark</a:t>
            </a:r>
            <a:r>
              <a:rPr lang="zh-CN" altLang="en-US" sz="2800" dirty="0" smtClean="0"/>
              <a:t>，观察截取到的报文。</a:t>
            </a:r>
          </a:p>
          <a:p>
            <a:pPr marL="971550" lvl="1" indent="-51435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 smtClean="0"/>
              <a:t>按照指导书上的步骤对截取的报文进行分析，理解距离矢量算法的计算过程。</a:t>
            </a:r>
          </a:p>
        </p:txBody>
      </p:sp>
    </p:spTree>
    <p:extLst>
      <p:ext uri="{BB962C8B-B14F-4D97-AF65-F5344CB8AC3E}">
        <p14:creationId xmlns:p14="http://schemas.microsoft.com/office/powerpoint/2010/main" val="353991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毕业答辩尹瑞模板">
  <a:themeElements>
    <a:clrScheme name="毕业答辩尹瑞模板 9">
      <a:dk1>
        <a:srgbClr val="330066"/>
      </a:dk1>
      <a:lt1>
        <a:srgbClr val="D8DADA"/>
      </a:lt1>
      <a:dk2>
        <a:srgbClr val="FFFFFF"/>
      </a:dk2>
      <a:lt2>
        <a:srgbClr val="6B6B6B"/>
      </a:lt2>
      <a:accent1>
        <a:srgbClr val="DF0029"/>
      </a:accent1>
      <a:accent2>
        <a:srgbClr val="DF0029"/>
      </a:accent2>
      <a:accent3>
        <a:srgbClr val="E9EAEA"/>
      </a:accent3>
      <a:accent4>
        <a:srgbClr val="2A0056"/>
      </a:accent4>
      <a:accent5>
        <a:srgbClr val="ECAAAC"/>
      </a:accent5>
      <a:accent6>
        <a:srgbClr val="CA0024"/>
      </a:accent6>
      <a:hlink>
        <a:srgbClr val="135A9A"/>
      </a:hlink>
      <a:folHlink>
        <a:srgbClr val="711C81"/>
      </a:folHlink>
    </a:clrScheme>
    <a:fontScheme name="毕业答辩尹瑞模板">
      <a:majorFont>
        <a:latin typeface="黑体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毕业答辩尹瑞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毕业答辩尹瑞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8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8FECE5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81D6CF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9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DF0029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CA0024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RIP协议实验(本科生mooc)</Template>
  <TotalTime>2</TotalTime>
  <Words>682</Words>
  <Application>Microsoft Office PowerPoint</Application>
  <PresentationFormat>全屏显示(4:3)</PresentationFormat>
  <Paragraphs>107</Paragraphs>
  <Slides>7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毕业答辩尹瑞模板</vt:lpstr>
      <vt:lpstr>距离矢量(DV)算法分析实验</vt:lpstr>
      <vt:lpstr>距离矢量（DV）算法原理</vt:lpstr>
      <vt:lpstr>距离矢量(DV)对网络的描述</vt:lpstr>
      <vt:lpstr>路由器收到一条Rip选路信息后的计算过程 </vt:lpstr>
      <vt:lpstr>RIP协议中根据DV算法计算路由信息的过程</vt:lpstr>
      <vt:lpstr>DV算法分析实验组网图</vt:lpstr>
      <vt:lpstr>DV算法分析实验关键实验步骤说明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距离矢量(DV)算法分析实验</dc:title>
  <dc:creator>jiaofuju</dc:creator>
  <cp:lastModifiedBy>jiaofuju</cp:lastModifiedBy>
  <cp:revision>1</cp:revision>
  <dcterms:created xsi:type="dcterms:W3CDTF">2014-11-06T23:20:21Z</dcterms:created>
  <dcterms:modified xsi:type="dcterms:W3CDTF">2014-11-06T23:22:58Z</dcterms:modified>
</cp:coreProperties>
</file>