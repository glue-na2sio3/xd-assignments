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57" r:id="rId2"/>
    <p:sldId id="258" r:id="rId3"/>
    <p:sldId id="259" r:id="rId4"/>
    <p:sldId id="260" r:id="rId5"/>
    <p:sldId id="271" r:id="rId6"/>
    <p:sldId id="261" r:id="rId7"/>
    <p:sldId id="262" r:id="rId8"/>
    <p:sldId id="272" r:id="rId9"/>
    <p:sldId id="263" r:id="rId10"/>
    <p:sldId id="265" r:id="rId11"/>
    <p:sldId id="266" r:id="rId12"/>
    <p:sldId id="267" r:id="rId13"/>
    <p:sldId id="269"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130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CA22C9-6A3D-4D9E-A335-0D6302842F8F}" type="datetimeFigureOut">
              <a:rPr lang="zh-CN" altLang="en-US" smtClean="0"/>
              <a:t>2014/11/7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682E5F-3F14-4375-A773-052A56FEC1F1}" type="slidenum">
              <a:rPr lang="zh-CN" altLang="en-US" smtClean="0"/>
              <a:t>‹#›</a:t>
            </a:fld>
            <a:endParaRPr lang="zh-CN" altLang="en-US"/>
          </a:p>
        </p:txBody>
      </p:sp>
    </p:spTree>
    <p:extLst>
      <p:ext uri="{BB962C8B-B14F-4D97-AF65-F5344CB8AC3E}">
        <p14:creationId xmlns:p14="http://schemas.microsoft.com/office/powerpoint/2010/main" val="3933041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当网络发生故障时，动态路由协议自动维护路由表。由于</a:t>
            </a:r>
            <a:r>
              <a:rPr lang="en-US" altLang="zh-CN" dirty="0" smtClean="0"/>
              <a:t>RIP</a:t>
            </a:r>
            <a:r>
              <a:rPr lang="zh-CN" altLang="en-US" dirty="0" smtClean="0"/>
              <a:t>协议采用</a:t>
            </a:r>
            <a:r>
              <a:rPr lang="en-US" altLang="zh-CN" dirty="0" smtClean="0"/>
              <a:t>DV</a:t>
            </a:r>
            <a:r>
              <a:rPr lang="zh-CN" altLang="en-US" dirty="0" smtClean="0"/>
              <a:t>算法计算路由，并定时广播路由更新信息。当网络发生故障时，会带来一些问题，所以</a:t>
            </a:r>
            <a:r>
              <a:rPr lang="en-US" altLang="zh-CN" dirty="0" smtClean="0"/>
              <a:t>RIP</a:t>
            </a:r>
            <a:r>
              <a:rPr lang="zh-CN" altLang="en-US" dirty="0" smtClean="0"/>
              <a:t>采用触发更新、水平分割、毒性逆转等路由维护机制。</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2</a:t>
            </a:fld>
            <a:endParaRPr lang="en-US" altLang="zh-CN"/>
          </a:p>
        </p:txBody>
      </p:sp>
    </p:spTree>
    <p:extLst>
      <p:ext uri="{BB962C8B-B14F-4D97-AF65-F5344CB8AC3E}">
        <p14:creationId xmlns:p14="http://schemas.microsoft.com/office/powerpoint/2010/main" val="1331807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网络发生故障时，</a:t>
            </a:r>
            <a:r>
              <a:rPr lang="en-US" altLang="zh-CN" dirty="0" smtClean="0"/>
              <a:t>RIP</a:t>
            </a:r>
            <a:r>
              <a:rPr lang="zh-CN" altLang="en-US" dirty="0" smtClean="0"/>
              <a:t>重新计算路由。如图中，路由器</a:t>
            </a:r>
            <a:r>
              <a:rPr lang="en-US" altLang="zh-CN" dirty="0" smtClean="0"/>
              <a:t>A</a:t>
            </a:r>
            <a:r>
              <a:rPr lang="zh-CN" altLang="en-US" dirty="0" smtClean="0"/>
              <a:t>中到</a:t>
            </a:r>
            <a:r>
              <a:rPr lang="en-US" altLang="zh-CN" dirty="0" smtClean="0"/>
              <a:t>3.0.0.0</a:t>
            </a:r>
            <a:r>
              <a:rPr lang="zh-CN" altLang="en-US" dirty="0" smtClean="0"/>
              <a:t>的下一跳为</a:t>
            </a:r>
            <a:r>
              <a:rPr lang="en-US" altLang="zh-CN" dirty="0" smtClean="0"/>
              <a:t>C</a:t>
            </a:r>
            <a:r>
              <a:rPr lang="zh-CN" altLang="en-US" dirty="0" smtClean="0"/>
              <a:t>，跳数为</a:t>
            </a:r>
            <a:r>
              <a:rPr lang="en-US" altLang="zh-CN" dirty="0" smtClean="0"/>
              <a:t>1.</a:t>
            </a:r>
            <a:r>
              <a:rPr lang="zh-CN" altLang="en-US" dirty="0" smtClean="0"/>
              <a:t>当路由器</a:t>
            </a:r>
            <a:r>
              <a:rPr lang="en-US" altLang="zh-CN" dirty="0" smtClean="0"/>
              <a:t>A</a:t>
            </a:r>
            <a:r>
              <a:rPr lang="zh-CN" altLang="en-US" dirty="0" smtClean="0"/>
              <a:t>和</a:t>
            </a:r>
            <a:r>
              <a:rPr lang="en-US" altLang="zh-CN" dirty="0" smtClean="0"/>
              <a:t>C</a:t>
            </a:r>
            <a:r>
              <a:rPr lang="zh-CN" altLang="en-US" dirty="0" smtClean="0"/>
              <a:t>之间发生故障时，到</a:t>
            </a:r>
            <a:r>
              <a:rPr lang="en-US" altLang="zh-CN" dirty="0" smtClean="0"/>
              <a:t>3.0.0.0</a:t>
            </a:r>
            <a:r>
              <a:rPr lang="zh-CN" altLang="en-US" dirty="0" smtClean="0"/>
              <a:t>的下一跳变为</a:t>
            </a:r>
            <a:r>
              <a:rPr lang="en-US" altLang="zh-CN" dirty="0" smtClean="0"/>
              <a:t>D</a:t>
            </a:r>
            <a:r>
              <a:rPr lang="zh-CN" altLang="en-US" dirty="0" smtClean="0"/>
              <a:t>，跳数变为</a:t>
            </a:r>
            <a:r>
              <a:rPr lang="en-US" altLang="zh-CN" dirty="0" smtClean="0"/>
              <a:t>2</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3</a:t>
            </a:fld>
            <a:endParaRPr lang="en-US" altLang="zh-CN"/>
          </a:p>
        </p:txBody>
      </p:sp>
    </p:spTree>
    <p:extLst>
      <p:ext uri="{BB962C8B-B14F-4D97-AF65-F5344CB8AC3E}">
        <p14:creationId xmlns:p14="http://schemas.microsoft.com/office/powerpoint/2010/main" val="2245972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当网络发生故障时，如果路由信息得不到及时更新就可能产生路由环路。</a:t>
            </a:r>
            <a:r>
              <a:rPr lang="en-US" altLang="zh-CN" dirty="0" smtClean="0"/>
              <a:t>RIP</a:t>
            </a:r>
            <a:r>
              <a:rPr lang="zh-CN" altLang="en-US" dirty="0" smtClean="0"/>
              <a:t>采用触发更新技术，在网络发生故障时立即更新路由信息，而不等待</a:t>
            </a:r>
            <a:r>
              <a:rPr lang="en-US" altLang="zh-CN" dirty="0" smtClean="0"/>
              <a:t>30s</a:t>
            </a:r>
            <a:r>
              <a:rPr lang="zh-CN" altLang="en-US" dirty="0" smtClean="0"/>
              <a:t>的更新周期。</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4</a:t>
            </a:fld>
            <a:endParaRPr lang="en-US" altLang="zh-CN"/>
          </a:p>
        </p:txBody>
      </p:sp>
    </p:spTree>
    <p:extLst>
      <p:ext uri="{BB962C8B-B14F-4D97-AF65-F5344CB8AC3E}">
        <p14:creationId xmlns:p14="http://schemas.microsoft.com/office/powerpoint/2010/main" val="70562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观察</a:t>
            </a:r>
            <a:r>
              <a:rPr lang="en-US" altLang="zh-CN" dirty="0" smtClean="0"/>
              <a:t>response</a:t>
            </a:r>
            <a:r>
              <a:rPr lang="zh-CN" altLang="en-US" dirty="0" smtClean="0"/>
              <a:t>报文的间隔时间变化。</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5</a:t>
            </a:fld>
            <a:endParaRPr lang="en-US" altLang="zh-CN"/>
          </a:p>
        </p:txBody>
      </p:sp>
    </p:spTree>
    <p:extLst>
      <p:ext uri="{BB962C8B-B14F-4D97-AF65-F5344CB8AC3E}">
        <p14:creationId xmlns:p14="http://schemas.microsoft.com/office/powerpoint/2010/main" val="574080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路由环路产生的另一个主要原因是不正确的路由信息通过获得这条信息的接口再发送回去，替代了新的正确路由。例如，图中子网</a:t>
            </a:r>
            <a:r>
              <a:rPr lang="en-US" altLang="zh-CN" dirty="0" smtClean="0"/>
              <a:t>3.0.0.0</a:t>
            </a:r>
            <a:r>
              <a:rPr lang="zh-CN" altLang="en-US" dirty="0" smtClean="0"/>
              <a:t>发生故障的情况下，路由器</a:t>
            </a:r>
            <a:r>
              <a:rPr lang="en-US" altLang="zh-CN" dirty="0" smtClean="0"/>
              <a:t>C</a:t>
            </a:r>
            <a:r>
              <a:rPr lang="zh-CN" altLang="en-US" dirty="0" smtClean="0"/>
              <a:t>从路由器</a:t>
            </a:r>
            <a:r>
              <a:rPr lang="en-US" altLang="zh-CN" dirty="0" smtClean="0"/>
              <a:t>D</a:t>
            </a:r>
            <a:r>
              <a:rPr lang="zh-CN" altLang="en-US" dirty="0" smtClean="0"/>
              <a:t>获得到子网</a:t>
            </a:r>
            <a:r>
              <a:rPr lang="en-US" altLang="zh-CN" dirty="0" smtClean="0"/>
              <a:t>3.0.0.0</a:t>
            </a:r>
            <a:r>
              <a:rPr lang="zh-CN" altLang="en-US" dirty="0" smtClean="0"/>
              <a:t>的路由信息，跳数为</a:t>
            </a:r>
            <a:r>
              <a:rPr lang="en-US" altLang="zh-CN" dirty="0" smtClean="0"/>
              <a:t>3</a:t>
            </a:r>
            <a:r>
              <a:rPr lang="zh-CN" altLang="en-US" dirty="0" smtClean="0"/>
              <a:t>，它发现自己已经没有到子网</a:t>
            </a:r>
            <a:r>
              <a:rPr lang="en-US" altLang="zh-CN" dirty="0" smtClean="0"/>
              <a:t>3.0.0.0</a:t>
            </a:r>
            <a:r>
              <a:rPr lang="zh-CN" altLang="en-US" dirty="0" smtClean="0"/>
              <a:t>的路由，于是将跳数加</a:t>
            </a:r>
            <a:r>
              <a:rPr lang="en-US" altLang="zh-CN" dirty="0" smtClean="0"/>
              <a:t>1</a:t>
            </a:r>
            <a:r>
              <a:rPr lang="zh-CN" altLang="en-US" dirty="0" smtClean="0"/>
              <a:t>变为</a:t>
            </a:r>
            <a:r>
              <a:rPr lang="en-US" altLang="zh-CN" dirty="0" smtClean="0"/>
              <a:t>4</a:t>
            </a:r>
            <a:r>
              <a:rPr lang="zh-CN" altLang="en-US" dirty="0" smtClean="0"/>
              <a:t>后加入自己的路由表，然后再次发送出去。每个路由器都这样导致错误路由信息的循环往复。</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6</a:t>
            </a:fld>
            <a:endParaRPr lang="en-US" altLang="zh-CN"/>
          </a:p>
        </p:txBody>
      </p:sp>
    </p:spTree>
    <p:extLst>
      <p:ext uri="{BB962C8B-B14F-4D97-AF65-F5344CB8AC3E}">
        <p14:creationId xmlns:p14="http://schemas.microsoft.com/office/powerpoint/2010/main" val="115452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RIP</a:t>
            </a:r>
            <a:r>
              <a:rPr lang="zh-CN" altLang="en-US" dirty="0" smtClean="0"/>
              <a:t>采用水平分割技术，当向某个接口发送</a:t>
            </a:r>
            <a:r>
              <a:rPr lang="en-US" altLang="zh-CN" dirty="0" smtClean="0"/>
              <a:t>RIP</a:t>
            </a:r>
            <a:r>
              <a:rPr lang="zh-CN" altLang="en-US" dirty="0" smtClean="0"/>
              <a:t>更新信息时，不包含从该接口得到的选路信息。这样可以避免路由产生环路。</a:t>
            </a:r>
          </a:p>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7</a:t>
            </a:fld>
            <a:endParaRPr lang="en-US" altLang="zh-CN"/>
          </a:p>
        </p:txBody>
      </p:sp>
    </p:spTree>
    <p:extLst>
      <p:ext uri="{BB962C8B-B14F-4D97-AF65-F5344CB8AC3E}">
        <p14:creationId xmlns:p14="http://schemas.microsoft.com/office/powerpoint/2010/main" val="290577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默认情况下，配置了水平分割功能。在取消了水平分割后，路由器依然会从接收到路由信息的接口发送同一目的子网的错误路由更新信息。</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8</a:t>
            </a:fld>
            <a:endParaRPr lang="en-US" altLang="zh-CN"/>
          </a:p>
        </p:txBody>
      </p:sp>
    </p:spTree>
    <p:extLst>
      <p:ext uri="{BB962C8B-B14F-4D97-AF65-F5344CB8AC3E}">
        <p14:creationId xmlns:p14="http://schemas.microsoft.com/office/powerpoint/2010/main" val="3759466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当网络发生故障时，路由器发送跳数为</a:t>
            </a:r>
            <a:r>
              <a:rPr lang="en-US" altLang="zh-CN" dirty="0" smtClean="0"/>
              <a:t>16</a:t>
            </a:r>
            <a:r>
              <a:rPr lang="zh-CN" altLang="en-US" dirty="0" smtClean="0"/>
              <a:t>的路由更新信息，以表明此路径不可达。</a:t>
            </a:r>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9</a:t>
            </a:fld>
            <a:endParaRPr lang="en-US" altLang="zh-CN"/>
          </a:p>
        </p:txBody>
      </p:sp>
    </p:spTree>
    <p:extLst>
      <p:ext uri="{BB962C8B-B14F-4D97-AF65-F5344CB8AC3E}">
        <p14:creationId xmlns:p14="http://schemas.microsoft.com/office/powerpoint/2010/main" val="1969032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E6DAC7-9D72-4818-BCFF-8FD7B82AC5B7}" type="slidenum">
              <a:rPr lang="en-US" altLang="zh-CN" smtClean="0"/>
              <a:pPr>
                <a:defRPr/>
              </a:pPr>
              <a:t>11</a:t>
            </a:fld>
            <a:endParaRPr lang="en-US" altLang="zh-CN"/>
          </a:p>
        </p:txBody>
      </p:sp>
    </p:spTree>
    <p:extLst>
      <p:ext uri="{BB962C8B-B14F-4D97-AF65-F5344CB8AC3E}">
        <p14:creationId xmlns:p14="http://schemas.microsoft.com/office/powerpoint/2010/main" val="54999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 name="Line 2"/>
          <p:cNvSpPr>
            <a:spLocks noChangeShapeType="1"/>
          </p:cNvSpPr>
          <p:nvPr/>
        </p:nvSpPr>
        <p:spPr bwMode="auto">
          <a:xfrm flipH="1">
            <a:off x="1143000" y="2422525"/>
            <a:ext cx="80010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Line 3"/>
          <p:cNvSpPr>
            <a:spLocks noChangeShapeType="1"/>
          </p:cNvSpPr>
          <p:nvPr/>
        </p:nvSpPr>
        <p:spPr bwMode="auto">
          <a:xfrm>
            <a:off x="2009775" y="2425700"/>
            <a:ext cx="0" cy="27463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5"/>
          <p:cNvSpPr>
            <a:spLocks noChangeArrowheads="1"/>
          </p:cNvSpPr>
          <p:nvPr/>
        </p:nvSpPr>
        <p:spPr bwMode="auto">
          <a:xfrm>
            <a:off x="-7938" y="0"/>
            <a:ext cx="9151938" cy="6858000"/>
          </a:xfrm>
          <a:prstGeom prst="rect">
            <a:avLst/>
          </a:prstGeom>
          <a:solidFill>
            <a:schemeClr val="tx2"/>
          </a:solidFill>
          <a:ln w="9525">
            <a:solidFill>
              <a:schemeClr val="tx1"/>
            </a:solidFill>
            <a:miter lim="800000"/>
            <a:headEnd/>
            <a:tailEnd/>
          </a:ln>
        </p:spPr>
        <p:txBody>
          <a:bodyPr wrap="none" anchor="ctr"/>
          <a:lstStyle/>
          <a:p>
            <a:endParaRPr lang="zh-CN" altLang="en-US"/>
          </a:p>
        </p:txBody>
      </p:sp>
      <p:sp>
        <p:nvSpPr>
          <p:cNvPr id="6" name="Rectangle 6"/>
          <p:cNvSpPr>
            <a:spLocks noChangeArrowheads="1"/>
          </p:cNvSpPr>
          <p:nvPr/>
        </p:nvSpPr>
        <p:spPr bwMode="auto">
          <a:xfrm>
            <a:off x="0" y="0"/>
            <a:ext cx="7451725" cy="549275"/>
          </a:xfrm>
          <a:prstGeom prst="rect">
            <a:avLst/>
          </a:prstGeom>
          <a:solidFill>
            <a:srgbClr val="C3022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a:solidFill>
                  <a:schemeClr val="tx2"/>
                </a:solidFill>
                <a:latin typeface="楷体_GB2312" pitchFamily="49" charset="-122"/>
                <a:ea typeface="楷体_GB2312" pitchFamily="49" charset="-122"/>
              </a:rPr>
              <a:t>北航计算机网络实验</a:t>
            </a:r>
          </a:p>
        </p:txBody>
      </p:sp>
      <p:sp>
        <p:nvSpPr>
          <p:cNvPr id="7" name="Rectangle 7"/>
          <p:cNvSpPr>
            <a:spLocks noChangeArrowheads="1"/>
          </p:cNvSpPr>
          <p:nvPr/>
        </p:nvSpPr>
        <p:spPr bwMode="auto">
          <a:xfrm>
            <a:off x="4763" y="6742113"/>
            <a:ext cx="8599487" cy="71437"/>
          </a:xfrm>
          <a:prstGeom prst="rect">
            <a:avLst/>
          </a:prstGeom>
          <a:solidFill>
            <a:srgbClr val="E8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8" name="Rectangle 8"/>
          <p:cNvSpPr>
            <a:spLocks noChangeArrowheads="1"/>
          </p:cNvSpPr>
          <p:nvPr/>
        </p:nvSpPr>
        <p:spPr bwMode="auto">
          <a:xfrm>
            <a:off x="11113" y="6811963"/>
            <a:ext cx="9140825" cy="73025"/>
          </a:xfrm>
          <a:prstGeom prst="rect">
            <a:avLst/>
          </a:prstGeom>
          <a:solidFill>
            <a:srgbClr val="C9561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 name="Rectangle 9"/>
          <p:cNvSpPr>
            <a:spLocks noChangeArrowheads="1"/>
          </p:cNvSpPr>
          <p:nvPr/>
        </p:nvSpPr>
        <p:spPr bwMode="auto">
          <a:xfrm>
            <a:off x="1588" y="6577013"/>
            <a:ext cx="8597900" cy="165100"/>
          </a:xfrm>
          <a:prstGeom prst="rect">
            <a:avLst/>
          </a:prstGeom>
          <a:solidFill>
            <a:srgbClr val="FCC24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 name="Line 10"/>
          <p:cNvSpPr>
            <a:spLocks noChangeShapeType="1"/>
          </p:cNvSpPr>
          <p:nvPr/>
        </p:nvSpPr>
        <p:spPr bwMode="auto">
          <a:xfrm flipV="1">
            <a:off x="468313" y="2852738"/>
            <a:ext cx="80645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Text Box 11"/>
          <p:cNvSpPr txBox="1">
            <a:spLocks noChangeArrowheads="1"/>
          </p:cNvSpPr>
          <p:nvPr/>
        </p:nvSpPr>
        <p:spPr bwMode="auto">
          <a:xfrm>
            <a:off x="0" y="4149725"/>
            <a:ext cx="755650" cy="366713"/>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eaLnBrk="1" hangingPunct="1">
              <a:spcBef>
                <a:spcPct val="50000"/>
              </a:spcBef>
              <a:defRPr/>
            </a:pPr>
            <a:endParaRPr lang="zh-CN" altLang="zh-CN" sz="1800" smtClean="0">
              <a:latin typeface="Arial" charset="0"/>
              <a:ea typeface="宋体" pitchFamily="2" charset="-122"/>
            </a:endParaRPr>
          </a:p>
        </p:txBody>
      </p:sp>
      <p:grpSp>
        <p:nvGrpSpPr>
          <p:cNvPr id="12" name="Group 12"/>
          <p:cNvGrpSpPr>
            <a:grpSpLocks/>
          </p:cNvGrpSpPr>
          <p:nvPr/>
        </p:nvGrpSpPr>
        <p:grpSpPr bwMode="auto">
          <a:xfrm>
            <a:off x="7596188" y="188913"/>
            <a:ext cx="1338262" cy="2189162"/>
            <a:chOff x="4704" y="1885"/>
            <a:chExt cx="843" cy="1379"/>
          </a:xfrm>
        </p:grpSpPr>
        <p:sp>
          <p:nvSpPr>
            <p:cNvPr id="13" name="Oval 13"/>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4" name="Oval 14"/>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5" name="Oval 15"/>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6" name="Oval 16"/>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7" name="Oval 17"/>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8" name="Oval 18"/>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9" name="Oval 19"/>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0" name="Oval 20"/>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1" name="Oval 21"/>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2" name="Oval 22"/>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3" name="Oval 23"/>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4" name="Oval 24"/>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5" name="Oval 25"/>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 name="Oval 26"/>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7" name="Oval 27"/>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8" name="Oval 28"/>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9" name="Oval 29"/>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0" name="Oval 30"/>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1" name="Oval 31"/>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2" name="Oval 32"/>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3" name="Oval 33"/>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4" name="Oval 34"/>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5" name="Oval 35"/>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6" name="Oval 36"/>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7" name="Oval 37"/>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8" name="Oval 38"/>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9" name="Oval 39"/>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0" name="Oval 40"/>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1" name="Oval 41"/>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2" name="Oval 42"/>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3" name="Oval 43"/>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44" name="Line 44"/>
          <p:cNvSpPr>
            <a:spLocks noChangeShapeType="1"/>
          </p:cNvSpPr>
          <p:nvPr/>
        </p:nvSpPr>
        <p:spPr bwMode="auto">
          <a:xfrm>
            <a:off x="7451725" y="0"/>
            <a:ext cx="0" cy="5445125"/>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72" name="Rectangle 4"/>
          <p:cNvSpPr>
            <a:spLocks noGrp="1" noChangeArrowheads="1"/>
          </p:cNvSpPr>
          <p:nvPr>
            <p:ph type="ctrTitle"/>
          </p:nvPr>
        </p:nvSpPr>
        <p:spPr>
          <a:xfrm>
            <a:off x="1066800" y="692150"/>
            <a:ext cx="7696200" cy="1524000"/>
          </a:xfrm>
        </p:spPr>
        <p:txBody>
          <a:bodyPr lIns="91440" tIns="0" bIns="0" anchor="b"/>
          <a:lstStyle>
            <a:lvl1pPr>
              <a:lnSpc>
                <a:spcPct val="85000"/>
              </a:lnSpc>
              <a:defRPr sz="5400">
                <a:solidFill>
                  <a:schemeClr val="tx2"/>
                </a:solidFill>
              </a:defRPr>
            </a:lvl1pPr>
          </a:lstStyle>
          <a:p>
            <a:pPr lvl="0"/>
            <a:r>
              <a:rPr lang="zh-CN" altLang="en-US" noProof="0" smtClean="0"/>
              <a:t>单击此处编辑母版标题样式</a:t>
            </a:r>
            <a:endParaRPr lang="en-US" altLang="en-US" noProof="0" smtClean="0"/>
          </a:p>
        </p:txBody>
      </p:sp>
    </p:spTree>
    <p:extLst>
      <p:ext uri="{BB962C8B-B14F-4D97-AF65-F5344CB8AC3E}">
        <p14:creationId xmlns:p14="http://schemas.microsoft.com/office/powerpoint/2010/main" val="12128467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7628413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14810823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1188" y="1484313"/>
            <a:ext cx="3956050" cy="4897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19638" y="1484313"/>
            <a:ext cx="3956050" cy="4897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902882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67758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42664985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2820008"/>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599539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1808623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2518352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9563" y="417513"/>
            <a:ext cx="2016125" cy="59642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11188" y="417513"/>
            <a:ext cx="5895975" cy="59642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8599752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188" y="417513"/>
            <a:ext cx="8064500" cy="92392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11188" y="1484313"/>
            <a:ext cx="8064500" cy="4897437"/>
          </a:xfrm>
        </p:spPr>
        <p:txBody>
          <a:bodyPr/>
          <a:lstStyle/>
          <a:p>
            <a:pPr lvl="0"/>
            <a:r>
              <a:rPr lang="zh-CN" altLang="en-US" noProof="0" smtClean="0"/>
              <a:t>单击图标添加表格</a:t>
            </a:r>
            <a:endParaRPr lang="zh-CN" altLang="en-US" noProof="0" smtClean="0"/>
          </a:p>
        </p:txBody>
      </p:sp>
    </p:spTree>
    <p:extLst>
      <p:ext uri="{BB962C8B-B14F-4D97-AF65-F5344CB8AC3E}">
        <p14:creationId xmlns:p14="http://schemas.microsoft.com/office/powerpoint/2010/main" val="315509483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417513"/>
            <a:ext cx="8064500" cy="9239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11188" y="1484313"/>
            <a:ext cx="3956050" cy="48974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19638" y="1484313"/>
            <a:ext cx="3956050" cy="48974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2933820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9151938" cy="6858000"/>
          </a:xfrm>
          <a:prstGeom prst="rect">
            <a:avLst/>
          </a:prstGeom>
          <a:solidFill>
            <a:schemeClr val="tx2"/>
          </a:solidFill>
          <a:ln w="9525">
            <a:solidFill>
              <a:schemeClr val="tx1"/>
            </a:solidFill>
            <a:miter lim="800000"/>
            <a:headEnd/>
            <a:tailEnd/>
          </a:ln>
        </p:spPr>
        <p:txBody>
          <a:bodyPr wrap="none" anchor="ctr"/>
          <a:lstStyle/>
          <a:p>
            <a:endParaRPr lang="zh-CN" altLang="en-US"/>
          </a:p>
        </p:txBody>
      </p:sp>
      <p:sp>
        <p:nvSpPr>
          <p:cNvPr id="1027" name="Rectangle 3"/>
          <p:cNvSpPr>
            <a:spLocks noGrp="1" noChangeArrowheads="1"/>
          </p:cNvSpPr>
          <p:nvPr>
            <p:ph type="title"/>
          </p:nvPr>
        </p:nvSpPr>
        <p:spPr bwMode="auto">
          <a:xfrm>
            <a:off x="611188" y="417513"/>
            <a:ext cx="80645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ctr" anchorCtr="0" compatLnSpc="1">
            <a:prstTxWarp prst="textNoShape">
              <a:avLst/>
            </a:prstTxWarp>
          </a:bodyPr>
          <a:lstStyle/>
          <a:p>
            <a:pPr lvl="0"/>
            <a:r>
              <a:rPr lang="zh-CN" altLang="en-US" smtClean="0"/>
              <a:t>主标题</a:t>
            </a:r>
          </a:p>
        </p:txBody>
      </p:sp>
      <p:sp>
        <p:nvSpPr>
          <p:cNvPr id="1028" name="Rectangle 4"/>
          <p:cNvSpPr>
            <a:spLocks noGrp="1" noChangeArrowheads="1"/>
          </p:cNvSpPr>
          <p:nvPr>
            <p:ph type="body" idx="1"/>
          </p:nvPr>
        </p:nvSpPr>
        <p:spPr bwMode="auto">
          <a:xfrm>
            <a:off x="611188" y="1484313"/>
            <a:ext cx="8064500"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 </a:t>
            </a:r>
            <a:r>
              <a:rPr lang="zh-CN" altLang="en-US" smtClean="0"/>
              <a:t>主文本标题</a:t>
            </a:r>
          </a:p>
          <a:p>
            <a:pPr lvl="1"/>
            <a:r>
              <a:rPr lang="zh-CN" altLang="en-US" smtClean="0"/>
              <a:t>二级标题</a:t>
            </a:r>
            <a:endParaRPr lang="en-US" altLang="en-US" smtClean="0"/>
          </a:p>
          <a:p>
            <a:pPr lvl="2"/>
            <a:r>
              <a:rPr lang="zh-CN" altLang="en-US" smtClean="0"/>
              <a:t>三级标题</a:t>
            </a:r>
            <a:endParaRPr lang="en-US" altLang="en-US" smtClean="0"/>
          </a:p>
          <a:p>
            <a:pPr lvl="3"/>
            <a:r>
              <a:rPr lang="zh-CN" altLang="en-US" smtClean="0"/>
              <a:t>四级标题</a:t>
            </a:r>
            <a:endParaRPr lang="en-US" altLang="en-US" smtClean="0"/>
          </a:p>
          <a:p>
            <a:pPr lvl="4"/>
            <a:r>
              <a:rPr lang="zh-CN" altLang="en-US" smtClean="0"/>
              <a:t>五级标题</a:t>
            </a:r>
          </a:p>
        </p:txBody>
      </p:sp>
      <p:sp>
        <p:nvSpPr>
          <p:cNvPr id="1029" name="Rectangle 5"/>
          <p:cNvSpPr>
            <a:spLocks noChangeArrowheads="1"/>
          </p:cNvSpPr>
          <p:nvPr/>
        </p:nvSpPr>
        <p:spPr bwMode="auto">
          <a:xfrm>
            <a:off x="0" y="0"/>
            <a:ext cx="7380288" cy="333375"/>
          </a:xfrm>
          <a:prstGeom prst="rect">
            <a:avLst/>
          </a:prstGeom>
          <a:solidFill>
            <a:srgbClr val="C3022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r>
              <a:rPr lang="zh-CN" altLang="en-US" sz="2000">
                <a:solidFill>
                  <a:schemeClr val="tx2"/>
                </a:solidFill>
                <a:latin typeface="楷体_GB2312" pitchFamily="49" charset="-122"/>
                <a:ea typeface="楷体_GB2312" pitchFamily="49" charset="-122"/>
              </a:rPr>
              <a:t>北航计算机网络实验</a:t>
            </a:r>
          </a:p>
        </p:txBody>
      </p:sp>
      <p:sp>
        <p:nvSpPr>
          <p:cNvPr id="1030" name="Rectangle 6"/>
          <p:cNvSpPr>
            <a:spLocks noChangeArrowheads="1"/>
          </p:cNvSpPr>
          <p:nvPr/>
        </p:nvSpPr>
        <p:spPr bwMode="auto">
          <a:xfrm>
            <a:off x="4763" y="6742113"/>
            <a:ext cx="8599487" cy="71437"/>
          </a:xfrm>
          <a:prstGeom prst="rect">
            <a:avLst/>
          </a:prstGeom>
          <a:solidFill>
            <a:srgbClr val="E8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1" name="Rectangle 7"/>
          <p:cNvSpPr>
            <a:spLocks noChangeArrowheads="1"/>
          </p:cNvSpPr>
          <p:nvPr/>
        </p:nvSpPr>
        <p:spPr bwMode="auto">
          <a:xfrm>
            <a:off x="11113" y="6811963"/>
            <a:ext cx="9140825" cy="73025"/>
          </a:xfrm>
          <a:prstGeom prst="rect">
            <a:avLst/>
          </a:prstGeom>
          <a:solidFill>
            <a:srgbClr val="C9561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2" name="Rectangle 8"/>
          <p:cNvSpPr>
            <a:spLocks noChangeArrowheads="1"/>
          </p:cNvSpPr>
          <p:nvPr/>
        </p:nvSpPr>
        <p:spPr bwMode="auto">
          <a:xfrm>
            <a:off x="1588" y="6577013"/>
            <a:ext cx="8597900" cy="165100"/>
          </a:xfrm>
          <a:prstGeom prst="rect">
            <a:avLst/>
          </a:prstGeom>
          <a:solidFill>
            <a:srgbClr val="FCC24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33" name="Text Box 9"/>
          <p:cNvSpPr txBox="1">
            <a:spLocks noChangeArrowheads="1"/>
          </p:cNvSpPr>
          <p:nvPr/>
        </p:nvSpPr>
        <p:spPr bwMode="auto">
          <a:xfrm>
            <a:off x="8532813" y="6524625"/>
            <a:ext cx="576262" cy="304800"/>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a:spcBef>
                <a:spcPct val="50000"/>
              </a:spcBef>
              <a:defRPr/>
            </a:pPr>
            <a:fld id="{8FECF948-4B9C-4C1F-AD3C-BBA043649D44}" type="slidenum">
              <a:rPr lang="en-US" altLang="zh-CN" sz="1400" b="0" smtClean="0">
                <a:solidFill>
                  <a:srgbClr val="000099"/>
                </a:solidFill>
                <a:latin typeface="Arial" charset="0"/>
                <a:ea typeface="宋体" pitchFamily="2" charset="-122"/>
              </a:rPr>
              <a:pPr>
                <a:spcBef>
                  <a:spcPct val="50000"/>
                </a:spcBef>
                <a:defRPr/>
              </a:pPr>
              <a:t>‹#›</a:t>
            </a:fld>
            <a:endParaRPr lang="en-US" altLang="zh-CN" sz="1400" b="0" smtClean="0">
              <a:solidFill>
                <a:srgbClr val="000099"/>
              </a:solidFill>
              <a:latin typeface="Arial" charset="0"/>
              <a:ea typeface="宋体" pitchFamily="2" charset="-122"/>
            </a:endParaRPr>
          </a:p>
        </p:txBody>
      </p:sp>
      <p:sp>
        <p:nvSpPr>
          <p:cNvPr id="1034" name="Line 10"/>
          <p:cNvSpPr>
            <a:spLocks noChangeShapeType="1"/>
          </p:cNvSpPr>
          <p:nvPr/>
        </p:nvSpPr>
        <p:spPr bwMode="auto">
          <a:xfrm flipV="1">
            <a:off x="611188" y="1125538"/>
            <a:ext cx="80645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35" name="Text Box 11"/>
          <p:cNvSpPr txBox="1">
            <a:spLocks noChangeArrowheads="1"/>
          </p:cNvSpPr>
          <p:nvPr/>
        </p:nvSpPr>
        <p:spPr bwMode="auto">
          <a:xfrm>
            <a:off x="2484438" y="0"/>
            <a:ext cx="217487" cy="366713"/>
          </a:xfrm>
          <a:prstGeom prst="rect">
            <a:avLst/>
          </a:prstGeom>
          <a:noFill/>
          <a:ln>
            <a:noFill/>
          </a:ln>
          <a:effectLst/>
          <a:extLst/>
        </p:spPr>
        <p:txBody>
          <a:bodyPr>
            <a:spAutoFit/>
          </a:bodyPr>
          <a:lstStyle>
            <a:lvl1pPr eaLnBrk="0" hangingPunct="0">
              <a:defRPr sz="2400" b="1">
                <a:solidFill>
                  <a:schemeClr val="tx1"/>
                </a:solidFill>
                <a:latin typeface="仿宋_GB2312" pitchFamily="49" charset="-122"/>
                <a:ea typeface="仿宋_GB2312" pitchFamily="49" charset="-122"/>
              </a:defRPr>
            </a:lvl1pPr>
            <a:lvl2pPr marL="742950" indent="-285750" eaLnBrk="0" hangingPunct="0">
              <a:defRPr sz="2400" b="1">
                <a:solidFill>
                  <a:schemeClr val="tx1"/>
                </a:solidFill>
                <a:latin typeface="仿宋_GB2312" pitchFamily="49" charset="-122"/>
                <a:ea typeface="仿宋_GB2312" pitchFamily="49" charset="-122"/>
              </a:defRPr>
            </a:lvl2pPr>
            <a:lvl3pPr marL="1143000" indent="-228600" eaLnBrk="0" hangingPunct="0">
              <a:defRPr sz="2400" b="1">
                <a:solidFill>
                  <a:schemeClr val="tx1"/>
                </a:solidFill>
                <a:latin typeface="仿宋_GB2312" pitchFamily="49" charset="-122"/>
                <a:ea typeface="仿宋_GB2312" pitchFamily="49" charset="-122"/>
              </a:defRPr>
            </a:lvl3pPr>
            <a:lvl4pPr marL="1600200" indent="-228600" eaLnBrk="0" hangingPunct="0">
              <a:defRPr sz="2400" b="1">
                <a:solidFill>
                  <a:schemeClr val="tx1"/>
                </a:solidFill>
                <a:latin typeface="仿宋_GB2312" pitchFamily="49" charset="-122"/>
                <a:ea typeface="仿宋_GB2312" pitchFamily="49" charset="-122"/>
              </a:defRPr>
            </a:lvl4pPr>
            <a:lvl5pPr marL="2057400" indent="-228600" eaLnBrk="0" hangingPunct="0">
              <a:defRPr sz="2400" b="1">
                <a:solidFill>
                  <a:schemeClr val="tx1"/>
                </a:solidFill>
                <a:latin typeface="仿宋_GB2312" pitchFamily="49" charset="-122"/>
                <a:ea typeface="仿宋_GB2312" pitchFamily="49" charset="-122"/>
              </a:defRPr>
            </a:lvl5pPr>
            <a:lvl6pPr marL="25146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6pPr>
            <a:lvl7pPr marL="29718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7pPr>
            <a:lvl8pPr marL="34290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8pPr>
            <a:lvl9pPr marL="3886200" indent="-228600" algn="ctr" eaLnBrk="0" fontAlgn="base" hangingPunct="0">
              <a:spcBef>
                <a:spcPct val="0"/>
              </a:spcBef>
              <a:spcAft>
                <a:spcPct val="0"/>
              </a:spcAft>
              <a:defRPr sz="2400" b="1">
                <a:solidFill>
                  <a:schemeClr val="tx1"/>
                </a:solidFill>
                <a:latin typeface="仿宋_GB2312" pitchFamily="49" charset="-122"/>
                <a:ea typeface="仿宋_GB2312" pitchFamily="49" charset="-122"/>
              </a:defRPr>
            </a:lvl9pPr>
          </a:lstStyle>
          <a:p>
            <a:pPr eaLnBrk="1" hangingPunct="1">
              <a:spcBef>
                <a:spcPct val="50000"/>
              </a:spcBef>
              <a:defRPr/>
            </a:pPr>
            <a:endParaRPr lang="zh-CN" altLang="zh-CN" sz="1800" smtClean="0">
              <a:latin typeface="Arial"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300" b="1">
          <a:solidFill>
            <a:schemeClr val="tx1"/>
          </a:solidFill>
          <a:latin typeface="+mj-lt"/>
          <a:ea typeface="+mj-ea"/>
          <a:cs typeface="+mj-cs"/>
        </a:defRPr>
      </a:lvl1pPr>
      <a:lvl2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2pPr>
      <a:lvl3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3pPr>
      <a:lvl4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4pPr>
      <a:lvl5pPr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5pPr>
      <a:lvl6pPr marL="4572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6pPr>
      <a:lvl7pPr marL="9144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7pPr>
      <a:lvl8pPr marL="13716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8pPr>
      <a:lvl9pPr marL="1828800" algn="l" rtl="0" eaLnBrk="1" fontAlgn="base" hangingPunct="1">
        <a:lnSpc>
          <a:spcPct val="90000"/>
        </a:lnSpc>
        <a:spcBef>
          <a:spcPct val="0"/>
        </a:spcBef>
        <a:spcAft>
          <a:spcPct val="0"/>
        </a:spcAft>
        <a:defRPr sz="3300" b="1">
          <a:solidFill>
            <a:schemeClr val="tx1"/>
          </a:solidFill>
          <a:latin typeface="黑体" pitchFamily="2" charset="-122"/>
          <a:ea typeface="黑体" pitchFamily="2" charset="-122"/>
        </a:defRPr>
      </a:lvl9pPr>
    </p:titleStyle>
    <p:bodyStyle>
      <a:lvl1pPr marL="342900" indent="-342900" algn="l" rtl="0" eaLnBrk="1" fontAlgn="base" hangingPunct="1">
        <a:spcBef>
          <a:spcPct val="20000"/>
        </a:spcBef>
        <a:spcAft>
          <a:spcPct val="0"/>
        </a:spcAft>
        <a:buClr>
          <a:schemeClr val="bg2"/>
        </a:buClr>
        <a:buSzPct val="90000"/>
        <a:buFont typeface="Wingdings" pitchFamily="2" charset="2"/>
        <a:buChar char="n"/>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bg2"/>
        </a:buClr>
        <a:buSzPct val="80000"/>
        <a:buFont typeface="Wingdings" pitchFamily="2" charset="2"/>
        <a:buChar char="p"/>
        <a:defRPr sz="3200" b="1">
          <a:solidFill>
            <a:schemeClr val="tx1"/>
          </a:solidFill>
          <a:latin typeface="+mn-lt"/>
          <a:ea typeface="+mn-ea"/>
        </a:defRPr>
      </a:lvl2pPr>
      <a:lvl3pPr marL="1143000" indent="-228600" algn="l" rtl="0" eaLnBrk="1" fontAlgn="base" hangingPunct="1">
        <a:spcBef>
          <a:spcPct val="20000"/>
        </a:spcBef>
        <a:spcAft>
          <a:spcPct val="0"/>
        </a:spcAft>
        <a:buClr>
          <a:schemeClr val="bg2"/>
        </a:buClr>
        <a:buSzPct val="80000"/>
        <a:buFont typeface="Wingdings" pitchFamily="2" charset="2"/>
        <a:buChar char="n"/>
        <a:defRPr sz="2800" b="1">
          <a:solidFill>
            <a:schemeClr val="tx1"/>
          </a:solidFill>
          <a:latin typeface="+mn-lt"/>
          <a:ea typeface="+mn-ea"/>
        </a:defRPr>
      </a:lvl3pPr>
      <a:lvl4pPr marL="1600200" indent="-228600" algn="l" rtl="0" eaLnBrk="1" fontAlgn="base" hangingPunct="1">
        <a:spcBef>
          <a:spcPct val="20000"/>
        </a:spcBef>
        <a:spcAft>
          <a:spcPct val="0"/>
        </a:spcAft>
        <a:buSzPct val="80000"/>
        <a:buChar char="–"/>
        <a:defRPr sz="2400" b="1">
          <a:solidFill>
            <a:schemeClr val="tx1"/>
          </a:solidFill>
          <a:latin typeface="+mn-lt"/>
          <a:ea typeface="+mn-ea"/>
        </a:defRPr>
      </a:lvl4pPr>
      <a:lvl5pPr marL="2057400" indent="-228600" algn="l" rtl="0" eaLnBrk="1" fontAlgn="base" hangingPunct="1">
        <a:spcBef>
          <a:spcPct val="20000"/>
        </a:spcBef>
        <a:spcAft>
          <a:spcPct val="0"/>
        </a:spcAft>
        <a:buSzPct val="80000"/>
        <a:buChar char="»"/>
        <a:defRPr sz="2000" b="1">
          <a:solidFill>
            <a:schemeClr val="tx1"/>
          </a:solidFill>
          <a:latin typeface="+mn-lt"/>
          <a:ea typeface="+mn-ea"/>
        </a:defRPr>
      </a:lvl5pPr>
      <a:lvl6pPr marL="2514600" indent="-228600" algn="l" rtl="0" eaLnBrk="1" fontAlgn="base" hangingPunct="1">
        <a:spcBef>
          <a:spcPct val="20000"/>
        </a:spcBef>
        <a:spcAft>
          <a:spcPct val="0"/>
        </a:spcAft>
        <a:buSzPct val="80000"/>
        <a:buChar char="»"/>
        <a:defRPr sz="2000" b="1">
          <a:solidFill>
            <a:schemeClr val="tx1"/>
          </a:solidFill>
          <a:latin typeface="+mn-lt"/>
          <a:ea typeface="+mn-ea"/>
        </a:defRPr>
      </a:lvl6pPr>
      <a:lvl7pPr marL="2971800" indent="-228600" algn="l" rtl="0" eaLnBrk="1" fontAlgn="base" hangingPunct="1">
        <a:spcBef>
          <a:spcPct val="20000"/>
        </a:spcBef>
        <a:spcAft>
          <a:spcPct val="0"/>
        </a:spcAft>
        <a:buSzPct val="80000"/>
        <a:buChar char="»"/>
        <a:defRPr sz="2000" b="1">
          <a:solidFill>
            <a:schemeClr val="tx1"/>
          </a:solidFill>
          <a:latin typeface="+mn-lt"/>
          <a:ea typeface="+mn-ea"/>
        </a:defRPr>
      </a:lvl7pPr>
      <a:lvl8pPr marL="3429000" indent="-228600" algn="l" rtl="0" eaLnBrk="1" fontAlgn="base" hangingPunct="1">
        <a:spcBef>
          <a:spcPct val="20000"/>
        </a:spcBef>
        <a:spcAft>
          <a:spcPct val="0"/>
        </a:spcAft>
        <a:buSzPct val="80000"/>
        <a:buChar char="»"/>
        <a:defRPr sz="2000" b="1">
          <a:solidFill>
            <a:schemeClr val="tx1"/>
          </a:solidFill>
          <a:latin typeface="+mn-lt"/>
          <a:ea typeface="+mn-ea"/>
        </a:defRPr>
      </a:lvl8pPr>
      <a:lvl9pPr marL="3886200" indent="-228600" algn="l" rtl="0" eaLnBrk="1" fontAlgn="base" hangingPunct="1">
        <a:spcBef>
          <a:spcPct val="20000"/>
        </a:spcBef>
        <a:spcAft>
          <a:spcPct val="0"/>
        </a:spcAft>
        <a:buSzPct val="8000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395536" y="1412776"/>
            <a:ext cx="6912768" cy="1440160"/>
          </a:xfrm>
        </p:spPr>
        <p:txBody>
          <a:bodyPr/>
          <a:lstStyle/>
          <a:p>
            <a:r>
              <a:rPr lang="zh-CN" altLang="en-US" sz="4400" dirty="0" smtClean="0">
                <a:solidFill>
                  <a:srgbClr val="C00000"/>
                </a:solidFill>
              </a:rPr>
              <a:t>触发更新与水平分割实验</a:t>
            </a:r>
            <a:endParaRPr lang="zh-CN" altLang="en-US" sz="4400" dirty="0">
              <a:solidFill>
                <a:srgbClr val="C00000"/>
              </a:solidFill>
            </a:endParaRPr>
          </a:p>
        </p:txBody>
      </p:sp>
    </p:spTree>
    <p:extLst>
      <p:ext uri="{BB962C8B-B14F-4D97-AF65-F5344CB8AC3E}">
        <p14:creationId xmlns:p14="http://schemas.microsoft.com/office/powerpoint/2010/main" val="381283372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z="4000" dirty="0">
                <a:ea typeface="宋体" pitchFamily="2" charset="-122"/>
              </a:rPr>
              <a:t>RIP</a:t>
            </a:r>
            <a:r>
              <a:rPr lang="zh-CN" altLang="en-US" sz="4000" dirty="0">
                <a:ea typeface="宋体" pitchFamily="2" charset="-122"/>
              </a:rPr>
              <a:t>协议动态维护</a:t>
            </a:r>
            <a:r>
              <a:rPr lang="zh-CN" altLang="en-US" sz="4000" dirty="0" smtClean="0">
                <a:ea typeface="宋体" pitchFamily="2" charset="-122"/>
              </a:rPr>
              <a:t>机制</a:t>
            </a:r>
          </a:p>
        </p:txBody>
      </p:sp>
      <p:sp>
        <p:nvSpPr>
          <p:cNvPr id="34819" name="Rectangle 3"/>
          <p:cNvSpPr>
            <a:spLocks noGrp="1" noChangeArrowheads="1"/>
          </p:cNvSpPr>
          <p:nvPr>
            <p:ph idx="1"/>
          </p:nvPr>
        </p:nvSpPr>
        <p:spPr>
          <a:xfrm>
            <a:off x="2411760" y="1916832"/>
            <a:ext cx="4176464" cy="3240360"/>
          </a:xfrm>
        </p:spPr>
        <p:txBody>
          <a:bodyPr/>
          <a:lstStyle/>
          <a:p>
            <a:pPr lvl="1" eaLnBrk="1" hangingPunct="1">
              <a:buClr>
                <a:schemeClr val="accent1"/>
              </a:buClr>
              <a:buFont typeface="Wingdings" pitchFamily="2" charset="2"/>
              <a:buChar char="Ø"/>
            </a:pPr>
            <a:r>
              <a:rPr lang="zh-CN" altLang="en-US" dirty="0" smtClean="0"/>
              <a:t>自动维护</a:t>
            </a:r>
            <a:endParaRPr lang="en-US" altLang="zh-CN" dirty="0" smtClean="0"/>
          </a:p>
          <a:p>
            <a:pPr lvl="1" eaLnBrk="1" hangingPunct="1">
              <a:buClr>
                <a:schemeClr val="accent1"/>
              </a:buClr>
              <a:buFont typeface="Wingdings" pitchFamily="2" charset="2"/>
              <a:buChar char="Ø"/>
            </a:pPr>
            <a:r>
              <a:rPr lang="zh-CN" altLang="en-US" dirty="0" smtClean="0"/>
              <a:t>触发更新</a:t>
            </a:r>
          </a:p>
          <a:p>
            <a:pPr lvl="1" eaLnBrk="1" hangingPunct="1">
              <a:buClr>
                <a:schemeClr val="accent1"/>
              </a:buClr>
              <a:buFont typeface="Wingdings" pitchFamily="2" charset="2"/>
              <a:buChar char="Ø"/>
            </a:pPr>
            <a:r>
              <a:rPr lang="zh-CN" altLang="en-US" dirty="0" smtClean="0"/>
              <a:t>水平分割</a:t>
            </a:r>
          </a:p>
          <a:p>
            <a:pPr lvl="1" eaLnBrk="1" hangingPunct="1">
              <a:buClr>
                <a:schemeClr val="accent1"/>
              </a:buClr>
              <a:buFont typeface="Wingdings" pitchFamily="2" charset="2"/>
              <a:buChar char="Ø"/>
            </a:pPr>
            <a:r>
              <a:rPr lang="zh-CN" altLang="en-US" dirty="0" smtClean="0"/>
              <a:t>毒性逆转</a:t>
            </a:r>
          </a:p>
          <a:p>
            <a:pPr lvl="1" eaLnBrk="1" hangingPunct="1">
              <a:buClr>
                <a:schemeClr val="accent1"/>
              </a:buClr>
              <a:buFont typeface="Wingdings" pitchFamily="2" charset="2"/>
              <a:buChar char="Ø"/>
            </a:pPr>
            <a:r>
              <a:rPr lang="zh-CN" altLang="en-US" dirty="0" smtClean="0"/>
              <a:t>定时器</a:t>
            </a:r>
            <a:endParaRPr lang="en-US" altLang="zh-CN" dirty="0" smtClean="0"/>
          </a:p>
        </p:txBody>
      </p:sp>
    </p:spTree>
    <p:extLst>
      <p:ext uri="{BB962C8B-B14F-4D97-AF65-F5344CB8AC3E}">
        <p14:creationId xmlns:p14="http://schemas.microsoft.com/office/powerpoint/2010/main" val="2683380418"/>
      </p:ext>
    </p:extLst>
  </p:cSld>
  <p:clrMapOvr>
    <a:masterClrMapping/>
  </p:clrMapOvr>
  <p:transition>
    <p:pull dir="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4000" dirty="0" smtClean="0">
                <a:ea typeface="宋体" pitchFamily="2" charset="-122"/>
              </a:rPr>
              <a:t>网络故障 </a:t>
            </a:r>
            <a:r>
              <a:rPr lang="en-US" altLang="zh-CN" sz="4000" dirty="0" smtClean="0">
                <a:ea typeface="宋体" pitchFamily="2" charset="-122"/>
              </a:rPr>
              <a:t>- </a:t>
            </a:r>
            <a:r>
              <a:rPr lang="zh-CN" altLang="en-US" sz="4000" dirty="0" smtClean="0">
                <a:ea typeface="宋体" pitchFamily="2" charset="-122"/>
              </a:rPr>
              <a:t>自动维护</a:t>
            </a:r>
          </a:p>
        </p:txBody>
      </p:sp>
      <p:grpSp>
        <p:nvGrpSpPr>
          <p:cNvPr id="2" name="Group 77"/>
          <p:cNvGrpSpPr>
            <a:grpSpLocks/>
          </p:cNvGrpSpPr>
          <p:nvPr/>
        </p:nvGrpSpPr>
        <p:grpSpPr bwMode="auto">
          <a:xfrm>
            <a:off x="1619250" y="4897438"/>
            <a:ext cx="5400675" cy="1123950"/>
            <a:chOff x="1292" y="3113"/>
            <a:chExt cx="3402" cy="708"/>
          </a:xfrm>
        </p:grpSpPr>
        <p:sp>
          <p:nvSpPr>
            <p:cNvPr id="35869" name="Rectangle 4"/>
            <p:cNvSpPr>
              <a:spLocks noChangeArrowheads="1"/>
            </p:cNvSpPr>
            <p:nvPr/>
          </p:nvSpPr>
          <p:spPr bwMode="auto">
            <a:xfrm>
              <a:off x="3016" y="3439"/>
              <a:ext cx="862"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endParaRPr lang="zh-CN" altLang="zh-CN" sz="2800">
                <a:latin typeface="Arial" charset="0"/>
                <a:ea typeface="宋体" pitchFamily="2" charset="-122"/>
              </a:endParaRPr>
            </a:p>
          </p:txBody>
        </p:sp>
        <p:sp>
          <p:nvSpPr>
            <p:cNvPr id="35870" name="Rectangle 5"/>
            <p:cNvSpPr>
              <a:spLocks noChangeArrowheads="1"/>
            </p:cNvSpPr>
            <p:nvPr/>
          </p:nvSpPr>
          <p:spPr bwMode="auto">
            <a:xfrm>
              <a:off x="3016" y="3113"/>
              <a:ext cx="86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r>
                <a:rPr lang="zh-CN" altLang="en-US" sz="2800">
                  <a:latin typeface="Arial" charset="0"/>
                  <a:ea typeface="宋体" pitchFamily="2" charset="-122"/>
                </a:rPr>
                <a:t>下一跳</a:t>
              </a:r>
            </a:p>
          </p:txBody>
        </p:sp>
        <p:sp>
          <p:nvSpPr>
            <p:cNvPr id="35871" name="Rectangle 6"/>
            <p:cNvSpPr>
              <a:spLocks noChangeArrowheads="1"/>
            </p:cNvSpPr>
            <p:nvPr/>
          </p:nvSpPr>
          <p:spPr bwMode="auto">
            <a:xfrm>
              <a:off x="3878" y="3439"/>
              <a:ext cx="816"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endParaRPr lang="zh-CN" altLang="zh-CN" sz="2800">
                <a:latin typeface="Arial" charset="0"/>
                <a:ea typeface="宋体" pitchFamily="2" charset="-122"/>
              </a:endParaRPr>
            </a:p>
          </p:txBody>
        </p:sp>
        <p:sp>
          <p:nvSpPr>
            <p:cNvPr id="35872" name="Rectangle 7"/>
            <p:cNvSpPr>
              <a:spLocks noChangeArrowheads="1"/>
            </p:cNvSpPr>
            <p:nvPr/>
          </p:nvSpPr>
          <p:spPr bwMode="auto">
            <a:xfrm>
              <a:off x="1292" y="3439"/>
              <a:ext cx="1724"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r>
                <a:rPr lang="en-US" altLang="zh-CN" sz="2800">
                  <a:latin typeface="Arial" charset="0"/>
                  <a:ea typeface="宋体" pitchFamily="2" charset="-122"/>
                </a:rPr>
                <a:t>3.0.0.0</a:t>
              </a:r>
              <a:endParaRPr lang="en-US" altLang="zh-CN" sz="3600">
                <a:latin typeface="Arial" charset="0"/>
                <a:ea typeface="宋体" pitchFamily="2" charset="-122"/>
              </a:endParaRPr>
            </a:p>
          </p:txBody>
        </p:sp>
        <p:sp>
          <p:nvSpPr>
            <p:cNvPr id="35873" name="Rectangle 8"/>
            <p:cNvSpPr>
              <a:spLocks noChangeArrowheads="1"/>
            </p:cNvSpPr>
            <p:nvPr/>
          </p:nvSpPr>
          <p:spPr bwMode="auto">
            <a:xfrm>
              <a:off x="3878" y="3113"/>
              <a:ext cx="81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r>
                <a:rPr lang="zh-CN" altLang="en-US" sz="2800">
                  <a:latin typeface="Arial" charset="0"/>
                  <a:ea typeface="宋体" pitchFamily="2" charset="-122"/>
                </a:rPr>
                <a:t>跳数</a:t>
              </a:r>
            </a:p>
          </p:txBody>
        </p:sp>
        <p:sp>
          <p:nvSpPr>
            <p:cNvPr id="35874" name="Rectangle 9"/>
            <p:cNvSpPr>
              <a:spLocks noChangeArrowheads="1"/>
            </p:cNvSpPr>
            <p:nvPr/>
          </p:nvSpPr>
          <p:spPr bwMode="auto">
            <a:xfrm>
              <a:off x="1292" y="3113"/>
              <a:ext cx="172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pPr algn="l">
                <a:spcBef>
                  <a:spcPct val="20000"/>
                </a:spcBef>
                <a:buClr>
                  <a:schemeClr val="bg2"/>
                </a:buClr>
                <a:buSzPct val="90000"/>
                <a:buFont typeface="Wingdings" pitchFamily="2" charset="2"/>
                <a:buNone/>
              </a:pPr>
              <a:r>
                <a:rPr lang="zh-CN" altLang="en-US" sz="2800">
                  <a:latin typeface="Arial" charset="0"/>
                  <a:ea typeface="宋体" pitchFamily="2" charset="-122"/>
                </a:rPr>
                <a:t>目的地址</a:t>
              </a:r>
            </a:p>
          </p:txBody>
        </p:sp>
        <p:sp>
          <p:nvSpPr>
            <p:cNvPr id="35875" name="Line 10"/>
            <p:cNvSpPr>
              <a:spLocks noChangeShapeType="1"/>
            </p:cNvSpPr>
            <p:nvPr/>
          </p:nvSpPr>
          <p:spPr bwMode="auto">
            <a:xfrm>
              <a:off x="1292" y="3439"/>
              <a:ext cx="17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76" name="Line 11"/>
            <p:cNvSpPr>
              <a:spLocks noChangeShapeType="1"/>
            </p:cNvSpPr>
            <p:nvPr/>
          </p:nvSpPr>
          <p:spPr bwMode="auto">
            <a:xfrm>
              <a:off x="1292" y="3113"/>
              <a:ext cx="0" cy="7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77" name="Line 12"/>
            <p:cNvSpPr>
              <a:spLocks noChangeShapeType="1"/>
            </p:cNvSpPr>
            <p:nvPr/>
          </p:nvSpPr>
          <p:spPr bwMode="auto">
            <a:xfrm>
              <a:off x="3016" y="3113"/>
              <a:ext cx="0" cy="70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78" name="Line 13"/>
            <p:cNvSpPr>
              <a:spLocks noChangeShapeType="1"/>
            </p:cNvSpPr>
            <p:nvPr/>
          </p:nvSpPr>
          <p:spPr bwMode="auto">
            <a:xfrm>
              <a:off x="4694" y="3113"/>
              <a:ext cx="0" cy="7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79" name="Line 14"/>
            <p:cNvSpPr>
              <a:spLocks noChangeShapeType="1"/>
            </p:cNvSpPr>
            <p:nvPr/>
          </p:nvSpPr>
          <p:spPr bwMode="auto">
            <a:xfrm>
              <a:off x="3878" y="3113"/>
              <a:ext cx="0" cy="708"/>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0" name="Line 15"/>
            <p:cNvSpPr>
              <a:spLocks noChangeShapeType="1"/>
            </p:cNvSpPr>
            <p:nvPr/>
          </p:nvSpPr>
          <p:spPr bwMode="auto">
            <a:xfrm>
              <a:off x="3016" y="3113"/>
              <a:ext cx="862" cy="0"/>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1" name="Line 16"/>
            <p:cNvSpPr>
              <a:spLocks noChangeShapeType="1"/>
            </p:cNvSpPr>
            <p:nvPr/>
          </p:nvSpPr>
          <p:spPr bwMode="auto">
            <a:xfrm>
              <a:off x="1292" y="3113"/>
              <a:ext cx="17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2" name="Line 17"/>
            <p:cNvSpPr>
              <a:spLocks noChangeShapeType="1"/>
            </p:cNvSpPr>
            <p:nvPr/>
          </p:nvSpPr>
          <p:spPr bwMode="auto">
            <a:xfrm>
              <a:off x="3878" y="3113"/>
              <a:ext cx="81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3" name="Line 18"/>
            <p:cNvSpPr>
              <a:spLocks noChangeShapeType="1"/>
            </p:cNvSpPr>
            <p:nvPr/>
          </p:nvSpPr>
          <p:spPr bwMode="auto">
            <a:xfrm>
              <a:off x="3016" y="3439"/>
              <a:ext cx="862" cy="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4" name="Line 19"/>
            <p:cNvSpPr>
              <a:spLocks noChangeShapeType="1"/>
            </p:cNvSpPr>
            <p:nvPr/>
          </p:nvSpPr>
          <p:spPr bwMode="auto">
            <a:xfrm>
              <a:off x="3878" y="3439"/>
              <a:ext cx="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5" name="Line 20"/>
            <p:cNvSpPr>
              <a:spLocks noChangeShapeType="1"/>
            </p:cNvSpPr>
            <p:nvPr/>
          </p:nvSpPr>
          <p:spPr bwMode="auto">
            <a:xfrm>
              <a:off x="3016" y="3821"/>
              <a:ext cx="862" cy="0"/>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6" name="Line 21"/>
            <p:cNvSpPr>
              <a:spLocks noChangeShapeType="1"/>
            </p:cNvSpPr>
            <p:nvPr/>
          </p:nvSpPr>
          <p:spPr bwMode="auto">
            <a:xfrm>
              <a:off x="1292" y="3821"/>
              <a:ext cx="172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5887" name="Line 22"/>
            <p:cNvSpPr>
              <a:spLocks noChangeShapeType="1"/>
            </p:cNvSpPr>
            <p:nvPr/>
          </p:nvSpPr>
          <p:spPr bwMode="auto">
            <a:xfrm>
              <a:off x="3878" y="3821"/>
              <a:ext cx="81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23595" name="Rectangle 43"/>
          <p:cNvSpPr>
            <a:spLocks noChangeArrowheads="1"/>
          </p:cNvSpPr>
          <p:nvPr/>
        </p:nvSpPr>
        <p:spPr bwMode="auto">
          <a:xfrm>
            <a:off x="3492500" y="6165850"/>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zh-CN" altLang="en-US" dirty="0">
                <a:latin typeface="Arial" charset="0"/>
                <a:ea typeface="宋体" pitchFamily="2" charset="-122"/>
              </a:rPr>
              <a:t>路由器</a:t>
            </a:r>
            <a:r>
              <a:rPr lang="en-US" altLang="zh-CN" dirty="0">
                <a:latin typeface="Arial" charset="0"/>
                <a:ea typeface="宋体" pitchFamily="2" charset="-122"/>
              </a:rPr>
              <a:t>A</a:t>
            </a:r>
            <a:r>
              <a:rPr lang="zh-CN" altLang="en-US" dirty="0">
                <a:latin typeface="Arial" charset="0"/>
                <a:ea typeface="宋体" pitchFamily="2" charset="-122"/>
              </a:rPr>
              <a:t>的路由表</a:t>
            </a:r>
          </a:p>
        </p:txBody>
      </p:sp>
      <p:sp>
        <p:nvSpPr>
          <p:cNvPr id="35861" name="Rectangle 40"/>
          <p:cNvSpPr>
            <a:spLocks noChangeArrowheads="1"/>
          </p:cNvSpPr>
          <p:nvPr/>
        </p:nvSpPr>
        <p:spPr bwMode="auto">
          <a:xfrm>
            <a:off x="5795963" y="4314825"/>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D</a:t>
            </a:r>
          </a:p>
        </p:txBody>
      </p:sp>
      <p:pic>
        <p:nvPicPr>
          <p:cNvPr id="35845" name="Picture 24"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5625" y="2133600"/>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25"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7063" y="3717925"/>
            <a:ext cx="12239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26"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0675" y="3759200"/>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27"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7650" y="2133600"/>
            <a:ext cx="12239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9" name="Line 28"/>
          <p:cNvSpPr>
            <a:spLocks noChangeShapeType="1"/>
          </p:cNvSpPr>
          <p:nvPr/>
        </p:nvSpPr>
        <p:spPr bwMode="auto">
          <a:xfrm>
            <a:off x="1835150" y="2060575"/>
            <a:ext cx="1335088" cy="282575"/>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0" name="Line 29"/>
          <p:cNvSpPr>
            <a:spLocks noChangeShapeType="1"/>
          </p:cNvSpPr>
          <p:nvPr/>
        </p:nvSpPr>
        <p:spPr bwMode="auto">
          <a:xfrm flipH="1" flipV="1">
            <a:off x="4089400" y="2693988"/>
            <a:ext cx="1655763" cy="1116012"/>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30"/>
          <p:cNvSpPr>
            <a:spLocks noChangeShapeType="1"/>
          </p:cNvSpPr>
          <p:nvPr/>
        </p:nvSpPr>
        <p:spPr bwMode="auto">
          <a:xfrm flipH="1" flipV="1">
            <a:off x="6588125" y="4079875"/>
            <a:ext cx="720725"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Line 31"/>
          <p:cNvSpPr>
            <a:spLocks noChangeShapeType="1"/>
          </p:cNvSpPr>
          <p:nvPr/>
        </p:nvSpPr>
        <p:spPr bwMode="auto">
          <a:xfrm flipV="1">
            <a:off x="4319588" y="2420938"/>
            <a:ext cx="1081087"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32"/>
          <p:cNvSpPr>
            <a:spLocks noChangeShapeType="1"/>
          </p:cNvSpPr>
          <p:nvPr/>
        </p:nvSpPr>
        <p:spPr bwMode="auto">
          <a:xfrm flipV="1">
            <a:off x="4392613" y="4062413"/>
            <a:ext cx="1081087"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33"/>
          <p:cNvSpPr>
            <a:spLocks noChangeShapeType="1"/>
          </p:cNvSpPr>
          <p:nvPr/>
        </p:nvSpPr>
        <p:spPr bwMode="auto">
          <a:xfrm>
            <a:off x="3671888" y="2709863"/>
            <a:ext cx="0" cy="1008062"/>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34"/>
          <p:cNvSpPr>
            <a:spLocks noChangeShapeType="1"/>
          </p:cNvSpPr>
          <p:nvPr/>
        </p:nvSpPr>
        <p:spPr bwMode="auto">
          <a:xfrm>
            <a:off x="5975350" y="2709863"/>
            <a:ext cx="0" cy="107950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Rectangle 35"/>
          <p:cNvSpPr>
            <a:spLocks noChangeArrowheads="1"/>
          </p:cNvSpPr>
          <p:nvPr/>
        </p:nvSpPr>
        <p:spPr bwMode="auto">
          <a:xfrm>
            <a:off x="538163" y="1700213"/>
            <a:ext cx="15128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1.0.0.0/24</a:t>
            </a:r>
          </a:p>
        </p:txBody>
      </p:sp>
      <p:sp>
        <p:nvSpPr>
          <p:cNvPr id="35857" name="Rectangle 36"/>
          <p:cNvSpPr>
            <a:spLocks noChangeArrowheads="1"/>
          </p:cNvSpPr>
          <p:nvPr/>
        </p:nvSpPr>
        <p:spPr bwMode="auto">
          <a:xfrm>
            <a:off x="7307263" y="3686175"/>
            <a:ext cx="15128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4.0.0.0/24</a:t>
            </a:r>
          </a:p>
        </p:txBody>
      </p:sp>
      <p:sp>
        <p:nvSpPr>
          <p:cNvPr id="35858" name="Rectangle 37"/>
          <p:cNvSpPr>
            <a:spLocks noChangeArrowheads="1"/>
          </p:cNvSpPr>
          <p:nvPr/>
        </p:nvSpPr>
        <p:spPr bwMode="auto">
          <a:xfrm>
            <a:off x="3635375" y="2708275"/>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A</a:t>
            </a:r>
          </a:p>
        </p:txBody>
      </p:sp>
      <p:sp>
        <p:nvSpPr>
          <p:cNvPr id="35859" name="Rectangle 38"/>
          <p:cNvSpPr>
            <a:spLocks noChangeArrowheads="1"/>
          </p:cNvSpPr>
          <p:nvPr/>
        </p:nvSpPr>
        <p:spPr bwMode="auto">
          <a:xfrm>
            <a:off x="6011863" y="2636838"/>
            <a:ext cx="50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B</a:t>
            </a:r>
          </a:p>
        </p:txBody>
      </p:sp>
      <p:sp>
        <p:nvSpPr>
          <p:cNvPr id="35860" name="Rectangle 39"/>
          <p:cNvSpPr>
            <a:spLocks noChangeArrowheads="1"/>
          </p:cNvSpPr>
          <p:nvPr/>
        </p:nvSpPr>
        <p:spPr bwMode="auto">
          <a:xfrm>
            <a:off x="3492500" y="4292600"/>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C</a:t>
            </a:r>
          </a:p>
        </p:txBody>
      </p:sp>
      <p:sp>
        <p:nvSpPr>
          <p:cNvPr id="35862" name="Rectangle 41"/>
          <p:cNvSpPr>
            <a:spLocks noChangeArrowheads="1"/>
          </p:cNvSpPr>
          <p:nvPr/>
        </p:nvSpPr>
        <p:spPr bwMode="auto">
          <a:xfrm>
            <a:off x="539750" y="3644900"/>
            <a:ext cx="14398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3.0.0.0/24</a:t>
            </a:r>
          </a:p>
        </p:txBody>
      </p:sp>
      <p:sp>
        <p:nvSpPr>
          <p:cNvPr id="35863" name="Line 42"/>
          <p:cNvSpPr>
            <a:spLocks noChangeShapeType="1"/>
          </p:cNvSpPr>
          <p:nvPr/>
        </p:nvSpPr>
        <p:spPr bwMode="auto">
          <a:xfrm flipV="1">
            <a:off x="1979613" y="4052888"/>
            <a:ext cx="1223962"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9" name="AutoShape 47"/>
          <p:cNvSpPr>
            <a:spLocks noChangeArrowheads="1"/>
          </p:cNvSpPr>
          <p:nvPr/>
        </p:nvSpPr>
        <p:spPr bwMode="auto">
          <a:xfrm rot="2688105">
            <a:off x="3348038" y="2924175"/>
            <a:ext cx="647700" cy="647700"/>
          </a:xfrm>
          <a:prstGeom prst="star4">
            <a:avLst>
              <a:gd name="adj" fmla="val 12500"/>
            </a:avLst>
          </a:prstGeom>
          <a:solidFill>
            <a:srgbClr val="FF0000"/>
          </a:solidFill>
          <a:ln w="3175">
            <a:solidFill>
              <a:schemeClr val="tx1"/>
            </a:solidFill>
            <a:miter lim="800000"/>
            <a:headEnd/>
            <a:tailEnd/>
          </a:ln>
        </p:spPr>
        <p:txBody>
          <a:bodyPr wrap="none" anchor="ctr">
            <a:spAutoFit/>
          </a:bodyPr>
          <a:lstStyle/>
          <a:p>
            <a:endParaRPr lang="zh-CN" altLang="en-US"/>
          </a:p>
        </p:txBody>
      </p:sp>
      <p:sp>
        <p:nvSpPr>
          <p:cNvPr id="23625" name="Text Box 73" descr="蓝色砂纸"/>
          <p:cNvSpPr txBox="1">
            <a:spLocks noChangeArrowheads="1"/>
          </p:cNvSpPr>
          <p:nvPr/>
        </p:nvSpPr>
        <p:spPr bwMode="auto">
          <a:xfrm>
            <a:off x="5868888" y="5520152"/>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dirty="0"/>
              <a:t>2</a:t>
            </a:r>
          </a:p>
        </p:txBody>
      </p:sp>
      <p:sp>
        <p:nvSpPr>
          <p:cNvPr id="23626" name="Text Box 74" descr="蓝色砂纸"/>
          <p:cNvSpPr txBox="1">
            <a:spLocks noChangeArrowheads="1"/>
          </p:cNvSpPr>
          <p:nvPr/>
        </p:nvSpPr>
        <p:spPr bwMode="auto">
          <a:xfrm>
            <a:off x="5895009" y="5516563"/>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dirty="0"/>
              <a:t>1</a:t>
            </a:r>
          </a:p>
        </p:txBody>
      </p:sp>
      <p:sp>
        <p:nvSpPr>
          <p:cNvPr id="23627" name="Text Box 75" descr="蓝色砂纸"/>
          <p:cNvSpPr txBox="1">
            <a:spLocks noChangeArrowheads="1"/>
          </p:cNvSpPr>
          <p:nvPr/>
        </p:nvSpPr>
        <p:spPr bwMode="auto">
          <a:xfrm>
            <a:off x="4859338" y="5516563"/>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dirty="0"/>
              <a:t>C</a:t>
            </a:r>
          </a:p>
        </p:txBody>
      </p:sp>
      <p:sp>
        <p:nvSpPr>
          <p:cNvPr id="23628" name="Text Box 76" descr="蓝色砂纸"/>
          <p:cNvSpPr txBox="1">
            <a:spLocks noChangeArrowheads="1"/>
          </p:cNvSpPr>
          <p:nvPr/>
        </p:nvSpPr>
        <p:spPr bwMode="auto">
          <a:xfrm>
            <a:off x="4860925" y="5516563"/>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spcBef>
                <a:spcPct val="50000"/>
              </a:spcBef>
            </a:pPr>
            <a:r>
              <a:rPr lang="en-US" altLang="zh-CN" sz="2400" dirty="0"/>
              <a:t>D</a:t>
            </a:r>
          </a:p>
        </p:txBody>
      </p:sp>
    </p:spTree>
    <p:extLst>
      <p:ext uri="{BB962C8B-B14F-4D97-AF65-F5344CB8AC3E}">
        <p14:creationId xmlns:p14="http://schemas.microsoft.com/office/powerpoint/2010/main" val="34021416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362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36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9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xit" presetSubtype="10" fill="hold" grpId="0" nodeType="clickEffect">
                                  <p:stCondLst>
                                    <p:cond delay="0"/>
                                  </p:stCondLst>
                                  <p:childTnLst>
                                    <p:animEffect transition="out" filter="blinds(horizontal)">
                                      <p:cBhvr>
                                        <p:cTn id="16" dur="500"/>
                                        <p:tgtEl>
                                          <p:spTgt spid="23627"/>
                                        </p:tgtEl>
                                      </p:cBhvr>
                                    </p:animEffect>
                                    <p:set>
                                      <p:cBhvr>
                                        <p:cTn id="17" dur="1" fill="hold">
                                          <p:stCondLst>
                                            <p:cond delay="499"/>
                                          </p:stCondLst>
                                        </p:cTn>
                                        <p:tgtEl>
                                          <p:spTgt spid="23627"/>
                                        </p:tgtEl>
                                        <p:attrNameLst>
                                          <p:attrName>style.visibility</p:attrName>
                                        </p:attrNameLst>
                                      </p:cBhvr>
                                      <p:to>
                                        <p:strVal val="hidden"/>
                                      </p:to>
                                    </p:set>
                                  </p:childTnLst>
                                </p:cTn>
                              </p:par>
                              <p:par>
                                <p:cTn id="18" presetID="3" presetClass="exit" presetSubtype="10" fill="hold" grpId="0" nodeType="withEffect">
                                  <p:stCondLst>
                                    <p:cond delay="0"/>
                                  </p:stCondLst>
                                  <p:childTnLst>
                                    <p:animEffect transition="out" filter="blinds(horizontal)">
                                      <p:cBhvr>
                                        <p:cTn id="19" dur="500"/>
                                        <p:tgtEl>
                                          <p:spTgt spid="23626"/>
                                        </p:tgtEl>
                                      </p:cBhvr>
                                    </p:animEffect>
                                    <p:set>
                                      <p:cBhvr>
                                        <p:cTn id="20" dur="1" fill="hold">
                                          <p:stCondLst>
                                            <p:cond delay="499"/>
                                          </p:stCondLst>
                                        </p:cTn>
                                        <p:tgtEl>
                                          <p:spTgt spid="23626"/>
                                        </p:tgtEl>
                                        <p:attrNameLst>
                                          <p:attrName>style.visibility</p:attrName>
                                        </p:attrNameLst>
                                      </p:cBhvr>
                                      <p:to>
                                        <p:strVal val="hidden"/>
                                      </p:to>
                                    </p:set>
                                  </p:childTnLst>
                                </p:cTn>
                              </p:par>
                            </p:childTnLst>
                          </p:cTn>
                        </p:par>
                        <p:par>
                          <p:cTn id="21" fill="hold" nodeType="afterGroup">
                            <p:stCondLst>
                              <p:cond delay="500"/>
                            </p:stCondLst>
                            <p:childTnLst>
                              <p:par>
                                <p:cTn id="22" presetID="4" presetClass="entr" presetSubtype="16" fill="hold" grpId="0" nodeType="afterEffect">
                                  <p:stCondLst>
                                    <p:cond delay="0"/>
                                  </p:stCondLst>
                                  <p:childTnLst>
                                    <p:set>
                                      <p:cBhvr>
                                        <p:cTn id="23" dur="1" fill="hold">
                                          <p:stCondLst>
                                            <p:cond delay="0"/>
                                          </p:stCondLst>
                                        </p:cTn>
                                        <p:tgtEl>
                                          <p:spTgt spid="23628"/>
                                        </p:tgtEl>
                                        <p:attrNameLst>
                                          <p:attrName>style.visibility</p:attrName>
                                        </p:attrNameLst>
                                      </p:cBhvr>
                                      <p:to>
                                        <p:strVal val="visible"/>
                                      </p:to>
                                    </p:set>
                                    <p:animEffect transition="in" filter="box(in)">
                                      <p:cBhvr>
                                        <p:cTn id="24" dur="500"/>
                                        <p:tgtEl>
                                          <p:spTgt spid="23628"/>
                                        </p:tgtEl>
                                      </p:cBhvr>
                                    </p:animEffect>
                                  </p:childTnLst>
                                </p:cTn>
                              </p:par>
                            </p:childTnLst>
                          </p:cTn>
                        </p:par>
                        <p:par>
                          <p:cTn id="25" fill="hold" nodeType="afterGroup">
                            <p:stCondLst>
                              <p:cond delay="1000"/>
                            </p:stCondLst>
                            <p:childTnLst>
                              <p:par>
                                <p:cTn id="26" presetID="4" presetClass="entr" presetSubtype="16" fill="hold" grpId="0" nodeType="afterEffect">
                                  <p:stCondLst>
                                    <p:cond delay="0"/>
                                  </p:stCondLst>
                                  <p:childTnLst>
                                    <p:set>
                                      <p:cBhvr>
                                        <p:cTn id="27" dur="1" fill="hold">
                                          <p:stCondLst>
                                            <p:cond delay="0"/>
                                          </p:stCondLst>
                                        </p:cTn>
                                        <p:tgtEl>
                                          <p:spTgt spid="23625"/>
                                        </p:tgtEl>
                                        <p:attrNameLst>
                                          <p:attrName>style.visibility</p:attrName>
                                        </p:attrNameLst>
                                      </p:cBhvr>
                                      <p:to>
                                        <p:strVal val="visible"/>
                                      </p:to>
                                    </p:set>
                                    <p:animEffect transition="in" filter="box(in)">
                                      <p:cBhvr>
                                        <p:cTn id="28" dur="500"/>
                                        <p:tgtEl>
                                          <p:spTgt spid="23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5" grpId="0"/>
      <p:bldP spid="23625" grpId="0"/>
      <p:bldP spid="23626" grpId="0"/>
      <p:bldP spid="23626" grpId="1"/>
      <p:bldP spid="23627" grpId="0"/>
      <p:bldP spid="23627" grpId="1"/>
      <p:bldP spid="236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4000" dirty="0" smtClean="0">
                <a:ea typeface="宋体" pitchFamily="2" charset="-122"/>
              </a:rPr>
              <a:t>触发更新（</a:t>
            </a:r>
            <a:r>
              <a:rPr lang="en-US" altLang="zh-CN" dirty="0" smtClean="0"/>
              <a:t>Triggered Update </a:t>
            </a:r>
            <a:r>
              <a:rPr lang="zh-CN" altLang="en-US" sz="4000" dirty="0" smtClean="0">
                <a:ea typeface="宋体" pitchFamily="2" charset="-122"/>
              </a:rPr>
              <a:t>）</a:t>
            </a:r>
          </a:p>
        </p:txBody>
      </p:sp>
      <p:sp>
        <p:nvSpPr>
          <p:cNvPr id="36867" name="Rectangle 3"/>
          <p:cNvSpPr>
            <a:spLocks noGrp="1" noChangeArrowheads="1"/>
          </p:cNvSpPr>
          <p:nvPr>
            <p:ph idx="1"/>
          </p:nvPr>
        </p:nvSpPr>
        <p:spPr/>
        <p:txBody>
          <a:bodyPr/>
          <a:lstStyle/>
          <a:p>
            <a:pPr marL="0" indent="0" eaLnBrk="1" hangingPunct="1">
              <a:lnSpc>
                <a:spcPct val="150000"/>
              </a:lnSpc>
              <a:buClr>
                <a:schemeClr val="accent1"/>
              </a:buClr>
              <a:buFont typeface="Wingdings" pitchFamily="2" charset="2"/>
              <a:buChar char="u"/>
            </a:pPr>
            <a:r>
              <a:rPr lang="zh-CN" altLang="en-US" dirty="0" smtClean="0"/>
              <a:t>起因：路由环路问题</a:t>
            </a:r>
          </a:p>
          <a:p>
            <a:pPr marL="0" indent="0" eaLnBrk="1" hangingPunct="1">
              <a:lnSpc>
                <a:spcPct val="150000"/>
              </a:lnSpc>
              <a:buClr>
                <a:schemeClr val="accent1"/>
              </a:buClr>
              <a:buFont typeface="Wingdings" pitchFamily="2" charset="2"/>
              <a:buChar char="u"/>
            </a:pPr>
            <a:r>
              <a:rPr lang="zh-CN" altLang="en-US" dirty="0" smtClean="0"/>
              <a:t>当路由器检测到链路有问题时立即进行问题路由的更新，而不等待</a:t>
            </a:r>
            <a:r>
              <a:rPr lang="en-US" altLang="zh-CN" dirty="0" smtClean="0"/>
              <a:t>30</a:t>
            </a:r>
            <a:r>
              <a:rPr lang="zh-CN" altLang="en-US" dirty="0" smtClean="0"/>
              <a:t>秒的周期更新，迅速传递路由故障和加速收敛，减少环路产生的机会。</a:t>
            </a:r>
          </a:p>
          <a:p>
            <a:pPr marL="0" indent="0" eaLnBrk="1" hangingPunct="1">
              <a:lnSpc>
                <a:spcPct val="150000"/>
              </a:lnSpc>
              <a:buClr>
                <a:schemeClr val="accent1"/>
              </a:buClr>
              <a:buFont typeface="Wingdings" pitchFamily="2" charset="2"/>
              <a:buNone/>
            </a:pPr>
            <a:endParaRPr lang="en-US" altLang="zh-CN" dirty="0" smtClean="0"/>
          </a:p>
        </p:txBody>
      </p:sp>
    </p:spTree>
    <p:extLst>
      <p:ext uri="{BB962C8B-B14F-4D97-AF65-F5344CB8AC3E}">
        <p14:creationId xmlns:p14="http://schemas.microsoft.com/office/powerpoint/2010/main" val="214964543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611188" y="417513"/>
            <a:ext cx="8064500" cy="708025"/>
          </a:xfrm>
          <a:prstGeom prst="rect">
            <a:avLst/>
          </a:prstGeom>
          <a:noFill/>
          <a:ln w="9525">
            <a:noFill/>
            <a:miter lim="800000"/>
            <a:headEnd/>
            <a:tailEnd/>
          </a:ln>
        </p:spPr>
        <p:txBody>
          <a:bodyPr lIns="0" anchor="ctr"/>
          <a:lstStyle/>
          <a:p>
            <a:pPr algn="l">
              <a:lnSpc>
                <a:spcPct val="90000"/>
              </a:lnSpc>
              <a:defRPr/>
            </a:pPr>
            <a:endParaRPr lang="zh-CN" altLang="en-US" sz="4000" kern="0" dirty="0">
              <a:latin typeface="宋体" pitchFamily="2" charset="-122"/>
              <a:ea typeface="宋体" pitchFamily="2" charset="-122"/>
              <a:cs typeface="+mj-cs"/>
            </a:endParaRPr>
          </a:p>
        </p:txBody>
      </p:sp>
      <p:pic>
        <p:nvPicPr>
          <p:cNvPr id="46084" name="Picture 3" descr="蓝色砂纸"/>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909" y="1252673"/>
            <a:ext cx="7898523" cy="38075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11" name="椭圆 10"/>
          <p:cNvSpPr/>
          <p:nvPr/>
        </p:nvSpPr>
        <p:spPr bwMode="auto">
          <a:xfrm>
            <a:off x="755576" y="2492896"/>
            <a:ext cx="785818" cy="285752"/>
          </a:xfrm>
          <a:prstGeom prst="ellipse">
            <a:avLst/>
          </a:prstGeom>
          <a:noFill/>
          <a:ln>
            <a:solidFill>
              <a:schemeClr val="accent1"/>
            </a:solidFill>
          </a:ln>
          <a:effectLst/>
          <a:scene3d>
            <a:camera prst="orthographicFront"/>
            <a:lightRig rig="legacyFlat3" dir="b"/>
          </a:scene3d>
          <a:sp3d extrusionH="430200" prstMaterial="legacyMatte">
            <a:bevelT w="13500" h="13500" prst="angle"/>
            <a:bevelB w="13500" h="13500" prst="angle"/>
            <a:extrusionClr>
              <a:srgbClr val="CCECFF"/>
            </a:extrusionClr>
          </a:sp3d>
          <a:extLst/>
        </p:spPr>
        <p:txBody>
          <a:bodyPr wrap="none" anchor="ctr">
            <a:spAutoFit/>
          </a:bodyPr>
          <a:lstStyle/>
          <a:p>
            <a:pPr>
              <a:defRPr/>
            </a:pPr>
            <a:endParaRPr lang="zh-CN" altLang="en-US"/>
          </a:p>
        </p:txBody>
      </p:sp>
      <p:sp>
        <p:nvSpPr>
          <p:cNvPr id="2" name="标题 1"/>
          <p:cNvSpPr>
            <a:spLocks noGrp="1"/>
          </p:cNvSpPr>
          <p:nvPr>
            <p:ph type="title"/>
          </p:nvPr>
        </p:nvSpPr>
        <p:spPr>
          <a:xfrm>
            <a:off x="386377" y="201613"/>
            <a:ext cx="8064500" cy="9239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ctr" anchorCtr="0" compatLnSpc="1">
            <a:prstTxWarp prst="textNoShape">
              <a:avLst/>
            </a:prstTxWarp>
          </a:bodyPr>
          <a:lstStyle/>
          <a:p>
            <a:r>
              <a:rPr lang="zh-CN" altLang="en-US" sz="4000" dirty="0">
                <a:ea typeface="宋体" pitchFamily="2" charset="-122"/>
              </a:rPr>
              <a:t>触发更新</a:t>
            </a:r>
            <a:endParaRPr lang="zh-CN" altLang="en-US" sz="4000" dirty="0">
              <a:ea typeface="宋体" pitchFamily="2" charset="-122"/>
            </a:endParaRPr>
          </a:p>
        </p:txBody>
      </p:sp>
      <p:sp>
        <p:nvSpPr>
          <p:cNvPr id="46083" name="TextBox 8"/>
          <p:cNvSpPr txBox="1">
            <a:spLocks noChangeArrowheads="1"/>
          </p:cNvSpPr>
          <p:nvPr/>
        </p:nvSpPr>
        <p:spPr bwMode="auto">
          <a:xfrm>
            <a:off x="191838" y="5229200"/>
            <a:ext cx="8772650" cy="1569660"/>
          </a:xfrm>
          <a:prstGeom prst="rect">
            <a:avLst/>
          </a:prstGeom>
          <a:solidFill>
            <a:schemeClr val="tx2"/>
          </a:solidFill>
          <a:ln/>
          <a:extLst/>
        </p:spPr>
        <p:style>
          <a:lnRef idx="2">
            <a:schemeClr val="accent6"/>
          </a:lnRef>
          <a:fillRef idx="1">
            <a:schemeClr val="lt1"/>
          </a:fillRef>
          <a:effectRef idx="0">
            <a:schemeClr val="accent6"/>
          </a:effectRef>
          <a:fontRef idx="minor">
            <a:schemeClr val="dk1"/>
          </a:fontRef>
        </p:style>
        <p:txBody>
          <a:bodyPr wrap="square">
            <a:spAutoFit/>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l"/>
            <a:r>
              <a:rPr lang="zh-CN" altLang="en-US" dirty="0" smtClean="0">
                <a:solidFill>
                  <a:schemeClr val="bg2">
                    <a:lumMod val="10000"/>
                  </a:schemeClr>
                </a:solidFill>
                <a:latin typeface="仿宋_GB2312" pitchFamily="49" charset="-122"/>
                <a:ea typeface="仿宋_GB2312" pitchFamily="49" charset="-122"/>
              </a:rPr>
              <a:t>     通过</a:t>
            </a:r>
            <a:r>
              <a:rPr lang="zh-CN" altLang="en-US" dirty="0" smtClean="0">
                <a:solidFill>
                  <a:schemeClr val="bg2">
                    <a:lumMod val="10000"/>
                  </a:schemeClr>
                </a:solidFill>
                <a:latin typeface="仿宋_GB2312" pitchFamily="49" charset="-122"/>
                <a:ea typeface="仿宋_GB2312" pitchFamily="49" charset="-122"/>
              </a:rPr>
              <a:t>截取的报文，我们可以看到，当网络发生故障时，地址</a:t>
            </a:r>
            <a:r>
              <a:rPr lang="en-US" altLang="zh-CN" dirty="0">
                <a:solidFill>
                  <a:schemeClr val="bg2">
                    <a:lumMod val="10000"/>
                  </a:schemeClr>
                </a:solidFill>
                <a:latin typeface="仿宋_GB2312" pitchFamily="49" charset="-122"/>
                <a:ea typeface="仿宋_GB2312" pitchFamily="49" charset="-122"/>
              </a:rPr>
              <a:t>192.168.2.1</a:t>
            </a:r>
            <a:r>
              <a:rPr lang="zh-CN" altLang="en-US" dirty="0">
                <a:solidFill>
                  <a:schemeClr val="bg2">
                    <a:lumMod val="10000"/>
                  </a:schemeClr>
                </a:solidFill>
                <a:latin typeface="仿宋_GB2312" pitchFamily="49" charset="-122"/>
                <a:ea typeface="仿宋_GB2312" pitchFamily="49" charset="-122"/>
              </a:rPr>
              <a:t>在不到</a:t>
            </a:r>
            <a:r>
              <a:rPr lang="en-US" altLang="zh-CN" dirty="0">
                <a:solidFill>
                  <a:schemeClr val="bg2">
                    <a:lumMod val="10000"/>
                  </a:schemeClr>
                </a:solidFill>
                <a:latin typeface="仿宋_GB2312" pitchFamily="49" charset="-122"/>
                <a:ea typeface="仿宋_GB2312" pitchFamily="49" charset="-122"/>
              </a:rPr>
              <a:t>9s</a:t>
            </a:r>
            <a:r>
              <a:rPr lang="zh-CN" altLang="en-US" dirty="0">
                <a:solidFill>
                  <a:schemeClr val="bg2">
                    <a:lumMod val="10000"/>
                  </a:schemeClr>
                </a:solidFill>
                <a:latin typeface="仿宋_GB2312" pitchFamily="49" charset="-122"/>
                <a:ea typeface="仿宋_GB2312" pitchFamily="49" charset="-122"/>
              </a:rPr>
              <a:t>的时间又发了一个</a:t>
            </a:r>
            <a:r>
              <a:rPr lang="en-US" altLang="zh-CN" dirty="0">
                <a:solidFill>
                  <a:schemeClr val="bg2">
                    <a:lumMod val="10000"/>
                  </a:schemeClr>
                </a:solidFill>
                <a:latin typeface="仿宋_GB2312" pitchFamily="49" charset="-122"/>
                <a:ea typeface="仿宋_GB2312" pitchFamily="49" charset="-122"/>
              </a:rPr>
              <a:t>Response</a:t>
            </a:r>
            <a:r>
              <a:rPr lang="zh-CN" altLang="en-US" dirty="0" smtClean="0">
                <a:solidFill>
                  <a:schemeClr val="bg2">
                    <a:lumMod val="10000"/>
                  </a:schemeClr>
                </a:solidFill>
                <a:latin typeface="仿宋_GB2312" pitchFamily="49" charset="-122"/>
                <a:ea typeface="仿宋_GB2312" pitchFamily="49" charset="-122"/>
              </a:rPr>
              <a:t>报文。</a:t>
            </a:r>
            <a:endParaRPr lang="zh-CN" altLang="en-US" dirty="0">
              <a:solidFill>
                <a:schemeClr val="bg2">
                  <a:lumMod val="10000"/>
                </a:schemeClr>
              </a:solidFill>
              <a:latin typeface="仿宋_GB2312" pitchFamily="49" charset="-122"/>
              <a:ea typeface="仿宋_GB2312" pitchFamily="49" charset="-122"/>
            </a:endParaRPr>
          </a:p>
        </p:txBody>
      </p:sp>
    </p:spTree>
    <p:extLst>
      <p:ext uri="{BB962C8B-B14F-4D97-AF65-F5344CB8AC3E}">
        <p14:creationId xmlns:p14="http://schemas.microsoft.com/office/powerpoint/2010/main" val="214247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z="4000" smtClean="0">
                <a:ea typeface="宋体" pitchFamily="2" charset="-122"/>
              </a:rPr>
              <a:t>水平分割（</a:t>
            </a:r>
            <a:r>
              <a:rPr lang="en-US" altLang="zh-CN" smtClean="0"/>
              <a:t>Split Horizon</a:t>
            </a:r>
            <a:r>
              <a:rPr lang="zh-CN" altLang="en-US" sz="4000" smtClean="0">
                <a:ea typeface="宋体" pitchFamily="2" charset="-122"/>
              </a:rPr>
              <a:t>）</a:t>
            </a:r>
            <a:endParaRPr lang="zh-CN" altLang="en-US" smtClean="0">
              <a:latin typeface="宋体" pitchFamily="2" charset="-122"/>
              <a:ea typeface="宋体" pitchFamily="2" charset="-122"/>
            </a:endParaRPr>
          </a:p>
        </p:txBody>
      </p:sp>
      <p:sp>
        <p:nvSpPr>
          <p:cNvPr id="37891" name="Rectangle 3"/>
          <p:cNvSpPr>
            <a:spLocks noGrp="1" noChangeArrowheads="1"/>
          </p:cNvSpPr>
          <p:nvPr>
            <p:ph idx="1"/>
          </p:nvPr>
        </p:nvSpPr>
        <p:spPr/>
        <p:txBody>
          <a:bodyPr/>
          <a:lstStyle/>
          <a:p>
            <a:pPr marL="0" indent="0" eaLnBrk="1" hangingPunct="1">
              <a:buClr>
                <a:schemeClr val="accent1"/>
              </a:buClr>
              <a:buFont typeface="Wingdings" pitchFamily="2" charset="2"/>
              <a:buChar char="u"/>
            </a:pPr>
            <a:r>
              <a:rPr lang="zh-CN" altLang="en-US" sz="2800" dirty="0" smtClean="0"/>
              <a:t>为什么</a:t>
            </a:r>
            <a:r>
              <a:rPr lang="en-US" altLang="zh-CN" sz="2800" dirty="0" smtClean="0"/>
              <a:t>?        </a:t>
            </a:r>
            <a:endParaRPr lang="en-US" altLang="zh-CN" sz="2800" b="0" dirty="0" smtClean="0"/>
          </a:p>
        </p:txBody>
      </p:sp>
      <p:grpSp>
        <p:nvGrpSpPr>
          <p:cNvPr id="2" name="Group 75"/>
          <p:cNvGrpSpPr>
            <a:grpSpLocks/>
          </p:cNvGrpSpPr>
          <p:nvPr/>
        </p:nvGrpSpPr>
        <p:grpSpPr bwMode="auto">
          <a:xfrm>
            <a:off x="468313" y="2373313"/>
            <a:ext cx="8281987" cy="3071812"/>
            <a:chOff x="295" y="1268"/>
            <a:chExt cx="5217" cy="1935"/>
          </a:xfrm>
        </p:grpSpPr>
        <p:pic>
          <p:nvPicPr>
            <p:cNvPr id="37898" name="Picture 48"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6" y="1541"/>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49"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1" y="2539"/>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50"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8" y="2565"/>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1" name="Picture 51"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12" y="1541"/>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2" name="Line 52"/>
            <p:cNvSpPr>
              <a:spLocks noChangeShapeType="1"/>
            </p:cNvSpPr>
            <p:nvPr/>
          </p:nvSpPr>
          <p:spPr bwMode="auto">
            <a:xfrm>
              <a:off x="1112" y="1495"/>
              <a:ext cx="841" cy="17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Line 54"/>
            <p:cNvSpPr>
              <a:spLocks noChangeShapeType="1"/>
            </p:cNvSpPr>
            <p:nvPr/>
          </p:nvSpPr>
          <p:spPr bwMode="auto">
            <a:xfrm flipH="1" flipV="1">
              <a:off x="4106" y="2767"/>
              <a:ext cx="454"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4" name="Line 55"/>
            <p:cNvSpPr>
              <a:spLocks noChangeShapeType="1"/>
            </p:cNvSpPr>
            <p:nvPr/>
          </p:nvSpPr>
          <p:spPr bwMode="auto">
            <a:xfrm flipV="1">
              <a:off x="2677" y="1722"/>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5" name="Line 56"/>
            <p:cNvSpPr>
              <a:spLocks noChangeShapeType="1"/>
            </p:cNvSpPr>
            <p:nvPr/>
          </p:nvSpPr>
          <p:spPr bwMode="auto">
            <a:xfrm flipV="1">
              <a:off x="2723" y="2756"/>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6" name="Line 57"/>
            <p:cNvSpPr>
              <a:spLocks noChangeShapeType="1"/>
            </p:cNvSpPr>
            <p:nvPr/>
          </p:nvSpPr>
          <p:spPr bwMode="auto">
            <a:xfrm>
              <a:off x="2269" y="1904"/>
              <a:ext cx="0" cy="635"/>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7" name="Line 58"/>
            <p:cNvSpPr>
              <a:spLocks noChangeShapeType="1"/>
            </p:cNvSpPr>
            <p:nvPr/>
          </p:nvSpPr>
          <p:spPr bwMode="auto">
            <a:xfrm>
              <a:off x="3720" y="1904"/>
              <a:ext cx="0" cy="68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8" name="Rectangle 59"/>
            <p:cNvSpPr>
              <a:spLocks noChangeArrowheads="1"/>
            </p:cNvSpPr>
            <p:nvPr/>
          </p:nvSpPr>
          <p:spPr bwMode="auto">
            <a:xfrm>
              <a:off x="295" y="1268"/>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1.0.0.0/24</a:t>
              </a:r>
            </a:p>
          </p:txBody>
        </p:sp>
        <p:sp>
          <p:nvSpPr>
            <p:cNvPr id="37909" name="Rectangle 60"/>
            <p:cNvSpPr>
              <a:spLocks noChangeArrowheads="1"/>
            </p:cNvSpPr>
            <p:nvPr/>
          </p:nvSpPr>
          <p:spPr bwMode="auto">
            <a:xfrm>
              <a:off x="4559" y="2519"/>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4.0.0.0/24</a:t>
              </a:r>
            </a:p>
          </p:txBody>
        </p:sp>
        <p:sp>
          <p:nvSpPr>
            <p:cNvPr id="37910" name="Rectangle 61"/>
            <p:cNvSpPr>
              <a:spLocks noChangeArrowheads="1"/>
            </p:cNvSpPr>
            <p:nvPr/>
          </p:nvSpPr>
          <p:spPr bwMode="auto">
            <a:xfrm>
              <a:off x="2246" y="1903"/>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A</a:t>
              </a:r>
            </a:p>
          </p:txBody>
        </p:sp>
        <p:sp>
          <p:nvSpPr>
            <p:cNvPr id="37911" name="Rectangle 62"/>
            <p:cNvSpPr>
              <a:spLocks noChangeArrowheads="1"/>
            </p:cNvSpPr>
            <p:nvPr/>
          </p:nvSpPr>
          <p:spPr bwMode="auto">
            <a:xfrm>
              <a:off x="3743" y="1858"/>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B</a:t>
              </a:r>
            </a:p>
          </p:txBody>
        </p:sp>
        <p:sp>
          <p:nvSpPr>
            <p:cNvPr id="37912" name="Rectangle 63"/>
            <p:cNvSpPr>
              <a:spLocks noChangeArrowheads="1"/>
            </p:cNvSpPr>
            <p:nvPr/>
          </p:nvSpPr>
          <p:spPr bwMode="auto">
            <a:xfrm>
              <a:off x="2156" y="2901"/>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C</a:t>
              </a:r>
            </a:p>
          </p:txBody>
        </p:sp>
        <p:sp>
          <p:nvSpPr>
            <p:cNvPr id="37913" name="Rectangle 64"/>
            <p:cNvSpPr>
              <a:spLocks noChangeArrowheads="1"/>
            </p:cNvSpPr>
            <p:nvPr/>
          </p:nvSpPr>
          <p:spPr bwMode="auto">
            <a:xfrm>
              <a:off x="3607" y="2915"/>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D</a:t>
              </a:r>
            </a:p>
          </p:txBody>
        </p:sp>
        <p:sp>
          <p:nvSpPr>
            <p:cNvPr id="37914" name="Rectangle 65"/>
            <p:cNvSpPr>
              <a:spLocks noChangeArrowheads="1"/>
            </p:cNvSpPr>
            <p:nvPr/>
          </p:nvSpPr>
          <p:spPr bwMode="auto">
            <a:xfrm>
              <a:off x="296" y="2493"/>
              <a:ext cx="9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3.0.0.0/24</a:t>
              </a:r>
            </a:p>
          </p:txBody>
        </p:sp>
        <p:sp>
          <p:nvSpPr>
            <p:cNvPr id="37915" name="Line 66"/>
            <p:cNvSpPr>
              <a:spLocks noChangeShapeType="1"/>
            </p:cNvSpPr>
            <p:nvPr/>
          </p:nvSpPr>
          <p:spPr bwMode="auto">
            <a:xfrm flipV="1">
              <a:off x="1227" y="2750"/>
              <a:ext cx="77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644" name="AutoShape 68"/>
          <p:cNvSpPr>
            <a:spLocks noChangeArrowheads="1"/>
          </p:cNvSpPr>
          <p:nvPr/>
        </p:nvSpPr>
        <p:spPr bwMode="auto">
          <a:xfrm rot="2688105">
            <a:off x="2124075" y="4437063"/>
            <a:ext cx="647700" cy="647700"/>
          </a:xfrm>
          <a:prstGeom prst="star4">
            <a:avLst>
              <a:gd name="adj" fmla="val 12500"/>
            </a:avLst>
          </a:prstGeom>
          <a:solidFill>
            <a:srgbClr val="FF0000"/>
          </a:solidFill>
          <a:ln w="3175">
            <a:solidFill>
              <a:schemeClr val="tx1"/>
            </a:solidFill>
            <a:miter lim="800000"/>
            <a:headEnd/>
            <a:tailEnd/>
          </a:ln>
        </p:spPr>
        <p:txBody>
          <a:bodyPr wrap="none" anchor="ctr">
            <a:spAutoFit/>
          </a:bodyPr>
          <a:lstStyle/>
          <a:p>
            <a:endParaRPr lang="zh-CN" altLang="en-US"/>
          </a:p>
        </p:txBody>
      </p:sp>
      <p:sp>
        <p:nvSpPr>
          <p:cNvPr id="24656" name="Line 80"/>
          <p:cNvSpPr>
            <a:spLocks noChangeShapeType="1"/>
          </p:cNvSpPr>
          <p:nvPr/>
        </p:nvSpPr>
        <p:spPr bwMode="auto">
          <a:xfrm>
            <a:off x="4284663" y="2997200"/>
            <a:ext cx="935037"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7" name="Line 81"/>
          <p:cNvSpPr>
            <a:spLocks noChangeShapeType="1"/>
          </p:cNvSpPr>
          <p:nvPr/>
        </p:nvSpPr>
        <p:spPr bwMode="auto">
          <a:xfrm>
            <a:off x="6011863" y="3429000"/>
            <a:ext cx="0" cy="9366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8" name="Line 82"/>
          <p:cNvSpPr>
            <a:spLocks noChangeShapeType="1"/>
          </p:cNvSpPr>
          <p:nvPr/>
        </p:nvSpPr>
        <p:spPr bwMode="auto">
          <a:xfrm flipH="1">
            <a:off x="4356100" y="4868863"/>
            <a:ext cx="1008063"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9" name="Line 83"/>
          <p:cNvSpPr>
            <a:spLocks noChangeShapeType="1"/>
          </p:cNvSpPr>
          <p:nvPr/>
        </p:nvSpPr>
        <p:spPr bwMode="auto">
          <a:xfrm flipV="1">
            <a:off x="3492500" y="3429000"/>
            <a:ext cx="0" cy="936625"/>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Tree>
    <p:extLst>
      <p:ext uri="{BB962C8B-B14F-4D97-AF65-F5344CB8AC3E}">
        <p14:creationId xmlns:p14="http://schemas.microsoft.com/office/powerpoint/2010/main" val="21236097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5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4656"/>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4657"/>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4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56" grpId="0" animBg="1"/>
      <p:bldP spid="24657" grpId="0" animBg="1"/>
      <p:bldP spid="24658" grpId="0" animBg="1"/>
      <p:bldP spid="246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z="4000" smtClean="0">
                <a:ea typeface="宋体" pitchFamily="2" charset="-122"/>
              </a:rPr>
              <a:t>水平分割</a:t>
            </a:r>
          </a:p>
        </p:txBody>
      </p:sp>
      <p:sp>
        <p:nvSpPr>
          <p:cNvPr id="38915" name="Rectangle 3"/>
          <p:cNvSpPr>
            <a:spLocks noGrp="1" noChangeArrowheads="1"/>
          </p:cNvSpPr>
          <p:nvPr>
            <p:ph idx="1"/>
          </p:nvPr>
        </p:nvSpPr>
        <p:spPr>
          <a:xfrm>
            <a:off x="1152127" y="1340768"/>
            <a:ext cx="7416007" cy="820728"/>
          </a:xfrm>
        </p:spPr>
        <p:txBody>
          <a:bodyPr/>
          <a:lstStyle/>
          <a:p>
            <a:pPr marL="0" indent="0" eaLnBrk="1" hangingPunct="1">
              <a:buClr>
                <a:schemeClr val="accent1"/>
              </a:buClr>
              <a:buFont typeface="Wingdings" pitchFamily="2" charset="2"/>
              <a:buChar char="u"/>
            </a:pPr>
            <a:r>
              <a:rPr lang="zh-CN" altLang="en-US" sz="2800" dirty="0" smtClean="0"/>
              <a:t>当向某个网络接口发送</a:t>
            </a:r>
            <a:r>
              <a:rPr lang="en-US" altLang="zh-CN" sz="2800" dirty="0" smtClean="0"/>
              <a:t>RIP</a:t>
            </a:r>
            <a:r>
              <a:rPr lang="zh-CN" altLang="en-US" sz="2800" dirty="0" smtClean="0"/>
              <a:t>更新信息时，不包含从该接口得到的选路信息。</a:t>
            </a:r>
          </a:p>
        </p:txBody>
      </p:sp>
      <p:graphicFrame>
        <p:nvGraphicFramePr>
          <p:cNvPr id="25669" name="Group 69"/>
          <p:cNvGraphicFramePr>
            <a:graphicFrameLocks noGrp="1"/>
          </p:cNvGraphicFramePr>
          <p:nvPr/>
        </p:nvGraphicFramePr>
        <p:xfrm>
          <a:off x="1401763" y="5445125"/>
          <a:ext cx="6696075" cy="1103539"/>
        </p:xfrm>
        <a:graphic>
          <a:graphicData uri="http://schemas.openxmlformats.org/drawingml/2006/table">
            <a:tbl>
              <a:tblPr/>
              <a:tblGrid>
                <a:gridCol w="2700337"/>
                <a:gridCol w="1404938"/>
                <a:gridCol w="1295400"/>
                <a:gridCol w="1295400"/>
              </a:tblGrid>
              <a:tr h="517834">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目的地址</a:t>
                      </a:r>
                    </a:p>
                  </a:txBody>
                  <a:tcPr marT="45670" marB="456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下一跳</a:t>
                      </a:r>
                    </a:p>
                  </a:txBody>
                  <a:tcPr marT="45670" marB="456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跳数</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来源</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5479">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smtClean="0">
                          <a:ln>
                            <a:noFill/>
                          </a:ln>
                          <a:solidFill>
                            <a:schemeClr val="tx1"/>
                          </a:solidFill>
                          <a:effectLst/>
                          <a:latin typeface="Arial" charset="0"/>
                          <a:ea typeface="宋体" pitchFamily="2" charset="-122"/>
                        </a:rPr>
                        <a:t>3.0.0.0</a:t>
                      </a:r>
                      <a:endParaRPr kumimoji="0" lang="en-US" altLang="zh-CN" sz="3600" b="1" i="0" u="none" strike="noStrike" cap="none" normalizeH="0" baseline="0" smtClean="0">
                        <a:ln>
                          <a:noFill/>
                        </a:ln>
                        <a:solidFill>
                          <a:schemeClr val="tx1"/>
                        </a:solidFill>
                        <a:effectLst/>
                        <a:latin typeface="Arial" charset="0"/>
                        <a:ea typeface="宋体" pitchFamily="2" charset="-122"/>
                      </a:endParaRPr>
                    </a:p>
                  </a:txBody>
                  <a:tcPr marT="45670" marB="456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smtClean="0">
                          <a:ln>
                            <a:noFill/>
                          </a:ln>
                          <a:solidFill>
                            <a:schemeClr val="tx1"/>
                          </a:solidFill>
                          <a:effectLst/>
                          <a:latin typeface="Arial" charset="0"/>
                          <a:ea typeface="宋体" pitchFamily="2" charset="-122"/>
                        </a:rPr>
                        <a:t>C</a:t>
                      </a:r>
                    </a:p>
                  </a:txBody>
                  <a:tcPr marT="45670" marB="456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smtClean="0">
                          <a:ln>
                            <a:noFill/>
                          </a:ln>
                          <a:solidFill>
                            <a:schemeClr val="tx1"/>
                          </a:solidFill>
                          <a:effectLst/>
                          <a:latin typeface="Arial" charset="0"/>
                          <a:ea typeface="宋体" pitchFamily="2" charset="-122"/>
                        </a:rPr>
                        <a:t>1</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dirty="0" smtClean="0">
                          <a:ln>
                            <a:noFill/>
                          </a:ln>
                          <a:solidFill>
                            <a:schemeClr val="tx1"/>
                          </a:solidFill>
                          <a:effectLst/>
                          <a:latin typeface="Arial" charset="0"/>
                          <a:ea typeface="宋体" pitchFamily="2" charset="-122"/>
                        </a:rPr>
                        <a:t>C</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38933" name="Group 73"/>
          <p:cNvGrpSpPr>
            <a:grpSpLocks/>
          </p:cNvGrpSpPr>
          <p:nvPr/>
        </p:nvGrpSpPr>
        <p:grpSpPr bwMode="auto">
          <a:xfrm>
            <a:off x="475009" y="2435055"/>
            <a:ext cx="8064574" cy="2711450"/>
            <a:chOff x="339" y="1434"/>
            <a:chExt cx="5217" cy="1935"/>
          </a:xfrm>
        </p:grpSpPr>
        <p:sp>
          <p:nvSpPr>
            <p:cNvPr id="38934" name="Rectangle 64"/>
            <p:cNvSpPr>
              <a:spLocks noChangeArrowheads="1"/>
            </p:cNvSpPr>
            <p:nvPr/>
          </p:nvSpPr>
          <p:spPr bwMode="auto">
            <a:xfrm>
              <a:off x="2200" y="3067"/>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C</a:t>
              </a:r>
            </a:p>
          </p:txBody>
        </p:sp>
        <p:sp>
          <p:nvSpPr>
            <p:cNvPr id="38935" name="Rectangle 65"/>
            <p:cNvSpPr>
              <a:spLocks noChangeArrowheads="1"/>
            </p:cNvSpPr>
            <p:nvPr/>
          </p:nvSpPr>
          <p:spPr bwMode="auto">
            <a:xfrm>
              <a:off x="3651" y="3081"/>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D</a:t>
              </a:r>
            </a:p>
          </p:txBody>
        </p:sp>
        <p:pic>
          <p:nvPicPr>
            <p:cNvPr id="38936" name="Picture 49"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707"/>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7" name="Picture 50"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5" y="2705"/>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8" name="Picture 51"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2" y="2731"/>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39" name="Picture 52"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6" y="1707"/>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40" name="Line 53"/>
            <p:cNvSpPr>
              <a:spLocks noChangeShapeType="1"/>
            </p:cNvSpPr>
            <p:nvPr/>
          </p:nvSpPr>
          <p:spPr bwMode="auto">
            <a:xfrm>
              <a:off x="1156" y="1661"/>
              <a:ext cx="841" cy="17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1" name="Line 55"/>
            <p:cNvSpPr>
              <a:spLocks noChangeShapeType="1"/>
            </p:cNvSpPr>
            <p:nvPr/>
          </p:nvSpPr>
          <p:spPr bwMode="auto">
            <a:xfrm flipH="1" flipV="1">
              <a:off x="4150" y="2933"/>
              <a:ext cx="454"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2" name="Line 56"/>
            <p:cNvSpPr>
              <a:spLocks noChangeShapeType="1"/>
            </p:cNvSpPr>
            <p:nvPr/>
          </p:nvSpPr>
          <p:spPr bwMode="auto">
            <a:xfrm flipV="1">
              <a:off x="2721" y="1888"/>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3" name="Line 57"/>
            <p:cNvSpPr>
              <a:spLocks noChangeShapeType="1"/>
            </p:cNvSpPr>
            <p:nvPr/>
          </p:nvSpPr>
          <p:spPr bwMode="auto">
            <a:xfrm flipV="1">
              <a:off x="2767" y="2922"/>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4" name="Line 58"/>
            <p:cNvSpPr>
              <a:spLocks noChangeShapeType="1"/>
            </p:cNvSpPr>
            <p:nvPr/>
          </p:nvSpPr>
          <p:spPr bwMode="auto">
            <a:xfrm>
              <a:off x="2313" y="2070"/>
              <a:ext cx="0" cy="635"/>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5" name="Line 59"/>
            <p:cNvSpPr>
              <a:spLocks noChangeShapeType="1"/>
            </p:cNvSpPr>
            <p:nvPr/>
          </p:nvSpPr>
          <p:spPr bwMode="auto">
            <a:xfrm>
              <a:off x="3764" y="2070"/>
              <a:ext cx="0" cy="68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6" name="Rectangle 60"/>
            <p:cNvSpPr>
              <a:spLocks noChangeArrowheads="1"/>
            </p:cNvSpPr>
            <p:nvPr/>
          </p:nvSpPr>
          <p:spPr bwMode="auto">
            <a:xfrm>
              <a:off x="339" y="1434"/>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1.0.0.0/24</a:t>
              </a:r>
            </a:p>
          </p:txBody>
        </p:sp>
        <p:sp>
          <p:nvSpPr>
            <p:cNvPr id="38947" name="Rectangle 61"/>
            <p:cNvSpPr>
              <a:spLocks noChangeArrowheads="1"/>
            </p:cNvSpPr>
            <p:nvPr/>
          </p:nvSpPr>
          <p:spPr bwMode="auto">
            <a:xfrm>
              <a:off x="4603" y="2685"/>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4.0.0.0/24</a:t>
              </a:r>
            </a:p>
          </p:txBody>
        </p:sp>
        <p:sp>
          <p:nvSpPr>
            <p:cNvPr id="38948" name="Rectangle 62"/>
            <p:cNvSpPr>
              <a:spLocks noChangeArrowheads="1"/>
            </p:cNvSpPr>
            <p:nvPr/>
          </p:nvSpPr>
          <p:spPr bwMode="auto">
            <a:xfrm>
              <a:off x="2290" y="2069"/>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A</a:t>
              </a:r>
            </a:p>
          </p:txBody>
        </p:sp>
        <p:sp>
          <p:nvSpPr>
            <p:cNvPr id="38949" name="Rectangle 63"/>
            <p:cNvSpPr>
              <a:spLocks noChangeArrowheads="1"/>
            </p:cNvSpPr>
            <p:nvPr/>
          </p:nvSpPr>
          <p:spPr bwMode="auto">
            <a:xfrm>
              <a:off x="3787" y="2024"/>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B</a:t>
              </a:r>
            </a:p>
          </p:txBody>
        </p:sp>
        <p:sp>
          <p:nvSpPr>
            <p:cNvPr id="38950" name="Rectangle 66"/>
            <p:cNvSpPr>
              <a:spLocks noChangeArrowheads="1"/>
            </p:cNvSpPr>
            <p:nvPr/>
          </p:nvSpPr>
          <p:spPr bwMode="auto">
            <a:xfrm>
              <a:off x="340" y="2659"/>
              <a:ext cx="9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3.0.0.0/24</a:t>
              </a:r>
            </a:p>
          </p:txBody>
        </p:sp>
        <p:sp>
          <p:nvSpPr>
            <p:cNvPr id="38951" name="Line 67"/>
            <p:cNvSpPr>
              <a:spLocks noChangeShapeType="1"/>
            </p:cNvSpPr>
            <p:nvPr/>
          </p:nvSpPr>
          <p:spPr bwMode="auto">
            <a:xfrm flipV="1">
              <a:off x="1247" y="2916"/>
              <a:ext cx="77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3859250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69"/>
                                        </p:tgtEl>
                                        <p:attrNameLst>
                                          <p:attrName>style.visibility</p:attrName>
                                        </p:attrNameLst>
                                      </p:cBhvr>
                                      <p:to>
                                        <p:strVal val="visible"/>
                                      </p:to>
                                    </p:set>
                                    <p:animEffect transition="in" filter="blinds(horizontal)">
                                      <p:cBhvr>
                                        <p:cTn id="7" dur="500"/>
                                        <p:tgtEl>
                                          <p:spTgt spid="25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539750" y="417513"/>
            <a:ext cx="8064500" cy="708025"/>
          </a:xfrm>
          <a:prstGeom prst="rect">
            <a:avLst/>
          </a:prstGeom>
          <a:noFill/>
          <a:ln w="9525">
            <a:noFill/>
            <a:miter lim="800000"/>
            <a:headEnd/>
            <a:tailEnd/>
          </a:ln>
        </p:spPr>
        <p:txBody>
          <a:bodyPr lIns="0" anchor="ctr"/>
          <a:lstStyle/>
          <a:p>
            <a:pPr algn="l">
              <a:lnSpc>
                <a:spcPct val="90000"/>
              </a:lnSpc>
              <a:defRPr/>
            </a:pPr>
            <a:endParaRPr lang="en-US" altLang="zh-CN" sz="4000" kern="0" dirty="0">
              <a:latin typeface="宋体" pitchFamily="2" charset="-122"/>
              <a:ea typeface="宋体" pitchFamily="2" charset="-122"/>
              <a:cs typeface="+mj-cs"/>
            </a:endParaRPr>
          </a:p>
        </p:txBody>
      </p:sp>
      <p:grpSp>
        <p:nvGrpSpPr>
          <p:cNvPr id="4" name="组合 3"/>
          <p:cNvGrpSpPr/>
          <p:nvPr/>
        </p:nvGrpSpPr>
        <p:grpSpPr>
          <a:xfrm>
            <a:off x="899592" y="1447389"/>
            <a:ext cx="7056784" cy="4501891"/>
            <a:chOff x="142875" y="1492251"/>
            <a:chExt cx="9001125" cy="5365749"/>
          </a:xfrm>
        </p:grpSpPr>
        <p:pic>
          <p:nvPicPr>
            <p:cNvPr id="48130" name="Picture 2" descr="蓝色砂纸"/>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938" y="1492251"/>
              <a:ext cx="6013450"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pic>
          <p:nvPicPr>
            <p:cNvPr id="74755" name="Picture 3" descr="蓝色砂纸"/>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8975" y="2571750"/>
              <a:ext cx="591502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pic>
        <p:sp>
          <p:nvSpPr>
            <p:cNvPr id="11" name="TextBox 10"/>
            <p:cNvSpPr txBox="1"/>
            <p:nvPr/>
          </p:nvSpPr>
          <p:spPr>
            <a:xfrm>
              <a:off x="142875" y="2039938"/>
              <a:ext cx="428625" cy="2246312"/>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defRPr/>
              </a:pPr>
              <a:r>
                <a:rPr lang="zh-CN" altLang="en-US" sz="2000" dirty="0"/>
                <a:t>未取消水平分割</a:t>
              </a:r>
            </a:p>
          </p:txBody>
        </p:sp>
        <p:sp>
          <p:nvSpPr>
            <p:cNvPr id="12" name="TextBox 11"/>
            <p:cNvSpPr txBox="1"/>
            <p:nvPr/>
          </p:nvSpPr>
          <p:spPr>
            <a:xfrm>
              <a:off x="2643188" y="3929063"/>
              <a:ext cx="428625" cy="193833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zh-CN" altLang="en-US" sz="2000" dirty="0"/>
                <a:t>取消水平分割</a:t>
              </a:r>
            </a:p>
          </p:txBody>
        </p:sp>
        <p:sp>
          <p:nvSpPr>
            <p:cNvPr id="15" name="圆角矩形 14"/>
            <p:cNvSpPr/>
            <p:nvPr/>
          </p:nvSpPr>
          <p:spPr bwMode="auto">
            <a:xfrm>
              <a:off x="714348" y="3561164"/>
              <a:ext cx="2071702" cy="510778"/>
            </a:xfrm>
            <a:prstGeom prst="roundRect">
              <a:avLst/>
            </a:prstGeom>
            <a:noFill/>
            <a:ln>
              <a:solidFill>
                <a:schemeClr val="accent1"/>
              </a:solidFill>
            </a:ln>
            <a:effectLst/>
            <a:scene3d>
              <a:camera prst="orthographicFront"/>
              <a:lightRig rig="legacyFlat3" dir="b"/>
            </a:scene3d>
            <a:sp3d extrusionH="430200" prstMaterial="legacyMatte">
              <a:bevelT w="13500" h="13500" prst="angle"/>
              <a:bevelB w="13500" h="13500" prst="angle"/>
              <a:extrusionClr>
                <a:srgbClr val="CCECFF"/>
              </a:extrusionClr>
            </a:sp3d>
            <a:extLst/>
          </p:spPr>
          <p:txBody>
            <a:bodyPr anchor="ctr">
              <a:spAutoFit/>
            </a:bodyPr>
            <a:lstStyle/>
            <a:p>
              <a:pPr>
                <a:defRPr/>
              </a:pPr>
              <a:endParaRPr lang="zh-CN" altLang="en-US" b="0"/>
            </a:p>
          </p:txBody>
        </p:sp>
        <p:sp>
          <p:nvSpPr>
            <p:cNvPr id="16" name="圆角矩形 15"/>
            <p:cNvSpPr/>
            <p:nvPr/>
          </p:nvSpPr>
          <p:spPr bwMode="auto">
            <a:xfrm>
              <a:off x="3286116" y="4933476"/>
              <a:ext cx="2071702" cy="730373"/>
            </a:xfrm>
            <a:prstGeom prst="roundRect">
              <a:avLst/>
            </a:prstGeom>
            <a:noFill/>
            <a:ln>
              <a:solidFill>
                <a:schemeClr val="accent1"/>
              </a:solidFill>
            </a:ln>
            <a:effectLst/>
            <a:scene3d>
              <a:camera prst="orthographicFront"/>
              <a:lightRig rig="legacyFlat3" dir="b"/>
            </a:scene3d>
            <a:sp3d extrusionH="430200" prstMaterial="legacyMatte">
              <a:extrusionClr>
                <a:srgbClr val="CCECFF"/>
              </a:extrusionClr>
            </a:sp3d>
            <a:extLst/>
          </p:spPr>
          <p:txBody>
            <a:bodyPr tIns="144000" bIns="144000" anchor="ctr">
              <a:spAutoFit/>
            </a:bodyPr>
            <a:lstStyle/>
            <a:p>
              <a:pPr>
                <a:defRPr/>
              </a:pPr>
              <a:endParaRPr lang="zh-CN" altLang="en-US" b="0"/>
            </a:p>
          </p:txBody>
        </p:sp>
      </p:grpSp>
      <p:sp>
        <p:nvSpPr>
          <p:cNvPr id="2" name="标题 1"/>
          <p:cNvSpPr>
            <a:spLocks noGrp="1"/>
          </p:cNvSpPr>
          <p:nvPr>
            <p:ph type="title"/>
          </p:nvPr>
        </p:nvSpPr>
        <p:spPr>
          <a:xfrm>
            <a:off x="322285" y="309562"/>
            <a:ext cx="7707339" cy="9239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ctr" anchorCtr="0" compatLnSpc="1">
            <a:prstTxWarp prst="textNoShape">
              <a:avLst/>
            </a:prstTxWarp>
          </a:bodyPr>
          <a:lstStyle/>
          <a:p>
            <a:r>
              <a:rPr lang="zh-CN" altLang="en-US" sz="4000" dirty="0" smtClean="0">
                <a:ea typeface="宋体" pitchFamily="2" charset="-122"/>
              </a:rPr>
              <a:t>取消水平分割前后的报文对比</a:t>
            </a:r>
            <a:endParaRPr lang="zh-CN" altLang="en-US" sz="4000" dirty="0">
              <a:ea typeface="宋体" pitchFamily="2" charset="-122"/>
            </a:endParaRPr>
          </a:p>
        </p:txBody>
      </p:sp>
      <p:sp>
        <p:nvSpPr>
          <p:cNvPr id="6" name="矩形 5"/>
          <p:cNvSpPr/>
          <p:nvPr/>
        </p:nvSpPr>
        <p:spPr>
          <a:xfrm>
            <a:off x="2159716" y="6177093"/>
            <a:ext cx="5109091" cy="46166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sz="2400" b="1" dirty="0">
                <a:solidFill>
                  <a:prstClr val="black"/>
                </a:solidFill>
                <a:latin typeface="Calibri"/>
              </a:rPr>
              <a:t>默认情况下，配置了水平分割功能。</a:t>
            </a:r>
            <a:endParaRPr lang="zh-CN" altLang="en-US" sz="3600" b="1" dirty="0"/>
          </a:p>
        </p:txBody>
      </p:sp>
    </p:spTree>
    <p:extLst>
      <p:ext uri="{BB962C8B-B14F-4D97-AF65-F5344CB8AC3E}">
        <p14:creationId xmlns:p14="http://schemas.microsoft.com/office/powerpoint/2010/main" val="30613027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sz="4000" dirty="0" smtClean="0">
                <a:ea typeface="宋体" pitchFamily="2" charset="-122"/>
              </a:rPr>
              <a:t>毒性逆转（</a:t>
            </a:r>
            <a:r>
              <a:rPr lang="en-US" altLang="zh-CN" dirty="0" smtClean="0"/>
              <a:t>Poison Reverse</a:t>
            </a:r>
            <a:r>
              <a:rPr lang="zh-CN" altLang="en-US" sz="4000" dirty="0" smtClean="0">
                <a:ea typeface="宋体" pitchFamily="2" charset="-122"/>
              </a:rPr>
              <a:t>）</a:t>
            </a:r>
          </a:p>
        </p:txBody>
      </p:sp>
      <p:sp>
        <p:nvSpPr>
          <p:cNvPr id="39939" name="Rectangle 3"/>
          <p:cNvSpPr>
            <a:spLocks noGrp="1" noChangeArrowheads="1"/>
          </p:cNvSpPr>
          <p:nvPr>
            <p:ph idx="1"/>
          </p:nvPr>
        </p:nvSpPr>
        <p:spPr/>
        <p:txBody>
          <a:bodyPr/>
          <a:lstStyle/>
          <a:p>
            <a:pPr marL="0" indent="0" eaLnBrk="1" hangingPunct="1">
              <a:buClr>
                <a:schemeClr val="accent1"/>
              </a:buClr>
              <a:buFont typeface="Wingdings" pitchFamily="2" charset="2"/>
              <a:buChar char="u"/>
            </a:pPr>
            <a:r>
              <a:rPr lang="zh-CN" altLang="en-US" dirty="0" smtClean="0"/>
              <a:t>可以向学习端口发送路由表，但跳数为</a:t>
            </a:r>
            <a:r>
              <a:rPr lang="en-US" altLang="zh-CN" dirty="0" smtClean="0"/>
              <a:t>16</a:t>
            </a:r>
          </a:p>
        </p:txBody>
      </p:sp>
      <p:graphicFrame>
        <p:nvGraphicFramePr>
          <p:cNvPr id="26696" name="Group 72"/>
          <p:cNvGraphicFramePr>
            <a:graphicFrameLocks noGrp="1"/>
          </p:cNvGraphicFramePr>
          <p:nvPr>
            <p:extLst>
              <p:ext uri="{D42A27DB-BD31-4B8C-83A1-F6EECF244321}">
                <p14:modId xmlns:p14="http://schemas.microsoft.com/office/powerpoint/2010/main" val="3439223262"/>
              </p:ext>
            </p:extLst>
          </p:nvPr>
        </p:nvGraphicFramePr>
        <p:xfrm>
          <a:off x="2057231" y="5368627"/>
          <a:ext cx="5400675" cy="1036120"/>
        </p:xfrm>
        <a:graphic>
          <a:graphicData uri="http://schemas.openxmlformats.org/drawingml/2006/table">
            <a:tbl>
              <a:tblPr/>
              <a:tblGrid>
                <a:gridCol w="2700337"/>
                <a:gridCol w="1404938"/>
                <a:gridCol w="1295400"/>
              </a:tblGrid>
              <a:tr h="450451">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目的地址</a:t>
                      </a:r>
                    </a:p>
                  </a:txBody>
                  <a:tcPr marT="45670" marB="456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下一跳</a:t>
                      </a:r>
                    </a:p>
                  </a:txBody>
                  <a:tcPr marT="45670" marB="456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zh-CN" altLang="en-US" sz="2800" b="1" i="0" u="none" strike="noStrike" cap="none" normalizeH="0" baseline="0" smtClean="0">
                          <a:ln>
                            <a:noFill/>
                          </a:ln>
                          <a:solidFill>
                            <a:schemeClr val="tx1"/>
                          </a:solidFill>
                          <a:effectLst/>
                          <a:latin typeface="Arial" charset="0"/>
                          <a:ea typeface="宋体" pitchFamily="2" charset="-122"/>
                        </a:rPr>
                        <a:t>跳数</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072">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smtClean="0">
                          <a:ln>
                            <a:noFill/>
                          </a:ln>
                          <a:solidFill>
                            <a:schemeClr val="tx1"/>
                          </a:solidFill>
                          <a:effectLst/>
                          <a:latin typeface="Arial" charset="0"/>
                          <a:ea typeface="宋体" pitchFamily="2" charset="-122"/>
                        </a:rPr>
                        <a:t>3.0.0.0</a:t>
                      </a:r>
                      <a:endParaRPr kumimoji="0" lang="en-US" altLang="zh-CN" sz="3600" b="1" i="0" u="none" strike="noStrike" cap="none" normalizeH="0" baseline="0" smtClean="0">
                        <a:ln>
                          <a:noFill/>
                        </a:ln>
                        <a:solidFill>
                          <a:schemeClr val="tx1"/>
                        </a:solidFill>
                        <a:effectLst/>
                        <a:latin typeface="Arial" charset="0"/>
                        <a:ea typeface="宋体" pitchFamily="2" charset="-122"/>
                      </a:endParaRPr>
                    </a:p>
                  </a:txBody>
                  <a:tcPr marT="45670" marB="456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smtClean="0">
                          <a:ln>
                            <a:noFill/>
                          </a:ln>
                          <a:solidFill>
                            <a:schemeClr val="tx1"/>
                          </a:solidFill>
                          <a:effectLst/>
                          <a:latin typeface="Arial" charset="0"/>
                          <a:ea typeface="宋体" pitchFamily="2" charset="-122"/>
                        </a:rPr>
                        <a:t>C</a:t>
                      </a:r>
                    </a:p>
                  </a:txBody>
                  <a:tcPr marT="45670" marB="456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bg2"/>
                        </a:buClr>
                        <a:buSzPct val="90000"/>
                        <a:buFont typeface="Wingdings" pitchFamily="2" charset="2"/>
                        <a:defRPr sz="2800" b="1">
                          <a:solidFill>
                            <a:schemeClr val="tx1"/>
                          </a:solidFill>
                          <a:latin typeface="Arial" charset="0"/>
                          <a:ea typeface="宋体" pitchFamily="2" charset="-122"/>
                        </a:defRPr>
                      </a:lvl1pPr>
                      <a:lvl2pPr marL="742950" indent="-285750" algn="l" eaLnBrk="0" hangingPunct="0">
                        <a:spcBef>
                          <a:spcPct val="20000"/>
                        </a:spcBef>
                        <a:buClr>
                          <a:schemeClr val="bg2"/>
                        </a:buClr>
                        <a:buSzPct val="80000"/>
                        <a:buFont typeface="Wingdings" pitchFamily="2" charset="2"/>
                        <a:defRPr sz="2800" b="1">
                          <a:solidFill>
                            <a:schemeClr val="tx1"/>
                          </a:solidFill>
                          <a:latin typeface="Arial" charset="0"/>
                          <a:ea typeface="宋体" pitchFamily="2" charset="-122"/>
                        </a:defRPr>
                      </a:lvl2pPr>
                      <a:lvl3pPr marL="1143000" indent="-228600" algn="l" eaLnBrk="0" hangingPunct="0">
                        <a:spcBef>
                          <a:spcPct val="20000"/>
                        </a:spcBef>
                        <a:buClr>
                          <a:schemeClr val="bg2"/>
                        </a:buClr>
                        <a:buSzPct val="80000"/>
                        <a:buFont typeface="Wingdings" pitchFamily="2" charset="2"/>
                        <a:defRPr sz="2400" b="1">
                          <a:solidFill>
                            <a:schemeClr val="tx1"/>
                          </a:solidFill>
                          <a:latin typeface="Arial" charset="0"/>
                          <a:ea typeface="宋体" pitchFamily="2" charset="-122"/>
                        </a:defRPr>
                      </a:lvl3pPr>
                      <a:lvl4pPr marL="1600200" indent="-228600" algn="l" eaLnBrk="0" hangingPunct="0">
                        <a:spcBef>
                          <a:spcPct val="20000"/>
                        </a:spcBef>
                        <a:buSzPct val="80000"/>
                        <a:defRPr sz="2000" b="1">
                          <a:solidFill>
                            <a:schemeClr val="tx1"/>
                          </a:solidFill>
                          <a:latin typeface="Arial" charset="0"/>
                          <a:ea typeface="宋体" pitchFamily="2" charset="-122"/>
                        </a:defRPr>
                      </a:lvl4pPr>
                      <a:lvl5pPr marL="2057400" indent="-228600" algn="l" eaLnBrk="0" hangingPunct="0">
                        <a:spcBef>
                          <a:spcPct val="20000"/>
                        </a:spcBef>
                        <a:buSzPct val="80000"/>
                        <a:defRPr b="1">
                          <a:solidFill>
                            <a:schemeClr val="tx1"/>
                          </a:solidFill>
                          <a:latin typeface="Arial" charset="0"/>
                          <a:ea typeface="宋体" pitchFamily="2" charset="-122"/>
                        </a:defRPr>
                      </a:lvl5pPr>
                      <a:lvl6pPr marL="2514600" indent="-228600" eaLnBrk="0" fontAlgn="base" hangingPunct="0">
                        <a:spcBef>
                          <a:spcPct val="20000"/>
                        </a:spcBef>
                        <a:spcAft>
                          <a:spcPct val="0"/>
                        </a:spcAft>
                        <a:buSzPct val="80000"/>
                        <a:defRPr b="1">
                          <a:solidFill>
                            <a:schemeClr val="tx1"/>
                          </a:solidFill>
                          <a:latin typeface="Arial" charset="0"/>
                          <a:ea typeface="宋体" pitchFamily="2" charset="-122"/>
                        </a:defRPr>
                      </a:lvl6pPr>
                      <a:lvl7pPr marL="2971800" indent="-228600" eaLnBrk="0" fontAlgn="base" hangingPunct="0">
                        <a:spcBef>
                          <a:spcPct val="20000"/>
                        </a:spcBef>
                        <a:spcAft>
                          <a:spcPct val="0"/>
                        </a:spcAft>
                        <a:buSzPct val="80000"/>
                        <a:defRPr b="1">
                          <a:solidFill>
                            <a:schemeClr val="tx1"/>
                          </a:solidFill>
                          <a:latin typeface="Arial" charset="0"/>
                          <a:ea typeface="宋体" pitchFamily="2" charset="-122"/>
                        </a:defRPr>
                      </a:lvl7pPr>
                      <a:lvl8pPr marL="3429000" indent="-228600" eaLnBrk="0" fontAlgn="base" hangingPunct="0">
                        <a:spcBef>
                          <a:spcPct val="20000"/>
                        </a:spcBef>
                        <a:spcAft>
                          <a:spcPct val="0"/>
                        </a:spcAft>
                        <a:buSzPct val="80000"/>
                        <a:defRPr b="1">
                          <a:solidFill>
                            <a:schemeClr val="tx1"/>
                          </a:solidFill>
                          <a:latin typeface="Arial" charset="0"/>
                          <a:ea typeface="宋体" pitchFamily="2" charset="-122"/>
                        </a:defRPr>
                      </a:lvl8pPr>
                      <a:lvl9pPr marL="3886200" indent="-228600" eaLnBrk="0" fontAlgn="base" hangingPunct="0">
                        <a:spcBef>
                          <a:spcPct val="20000"/>
                        </a:spcBef>
                        <a:spcAft>
                          <a:spcPct val="0"/>
                        </a:spcAft>
                        <a:buSzPct val="80000"/>
                        <a:defRPr b="1">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90000"/>
                        <a:buFont typeface="Wingdings" pitchFamily="2" charset="2"/>
                        <a:buNone/>
                        <a:tabLst/>
                      </a:pPr>
                      <a:r>
                        <a:rPr kumimoji="0" lang="en-US" altLang="zh-CN" sz="2800" b="1" i="0" u="none" strike="noStrike" cap="none" normalizeH="0" baseline="0" dirty="0" smtClean="0">
                          <a:ln>
                            <a:noFill/>
                          </a:ln>
                          <a:solidFill>
                            <a:schemeClr val="tx1"/>
                          </a:solidFill>
                          <a:effectLst/>
                          <a:latin typeface="Arial" charset="0"/>
                          <a:ea typeface="宋体" pitchFamily="2" charset="-122"/>
                        </a:rPr>
                        <a:t>16</a:t>
                      </a:r>
                    </a:p>
                  </a:txBody>
                  <a:tcPr marT="45670" marB="4567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39954" name="Group 71"/>
          <p:cNvGrpSpPr>
            <a:grpSpLocks/>
          </p:cNvGrpSpPr>
          <p:nvPr/>
        </p:nvGrpSpPr>
        <p:grpSpPr bwMode="auto">
          <a:xfrm>
            <a:off x="717825" y="2440395"/>
            <a:ext cx="7839006" cy="2268651"/>
            <a:chOff x="385" y="1404"/>
            <a:chExt cx="5217" cy="1935"/>
          </a:xfrm>
        </p:grpSpPr>
        <p:pic>
          <p:nvPicPr>
            <p:cNvPr id="39956" name="Picture 49"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6" y="1677"/>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7" name="Picture 50"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1" y="2675"/>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8" name="Picture 51"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8" y="2701"/>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9" name="Picture 52" descr="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2" y="1677"/>
              <a:ext cx="771"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60" name="Line 53"/>
            <p:cNvSpPr>
              <a:spLocks noChangeShapeType="1"/>
            </p:cNvSpPr>
            <p:nvPr/>
          </p:nvSpPr>
          <p:spPr bwMode="auto">
            <a:xfrm>
              <a:off x="1202" y="1631"/>
              <a:ext cx="841" cy="178"/>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1" name="Line 55"/>
            <p:cNvSpPr>
              <a:spLocks noChangeShapeType="1"/>
            </p:cNvSpPr>
            <p:nvPr/>
          </p:nvSpPr>
          <p:spPr bwMode="auto">
            <a:xfrm flipH="1" flipV="1">
              <a:off x="4196" y="2903"/>
              <a:ext cx="454"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2" name="Line 56"/>
            <p:cNvSpPr>
              <a:spLocks noChangeShapeType="1"/>
            </p:cNvSpPr>
            <p:nvPr/>
          </p:nvSpPr>
          <p:spPr bwMode="auto">
            <a:xfrm flipV="1">
              <a:off x="2767" y="1858"/>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3" name="Line 57"/>
            <p:cNvSpPr>
              <a:spLocks noChangeShapeType="1"/>
            </p:cNvSpPr>
            <p:nvPr/>
          </p:nvSpPr>
          <p:spPr bwMode="auto">
            <a:xfrm flipV="1">
              <a:off x="2813" y="2892"/>
              <a:ext cx="68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4" name="Line 58"/>
            <p:cNvSpPr>
              <a:spLocks noChangeShapeType="1"/>
            </p:cNvSpPr>
            <p:nvPr/>
          </p:nvSpPr>
          <p:spPr bwMode="auto">
            <a:xfrm>
              <a:off x="2359" y="2040"/>
              <a:ext cx="0" cy="635"/>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5" name="Line 59"/>
            <p:cNvSpPr>
              <a:spLocks noChangeShapeType="1"/>
            </p:cNvSpPr>
            <p:nvPr/>
          </p:nvSpPr>
          <p:spPr bwMode="auto">
            <a:xfrm>
              <a:off x="3810" y="2040"/>
              <a:ext cx="0" cy="68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6" name="Rectangle 60"/>
            <p:cNvSpPr>
              <a:spLocks noChangeArrowheads="1"/>
            </p:cNvSpPr>
            <p:nvPr/>
          </p:nvSpPr>
          <p:spPr bwMode="auto">
            <a:xfrm>
              <a:off x="385" y="1404"/>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dirty="0">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dirty="0">
                  <a:latin typeface="Arial" charset="0"/>
                  <a:ea typeface="宋体" pitchFamily="2" charset="-122"/>
                </a:rPr>
                <a:t>1.0.0.0/24</a:t>
              </a:r>
            </a:p>
          </p:txBody>
        </p:sp>
        <p:sp>
          <p:nvSpPr>
            <p:cNvPr id="39967" name="Rectangle 61"/>
            <p:cNvSpPr>
              <a:spLocks noChangeArrowheads="1"/>
            </p:cNvSpPr>
            <p:nvPr/>
          </p:nvSpPr>
          <p:spPr bwMode="auto">
            <a:xfrm>
              <a:off x="4649" y="2655"/>
              <a:ext cx="9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dirty="0">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dirty="0">
                  <a:latin typeface="Arial" charset="0"/>
                  <a:ea typeface="宋体" pitchFamily="2" charset="-122"/>
                </a:rPr>
                <a:t>4.0.0.0/24</a:t>
              </a:r>
            </a:p>
          </p:txBody>
        </p:sp>
        <p:sp>
          <p:nvSpPr>
            <p:cNvPr id="39968" name="Rectangle 62"/>
            <p:cNvSpPr>
              <a:spLocks noChangeArrowheads="1"/>
            </p:cNvSpPr>
            <p:nvPr/>
          </p:nvSpPr>
          <p:spPr bwMode="auto">
            <a:xfrm>
              <a:off x="2336" y="2039"/>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A</a:t>
              </a:r>
            </a:p>
          </p:txBody>
        </p:sp>
        <p:sp>
          <p:nvSpPr>
            <p:cNvPr id="39969" name="Rectangle 63"/>
            <p:cNvSpPr>
              <a:spLocks noChangeArrowheads="1"/>
            </p:cNvSpPr>
            <p:nvPr/>
          </p:nvSpPr>
          <p:spPr bwMode="auto">
            <a:xfrm>
              <a:off x="3833" y="1994"/>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B</a:t>
              </a:r>
            </a:p>
          </p:txBody>
        </p:sp>
        <p:sp>
          <p:nvSpPr>
            <p:cNvPr id="39970" name="Rectangle 64"/>
            <p:cNvSpPr>
              <a:spLocks noChangeArrowheads="1"/>
            </p:cNvSpPr>
            <p:nvPr/>
          </p:nvSpPr>
          <p:spPr bwMode="auto">
            <a:xfrm>
              <a:off x="2246" y="3037"/>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C</a:t>
              </a:r>
            </a:p>
          </p:txBody>
        </p:sp>
        <p:sp>
          <p:nvSpPr>
            <p:cNvPr id="39971" name="Rectangle 65"/>
            <p:cNvSpPr>
              <a:spLocks noChangeArrowheads="1"/>
            </p:cNvSpPr>
            <p:nvPr/>
          </p:nvSpPr>
          <p:spPr bwMode="auto">
            <a:xfrm>
              <a:off x="3697" y="3051"/>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42925" indent="-542925" algn="l">
                <a:spcBef>
                  <a:spcPct val="20000"/>
                </a:spcBef>
                <a:buClr>
                  <a:schemeClr val="bg2"/>
                </a:buClr>
                <a:buSzPct val="90000"/>
                <a:buFont typeface="Wingdings" pitchFamily="2" charset="2"/>
                <a:buNone/>
              </a:pPr>
              <a:r>
                <a:rPr lang="en-US" altLang="zh-CN">
                  <a:latin typeface="Arial" charset="0"/>
                  <a:ea typeface="宋体" pitchFamily="2" charset="-122"/>
                </a:rPr>
                <a:t>D</a:t>
              </a:r>
            </a:p>
          </p:txBody>
        </p:sp>
        <p:sp>
          <p:nvSpPr>
            <p:cNvPr id="39972" name="Rectangle 66"/>
            <p:cNvSpPr>
              <a:spLocks noChangeArrowheads="1"/>
            </p:cNvSpPr>
            <p:nvPr/>
          </p:nvSpPr>
          <p:spPr bwMode="auto">
            <a:xfrm>
              <a:off x="386" y="2629"/>
              <a:ext cx="9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20000"/>
                </a:spcBef>
                <a:buClr>
                  <a:schemeClr val="bg2"/>
                </a:buClr>
                <a:buSzPct val="90000"/>
                <a:buFont typeface="Wingdings" pitchFamily="2" charset="2"/>
                <a:buNone/>
              </a:pPr>
              <a:r>
                <a:rPr lang="zh-CN" altLang="en-US">
                  <a:latin typeface="Arial" charset="0"/>
                  <a:ea typeface="宋体" pitchFamily="2" charset="-122"/>
                </a:rPr>
                <a:t>子网：</a:t>
              </a:r>
            </a:p>
            <a:p>
              <a:pPr algn="l">
                <a:spcBef>
                  <a:spcPct val="20000"/>
                </a:spcBef>
                <a:buClr>
                  <a:schemeClr val="bg2"/>
                </a:buClr>
                <a:buSzPct val="90000"/>
                <a:buFont typeface="Wingdings" pitchFamily="2" charset="2"/>
                <a:buNone/>
              </a:pPr>
              <a:r>
                <a:rPr lang="en-US" altLang="zh-CN" sz="2000">
                  <a:latin typeface="Arial" charset="0"/>
                  <a:ea typeface="宋体" pitchFamily="2" charset="-122"/>
                </a:rPr>
                <a:t>3.0.0.0/24</a:t>
              </a:r>
            </a:p>
          </p:txBody>
        </p:sp>
        <p:sp>
          <p:nvSpPr>
            <p:cNvPr id="39973" name="Line 67"/>
            <p:cNvSpPr>
              <a:spLocks noChangeShapeType="1"/>
            </p:cNvSpPr>
            <p:nvPr/>
          </p:nvSpPr>
          <p:spPr bwMode="auto">
            <a:xfrm flipV="1">
              <a:off x="1293" y="2886"/>
              <a:ext cx="771" cy="0"/>
            </a:xfrm>
            <a:prstGeom prst="line">
              <a:avLst/>
            </a:prstGeom>
            <a:noFill/>
            <a:ln w="38100">
              <a:solidFill>
                <a:srgbClr val="E7B705"/>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97" name="AutoShape 73"/>
          <p:cNvSpPr>
            <a:spLocks noChangeArrowheads="1"/>
          </p:cNvSpPr>
          <p:nvPr/>
        </p:nvSpPr>
        <p:spPr bwMode="auto">
          <a:xfrm rot="2688105">
            <a:off x="2124075" y="4249738"/>
            <a:ext cx="647700" cy="647700"/>
          </a:xfrm>
          <a:prstGeom prst="star4">
            <a:avLst>
              <a:gd name="adj" fmla="val 12500"/>
            </a:avLst>
          </a:prstGeom>
          <a:solidFill>
            <a:srgbClr val="FF0000"/>
          </a:solidFill>
          <a:ln w="3175">
            <a:solidFill>
              <a:schemeClr val="tx1"/>
            </a:solid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39109778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26696"/>
                                        </p:tgtEl>
                                        <p:attrNameLst>
                                          <p:attrName>style.visibility</p:attrName>
                                        </p:attrNameLst>
                                      </p:cBhvr>
                                      <p:to>
                                        <p:strVal val="visible"/>
                                      </p:to>
                                    </p:set>
                                    <p:animEffect transition="in" filter="blinds(horizontal)">
                                      <p:cBhvr>
                                        <p:cTn id="11" dur="500"/>
                                        <p:tgtEl>
                                          <p:spTgt spid="26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9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4"/>
          <p:cNvGrpSpPr>
            <a:grpSpLocks/>
          </p:cNvGrpSpPr>
          <p:nvPr/>
        </p:nvGrpSpPr>
        <p:grpSpPr bwMode="auto">
          <a:xfrm>
            <a:off x="436994" y="1717977"/>
            <a:ext cx="8153400" cy="3921125"/>
            <a:chOff x="288" y="1370"/>
            <a:chExt cx="5136" cy="2470"/>
          </a:xfrm>
        </p:grpSpPr>
        <p:sp>
          <p:nvSpPr>
            <p:cNvPr id="43013" name="Line 5"/>
            <p:cNvSpPr>
              <a:spLocks noChangeShapeType="1"/>
            </p:cNvSpPr>
            <p:nvPr/>
          </p:nvSpPr>
          <p:spPr bwMode="auto">
            <a:xfrm flipV="1">
              <a:off x="1754" y="1540"/>
              <a:ext cx="979" cy="6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4" name="Line 6"/>
            <p:cNvSpPr>
              <a:spLocks noChangeShapeType="1"/>
            </p:cNvSpPr>
            <p:nvPr/>
          </p:nvSpPr>
          <p:spPr bwMode="auto">
            <a:xfrm>
              <a:off x="3027" y="1540"/>
              <a:ext cx="1076" cy="6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5" name="Line 7"/>
            <p:cNvSpPr>
              <a:spLocks noChangeShapeType="1"/>
            </p:cNvSpPr>
            <p:nvPr/>
          </p:nvSpPr>
          <p:spPr bwMode="auto">
            <a:xfrm flipH="1">
              <a:off x="1461" y="2392"/>
              <a:ext cx="293" cy="42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6" name="Line 8"/>
            <p:cNvSpPr>
              <a:spLocks noChangeShapeType="1"/>
            </p:cNvSpPr>
            <p:nvPr/>
          </p:nvSpPr>
          <p:spPr bwMode="auto">
            <a:xfrm>
              <a:off x="1852" y="2307"/>
              <a:ext cx="490" cy="5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7" name="Line 9"/>
            <p:cNvSpPr>
              <a:spLocks noChangeShapeType="1"/>
            </p:cNvSpPr>
            <p:nvPr/>
          </p:nvSpPr>
          <p:spPr bwMode="auto">
            <a:xfrm flipH="1">
              <a:off x="3516" y="2307"/>
              <a:ext cx="587" cy="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8" name="Line 10"/>
            <p:cNvSpPr>
              <a:spLocks noChangeShapeType="1"/>
            </p:cNvSpPr>
            <p:nvPr/>
          </p:nvSpPr>
          <p:spPr bwMode="auto">
            <a:xfrm>
              <a:off x="4299" y="2222"/>
              <a:ext cx="294" cy="6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9" name="Text Box 11"/>
            <p:cNvSpPr txBox="1">
              <a:spLocks noChangeArrowheads="1"/>
            </p:cNvSpPr>
            <p:nvPr/>
          </p:nvSpPr>
          <p:spPr bwMode="auto">
            <a:xfrm>
              <a:off x="288" y="2137"/>
              <a:ext cx="131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Loop1:192.168.1.1/24</a:t>
              </a:r>
            </a:p>
          </p:txBody>
        </p:sp>
        <p:sp>
          <p:nvSpPr>
            <p:cNvPr id="43020" name="Text Box 12"/>
            <p:cNvSpPr txBox="1">
              <a:spLocks noChangeArrowheads="1"/>
            </p:cNvSpPr>
            <p:nvPr/>
          </p:nvSpPr>
          <p:spPr bwMode="auto">
            <a:xfrm>
              <a:off x="4464" y="2137"/>
              <a:ext cx="270"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S2</a:t>
              </a:r>
            </a:p>
          </p:txBody>
        </p:sp>
        <p:sp>
          <p:nvSpPr>
            <p:cNvPr id="43021" name="Text Box 13"/>
            <p:cNvSpPr txBox="1">
              <a:spLocks noChangeArrowheads="1"/>
            </p:cNvSpPr>
            <p:nvPr/>
          </p:nvSpPr>
          <p:spPr bwMode="auto">
            <a:xfrm>
              <a:off x="2733" y="1626"/>
              <a:ext cx="39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R1</a:t>
              </a:r>
            </a:p>
          </p:txBody>
        </p:sp>
        <p:sp>
          <p:nvSpPr>
            <p:cNvPr id="43022" name="Text Box 14"/>
            <p:cNvSpPr txBox="1">
              <a:spLocks noChangeArrowheads="1"/>
            </p:cNvSpPr>
            <p:nvPr/>
          </p:nvSpPr>
          <p:spPr bwMode="auto">
            <a:xfrm>
              <a:off x="3712" y="1891"/>
              <a:ext cx="48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E0/13</a:t>
              </a:r>
            </a:p>
          </p:txBody>
        </p:sp>
        <p:sp>
          <p:nvSpPr>
            <p:cNvPr id="43023" name="Text Box 15"/>
            <p:cNvSpPr txBox="1">
              <a:spLocks noChangeArrowheads="1"/>
            </p:cNvSpPr>
            <p:nvPr/>
          </p:nvSpPr>
          <p:spPr bwMode="auto">
            <a:xfrm>
              <a:off x="3614" y="2392"/>
              <a:ext cx="48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E0/1</a:t>
              </a:r>
            </a:p>
          </p:txBody>
        </p:sp>
        <p:sp>
          <p:nvSpPr>
            <p:cNvPr id="43024" name="Text Box 16"/>
            <p:cNvSpPr txBox="1">
              <a:spLocks noChangeArrowheads="1"/>
            </p:cNvSpPr>
            <p:nvPr/>
          </p:nvSpPr>
          <p:spPr bwMode="auto">
            <a:xfrm>
              <a:off x="4397" y="2392"/>
              <a:ext cx="39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E0/2</a:t>
              </a:r>
            </a:p>
          </p:txBody>
        </p:sp>
        <p:sp>
          <p:nvSpPr>
            <p:cNvPr id="43025" name="Text Box 17"/>
            <p:cNvSpPr txBox="1">
              <a:spLocks noChangeArrowheads="1"/>
            </p:cNvSpPr>
            <p:nvPr/>
          </p:nvSpPr>
          <p:spPr bwMode="auto">
            <a:xfrm>
              <a:off x="1461" y="2392"/>
              <a:ext cx="48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E0/1</a:t>
              </a:r>
            </a:p>
          </p:txBody>
        </p:sp>
        <p:sp>
          <p:nvSpPr>
            <p:cNvPr id="43026" name="Text Box 18"/>
            <p:cNvSpPr txBox="1">
              <a:spLocks noChangeArrowheads="1"/>
            </p:cNvSpPr>
            <p:nvPr/>
          </p:nvSpPr>
          <p:spPr bwMode="auto">
            <a:xfrm>
              <a:off x="1950" y="2392"/>
              <a:ext cx="48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E0/2</a:t>
              </a:r>
            </a:p>
          </p:txBody>
        </p:sp>
        <p:sp>
          <p:nvSpPr>
            <p:cNvPr id="43027" name="Text Box 19"/>
            <p:cNvSpPr txBox="1">
              <a:spLocks noChangeArrowheads="1"/>
            </p:cNvSpPr>
            <p:nvPr/>
          </p:nvSpPr>
          <p:spPr bwMode="auto">
            <a:xfrm>
              <a:off x="1656" y="1881"/>
              <a:ext cx="49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E0/13</a:t>
              </a:r>
            </a:p>
          </p:txBody>
        </p:sp>
        <p:sp>
          <p:nvSpPr>
            <p:cNvPr id="43028" name="Text Box 20"/>
            <p:cNvSpPr txBox="1">
              <a:spLocks noChangeArrowheads="1"/>
            </p:cNvSpPr>
            <p:nvPr/>
          </p:nvSpPr>
          <p:spPr bwMode="auto">
            <a:xfrm>
              <a:off x="3125" y="1540"/>
              <a:ext cx="117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E1:192.168.3.1/24</a:t>
              </a:r>
            </a:p>
          </p:txBody>
        </p:sp>
        <p:sp>
          <p:nvSpPr>
            <p:cNvPr id="43029" name="Text Box 21"/>
            <p:cNvSpPr txBox="1">
              <a:spLocks noChangeArrowheads="1"/>
            </p:cNvSpPr>
            <p:nvPr/>
          </p:nvSpPr>
          <p:spPr bwMode="auto">
            <a:xfrm>
              <a:off x="1656" y="1540"/>
              <a:ext cx="117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E0:192.168.2.2/24</a:t>
              </a:r>
            </a:p>
          </p:txBody>
        </p:sp>
        <p:sp>
          <p:nvSpPr>
            <p:cNvPr id="43030" name="Text Box 22"/>
            <p:cNvSpPr txBox="1">
              <a:spLocks noChangeArrowheads="1"/>
            </p:cNvSpPr>
            <p:nvPr/>
          </p:nvSpPr>
          <p:spPr bwMode="auto">
            <a:xfrm>
              <a:off x="2146" y="1966"/>
              <a:ext cx="131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Vlan1:192.168.2.1/24</a:t>
              </a:r>
            </a:p>
          </p:txBody>
        </p:sp>
        <p:sp>
          <p:nvSpPr>
            <p:cNvPr id="43031" name="Text Box 23"/>
            <p:cNvSpPr txBox="1">
              <a:spLocks noChangeArrowheads="1"/>
            </p:cNvSpPr>
            <p:nvPr/>
          </p:nvSpPr>
          <p:spPr bwMode="auto">
            <a:xfrm>
              <a:off x="4103" y="1881"/>
              <a:ext cx="1273"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Vlan1:192.168.3.2/24</a:t>
              </a:r>
            </a:p>
          </p:txBody>
        </p:sp>
        <p:pic>
          <p:nvPicPr>
            <p:cNvPr id="43032" name="Picture 24" descr="显示屏-2"/>
            <p:cNvPicPr preferRelativeResize="0">
              <a:picLocks noChangeAspect="1" noChangeArrowheads="1"/>
            </p:cNvPicPr>
            <p:nvPr/>
          </p:nvPicPr>
          <p:blipFill>
            <a:blip r:embed="rId2"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1265" y="2733"/>
              <a:ext cx="382"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3" name="Picture 25" descr="显示屏-2"/>
            <p:cNvPicPr preferRelativeResize="0">
              <a:picLocks noChangeAspect="1" noChangeArrowheads="1"/>
            </p:cNvPicPr>
            <p:nvPr/>
          </p:nvPicPr>
          <p:blipFill>
            <a:blip r:embed="rId3"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2244" y="2733"/>
              <a:ext cx="381"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4" name="Picture 26" descr="显示屏-2"/>
            <p:cNvPicPr preferRelativeResize="0">
              <a:picLocks noChangeAspect="1" noChangeArrowheads="1"/>
            </p:cNvPicPr>
            <p:nvPr/>
          </p:nvPicPr>
          <p:blipFill>
            <a:blip r:embed="rId2"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4397" y="2818"/>
              <a:ext cx="382"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35" name="Group 27"/>
            <p:cNvGrpSpPr>
              <a:grpSpLocks/>
            </p:cNvGrpSpPr>
            <p:nvPr/>
          </p:nvGrpSpPr>
          <p:grpSpPr bwMode="auto">
            <a:xfrm>
              <a:off x="3908" y="2137"/>
              <a:ext cx="584" cy="271"/>
              <a:chOff x="820" y="1552"/>
              <a:chExt cx="671" cy="422"/>
            </a:xfrm>
          </p:grpSpPr>
          <p:sp>
            <p:nvSpPr>
              <p:cNvPr id="43062" name="Freeform 28"/>
              <p:cNvSpPr>
                <a:spLocks/>
              </p:cNvSpPr>
              <p:nvPr/>
            </p:nvSpPr>
            <p:spPr bwMode="auto">
              <a:xfrm>
                <a:off x="820" y="1552"/>
                <a:ext cx="671" cy="422"/>
              </a:xfrm>
              <a:custGeom>
                <a:avLst/>
                <a:gdLst>
                  <a:gd name="T0" fmla="*/ 495 w 671"/>
                  <a:gd name="T1" fmla="*/ 422 h 422"/>
                  <a:gd name="T2" fmla="*/ 671 w 671"/>
                  <a:gd name="T3" fmla="*/ 247 h 422"/>
                  <a:gd name="T4" fmla="*/ 671 w 671"/>
                  <a:gd name="T5" fmla="*/ 0 h 422"/>
                  <a:gd name="T6" fmla="*/ 175 w 671"/>
                  <a:gd name="T7" fmla="*/ 0 h 422"/>
                  <a:gd name="T8" fmla="*/ 0 w 671"/>
                  <a:gd name="T9" fmla="*/ 175 h 422"/>
                  <a:gd name="T10" fmla="*/ 0 w 671"/>
                  <a:gd name="T11" fmla="*/ 422 h 422"/>
                  <a:gd name="T12" fmla="*/ 495 w 671"/>
                  <a:gd name="T13" fmla="*/ 422 h 422"/>
                  <a:gd name="T14" fmla="*/ 0 60000 65536"/>
                  <a:gd name="T15" fmla="*/ 0 60000 65536"/>
                  <a:gd name="T16" fmla="*/ 0 60000 65536"/>
                  <a:gd name="T17" fmla="*/ 0 60000 65536"/>
                  <a:gd name="T18" fmla="*/ 0 60000 65536"/>
                  <a:gd name="T19" fmla="*/ 0 60000 65536"/>
                  <a:gd name="T20" fmla="*/ 0 60000 65536"/>
                  <a:gd name="T21" fmla="*/ 0 w 671"/>
                  <a:gd name="T22" fmla="*/ 0 h 422"/>
                  <a:gd name="T23" fmla="*/ 671 w 671"/>
                  <a:gd name="T24" fmla="*/ 422 h 4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1" h="422">
                    <a:moveTo>
                      <a:pt x="495" y="422"/>
                    </a:moveTo>
                    <a:lnTo>
                      <a:pt x="671" y="247"/>
                    </a:lnTo>
                    <a:lnTo>
                      <a:pt x="671" y="0"/>
                    </a:lnTo>
                    <a:lnTo>
                      <a:pt x="175" y="0"/>
                    </a:lnTo>
                    <a:lnTo>
                      <a:pt x="0" y="175"/>
                    </a:lnTo>
                    <a:lnTo>
                      <a:pt x="0" y="422"/>
                    </a:lnTo>
                    <a:lnTo>
                      <a:pt x="495" y="422"/>
                    </a:lnTo>
                    <a:close/>
                  </a:path>
                </a:pathLst>
              </a:custGeom>
              <a:solidFill>
                <a:srgbClr val="6D619E"/>
              </a:solidFill>
              <a:ln w="9525">
                <a:solidFill>
                  <a:srgbClr val="23CBFF"/>
                </a:solidFill>
                <a:round/>
                <a:headEnd/>
                <a:tailEnd/>
              </a:ln>
            </p:spPr>
            <p:txBody>
              <a:bodyPr/>
              <a:lstStyle/>
              <a:p>
                <a:endParaRPr lang="zh-CN" altLang="en-US"/>
              </a:p>
            </p:txBody>
          </p:sp>
          <p:sp>
            <p:nvSpPr>
              <p:cNvPr id="43063" name="Rectangle 29"/>
              <p:cNvSpPr>
                <a:spLocks noChangeArrowheads="1"/>
              </p:cNvSpPr>
              <p:nvPr/>
            </p:nvSpPr>
            <p:spPr bwMode="auto">
              <a:xfrm>
                <a:off x="820" y="1727"/>
                <a:ext cx="495" cy="247"/>
              </a:xfrm>
              <a:prstGeom prst="rect">
                <a:avLst/>
              </a:prstGeom>
              <a:solidFill>
                <a:srgbClr val="8E85B7"/>
              </a:solidFill>
              <a:ln w="9525">
                <a:solidFill>
                  <a:srgbClr val="23CBFF"/>
                </a:solidFill>
                <a:miter lim="800000"/>
                <a:headEnd/>
                <a:tailEnd/>
              </a:ln>
            </p:spPr>
            <p:txBody>
              <a:bodyPr/>
              <a:lstStyle/>
              <a:p>
                <a:endParaRPr lang="zh-CN" altLang="en-US"/>
              </a:p>
            </p:txBody>
          </p:sp>
          <p:sp>
            <p:nvSpPr>
              <p:cNvPr id="43064" name="Freeform 30"/>
              <p:cNvSpPr>
                <a:spLocks/>
              </p:cNvSpPr>
              <p:nvPr/>
            </p:nvSpPr>
            <p:spPr bwMode="auto">
              <a:xfrm>
                <a:off x="820" y="1552"/>
                <a:ext cx="671" cy="175"/>
              </a:xfrm>
              <a:custGeom>
                <a:avLst/>
                <a:gdLst>
                  <a:gd name="T0" fmla="*/ 0 w 671"/>
                  <a:gd name="T1" fmla="*/ 175 h 175"/>
                  <a:gd name="T2" fmla="*/ 495 w 671"/>
                  <a:gd name="T3" fmla="*/ 175 h 175"/>
                  <a:gd name="T4" fmla="*/ 671 w 671"/>
                  <a:gd name="T5" fmla="*/ 0 h 175"/>
                  <a:gd name="T6" fmla="*/ 175 w 671"/>
                  <a:gd name="T7" fmla="*/ 0 h 175"/>
                  <a:gd name="T8" fmla="*/ 0 w 671"/>
                  <a:gd name="T9" fmla="*/ 175 h 175"/>
                  <a:gd name="T10" fmla="*/ 0 60000 65536"/>
                  <a:gd name="T11" fmla="*/ 0 60000 65536"/>
                  <a:gd name="T12" fmla="*/ 0 60000 65536"/>
                  <a:gd name="T13" fmla="*/ 0 60000 65536"/>
                  <a:gd name="T14" fmla="*/ 0 60000 65536"/>
                  <a:gd name="T15" fmla="*/ 0 w 671"/>
                  <a:gd name="T16" fmla="*/ 0 h 175"/>
                  <a:gd name="T17" fmla="*/ 671 w 671"/>
                  <a:gd name="T18" fmla="*/ 175 h 175"/>
                </a:gdLst>
                <a:ahLst/>
                <a:cxnLst>
                  <a:cxn ang="T10">
                    <a:pos x="T0" y="T1"/>
                  </a:cxn>
                  <a:cxn ang="T11">
                    <a:pos x="T2" y="T3"/>
                  </a:cxn>
                  <a:cxn ang="T12">
                    <a:pos x="T4" y="T5"/>
                  </a:cxn>
                  <a:cxn ang="T13">
                    <a:pos x="T6" y="T7"/>
                  </a:cxn>
                  <a:cxn ang="T14">
                    <a:pos x="T8" y="T9"/>
                  </a:cxn>
                </a:cxnLst>
                <a:rect l="T15" t="T16" r="T17" b="T18"/>
                <a:pathLst>
                  <a:path w="671" h="175">
                    <a:moveTo>
                      <a:pt x="0" y="175"/>
                    </a:moveTo>
                    <a:lnTo>
                      <a:pt x="495" y="175"/>
                    </a:lnTo>
                    <a:lnTo>
                      <a:pt x="671" y="0"/>
                    </a:lnTo>
                    <a:lnTo>
                      <a:pt x="175" y="0"/>
                    </a:lnTo>
                    <a:lnTo>
                      <a:pt x="0" y="175"/>
                    </a:lnTo>
                    <a:close/>
                  </a:path>
                </a:pathLst>
              </a:custGeom>
              <a:solidFill>
                <a:srgbClr val="BBB4D6"/>
              </a:solidFill>
              <a:ln w="9525">
                <a:solidFill>
                  <a:srgbClr val="23CBFF"/>
                </a:solidFill>
                <a:round/>
                <a:headEnd/>
                <a:tailEnd/>
              </a:ln>
            </p:spPr>
            <p:txBody>
              <a:bodyPr/>
              <a:lstStyle/>
              <a:p>
                <a:endParaRPr lang="zh-CN" altLang="en-US"/>
              </a:p>
            </p:txBody>
          </p:sp>
          <p:sp>
            <p:nvSpPr>
              <p:cNvPr id="43065" name="Freeform 31"/>
              <p:cNvSpPr>
                <a:spLocks noEditPoints="1"/>
              </p:cNvSpPr>
              <p:nvPr/>
            </p:nvSpPr>
            <p:spPr bwMode="auto">
              <a:xfrm>
                <a:off x="1003" y="1584"/>
                <a:ext cx="291" cy="102"/>
              </a:xfrm>
              <a:custGeom>
                <a:avLst/>
                <a:gdLst>
                  <a:gd name="T0" fmla="*/ 146 w 291"/>
                  <a:gd name="T1" fmla="*/ 41 h 102"/>
                  <a:gd name="T2" fmla="*/ 115 w 291"/>
                  <a:gd name="T3" fmla="*/ 18 h 102"/>
                  <a:gd name="T4" fmla="*/ 203 w 291"/>
                  <a:gd name="T5" fmla="*/ 18 h 102"/>
                  <a:gd name="T6" fmla="*/ 146 w 291"/>
                  <a:gd name="T7" fmla="*/ 41 h 102"/>
                  <a:gd name="T8" fmla="*/ 144 w 291"/>
                  <a:gd name="T9" fmla="*/ 62 h 102"/>
                  <a:gd name="T10" fmla="*/ 174 w 291"/>
                  <a:gd name="T11" fmla="*/ 85 h 102"/>
                  <a:gd name="T12" fmla="*/ 86 w 291"/>
                  <a:gd name="T13" fmla="*/ 85 h 102"/>
                  <a:gd name="T14" fmla="*/ 144 w 291"/>
                  <a:gd name="T15" fmla="*/ 62 h 102"/>
                  <a:gd name="T16" fmla="*/ 0 w 291"/>
                  <a:gd name="T17" fmla="*/ 102 h 102"/>
                  <a:gd name="T18" fmla="*/ 225 w 291"/>
                  <a:gd name="T19" fmla="*/ 102 h 102"/>
                  <a:gd name="T20" fmla="*/ 162 w 291"/>
                  <a:gd name="T21" fmla="*/ 53 h 102"/>
                  <a:gd name="T22" fmla="*/ 291 w 291"/>
                  <a:gd name="T23" fmla="*/ 0 h 102"/>
                  <a:gd name="T24" fmla="*/ 64 w 291"/>
                  <a:gd name="T25" fmla="*/ 0 h 102"/>
                  <a:gd name="T26" fmla="*/ 128 w 291"/>
                  <a:gd name="T27" fmla="*/ 50 h 102"/>
                  <a:gd name="T28" fmla="*/ 0 w 291"/>
                  <a:gd name="T29" fmla="*/ 102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1"/>
                  <a:gd name="T46" fmla="*/ 0 h 102"/>
                  <a:gd name="T47" fmla="*/ 291 w 291"/>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1" h="102">
                    <a:moveTo>
                      <a:pt x="146" y="41"/>
                    </a:moveTo>
                    <a:lnTo>
                      <a:pt x="115" y="18"/>
                    </a:lnTo>
                    <a:lnTo>
                      <a:pt x="203" y="18"/>
                    </a:lnTo>
                    <a:lnTo>
                      <a:pt x="146" y="41"/>
                    </a:lnTo>
                    <a:close/>
                    <a:moveTo>
                      <a:pt x="144" y="62"/>
                    </a:moveTo>
                    <a:lnTo>
                      <a:pt x="174" y="85"/>
                    </a:lnTo>
                    <a:lnTo>
                      <a:pt x="86" y="85"/>
                    </a:lnTo>
                    <a:lnTo>
                      <a:pt x="144" y="62"/>
                    </a:lnTo>
                    <a:close/>
                    <a:moveTo>
                      <a:pt x="0" y="102"/>
                    </a:moveTo>
                    <a:lnTo>
                      <a:pt x="225" y="102"/>
                    </a:lnTo>
                    <a:lnTo>
                      <a:pt x="162" y="53"/>
                    </a:lnTo>
                    <a:lnTo>
                      <a:pt x="291" y="0"/>
                    </a:lnTo>
                    <a:lnTo>
                      <a:pt x="64" y="0"/>
                    </a:lnTo>
                    <a:lnTo>
                      <a:pt x="128" y="50"/>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6" name="Freeform 32"/>
              <p:cNvSpPr>
                <a:spLocks noEditPoints="1"/>
              </p:cNvSpPr>
              <p:nvPr/>
            </p:nvSpPr>
            <p:spPr bwMode="auto">
              <a:xfrm>
                <a:off x="1017" y="1593"/>
                <a:ext cx="291" cy="101"/>
              </a:xfrm>
              <a:custGeom>
                <a:avLst/>
                <a:gdLst>
                  <a:gd name="T0" fmla="*/ 147 w 291"/>
                  <a:gd name="T1" fmla="*/ 41 h 101"/>
                  <a:gd name="T2" fmla="*/ 117 w 291"/>
                  <a:gd name="T3" fmla="*/ 17 h 101"/>
                  <a:gd name="T4" fmla="*/ 205 w 291"/>
                  <a:gd name="T5" fmla="*/ 17 h 101"/>
                  <a:gd name="T6" fmla="*/ 147 w 291"/>
                  <a:gd name="T7" fmla="*/ 41 h 101"/>
                  <a:gd name="T8" fmla="*/ 144 w 291"/>
                  <a:gd name="T9" fmla="*/ 60 h 101"/>
                  <a:gd name="T10" fmla="*/ 176 w 291"/>
                  <a:gd name="T11" fmla="*/ 84 h 101"/>
                  <a:gd name="T12" fmla="*/ 87 w 291"/>
                  <a:gd name="T13" fmla="*/ 84 h 101"/>
                  <a:gd name="T14" fmla="*/ 144 w 291"/>
                  <a:gd name="T15" fmla="*/ 60 h 101"/>
                  <a:gd name="T16" fmla="*/ 0 w 291"/>
                  <a:gd name="T17" fmla="*/ 101 h 101"/>
                  <a:gd name="T18" fmla="*/ 227 w 291"/>
                  <a:gd name="T19" fmla="*/ 101 h 101"/>
                  <a:gd name="T20" fmla="*/ 163 w 291"/>
                  <a:gd name="T21" fmla="*/ 53 h 101"/>
                  <a:gd name="T22" fmla="*/ 291 w 291"/>
                  <a:gd name="T23" fmla="*/ 0 h 101"/>
                  <a:gd name="T24" fmla="*/ 66 w 291"/>
                  <a:gd name="T25" fmla="*/ 0 h 101"/>
                  <a:gd name="T26" fmla="*/ 129 w 291"/>
                  <a:gd name="T27" fmla="*/ 48 h 101"/>
                  <a:gd name="T28" fmla="*/ 0 w 291"/>
                  <a:gd name="T29" fmla="*/ 101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1"/>
                  <a:gd name="T46" fmla="*/ 0 h 101"/>
                  <a:gd name="T47" fmla="*/ 291 w 291"/>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1" h="101">
                    <a:moveTo>
                      <a:pt x="147" y="41"/>
                    </a:moveTo>
                    <a:lnTo>
                      <a:pt x="117" y="17"/>
                    </a:lnTo>
                    <a:lnTo>
                      <a:pt x="205" y="17"/>
                    </a:lnTo>
                    <a:lnTo>
                      <a:pt x="147" y="41"/>
                    </a:lnTo>
                    <a:close/>
                    <a:moveTo>
                      <a:pt x="144" y="60"/>
                    </a:moveTo>
                    <a:lnTo>
                      <a:pt x="176" y="84"/>
                    </a:lnTo>
                    <a:lnTo>
                      <a:pt x="87" y="84"/>
                    </a:lnTo>
                    <a:lnTo>
                      <a:pt x="144" y="60"/>
                    </a:lnTo>
                    <a:close/>
                    <a:moveTo>
                      <a:pt x="0" y="101"/>
                    </a:moveTo>
                    <a:lnTo>
                      <a:pt x="227" y="101"/>
                    </a:lnTo>
                    <a:lnTo>
                      <a:pt x="163" y="53"/>
                    </a:lnTo>
                    <a:lnTo>
                      <a:pt x="291" y="0"/>
                    </a:lnTo>
                    <a:lnTo>
                      <a:pt x="66" y="0"/>
                    </a:lnTo>
                    <a:lnTo>
                      <a:pt x="129" y="48"/>
                    </a:lnTo>
                    <a:lnTo>
                      <a:pt x="0" y="1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7" name="Freeform 33"/>
              <p:cNvSpPr>
                <a:spLocks/>
              </p:cNvSpPr>
              <p:nvPr/>
            </p:nvSpPr>
            <p:spPr bwMode="auto">
              <a:xfrm>
                <a:off x="1015" y="1803"/>
                <a:ext cx="149" cy="115"/>
              </a:xfrm>
              <a:custGeom>
                <a:avLst/>
                <a:gdLst>
                  <a:gd name="T0" fmla="*/ 106 w 149"/>
                  <a:gd name="T1" fmla="*/ 112 h 115"/>
                  <a:gd name="T2" fmla="*/ 83 w 149"/>
                  <a:gd name="T3" fmla="*/ 115 h 115"/>
                  <a:gd name="T4" fmla="*/ 58 w 149"/>
                  <a:gd name="T5" fmla="*/ 112 h 115"/>
                  <a:gd name="T6" fmla="*/ 39 w 149"/>
                  <a:gd name="T7" fmla="*/ 104 h 115"/>
                  <a:gd name="T8" fmla="*/ 1 w 149"/>
                  <a:gd name="T9" fmla="*/ 113 h 115"/>
                  <a:gd name="T10" fmla="*/ 39 w 149"/>
                  <a:gd name="T11" fmla="*/ 75 h 115"/>
                  <a:gd name="T12" fmla="*/ 46 w 149"/>
                  <a:gd name="T13" fmla="*/ 88 h 115"/>
                  <a:gd name="T14" fmla="*/ 60 w 149"/>
                  <a:gd name="T15" fmla="*/ 94 h 115"/>
                  <a:gd name="T16" fmla="*/ 86 w 149"/>
                  <a:gd name="T17" fmla="*/ 94 h 115"/>
                  <a:gd name="T18" fmla="*/ 97 w 149"/>
                  <a:gd name="T19" fmla="*/ 86 h 115"/>
                  <a:gd name="T20" fmla="*/ 94 w 149"/>
                  <a:gd name="T21" fmla="*/ 77 h 115"/>
                  <a:gd name="T22" fmla="*/ 82 w 149"/>
                  <a:gd name="T23" fmla="*/ 71 h 115"/>
                  <a:gd name="T24" fmla="*/ 65 w 149"/>
                  <a:gd name="T25" fmla="*/ 66 h 115"/>
                  <a:gd name="T26" fmla="*/ 36 w 149"/>
                  <a:gd name="T27" fmla="*/ 59 h 115"/>
                  <a:gd name="T28" fmla="*/ 17 w 149"/>
                  <a:gd name="T29" fmla="*/ 52 h 115"/>
                  <a:gd name="T30" fmla="*/ 6 w 149"/>
                  <a:gd name="T31" fmla="*/ 46 h 115"/>
                  <a:gd name="T32" fmla="*/ 0 w 149"/>
                  <a:gd name="T33" fmla="*/ 32 h 115"/>
                  <a:gd name="T34" fmla="*/ 1 w 149"/>
                  <a:gd name="T35" fmla="*/ 24 h 115"/>
                  <a:gd name="T36" fmla="*/ 11 w 149"/>
                  <a:gd name="T37" fmla="*/ 12 h 115"/>
                  <a:gd name="T38" fmla="*/ 29 w 149"/>
                  <a:gd name="T39" fmla="*/ 5 h 115"/>
                  <a:gd name="T40" fmla="*/ 53 w 149"/>
                  <a:gd name="T41" fmla="*/ 0 h 115"/>
                  <a:gd name="T42" fmla="*/ 73 w 149"/>
                  <a:gd name="T43" fmla="*/ 1 h 115"/>
                  <a:gd name="T44" fmla="*/ 94 w 149"/>
                  <a:gd name="T45" fmla="*/ 7 h 115"/>
                  <a:gd name="T46" fmla="*/ 100 w 149"/>
                  <a:gd name="T47" fmla="*/ 1 h 115"/>
                  <a:gd name="T48" fmla="*/ 137 w 149"/>
                  <a:gd name="T49" fmla="*/ 35 h 115"/>
                  <a:gd name="T50" fmla="*/ 97 w 149"/>
                  <a:gd name="T51" fmla="*/ 29 h 115"/>
                  <a:gd name="T52" fmla="*/ 89 w 149"/>
                  <a:gd name="T53" fmla="*/ 23 h 115"/>
                  <a:gd name="T54" fmla="*/ 68 w 149"/>
                  <a:gd name="T55" fmla="*/ 19 h 115"/>
                  <a:gd name="T56" fmla="*/ 52 w 149"/>
                  <a:gd name="T57" fmla="*/ 22 h 115"/>
                  <a:gd name="T58" fmla="*/ 46 w 149"/>
                  <a:gd name="T59" fmla="*/ 28 h 115"/>
                  <a:gd name="T60" fmla="*/ 51 w 149"/>
                  <a:gd name="T61" fmla="*/ 35 h 115"/>
                  <a:gd name="T62" fmla="*/ 71 w 149"/>
                  <a:gd name="T63" fmla="*/ 41 h 115"/>
                  <a:gd name="T64" fmla="*/ 97 w 149"/>
                  <a:gd name="T65" fmla="*/ 47 h 115"/>
                  <a:gd name="T66" fmla="*/ 119 w 149"/>
                  <a:gd name="T67" fmla="*/ 53 h 115"/>
                  <a:gd name="T68" fmla="*/ 131 w 149"/>
                  <a:gd name="T69" fmla="*/ 58 h 115"/>
                  <a:gd name="T70" fmla="*/ 140 w 149"/>
                  <a:gd name="T71" fmla="*/ 65 h 115"/>
                  <a:gd name="T72" fmla="*/ 148 w 149"/>
                  <a:gd name="T73" fmla="*/ 77 h 115"/>
                  <a:gd name="T74" fmla="*/ 148 w 149"/>
                  <a:gd name="T75" fmla="*/ 89 h 115"/>
                  <a:gd name="T76" fmla="*/ 138 w 149"/>
                  <a:gd name="T77" fmla="*/ 101 h 115"/>
                  <a:gd name="T78" fmla="*/ 129 w 149"/>
                  <a:gd name="T79" fmla="*/ 106 h 1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9"/>
                  <a:gd name="T121" fmla="*/ 0 h 115"/>
                  <a:gd name="T122" fmla="*/ 149 w 149"/>
                  <a:gd name="T123" fmla="*/ 115 h 1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9" h="115">
                    <a:moveTo>
                      <a:pt x="119" y="110"/>
                    </a:moveTo>
                    <a:lnTo>
                      <a:pt x="106" y="112"/>
                    </a:lnTo>
                    <a:lnTo>
                      <a:pt x="93" y="115"/>
                    </a:lnTo>
                    <a:lnTo>
                      <a:pt x="83" y="115"/>
                    </a:lnTo>
                    <a:lnTo>
                      <a:pt x="70" y="113"/>
                    </a:lnTo>
                    <a:lnTo>
                      <a:pt x="58" y="112"/>
                    </a:lnTo>
                    <a:lnTo>
                      <a:pt x="47" y="109"/>
                    </a:lnTo>
                    <a:lnTo>
                      <a:pt x="39" y="104"/>
                    </a:lnTo>
                    <a:lnTo>
                      <a:pt x="39" y="113"/>
                    </a:lnTo>
                    <a:lnTo>
                      <a:pt x="1" y="113"/>
                    </a:lnTo>
                    <a:lnTo>
                      <a:pt x="1" y="75"/>
                    </a:lnTo>
                    <a:lnTo>
                      <a:pt x="39" y="75"/>
                    </a:lnTo>
                    <a:lnTo>
                      <a:pt x="41" y="82"/>
                    </a:lnTo>
                    <a:lnTo>
                      <a:pt x="46" y="88"/>
                    </a:lnTo>
                    <a:lnTo>
                      <a:pt x="49" y="90"/>
                    </a:lnTo>
                    <a:lnTo>
                      <a:pt x="60" y="94"/>
                    </a:lnTo>
                    <a:lnTo>
                      <a:pt x="73" y="95"/>
                    </a:lnTo>
                    <a:lnTo>
                      <a:pt x="86" y="94"/>
                    </a:lnTo>
                    <a:lnTo>
                      <a:pt x="91" y="92"/>
                    </a:lnTo>
                    <a:lnTo>
                      <a:pt x="97" y="86"/>
                    </a:lnTo>
                    <a:lnTo>
                      <a:pt x="97" y="83"/>
                    </a:lnTo>
                    <a:lnTo>
                      <a:pt x="94" y="77"/>
                    </a:lnTo>
                    <a:lnTo>
                      <a:pt x="91" y="75"/>
                    </a:lnTo>
                    <a:lnTo>
                      <a:pt x="82" y="71"/>
                    </a:lnTo>
                    <a:lnTo>
                      <a:pt x="69" y="68"/>
                    </a:lnTo>
                    <a:lnTo>
                      <a:pt x="65" y="66"/>
                    </a:lnTo>
                    <a:lnTo>
                      <a:pt x="49" y="63"/>
                    </a:lnTo>
                    <a:lnTo>
                      <a:pt x="36" y="59"/>
                    </a:lnTo>
                    <a:lnTo>
                      <a:pt x="25" y="55"/>
                    </a:lnTo>
                    <a:lnTo>
                      <a:pt x="17" y="52"/>
                    </a:lnTo>
                    <a:lnTo>
                      <a:pt x="13" y="51"/>
                    </a:lnTo>
                    <a:lnTo>
                      <a:pt x="6" y="46"/>
                    </a:lnTo>
                    <a:lnTo>
                      <a:pt x="1" y="40"/>
                    </a:lnTo>
                    <a:lnTo>
                      <a:pt x="0" y="32"/>
                    </a:lnTo>
                    <a:lnTo>
                      <a:pt x="0" y="31"/>
                    </a:lnTo>
                    <a:lnTo>
                      <a:pt x="1" y="24"/>
                    </a:lnTo>
                    <a:lnTo>
                      <a:pt x="5" y="17"/>
                    </a:lnTo>
                    <a:lnTo>
                      <a:pt x="11" y="12"/>
                    </a:lnTo>
                    <a:lnTo>
                      <a:pt x="18" y="8"/>
                    </a:lnTo>
                    <a:lnTo>
                      <a:pt x="29" y="5"/>
                    </a:lnTo>
                    <a:lnTo>
                      <a:pt x="41" y="1"/>
                    </a:lnTo>
                    <a:lnTo>
                      <a:pt x="53" y="0"/>
                    </a:lnTo>
                    <a:lnTo>
                      <a:pt x="59" y="0"/>
                    </a:lnTo>
                    <a:lnTo>
                      <a:pt x="73" y="1"/>
                    </a:lnTo>
                    <a:lnTo>
                      <a:pt x="85" y="3"/>
                    </a:lnTo>
                    <a:lnTo>
                      <a:pt x="94" y="7"/>
                    </a:lnTo>
                    <a:lnTo>
                      <a:pt x="100" y="11"/>
                    </a:lnTo>
                    <a:lnTo>
                      <a:pt x="100" y="1"/>
                    </a:lnTo>
                    <a:lnTo>
                      <a:pt x="137" y="1"/>
                    </a:lnTo>
                    <a:lnTo>
                      <a:pt x="137" y="35"/>
                    </a:lnTo>
                    <a:lnTo>
                      <a:pt x="100" y="35"/>
                    </a:lnTo>
                    <a:lnTo>
                      <a:pt x="97" y="29"/>
                    </a:lnTo>
                    <a:lnTo>
                      <a:pt x="89" y="23"/>
                    </a:lnTo>
                    <a:lnTo>
                      <a:pt x="77" y="19"/>
                    </a:lnTo>
                    <a:lnTo>
                      <a:pt x="68" y="19"/>
                    </a:lnTo>
                    <a:lnTo>
                      <a:pt x="56" y="20"/>
                    </a:lnTo>
                    <a:lnTo>
                      <a:pt x="52" y="22"/>
                    </a:lnTo>
                    <a:lnTo>
                      <a:pt x="46" y="26"/>
                    </a:lnTo>
                    <a:lnTo>
                      <a:pt x="46" y="28"/>
                    </a:lnTo>
                    <a:lnTo>
                      <a:pt x="51" y="34"/>
                    </a:lnTo>
                    <a:lnTo>
                      <a:pt x="51" y="35"/>
                    </a:lnTo>
                    <a:lnTo>
                      <a:pt x="58" y="37"/>
                    </a:lnTo>
                    <a:lnTo>
                      <a:pt x="71" y="41"/>
                    </a:lnTo>
                    <a:lnTo>
                      <a:pt x="82" y="43"/>
                    </a:lnTo>
                    <a:lnTo>
                      <a:pt x="97" y="47"/>
                    </a:lnTo>
                    <a:lnTo>
                      <a:pt x="109" y="49"/>
                    </a:lnTo>
                    <a:lnTo>
                      <a:pt x="119" y="53"/>
                    </a:lnTo>
                    <a:lnTo>
                      <a:pt x="120" y="53"/>
                    </a:lnTo>
                    <a:lnTo>
                      <a:pt x="131" y="58"/>
                    </a:lnTo>
                    <a:lnTo>
                      <a:pt x="138" y="63"/>
                    </a:lnTo>
                    <a:lnTo>
                      <a:pt x="140" y="65"/>
                    </a:lnTo>
                    <a:lnTo>
                      <a:pt x="145" y="71"/>
                    </a:lnTo>
                    <a:lnTo>
                      <a:pt x="148" y="77"/>
                    </a:lnTo>
                    <a:lnTo>
                      <a:pt x="149" y="81"/>
                    </a:lnTo>
                    <a:lnTo>
                      <a:pt x="148" y="89"/>
                    </a:lnTo>
                    <a:lnTo>
                      <a:pt x="144" y="95"/>
                    </a:lnTo>
                    <a:lnTo>
                      <a:pt x="138" y="101"/>
                    </a:lnTo>
                    <a:lnTo>
                      <a:pt x="131" y="106"/>
                    </a:lnTo>
                    <a:lnTo>
                      <a:pt x="129" y="106"/>
                    </a:lnTo>
                    <a:lnTo>
                      <a:pt x="119"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8" name="Freeform 34"/>
              <p:cNvSpPr>
                <a:spLocks/>
              </p:cNvSpPr>
              <p:nvPr/>
            </p:nvSpPr>
            <p:spPr bwMode="auto">
              <a:xfrm>
                <a:off x="1003" y="1796"/>
                <a:ext cx="149" cy="114"/>
              </a:xfrm>
              <a:custGeom>
                <a:avLst/>
                <a:gdLst>
                  <a:gd name="T0" fmla="*/ 108 w 149"/>
                  <a:gd name="T1" fmla="*/ 112 h 114"/>
                  <a:gd name="T2" fmla="*/ 85 w 149"/>
                  <a:gd name="T3" fmla="*/ 114 h 114"/>
                  <a:gd name="T4" fmla="*/ 58 w 149"/>
                  <a:gd name="T5" fmla="*/ 111 h 114"/>
                  <a:gd name="T6" fmla="*/ 40 w 149"/>
                  <a:gd name="T7" fmla="*/ 104 h 114"/>
                  <a:gd name="T8" fmla="*/ 2 w 149"/>
                  <a:gd name="T9" fmla="*/ 113 h 114"/>
                  <a:gd name="T10" fmla="*/ 40 w 149"/>
                  <a:gd name="T11" fmla="*/ 75 h 114"/>
                  <a:gd name="T12" fmla="*/ 47 w 149"/>
                  <a:gd name="T13" fmla="*/ 88 h 114"/>
                  <a:gd name="T14" fmla="*/ 61 w 149"/>
                  <a:gd name="T15" fmla="*/ 94 h 114"/>
                  <a:gd name="T16" fmla="*/ 86 w 149"/>
                  <a:gd name="T17" fmla="*/ 93 h 114"/>
                  <a:gd name="T18" fmla="*/ 97 w 149"/>
                  <a:gd name="T19" fmla="*/ 85 h 114"/>
                  <a:gd name="T20" fmla="*/ 94 w 149"/>
                  <a:gd name="T21" fmla="*/ 77 h 114"/>
                  <a:gd name="T22" fmla="*/ 82 w 149"/>
                  <a:gd name="T23" fmla="*/ 71 h 114"/>
                  <a:gd name="T24" fmla="*/ 66 w 149"/>
                  <a:gd name="T25" fmla="*/ 66 h 114"/>
                  <a:gd name="T26" fmla="*/ 37 w 149"/>
                  <a:gd name="T27" fmla="*/ 59 h 114"/>
                  <a:gd name="T28" fmla="*/ 18 w 149"/>
                  <a:gd name="T29" fmla="*/ 52 h 114"/>
                  <a:gd name="T30" fmla="*/ 6 w 149"/>
                  <a:gd name="T31" fmla="*/ 44 h 114"/>
                  <a:gd name="T32" fmla="*/ 0 w 149"/>
                  <a:gd name="T33" fmla="*/ 31 h 114"/>
                  <a:gd name="T34" fmla="*/ 1 w 149"/>
                  <a:gd name="T35" fmla="*/ 23 h 114"/>
                  <a:gd name="T36" fmla="*/ 11 w 149"/>
                  <a:gd name="T37" fmla="*/ 12 h 114"/>
                  <a:gd name="T38" fmla="*/ 29 w 149"/>
                  <a:gd name="T39" fmla="*/ 3 h 114"/>
                  <a:gd name="T40" fmla="*/ 54 w 149"/>
                  <a:gd name="T41" fmla="*/ 0 h 114"/>
                  <a:gd name="T42" fmla="*/ 72 w 149"/>
                  <a:gd name="T43" fmla="*/ 1 h 114"/>
                  <a:gd name="T44" fmla="*/ 94 w 149"/>
                  <a:gd name="T45" fmla="*/ 7 h 114"/>
                  <a:gd name="T46" fmla="*/ 100 w 149"/>
                  <a:gd name="T47" fmla="*/ 1 h 114"/>
                  <a:gd name="T48" fmla="*/ 138 w 149"/>
                  <a:gd name="T49" fmla="*/ 35 h 114"/>
                  <a:gd name="T50" fmla="*/ 97 w 149"/>
                  <a:gd name="T51" fmla="*/ 27 h 114"/>
                  <a:gd name="T52" fmla="*/ 89 w 149"/>
                  <a:gd name="T53" fmla="*/ 23 h 114"/>
                  <a:gd name="T54" fmla="*/ 69 w 149"/>
                  <a:gd name="T55" fmla="*/ 18 h 114"/>
                  <a:gd name="T56" fmla="*/ 53 w 149"/>
                  <a:gd name="T57" fmla="*/ 20 h 114"/>
                  <a:gd name="T58" fmla="*/ 47 w 149"/>
                  <a:gd name="T59" fmla="*/ 27 h 114"/>
                  <a:gd name="T60" fmla="*/ 52 w 149"/>
                  <a:gd name="T61" fmla="*/ 33 h 114"/>
                  <a:gd name="T62" fmla="*/ 71 w 149"/>
                  <a:gd name="T63" fmla="*/ 39 h 114"/>
                  <a:gd name="T64" fmla="*/ 97 w 149"/>
                  <a:gd name="T65" fmla="*/ 46 h 114"/>
                  <a:gd name="T66" fmla="*/ 120 w 149"/>
                  <a:gd name="T67" fmla="*/ 53 h 114"/>
                  <a:gd name="T68" fmla="*/ 131 w 149"/>
                  <a:gd name="T69" fmla="*/ 56 h 114"/>
                  <a:gd name="T70" fmla="*/ 141 w 149"/>
                  <a:gd name="T71" fmla="*/ 64 h 114"/>
                  <a:gd name="T72" fmla="*/ 149 w 149"/>
                  <a:gd name="T73" fmla="*/ 77 h 114"/>
                  <a:gd name="T74" fmla="*/ 148 w 149"/>
                  <a:gd name="T75" fmla="*/ 88 h 114"/>
                  <a:gd name="T76" fmla="*/ 139 w 149"/>
                  <a:gd name="T77" fmla="*/ 100 h 114"/>
                  <a:gd name="T78" fmla="*/ 129 w 149"/>
                  <a:gd name="T79" fmla="*/ 106 h 11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9"/>
                  <a:gd name="T121" fmla="*/ 0 h 114"/>
                  <a:gd name="T122" fmla="*/ 149 w 149"/>
                  <a:gd name="T123" fmla="*/ 114 h 11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9" h="114">
                    <a:moveTo>
                      <a:pt x="118" y="110"/>
                    </a:moveTo>
                    <a:lnTo>
                      <a:pt x="108" y="112"/>
                    </a:lnTo>
                    <a:lnTo>
                      <a:pt x="94" y="113"/>
                    </a:lnTo>
                    <a:lnTo>
                      <a:pt x="85" y="114"/>
                    </a:lnTo>
                    <a:lnTo>
                      <a:pt x="70" y="113"/>
                    </a:lnTo>
                    <a:lnTo>
                      <a:pt x="58" y="111"/>
                    </a:lnTo>
                    <a:lnTo>
                      <a:pt x="48" y="107"/>
                    </a:lnTo>
                    <a:lnTo>
                      <a:pt x="40" y="104"/>
                    </a:lnTo>
                    <a:lnTo>
                      <a:pt x="40" y="113"/>
                    </a:lnTo>
                    <a:lnTo>
                      <a:pt x="2" y="113"/>
                    </a:lnTo>
                    <a:lnTo>
                      <a:pt x="2" y="75"/>
                    </a:lnTo>
                    <a:lnTo>
                      <a:pt x="40" y="75"/>
                    </a:lnTo>
                    <a:lnTo>
                      <a:pt x="41" y="82"/>
                    </a:lnTo>
                    <a:lnTo>
                      <a:pt x="47" y="88"/>
                    </a:lnTo>
                    <a:lnTo>
                      <a:pt x="51" y="90"/>
                    </a:lnTo>
                    <a:lnTo>
                      <a:pt x="61" y="94"/>
                    </a:lnTo>
                    <a:lnTo>
                      <a:pt x="74" y="95"/>
                    </a:lnTo>
                    <a:lnTo>
                      <a:pt x="86" y="93"/>
                    </a:lnTo>
                    <a:lnTo>
                      <a:pt x="91" y="91"/>
                    </a:lnTo>
                    <a:lnTo>
                      <a:pt x="97" y="85"/>
                    </a:lnTo>
                    <a:lnTo>
                      <a:pt x="98" y="83"/>
                    </a:lnTo>
                    <a:lnTo>
                      <a:pt x="94" y="77"/>
                    </a:lnTo>
                    <a:lnTo>
                      <a:pt x="91" y="75"/>
                    </a:lnTo>
                    <a:lnTo>
                      <a:pt x="82" y="71"/>
                    </a:lnTo>
                    <a:lnTo>
                      <a:pt x="69" y="67"/>
                    </a:lnTo>
                    <a:lnTo>
                      <a:pt x="66" y="66"/>
                    </a:lnTo>
                    <a:lnTo>
                      <a:pt x="51" y="62"/>
                    </a:lnTo>
                    <a:lnTo>
                      <a:pt x="37" y="59"/>
                    </a:lnTo>
                    <a:lnTo>
                      <a:pt x="26" y="55"/>
                    </a:lnTo>
                    <a:lnTo>
                      <a:pt x="18" y="52"/>
                    </a:lnTo>
                    <a:lnTo>
                      <a:pt x="14" y="49"/>
                    </a:lnTo>
                    <a:lnTo>
                      <a:pt x="6" y="44"/>
                    </a:lnTo>
                    <a:lnTo>
                      <a:pt x="2" y="38"/>
                    </a:lnTo>
                    <a:lnTo>
                      <a:pt x="0" y="31"/>
                    </a:lnTo>
                    <a:lnTo>
                      <a:pt x="0" y="30"/>
                    </a:lnTo>
                    <a:lnTo>
                      <a:pt x="1" y="23"/>
                    </a:lnTo>
                    <a:lnTo>
                      <a:pt x="5" y="17"/>
                    </a:lnTo>
                    <a:lnTo>
                      <a:pt x="11" y="12"/>
                    </a:lnTo>
                    <a:lnTo>
                      <a:pt x="18" y="8"/>
                    </a:lnTo>
                    <a:lnTo>
                      <a:pt x="29" y="3"/>
                    </a:lnTo>
                    <a:lnTo>
                      <a:pt x="41" y="1"/>
                    </a:lnTo>
                    <a:lnTo>
                      <a:pt x="54" y="0"/>
                    </a:lnTo>
                    <a:lnTo>
                      <a:pt x="59" y="0"/>
                    </a:lnTo>
                    <a:lnTo>
                      <a:pt x="72" y="1"/>
                    </a:lnTo>
                    <a:lnTo>
                      <a:pt x="85" y="3"/>
                    </a:lnTo>
                    <a:lnTo>
                      <a:pt x="94" y="7"/>
                    </a:lnTo>
                    <a:lnTo>
                      <a:pt x="100" y="10"/>
                    </a:lnTo>
                    <a:lnTo>
                      <a:pt x="100" y="1"/>
                    </a:lnTo>
                    <a:lnTo>
                      <a:pt x="138" y="1"/>
                    </a:lnTo>
                    <a:lnTo>
                      <a:pt x="138" y="35"/>
                    </a:lnTo>
                    <a:lnTo>
                      <a:pt x="100" y="35"/>
                    </a:lnTo>
                    <a:lnTo>
                      <a:pt x="97" y="27"/>
                    </a:lnTo>
                    <a:lnTo>
                      <a:pt x="89" y="23"/>
                    </a:lnTo>
                    <a:lnTo>
                      <a:pt x="78" y="19"/>
                    </a:lnTo>
                    <a:lnTo>
                      <a:pt x="69" y="18"/>
                    </a:lnTo>
                    <a:lnTo>
                      <a:pt x="55" y="20"/>
                    </a:lnTo>
                    <a:lnTo>
                      <a:pt x="53" y="20"/>
                    </a:lnTo>
                    <a:lnTo>
                      <a:pt x="47" y="26"/>
                    </a:lnTo>
                    <a:lnTo>
                      <a:pt x="47" y="27"/>
                    </a:lnTo>
                    <a:lnTo>
                      <a:pt x="51" y="33"/>
                    </a:lnTo>
                    <a:lnTo>
                      <a:pt x="52" y="33"/>
                    </a:lnTo>
                    <a:lnTo>
                      <a:pt x="59" y="37"/>
                    </a:lnTo>
                    <a:lnTo>
                      <a:pt x="71" y="39"/>
                    </a:lnTo>
                    <a:lnTo>
                      <a:pt x="82" y="43"/>
                    </a:lnTo>
                    <a:lnTo>
                      <a:pt x="97" y="46"/>
                    </a:lnTo>
                    <a:lnTo>
                      <a:pt x="110" y="49"/>
                    </a:lnTo>
                    <a:lnTo>
                      <a:pt x="120" y="53"/>
                    </a:lnTo>
                    <a:lnTo>
                      <a:pt x="121" y="53"/>
                    </a:lnTo>
                    <a:lnTo>
                      <a:pt x="131" y="56"/>
                    </a:lnTo>
                    <a:lnTo>
                      <a:pt x="139" y="62"/>
                    </a:lnTo>
                    <a:lnTo>
                      <a:pt x="141" y="64"/>
                    </a:lnTo>
                    <a:lnTo>
                      <a:pt x="146" y="70"/>
                    </a:lnTo>
                    <a:lnTo>
                      <a:pt x="149" y="77"/>
                    </a:lnTo>
                    <a:lnTo>
                      <a:pt x="149" y="81"/>
                    </a:lnTo>
                    <a:lnTo>
                      <a:pt x="148" y="88"/>
                    </a:lnTo>
                    <a:lnTo>
                      <a:pt x="144" y="95"/>
                    </a:lnTo>
                    <a:lnTo>
                      <a:pt x="139" y="100"/>
                    </a:lnTo>
                    <a:lnTo>
                      <a:pt x="131" y="105"/>
                    </a:lnTo>
                    <a:lnTo>
                      <a:pt x="129" y="106"/>
                    </a:lnTo>
                    <a:lnTo>
                      <a:pt x="118" y="1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036" name="Group 35"/>
            <p:cNvGrpSpPr>
              <a:grpSpLocks/>
            </p:cNvGrpSpPr>
            <p:nvPr/>
          </p:nvGrpSpPr>
          <p:grpSpPr bwMode="auto">
            <a:xfrm>
              <a:off x="2635" y="1370"/>
              <a:ext cx="506" cy="273"/>
              <a:chOff x="940" y="956"/>
              <a:chExt cx="464" cy="364"/>
            </a:xfrm>
          </p:grpSpPr>
          <p:sp>
            <p:nvSpPr>
              <p:cNvPr id="43056" name="Freeform 36"/>
              <p:cNvSpPr>
                <a:spLocks noEditPoints="1"/>
              </p:cNvSpPr>
              <p:nvPr/>
            </p:nvSpPr>
            <p:spPr bwMode="auto">
              <a:xfrm>
                <a:off x="940" y="956"/>
                <a:ext cx="464" cy="364"/>
              </a:xfrm>
              <a:custGeom>
                <a:avLst/>
                <a:gdLst>
                  <a:gd name="T0" fmla="*/ 464 w 464"/>
                  <a:gd name="T1" fmla="*/ 77 h 364"/>
                  <a:gd name="T2" fmla="*/ 455 w 464"/>
                  <a:gd name="T3" fmla="*/ 98 h 364"/>
                  <a:gd name="T4" fmla="*/ 430 w 464"/>
                  <a:gd name="T5" fmla="*/ 117 h 364"/>
                  <a:gd name="T6" fmla="*/ 391 w 464"/>
                  <a:gd name="T7" fmla="*/ 133 h 364"/>
                  <a:gd name="T8" fmla="*/ 338 w 464"/>
                  <a:gd name="T9" fmla="*/ 145 h 364"/>
                  <a:gd name="T10" fmla="*/ 280 w 464"/>
                  <a:gd name="T11" fmla="*/ 152 h 364"/>
                  <a:gd name="T12" fmla="*/ 216 w 464"/>
                  <a:gd name="T13" fmla="*/ 153 h 364"/>
                  <a:gd name="T14" fmla="*/ 155 w 464"/>
                  <a:gd name="T15" fmla="*/ 149 h 364"/>
                  <a:gd name="T16" fmla="*/ 98 w 464"/>
                  <a:gd name="T17" fmla="*/ 140 h 364"/>
                  <a:gd name="T18" fmla="*/ 98 w 464"/>
                  <a:gd name="T19" fmla="*/ 140 h 364"/>
                  <a:gd name="T20" fmla="*/ 155 w 464"/>
                  <a:gd name="T21" fmla="*/ 149 h 364"/>
                  <a:gd name="T22" fmla="*/ 216 w 464"/>
                  <a:gd name="T23" fmla="*/ 153 h 364"/>
                  <a:gd name="T24" fmla="*/ 280 w 464"/>
                  <a:gd name="T25" fmla="*/ 152 h 364"/>
                  <a:gd name="T26" fmla="*/ 338 w 464"/>
                  <a:gd name="T27" fmla="*/ 145 h 364"/>
                  <a:gd name="T28" fmla="*/ 391 w 464"/>
                  <a:gd name="T29" fmla="*/ 133 h 364"/>
                  <a:gd name="T30" fmla="*/ 430 w 464"/>
                  <a:gd name="T31" fmla="*/ 117 h 364"/>
                  <a:gd name="T32" fmla="*/ 455 w 464"/>
                  <a:gd name="T33" fmla="*/ 98 h 364"/>
                  <a:gd name="T34" fmla="*/ 464 w 464"/>
                  <a:gd name="T35" fmla="*/ 77 h 364"/>
                  <a:gd name="T36" fmla="*/ 0 w 464"/>
                  <a:gd name="T37" fmla="*/ 77 h 364"/>
                  <a:gd name="T38" fmla="*/ 9 w 464"/>
                  <a:gd name="T39" fmla="*/ 98 h 364"/>
                  <a:gd name="T40" fmla="*/ 34 w 464"/>
                  <a:gd name="T41" fmla="*/ 117 h 364"/>
                  <a:gd name="T42" fmla="*/ 73 w 464"/>
                  <a:gd name="T43" fmla="*/ 134 h 364"/>
                  <a:gd name="T44" fmla="*/ 34 w 464"/>
                  <a:gd name="T45" fmla="*/ 117 h 364"/>
                  <a:gd name="T46" fmla="*/ 9 w 464"/>
                  <a:gd name="T47" fmla="*/ 98 h 364"/>
                  <a:gd name="T48" fmla="*/ 0 w 464"/>
                  <a:gd name="T49" fmla="*/ 77 h 364"/>
                  <a:gd name="T50" fmla="*/ 0 w 464"/>
                  <a:gd name="T51" fmla="*/ 77 h 364"/>
                  <a:gd name="T52" fmla="*/ 2 w 464"/>
                  <a:gd name="T53" fmla="*/ 298 h 364"/>
                  <a:gd name="T54" fmla="*/ 19 w 464"/>
                  <a:gd name="T55" fmla="*/ 318 h 364"/>
                  <a:gd name="T56" fmla="*/ 52 w 464"/>
                  <a:gd name="T57" fmla="*/ 336 h 364"/>
                  <a:gd name="T58" fmla="*/ 98 w 464"/>
                  <a:gd name="T59" fmla="*/ 351 h 364"/>
                  <a:gd name="T60" fmla="*/ 154 w 464"/>
                  <a:gd name="T61" fmla="*/ 360 h 364"/>
                  <a:gd name="T62" fmla="*/ 216 w 464"/>
                  <a:gd name="T63" fmla="*/ 364 h 364"/>
                  <a:gd name="T64" fmla="*/ 280 w 464"/>
                  <a:gd name="T65" fmla="*/ 363 h 364"/>
                  <a:gd name="T66" fmla="*/ 338 w 464"/>
                  <a:gd name="T67" fmla="*/ 356 h 364"/>
                  <a:gd name="T68" fmla="*/ 391 w 464"/>
                  <a:gd name="T69" fmla="*/ 344 h 364"/>
                  <a:gd name="T70" fmla="*/ 430 w 464"/>
                  <a:gd name="T71" fmla="*/ 327 h 364"/>
                  <a:gd name="T72" fmla="*/ 455 w 464"/>
                  <a:gd name="T73" fmla="*/ 309 h 364"/>
                  <a:gd name="T74" fmla="*/ 464 w 464"/>
                  <a:gd name="T75" fmla="*/ 287 h 364"/>
                  <a:gd name="T76" fmla="*/ 462 w 464"/>
                  <a:gd name="T77" fmla="*/ 66 h 364"/>
                  <a:gd name="T78" fmla="*/ 445 w 464"/>
                  <a:gd name="T79" fmla="*/ 46 h 364"/>
                  <a:gd name="T80" fmla="*/ 412 w 464"/>
                  <a:gd name="T81" fmla="*/ 27 h 364"/>
                  <a:gd name="T82" fmla="*/ 366 w 464"/>
                  <a:gd name="T83" fmla="*/ 13 h 364"/>
                  <a:gd name="T84" fmla="*/ 310 w 464"/>
                  <a:gd name="T85" fmla="*/ 4 h 364"/>
                  <a:gd name="T86" fmla="*/ 248 w 464"/>
                  <a:gd name="T87" fmla="*/ 0 h 364"/>
                  <a:gd name="T88" fmla="*/ 184 w 464"/>
                  <a:gd name="T89" fmla="*/ 1 h 364"/>
                  <a:gd name="T90" fmla="*/ 126 w 464"/>
                  <a:gd name="T91" fmla="*/ 8 h 364"/>
                  <a:gd name="T92" fmla="*/ 73 w 464"/>
                  <a:gd name="T93" fmla="*/ 20 h 364"/>
                  <a:gd name="T94" fmla="*/ 34 w 464"/>
                  <a:gd name="T95" fmla="*/ 37 h 364"/>
                  <a:gd name="T96" fmla="*/ 9 w 464"/>
                  <a:gd name="T97" fmla="*/ 55 h 364"/>
                  <a:gd name="T98" fmla="*/ 0 w 464"/>
                  <a:gd name="T99" fmla="*/ 77 h 3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4"/>
                  <a:gd name="T151" fmla="*/ 0 h 364"/>
                  <a:gd name="T152" fmla="*/ 464 w 464"/>
                  <a:gd name="T153" fmla="*/ 364 h 3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4" h="364">
                    <a:moveTo>
                      <a:pt x="464" y="77"/>
                    </a:moveTo>
                    <a:lnTo>
                      <a:pt x="464" y="77"/>
                    </a:lnTo>
                    <a:lnTo>
                      <a:pt x="462" y="87"/>
                    </a:lnTo>
                    <a:lnTo>
                      <a:pt x="455" y="98"/>
                    </a:lnTo>
                    <a:lnTo>
                      <a:pt x="445" y="107"/>
                    </a:lnTo>
                    <a:lnTo>
                      <a:pt x="430" y="117"/>
                    </a:lnTo>
                    <a:lnTo>
                      <a:pt x="412" y="125"/>
                    </a:lnTo>
                    <a:lnTo>
                      <a:pt x="391" y="133"/>
                    </a:lnTo>
                    <a:lnTo>
                      <a:pt x="366" y="140"/>
                    </a:lnTo>
                    <a:lnTo>
                      <a:pt x="338" y="145"/>
                    </a:lnTo>
                    <a:lnTo>
                      <a:pt x="310" y="149"/>
                    </a:lnTo>
                    <a:lnTo>
                      <a:pt x="280" y="152"/>
                    </a:lnTo>
                    <a:lnTo>
                      <a:pt x="248" y="153"/>
                    </a:lnTo>
                    <a:lnTo>
                      <a:pt x="216" y="153"/>
                    </a:lnTo>
                    <a:lnTo>
                      <a:pt x="186" y="152"/>
                    </a:lnTo>
                    <a:lnTo>
                      <a:pt x="155" y="149"/>
                    </a:lnTo>
                    <a:lnTo>
                      <a:pt x="126" y="145"/>
                    </a:lnTo>
                    <a:lnTo>
                      <a:pt x="98" y="140"/>
                    </a:lnTo>
                    <a:lnTo>
                      <a:pt x="73" y="134"/>
                    </a:lnTo>
                    <a:lnTo>
                      <a:pt x="98" y="140"/>
                    </a:lnTo>
                    <a:lnTo>
                      <a:pt x="126" y="145"/>
                    </a:lnTo>
                    <a:lnTo>
                      <a:pt x="155" y="149"/>
                    </a:lnTo>
                    <a:lnTo>
                      <a:pt x="186" y="152"/>
                    </a:lnTo>
                    <a:lnTo>
                      <a:pt x="216" y="153"/>
                    </a:lnTo>
                    <a:lnTo>
                      <a:pt x="248" y="153"/>
                    </a:lnTo>
                    <a:lnTo>
                      <a:pt x="280" y="152"/>
                    </a:lnTo>
                    <a:lnTo>
                      <a:pt x="310" y="149"/>
                    </a:lnTo>
                    <a:lnTo>
                      <a:pt x="338" y="145"/>
                    </a:lnTo>
                    <a:lnTo>
                      <a:pt x="366" y="140"/>
                    </a:lnTo>
                    <a:lnTo>
                      <a:pt x="391" y="133"/>
                    </a:lnTo>
                    <a:lnTo>
                      <a:pt x="412" y="125"/>
                    </a:lnTo>
                    <a:lnTo>
                      <a:pt x="430" y="117"/>
                    </a:lnTo>
                    <a:lnTo>
                      <a:pt x="445" y="107"/>
                    </a:lnTo>
                    <a:lnTo>
                      <a:pt x="455" y="98"/>
                    </a:lnTo>
                    <a:lnTo>
                      <a:pt x="462" y="87"/>
                    </a:lnTo>
                    <a:lnTo>
                      <a:pt x="464" y="77"/>
                    </a:lnTo>
                    <a:close/>
                    <a:moveTo>
                      <a:pt x="0" y="77"/>
                    </a:moveTo>
                    <a:lnTo>
                      <a:pt x="2" y="87"/>
                    </a:lnTo>
                    <a:lnTo>
                      <a:pt x="9" y="98"/>
                    </a:lnTo>
                    <a:lnTo>
                      <a:pt x="19" y="108"/>
                    </a:lnTo>
                    <a:lnTo>
                      <a:pt x="34" y="117"/>
                    </a:lnTo>
                    <a:lnTo>
                      <a:pt x="52" y="125"/>
                    </a:lnTo>
                    <a:lnTo>
                      <a:pt x="73" y="134"/>
                    </a:lnTo>
                    <a:lnTo>
                      <a:pt x="52" y="125"/>
                    </a:lnTo>
                    <a:lnTo>
                      <a:pt x="34" y="117"/>
                    </a:lnTo>
                    <a:lnTo>
                      <a:pt x="19" y="108"/>
                    </a:lnTo>
                    <a:lnTo>
                      <a:pt x="9" y="98"/>
                    </a:lnTo>
                    <a:lnTo>
                      <a:pt x="2" y="87"/>
                    </a:lnTo>
                    <a:lnTo>
                      <a:pt x="0" y="77"/>
                    </a:lnTo>
                    <a:close/>
                    <a:moveTo>
                      <a:pt x="0" y="77"/>
                    </a:moveTo>
                    <a:lnTo>
                      <a:pt x="0" y="287"/>
                    </a:lnTo>
                    <a:lnTo>
                      <a:pt x="2" y="298"/>
                    </a:lnTo>
                    <a:lnTo>
                      <a:pt x="9" y="309"/>
                    </a:lnTo>
                    <a:lnTo>
                      <a:pt x="19" y="318"/>
                    </a:lnTo>
                    <a:lnTo>
                      <a:pt x="34" y="327"/>
                    </a:lnTo>
                    <a:lnTo>
                      <a:pt x="52" y="336"/>
                    </a:lnTo>
                    <a:lnTo>
                      <a:pt x="73" y="344"/>
                    </a:lnTo>
                    <a:lnTo>
                      <a:pt x="98" y="351"/>
                    </a:lnTo>
                    <a:lnTo>
                      <a:pt x="126" y="356"/>
                    </a:lnTo>
                    <a:lnTo>
                      <a:pt x="154" y="360"/>
                    </a:lnTo>
                    <a:lnTo>
                      <a:pt x="184" y="363"/>
                    </a:lnTo>
                    <a:lnTo>
                      <a:pt x="216" y="364"/>
                    </a:lnTo>
                    <a:lnTo>
                      <a:pt x="248" y="364"/>
                    </a:lnTo>
                    <a:lnTo>
                      <a:pt x="280" y="363"/>
                    </a:lnTo>
                    <a:lnTo>
                      <a:pt x="310" y="360"/>
                    </a:lnTo>
                    <a:lnTo>
                      <a:pt x="338" y="356"/>
                    </a:lnTo>
                    <a:lnTo>
                      <a:pt x="366" y="351"/>
                    </a:lnTo>
                    <a:lnTo>
                      <a:pt x="391" y="344"/>
                    </a:lnTo>
                    <a:lnTo>
                      <a:pt x="412" y="336"/>
                    </a:lnTo>
                    <a:lnTo>
                      <a:pt x="430" y="327"/>
                    </a:lnTo>
                    <a:lnTo>
                      <a:pt x="445" y="318"/>
                    </a:lnTo>
                    <a:lnTo>
                      <a:pt x="455" y="309"/>
                    </a:lnTo>
                    <a:lnTo>
                      <a:pt x="462" y="298"/>
                    </a:lnTo>
                    <a:lnTo>
                      <a:pt x="464" y="287"/>
                    </a:lnTo>
                    <a:lnTo>
                      <a:pt x="464" y="77"/>
                    </a:lnTo>
                    <a:lnTo>
                      <a:pt x="462" y="66"/>
                    </a:lnTo>
                    <a:lnTo>
                      <a:pt x="455" y="55"/>
                    </a:lnTo>
                    <a:lnTo>
                      <a:pt x="445" y="46"/>
                    </a:lnTo>
                    <a:lnTo>
                      <a:pt x="430" y="37"/>
                    </a:lnTo>
                    <a:lnTo>
                      <a:pt x="412" y="27"/>
                    </a:lnTo>
                    <a:lnTo>
                      <a:pt x="391" y="20"/>
                    </a:lnTo>
                    <a:lnTo>
                      <a:pt x="366" y="13"/>
                    </a:lnTo>
                    <a:lnTo>
                      <a:pt x="338" y="8"/>
                    </a:lnTo>
                    <a:lnTo>
                      <a:pt x="310" y="4"/>
                    </a:lnTo>
                    <a:lnTo>
                      <a:pt x="280" y="1"/>
                    </a:lnTo>
                    <a:lnTo>
                      <a:pt x="248" y="0"/>
                    </a:lnTo>
                    <a:lnTo>
                      <a:pt x="216" y="0"/>
                    </a:lnTo>
                    <a:lnTo>
                      <a:pt x="184" y="1"/>
                    </a:lnTo>
                    <a:lnTo>
                      <a:pt x="154" y="4"/>
                    </a:lnTo>
                    <a:lnTo>
                      <a:pt x="126" y="8"/>
                    </a:lnTo>
                    <a:lnTo>
                      <a:pt x="98" y="13"/>
                    </a:lnTo>
                    <a:lnTo>
                      <a:pt x="73" y="20"/>
                    </a:lnTo>
                    <a:lnTo>
                      <a:pt x="52" y="27"/>
                    </a:lnTo>
                    <a:lnTo>
                      <a:pt x="34" y="37"/>
                    </a:lnTo>
                    <a:lnTo>
                      <a:pt x="19" y="46"/>
                    </a:lnTo>
                    <a:lnTo>
                      <a:pt x="9" y="55"/>
                    </a:lnTo>
                    <a:lnTo>
                      <a:pt x="2" y="66"/>
                    </a:lnTo>
                    <a:lnTo>
                      <a:pt x="0" y="77"/>
                    </a:lnTo>
                    <a:close/>
                  </a:path>
                </a:pathLst>
              </a:custGeom>
              <a:solidFill>
                <a:srgbClr val="8E85B7"/>
              </a:solidFill>
              <a:ln w="9525">
                <a:solidFill>
                  <a:srgbClr val="23CBFF"/>
                </a:solidFill>
                <a:round/>
                <a:headEnd/>
                <a:tailEnd/>
              </a:ln>
            </p:spPr>
            <p:txBody>
              <a:bodyPr/>
              <a:lstStyle/>
              <a:p>
                <a:endParaRPr lang="zh-CN" altLang="en-US"/>
              </a:p>
            </p:txBody>
          </p:sp>
          <p:sp>
            <p:nvSpPr>
              <p:cNvPr id="43057" name="Freeform 37"/>
              <p:cNvSpPr>
                <a:spLocks/>
              </p:cNvSpPr>
              <p:nvPr/>
            </p:nvSpPr>
            <p:spPr bwMode="auto">
              <a:xfrm>
                <a:off x="941" y="956"/>
                <a:ext cx="463" cy="154"/>
              </a:xfrm>
              <a:custGeom>
                <a:avLst/>
                <a:gdLst>
                  <a:gd name="T0" fmla="*/ 463 w 463"/>
                  <a:gd name="T1" fmla="*/ 77 h 154"/>
                  <a:gd name="T2" fmla="*/ 461 w 463"/>
                  <a:gd name="T3" fmla="*/ 87 h 154"/>
                  <a:gd name="T4" fmla="*/ 454 w 463"/>
                  <a:gd name="T5" fmla="*/ 98 h 154"/>
                  <a:gd name="T6" fmla="*/ 443 w 463"/>
                  <a:gd name="T7" fmla="*/ 108 h 154"/>
                  <a:gd name="T8" fmla="*/ 428 w 463"/>
                  <a:gd name="T9" fmla="*/ 117 h 154"/>
                  <a:gd name="T10" fmla="*/ 409 w 463"/>
                  <a:gd name="T11" fmla="*/ 126 h 154"/>
                  <a:gd name="T12" fmla="*/ 386 w 463"/>
                  <a:gd name="T13" fmla="*/ 134 h 154"/>
                  <a:gd name="T14" fmla="*/ 361 w 463"/>
                  <a:gd name="T15" fmla="*/ 141 h 154"/>
                  <a:gd name="T16" fmla="*/ 333 w 463"/>
                  <a:gd name="T17" fmla="*/ 146 h 154"/>
                  <a:gd name="T18" fmla="*/ 302 w 463"/>
                  <a:gd name="T19" fmla="*/ 150 h 154"/>
                  <a:gd name="T20" fmla="*/ 272 w 463"/>
                  <a:gd name="T21" fmla="*/ 152 h 154"/>
                  <a:gd name="T22" fmla="*/ 239 w 463"/>
                  <a:gd name="T23" fmla="*/ 154 h 154"/>
                  <a:gd name="T24" fmla="*/ 207 w 463"/>
                  <a:gd name="T25" fmla="*/ 153 h 154"/>
                  <a:gd name="T26" fmla="*/ 174 w 463"/>
                  <a:gd name="T27" fmla="*/ 151 h 154"/>
                  <a:gd name="T28" fmla="*/ 144 w 463"/>
                  <a:gd name="T29" fmla="*/ 148 h 154"/>
                  <a:gd name="T30" fmla="*/ 116 w 463"/>
                  <a:gd name="T31" fmla="*/ 144 h 154"/>
                  <a:gd name="T32" fmla="*/ 88 w 463"/>
                  <a:gd name="T33" fmla="*/ 138 h 154"/>
                  <a:gd name="T34" fmla="*/ 65 w 463"/>
                  <a:gd name="T35" fmla="*/ 130 h 154"/>
                  <a:gd name="T36" fmla="*/ 43 w 463"/>
                  <a:gd name="T37" fmla="*/ 122 h 154"/>
                  <a:gd name="T38" fmla="*/ 26 w 463"/>
                  <a:gd name="T39" fmla="*/ 113 h 154"/>
                  <a:gd name="T40" fmla="*/ 14 w 463"/>
                  <a:gd name="T41" fmla="*/ 103 h 154"/>
                  <a:gd name="T42" fmla="*/ 5 w 463"/>
                  <a:gd name="T43" fmla="*/ 92 h 154"/>
                  <a:gd name="T44" fmla="*/ 0 w 463"/>
                  <a:gd name="T45" fmla="*/ 82 h 154"/>
                  <a:gd name="T46" fmla="*/ 0 w 463"/>
                  <a:gd name="T47" fmla="*/ 71 h 154"/>
                  <a:gd name="T48" fmla="*/ 5 w 463"/>
                  <a:gd name="T49" fmla="*/ 60 h 154"/>
                  <a:gd name="T50" fmla="*/ 14 w 463"/>
                  <a:gd name="T51" fmla="*/ 50 h 154"/>
                  <a:gd name="T52" fmla="*/ 26 w 463"/>
                  <a:gd name="T53" fmla="*/ 40 h 154"/>
                  <a:gd name="T54" fmla="*/ 43 w 463"/>
                  <a:gd name="T55" fmla="*/ 31 h 154"/>
                  <a:gd name="T56" fmla="*/ 65 w 463"/>
                  <a:gd name="T57" fmla="*/ 22 h 154"/>
                  <a:gd name="T58" fmla="*/ 88 w 463"/>
                  <a:gd name="T59" fmla="*/ 15 h 154"/>
                  <a:gd name="T60" fmla="*/ 116 w 463"/>
                  <a:gd name="T61" fmla="*/ 10 h 154"/>
                  <a:gd name="T62" fmla="*/ 144 w 463"/>
                  <a:gd name="T63" fmla="*/ 5 h 154"/>
                  <a:gd name="T64" fmla="*/ 174 w 463"/>
                  <a:gd name="T65" fmla="*/ 2 h 154"/>
                  <a:gd name="T66" fmla="*/ 207 w 463"/>
                  <a:gd name="T67" fmla="*/ 0 h 154"/>
                  <a:gd name="T68" fmla="*/ 239 w 463"/>
                  <a:gd name="T69" fmla="*/ 0 h 154"/>
                  <a:gd name="T70" fmla="*/ 272 w 463"/>
                  <a:gd name="T71" fmla="*/ 1 h 154"/>
                  <a:gd name="T72" fmla="*/ 302 w 463"/>
                  <a:gd name="T73" fmla="*/ 3 h 154"/>
                  <a:gd name="T74" fmla="*/ 333 w 463"/>
                  <a:gd name="T75" fmla="*/ 7 h 154"/>
                  <a:gd name="T76" fmla="*/ 361 w 463"/>
                  <a:gd name="T77" fmla="*/ 12 h 154"/>
                  <a:gd name="T78" fmla="*/ 386 w 463"/>
                  <a:gd name="T79" fmla="*/ 19 h 154"/>
                  <a:gd name="T80" fmla="*/ 409 w 463"/>
                  <a:gd name="T81" fmla="*/ 26 h 154"/>
                  <a:gd name="T82" fmla="*/ 428 w 463"/>
                  <a:gd name="T83" fmla="*/ 36 h 154"/>
                  <a:gd name="T84" fmla="*/ 443 w 463"/>
                  <a:gd name="T85" fmla="*/ 45 h 154"/>
                  <a:gd name="T86" fmla="*/ 454 w 463"/>
                  <a:gd name="T87" fmla="*/ 55 h 154"/>
                  <a:gd name="T88" fmla="*/ 461 w 463"/>
                  <a:gd name="T89" fmla="*/ 66 h 154"/>
                  <a:gd name="T90" fmla="*/ 463 w 463"/>
                  <a:gd name="T91" fmla="*/ 77 h 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63"/>
                  <a:gd name="T139" fmla="*/ 0 h 154"/>
                  <a:gd name="T140" fmla="*/ 463 w 463"/>
                  <a:gd name="T141" fmla="*/ 154 h 15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63" h="154">
                    <a:moveTo>
                      <a:pt x="463" y="77"/>
                    </a:moveTo>
                    <a:lnTo>
                      <a:pt x="461" y="87"/>
                    </a:lnTo>
                    <a:lnTo>
                      <a:pt x="454" y="98"/>
                    </a:lnTo>
                    <a:lnTo>
                      <a:pt x="443" y="108"/>
                    </a:lnTo>
                    <a:lnTo>
                      <a:pt x="428" y="117"/>
                    </a:lnTo>
                    <a:lnTo>
                      <a:pt x="409" y="126"/>
                    </a:lnTo>
                    <a:lnTo>
                      <a:pt x="386" y="134"/>
                    </a:lnTo>
                    <a:lnTo>
                      <a:pt x="361" y="141"/>
                    </a:lnTo>
                    <a:lnTo>
                      <a:pt x="333" y="146"/>
                    </a:lnTo>
                    <a:lnTo>
                      <a:pt x="302" y="150"/>
                    </a:lnTo>
                    <a:lnTo>
                      <a:pt x="272" y="152"/>
                    </a:lnTo>
                    <a:lnTo>
                      <a:pt x="239" y="154"/>
                    </a:lnTo>
                    <a:lnTo>
                      <a:pt x="207" y="153"/>
                    </a:lnTo>
                    <a:lnTo>
                      <a:pt x="174" y="151"/>
                    </a:lnTo>
                    <a:lnTo>
                      <a:pt x="144" y="148"/>
                    </a:lnTo>
                    <a:lnTo>
                      <a:pt x="116" y="144"/>
                    </a:lnTo>
                    <a:lnTo>
                      <a:pt x="88" y="138"/>
                    </a:lnTo>
                    <a:lnTo>
                      <a:pt x="65" y="130"/>
                    </a:lnTo>
                    <a:lnTo>
                      <a:pt x="43" y="122"/>
                    </a:lnTo>
                    <a:lnTo>
                      <a:pt x="26" y="113"/>
                    </a:lnTo>
                    <a:lnTo>
                      <a:pt x="14" y="103"/>
                    </a:lnTo>
                    <a:lnTo>
                      <a:pt x="5" y="92"/>
                    </a:lnTo>
                    <a:lnTo>
                      <a:pt x="0" y="82"/>
                    </a:lnTo>
                    <a:lnTo>
                      <a:pt x="0" y="71"/>
                    </a:lnTo>
                    <a:lnTo>
                      <a:pt x="5" y="60"/>
                    </a:lnTo>
                    <a:lnTo>
                      <a:pt x="14" y="50"/>
                    </a:lnTo>
                    <a:lnTo>
                      <a:pt x="26" y="40"/>
                    </a:lnTo>
                    <a:lnTo>
                      <a:pt x="43" y="31"/>
                    </a:lnTo>
                    <a:lnTo>
                      <a:pt x="65" y="22"/>
                    </a:lnTo>
                    <a:lnTo>
                      <a:pt x="88" y="15"/>
                    </a:lnTo>
                    <a:lnTo>
                      <a:pt x="116" y="10"/>
                    </a:lnTo>
                    <a:lnTo>
                      <a:pt x="144" y="5"/>
                    </a:lnTo>
                    <a:lnTo>
                      <a:pt x="174" y="2"/>
                    </a:lnTo>
                    <a:lnTo>
                      <a:pt x="207" y="0"/>
                    </a:lnTo>
                    <a:lnTo>
                      <a:pt x="239" y="0"/>
                    </a:lnTo>
                    <a:lnTo>
                      <a:pt x="272" y="1"/>
                    </a:lnTo>
                    <a:lnTo>
                      <a:pt x="302" y="3"/>
                    </a:lnTo>
                    <a:lnTo>
                      <a:pt x="333" y="7"/>
                    </a:lnTo>
                    <a:lnTo>
                      <a:pt x="361" y="12"/>
                    </a:lnTo>
                    <a:lnTo>
                      <a:pt x="386" y="19"/>
                    </a:lnTo>
                    <a:lnTo>
                      <a:pt x="409" y="26"/>
                    </a:lnTo>
                    <a:lnTo>
                      <a:pt x="428" y="36"/>
                    </a:lnTo>
                    <a:lnTo>
                      <a:pt x="443" y="45"/>
                    </a:lnTo>
                    <a:lnTo>
                      <a:pt x="454" y="55"/>
                    </a:lnTo>
                    <a:lnTo>
                      <a:pt x="461" y="66"/>
                    </a:lnTo>
                    <a:lnTo>
                      <a:pt x="463" y="77"/>
                    </a:lnTo>
                    <a:close/>
                  </a:path>
                </a:pathLst>
              </a:custGeom>
              <a:solidFill>
                <a:srgbClr val="BBB4D6"/>
              </a:solidFill>
              <a:ln w="6350">
                <a:solidFill>
                  <a:srgbClr val="04D6EC"/>
                </a:solidFill>
                <a:round/>
                <a:headEnd/>
                <a:tailEnd/>
              </a:ln>
            </p:spPr>
            <p:txBody>
              <a:bodyPr/>
              <a:lstStyle/>
              <a:p>
                <a:endParaRPr lang="zh-CN" altLang="en-US"/>
              </a:p>
            </p:txBody>
          </p:sp>
          <p:sp>
            <p:nvSpPr>
              <p:cNvPr id="43058" name="Freeform 38"/>
              <p:cNvSpPr>
                <a:spLocks noEditPoints="1"/>
              </p:cNvSpPr>
              <p:nvPr/>
            </p:nvSpPr>
            <p:spPr bwMode="auto">
              <a:xfrm>
                <a:off x="1047" y="970"/>
                <a:ext cx="244" cy="121"/>
              </a:xfrm>
              <a:custGeom>
                <a:avLst/>
                <a:gdLst>
                  <a:gd name="T0" fmla="*/ 45 w 244"/>
                  <a:gd name="T1" fmla="*/ 68 h 121"/>
                  <a:gd name="T2" fmla="*/ 187 w 244"/>
                  <a:gd name="T3" fmla="*/ 68 h 121"/>
                  <a:gd name="T4" fmla="*/ 97 w 244"/>
                  <a:gd name="T5" fmla="*/ 103 h 121"/>
                  <a:gd name="T6" fmla="*/ 45 w 244"/>
                  <a:gd name="T7" fmla="*/ 68 h 121"/>
                  <a:gd name="T8" fmla="*/ 200 w 244"/>
                  <a:gd name="T9" fmla="*/ 53 h 121"/>
                  <a:gd name="T10" fmla="*/ 57 w 244"/>
                  <a:gd name="T11" fmla="*/ 53 h 121"/>
                  <a:gd name="T12" fmla="*/ 148 w 244"/>
                  <a:gd name="T13" fmla="*/ 18 h 121"/>
                  <a:gd name="T14" fmla="*/ 200 w 244"/>
                  <a:gd name="T15" fmla="*/ 53 h 121"/>
                  <a:gd name="T16" fmla="*/ 93 w 244"/>
                  <a:gd name="T17" fmla="*/ 121 h 121"/>
                  <a:gd name="T18" fmla="*/ 244 w 244"/>
                  <a:gd name="T19" fmla="*/ 62 h 121"/>
                  <a:gd name="T20" fmla="*/ 151 w 244"/>
                  <a:gd name="T21" fmla="*/ 0 h 121"/>
                  <a:gd name="T22" fmla="*/ 0 w 244"/>
                  <a:gd name="T23" fmla="*/ 59 h 121"/>
                  <a:gd name="T24" fmla="*/ 93 w 244"/>
                  <a:gd name="T25" fmla="*/ 121 h 1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21"/>
                  <a:gd name="T41" fmla="*/ 244 w 244"/>
                  <a:gd name="T42" fmla="*/ 121 h 1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21">
                    <a:moveTo>
                      <a:pt x="45" y="68"/>
                    </a:moveTo>
                    <a:lnTo>
                      <a:pt x="187" y="68"/>
                    </a:lnTo>
                    <a:lnTo>
                      <a:pt x="97" y="103"/>
                    </a:lnTo>
                    <a:lnTo>
                      <a:pt x="45" y="68"/>
                    </a:lnTo>
                    <a:close/>
                    <a:moveTo>
                      <a:pt x="200" y="53"/>
                    </a:moveTo>
                    <a:lnTo>
                      <a:pt x="57" y="53"/>
                    </a:lnTo>
                    <a:lnTo>
                      <a:pt x="148" y="18"/>
                    </a:lnTo>
                    <a:lnTo>
                      <a:pt x="200" y="53"/>
                    </a:lnTo>
                    <a:close/>
                    <a:moveTo>
                      <a:pt x="93" y="121"/>
                    </a:moveTo>
                    <a:lnTo>
                      <a:pt x="244" y="62"/>
                    </a:lnTo>
                    <a:lnTo>
                      <a:pt x="151" y="0"/>
                    </a:lnTo>
                    <a:lnTo>
                      <a:pt x="0" y="59"/>
                    </a:lnTo>
                    <a:lnTo>
                      <a:pt x="93"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9" name="Freeform 39"/>
              <p:cNvSpPr>
                <a:spLocks noEditPoints="1"/>
              </p:cNvSpPr>
              <p:nvPr/>
            </p:nvSpPr>
            <p:spPr bwMode="auto">
              <a:xfrm>
                <a:off x="1053" y="974"/>
                <a:ext cx="244" cy="121"/>
              </a:xfrm>
              <a:custGeom>
                <a:avLst/>
                <a:gdLst>
                  <a:gd name="T0" fmla="*/ 44 w 244"/>
                  <a:gd name="T1" fmla="*/ 68 h 121"/>
                  <a:gd name="T2" fmla="*/ 187 w 244"/>
                  <a:gd name="T3" fmla="*/ 68 h 121"/>
                  <a:gd name="T4" fmla="*/ 96 w 244"/>
                  <a:gd name="T5" fmla="*/ 103 h 121"/>
                  <a:gd name="T6" fmla="*/ 44 w 244"/>
                  <a:gd name="T7" fmla="*/ 68 h 121"/>
                  <a:gd name="T8" fmla="*/ 199 w 244"/>
                  <a:gd name="T9" fmla="*/ 54 h 121"/>
                  <a:gd name="T10" fmla="*/ 57 w 244"/>
                  <a:gd name="T11" fmla="*/ 54 h 121"/>
                  <a:gd name="T12" fmla="*/ 147 w 244"/>
                  <a:gd name="T13" fmla="*/ 19 h 121"/>
                  <a:gd name="T14" fmla="*/ 199 w 244"/>
                  <a:gd name="T15" fmla="*/ 54 h 121"/>
                  <a:gd name="T16" fmla="*/ 93 w 244"/>
                  <a:gd name="T17" fmla="*/ 121 h 121"/>
                  <a:gd name="T18" fmla="*/ 244 w 244"/>
                  <a:gd name="T19" fmla="*/ 63 h 121"/>
                  <a:gd name="T20" fmla="*/ 151 w 244"/>
                  <a:gd name="T21" fmla="*/ 0 h 121"/>
                  <a:gd name="T22" fmla="*/ 0 w 244"/>
                  <a:gd name="T23" fmla="*/ 59 h 121"/>
                  <a:gd name="T24" fmla="*/ 93 w 244"/>
                  <a:gd name="T25" fmla="*/ 121 h 1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21"/>
                  <a:gd name="T41" fmla="*/ 244 w 244"/>
                  <a:gd name="T42" fmla="*/ 121 h 1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21">
                    <a:moveTo>
                      <a:pt x="44" y="68"/>
                    </a:moveTo>
                    <a:lnTo>
                      <a:pt x="187" y="68"/>
                    </a:lnTo>
                    <a:lnTo>
                      <a:pt x="96" y="103"/>
                    </a:lnTo>
                    <a:lnTo>
                      <a:pt x="44" y="68"/>
                    </a:lnTo>
                    <a:close/>
                    <a:moveTo>
                      <a:pt x="199" y="54"/>
                    </a:moveTo>
                    <a:lnTo>
                      <a:pt x="57" y="54"/>
                    </a:lnTo>
                    <a:lnTo>
                      <a:pt x="147" y="19"/>
                    </a:lnTo>
                    <a:lnTo>
                      <a:pt x="199" y="54"/>
                    </a:lnTo>
                    <a:close/>
                    <a:moveTo>
                      <a:pt x="93" y="121"/>
                    </a:moveTo>
                    <a:lnTo>
                      <a:pt x="244" y="63"/>
                    </a:lnTo>
                    <a:lnTo>
                      <a:pt x="151" y="0"/>
                    </a:lnTo>
                    <a:lnTo>
                      <a:pt x="0" y="59"/>
                    </a:lnTo>
                    <a:lnTo>
                      <a:pt x="93" y="1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0" name="Freeform 40"/>
              <p:cNvSpPr>
                <a:spLocks noEditPoints="1"/>
              </p:cNvSpPr>
              <p:nvPr/>
            </p:nvSpPr>
            <p:spPr bwMode="auto">
              <a:xfrm>
                <a:off x="1097" y="1170"/>
                <a:ext cx="161" cy="97"/>
              </a:xfrm>
              <a:custGeom>
                <a:avLst/>
                <a:gdLst>
                  <a:gd name="T0" fmla="*/ 61 w 161"/>
                  <a:gd name="T1" fmla="*/ 55 h 97"/>
                  <a:gd name="T2" fmla="*/ 78 w 161"/>
                  <a:gd name="T3" fmla="*/ 55 h 97"/>
                  <a:gd name="T4" fmla="*/ 113 w 161"/>
                  <a:gd name="T5" fmla="*/ 97 h 97"/>
                  <a:gd name="T6" fmla="*/ 161 w 161"/>
                  <a:gd name="T7" fmla="*/ 97 h 97"/>
                  <a:gd name="T8" fmla="*/ 161 w 161"/>
                  <a:gd name="T9" fmla="*/ 80 h 97"/>
                  <a:gd name="T10" fmla="*/ 141 w 161"/>
                  <a:gd name="T11" fmla="*/ 80 h 97"/>
                  <a:gd name="T12" fmla="*/ 116 w 161"/>
                  <a:gd name="T13" fmla="*/ 51 h 97"/>
                  <a:gd name="T14" fmla="*/ 120 w 161"/>
                  <a:gd name="T15" fmla="*/ 49 h 97"/>
                  <a:gd name="T16" fmla="*/ 128 w 161"/>
                  <a:gd name="T17" fmla="*/ 46 h 97"/>
                  <a:gd name="T18" fmla="*/ 135 w 161"/>
                  <a:gd name="T19" fmla="*/ 42 h 97"/>
                  <a:gd name="T20" fmla="*/ 138 w 161"/>
                  <a:gd name="T21" fmla="*/ 38 h 97"/>
                  <a:gd name="T22" fmla="*/ 142 w 161"/>
                  <a:gd name="T23" fmla="*/ 33 h 97"/>
                  <a:gd name="T24" fmla="*/ 143 w 161"/>
                  <a:gd name="T25" fmla="*/ 27 h 97"/>
                  <a:gd name="T26" fmla="*/ 142 w 161"/>
                  <a:gd name="T27" fmla="*/ 24 h 97"/>
                  <a:gd name="T28" fmla="*/ 141 w 161"/>
                  <a:gd name="T29" fmla="*/ 18 h 97"/>
                  <a:gd name="T30" fmla="*/ 136 w 161"/>
                  <a:gd name="T31" fmla="*/ 13 h 97"/>
                  <a:gd name="T32" fmla="*/ 130 w 161"/>
                  <a:gd name="T33" fmla="*/ 8 h 97"/>
                  <a:gd name="T34" fmla="*/ 128 w 161"/>
                  <a:gd name="T35" fmla="*/ 6 h 97"/>
                  <a:gd name="T36" fmla="*/ 121 w 161"/>
                  <a:gd name="T37" fmla="*/ 3 h 97"/>
                  <a:gd name="T38" fmla="*/ 113 w 161"/>
                  <a:gd name="T39" fmla="*/ 1 h 97"/>
                  <a:gd name="T40" fmla="*/ 104 w 161"/>
                  <a:gd name="T41" fmla="*/ 0 h 97"/>
                  <a:gd name="T42" fmla="*/ 93 w 161"/>
                  <a:gd name="T43" fmla="*/ 0 h 97"/>
                  <a:gd name="T44" fmla="*/ 0 w 161"/>
                  <a:gd name="T45" fmla="*/ 0 h 97"/>
                  <a:gd name="T46" fmla="*/ 0 w 161"/>
                  <a:gd name="T47" fmla="*/ 16 h 97"/>
                  <a:gd name="T48" fmla="*/ 21 w 161"/>
                  <a:gd name="T49" fmla="*/ 16 h 97"/>
                  <a:gd name="T50" fmla="*/ 21 w 161"/>
                  <a:gd name="T51" fmla="*/ 80 h 97"/>
                  <a:gd name="T52" fmla="*/ 0 w 161"/>
                  <a:gd name="T53" fmla="*/ 80 h 97"/>
                  <a:gd name="T54" fmla="*/ 0 w 161"/>
                  <a:gd name="T55" fmla="*/ 97 h 97"/>
                  <a:gd name="T56" fmla="*/ 81 w 161"/>
                  <a:gd name="T57" fmla="*/ 97 h 97"/>
                  <a:gd name="T58" fmla="*/ 81 w 161"/>
                  <a:gd name="T59" fmla="*/ 80 h 97"/>
                  <a:gd name="T60" fmla="*/ 61 w 161"/>
                  <a:gd name="T61" fmla="*/ 80 h 97"/>
                  <a:gd name="T62" fmla="*/ 61 w 161"/>
                  <a:gd name="T63" fmla="*/ 55 h 97"/>
                  <a:gd name="T64" fmla="*/ 61 w 161"/>
                  <a:gd name="T65" fmla="*/ 16 h 97"/>
                  <a:gd name="T66" fmla="*/ 78 w 161"/>
                  <a:gd name="T67" fmla="*/ 16 h 97"/>
                  <a:gd name="T68" fmla="*/ 87 w 161"/>
                  <a:gd name="T69" fmla="*/ 16 h 97"/>
                  <a:gd name="T70" fmla="*/ 94 w 161"/>
                  <a:gd name="T71" fmla="*/ 18 h 97"/>
                  <a:gd name="T72" fmla="*/ 99 w 161"/>
                  <a:gd name="T73" fmla="*/ 22 h 97"/>
                  <a:gd name="T74" fmla="*/ 101 w 161"/>
                  <a:gd name="T75" fmla="*/ 28 h 97"/>
                  <a:gd name="T76" fmla="*/ 101 w 161"/>
                  <a:gd name="T77" fmla="*/ 29 h 97"/>
                  <a:gd name="T78" fmla="*/ 99 w 161"/>
                  <a:gd name="T79" fmla="*/ 33 h 97"/>
                  <a:gd name="T80" fmla="*/ 93 w 161"/>
                  <a:gd name="T81" fmla="*/ 36 h 97"/>
                  <a:gd name="T82" fmla="*/ 86 w 161"/>
                  <a:gd name="T83" fmla="*/ 38 h 97"/>
                  <a:gd name="T84" fmla="*/ 75 w 161"/>
                  <a:gd name="T85" fmla="*/ 39 h 97"/>
                  <a:gd name="T86" fmla="*/ 61 w 161"/>
                  <a:gd name="T87" fmla="*/ 39 h 97"/>
                  <a:gd name="T88" fmla="*/ 61 w 161"/>
                  <a:gd name="T89" fmla="*/ 16 h 9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1"/>
                  <a:gd name="T136" fmla="*/ 0 h 97"/>
                  <a:gd name="T137" fmla="*/ 161 w 161"/>
                  <a:gd name="T138" fmla="*/ 97 h 9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1" h="97">
                    <a:moveTo>
                      <a:pt x="61" y="55"/>
                    </a:moveTo>
                    <a:lnTo>
                      <a:pt x="78" y="55"/>
                    </a:lnTo>
                    <a:lnTo>
                      <a:pt x="113" y="97"/>
                    </a:lnTo>
                    <a:lnTo>
                      <a:pt x="161" y="97"/>
                    </a:lnTo>
                    <a:lnTo>
                      <a:pt x="161" y="80"/>
                    </a:lnTo>
                    <a:lnTo>
                      <a:pt x="141" y="80"/>
                    </a:lnTo>
                    <a:lnTo>
                      <a:pt x="116" y="51"/>
                    </a:lnTo>
                    <a:lnTo>
                      <a:pt x="120" y="49"/>
                    </a:lnTo>
                    <a:lnTo>
                      <a:pt x="128" y="46"/>
                    </a:lnTo>
                    <a:lnTo>
                      <a:pt x="135" y="42"/>
                    </a:lnTo>
                    <a:lnTo>
                      <a:pt x="138" y="38"/>
                    </a:lnTo>
                    <a:lnTo>
                      <a:pt x="142" y="33"/>
                    </a:lnTo>
                    <a:lnTo>
                      <a:pt x="143" y="27"/>
                    </a:lnTo>
                    <a:lnTo>
                      <a:pt x="142" y="24"/>
                    </a:lnTo>
                    <a:lnTo>
                      <a:pt x="141" y="18"/>
                    </a:lnTo>
                    <a:lnTo>
                      <a:pt x="136" y="13"/>
                    </a:lnTo>
                    <a:lnTo>
                      <a:pt x="130" y="8"/>
                    </a:lnTo>
                    <a:lnTo>
                      <a:pt x="128" y="6"/>
                    </a:lnTo>
                    <a:lnTo>
                      <a:pt x="121" y="3"/>
                    </a:lnTo>
                    <a:lnTo>
                      <a:pt x="113" y="1"/>
                    </a:lnTo>
                    <a:lnTo>
                      <a:pt x="104" y="0"/>
                    </a:lnTo>
                    <a:lnTo>
                      <a:pt x="93" y="0"/>
                    </a:lnTo>
                    <a:lnTo>
                      <a:pt x="0" y="0"/>
                    </a:lnTo>
                    <a:lnTo>
                      <a:pt x="0" y="16"/>
                    </a:lnTo>
                    <a:lnTo>
                      <a:pt x="21" y="16"/>
                    </a:lnTo>
                    <a:lnTo>
                      <a:pt x="21" y="80"/>
                    </a:lnTo>
                    <a:lnTo>
                      <a:pt x="0" y="80"/>
                    </a:lnTo>
                    <a:lnTo>
                      <a:pt x="0" y="97"/>
                    </a:lnTo>
                    <a:lnTo>
                      <a:pt x="81" y="97"/>
                    </a:lnTo>
                    <a:lnTo>
                      <a:pt x="81" y="80"/>
                    </a:lnTo>
                    <a:lnTo>
                      <a:pt x="61" y="80"/>
                    </a:lnTo>
                    <a:lnTo>
                      <a:pt x="61" y="55"/>
                    </a:lnTo>
                    <a:close/>
                    <a:moveTo>
                      <a:pt x="61" y="16"/>
                    </a:moveTo>
                    <a:lnTo>
                      <a:pt x="78" y="16"/>
                    </a:lnTo>
                    <a:lnTo>
                      <a:pt x="87" y="16"/>
                    </a:lnTo>
                    <a:lnTo>
                      <a:pt x="94" y="18"/>
                    </a:lnTo>
                    <a:lnTo>
                      <a:pt x="99" y="22"/>
                    </a:lnTo>
                    <a:lnTo>
                      <a:pt x="101" y="28"/>
                    </a:lnTo>
                    <a:lnTo>
                      <a:pt x="101" y="29"/>
                    </a:lnTo>
                    <a:lnTo>
                      <a:pt x="99" y="33"/>
                    </a:lnTo>
                    <a:lnTo>
                      <a:pt x="93" y="36"/>
                    </a:lnTo>
                    <a:lnTo>
                      <a:pt x="86" y="38"/>
                    </a:lnTo>
                    <a:lnTo>
                      <a:pt x="75" y="39"/>
                    </a:lnTo>
                    <a:lnTo>
                      <a:pt x="61" y="39"/>
                    </a:lnTo>
                    <a:lnTo>
                      <a:pt x="61"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61" name="Freeform 41"/>
              <p:cNvSpPr>
                <a:spLocks noEditPoints="1"/>
              </p:cNvSpPr>
              <p:nvPr/>
            </p:nvSpPr>
            <p:spPr bwMode="auto">
              <a:xfrm>
                <a:off x="1086" y="1160"/>
                <a:ext cx="161" cy="97"/>
              </a:xfrm>
              <a:custGeom>
                <a:avLst/>
                <a:gdLst>
                  <a:gd name="T0" fmla="*/ 61 w 161"/>
                  <a:gd name="T1" fmla="*/ 54 h 97"/>
                  <a:gd name="T2" fmla="*/ 79 w 161"/>
                  <a:gd name="T3" fmla="*/ 54 h 97"/>
                  <a:gd name="T4" fmla="*/ 114 w 161"/>
                  <a:gd name="T5" fmla="*/ 97 h 97"/>
                  <a:gd name="T6" fmla="*/ 161 w 161"/>
                  <a:gd name="T7" fmla="*/ 97 h 97"/>
                  <a:gd name="T8" fmla="*/ 161 w 161"/>
                  <a:gd name="T9" fmla="*/ 81 h 97"/>
                  <a:gd name="T10" fmla="*/ 141 w 161"/>
                  <a:gd name="T11" fmla="*/ 81 h 97"/>
                  <a:gd name="T12" fmla="*/ 115 w 161"/>
                  <a:gd name="T13" fmla="*/ 51 h 97"/>
                  <a:gd name="T14" fmla="*/ 121 w 161"/>
                  <a:gd name="T15" fmla="*/ 50 h 97"/>
                  <a:gd name="T16" fmla="*/ 129 w 161"/>
                  <a:gd name="T17" fmla="*/ 46 h 97"/>
                  <a:gd name="T18" fmla="*/ 135 w 161"/>
                  <a:gd name="T19" fmla="*/ 43 h 97"/>
                  <a:gd name="T20" fmla="*/ 139 w 161"/>
                  <a:gd name="T21" fmla="*/ 38 h 97"/>
                  <a:gd name="T22" fmla="*/ 141 w 161"/>
                  <a:gd name="T23" fmla="*/ 33 h 97"/>
                  <a:gd name="T24" fmla="*/ 143 w 161"/>
                  <a:gd name="T25" fmla="*/ 27 h 97"/>
                  <a:gd name="T26" fmla="*/ 143 w 161"/>
                  <a:gd name="T27" fmla="*/ 24 h 97"/>
                  <a:gd name="T28" fmla="*/ 140 w 161"/>
                  <a:gd name="T29" fmla="*/ 18 h 97"/>
                  <a:gd name="T30" fmla="*/ 137 w 161"/>
                  <a:gd name="T31" fmla="*/ 13 h 97"/>
                  <a:gd name="T32" fmla="*/ 131 w 161"/>
                  <a:gd name="T33" fmla="*/ 8 h 97"/>
                  <a:gd name="T34" fmla="*/ 128 w 161"/>
                  <a:gd name="T35" fmla="*/ 7 h 97"/>
                  <a:gd name="T36" fmla="*/ 122 w 161"/>
                  <a:gd name="T37" fmla="*/ 4 h 97"/>
                  <a:gd name="T38" fmla="*/ 113 w 161"/>
                  <a:gd name="T39" fmla="*/ 2 h 97"/>
                  <a:gd name="T40" fmla="*/ 104 w 161"/>
                  <a:gd name="T41" fmla="*/ 1 h 97"/>
                  <a:gd name="T42" fmla="*/ 93 w 161"/>
                  <a:gd name="T43" fmla="*/ 0 h 97"/>
                  <a:gd name="T44" fmla="*/ 0 w 161"/>
                  <a:gd name="T45" fmla="*/ 0 h 97"/>
                  <a:gd name="T46" fmla="*/ 0 w 161"/>
                  <a:gd name="T47" fmla="*/ 16 h 97"/>
                  <a:gd name="T48" fmla="*/ 21 w 161"/>
                  <a:gd name="T49" fmla="*/ 16 h 97"/>
                  <a:gd name="T50" fmla="*/ 21 w 161"/>
                  <a:gd name="T51" fmla="*/ 81 h 97"/>
                  <a:gd name="T52" fmla="*/ 0 w 161"/>
                  <a:gd name="T53" fmla="*/ 81 h 97"/>
                  <a:gd name="T54" fmla="*/ 0 w 161"/>
                  <a:gd name="T55" fmla="*/ 97 h 97"/>
                  <a:gd name="T56" fmla="*/ 80 w 161"/>
                  <a:gd name="T57" fmla="*/ 97 h 97"/>
                  <a:gd name="T58" fmla="*/ 80 w 161"/>
                  <a:gd name="T59" fmla="*/ 81 h 97"/>
                  <a:gd name="T60" fmla="*/ 61 w 161"/>
                  <a:gd name="T61" fmla="*/ 81 h 97"/>
                  <a:gd name="T62" fmla="*/ 61 w 161"/>
                  <a:gd name="T63" fmla="*/ 54 h 97"/>
                  <a:gd name="T64" fmla="*/ 61 w 161"/>
                  <a:gd name="T65" fmla="*/ 16 h 97"/>
                  <a:gd name="T66" fmla="*/ 79 w 161"/>
                  <a:gd name="T67" fmla="*/ 16 h 97"/>
                  <a:gd name="T68" fmla="*/ 87 w 161"/>
                  <a:gd name="T69" fmla="*/ 17 h 97"/>
                  <a:gd name="T70" fmla="*/ 95 w 161"/>
                  <a:gd name="T71" fmla="*/ 19 h 97"/>
                  <a:gd name="T72" fmla="*/ 98 w 161"/>
                  <a:gd name="T73" fmla="*/ 22 h 97"/>
                  <a:gd name="T74" fmla="*/ 101 w 161"/>
                  <a:gd name="T75" fmla="*/ 27 h 97"/>
                  <a:gd name="T76" fmla="*/ 101 w 161"/>
                  <a:gd name="T77" fmla="*/ 28 h 97"/>
                  <a:gd name="T78" fmla="*/ 98 w 161"/>
                  <a:gd name="T79" fmla="*/ 34 h 97"/>
                  <a:gd name="T80" fmla="*/ 94 w 161"/>
                  <a:gd name="T81" fmla="*/ 37 h 97"/>
                  <a:gd name="T82" fmla="*/ 86 w 161"/>
                  <a:gd name="T83" fmla="*/ 39 h 97"/>
                  <a:gd name="T84" fmla="*/ 76 w 161"/>
                  <a:gd name="T85" fmla="*/ 39 h 97"/>
                  <a:gd name="T86" fmla="*/ 61 w 161"/>
                  <a:gd name="T87" fmla="*/ 39 h 97"/>
                  <a:gd name="T88" fmla="*/ 61 w 161"/>
                  <a:gd name="T89" fmla="*/ 16 h 9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1"/>
                  <a:gd name="T136" fmla="*/ 0 h 97"/>
                  <a:gd name="T137" fmla="*/ 161 w 161"/>
                  <a:gd name="T138" fmla="*/ 97 h 9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1" h="97">
                    <a:moveTo>
                      <a:pt x="61" y="54"/>
                    </a:moveTo>
                    <a:lnTo>
                      <a:pt x="79" y="54"/>
                    </a:lnTo>
                    <a:lnTo>
                      <a:pt x="114" y="97"/>
                    </a:lnTo>
                    <a:lnTo>
                      <a:pt x="161" y="97"/>
                    </a:lnTo>
                    <a:lnTo>
                      <a:pt x="161" y="81"/>
                    </a:lnTo>
                    <a:lnTo>
                      <a:pt x="141" y="81"/>
                    </a:lnTo>
                    <a:lnTo>
                      <a:pt x="115" y="51"/>
                    </a:lnTo>
                    <a:lnTo>
                      <a:pt x="121" y="50"/>
                    </a:lnTo>
                    <a:lnTo>
                      <a:pt x="129" y="46"/>
                    </a:lnTo>
                    <a:lnTo>
                      <a:pt x="135" y="43"/>
                    </a:lnTo>
                    <a:lnTo>
                      <a:pt x="139" y="38"/>
                    </a:lnTo>
                    <a:lnTo>
                      <a:pt x="141" y="33"/>
                    </a:lnTo>
                    <a:lnTo>
                      <a:pt x="143" y="27"/>
                    </a:lnTo>
                    <a:lnTo>
                      <a:pt x="143" y="24"/>
                    </a:lnTo>
                    <a:lnTo>
                      <a:pt x="140" y="18"/>
                    </a:lnTo>
                    <a:lnTo>
                      <a:pt x="137" y="13"/>
                    </a:lnTo>
                    <a:lnTo>
                      <a:pt x="131" y="8"/>
                    </a:lnTo>
                    <a:lnTo>
                      <a:pt x="128" y="7"/>
                    </a:lnTo>
                    <a:lnTo>
                      <a:pt x="122" y="4"/>
                    </a:lnTo>
                    <a:lnTo>
                      <a:pt x="113" y="2"/>
                    </a:lnTo>
                    <a:lnTo>
                      <a:pt x="104" y="1"/>
                    </a:lnTo>
                    <a:lnTo>
                      <a:pt x="93" y="0"/>
                    </a:lnTo>
                    <a:lnTo>
                      <a:pt x="0" y="0"/>
                    </a:lnTo>
                    <a:lnTo>
                      <a:pt x="0" y="16"/>
                    </a:lnTo>
                    <a:lnTo>
                      <a:pt x="21" y="16"/>
                    </a:lnTo>
                    <a:lnTo>
                      <a:pt x="21" y="81"/>
                    </a:lnTo>
                    <a:lnTo>
                      <a:pt x="0" y="81"/>
                    </a:lnTo>
                    <a:lnTo>
                      <a:pt x="0" y="97"/>
                    </a:lnTo>
                    <a:lnTo>
                      <a:pt x="80" y="97"/>
                    </a:lnTo>
                    <a:lnTo>
                      <a:pt x="80" y="81"/>
                    </a:lnTo>
                    <a:lnTo>
                      <a:pt x="61" y="81"/>
                    </a:lnTo>
                    <a:lnTo>
                      <a:pt x="61" y="54"/>
                    </a:lnTo>
                    <a:close/>
                    <a:moveTo>
                      <a:pt x="61" y="16"/>
                    </a:moveTo>
                    <a:lnTo>
                      <a:pt x="79" y="16"/>
                    </a:lnTo>
                    <a:lnTo>
                      <a:pt x="87" y="17"/>
                    </a:lnTo>
                    <a:lnTo>
                      <a:pt x="95" y="19"/>
                    </a:lnTo>
                    <a:lnTo>
                      <a:pt x="98" y="22"/>
                    </a:lnTo>
                    <a:lnTo>
                      <a:pt x="101" y="27"/>
                    </a:lnTo>
                    <a:lnTo>
                      <a:pt x="101" y="28"/>
                    </a:lnTo>
                    <a:lnTo>
                      <a:pt x="98" y="34"/>
                    </a:lnTo>
                    <a:lnTo>
                      <a:pt x="94" y="37"/>
                    </a:lnTo>
                    <a:lnTo>
                      <a:pt x="86" y="39"/>
                    </a:lnTo>
                    <a:lnTo>
                      <a:pt x="76" y="39"/>
                    </a:lnTo>
                    <a:lnTo>
                      <a:pt x="61" y="39"/>
                    </a:lnTo>
                    <a:lnTo>
                      <a:pt x="61"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037" name="Group 42"/>
            <p:cNvGrpSpPr>
              <a:grpSpLocks/>
            </p:cNvGrpSpPr>
            <p:nvPr/>
          </p:nvGrpSpPr>
          <p:grpSpPr bwMode="auto">
            <a:xfrm>
              <a:off x="1559" y="2137"/>
              <a:ext cx="584" cy="271"/>
              <a:chOff x="820" y="1552"/>
              <a:chExt cx="671" cy="422"/>
            </a:xfrm>
          </p:grpSpPr>
          <p:sp>
            <p:nvSpPr>
              <p:cNvPr id="43049" name="Freeform 43"/>
              <p:cNvSpPr>
                <a:spLocks/>
              </p:cNvSpPr>
              <p:nvPr/>
            </p:nvSpPr>
            <p:spPr bwMode="auto">
              <a:xfrm>
                <a:off x="820" y="1552"/>
                <a:ext cx="671" cy="422"/>
              </a:xfrm>
              <a:custGeom>
                <a:avLst/>
                <a:gdLst>
                  <a:gd name="T0" fmla="*/ 495 w 671"/>
                  <a:gd name="T1" fmla="*/ 422 h 422"/>
                  <a:gd name="T2" fmla="*/ 671 w 671"/>
                  <a:gd name="T3" fmla="*/ 247 h 422"/>
                  <a:gd name="T4" fmla="*/ 671 w 671"/>
                  <a:gd name="T5" fmla="*/ 0 h 422"/>
                  <a:gd name="T6" fmla="*/ 175 w 671"/>
                  <a:gd name="T7" fmla="*/ 0 h 422"/>
                  <a:gd name="T8" fmla="*/ 0 w 671"/>
                  <a:gd name="T9" fmla="*/ 175 h 422"/>
                  <a:gd name="T10" fmla="*/ 0 w 671"/>
                  <a:gd name="T11" fmla="*/ 422 h 422"/>
                  <a:gd name="T12" fmla="*/ 495 w 671"/>
                  <a:gd name="T13" fmla="*/ 422 h 422"/>
                  <a:gd name="T14" fmla="*/ 0 60000 65536"/>
                  <a:gd name="T15" fmla="*/ 0 60000 65536"/>
                  <a:gd name="T16" fmla="*/ 0 60000 65536"/>
                  <a:gd name="T17" fmla="*/ 0 60000 65536"/>
                  <a:gd name="T18" fmla="*/ 0 60000 65536"/>
                  <a:gd name="T19" fmla="*/ 0 60000 65536"/>
                  <a:gd name="T20" fmla="*/ 0 60000 65536"/>
                  <a:gd name="T21" fmla="*/ 0 w 671"/>
                  <a:gd name="T22" fmla="*/ 0 h 422"/>
                  <a:gd name="T23" fmla="*/ 671 w 671"/>
                  <a:gd name="T24" fmla="*/ 422 h 4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1" h="422">
                    <a:moveTo>
                      <a:pt x="495" y="422"/>
                    </a:moveTo>
                    <a:lnTo>
                      <a:pt x="671" y="247"/>
                    </a:lnTo>
                    <a:lnTo>
                      <a:pt x="671" y="0"/>
                    </a:lnTo>
                    <a:lnTo>
                      <a:pt x="175" y="0"/>
                    </a:lnTo>
                    <a:lnTo>
                      <a:pt x="0" y="175"/>
                    </a:lnTo>
                    <a:lnTo>
                      <a:pt x="0" y="422"/>
                    </a:lnTo>
                    <a:lnTo>
                      <a:pt x="495" y="422"/>
                    </a:lnTo>
                    <a:close/>
                  </a:path>
                </a:pathLst>
              </a:custGeom>
              <a:solidFill>
                <a:srgbClr val="6D619E"/>
              </a:solidFill>
              <a:ln w="9525">
                <a:solidFill>
                  <a:srgbClr val="23CBFF"/>
                </a:solidFill>
                <a:round/>
                <a:headEnd/>
                <a:tailEnd/>
              </a:ln>
            </p:spPr>
            <p:txBody>
              <a:bodyPr/>
              <a:lstStyle/>
              <a:p>
                <a:endParaRPr lang="zh-CN" altLang="en-US"/>
              </a:p>
            </p:txBody>
          </p:sp>
          <p:sp>
            <p:nvSpPr>
              <p:cNvPr id="43050" name="Rectangle 44"/>
              <p:cNvSpPr>
                <a:spLocks noChangeArrowheads="1"/>
              </p:cNvSpPr>
              <p:nvPr/>
            </p:nvSpPr>
            <p:spPr bwMode="auto">
              <a:xfrm>
                <a:off x="820" y="1727"/>
                <a:ext cx="495" cy="247"/>
              </a:xfrm>
              <a:prstGeom prst="rect">
                <a:avLst/>
              </a:prstGeom>
              <a:solidFill>
                <a:srgbClr val="8E85B7"/>
              </a:solidFill>
              <a:ln w="9525">
                <a:solidFill>
                  <a:srgbClr val="23CBFF"/>
                </a:solidFill>
                <a:miter lim="800000"/>
                <a:headEnd/>
                <a:tailEnd/>
              </a:ln>
            </p:spPr>
            <p:txBody>
              <a:bodyPr/>
              <a:lstStyle/>
              <a:p>
                <a:endParaRPr lang="zh-CN" altLang="en-US"/>
              </a:p>
            </p:txBody>
          </p:sp>
          <p:sp>
            <p:nvSpPr>
              <p:cNvPr id="43051" name="Freeform 45"/>
              <p:cNvSpPr>
                <a:spLocks/>
              </p:cNvSpPr>
              <p:nvPr/>
            </p:nvSpPr>
            <p:spPr bwMode="auto">
              <a:xfrm>
                <a:off x="820" y="1552"/>
                <a:ext cx="671" cy="175"/>
              </a:xfrm>
              <a:custGeom>
                <a:avLst/>
                <a:gdLst>
                  <a:gd name="T0" fmla="*/ 0 w 671"/>
                  <a:gd name="T1" fmla="*/ 175 h 175"/>
                  <a:gd name="T2" fmla="*/ 495 w 671"/>
                  <a:gd name="T3" fmla="*/ 175 h 175"/>
                  <a:gd name="T4" fmla="*/ 671 w 671"/>
                  <a:gd name="T5" fmla="*/ 0 h 175"/>
                  <a:gd name="T6" fmla="*/ 175 w 671"/>
                  <a:gd name="T7" fmla="*/ 0 h 175"/>
                  <a:gd name="T8" fmla="*/ 0 w 671"/>
                  <a:gd name="T9" fmla="*/ 175 h 175"/>
                  <a:gd name="T10" fmla="*/ 0 60000 65536"/>
                  <a:gd name="T11" fmla="*/ 0 60000 65536"/>
                  <a:gd name="T12" fmla="*/ 0 60000 65536"/>
                  <a:gd name="T13" fmla="*/ 0 60000 65536"/>
                  <a:gd name="T14" fmla="*/ 0 60000 65536"/>
                  <a:gd name="T15" fmla="*/ 0 w 671"/>
                  <a:gd name="T16" fmla="*/ 0 h 175"/>
                  <a:gd name="T17" fmla="*/ 671 w 671"/>
                  <a:gd name="T18" fmla="*/ 175 h 175"/>
                </a:gdLst>
                <a:ahLst/>
                <a:cxnLst>
                  <a:cxn ang="T10">
                    <a:pos x="T0" y="T1"/>
                  </a:cxn>
                  <a:cxn ang="T11">
                    <a:pos x="T2" y="T3"/>
                  </a:cxn>
                  <a:cxn ang="T12">
                    <a:pos x="T4" y="T5"/>
                  </a:cxn>
                  <a:cxn ang="T13">
                    <a:pos x="T6" y="T7"/>
                  </a:cxn>
                  <a:cxn ang="T14">
                    <a:pos x="T8" y="T9"/>
                  </a:cxn>
                </a:cxnLst>
                <a:rect l="T15" t="T16" r="T17" b="T18"/>
                <a:pathLst>
                  <a:path w="671" h="175">
                    <a:moveTo>
                      <a:pt x="0" y="175"/>
                    </a:moveTo>
                    <a:lnTo>
                      <a:pt x="495" y="175"/>
                    </a:lnTo>
                    <a:lnTo>
                      <a:pt x="671" y="0"/>
                    </a:lnTo>
                    <a:lnTo>
                      <a:pt x="175" y="0"/>
                    </a:lnTo>
                    <a:lnTo>
                      <a:pt x="0" y="175"/>
                    </a:lnTo>
                    <a:close/>
                  </a:path>
                </a:pathLst>
              </a:custGeom>
              <a:solidFill>
                <a:srgbClr val="BBB4D6"/>
              </a:solidFill>
              <a:ln w="9525">
                <a:solidFill>
                  <a:srgbClr val="23CBFF"/>
                </a:solidFill>
                <a:round/>
                <a:headEnd/>
                <a:tailEnd/>
              </a:ln>
            </p:spPr>
            <p:txBody>
              <a:bodyPr/>
              <a:lstStyle/>
              <a:p>
                <a:endParaRPr lang="zh-CN" altLang="en-US"/>
              </a:p>
            </p:txBody>
          </p:sp>
          <p:sp>
            <p:nvSpPr>
              <p:cNvPr id="43052" name="Freeform 46"/>
              <p:cNvSpPr>
                <a:spLocks noEditPoints="1"/>
              </p:cNvSpPr>
              <p:nvPr/>
            </p:nvSpPr>
            <p:spPr bwMode="auto">
              <a:xfrm>
                <a:off x="1003" y="1584"/>
                <a:ext cx="291" cy="102"/>
              </a:xfrm>
              <a:custGeom>
                <a:avLst/>
                <a:gdLst>
                  <a:gd name="T0" fmla="*/ 146 w 291"/>
                  <a:gd name="T1" fmla="*/ 41 h 102"/>
                  <a:gd name="T2" fmla="*/ 115 w 291"/>
                  <a:gd name="T3" fmla="*/ 18 h 102"/>
                  <a:gd name="T4" fmla="*/ 203 w 291"/>
                  <a:gd name="T5" fmla="*/ 18 h 102"/>
                  <a:gd name="T6" fmla="*/ 146 w 291"/>
                  <a:gd name="T7" fmla="*/ 41 h 102"/>
                  <a:gd name="T8" fmla="*/ 144 w 291"/>
                  <a:gd name="T9" fmla="*/ 62 h 102"/>
                  <a:gd name="T10" fmla="*/ 174 w 291"/>
                  <a:gd name="T11" fmla="*/ 85 h 102"/>
                  <a:gd name="T12" fmla="*/ 86 w 291"/>
                  <a:gd name="T13" fmla="*/ 85 h 102"/>
                  <a:gd name="T14" fmla="*/ 144 w 291"/>
                  <a:gd name="T15" fmla="*/ 62 h 102"/>
                  <a:gd name="T16" fmla="*/ 0 w 291"/>
                  <a:gd name="T17" fmla="*/ 102 h 102"/>
                  <a:gd name="T18" fmla="*/ 225 w 291"/>
                  <a:gd name="T19" fmla="*/ 102 h 102"/>
                  <a:gd name="T20" fmla="*/ 162 w 291"/>
                  <a:gd name="T21" fmla="*/ 53 h 102"/>
                  <a:gd name="T22" fmla="*/ 291 w 291"/>
                  <a:gd name="T23" fmla="*/ 0 h 102"/>
                  <a:gd name="T24" fmla="*/ 64 w 291"/>
                  <a:gd name="T25" fmla="*/ 0 h 102"/>
                  <a:gd name="T26" fmla="*/ 128 w 291"/>
                  <a:gd name="T27" fmla="*/ 50 h 102"/>
                  <a:gd name="T28" fmla="*/ 0 w 291"/>
                  <a:gd name="T29" fmla="*/ 102 h 1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1"/>
                  <a:gd name="T46" fmla="*/ 0 h 102"/>
                  <a:gd name="T47" fmla="*/ 291 w 291"/>
                  <a:gd name="T48" fmla="*/ 102 h 10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1" h="102">
                    <a:moveTo>
                      <a:pt x="146" y="41"/>
                    </a:moveTo>
                    <a:lnTo>
                      <a:pt x="115" y="18"/>
                    </a:lnTo>
                    <a:lnTo>
                      <a:pt x="203" y="18"/>
                    </a:lnTo>
                    <a:lnTo>
                      <a:pt x="146" y="41"/>
                    </a:lnTo>
                    <a:close/>
                    <a:moveTo>
                      <a:pt x="144" y="62"/>
                    </a:moveTo>
                    <a:lnTo>
                      <a:pt x="174" y="85"/>
                    </a:lnTo>
                    <a:lnTo>
                      <a:pt x="86" y="85"/>
                    </a:lnTo>
                    <a:lnTo>
                      <a:pt x="144" y="62"/>
                    </a:lnTo>
                    <a:close/>
                    <a:moveTo>
                      <a:pt x="0" y="102"/>
                    </a:moveTo>
                    <a:lnTo>
                      <a:pt x="225" y="102"/>
                    </a:lnTo>
                    <a:lnTo>
                      <a:pt x="162" y="53"/>
                    </a:lnTo>
                    <a:lnTo>
                      <a:pt x="291" y="0"/>
                    </a:lnTo>
                    <a:lnTo>
                      <a:pt x="64" y="0"/>
                    </a:lnTo>
                    <a:lnTo>
                      <a:pt x="128" y="50"/>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3" name="Freeform 47"/>
              <p:cNvSpPr>
                <a:spLocks noEditPoints="1"/>
              </p:cNvSpPr>
              <p:nvPr/>
            </p:nvSpPr>
            <p:spPr bwMode="auto">
              <a:xfrm>
                <a:off x="1017" y="1593"/>
                <a:ext cx="291" cy="101"/>
              </a:xfrm>
              <a:custGeom>
                <a:avLst/>
                <a:gdLst>
                  <a:gd name="T0" fmla="*/ 147 w 291"/>
                  <a:gd name="T1" fmla="*/ 41 h 101"/>
                  <a:gd name="T2" fmla="*/ 117 w 291"/>
                  <a:gd name="T3" fmla="*/ 17 h 101"/>
                  <a:gd name="T4" fmla="*/ 205 w 291"/>
                  <a:gd name="T5" fmla="*/ 17 h 101"/>
                  <a:gd name="T6" fmla="*/ 147 w 291"/>
                  <a:gd name="T7" fmla="*/ 41 h 101"/>
                  <a:gd name="T8" fmla="*/ 144 w 291"/>
                  <a:gd name="T9" fmla="*/ 60 h 101"/>
                  <a:gd name="T10" fmla="*/ 176 w 291"/>
                  <a:gd name="T11" fmla="*/ 84 h 101"/>
                  <a:gd name="T12" fmla="*/ 87 w 291"/>
                  <a:gd name="T13" fmla="*/ 84 h 101"/>
                  <a:gd name="T14" fmla="*/ 144 w 291"/>
                  <a:gd name="T15" fmla="*/ 60 h 101"/>
                  <a:gd name="T16" fmla="*/ 0 w 291"/>
                  <a:gd name="T17" fmla="*/ 101 h 101"/>
                  <a:gd name="T18" fmla="*/ 227 w 291"/>
                  <a:gd name="T19" fmla="*/ 101 h 101"/>
                  <a:gd name="T20" fmla="*/ 163 w 291"/>
                  <a:gd name="T21" fmla="*/ 53 h 101"/>
                  <a:gd name="T22" fmla="*/ 291 w 291"/>
                  <a:gd name="T23" fmla="*/ 0 h 101"/>
                  <a:gd name="T24" fmla="*/ 66 w 291"/>
                  <a:gd name="T25" fmla="*/ 0 h 101"/>
                  <a:gd name="T26" fmla="*/ 129 w 291"/>
                  <a:gd name="T27" fmla="*/ 48 h 101"/>
                  <a:gd name="T28" fmla="*/ 0 w 291"/>
                  <a:gd name="T29" fmla="*/ 101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1"/>
                  <a:gd name="T46" fmla="*/ 0 h 101"/>
                  <a:gd name="T47" fmla="*/ 291 w 291"/>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1" h="101">
                    <a:moveTo>
                      <a:pt x="147" y="41"/>
                    </a:moveTo>
                    <a:lnTo>
                      <a:pt x="117" y="17"/>
                    </a:lnTo>
                    <a:lnTo>
                      <a:pt x="205" y="17"/>
                    </a:lnTo>
                    <a:lnTo>
                      <a:pt x="147" y="41"/>
                    </a:lnTo>
                    <a:close/>
                    <a:moveTo>
                      <a:pt x="144" y="60"/>
                    </a:moveTo>
                    <a:lnTo>
                      <a:pt x="176" y="84"/>
                    </a:lnTo>
                    <a:lnTo>
                      <a:pt x="87" y="84"/>
                    </a:lnTo>
                    <a:lnTo>
                      <a:pt x="144" y="60"/>
                    </a:lnTo>
                    <a:close/>
                    <a:moveTo>
                      <a:pt x="0" y="101"/>
                    </a:moveTo>
                    <a:lnTo>
                      <a:pt x="227" y="101"/>
                    </a:lnTo>
                    <a:lnTo>
                      <a:pt x="163" y="53"/>
                    </a:lnTo>
                    <a:lnTo>
                      <a:pt x="291" y="0"/>
                    </a:lnTo>
                    <a:lnTo>
                      <a:pt x="66" y="0"/>
                    </a:lnTo>
                    <a:lnTo>
                      <a:pt x="129" y="48"/>
                    </a:lnTo>
                    <a:lnTo>
                      <a:pt x="0" y="1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4" name="Freeform 48"/>
              <p:cNvSpPr>
                <a:spLocks/>
              </p:cNvSpPr>
              <p:nvPr/>
            </p:nvSpPr>
            <p:spPr bwMode="auto">
              <a:xfrm>
                <a:off x="1015" y="1803"/>
                <a:ext cx="149" cy="115"/>
              </a:xfrm>
              <a:custGeom>
                <a:avLst/>
                <a:gdLst>
                  <a:gd name="T0" fmla="*/ 106 w 149"/>
                  <a:gd name="T1" fmla="*/ 112 h 115"/>
                  <a:gd name="T2" fmla="*/ 83 w 149"/>
                  <a:gd name="T3" fmla="*/ 115 h 115"/>
                  <a:gd name="T4" fmla="*/ 58 w 149"/>
                  <a:gd name="T5" fmla="*/ 112 h 115"/>
                  <a:gd name="T6" fmla="*/ 39 w 149"/>
                  <a:gd name="T7" fmla="*/ 104 h 115"/>
                  <a:gd name="T8" fmla="*/ 1 w 149"/>
                  <a:gd name="T9" fmla="*/ 113 h 115"/>
                  <a:gd name="T10" fmla="*/ 39 w 149"/>
                  <a:gd name="T11" fmla="*/ 75 h 115"/>
                  <a:gd name="T12" fmla="*/ 46 w 149"/>
                  <a:gd name="T13" fmla="*/ 88 h 115"/>
                  <a:gd name="T14" fmla="*/ 60 w 149"/>
                  <a:gd name="T15" fmla="*/ 94 h 115"/>
                  <a:gd name="T16" fmla="*/ 86 w 149"/>
                  <a:gd name="T17" fmla="*/ 94 h 115"/>
                  <a:gd name="T18" fmla="*/ 97 w 149"/>
                  <a:gd name="T19" fmla="*/ 86 h 115"/>
                  <a:gd name="T20" fmla="*/ 94 w 149"/>
                  <a:gd name="T21" fmla="*/ 77 h 115"/>
                  <a:gd name="T22" fmla="*/ 82 w 149"/>
                  <a:gd name="T23" fmla="*/ 71 h 115"/>
                  <a:gd name="T24" fmla="*/ 65 w 149"/>
                  <a:gd name="T25" fmla="*/ 66 h 115"/>
                  <a:gd name="T26" fmla="*/ 36 w 149"/>
                  <a:gd name="T27" fmla="*/ 59 h 115"/>
                  <a:gd name="T28" fmla="*/ 17 w 149"/>
                  <a:gd name="T29" fmla="*/ 52 h 115"/>
                  <a:gd name="T30" fmla="*/ 6 w 149"/>
                  <a:gd name="T31" fmla="*/ 46 h 115"/>
                  <a:gd name="T32" fmla="*/ 0 w 149"/>
                  <a:gd name="T33" fmla="*/ 32 h 115"/>
                  <a:gd name="T34" fmla="*/ 1 w 149"/>
                  <a:gd name="T35" fmla="*/ 24 h 115"/>
                  <a:gd name="T36" fmla="*/ 11 w 149"/>
                  <a:gd name="T37" fmla="*/ 12 h 115"/>
                  <a:gd name="T38" fmla="*/ 29 w 149"/>
                  <a:gd name="T39" fmla="*/ 5 h 115"/>
                  <a:gd name="T40" fmla="*/ 53 w 149"/>
                  <a:gd name="T41" fmla="*/ 0 h 115"/>
                  <a:gd name="T42" fmla="*/ 73 w 149"/>
                  <a:gd name="T43" fmla="*/ 1 h 115"/>
                  <a:gd name="T44" fmla="*/ 94 w 149"/>
                  <a:gd name="T45" fmla="*/ 7 h 115"/>
                  <a:gd name="T46" fmla="*/ 100 w 149"/>
                  <a:gd name="T47" fmla="*/ 1 h 115"/>
                  <a:gd name="T48" fmla="*/ 137 w 149"/>
                  <a:gd name="T49" fmla="*/ 35 h 115"/>
                  <a:gd name="T50" fmla="*/ 97 w 149"/>
                  <a:gd name="T51" fmla="*/ 29 h 115"/>
                  <a:gd name="T52" fmla="*/ 89 w 149"/>
                  <a:gd name="T53" fmla="*/ 23 h 115"/>
                  <a:gd name="T54" fmla="*/ 68 w 149"/>
                  <a:gd name="T55" fmla="*/ 19 h 115"/>
                  <a:gd name="T56" fmla="*/ 52 w 149"/>
                  <a:gd name="T57" fmla="*/ 22 h 115"/>
                  <a:gd name="T58" fmla="*/ 46 w 149"/>
                  <a:gd name="T59" fmla="*/ 28 h 115"/>
                  <a:gd name="T60" fmla="*/ 51 w 149"/>
                  <a:gd name="T61" fmla="*/ 35 h 115"/>
                  <a:gd name="T62" fmla="*/ 71 w 149"/>
                  <a:gd name="T63" fmla="*/ 41 h 115"/>
                  <a:gd name="T64" fmla="*/ 97 w 149"/>
                  <a:gd name="T65" fmla="*/ 47 h 115"/>
                  <a:gd name="T66" fmla="*/ 119 w 149"/>
                  <a:gd name="T67" fmla="*/ 53 h 115"/>
                  <a:gd name="T68" fmla="*/ 131 w 149"/>
                  <a:gd name="T69" fmla="*/ 58 h 115"/>
                  <a:gd name="T70" fmla="*/ 140 w 149"/>
                  <a:gd name="T71" fmla="*/ 65 h 115"/>
                  <a:gd name="T72" fmla="*/ 148 w 149"/>
                  <a:gd name="T73" fmla="*/ 77 h 115"/>
                  <a:gd name="T74" fmla="*/ 148 w 149"/>
                  <a:gd name="T75" fmla="*/ 89 h 115"/>
                  <a:gd name="T76" fmla="*/ 138 w 149"/>
                  <a:gd name="T77" fmla="*/ 101 h 115"/>
                  <a:gd name="T78" fmla="*/ 129 w 149"/>
                  <a:gd name="T79" fmla="*/ 106 h 1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9"/>
                  <a:gd name="T121" fmla="*/ 0 h 115"/>
                  <a:gd name="T122" fmla="*/ 149 w 149"/>
                  <a:gd name="T123" fmla="*/ 115 h 1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9" h="115">
                    <a:moveTo>
                      <a:pt x="119" y="110"/>
                    </a:moveTo>
                    <a:lnTo>
                      <a:pt x="106" y="112"/>
                    </a:lnTo>
                    <a:lnTo>
                      <a:pt x="93" y="115"/>
                    </a:lnTo>
                    <a:lnTo>
                      <a:pt x="83" y="115"/>
                    </a:lnTo>
                    <a:lnTo>
                      <a:pt x="70" y="113"/>
                    </a:lnTo>
                    <a:lnTo>
                      <a:pt x="58" y="112"/>
                    </a:lnTo>
                    <a:lnTo>
                      <a:pt x="47" y="109"/>
                    </a:lnTo>
                    <a:lnTo>
                      <a:pt x="39" y="104"/>
                    </a:lnTo>
                    <a:lnTo>
                      <a:pt x="39" y="113"/>
                    </a:lnTo>
                    <a:lnTo>
                      <a:pt x="1" y="113"/>
                    </a:lnTo>
                    <a:lnTo>
                      <a:pt x="1" y="75"/>
                    </a:lnTo>
                    <a:lnTo>
                      <a:pt x="39" y="75"/>
                    </a:lnTo>
                    <a:lnTo>
                      <a:pt x="41" y="82"/>
                    </a:lnTo>
                    <a:lnTo>
                      <a:pt x="46" y="88"/>
                    </a:lnTo>
                    <a:lnTo>
                      <a:pt x="49" y="90"/>
                    </a:lnTo>
                    <a:lnTo>
                      <a:pt x="60" y="94"/>
                    </a:lnTo>
                    <a:lnTo>
                      <a:pt x="73" y="95"/>
                    </a:lnTo>
                    <a:lnTo>
                      <a:pt x="86" y="94"/>
                    </a:lnTo>
                    <a:lnTo>
                      <a:pt x="91" y="92"/>
                    </a:lnTo>
                    <a:lnTo>
                      <a:pt x="97" y="86"/>
                    </a:lnTo>
                    <a:lnTo>
                      <a:pt x="97" y="83"/>
                    </a:lnTo>
                    <a:lnTo>
                      <a:pt x="94" y="77"/>
                    </a:lnTo>
                    <a:lnTo>
                      <a:pt x="91" y="75"/>
                    </a:lnTo>
                    <a:lnTo>
                      <a:pt x="82" y="71"/>
                    </a:lnTo>
                    <a:lnTo>
                      <a:pt x="69" y="68"/>
                    </a:lnTo>
                    <a:lnTo>
                      <a:pt x="65" y="66"/>
                    </a:lnTo>
                    <a:lnTo>
                      <a:pt x="49" y="63"/>
                    </a:lnTo>
                    <a:lnTo>
                      <a:pt x="36" y="59"/>
                    </a:lnTo>
                    <a:lnTo>
                      <a:pt x="25" y="55"/>
                    </a:lnTo>
                    <a:lnTo>
                      <a:pt x="17" y="52"/>
                    </a:lnTo>
                    <a:lnTo>
                      <a:pt x="13" y="51"/>
                    </a:lnTo>
                    <a:lnTo>
                      <a:pt x="6" y="46"/>
                    </a:lnTo>
                    <a:lnTo>
                      <a:pt x="1" y="40"/>
                    </a:lnTo>
                    <a:lnTo>
                      <a:pt x="0" y="32"/>
                    </a:lnTo>
                    <a:lnTo>
                      <a:pt x="0" y="31"/>
                    </a:lnTo>
                    <a:lnTo>
                      <a:pt x="1" y="24"/>
                    </a:lnTo>
                    <a:lnTo>
                      <a:pt x="5" y="17"/>
                    </a:lnTo>
                    <a:lnTo>
                      <a:pt x="11" y="12"/>
                    </a:lnTo>
                    <a:lnTo>
                      <a:pt x="18" y="8"/>
                    </a:lnTo>
                    <a:lnTo>
                      <a:pt x="29" y="5"/>
                    </a:lnTo>
                    <a:lnTo>
                      <a:pt x="41" y="1"/>
                    </a:lnTo>
                    <a:lnTo>
                      <a:pt x="53" y="0"/>
                    </a:lnTo>
                    <a:lnTo>
                      <a:pt x="59" y="0"/>
                    </a:lnTo>
                    <a:lnTo>
                      <a:pt x="73" y="1"/>
                    </a:lnTo>
                    <a:lnTo>
                      <a:pt x="85" y="3"/>
                    </a:lnTo>
                    <a:lnTo>
                      <a:pt x="94" y="7"/>
                    </a:lnTo>
                    <a:lnTo>
                      <a:pt x="100" y="11"/>
                    </a:lnTo>
                    <a:lnTo>
                      <a:pt x="100" y="1"/>
                    </a:lnTo>
                    <a:lnTo>
                      <a:pt x="137" y="1"/>
                    </a:lnTo>
                    <a:lnTo>
                      <a:pt x="137" y="35"/>
                    </a:lnTo>
                    <a:lnTo>
                      <a:pt x="100" y="35"/>
                    </a:lnTo>
                    <a:lnTo>
                      <a:pt x="97" y="29"/>
                    </a:lnTo>
                    <a:lnTo>
                      <a:pt x="89" y="23"/>
                    </a:lnTo>
                    <a:lnTo>
                      <a:pt x="77" y="19"/>
                    </a:lnTo>
                    <a:lnTo>
                      <a:pt x="68" y="19"/>
                    </a:lnTo>
                    <a:lnTo>
                      <a:pt x="56" y="20"/>
                    </a:lnTo>
                    <a:lnTo>
                      <a:pt x="52" y="22"/>
                    </a:lnTo>
                    <a:lnTo>
                      <a:pt x="46" y="26"/>
                    </a:lnTo>
                    <a:lnTo>
                      <a:pt x="46" y="28"/>
                    </a:lnTo>
                    <a:lnTo>
                      <a:pt x="51" y="34"/>
                    </a:lnTo>
                    <a:lnTo>
                      <a:pt x="51" y="35"/>
                    </a:lnTo>
                    <a:lnTo>
                      <a:pt x="58" y="37"/>
                    </a:lnTo>
                    <a:lnTo>
                      <a:pt x="71" y="41"/>
                    </a:lnTo>
                    <a:lnTo>
                      <a:pt x="82" y="43"/>
                    </a:lnTo>
                    <a:lnTo>
                      <a:pt x="97" y="47"/>
                    </a:lnTo>
                    <a:lnTo>
                      <a:pt x="109" y="49"/>
                    </a:lnTo>
                    <a:lnTo>
                      <a:pt x="119" y="53"/>
                    </a:lnTo>
                    <a:lnTo>
                      <a:pt x="120" y="53"/>
                    </a:lnTo>
                    <a:lnTo>
                      <a:pt x="131" y="58"/>
                    </a:lnTo>
                    <a:lnTo>
                      <a:pt x="138" y="63"/>
                    </a:lnTo>
                    <a:lnTo>
                      <a:pt x="140" y="65"/>
                    </a:lnTo>
                    <a:lnTo>
                      <a:pt x="145" y="71"/>
                    </a:lnTo>
                    <a:lnTo>
                      <a:pt x="148" y="77"/>
                    </a:lnTo>
                    <a:lnTo>
                      <a:pt x="149" y="81"/>
                    </a:lnTo>
                    <a:lnTo>
                      <a:pt x="148" y="89"/>
                    </a:lnTo>
                    <a:lnTo>
                      <a:pt x="144" y="95"/>
                    </a:lnTo>
                    <a:lnTo>
                      <a:pt x="138" y="101"/>
                    </a:lnTo>
                    <a:lnTo>
                      <a:pt x="131" y="106"/>
                    </a:lnTo>
                    <a:lnTo>
                      <a:pt x="129" y="106"/>
                    </a:lnTo>
                    <a:lnTo>
                      <a:pt x="119"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055" name="Freeform 49"/>
              <p:cNvSpPr>
                <a:spLocks/>
              </p:cNvSpPr>
              <p:nvPr/>
            </p:nvSpPr>
            <p:spPr bwMode="auto">
              <a:xfrm>
                <a:off x="1003" y="1796"/>
                <a:ext cx="149" cy="114"/>
              </a:xfrm>
              <a:custGeom>
                <a:avLst/>
                <a:gdLst>
                  <a:gd name="T0" fmla="*/ 108 w 149"/>
                  <a:gd name="T1" fmla="*/ 112 h 114"/>
                  <a:gd name="T2" fmla="*/ 85 w 149"/>
                  <a:gd name="T3" fmla="*/ 114 h 114"/>
                  <a:gd name="T4" fmla="*/ 58 w 149"/>
                  <a:gd name="T5" fmla="*/ 111 h 114"/>
                  <a:gd name="T6" fmla="*/ 40 w 149"/>
                  <a:gd name="T7" fmla="*/ 104 h 114"/>
                  <a:gd name="T8" fmla="*/ 2 w 149"/>
                  <a:gd name="T9" fmla="*/ 113 h 114"/>
                  <a:gd name="T10" fmla="*/ 40 w 149"/>
                  <a:gd name="T11" fmla="*/ 75 h 114"/>
                  <a:gd name="T12" fmla="*/ 47 w 149"/>
                  <a:gd name="T13" fmla="*/ 88 h 114"/>
                  <a:gd name="T14" fmla="*/ 61 w 149"/>
                  <a:gd name="T15" fmla="*/ 94 h 114"/>
                  <a:gd name="T16" fmla="*/ 86 w 149"/>
                  <a:gd name="T17" fmla="*/ 93 h 114"/>
                  <a:gd name="T18" fmla="*/ 97 w 149"/>
                  <a:gd name="T19" fmla="*/ 85 h 114"/>
                  <a:gd name="T20" fmla="*/ 94 w 149"/>
                  <a:gd name="T21" fmla="*/ 77 h 114"/>
                  <a:gd name="T22" fmla="*/ 82 w 149"/>
                  <a:gd name="T23" fmla="*/ 71 h 114"/>
                  <a:gd name="T24" fmla="*/ 66 w 149"/>
                  <a:gd name="T25" fmla="*/ 66 h 114"/>
                  <a:gd name="T26" fmla="*/ 37 w 149"/>
                  <a:gd name="T27" fmla="*/ 59 h 114"/>
                  <a:gd name="T28" fmla="*/ 18 w 149"/>
                  <a:gd name="T29" fmla="*/ 52 h 114"/>
                  <a:gd name="T30" fmla="*/ 6 w 149"/>
                  <a:gd name="T31" fmla="*/ 44 h 114"/>
                  <a:gd name="T32" fmla="*/ 0 w 149"/>
                  <a:gd name="T33" fmla="*/ 31 h 114"/>
                  <a:gd name="T34" fmla="*/ 1 w 149"/>
                  <a:gd name="T35" fmla="*/ 23 h 114"/>
                  <a:gd name="T36" fmla="*/ 11 w 149"/>
                  <a:gd name="T37" fmla="*/ 12 h 114"/>
                  <a:gd name="T38" fmla="*/ 29 w 149"/>
                  <a:gd name="T39" fmla="*/ 3 h 114"/>
                  <a:gd name="T40" fmla="*/ 54 w 149"/>
                  <a:gd name="T41" fmla="*/ 0 h 114"/>
                  <a:gd name="T42" fmla="*/ 72 w 149"/>
                  <a:gd name="T43" fmla="*/ 1 h 114"/>
                  <a:gd name="T44" fmla="*/ 94 w 149"/>
                  <a:gd name="T45" fmla="*/ 7 h 114"/>
                  <a:gd name="T46" fmla="*/ 100 w 149"/>
                  <a:gd name="T47" fmla="*/ 1 h 114"/>
                  <a:gd name="T48" fmla="*/ 138 w 149"/>
                  <a:gd name="T49" fmla="*/ 35 h 114"/>
                  <a:gd name="T50" fmla="*/ 97 w 149"/>
                  <a:gd name="T51" fmla="*/ 27 h 114"/>
                  <a:gd name="T52" fmla="*/ 89 w 149"/>
                  <a:gd name="T53" fmla="*/ 23 h 114"/>
                  <a:gd name="T54" fmla="*/ 69 w 149"/>
                  <a:gd name="T55" fmla="*/ 18 h 114"/>
                  <a:gd name="T56" fmla="*/ 53 w 149"/>
                  <a:gd name="T57" fmla="*/ 20 h 114"/>
                  <a:gd name="T58" fmla="*/ 47 w 149"/>
                  <a:gd name="T59" fmla="*/ 27 h 114"/>
                  <a:gd name="T60" fmla="*/ 52 w 149"/>
                  <a:gd name="T61" fmla="*/ 33 h 114"/>
                  <a:gd name="T62" fmla="*/ 71 w 149"/>
                  <a:gd name="T63" fmla="*/ 39 h 114"/>
                  <a:gd name="T64" fmla="*/ 97 w 149"/>
                  <a:gd name="T65" fmla="*/ 46 h 114"/>
                  <a:gd name="T66" fmla="*/ 120 w 149"/>
                  <a:gd name="T67" fmla="*/ 53 h 114"/>
                  <a:gd name="T68" fmla="*/ 131 w 149"/>
                  <a:gd name="T69" fmla="*/ 56 h 114"/>
                  <a:gd name="T70" fmla="*/ 141 w 149"/>
                  <a:gd name="T71" fmla="*/ 64 h 114"/>
                  <a:gd name="T72" fmla="*/ 149 w 149"/>
                  <a:gd name="T73" fmla="*/ 77 h 114"/>
                  <a:gd name="T74" fmla="*/ 148 w 149"/>
                  <a:gd name="T75" fmla="*/ 88 h 114"/>
                  <a:gd name="T76" fmla="*/ 139 w 149"/>
                  <a:gd name="T77" fmla="*/ 100 h 114"/>
                  <a:gd name="T78" fmla="*/ 129 w 149"/>
                  <a:gd name="T79" fmla="*/ 106 h 11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9"/>
                  <a:gd name="T121" fmla="*/ 0 h 114"/>
                  <a:gd name="T122" fmla="*/ 149 w 149"/>
                  <a:gd name="T123" fmla="*/ 114 h 11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9" h="114">
                    <a:moveTo>
                      <a:pt x="118" y="110"/>
                    </a:moveTo>
                    <a:lnTo>
                      <a:pt x="108" y="112"/>
                    </a:lnTo>
                    <a:lnTo>
                      <a:pt x="94" y="113"/>
                    </a:lnTo>
                    <a:lnTo>
                      <a:pt x="85" y="114"/>
                    </a:lnTo>
                    <a:lnTo>
                      <a:pt x="70" y="113"/>
                    </a:lnTo>
                    <a:lnTo>
                      <a:pt x="58" y="111"/>
                    </a:lnTo>
                    <a:lnTo>
                      <a:pt x="48" y="107"/>
                    </a:lnTo>
                    <a:lnTo>
                      <a:pt x="40" y="104"/>
                    </a:lnTo>
                    <a:lnTo>
                      <a:pt x="40" y="113"/>
                    </a:lnTo>
                    <a:lnTo>
                      <a:pt x="2" y="113"/>
                    </a:lnTo>
                    <a:lnTo>
                      <a:pt x="2" y="75"/>
                    </a:lnTo>
                    <a:lnTo>
                      <a:pt x="40" y="75"/>
                    </a:lnTo>
                    <a:lnTo>
                      <a:pt x="41" y="82"/>
                    </a:lnTo>
                    <a:lnTo>
                      <a:pt x="47" y="88"/>
                    </a:lnTo>
                    <a:lnTo>
                      <a:pt x="51" y="90"/>
                    </a:lnTo>
                    <a:lnTo>
                      <a:pt x="61" y="94"/>
                    </a:lnTo>
                    <a:lnTo>
                      <a:pt x="74" y="95"/>
                    </a:lnTo>
                    <a:lnTo>
                      <a:pt x="86" y="93"/>
                    </a:lnTo>
                    <a:lnTo>
                      <a:pt x="91" y="91"/>
                    </a:lnTo>
                    <a:lnTo>
                      <a:pt x="97" y="85"/>
                    </a:lnTo>
                    <a:lnTo>
                      <a:pt x="98" y="83"/>
                    </a:lnTo>
                    <a:lnTo>
                      <a:pt x="94" y="77"/>
                    </a:lnTo>
                    <a:lnTo>
                      <a:pt x="91" y="75"/>
                    </a:lnTo>
                    <a:lnTo>
                      <a:pt x="82" y="71"/>
                    </a:lnTo>
                    <a:lnTo>
                      <a:pt x="69" y="67"/>
                    </a:lnTo>
                    <a:lnTo>
                      <a:pt x="66" y="66"/>
                    </a:lnTo>
                    <a:lnTo>
                      <a:pt x="51" y="62"/>
                    </a:lnTo>
                    <a:lnTo>
                      <a:pt x="37" y="59"/>
                    </a:lnTo>
                    <a:lnTo>
                      <a:pt x="26" y="55"/>
                    </a:lnTo>
                    <a:lnTo>
                      <a:pt x="18" y="52"/>
                    </a:lnTo>
                    <a:lnTo>
                      <a:pt x="14" y="49"/>
                    </a:lnTo>
                    <a:lnTo>
                      <a:pt x="6" y="44"/>
                    </a:lnTo>
                    <a:lnTo>
                      <a:pt x="2" y="38"/>
                    </a:lnTo>
                    <a:lnTo>
                      <a:pt x="0" y="31"/>
                    </a:lnTo>
                    <a:lnTo>
                      <a:pt x="0" y="30"/>
                    </a:lnTo>
                    <a:lnTo>
                      <a:pt x="1" y="23"/>
                    </a:lnTo>
                    <a:lnTo>
                      <a:pt x="5" y="17"/>
                    </a:lnTo>
                    <a:lnTo>
                      <a:pt x="11" y="12"/>
                    </a:lnTo>
                    <a:lnTo>
                      <a:pt x="18" y="8"/>
                    </a:lnTo>
                    <a:lnTo>
                      <a:pt x="29" y="3"/>
                    </a:lnTo>
                    <a:lnTo>
                      <a:pt x="41" y="1"/>
                    </a:lnTo>
                    <a:lnTo>
                      <a:pt x="54" y="0"/>
                    </a:lnTo>
                    <a:lnTo>
                      <a:pt x="59" y="0"/>
                    </a:lnTo>
                    <a:lnTo>
                      <a:pt x="72" y="1"/>
                    </a:lnTo>
                    <a:lnTo>
                      <a:pt x="85" y="3"/>
                    </a:lnTo>
                    <a:lnTo>
                      <a:pt x="94" y="7"/>
                    </a:lnTo>
                    <a:lnTo>
                      <a:pt x="100" y="10"/>
                    </a:lnTo>
                    <a:lnTo>
                      <a:pt x="100" y="1"/>
                    </a:lnTo>
                    <a:lnTo>
                      <a:pt x="138" y="1"/>
                    </a:lnTo>
                    <a:lnTo>
                      <a:pt x="138" y="35"/>
                    </a:lnTo>
                    <a:lnTo>
                      <a:pt x="100" y="35"/>
                    </a:lnTo>
                    <a:lnTo>
                      <a:pt x="97" y="27"/>
                    </a:lnTo>
                    <a:lnTo>
                      <a:pt x="89" y="23"/>
                    </a:lnTo>
                    <a:lnTo>
                      <a:pt x="78" y="19"/>
                    </a:lnTo>
                    <a:lnTo>
                      <a:pt x="69" y="18"/>
                    </a:lnTo>
                    <a:lnTo>
                      <a:pt x="55" y="20"/>
                    </a:lnTo>
                    <a:lnTo>
                      <a:pt x="53" y="20"/>
                    </a:lnTo>
                    <a:lnTo>
                      <a:pt x="47" y="26"/>
                    </a:lnTo>
                    <a:lnTo>
                      <a:pt x="47" y="27"/>
                    </a:lnTo>
                    <a:lnTo>
                      <a:pt x="51" y="33"/>
                    </a:lnTo>
                    <a:lnTo>
                      <a:pt x="52" y="33"/>
                    </a:lnTo>
                    <a:lnTo>
                      <a:pt x="59" y="37"/>
                    </a:lnTo>
                    <a:lnTo>
                      <a:pt x="71" y="39"/>
                    </a:lnTo>
                    <a:lnTo>
                      <a:pt x="82" y="43"/>
                    </a:lnTo>
                    <a:lnTo>
                      <a:pt x="97" y="46"/>
                    </a:lnTo>
                    <a:lnTo>
                      <a:pt x="110" y="49"/>
                    </a:lnTo>
                    <a:lnTo>
                      <a:pt x="120" y="53"/>
                    </a:lnTo>
                    <a:lnTo>
                      <a:pt x="121" y="53"/>
                    </a:lnTo>
                    <a:lnTo>
                      <a:pt x="131" y="56"/>
                    </a:lnTo>
                    <a:lnTo>
                      <a:pt x="139" y="62"/>
                    </a:lnTo>
                    <a:lnTo>
                      <a:pt x="141" y="64"/>
                    </a:lnTo>
                    <a:lnTo>
                      <a:pt x="146" y="70"/>
                    </a:lnTo>
                    <a:lnTo>
                      <a:pt x="149" y="77"/>
                    </a:lnTo>
                    <a:lnTo>
                      <a:pt x="149" y="81"/>
                    </a:lnTo>
                    <a:lnTo>
                      <a:pt x="148" y="88"/>
                    </a:lnTo>
                    <a:lnTo>
                      <a:pt x="144" y="95"/>
                    </a:lnTo>
                    <a:lnTo>
                      <a:pt x="139" y="100"/>
                    </a:lnTo>
                    <a:lnTo>
                      <a:pt x="131" y="105"/>
                    </a:lnTo>
                    <a:lnTo>
                      <a:pt x="129" y="106"/>
                    </a:lnTo>
                    <a:lnTo>
                      <a:pt x="118" y="1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43038" name="Picture 50" descr="显示屏-2"/>
            <p:cNvPicPr preferRelativeResize="0">
              <a:picLocks noChangeAspect="1" noChangeArrowheads="1"/>
            </p:cNvPicPr>
            <p:nvPr/>
          </p:nvPicPr>
          <p:blipFill>
            <a:blip r:embed="rId2" cstate="print">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3320" y="2818"/>
              <a:ext cx="382"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39" name="Text Box 51"/>
            <p:cNvSpPr txBox="1">
              <a:spLocks noChangeArrowheads="1"/>
            </p:cNvSpPr>
            <p:nvPr/>
          </p:nvSpPr>
          <p:spPr bwMode="auto">
            <a:xfrm>
              <a:off x="768" y="3159"/>
              <a:ext cx="1248"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Ip:192.168.2.10/24</a:t>
              </a:r>
            </a:p>
            <a:p>
              <a:pPr algn="just" eaLnBrk="0" hangingPunct="0"/>
              <a:r>
                <a:rPr lang="en-US" altLang="zh-CN" sz="1600">
                  <a:latin typeface="Times New Roman" pitchFamily="18" charset="0"/>
                </a:rPr>
                <a:t>Gw:192.168.2.1</a:t>
              </a:r>
            </a:p>
          </p:txBody>
        </p:sp>
        <p:sp>
          <p:nvSpPr>
            <p:cNvPr id="43040" name="Text Box 52"/>
            <p:cNvSpPr txBox="1">
              <a:spLocks noChangeArrowheads="1"/>
            </p:cNvSpPr>
            <p:nvPr/>
          </p:nvSpPr>
          <p:spPr bwMode="auto">
            <a:xfrm>
              <a:off x="1852" y="3159"/>
              <a:ext cx="1124"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Ip:192.168.2.11/24</a:t>
              </a:r>
            </a:p>
            <a:p>
              <a:pPr algn="just" eaLnBrk="0" hangingPunct="0"/>
              <a:r>
                <a:rPr lang="en-US" altLang="zh-CN" sz="1600">
                  <a:latin typeface="Times New Roman" pitchFamily="18" charset="0"/>
                </a:rPr>
                <a:t>Gw:192.168.2.1</a:t>
              </a:r>
            </a:p>
          </p:txBody>
        </p:sp>
        <p:sp>
          <p:nvSpPr>
            <p:cNvPr id="43041" name="Text Box 53"/>
            <p:cNvSpPr txBox="1">
              <a:spLocks noChangeArrowheads="1"/>
            </p:cNvSpPr>
            <p:nvPr/>
          </p:nvSpPr>
          <p:spPr bwMode="auto">
            <a:xfrm>
              <a:off x="3027" y="3244"/>
              <a:ext cx="1293"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Ip:192.168.3.10/24</a:t>
              </a:r>
            </a:p>
            <a:p>
              <a:pPr algn="just" eaLnBrk="0" hangingPunct="0"/>
              <a:r>
                <a:rPr lang="en-US" altLang="zh-CN" sz="1600">
                  <a:latin typeface="Times New Roman" pitchFamily="18" charset="0"/>
                </a:rPr>
                <a:t>Gw:192.168.3.2</a:t>
              </a:r>
            </a:p>
          </p:txBody>
        </p:sp>
        <p:sp>
          <p:nvSpPr>
            <p:cNvPr id="43042" name="Text Box 54"/>
            <p:cNvSpPr txBox="1">
              <a:spLocks noChangeArrowheads="1"/>
            </p:cNvSpPr>
            <p:nvPr/>
          </p:nvSpPr>
          <p:spPr bwMode="auto">
            <a:xfrm>
              <a:off x="4201" y="3244"/>
              <a:ext cx="1223"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dirty="0">
                  <a:latin typeface="Times New Roman" pitchFamily="18" charset="0"/>
                </a:rPr>
                <a:t>Ip:192.168.3.11/24</a:t>
              </a:r>
            </a:p>
            <a:p>
              <a:pPr algn="just" eaLnBrk="0" hangingPunct="0"/>
              <a:r>
                <a:rPr lang="en-US" altLang="zh-CN" sz="1600" dirty="0">
                  <a:latin typeface="Times New Roman" pitchFamily="18" charset="0"/>
                </a:rPr>
                <a:t>Gw:192.168.3.2</a:t>
              </a:r>
            </a:p>
          </p:txBody>
        </p:sp>
        <p:sp>
          <p:nvSpPr>
            <p:cNvPr id="43043" name="Text Box 55"/>
            <p:cNvSpPr txBox="1">
              <a:spLocks noChangeArrowheads="1"/>
            </p:cNvSpPr>
            <p:nvPr/>
          </p:nvSpPr>
          <p:spPr bwMode="auto">
            <a:xfrm>
              <a:off x="873" y="3585"/>
              <a:ext cx="420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zh-CN" altLang="en-US" sz="1600">
                  <a:latin typeface="Times New Roman" pitchFamily="18" charset="0"/>
                </a:rPr>
                <a:t>注：交换机</a:t>
              </a:r>
              <a:r>
                <a:rPr lang="en-US" altLang="zh-CN" sz="1600">
                  <a:latin typeface="Times New Roman" pitchFamily="18" charset="0"/>
                </a:rPr>
                <a:t>S1</a:t>
              </a:r>
              <a:r>
                <a:rPr lang="zh-CN" altLang="en-US" sz="1600">
                  <a:latin typeface="Times New Roman" pitchFamily="18" charset="0"/>
                </a:rPr>
                <a:t>和</a:t>
              </a:r>
              <a:r>
                <a:rPr lang="en-US" altLang="zh-CN" sz="1600">
                  <a:latin typeface="Times New Roman" pitchFamily="18" charset="0"/>
                </a:rPr>
                <a:t>S2</a:t>
              </a:r>
              <a:r>
                <a:rPr lang="zh-CN" altLang="en-US" sz="1600">
                  <a:latin typeface="Times New Roman" pitchFamily="18" charset="0"/>
                </a:rPr>
                <a:t>各端口都在</a:t>
              </a:r>
              <a:r>
                <a:rPr lang="en-US" altLang="zh-CN" sz="1600">
                  <a:latin typeface="Times New Roman" pitchFamily="18" charset="0"/>
                </a:rPr>
                <a:t>vlan1 </a:t>
              </a:r>
              <a:r>
                <a:rPr lang="zh-CN" altLang="en-US" sz="1600">
                  <a:latin typeface="Times New Roman" pitchFamily="18" charset="0"/>
                </a:rPr>
                <a:t>中。</a:t>
              </a:r>
            </a:p>
          </p:txBody>
        </p:sp>
        <p:sp>
          <p:nvSpPr>
            <p:cNvPr id="43044" name="Text Box 56"/>
            <p:cNvSpPr txBox="1">
              <a:spLocks noChangeArrowheads="1"/>
            </p:cNvSpPr>
            <p:nvPr/>
          </p:nvSpPr>
          <p:spPr bwMode="auto">
            <a:xfrm>
              <a:off x="2081" y="2168"/>
              <a:ext cx="34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S1</a:t>
              </a:r>
            </a:p>
          </p:txBody>
        </p:sp>
        <p:sp>
          <p:nvSpPr>
            <p:cNvPr id="43045" name="Text Box 57"/>
            <p:cNvSpPr txBox="1">
              <a:spLocks noChangeArrowheads="1"/>
            </p:cNvSpPr>
            <p:nvPr/>
          </p:nvSpPr>
          <p:spPr bwMode="auto">
            <a:xfrm>
              <a:off x="983" y="2784"/>
              <a:ext cx="3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PA</a:t>
              </a:r>
            </a:p>
          </p:txBody>
        </p:sp>
        <p:sp>
          <p:nvSpPr>
            <p:cNvPr id="43046" name="Text Box 58"/>
            <p:cNvSpPr txBox="1">
              <a:spLocks noChangeArrowheads="1"/>
            </p:cNvSpPr>
            <p:nvPr/>
          </p:nvSpPr>
          <p:spPr bwMode="auto">
            <a:xfrm>
              <a:off x="1981" y="2784"/>
              <a:ext cx="40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PB</a:t>
              </a:r>
            </a:p>
          </p:txBody>
        </p:sp>
        <p:sp>
          <p:nvSpPr>
            <p:cNvPr id="43047" name="Text Box 59"/>
            <p:cNvSpPr txBox="1">
              <a:spLocks noChangeArrowheads="1"/>
            </p:cNvSpPr>
            <p:nvPr/>
          </p:nvSpPr>
          <p:spPr bwMode="auto">
            <a:xfrm>
              <a:off x="3080" y="2872"/>
              <a:ext cx="3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PC</a:t>
              </a:r>
            </a:p>
          </p:txBody>
        </p:sp>
        <p:sp>
          <p:nvSpPr>
            <p:cNvPr id="43048" name="Text Box 60"/>
            <p:cNvSpPr txBox="1">
              <a:spLocks noChangeArrowheads="1"/>
            </p:cNvSpPr>
            <p:nvPr/>
          </p:nvSpPr>
          <p:spPr bwMode="auto">
            <a:xfrm>
              <a:off x="4178" y="2872"/>
              <a:ext cx="3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charset="0"/>
                  <a:ea typeface="宋体" pitchFamily="2" charset="-122"/>
                </a:defRPr>
              </a:lvl1pPr>
              <a:lvl2pPr>
                <a:defRPr sz="3200" b="1">
                  <a:solidFill>
                    <a:schemeClr val="tx1"/>
                  </a:solidFill>
                  <a:latin typeface="Arial" charset="0"/>
                  <a:ea typeface="宋体" pitchFamily="2" charset="-122"/>
                </a:defRPr>
              </a:lvl2pPr>
              <a:lvl3pPr>
                <a:defRPr sz="2800" b="1">
                  <a:solidFill>
                    <a:schemeClr val="tx1"/>
                  </a:solidFill>
                  <a:latin typeface="Arial" charset="0"/>
                  <a:ea typeface="宋体" pitchFamily="2" charset="-122"/>
                </a:defRPr>
              </a:lvl3pPr>
              <a:lvl4pPr>
                <a:defRPr sz="2400" b="1">
                  <a:solidFill>
                    <a:schemeClr val="tx1"/>
                  </a:solidFill>
                  <a:latin typeface="Arial" charset="0"/>
                  <a:ea typeface="宋体" pitchFamily="2" charset="-122"/>
                </a:defRPr>
              </a:lvl4pPr>
              <a:lvl5pPr>
                <a:defRPr sz="2000" b="1">
                  <a:solidFill>
                    <a:schemeClr val="tx1"/>
                  </a:solidFill>
                  <a:latin typeface="Arial" charset="0"/>
                  <a:ea typeface="宋体" pitchFamily="2" charset="-122"/>
                </a:defRPr>
              </a:lvl5pPr>
              <a:lvl6pPr eaLnBrk="0" hangingPunct="0">
                <a:defRPr sz="2000" b="1">
                  <a:solidFill>
                    <a:schemeClr val="tx1"/>
                  </a:solidFill>
                  <a:latin typeface="Arial" charset="0"/>
                  <a:ea typeface="宋体" pitchFamily="2" charset="-122"/>
                </a:defRPr>
              </a:lvl6pPr>
              <a:lvl7pPr eaLnBrk="0" hangingPunct="0">
                <a:defRPr sz="2000" b="1">
                  <a:solidFill>
                    <a:schemeClr val="tx1"/>
                  </a:solidFill>
                  <a:latin typeface="Arial" charset="0"/>
                  <a:ea typeface="宋体" pitchFamily="2" charset="-122"/>
                </a:defRPr>
              </a:lvl7pPr>
              <a:lvl8pPr eaLnBrk="0" hangingPunct="0">
                <a:defRPr sz="2000" b="1">
                  <a:solidFill>
                    <a:schemeClr val="tx1"/>
                  </a:solidFill>
                  <a:latin typeface="Arial" charset="0"/>
                  <a:ea typeface="宋体" pitchFamily="2" charset="-122"/>
                </a:defRPr>
              </a:lvl8pPr>
              <a:lvl9pPr eaLnBrk="0" hangingPunct="0">
                <a:defRPr sz="2000" b="1">
                  <a:solidFill>
                    <a:schemeClr val="tx1"/>
                  </a:solidFill>
                  <a:latin typeface="Arial" charset="0"/>
                  <a:ea typeface="宋体" pitchFamily="2" charset="-122"/>
                </a:defRPr>
              </a:lvl9pPr>
            </a:lstStyle>
            <a:p>
              <a:pPr algn="just" eaLnBrk="0" hangingPunct="0"/>
              <a:r>
                <a:rPr lang="en-US" altLang="zh-CN" sz="1600">
                  <a:latin typeface="Times New Roman" pitchFamily="18" charset="0"/>
                </a:rPr>
                <a:t>PD</a:t>
              </a:r>
            </a:p>
          </p:txBody>
        </p:sp>
      </p:grpSp>
      <p:sp>
        <p:nvSpPr>
          <p:cNvPr id="43011" name="Rectangle 61"/>
          <p:cNvSpPr>
            <a:spLocks noChangeArrowheads="1"/>
          </p:cNvSpPr>
          <p:nvPr/>
        </p:nvSpPr>
        <p:spPr bwMode="auto">
          <a:xfrm>
            <a:off x="611188" y="1268413"/>
            <a:ext cx="8064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nchor="ctr"/>
          <a:lstStyle/>
          <a:p>
            <a:pPr algn="l">
              <a:lnSpc>
                <a:spcPct val="90000"/>
              </a:lnSpc>
              <a:buClr>
                <a:schemeClr val="accent1"/>
              </a:buClr>
              <a:buFont typeface="Wingdings" pitchFamily="2" charset="2"/>
              <a:buChar char="u"/>
            </a:pPr>
            <a:endParaRPr lang="zh-CN" altLang="en-US" sz="3600" dirty="0">
              <a:latin typeface="黑体" pitchFamily="2" charset="-122"/>
              <a:ea typeface="宋体" pitchFamily="2" charset="-122"/>
            </a:endParaRPr>
          </a:p>
        </p:txBody>
      </p:sp>
      <p:sp>
        <p:nvSpPr>
          <p:cNvPr id="43012" name="Rectangle 63"/>
          <p:cNvSpPr>
            <a:spLocks noGrp="1" noChangeArrowheads="1"/>
          </p:cNvSpPr>
          <p:nvPr>
            <p:ph type="title"/>
          </p:nvPr>
        </p:nvSpPr>
        <p:spPr>
          <a:xfrm>
            <a:off x="541338" y="548680"/>
            <a:ext cx="8064500" cy="923925"/>
          </a:xfrm>
          <a:noFill/>
        </p:spPr>
        <p:txBody>
          <a:bodyPr>
            <a:normAutofit fontScale="90000"/>
          </a:bodyPr>
          <a:lstStyle/>
          <a:p>
            <a:pPr eaLnBrk="1" hangingPunct="1"/>
            <a:r>
              <a:rPr lang="zh-CN" altLang="en-US" sz="3600" dirty="0" smtClean="0">
                <a:latin typeface="宋体" pitchFamily="2" charset="-122"/>
                <a:ea typeface="宋体" pitchFamily="2" charset="-122"/>
              </a:rPr>
              <a:t>触发更新和水平分割实验</a:t>
            </a:r>
            <a:r>
              <a:rPr lang="zh-CN" altLang="en-US" sz="3600" dirty="0" smtClean="0">
                <a:latin typeface="黑体" pitchFamily="2" charset="-122"/>
                <a:ea typeface="宋体" pitchFamily="2" charset="-122"/>
              </a:rPr>
              <a:t>组网图</a:t>
            </a:r>
            <a:br>
              <a:rPr lang="zh-CN" altLang="en-US" sz="3600" dirty="0" smtClean="0">
                <a:latin typeface="黑体" pitchFamily="2" charset="-122"/>
                <a:ea typeface="宋体" pitchFamily="2" charset="-122"/>
              </a:rPr>
            </a:br>
            <a:endParaRPr lang="en-US" altLang="zh-CN" sz="3600" dirty="0" smtClean="0">
              <a:latin typeface="宋体" pitchFamily="2" charset="-122"/>
              <a:ea typeface="宋体" pitchFamily="2" charset="-122"/>
            </a:endParaRPr>
          </a:p>
        </p:txBody>
      </p:sp>
    </p:spTree>
    <p:extLst>
      <p:ext uri="{BB962C8B-B14F-4D97-AF65-F5344CB8AC3E}">
        <p14:creationId xmlns:p14="http://schemas.microsoft.com/office/powerpoint/2010/main" val="311758489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1188" y="417513"/>
            <a:ext cx="8064500" cy="635000"/>
          </a:xfrm>
        </p:spPr>
        <p:txBody>
          <a:bodyPr>
            <a:normAutofit fontScale="90000"/>
          </a:bodyPr>
          <a:lstStyle/>
          <a:p>
            <a:pPr eaLnBrk="1" hangingPunct="1"/>
            <a:r>
              <a:rPr lang="en-US" altLang="zh-CN" sz="4000" dirty="0" smtClean="0">
                <a:ea typeface="宋体" pitchFamily="2" charset="-122"/>
              </a:rPr>
              <a:t>Loopback</a:t>
            </a:r>
            <a:r>
              <a:rPr lang="zh-CN" altLang="en-US" sz="4000" dirty="0" smtClean="0">
                <a:ea typeface="宋体" pitchFamily="2" charset="-122"/>
              </a:rPr>
              <a:t>接口</a:t>
            </a:r>
            <a:r>
              <a:rPr lang="zh-CN" altLang="en-US" sz="4000" dirty="0">
                <a:ea typeface="宋体" pitchFamily="2" charset="-122"/>
              </a:rPr>
              <a:t>说明</a:t>
            </a:r>
            <a:endParaRPr lang="zh-CN" altLang="en-US" sz="4000" dirty="0" smtClean="0">
              <a:ea typeface="宋体" pitchFamily="2" charset="-122"/>
            </a:endParaRPr>
          </a:p>
        </p:txBody>
      </p:sp>
      <p:sp>
        <p:nvSpPr>
          <p:cNvPr id="44035" name="Rectangle 3"/>
          <p:cNvSpPr>
            <a:spLocks noGrp="1" noChangeArrowheads="1"/>
          </p:cNvSpPr>
          <p:nvPr>
            <p:ph idx="1"/>
          </p:nvPr>
        </p:nvSpPr>
        <p:spPr>
          <a:xfrm>
            <a:off x="512763" y="1341438"/>
            <a:ext cx="8345487" cy="5040312"/>
          </a:xfrm>
        </p:spPr>
        <p:txBody>
          <a:bodyPr/>
          <a:lstStyle/>
          <a:p>
            <a:pPr marL="0" indent="0" eaLnBrk="1" hangingPunct="1">
              <a:buClr>
                <a:schemeClr val="accent1"/>
              </a:buClr>
              <a:buFont typeface="Wingdings" pitchFamily="2" charset="2"/>
              <a:buChar char="u"/>
            </a:pPr>
            <a:r>
              <a:rPr lang="en-US" altLang="zh-CN" dirty="0" smtClean="0">
                <a:latin typeface="楷体_GB2312" pitchFamily="49" charset="-122"/>
                <a:ea typeface="楷体_GB2312" pitchFamily="49" charset="-122"/>
              </a:rPr>
              <a:t>Loopback </a:t>
            </a:r>
            <a:r>
              <a:rPr lang="zh-CN" altLang="en-US" dirty="0" smtClean="0">
                <a:latin typeface="楷体_GB2312" pitchFamily="49" charset="-122"/>
                <a:ea typeface="楷体_GB2312" pitchFamily="49" charset="-122"/>
              </a:rPr>
              <a:t>是一种纯软件性质的虚拟接口，任何送到该接口的网络数据报文都会被认为是送往路由器自身的。</a:t>
            </a:r>
          </a:p>
          <a:p>
            <a:pPr marL="0" indent="0" eaLnBrk="1" hangingPunct="1">
              <a:buClr>
                <a:schemeClr val="accent1"/>
              </a:buClr>
              <a:buFont typeface="Wingdings" pitchFamily="2" charset="2"/>
              <a:buChar char="u"/>
            </a:pPr>
            <a:r>
              <a:rPr lang="en-US" altLang="zh-CN" dirty="0" smtClean="0">
                <a:latin typeface="楷体_GB2312" pitchFamily="49" charset="-122"/>
                <a:ea typeface="楷体_GB2312" pitchFamily="49" charset="-122"/>
              </a:rPr>
              <a:t>Loopback </a:t>
            </a:r>
            <a:r>
              <a:rPr lang="zh-CN" altLang="en-US" dirty="0" smtClean="0">
                <a:latin typeface="楷体_GB2312" pitchFamily="49" charset="-122"/>
                <a:ea typeface="楷体_GB2312" pitchFamily="49" charset="-122"/>
              </a:rPr>
              <a:t>接口一旦被创建，将一直保持</a:t>
            </a:r>
            <a:r>
              <a:rPr lang="en-US" altLang="zh-CN" dirty="0" smtClean="0">
                <a:latin typeface="楷体_GB2312" pitchFamily="49" charset="-122"/>
                <a:ea typeface="楷体_GB2312" pitchFamily="49" charset="-122"/>
              </a:rPr>
              <a:t>Up </a:t>
            </a:r>
            <a:r>
              <a:rPr lang="zh-CN" altLang="en-US" dirty="0" smtClean="0">
                <a:latin typeface="楷体_GB2312" pitchFamily="49" charset="-122"/>
                <a:ea typeface="楷体_GB2312" pitchFamily="49" charset="-122"/>
              </a:rPr>
              <a:t>状态，直到被删除。</a:t>
            </a:r>
          </a:p>
          <a:p>
            <a:pPr marL="0" indent="0" eaLnBrk="1" hangingPunct="1">
              <a:buClr>
                <a:schemeClr val="accent1"/>
              </a:buClr>
              <a:buFont typeface="Wingdings" pitchFamily="2" charset="2"/>
              <a:buChar char="u"/>
            </a:pPr>
            <a:r>
              <a:rPr lang="zh-CN" altLang="en-US" dirty="0" smtClean="0"/>
              <a:t>配置命令</a:t>
            </a:r>
          </a:p>
          <a:p>
            <a:pPr lvl="1" eaLnBrk="1" hangingPunct="1">
              <a:buClr>
                <a:schemeClr val="accent1"/>
              </a:buClr>
              <a:buFont typeface="Wingdings" pitchFamily="2" charset="2"/>
              <a:buChar char="Ø"/>
            </a:pPr>
            <a:r>
              <a:rPr lang="en-US" altLang="zh-CN" dirty="0" smtClean="0">
                <a:latin typeface="宋体" pitchFamily="2" charset="-122"/>
              </a:rPr>
              <a:t>[R1]interface loopback 1</a:t>
            </a:r>
          </a:p>
          <a:p>
            <a:pPr lvl="1" eaLnBrk="1" hangingPunct="1">
              <a:buClr>
                <a:schemeClr val="accent1"/>
              </a:buClr>
              <a:buFont typeface="Wingdings" pitchFamily="2" charset="2"/>
              <a:buChar char="Ø"/>
            </a:pPr>
            <a:r>
              <a:rPr lang="en-US" altLang="zh-CN" dirty="0" smtClean="0">
                <a:latin typeface="宋体" pitchFamily="2" charset="-122"/>
              </a:rPr>
              <a:t>[R1-loopback1]</a:t>
            </a:r>
            <a:r>
              <a:rPr lang="en-US" altLang="zh-CN" dirty="0" err="1" smtClean="0">
                <a:latin typeface="宋体" pitchFamily="2" charset="-122"/>
              </a:rPr>
              <a:t>ip</a:t>
            </a:r>
            <a:r>
              <a:rPr lang="en-US" altLang="zh-CN" dirty="0" smtClean="0">
                <a:latin typeface="宋体" pitchFamily="2" charset="-122"/>
              </a:rPr>
              <a:t> address 192.168.1.10 255.255.255.0</a:t>
            </a:r>
          </a:p>
        </p:txBody>
      </p:sp>
    </p:spTree>
    <p:extLst>
      <p:ext uri="{BB962C8B-B14F-4D97-AF65-F5344CB8AC3E}">
        <p14:creationId xmlns:p14="http://schemas.microsoft.com/office/powerpoint/2010/main" val="3835247259"/>
      </p:ext>
    </p:extLst>
  </p:cSld>
  <p:clrMapOvr>
    <a:masterClrMapping/>
  </p:clrMapOvr>
  <p:transition>
    <p:pull dir="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11560" y="548680"/>
            <a:ext cx="7848476" cy="923925"/>
          </a:xfrm>
        </p:spPr>
        <p:txBody>
          <a:bodyPr>
            <a:normAutofit fontScale="90000"/>
          </a:bodyPr>
          <a:lstStyle/>
          <a:p>
            <a:pPr eaLnBrk="1" hangingPunct="1"/>
            <a:r>
              <a:rPr lang="zh-CN" altLang="en-US" sz="3600" dirty="0" smtClean="0">
                <a:latin typeface="宋体" pitchFamily="2" charset="-122"/>
                <a:ea typeface="宋体" pitchFamily="2" charset="-122"/>
              </a:rPr>
              <a:t>触发更新</a:t>
            </a:r>
            <a:r>
              <a:rPr lang="zh-CN" altLang="en-US" sz="3600" dirty="0" smtClean="0"/>
              <a:t>关键</a:t>
            </a:r>
            <a:r>
              <a:rPr lang="zh-CN" altLang="en-US" sz="3600" dirty="0"/>
              <a:t>实验步骤说明</a:t>
            </a:r>
            <a:r>
              <a:rPr lang="en-US" altLang="zh-CN" sz="3600" dirty="0"/>
              <a:t/>
            </a:r>
            <a:br>
              <a:rPr lang="en-US" altLang="zh-CN" sz="3600" dirty="0"/>
            </a:br>
            <a:endParaRPr lang="zh-CN" altLang="en-US" sz="3600" dirty="0" smtClean="0">
              <a:latin typeface="宋体" pitchFamily="2" charset="-122"/>
              <a:ea typeface="宋体" pitchFamily="2" charset="-122"/>
            </a:endParaRPr>
          </a:p>
        </p:txBody>
      </p:sp>
      <p:sp>
        <p:nvSpPr>
          <p:cNvPr id="45059" name="Rectangle 3"/>
          <p:cNvSpPr>
            <a:spLocks noGrp="1" noChangeArrowheads="1"/>
          </p:cNvSpPr>
          <p:nvPr>
            <p:ph idx="1"/>
          </p:nvPr>
        </p:nvSpPr>
        <p:spPr>
          <a:xfrm>
            <a:off x="323528" y="1700808"/>
            <a:ext cx="8496944" cy="437869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971550" lvl="1" indent="-514350">
              <a:lnSpc>
                <a:spcPct val="150000"/>
              </a:lnSpc>
              <a:buClr>
                <a:schemeClr val="accent1"/>
              </a:buClr>
              <a:buFont typeface="+mj-lt"/>
              <a:buAutoNum type="arabicPeriod"/>
            </a:pPr>
            <a:r>
              <a:rPr lang="zh-CN" altLang="en-US" sz="2400" dirty="0"/>
              <a:t>在上一实验基础上继续进行，在各台计算机上运行</a:t>
            </a:r>
            <a:r>
              <a:rPr lang="en-US" altLang="zh-CN" sz="2400" dirty="0" err="1"/>
              <a:t>Wireshark</a:t>
            </a:r>
            <a:r>
              <a:rPr lang="zh-CN" altLang="en-US" sz="2400" dirty="0"/>
              <a:t>，准备截取报文。</a:t>
            </a:r>
          </a:p>
          <a:p>
            <a:pPr marL="971550" lvl="1" indent="-514350">
              <a:lnSpc>
                <a:spcPct val="150000"/>
              </a:lnSpc>
              <a:buClr>
                <a:schemeClr val="accent1"/>
              </a:buClr>
              <a:buFont typeface="+mj-lt"/>
              <a:buAutoNum type="arabicPeriod"/>
            </a:pPr>
            <a:r>
              <a:rPr lang="zh-CN" altLang="en-US" sz="2400" dirty="0"/>
              <a:t>取消交换机</a:t>
            </a:r>
            <a:r>
              <a:rPr lang="en-US" altLang="zh-CN" sz="2400" dirty="0"/>
              <a:t>S1</a:t>
            </a:r>
            <a:r>
              <a:rPr lang="zh-CN" altLang="en-US" sz="2400" dirty="0"/>
              <a:t>的回环地址</a:t>
            </a:r>
            <a:r>
              <a:rPr lang="en-US" altLang="zh-CN" sz="2400" dirty="0"/>
              <a:t>192.168.1.1</a:t>
            </a:r>
            <a:r>
              <a:rPr lang="zh-CN" altLang="en-US" sz="2400" dirty="0"/>
              <a:t>，相当于</a:t>
            </a:r>
            <a:r>
              <a:rPr lang="en-US" altLang="zh-CN" sz="2400" dirty="0"/>
              <a:t>S1</a:t>
            </a:r>
            <a:r>
              <a:rPr lang="zh-CN" altLang="en-US" sz="2400" dirty="0"/>
              <a:t>到</a:t>
            </a:r>
            <a:r>
              <a:rPr lang="en-US" altLang="zh-CN" sz="2400" dirty="0"/>
              <a:t>192.168.1.1 </a:t>
            </a:r>
            <a:r>
              <a:rPr lang="zh-CN" altLang="en-US" sz="2400" dirty="0"/>
              <a:t>网段的连接中断，观察截取的报文。</a:t>
            </a:r>
          </a:p>
          <a:p>
            <a:pPr marL="971550" lvl="1" indent="-514350">
              <a:lnSpc>
                <a:spcPct val="150000"/>
              </a:lnSpc>
              <a:buClr>
                <a:schemeClr val="accent1"/>
              </a:buClr>
              <a:buFont typeface="+mj-lt"/>
              <a:buAutoNum type="arabicPeriod"/>
            </a:pPr>
            <a:r>
              <a:rPr lang="zh-CN" altLang="en-US" sz="2400" dirty="0"/>
              <a:t>观察截取的报文，理解</a:t>
            </a:r>
            <a:r>
              <a:rPr lang="en-US" altLang="zh-CN" sz="2400" dirty="0"/>
              <a:t>RIP</a:t>
            </a:r>
            <a:r>
              <a:rPr lang="zh-CN" altLang="en-US" sz="2400" dirty="0"/>
              <a:t>协议的触发更新机制。</a:t>
            </a:r>
          </a:p>
        </p:txBody>
      </p:sp>
    </p:spTree>
    <p:extLst>
      <p:ext uri="{BB962C8B-B14F-4D97-AF65-F5344CB8AC3E}">
        <p14:creationId xmlns:p14="http://schemas.microsoft.com/office/powerpoint/2010/main" val="323978306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11560" y="548680"/>
            <a:ext cx="8064500" cy="923925"/>
          </a:xfrm>
        </p:spPr>
        <p:txBody>
          <a:bodyPr>
            <a:normAutofit fontScale="90000"/>
          </a:bodyPr>
          <a:lstStyle/>
          <a:p>
            <a:pPr eaLnBrk="1" hangingPunct="1"/>
            <a:r>
              <a:rPr lang="zh-CN" altLang="en-US" sz="3200" dirty="0" smtClean="0">
                <a:latin typeface="宋体" pitchFamily="2" charset="-122"/>
                <a:ea typeface="宋体" pitchFamily="2" charset="-122"/>
              </a:rPr>
              <a:t>水平分割</a:t>
            </a:r>
            <a:r>
              <a:rPr lang="zh-CN" altLang="en-US" sz="3200" dirty="0">
                <a:latin typeface="宋体" pitchFamily="2" charset="-122"/>
                <a:ea typeface="宋体" pitchFamily="2" charset="-122"/>
              </a:rPr>
              <a:t>关键实验步骤说明</a:t>
            </a:r>
            <a:r>
              <a:rPr lang="en-US" altLang="zh-CN" sz="3200" dirty="0" smtClean="0"/>
              <a:t/>
            </a:r>
            <a:br>
              <a:rPr lang="en-US" altLang="zh-CN" sz="3200" dirty="0" smtClean="0"/>
            </a:br>
            <a:endParaRPr lang="en-US" altLang="zh-CN" sz="3200" dirty="0" smtClean="0">
              <a:latin typeface="宋体" pitchFamily="2" charset="-122"/>
              <a:ea typeface="宋体" pitchFamily="2" charset="-122"/>
            </a:endParaRPr>
          </a:p>
        </p:txBody>
      </p:sp>
      <p:sp>
        <p:nvSpPr>
          <p:cNvPr id="47107" name="Rectangle 3"/>
          <p:cNvSpPr>
            <a:spLocks noGrp="1" noChangeArrowheads="1"/>
          </p:cNvSpPr>
          <p:nvPr>
            <p:ph idx="1"/>
          </p:nvPr>
        </p:nvSpPr>
        <p:spPr>
          <a:xfrm>
            <a:off x="467544" y="1484784"/>
            <a:ext cx="8424936" cy="4897437"/>
          </a:xfrm>
        </p:spPr>
        <p:txBody>
          <a:bodyPr/>
          <a:lstStyle/>
          <a:p>
            <a:pPr marL="971550" lvl="1" indent="-514350" eaLnBrk="1" hangingPunct="1">
              <a:lnSpc>
                <a:spcPct val="150000"/>
              </a:lnSpc>
              <a:buClr>
                <a:schemeClr val="accent1"/>
              </a:buClr>
              <a:buFont typeface="+mj-lt"/>
              <a:buAutoNum type="arabicPeriod"/>
            </a:pPr>
            <a:r>
              <a:rPr lang="zh-CN" altLang="en-US" sz="2400" dirty="0" smtClean="0"/>
              <a:t>重新配置好</a:t>
            </a:r>
            <a:r>
              <a:rPr lang="en-US" altLang="zh-CN" sz="2400" dirty="0" smtClean="0"/>
              <a:t>S1</a:t>
            </a:r>
            <a:r>
              <a:rPr lang="zh-CN" altLang="en-US" sz="2400" dirty="0" smtClean="0"/>
              <a:t>的</a:t>
            </a:r>
            <a:r>
              <a:rPr lang="en-US" altLang="zh-CN" sz="2400" dirty="0" err="1" smtClean="0"/>
              <a:t>LoopBack</a:t>
            </a:r>
            <a:r>
              <a:rPr lang="zh-CN" altLang="en-US" sz="2400" dirty="0" smtClean="0"/>
              <a:t>地址，使各路由器运行</a:t>
            </a:r>
            <a:r>
              <a:rPr lang="en-US" altLang="zh-CN" sz="2400" dirty="0" smtClean="0"/>
              <a:t>RIP</a:t>
            </a:r>
            <a:r>
              <a:rPr lang="zh-CN" altLang="en-US" sz="2400" dirty="0" smtClean="0"/>
              <a:t>协议，正常工作。</a:t>
            </a:r>
          </a:p>
          <a:p>
            <a:pPr marL="971550" lvl="1" indent="-514350" eaLnBrk="1" hangingPunct="1">
              <a:lnSpc>
                <a:spcPct val="150000"/>
              </a:lnSpc>
              <a:buClr>
                <a:schemeClr val="accent1"/>
              </a:buClr>
              <a:buFont typeface="+mj-lt"/>
              <a:buAutoNum type="arabicPeriod"/>
            </a:pPr>
            <a:r>
              <a:rPr lang="zh-CN" altLang="en-US" sz="2400" dirty="0" smtClean="0"/>
              <a:t>取消路由器各接口的水平分割功能</a:t>
            </a:r>
          </a:p>
          <a:p>
            <a:pPr marL="1371600" lvl="3" indent="0" eaLnBrk="1" hangingPunct="1">
              <a:lnSpc>
                <a:spcPct val="150000"/>
              </a:lnSpc>
              <a:buClr>
                <a:schemeClr val="accent1"/>
              </a:buClr>
              <a:buNone/>
            </a:pPr>
            <a:r>
              <a:rPr lang="en-US" altLang="zh-CN" b="0" dirty="0" smtClean="0">
                <a:latin typeface="楷体_GB2312" pitchFamily="49" charset="-122"/>
                <a:ea typeface="楷体_GB2312" pitchFamily="49" charset="-122"/>
              </a:rPr>
              <a:t>[R1]interface e 0</a:t>
            </a:r>
          </a:p>
          <a:p>
            <a:pPr marL="1371600" lvl="3" indent="0" eaLnBrk="1" hangingPunct="1">
              <a:lnSpc>
                <a:spcPct val="150000"/>
              </a:lnSpc>
              <a:buClr>
                <a:schemeClr val="accent1"/>
              </a:buClr>
              <a:buNone/>
            </a:pPr>
            <a:r>
              <a:rPr lang="en-US" altLang="zh-CN" b="0" dirty="0" smtClean="0">
                <a:latin typeface="楷体_GB2312" pitchFamily="49" charset="-122"/>
                <a:ea typeface="楷体_GB2312" pitchFamily="49" charset="-122"/>
              </a:rPr>
              <a:t>[R1-Ethernet0]undo RIP split-horizon</a:t>
            </a:r>
          </a:p>
          <a:p>
            <a:pPr marL="971550" lvl="1" indent="-514350" eaLnBrk="1" hangingPunct="1">
              <a:lnSpc>
                <a:spcPct val="150000"/>
              </a:lnSpc>
              <a:buClr>
                <a:schemeClr val="accent1"/>
              </a:buClr>
              <a:buFont typeface="+mj-lt"/>
              <a:buAutoNum type="arabicPeriod"/>
            </a:pPr>
            <a:r>
              <a:rPr lang="zh-CN" altLang="en-US" sz="2400" dirty="0" smtClean="0"/>
              <a:t>在</a:t>
            </a:r>
            <a:r>
              <a:rPr lang="en-US" altLang="zh-CN" sz="2400" dirty="0" smtClean="0"/>
              <a:t>PCA</a:t>
            </a:r>
            <a:r>
              <a:rPr lang="zh-CN" altLang="en-US" sz="2400" dirty="0" smtClean="0"/>
              <a:t>或</a:t>
            </a:r>
            <a:r>
              <a:rPr lang="en-US" altLang="zh-CN" sz="2400" dirty="0" smtClean="0"/>
              <a:t>PCB</a:t>
            </a:r>
            <a:r>
              <a:rPr lang="zh-CN" altLang="en-US" sz="2400" dirty="0" smtClean="0"/>
              <a:t>上运行</a:t>
            </a:r>
            <a:r>
              <a:rPr lang="en-US" altLang="zh-CN" sz="2400" dirty="0" err="1" smtClean="0"/>
              <a:t>Wireshark</a:t>
            </a:r>
            <a:r>
              <a:rPr lang="zh-CN" altLang="en-US" sz="2400" dirty="0" smtClean="0"/>
              <a:t>，截取报文。观察和以前截取到的报文的区别，理解水平分割的原理。</a:t>
            </a:r>
          </a:p>
        </p:txBody>
      </p:sp>
    </p:spTree>
    <p:extLst>
      <p:ext uri="{BB962C8B-B14F-4D97-AF65-F5344CB8AC3E}">
        <p14:creationId xmlns:p14="http://schemas.microsoft.com/office/powerpoint/2010/main" val="1057632526"/>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毕业答辩尹瑞模板">
  <a:themeElements>
    <a:clrScheme name="毕业答辩尹瑞模板 9">
      <a:dk1>
        <a:srgbClr val="330066"/>
      </a:dk1>
      <a:lt1>
        <a:srgbClr val="D8DADA"/>
      </a:lt1>
      <a:dk2>
        <a:srgbClr val="FFFFFF"/>
      </a:dk2>
      <a:lt2>
        <a:srgbClr val="6B6B6B"/>
      </a:lt2>
      <a:accent1>
        <a:srgbClr val="DF0029"/>
      </a:accent1>
      <a:accent2>
        <a:srgbClr val="DF0029"/>
      </a:accent2>
      <a:accent3>
        <a:srgbClr val="E9EAEA"/>
      </a:accent3>
      <a:accent4>
        <a:srgbClr val="2A0056"/>
      </a:accent4>
      <a:accent5>
        <a:srgbClr val="ECAAAC"/>
      </a:accent5>
      <a:accent6>
        <a:srgbClr val="CA0024"/>
      </a:accent6>
      <a:hlink>
        <a:srgbClr val="135A9A"/>
      </a:hlink>
      <a:folHlink>
        <a:srgbClr val="711C81"/>
      </a:folHlink>
    </a:clrScheme>
    <a:fontScheme name="毕业答辩尹瑞模板">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scene3d>
          <a:camera prst="legacyObliqueTopRight"/>
          <a:lightRig rig="legacyFlat3" dir="b"/>
        </a:scene3d>
        <a:sp3d extrusionH="430200" prstMaterial="legacyMatte">
          <a:bevelT w="13500" h="13500" prst="angle"/>
          <a:bevelB w="13500" h="13500" prst="angle"/>
          <a:extrusionClr>
            <a:srgbClr val="CCECFF"/>
          </a:extrusionClr>
        </a:sp3d>
        <a:extLst>
          <a:ext uri="{91240B29-F687-4F45-9708-019B960494DF}">
            <a14:hiddenLine xmlns:a14="http://schemas.microsoft.com/office/drawing/2010/main" w="9525" cap="flat" cmpd="sng" algn="ctr">
              <a:noFill/>
              <a:prstDash val="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a:noFill/>
        </a:ln>
        <a:effectLst/>
        <a:scene3d>
          <a:camera prst="legacyObliqueTopRight"/>
          <a:lightRig rig="legacyFlat3" dir="b"/>
        </a:scene3d>
        <a:sp3d extrusionH="430200" prstMaterial="legacyMatte">
          <a:bevelT w="13500" h="13500" prst="angle"/>
          <a:bevelB w="13500" h="13500" prst="angle"/>
          <a:extrusionClr>
            <a:srgbClr val="CCECFF"/>
          </a:extrusionClr>
        </a:sp3d>
        <a:extLst>
          <a:ext uri="{91240B29-F687-4F45-9708-019B960494DF}">
            <a14:hiddenLine xmlns:a14="http://schemas.microsoft.com/office/drawing/2010/main" w="9525" cap="flat" cmpd="sng" algn="ctr">
              <a:noFill/>
              <a:prstDash val="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仿宋_GB2312" pitchFamily="49" charset="-122"/>
            <a:ea typeface="仿宋_GB2312" pitchFamily="49" charset="-122"/>
          </a:defRPr>
        </a:defPPr>
      </a:lstStyle>
    </a:lnDef>
  </a:objectDefaults>
  <a:extraClrSchemeLst>
    <a:extraClrScheme>
      <a:clrScheme name="毕业答辩尹瑞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毕业答辩尹瑞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毕业答辩尹瑞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毕业答辩尹瑞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毕业答辩尹瑞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毕业答辩尹瑞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毕业答辩尹瑞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毕业答辩尹瑞模板 8">
        <a:dk1>
          <a:srgbClr val="330066"/>
        </a:dk1>
        <a:lt1>
          <a:srgbClr val="D8DADA"/>
        </a:lt1>
        <a:dk2>
          <a:srgbClr val="FFFFFF"/>
        </a:dk2>
        <a:lt2>
          <a:srgbClr val="6B6B6B"/>
        </a:lt2>
        <a:accent1>
          <a:srgbClr val="DF0029"/>
        </a:accent1>
        <a:accent2>
          <a:srgbClr val="8FECE5"/>
        </a:accent2>
        <a:accent3>
          <a:srgbClr val="E9EAEA"/>
        </a:accent3>
        <a:accent4>
          <a:srgbClr val="2A0056"/>
        </a:accent4>
        <a:accent5>
          <a:srgbClr val="ECAAAC"/>
        </a:accent5>
        <a:accent6>
          <a:srgbClr val="81D6CF"/>
        </a:accent6>
        <a:hlink>
          <a:srgbClr val="135A9A"/>
        </a:hlink>
        <a:folHlink>
          <a:srgbClr val="711C81"/>
        </a:folHlink>
      </a:clrScheme>
      <a:clrMap bg1="lt1" tx1="dk1" bg2="lt2" tx2="dk2" accent1="accent1" accent2="accent2" accent3="accent3" accent4="accent4" accent5="accent5" accent6="accent6" hlink="hlink" folHlink="folHlink"/>
    </a:extraClrScheme>
    <a:extraClrScheme>
      <a:clrScheme name="毕业答辩尹瑞模板 9">
        <a:dk1>
          <a:srgbClr val="330066"/>
        </a:dk1>
        <a:lt1>
          <a:srgbClr val="D8DADA"/>
        </a:lt1>
        <a:dk2>
          <a:srgbClr val="FFFFFF"/>
        </a:dk2>
        <a:lt2>
          <a:srgbClr val="6B6B6B"/>
        </a:lt2>
        <a:accent1>
          <a:srgbClr val="DF0029"/>
        </a:accent1>
        <a:accent2>
          <a:srgbClr val="DF0029"/>
        </a:accent2>
        <a:accent3>
          <a:srgbClr val="E9EAEA"/>
        </a:accent3>
        <a:accent4>
          <a:srgbClr val="2A0056"/>
        </a:accent4>
        <a:accent5>
          <a:srgbClr val="ECAAAC"/>
        </a:accent5>
        <a:accent6>
          <a:srgbClr val="CA0024"/>
        </a:accent6>
        <a:hlink>
          <a:srgbClr val="135A9A"/>
        </a:hlink>
        <a:folHlink>
          <a:srgbClr val="711C8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RIP协议实验(本科生mooc)</Template>
  <TotalTime>13</TotalTime>
  <Words>872</Words>
  <Application>Microsoft Office PowerPoint</Application>
  <PresentationFormat>全屏显示(4:3)</PresentationFormat>
  <Paragraphs>147</Paragraphs>
  <Slides>13</Slides>
  <Notes>9</Notes>
  <HiddenSlides>0</HiddenSlides>
  <MMClips>0</MMClips>
  <ScaleCrop>false</ScaleCrop>
  <HeadingPairs>
    <vt:vector size="4" baseType="variant">
      <vt:variant>
        <vt:lpstr>主题</vt:lpstr>
      </vt:variant>
      <vt:variant>
        <vt:i4>1</vt:i4>
      </vt:variant>
      <vt:variant>
        <vt:lpstr>幻灯片标题</vt:lpstr>
      </vt:variant>
      <vt:variant>
        <vt:i4>13</vt:i4>
      </vt:variant>
    </vt:vector>
  </HeadingPairs>
  <TitlesOfParts>
    <vt:vector size="14" baseType="lpstr">
      <vt:lpstr>毕业答辩尹瑞模板</vt:lpstr>
      <vt:lpstr>触发更新与水平分割实验</vt:lpstr>
      <vt:lpstr>RIP协议动态维护机制</vt:lpstr>
      <vt:lpstr>网络故障 - 自动维护</vt:lpstr>
      <vt:lpstr>触发更新（Triggered Update ）</vt:lpstr>
      <vt:lpstr>触发更新</vt:lpstr>
      <vt:lpstr>水平分割（Split Horizon）</vt:lpstr>
      <vt:lpstr>水平分割</vt:lpstr>
      <vt:lpstr>取消水平分割前后的报文对比</vt:lpstr>
      <vt:lpstr>毒性逆转（Poison Reverse）</vt:lpstr>
      <vt:lpstr>触发更新和水平分割实验组网图 </vt:lpstr>
      <vt:lpstr>Loopback接口说明</vt:lpstr>
      <vt:lpstr>触发更新关键实验步骤说明 </vt:lpstr>
      <vt:lpstr>水平分割关键实验步骤说明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触发更新与水平分割实验</dc:title>
  <dc:creator>jiaofuju</dc:creator>
  <cp:lastModifiedBy>jiaofuju</cp:lastModifiedBy>
  <cp:revision>2</cp:revision>
  <dcterms:created xsi:type="dcterms:W3CDTF">2014-11-06T23:24:00Z</dcterms:created>
  <dcterms:modified xsi:type="dcterms:W3CDTF">2014-11-06T23:37:20Z</dcterms:modified>
</cp:coreProperties>
</file>